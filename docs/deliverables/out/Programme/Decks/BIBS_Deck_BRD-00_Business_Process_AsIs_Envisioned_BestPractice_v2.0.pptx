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Reverse knowledge transfer from the iorta TechNXT team to BDOI after the Day 1 business overview (21-Sep-2026) and the floor walks and discovery sessions of 22 to 25-Sep-2026. The deck plays back how we understand BDOI's business, department by department and end to end: how the work runs today, where the business users feel the pain, what the BRDs ask for and how that answers the pain, what the BRDs do not cover yet, and which insurance-broker practices go beyond the BRDs. It closes with a roadmap for streamlining and automation, the data migration and integration challenges, and the open points we need BDOI to confirm. It is not a build status report.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purpose is validation, not presentation: each department confirms or corrects the As-Is, the pain points and the gaps of its chapter. Corrections go to the floor-walk notes workbook and the discrepancy register.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messages of the reverse KT. Each is developed in the holistic chapter and the department chapters; the evidence refs point to the floor-walk notes and the process flows.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sources, cross-checked: the Day 1 business overview BDOI presented on 21-Sep; the floor walks of 22 and 23-Sep with the designated process owners; the discovery sessions of 21, 23, 24 and 25-Sep and their notes; the high-level process flows the process owners confirmed by e-mail between Dec 2025 and Jul 2026; and the BRDs with the discrepancy register maintained by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designated process owners of the floor-walk schedule (Iorta floor-walk POC workbook) and the discovery sessions. Reinsurance, Sanction Screening, User Access and the contact centre were not in the September slots; their chapters rely on the confirmed process flows and the BRDs.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 is the enterprise view. Parts A to F follow the BDOI departments, one chapter per business area; each chapter has the same slides: at a glance, what we heard on the floor, the As-Is swimlane(s), the pain points, the To-Be in the BRD, how the BRD answers the pain points, what the BRD does not cover, and best practice. Part G covers data migration, integrations and shared capabilities; Part H the roadmap, the consolidated gaps and the open points.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Refs: floor-walk notes carry the row number of the floor-walk notes workbook (OV-, NB-, PM-, CA-, CO-...); "Day 1 p.n" is a page of the BDOI Day 1 overview; "NB flow", "Renewal flow" and so on are the high-level process flows that the BDOI process owners confirmed; BRD-n p.n is the PDF page of the BRD; DCR-nnn is the discrepancy register; Qnn, AQnn, OQnn are open questions of the BRD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department chapters, the enterprise view: BDOI at a glance, who does what, the broking lifecycle, the end-to-end flow today, the systems landscape, the reference problem, the hand-offs between departments, the business challenges BDOI named, the To-Be in the BRDs and the maturity 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is the insurance brokerage arm of BDO, serving retail and corporate customers across the full broking lifecycle with about 55 insurer partners (Day 1 p.6; OV-01). The figures come from the floor walk and the BRD usage tables.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BDOI functions as we met them on the floor (Day 1 p.4-8 and the floor-walk schedule), with the chapter of this deck that covers each. Compliance and IT support every function.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BDOI's own view of the lifecycle (Day 1 p.6), with the systems and owners we saw at each stage. Information, decisions and money move together; today each crosses several tools and e-mail.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half of BDOI's end-to-end flow. Marketing works the prospect and decides package or non-package; TSU (and Reinsurance for large risks) sources non-package terms. The quotation is prepared in Excel templates, QPS or ISYS; after acceptance and payment the client is created in Broker, the account in ISYS and both are migrated to QPS by IT. Processing places with the insurer, handles returns and hold covers, receives the e-policy, delivers it through COG, the officer or the contact centre, and books and invoices in EBIX.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The client pays through bills payment, over the counter, CLPC, autopay or directly to the insurer; Cashiering applies the payment and monitors checks and PDCs; Collections follows unpaid premium with the AO. Every week Remittance prepares the settlement net of commission, Disbursement pays the insurer and FRBS books it; commission on direct payments is billed to the insurer; ACSL reconciles the insurer statements and adjusts the sub-ledger; FRBS closes the books. After booking three servicing paths start: adjustment or cancellation (with a refund), renewal from the expiring list 140 days ahead, and claims.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area works in its own mix of systems and files. New Business alone touches Excel templates, Broker, ISYS, QPS, EBIX, bank files and SFTP. Operations and Comptrollership run on EBIX with Excel, Teams and SharePoint around it. Collections uses ICS; the contact centre CLS and CC Nav; Compliance SharePoint and NLDS. Almost every hand-off between areas is an e-mail or a spreadsheet, so the same client, policy and payment are keyed several times. The yellow number on each area is the count of pain points in its chapter.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deal carries an ISYS invoice number (the client pays against it), a QPS reference, an EBIX reference and a payment reference; QPS holds all three. It is the single most repeated friction on the floor: it slows every trace, forces manual receipts and VLOOKUPs, and it will need careful mapping in the data migration.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is a place where work waits, is re-keyed or is lost today. The To-Be column says how the BRDs close it; rows marked "not specified" are in the gaps of the chapters.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challenge areas of the Day 1 overview (p.15), each with the evidence we saw on the floor and how far the BRDs answer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BRDs together describe one application for the thirteen areas, grouped the way BDOI navigates: client and policy, operations, finance, claims and service, reports, and setup and administration. Every function uses the same shared capabilities: workflow with SLA, documents and templates, notifications, reports, the audit trail and the configuration masters the business maintains. External parties reach it by e-mail with a send log, by file, or later by portal and API; the bank, insurer, directory and data-platform interfaces are still to be specified with BDO IT (Part 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chain follows one policy and its money. In the To-Be every stage reads the same client, account (ARN) and invoice ledger, so no stage re-keys the output of the previous one: the change that removes most of the pain points of the department chapters.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scale is the project team's reading of what we saw on the floor, the BRDs and the practices in each chapter. It is a discussion aid, not an audit rating. Integration stays lowest in the To-Be because the bank, insurer and enterprise interfaces are still to be specified.</a:t>
            </a:r>
          </a:p>
          <a:p>
            <a:r>
              <a:t>Automation: today 1, To-Be 4, best practice 5. Today: split files, receipts, reversals and journals by hand (Operations and FRBS flows). To-Be: jobs, matching and straight-through steps with exception queues.</a:t>
            </a:r>
          </a:p>
          <a:p>
            <a:r>
              <a:t>Controls: today 2, To-Be 4, best practice 5. Today: wet signatures, Teams approvals, checker-poster one by one. To-Be: maker-checker and approval matrices in the workflow.</a:t>
            </a:r>
          </a:p>
          <a:p>
            <a:r>
              <a:t>Data: today 1, To-Be 4, best practice 5. Today: three references, Excel masterlists, re-keying across five tools. To-Be: one client, one ARN, one invoice ledger.</a:t>
            </a:r>
          </a:p>
          <a:p>
            <a:r>
              <a:t>Integration: today 2, To-Be 3, best practice 5. Today: e-mail, SFTP and WinSCP files, IT batches. To-Be: uploads and seams; APIs to specify.</a:t>
            </a:r>
          </a:p>
          <a:p>
            <a:r>
              <a:t>Customer service: today 2, To-Be 3, best practice 5. Today: CBG-only view, cases logged by hand. To-Be: every account; case management not in BRD-9.</a:t>
            </a:r>
          </a:p>
          <a:p>
            <a:r>
              <a:t>Compliance: today 1, To-Be 4, best practice 5. Today: KYC and AMLA outside the system, names matched by hand. To-Be: screening on every trigger with cases.</a:t>
            </a:r>
          </a:p>
          <a:p>
            <a:r>
              <a:t>Reporting: today 1, To-Be 4, best practice 5. Today: reports need IT (RP-01). To-Be: users run reports; ad-hoc builder open.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renewal, submitted policies and employee benefits: the front office and its hand-off to Processing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turns a customer need into an issued, booked and delivered policy. It is the spine of the business: every other area reads the client, the account and the booked invoice it creates. The journey differs by segment (CBG Motor, CBG Fire and Home, Non-CBG Retail, Corporate, Branches, bank trade business) and by product type: package products go from quotation to policy on fixed terms, non-package risks go through TSU for insurer terms (chapter 5). Today one deal crosses five tools: Excel templates, Broker, ISYS, QPS and EBIX.</a:t>
            </a:r>
          </a:p>
          <a:p/>
          <a:p>
            <a:r>
              <a:t>Floor walk: 22-Sep-2026 (New Business 9-10 am; Placement and Booking 2-3:30 pm, 43F) and 25-Sep-2026; Rose Lique, Marla Apostol, Grace Tordesillas, Kin Ysaac Flores, Justine Malonzo, Jhosven Awa, Lyka Palomeno, Regina Matutina; Ramoncito Manalo, Cherry Ann Catayas, Jean Deam Dela Cruz, Cristina Labrador, Mae Anne B. Roque, John Ray Bellen, Rey Mark Magsael.</a:t>
            </a:r>
          </a:p>
          <a:p>
            <a:r>
              <a:t>Sources: High-level New Business process flow (CBG Motor, CBG Fire, Non-CBG Corporate, Non-CBG Retail, Branches); BDOI Day 1 overview p.11 and p.18; BRD-1 p.132-134; Other Lines addendum p.47-48; BRNB.001-115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business overview (21-Sep) and of the New Business sessions of 22 and 25-Sep. NB-01 has two versions from two sessions and is an open point.</a:t>
            </a:r>
          </a:p>
          <a:p>
            <a:r>
              <a:t>NB-01 Routing (Open point): Package goes quote to policy; non-package goes direct to policy issuance; some package products go straight to placement. On 25-Sep: the TSU step is for non-package only. Wants: Confirm routing per product type.</a:t>
            </a:r>
          </a:p>
          <a:p>
            <a:r>
              <a:t>NB-02 Premium confirmation (As-Is): Marketing shares the premium computation with the client; placement follows once the client confirms.</a:t>
            </a:r>
          </a:p>
          <a:p>
            <a:r>
              <a:t>NB-03 Quote validity (Business rule): A quote is valid 30 days for all products, retail and corporate. Wants: The system applies 30-day validity on every quote.</a:t>
            </a:r>
          </a:p>
          <a:p>
            <a:r>
              <a:t>NB-04 KYC, AMLA (Open point): Insurance declaration form and KYC done outside the system, for every new customer; then the AMLA check. Wants: Confirm whether KYC and AMLA come into the system.</a:t>
            </a:r>
          </a:p>
          <a:p>
            <a:r>
              <a:t>NB-05 Risk survey (Business rule): A risk survey is required above 500M. Wants: Confirm the basis (sum insured? PHP?).</a:t>
            </a:r>
          </a:p>
          <a:p>
            <a:r>
              <a:t>NB-06 Quote to insurer (As-Is): Non-life lines (Motor, Property, Marine): the quote request goes to the insurer with recommended terms.</a:t>
            </a:r>
          </a:p>
          <a:p>
            <a:r>
              <a:t>NB-07 SLA (User aspiration): Complex risk 7 days, normal risk 3 days. Wants: SLA tracking available.</a:t>
            </a:r>
          </a:p>
          <a:p>
            <a:r>
              <a:t>NB-08 TSU step (Business rule): Non-package: TSU before the quotation; after acceptance to the Placement team.</a:t>
            </a:r>
          </a:p>
          <a:p>
            <a:r>
              <a:t>NB-09 Package flow (Pain point): Client created in Broker, proposal in EBIX, then QPS for the package policy: one deal keyed in three systems.</a:t>
            </a:r>
          </a:p>
          <a:p>
            <a:r>
              <a:t>NB-10 TOR (As-Is): Terms of reference kept per product.</a:t>
            </a:r>
          </a:p>
          <a:p>
            <a:r>
              <a:t>NB-11 Pipeline (User aspiration): TSU outstanding items and risk profile in a pipeline report; sources are the bank and direct clients. Wants: Pipeline for Retail and Corporate accounts.</a:t>
            </a:r>
          </a:p>
          <a:p>
            <a:r>
              <a:t>NB-12 CBG quick quote (As-Is): CBG gives quick-quote details; allocation by branch or area and by region to the handler; placement once agreed.</a:t>
            </a:r>
          </a:p>
          <a:p>
            <a:r>
              <a:t>NB-13 CBG Motor (Business rule): CBG is Motor and package only, so TSU is not involved.</a:t>
            </a:r>
          </a:p>
          <a:p>
            <a:r>
              <a:t>NB-14 Non-CBG from the bank (Open point): The bank gives details and premium; the first year premium is free; the process stops when the COC is received from PGA. Wants: Commission on the free first year (Cashiering).</a:t>
            </a:r>
          </a:p>
          <a:p>
            <a:r>
              <a:t>NB-15 Kept for renewal (As-Is): Client code created and kept in Broker so it can be retrieved at renewal.</a:t>
            </a:r>
          </a:p>
          <a:p>
            <a:r>
              <a:t>DC-01 Documents (Business rule): Policy schedules follow insurer templates; no BDOI template for NB or endorsement; the renewal advice uses the BDOI template.</a:t>
            </a:r>
          </a:p>
          <a:p>
            <a:r>
              <a:t>TR-01, 02 Trade and Marine (As-Is): Clients import with bank trade loans; business from the bank is mostly Marine Open Policy declarations; accumulation to track by location.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Requests reach the Marketing AO by e-mail: individual requests from bank AOs, branches, IBG or clients, and for CBG Fire a daily list of approved loans from CBG LAD. The AO builds the insurance report from HLS, CLAS and CTS and sanitises it by hand. Quotations are prepared in the IDF Excel templates (or ISYS for package accounts), saved as PDF and e-mailed; non-package risks go to TSU. There is no control on quote validity or SLA. Once the client accepts with proof of payment, KYC and the insurance declaration are done outside the system, the client is created in Broker and the account in ISYS. The Processing Officer then asks IT to migrate client and account from ISYS to QPS; when the migration fails the account is fixed and re-migrated, then pushed to the core system. Marketing submits the GRF / ARF and the TL reviews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Processing Officer sends the placement slip to each insurer by SFTP or, for insurers without SFTP, as a PDF by e-mail, and handles returns (revision, more documents, cancellation) with Marketing. Hold covers go by e-mail and the PDF is saved on the shared drive with the link in the e-mail. The insurer issues the e-policy. When SFTP works, IT updates the policy number in EBIX by batch and COG-OPRM sends the e-policy to the client; when the insurer is not on SFTP or the transfer falls out, the officer creates a text file for the policy-number update, IT runs an e-policy exception report, and Marketing fixes the fall-out and passes the e-policy to the BDOI contact centre to send. Placement and booking are done in ISYS or EBIX depending on who has access. For CBG Fire the AO prepares the billing file for CLPC and checks the CLPC masterlist to see whether billed accounts are paid. Status is kept in the NB masterlist in Excel.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segment variants of the New Business process flow (confirmed by the CBG Motor, CBG Fire, Non-CBG Corporate, Non-CBG Retail and Branches process owners, Dec 2025 - Mar 2026) and of the 25-Sep session (NB-12 to NB-15).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1 to 5 are on the request-to-account swimlane, 6 to 12 on the placement-to-booking swimlane. The BRD-1 current-process section (p.133-134) names most of them; the process flow adds the ISYS to QPS migration loop and the e-policy fall-out chain.</a:t>
            </a:r>
          </a:p>
          <a:p>
            <a:r>
              <a:t>1. Requests and bank lists by hand: Requests arrive by e-mail; HLS, CLAS and CTS reports are sanitised by hand. (NB flow; BRD-1 p.133)</a:t>
            </a:r>
          </a:p>
          <a:p>
            <a:r>
              <a:t>2. Quotations in Excel templates: IDF templates filled, converted to PDF, shared by drive link. (NB flow; BRD-1 p.133)</a:t>
            </a:r>
          </a:p>
          <a:p>
            <a:r>
              <a:t>3. No validity or SLA control: 30-day validity and 7 / 3-day SLA are tracked by memory. (NB-03, NB-07)</a:t>
            </a:r>
          </a:p>
          <a:p>
            <a:r>
              <a:t>4. KYC outside the system: Insurance declaration form and KYC done on paper before the AMLA check. (NB-04; Workshop addendum p.3-5)</a:t>
            </a:r>
          </a:p>
          <a:p>
            <a:r>
              <a:t>5. One deal keyed in three systems: Broker, then ISYS, then an IT migration to QPS with a fall-out loop. (NB-09; NB flow; OV-02)</a:t>
            </a:r>
          </a:p>
          <a:p>
            <a:r>
              <a:t>6. Placement per insurer by e-mail: Slips by SFTP only for enrolled insurers; the rest by e-mail. (NB flow; OV-01)</a:t>
            </a:r>
          </a:p>
          <a:p>
            <a:r>
              <a:t>7. Returns and hold covers by e-mail: Revisions, hold covers and PDFs travel by e-mail and shared drive. (NB flow; BRD-1 p.133)</a:t>
            </a:r>
          </a:p>
          <a:p>
            <a:r>
              <a:t>8. E-policy fall-outs: Text files, an IT exception report and a batch update of policy numbers. (NB flow)</a:t>
            </a:r>
          </a:p>
          <a:p>
            <a:r>
              <a:t>9. Three senders of the e-policy: COG-OPRM, the Processing Officer or the contact centre after a fall-out. (NB flow)</a:t>
            </a:r>
          </a:p>
          <a:p>
            <a:r>
              <a:t>10. Booking depends on access: Placement and booking done in ISYS or EBIX by whoever has access. (NB flow; BRD-1 p.133-134)</a:t>
            </a:r>
          </a:p>
          <a:p>
            <a:r>
              <a:t>11. CBG Fire billing by hand: CLPC billing file prepared and paid list checked manually. (NB flow; BRD-1 p.133)</a:t>
            </a:r>
          </a:p>
          <a:p>
            <a:r>
              <a:t>12. Pipeline and status in Excel: NB masterlist and status reports compiled by hand. (NB-11; BRD-1 p.133)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requests are captured in a request inbox or loaded from a source-system file. Every client starts as a prospect and is confirmed after a second user verifies the KYC documents. Package quotations are rated with the Appendix A formulas, approved and sent protected; non-package risks go through the PRF, with quotation slips to insurers and a comparative compiled by BIBS. One account per accepted risk group carries the ARN. BIBS produces the CLPC billing file and matches payment reports. Processing sends placement slips and hold cover requests with a send log, matches the e-policy and sends it protected. Booking posts the invoice, the GL entry and the service invoice in one transaction; batch booking runs at 20:00. Dashboards read the workflow history. The HLS interface, the mailbox reader and insurer SFTP / API are parked seams (Q11, Q12, Q06).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 states objectives without turnaround targets; the benefit column names what the To-Be removes.</a:t>
            </a:r>
          </a:p>
          <a:p>
            <a:r>
              <a:t>1. Requests and bank lists by hand -&gt; Request inbox; HLS extract and bulk files uploaded with a template and row checks Benefit: Up to 5,000 rows a file.</a:t>
            </a:r>
          </a:p>
          <a:p>
            <a:r>
              <a:t>2. Quotations in Excel templates -&gt; Quotation rated with the Appendix A formulas, versioned, approved and sent protected Benefit: No Excel quotes.</a:t>
            </a:r>
          </a:p>
          <a:p>
            <a:r>
              <a:t>3. No validity or SLA control -&gt; SLA timers and breach alerts (BRNB.012, 022); quote validity not specified Benefit: Partly: see gaps.</a:t>
            </a:r>
          </a:p>
          <a:p>
            <a:r>
              <a:t>4. KYC outside the system -&gt; Prospect, KYC documents, verification by a second user, screening, then confirmed client Benefit: Four-eyes KYC.</a:t>
            </a:r>
          </a:p>
          <a:p>
            <a:r>
              <a:t>5. One deal keyed in three systems -&gt; One client master and one account (ARN) used by every module; no migration between systems Benefit: Keyed once.</a:t>
            </a:r>
          </a:p>
          <a:p>
            <a:r>
              <a:t>6. Placement per insurer by e-mail -&gt; Placement slip generated and sent per insurer with a send log; channel per insurer configurable Benefit: Send log per slip.</a:t>
            </a:r>
          </a:p>
          <a:p>
            <a:r>
              <a:t>7. Returns and hold covers by e-mail -&gt; Returns and hold cover requests handled in the placement workflow; documents stored Benefit: No drive links.</a:t>
            </a:r>
          </a:p>
          <a:p>
            <a:r>
              <a:t>8. E-policy fall-outs -&gt; E-policy received, matched and policy number set automatically (BRNB.073-074) Benefit: Fall-out queue open.</a:t>
            </a:r>
          </a:p>
          <a:p>
            <a:r>
              <a:t>9. Three senders of the e-policy -&gt; One E-policy Sender role sends protected e-policies with a log Benefit: One sender.</a:t>
            </a:r>
          </a:p>
          <a:p>
            <a:r>
              <a:t>10. Booking depends on access -&gt; Booking posts invoice, GL entry and service invoice in one transaction; roles by persona Benefit: One step.</a:t>
            </a:r>
          </a:p>
          <a:p>
            <a:r>
              <a:t>11. CBG Fire billing by hand -&gt; CLPC billing file produced and payment report matched in the system Benefit: Matching automated.</a:t>
            </a:r>
          </a:p>
          <a:p>
            <a:r>
              <a:t>12. Pipeline and status in Excel -&gt; Dashboards and status reports read the workflow history Benefit: Live pipeline.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 validity, the risk survey, the e-policy fall-out queue and Marine open-cover declarations are not in any BRD. The other items are rules the BRD leaves open.</a:t>
            </a:r>
          </a:p>
          <a:p>
            <a:r>
              <a:t>[Not in BRD] Quote validity. Seen: 30 days for every product (NB-03). BRD: No validity or expiry on the quotation (BRNB.043). Recommendation: Validity parameter per product, auto-expiry and re-quote. (NB-03)</a:t>
            </a:r>
          </a:p>
          <a:p>
            <a:r>
              <a:t>[Not in BRD] Risk survey. Seen: Required above 500M (NB-05). BRD: No survey step; the TSI threshold only routes to TSU. Recommendation: Survey trigger by sum insured, survey document type, status on the account. (NB-05)</a:t>
            </a:r>
          </a:p>
          <a:p>
            <a:r>
              <a:t>[Partly in BRD] SLA values. Seen: Complex 7 days, normal 3 days (NB-07). BRD: SLA timers without values or complexity class. Recommendation: Configure the values and a complex / normal flag. (NB-07; PQ08)</a:t>
            </a:r>
          </a:p>
          <a:p>
            <a:r>
              <a:t>[BDOI to confirm] Routing per product. Seen: Two versions of the routing (21 and 25-Sep). BRD: Rule-based TSU routing; thresholds open. Recommendation: One routing matrix per product and segment. (NB-01; Q04)</a:t>
            </a:r>
          </a:p>
          <a:p>
            <a:r>
              <a:t>[Not in BRD] E-policy fall-out queue. Seen: Text files, IT exception report, contact centre sends. BRD: Receive and match only; no exception queue. Recommendation: Exception queue with owner and SLA; one sender. (NB flow; Q31)</a:t>
            </a:r>
          </a:p>
          <a:p>
            <a:r>
              <a:t>[Not in BRD] Marine open-cover declarations. Seen: Bank trade business; declarations under open policies (TR-01). BRD: Product codes only; no open-cover master or declarations. Recommendation: Open-cover master, declaration intake, certificate, premium per declaration. (TR-01; DCR-132)</a:t>
            </a:r>
          </a:p>
          <a:p>
            <a:r>
              <a:t>[Not in BRD] Accumulation by location. Seen: Marine accumulation to track by location (TR-02). BRD: Trade accumulation report listed, no BRD. Recommendation: Location-based accumulation with capacity alerts. (TR-02; DCR-132)</a:t>
            </a:r>
          </a:p>
          <a:p>
            <a:r>
              <a:t>[Partly in BRD] Pipeline and lead source. Seen: Pipeline from bank and direct sources, TSU items (NB-11). BRD: Status and stalled-account reports; lead source not defined. Recommendation: Lead source on every prospect; pipeline for Retail and Corporate. (NB-11; Q19)</a:t>
            </a:r>
          </a:p>
          <a:p>
            <a:r>
              <a:t>[Partly in BRD] Allocation to handlers. Seen: By branch or area and region (NB-12). BRD: Assign and re-assign by hand. Recommendation: Automatic allocation rules by branch and region. (NB-12)</a:t>
            </a:r>
          </a:p>
          <a:p>
            <a:r>
              <a:t>[Partly in BRD] Free first year and COC. Seen: Premium free in year one; COC from PGA ends the case (NB-14). BRD: FFY register; COC and payer not specified. Recommendation: Define the COC receipt and the commission on FFY. (NB-14; Q36)</a:t>
            </a:r>
          </a:p>
          <a:p>
            <a:r>
              <a:t>[Partly in BRD] Terms of reference per product. Seen: TOR kept per product (NB-10). BRD: TOR only in Submitted Policies and EB. Recommendation: TOR held on the product and shown at quotation. (NB-10; SQ19)</a:t>
            </a:r>
          </a:p>
          <a:p>
            <a:r>
              <a:t>[BDOI to confirm] KYC, declaration form, CIF. Seen: Outside the system (NB-04). BRD: KYC gate at onboarding; declaration form in no BRD; CIF reuse open. Recommendation: Bring the declaration form into onboarding; reuse the BDO CIF if allowed. (NB-04; Q16)</a:t>
            </a:r>
          </a:p>
          <a:p>
            <a:r>
              <a:t>[Partly in BRD] Source feeds and personas. Seen: CLAS and CTS reports; Combank Account Support books. BRD: HLS only; Combank roles not in the matrix. Recommendation: Add CLAS / CTS to the inventory and the roles to the access matrix. (Q11; DCR-121)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Digital placement exchange [Partly in BRD]. Placement, returns and e-policies exchanged through one standard channel (API or SFTP with a common layout). For BDOI: Agree a BDOI insurer data standard and on-board insurers in waves.</a:t>
            </a:r>
          </a:p>
          <a:p>
            <a:r>
              <a:t>Broker CRM and pipeline [Partly in BRD]. Leads from bank referrals, funnel stages, hit ratio and cross-sell per client. For BDOI: Add lead source and funnel KPIs to the dashboard.</a:t>
            </a:r>
          </a:p>
          <a:p>
            <a:r>
              <a:t>E-policy ingestion with OCR [Partly in BRD]. E-policies read, matched to the account and filed automatically; exceptions in a queue. For BDOI: Start with the top insurers by volume.</a:t>
            </a:r>
          </a:p>
          <a:p>
            <a:r>
              <a:t>Reuse of bank KYC [BDOI to confirm]. Client data and KYC reused from the bank CIF for bank-referred clients. For BDOI: Confirm with Compliance and BDO IT (Q16).</a:t>
            </a:r>
          </a:p>
          <a:p>
            <a:r>
              <a:t>Quote lifecycle control [Not in BRD]. Validity, auto-expiry, SLA clocks and reminders on every quote. For BDOI: Add validity and SLA values (NB-03, NB-07).</a:t>
            </a:r>
          </a:p>
          <a:p>
            <a:r>
              <a:t>Digital acceptance and payment link [Beyond the BRD]. Client accepts the proposal online with e-signature and pays by link. For BDOI: After go-live, with the e-signature decision (CP-01).</a:t>
            </a:r>
          </a:p>
          <a:p>
            <a:r>
              <a:t>Straight-through bank business [Partly in BRD]. Bank loan files (HLS, LAD) become quotations and accounts in bulk without re-keying. For BDOI: Specify the HLS, CLAS and CTS feeds.</a:t>
            </a:r>
          </a:p>
          <a:p>
            <a:r>
              <a:t>Marine declarations portal [Beyond the BRD]. Declarations by portal or API with e-certificates and QR verification. For BDOI: Specify open covers first (TR-01).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Renewal starts 140 days before expiry, when IT extracts the renewal master expiry list (RMEL) from EBIX. Sanitation handlers and Marketing decide for each account whether and how it renews, BDOI sends the renewal advice (RA) to the client on its own template, the accepted accounts go to the insurers for placement and the renewal is booked like new business. CBG Fire and Motor renewals are sanitised centrally and in bulk; Non-CBG renewals pass through Marketing Admin, the TL and the AO; non-package and exception accounts are handled by Processing. At renewal a policy can move between package and non-package (PM-04).</a:t>
            </a:r>
          </a:p>
          <a:p/>
          <a:p>
            <a:r>
              <a:t>Floor walk: 22-Sep-2026 (Renewal Marketing 10-11 am, 43F; Renewal Processing 1:30-3 pm, 44F); Amara Cruz, Rose Lique, Joy Ilagan, Tina Fajardo, Grace Tordesillas, Kin Ysaac Flores, Criffson Rendon, Joyce Aritao, Ma. Christena Cezar, Cezssane Canarias, Jeramie Ramos; Angelo Alibuyog, Ces Remodo, Berna Corpuz, Norberto Fulo.</a:t>
            </a:r>
          </a:p>
          <a:p>
            <a:r>
              <a:t>Sources: High-level Renewal process flow (CBG automated RMEL; Non-CBG; non-package and exceptions); BDOI Day 1 overview p.14; BRD-6 p.80-84 (current process); BRRN.001-040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business overview (21-Sep) and of the Renewal Marketing and Processing floor walks (22-Sep).</a:t>
            </a:r>
          </a:p>
          <a:p>
            <a:r>
              <a:t>RN-01 Review and disposition (Pain point): Renewal review and dispositions are done in Excel; the renewal master expiry list is sent and the renewal advice goes to the client. Wants: Major pain point: move it into the system.</a:t>
            </a:r>
          </a:p>
          <a:p>
            <a:r>
              <a:t>RN-02 Pro-forma entries (User aspiration): Renewal accounting is not real time, so adjustments are made later for additional remittance or recovery. Wants: Pro-forma accounting entries for renewals.</a:t>
            </a:r>
          </a:p>
          <a:p>
            <a:r>
              <a:t>PM-04 Package switch (User aspiration): At renewal a policy can move from package to non-package or back. Wants: The system allows the switch at renewal.</a:t>
            </a:r>
          </a:p>
          <a:p>
            <a:r>
              <a:t>DC-01 Renewal advice template (Business rule): Policy schedules follow insurer templates; the renewal advice uses the BDOI template. Wants: RA generated from the BDOI template.</a:t>
            </a:r>
          </a:p>
          <a:p>
            <a:r>
              <a:t>Day 1 p.14 Servicing path (As-Is): Send the sanitised renewal master expiry list; generate the renewal advice letter and send it to the client.</a:t>
            </a:r>
          </a:p>
          <a:p>
            <a:r>
              <a:t>Renewal flow Notice days (Business rule): RMEL at -140 days; first notice at -70 days; final notice at -40 days (CBG) or -45 days (Non-CBG); CBG letters also by snail mail.</a:t>
            </a:r>
          </a:p>
          <a:p>
            <a:r>
              <a:t>Renewal flow Non-package and exceptions (As-Is): Accounts with no QPS set-up are booked directly in EBIX; Processing computes, prepares the dispositioned files and coordinates with the AO when the insurer does not approve.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extracts the RMEL from EBIX 140 days before the expiry month. For CBG the head-office sanitation handler tells the branch handlers; for Non-CBG the Marketing Admin TL tells Marketing Admin, who splits the file per segment for the Marketing TL, who passes it to the AO. The handlers identify the accounts for renewal, update the details and compute the premium in Excel; the AO gives a disposition and the TL reviews it by e-mail. The files are dropped in a folder for upload, and failed rows are corrected and re-uploaded. IT generates the RA text file into the ES-COG-OPRM folder; COG generates the RA letters at -70 and -40 or -45 days and sends them by e-mail and, for CBG, by snail mail. When the client accepts, the AO updates the account, Marketing Admin validates the payment and applies the changes, and Processing prepares the placement file in Excel and e-mails it to each insurer. The e-policy then follows the New Business path, and renewal accounting is adjusted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paths of the Renewal process flow confirmed by the CBG Motor, CBG Fire, Non-CBG Corporate, Non-CBG Marketing and Branches owners.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1 to 10 are on the swimlane; the BRD-6 current process (p.80-84) and the Renewal flow agree on them.</a:t>
            </a:r>
          </a:p>
          <a:p>
            <a:r>
              <a:t>1. IT extracts the expiring list: The RMEL is an IT extract from EBIX; business cannot run it. (Renewal flow; BRD-6 p.80)</a:t>
            </a:r>
          </a:p>
          <a:p>
            <a:r>
              <a:t>2. Many hand-offs before work starts: MA TL, MA, MTL and AO (or head-office and branch SHs) pass the file on. (Renewal flow)</a:t>
            </a:r>
          </a:p>
          <a:p>
            <a:r>
              <a:t>3. Sanitation in Excel: Handlers identify accounts, update details and compute premium in Excel. (Renewal flow; BRD-6 p.81)</a:t>
            </a:r>
          </a:p>
          <a:p>
            <a:r>
              <a:t>4. Disposition in Excel: AO dispositions in a spreadsheet, reviewed by e-mail. (RN-01; BRD-6 p.81)</a:t>
            </a:r>
          </a:p>
          <a:p>
            <a:r>
              <a:t>5. Upload and correction loop: Files dropped in a folder; failed rows found and re-worked. (Renewal flow)</a:t>
            </a:r>
          </a:p>
          <a:p>
            <a:r>
              <a:t>6. RA through text files and COG: IT text file, COG print; snail mail for CBG; notice days differ by segment. (Renewal flow; DC-01)</a:t>
            </a:r>
          </a:p>
          <a:p>
            <a:r>
              <a:t>7. Accepted renewals re-keyed: AO updates the account; payment and changes validated by hand. (Renewal flow; BRD-6 p.82)</a:t>
            </a:r>
          </a:p>
          <a:p>
            <a:r>
              <a:t>8. Insurer lists from Excel: Placement files prepared in Excel and e-mailed to each insurer. (Renewal flow; BRD-6 p.82)</a:t>
            </a:r>
          </a:p>
          <a:p>
            <a:r>
              <a:t>9. Accounting after the fact: No real-time renewal accounting; additional remittance or recovery adjusted later. (RN-02)</a:t>
            </a:r>
          </a:p>
          <a:p>
            <a:r>
              <a:t>10. E-policy fall-outs again: The e-policy leg repeats the New Business fall-out chain. (Renewal flow)</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a daily job extracts the accounts that expire within the lead days; users can also generate the list for any date range. BIBS runs the sanitation, matching and eligibility checks and classifies each record Clean, Review or Exception. An authorised user initiates the renewal, in bulk (for example CLG) or one by one. The decision matrix proposes a disposition; a Clean case with an automatic rule proceeds straight through. Otherwise the AO dispositions online and the TL reviews and posts. Processing updates the renewal account; BIBS builds the extract per insurer and sends it protected, and the insurer's decision file is applied: Renew As Is advances, Reject or Revise stops or reroutes. The Renewal Advice (first or second notice) goes out in batch, protected. Acceptance moves the account to placement and booking without re-keying, and it books as business type RENEWAL.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column names what the To-Be removes.</a:t>
            </a:r>
          </a:p>
          <a:p>
            <a:r>
              <a:t>1. IT extracts the expiring list -&gt; Daily job extracts expiring accounts at the lead days; users generate the list for any range Benefit: 25,800 a month without IT.</a:t>
            </a:r>
          </a:p>
          <a:p>
            <a:r>
              <a:t>2. Many hand-offs before work starts -&gt; Work assigned by rule to the AO or handler; staged workflow with notices Benefit: No file passing.</a:t>
            </a:r>
          </a:p>
          <a:p>
            <a:r>
              <a:t>3. Sanitation in Excel -&gt; Sanitation, matching and eligibility checks classify each record Clean, Review or Exception Benefit: Checks by the system.</a:t>
            </a:r>
          </a:p>
          <a:p>
            <a:r>
              <a:t>4. Disposition in Excel -&gt; AO dispositions online; clean cases pass by the decision matrix Benefit: Straight-through for clean cases.</a:t>
            </a:r>
          </a:p>
          <a:p>
            <a:r>
              <a:t>5. Upload and correction loop -&gt; Records never leave the system; no upload step Benefit: No correction loop.</a:t>
            </a:r>
          </a:p>
          <a:p>
            <a:r>
              <a:t>6. RA through text files and COG -&gt; RA first and second notice from the latest template, in batch, by e-mail Benefit: RA in 20 s; print open.</a:t>
            </a:r>
          </a:p>
          <a:p>
            <a:r>
              <a:t>7. Accepted renewals re-keyed -&gt; Acceptance moves the account to placement and booking; it books as RENEWAL Benefit: No re-keying.</a:t>
            </a:r>
          </a:p>
          <a:p>
            <a:r>
              <a:t>8. Insurer lists from Excel -&gt; Extract per insurer sent protected; insurer decision file uploaded and applied Benefit: Protected, logged.</a:t>
            </a:r>
          </a:p>
          <a:p>
            <a:r>
              <a:t>9. Accounting after the fact -&gt; Renewal books through New Business booking in real time; pro-forma not specified Benefit: Partly: see gaps.</a:t>
            </a:r>
          </a:p>
          <a:p>
            <a:r>
              <a:t>10. E-policy fall-outs again -&gt; Same e-policy receipt and sender as New Business Benefit: Fall-out queue open.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Renewal pro-forma accounting and the snail-mail channel are not in the BRD.</a:t>
            </a:r>
          </a:p>
          <a:p>
            <a:r>
              <a:t>[Not in BRD] Pro-forma renewal entries. Seen: Adjustments after the fact for additional remittance or recovery (RN-02). BRD: Renewal books through NB booking; no pro-forma. Recommendation: Pro-forma entry at acceptance, finalised at booking; differences posted automatically. (RN-02)</a:t>
            </a:r>
          </a:p>
          <a:p>
            <a:r>
              <a:t>[Not in BRD] Snail-mail and print channel. Seen: CBG RAs and reminders printed by COG and mailed. BRD: RA by e-mail only (BRRN.010). Recommendation: Print batch for a mail house with delivery tracking, per client preference. (Renewal flow; SQ09)</a:t>
            </a:r>
          </a:p>
          <a:p>
            <a:r>
              <a:t>[Partly in BRD] Notice days per segment. Seen: -70 first; -40 (CBG) or -45 (Non-CBG) final. BRD: First and second notice; days not per segment. Recommendation: Lead days configurable per segment and product. (Renewal flow)</a:t>
            </a:r>
          </a:p>
          <a:p>
            <a:r>
              <a:t>[Partly in BRD] Package switch at renewal. Seen: Package to non-package or back (PM-04). BRD: Restructure goes the NB path; no explicit switch rule. Recommendation: Switch rule with product-version handling at sanitation. (PM-04; PQ11)</a:t>
            </a:r>
          </a:p>
          <a:p>
            <a:r>
              <a:t>[Partly in BRD] Online or upload per segment. Seen: CBG in bulk files; Non-CBG by AO. BRD: Both paths described; choice per segment open. Recommendation: Online disposition for all, bulk actions for CBG. (DCR-062)</a:t>
            </a:r>
          </a:p>
          <a:p>
            <a:r>
              <a:t>[BDOI to confirm] Renewal of submitted policies. Seen: SP renewals prepared by the Submitted handlers (chapter 3). BRD: Two renewal paths; boundary open. Recommendation: Confirm the hand-off from Submitted Policies to Renewal. (DCR-129, 146)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Straight-through renewals [In the BRD]. A decision matrix renews clean accounts automatically; people handle exceptions only. For BDOI: Agree the rules with Marketing so most CBG renewals pass untouched.</a:t>
            </a:r>
          </a:p>
          <a:p>
            <a:r>
              <a:t>Omnichannel renewal notices [Partly in BRD]. E-mail, SMS, print and portal notices with delivery tracking. For BDOI: Add SMS and a print batch to the RA.</a:t>
            </a:r>
          </a:p>
          <a:p>
            <a:r>
              <a:t>Pay-to-renew link [Partly in BRD]. The RA carries a payment link; payment is the acceptance. For BDOI: Add a payment reference and link to the RA template.</a:t>
            </a:r>
          </a:p>
          <a:p>
            <a:r>
              <a:t>Experience-based renewal pricing [Partly in BRD]. Claims and payment history feed the renewal terms and insurer choice. For BDOI: Show loss experience at sanitation (DCR-150).</a:t>
            </a:r>
          </a:p>
          <a:p>
            <a:r>
              <a:t>Retention analytics [Partly in BRD]. Lapse-risk scores, persistency and lost-business reasons per segment. For BDOI: Track reasons for non-renewal in the disposition list.</a:t>
            </a:r>
          </a:p>
          <a:p>
            <a:r>
              <a:t>Early renewal window [Beyond the BRD]. Terms agreed with insurers before the RMEL so RAs go out on day one. For BDOI: Negotiate renewal terms per package yearly with TSU.</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bank client (home loan, auto loan, leasing) buys insurance outside BDOI and submits the policy to the bank, BDOI checks that the cover is adequate, issues an IAAF to the bank unit, monitors the policy on a masterlist and tries to win the business at renewal. Today it is tracked outside any system, on masterlists kept on a shared drive (Drive H) and SharePoint (SP-01).</a:t>
            </a:r>
          </a:p>
          <a:p/>
          <a:p>
            <a:r>
              <a:t>Floor walk: Discovery 24-Sep-2026; process flow walked with Marketing (Submitted Policies); CBG and Non-CBG Marketing process owners (Submitted Policies).</a:t>
            </a:r>
          </a:p>
          <a:p>
            <a:r>
              <a:t>Sources: High-level Submitted Policies process flow (5 pages: intake, handling fee, three renewal paths); BRD-12 p.4-7 (current and envisioned); BRIDSP-01 to 33; Floor-walk note SP-01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of the 24-Sep session and the steps of the Submitted Policies process flow.</a:t>
            </a:r>
          </a:p>
          <a:p>
            <a:r>
              <a:t>SP-01 Leasing and mortgage (Pain point): Leasing and mortgage accounts are "submitted policies"; they are tracked manually, not in a system.</a:t>
            </a:r>
          </a:p>
          <a:p>
            <a:r>
              <a:t>SP flow p.1 Intake (As-Is): Policy details extracted from LFS and CIU and the daily HLS insurance report; documents from the Home Loan AO and IBG / Leasing; validated and consolidated in the Submitted Masterlist on Drive H within 30 days; IAAF (PDF) issued when there are findings.</a:t>
            </a:r>
          </a:p>
          <a:p>
            <a:r>
              <a:t>SP flow p.2 Handling fee (CBG Motor) (As-Is): UPP list on SharePoint filtered for handling-fee billing; NB TL assigns to the AO; disposition fed back by e-mail; client IDs saved in a shared folder.</a:t>
            </a:r>
          </a:p>
          <a:p>
            <a:r>
              <a:t>SP flow p.3 Renewal CBG Motor (As-Is): SPI list from Drive H mapped to NB and Renewal databases; matched with LAMD; FFY, BDO / SM employees and No Touch excluded; loan status updated; RA by snail mail at 90 days; NRNS list to COG and to AOs for call-outs.</a:t>
            </a:r>
          </a:p>
          <a:p>
            <a:r>
              <a:t>SP flow p.4 Renewal CBG Fire (Business rule): Assign an insurer different from the expiring one; proposal with a 30-day hold cover by e-mail; accepted within 3-5 days or re-assigned.</a:t>
            </a:r>
          </a:p>
          <a:p>
            <a:r>
              <a:t>SP flow p.5 Renewal Non-CBG Retail (As-Is): AO asks the insurer to quote on expiring terms, quotes the employee, prepares the ARF in ISYS; NRNS letter by e-mail if declined.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CBG Motor Team Leads extract policy details from LFS and CIU and the Submitted Handler consolidates them within 30 days; CBG Fire policies come from Home Loan AOs; Non-CBG Corporate and Branch policies are reviewed by a Policy Reviewer who issues an IAAF on paper; Non-CBG Retail policies come from the LAMD report. Each segment keeps an Excel masterlist on a shared drive. At renewal a Sanitation Handler matches the list against LAMD by hand, excludes accounts that must not be renewed, assigns an insurer and sends a proposal with a 30-day hold cover request, and an RA text file goes to COG for mailing. Limit breaches are handled by e-mail with TSU, handling-fee payments are filtered from the UPP list on SharePoint, and status is monitored in the masterlists.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pages of the Submitted Policies process flow.</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 points of the BRD-12 current process (p.4-7); the process flow confirms each one.</a:t>
            </a:r>
          </a:p>
          <a:p>
            <a:r>
              <a:t>1. Policy details consolidated by hand: Excel reports and documents per segment; 30 days to consolidate CBG Motor. (BRD-12 p.4-5; BRIDSP-01, 02)</a:t>
            </a:r>
          </a:p>
          <a:p>
            <a:r>
              <a:t>2. Separate masterlists: One Excel masterlist per segment on Drive H:, with e-mail and SharePoint. (BRD-12 p.4-5; BRIDSP-04)</a:t>
            </a:r>
          </a:p>
          <a:p>
            <a:r>
              <a:t>3. Sanitation and LAMD matching by hand: Exclusions (FFY, employees, No Touch) applied manually. (BRD-12 p.4-7; BRIDSP-08, 09)</a:t>
            </a:r>
          </a:p>
          <a:p>
            <a:r>
              <a:t>4. Reviews and IAAF on paper: Adequacy reviews by e-mail; IAAF signed on paper. (BRD-12 p.4-5; BRIDSP-05-07)</a:t>
            </a:r>
          </a:p>
          <a:p>
            <a:r>
              <a:t>5. Limit breaches by e-mail: Breaches handled with TSU by e-mail. (BRD-12 p.4-7; BRIDSP-16-19)</a:t>
            </a:r>
          </a:p>
          <a:p>
            <a:r>
              <a:t>6. Renewal prepared by hand: Proposal, 30-day hold cover request and RA text file for COG prepared manually. (BRD-12 p.5-7; BRIDSP-22-26)</a:t>
            </a:r>
          </a:p>
          <a:p>
            <a:r>
              <a:t>7. Handling fee from the UPP list: Handling-fee payments filtered from the Unapplied Payment List on SharePoint. (BRD-12 p.4-7; BRIDSP-31)</a:t>
            </a:r>
          </a:p>
          <a:p>
            <a:r>
              <a:t>8. Status in the masterlists: No reports or alerts from live data. (BRD-12 p.4-7; BRIDSP-20, 21, 24)</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each source file is uploaded and validated, one masterlist record per policy; fields are proposed from the policy document and saved only after a user confirms them. One Submitted Masterlist keeps history and role-based access. A processing run sanitises, matches against LAMD by PN, classifies (Inforced or Submitted), buckets and tags each policy; fallout is listed with reason codes. Reviews and the IAAF follow the approval matrix, with stamped signatures. A limit breach produces a TOR approved by the TSU matrix and handed to the AO. The expiry scan hands renewable policies to the Renewal module, which creates the account, requests the 30-day hold cover and sends the letters. Handling-fee payments are tagged in the Unapplied Payment List by PN or location reference. The source feeds, OCR, qualified e-signature and COG transport are parked ports (upload, manual entry, stamped signature, print batch).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column names what the To-Be removes.</a:t>
            </a:r>
          </a:p>
          <a:p>
            <a:r>
              <a:t>1. Policy details consolidated by hand -&gt; Each source uploaded; fields extracted from the document and confirmed by a user Benefit: Keyed once.</a:t>
            </a:r>
          </a:p>
          <a:p>
            <a:r>
              <a:t>2. Separate masterlists -&gt; One Submitted Masterlist with history and role-based access Benefit: 2 s response (p.13-14).</a:t>
            </a:r>
          </a:p>
          <a:p>
            <a:r>
              <a:t>3. Sanitation and LAMD matching by hand -&gt; Configurable rules sanitise, match, classify and bucket every policy; fallout reported Benefit: 63,000 a year by rule.</a:t>
            </a:r>
          </a:p>
          <a:p>
            <a:r>
              <a:t>4. Reviews and IAAF on paper -&gt; Reviews, IAAF and approval matrix in BIBS, with stamped signatures Benefit: Approval trail.</a:t>
            </a:r>
          </a:p>
          <a:p>
            <a:r>
              <a:t>5. Limit breaches by e-mail -&gt; TOR generated, approved by the TSU matrix and handed over to the AO Benefit: Limit check by rule.</a:t>
            </a:r>
          </a:p>
          <a:p>
            <a:r>
              <a:t>6. Renewal prepared by hand -&gt; Expiry scan hands renewable policies to Renewal: account, hold cover, letters Benefit: No manual RA file.</a:t>
            </a:r>
          </a:p>
          <a:p>
            <a:r>
              <a:t>7. Handling fee from the UPP list -&gt; Handling-fee payments tagged automatically by PN or location reference Benefit: Tagged daily.</a:t>
            </a:r>
          </a:p>
          <a:p>
            <a:r>
              <a:t>8. Status in the masterlists -&gt; Reports, alerts and notifications from live data Benefit: Live status.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Mostly timing and channel details; the lead days of Submitted Policies and Renewal do not line up.</a:t>
            </a:r>
          </a:p>
          <a:p>
            <a:r>
              <a:t>[Partly in BRD] Lead days. Seen: Masterlist to sanitation at 150 days; RMEL at 140 days; RA at 90 days. BRD: Hand-off to Renewal; days not stated. Recommendation: One timeline shared with Renewal (chapter 2). (BRIDSP-23; DCR-129)</a:t>
            </a:r>
          </a:p>
          <a:p>
            <a:r>
              <a:t>[Not in BRD] Snail-mail RA and reminders. Seen: COG prints and mails RA and reminder letters. BRD: Channel open. Recommendation: Same print channel as Renewal, with tracking. (SQ09)</a:t>
            </a:r>
          </a:p>
          <a:p>
            <a:r>
              <a:t>[Partly in BRD] Handling fee. Seen: UPP list on SharePoint; AO disposition by e-mail. BRD: Tagging only; fee undefined. Recommendation: Define the fee and bill it from the masterlist. (BRIDSP-31; DCR-126)</a:t>
            </a:r>
          </a:p>
          <a:p>
            <a:r>
              <a:t>[Partly in BRD] Two LAMD intakes. Seen: LAMD used by Submitted Policies and Renewal. BRD: Two loan-status feeds. Recommendation: One LAMD intake shared by both. (DCR-146)</a:t>
            </a:r>
          </a:p>
          <a:p>
            <a:r>
              <a:t>[BDOI to confirm] One or many policies per IAAF. Seen: An IAAF may cover several policies. BRD: Open. Recommendation: Allow several policies per IAAF. (DCR-125)</a:t>
            </a:r>
          </a:p>
          <a:p>
            <a:r>
              <a:t>[Partly in BRD] Hold-cover expiry. Seen: 30-day hold cover; 3-5 days to accept. BRD: Hold cover requested; expiry rule open. Recommendation: Expiry alert and re-assignment rule. (DCR-155)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Live bank loan feeds [Partly in BRD]. Loan, collateral and paid-off status received from the bank systems daily. For BDOI: Specify LFS, CIU, HLS and LAMD feeds (SQ01).</a:t>
            </a:r>
          </a:p>
          <a:p>
            <a:r>
              <a:t>Rule-based adequacy check [Partly in BRD]. Sum insured against loan, mortgagee clause and expiry checked by rule on extracted data. For BDOI: Start with CBG Motor and Fire.</a:t>
            </a:r>
          </a:p>
          <a:p>
            <a:r>
              <a:t>Deficiency notices to the bank [Partly in BRD]. Automatic notices and escalation to the bank unit when cover is short or lapsed. For BDOI: Use the IAAF as the notice, sent from the system.</a:t>
            </a:r>
          </a:p>
          <a:p>
            <a:r>
              <a:t>Conversion programme [Partly in BRD]. Submitted policies targeted for conversion with offers at renewal, tracked per segment. For BDOI: Report conversion rate per segment.</a:t>
            </a:r>
          </a:p>
          <a:p>
            <a:r>
              <a:t>E-signature on IAAF and TOR [BDOI to confirm]. IAAF and TOR signed electronically. For BDOI: Decide with Legal and Compliance (CP-01).</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Employee Benefits places group programmes for corporate clients. It works like non-life business with more parties: the client's HR sends the master list (headcount only at quote stage), BDOI obtains the broker of record (BOR) and the insurers' franchise, releases the terms of reference (TOR), compares the proposals on premium, benefits and provider capabilities and presents a recommendation. After the client confirms, Processing receives the employee details and places the programme. BDOI handles more than 50,000 members today.</a:t>
            </a:r>
          </a:p>
          <a:p/>
          <a:p>
            <a:r>
              <a:t>Floor walk: 23-Sep-2026, 9-10 am, 43F; discovery 21-Sep-2026; Marianne Alpapara, Jyneffer Liansing, Edwin Garcia.</a:t>
            </a:r>
          </a:p>
          <a:p>
            <a:r>
              <a:t>Sources: High-level Employee Benefits process flow (new business and renewal); BRD-8 workshop addendum p.3-5 (current and envisioned); BRID-001-030; Floor-walk notes EB-01 to EB-03</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business overview (21-Sep) and of the EB floor walk (23-Sep).</a:t>
            </a:r>
          </a:p>
          <a:p>
            <a:r>
              <a:t>EB-01 Quote and placement (User aspiration): Like non-life: Marketing gets the master list from the customer (headcount only at quote stage), sends it to insurers and negotiates; Processing then gets the employee details and places. More than 50,000 members today. Wants: The system handles large member volumes (50K+).</a:t>
            </a:r>
          </a:p>
          <a:p>
            <a:r>
              <a:t>EB-02 EB claims (As-Is): Claims are validated by the provider; BDOI only captures the details from the provider.</a:t>
            </a:r>
          </a:p>
          <a:p>
            <a:r>
              <a:t>EB-03 Broker of record (Business rule): The broker of record is kept for corporate EB renewal.</a:t>
            </a:r>
          </a:p>
          <a:p>
            <a:r>
              <a:t>EB flow Renewal (As-Is): Renewal advice before expiry; BOR, master list, utilization and indicative proposal secured; indicative renewal from the incumbent; client feedback; comparative; approval above the internal threshold; placement after confirmation.</a:t>
            </a:r>
          </a:p>
          <a:p>
            <a:r>
              <a:t>EB flow New business (Business rule): New client tagged as prospect; BOR to insurers for franchise approval; TOR from existing benefits; TOR, master list and utilization released to the insurers with franchise; ISACOM approval if awarded to a non-accredited provider.</a:t>
            </a:r>
          </a:p>
          <a:p>
            <a:r>
              <a:t>EB flow Portals (User aspiration): Insurer portal for uploads and management; client portal for uploads and policy management. Wants: Portals for insurers and client HR (the drop plan says no portal at go-live).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renewal advices are prepared in Word or Excel. The TOR, master lists, utilization reports and proposals travel by e-mail with no repository, and insurers and clients reply by e-mail. The comparative is compiled by hand. Placement starts on an e-mail to Processing, member movements and billing are tracked in spreadsheets, booking is in EBIX, and reports are produced manually.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points of the BRD-8 current process (Add. p.3-5); the EB process flow confirms them.</a:t>
            </a:r>
          </a:p>
          <a:p>
            <a:r>
              <a:t>1. Renewal advices by hand: Prepared in Word or Excel for each programme. (BRD-8 Add. p.3; BRID-001)</a:t>
            </a:r>
          </a:p>
          <a:p>
            <a:r>
              <a:t>2. No document repository: TOR, master lists, utilization and proposals travel by e-mail. (BRD-8 Add. p.3; BRID-002, 007)</a:t>
            </a:r>
          </a:p>
          <a:p>
            <a:r>
              <a:t>3. Insurers and clients reply by e-mail: No secure channel and no validation before use. (BRD-8 Add. p.3-4; BRID-005)</a:t>
            </a:r>
          </a:p>
          <a:p>
            <a:r>
              <a:t>4. Comparative compiled by hand: Proposals are re-keyed into a comparative. (BRD-8 Add. p.3; BRID-010)</a:t>
            </a:r>
          </a:p>
          <a:p>
            <a:r>
              <a:t>5. Placement starts on an e-mail: Hand-offs between Marketing, Processing and Collection run on e-mail. (BRD-8 Add. p.3; BRID-017)</a:t>
            </a:r>
          </a:p>
          <a:p>
            <a:r>
              <a:t>6. Members and billing in spreadsheets: Member movements, direct billing, cards and SOAs tracked in Excel. (BRD-8 Add. p.3; BRID-013, 021, 030)</a:t>
            </a:r>
          </a:p>
          <a:p>
            <a:r>
              <a:t>7. Reports by hand: Production, renewal and TAT reports compiled manually. (BRD-8 Add. p.3; BRID-022)</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a daily job sends the renewal advice 135 days before expiry (default), with reminders and a feedback request. Client HR users upload the master list, utilization and the signed BOR in the partner portal; the AO validates every upload before it takes effect. Target insurers approve the franchise in the portal; the TOR and the unnamed master list are released to them, and they submit proposals on a structured form. BIBS builds the comparative from the validated proposals; sign-off and the value-threshold approval are workflow steps. The client's confirmation creates one account per benefit line and notifies Processing, who place, issue and book on the BRD-1 spine and release the SOA. Member changes, direct billing, contracts, HMO cards and SOAs are tracked items with automatic follow-ups.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column names what the To-Be removes.</a:t>
            </a:r>
          </a:p>
          <a:p>
            <a:r>
              <a:t>1. Renewal advices by hand -&gt; Daily job sends the RA 135 days before expiry, with reminders and a feedback request Benefit: About 4,150 renewals a year.</a:t>
            </a:r>
          </a:p>
          <a:p>
            <a:r>
              <a:t>2. No document repository -&gt; Every document registered with cycle, type, process and version; outbound files protected Benefit: One repository.</a:t>
            </a:r>
          </a:p>
          <a:p>
            <a:r>
              <a:t>3. Insurers and clients reply by e-mail -&gt; Insurers and client HR work in the partner portal; uploads take effect after BDOI validation Benefit: Validation before use.</a:t>
            </a:r>
          </a:p>
          <a:p>
            <a:r>
              <a:t>4. Comparative compiled by hand -&gt; Comparative built from the validated proposals; sign-off and threshold approval in the workflow Benefit: No re-keying.</a:t>
            </a:r>
          </a:p>
          <a:p>
            <a:r>
              <a:t>5. Placement starts on an e-mail -&gt; Client confirmation creates one account per benefit line and notifies Processing Benefit: Hand-off in the system.</a:t>
            </a:r>
          </a:p>
          <a:p>
            <a:r>
              <a:t>6. Members and billing in spreadsheets -&gt; Member changes, direct billing, contracts, HMO cards and SOAs are tracked items with follow-ups Benefit: Automatic follow-ups.</a:t>
            </a:r>
          </a:p>
          <a:p>
            <a:r>
              <a:t>7. Reports by hand -&gt; Production, Renewal, Placement, New Business and TAT reports with a business type filter Benefit: Live reports.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EB claims capture and the ISACOM approval are not in the BRD; member volumes are not sized.</a:t>
            </a:r>
          </a:p>
          <a:p>
            <a:r>
              <a:t>[Not in BRD] EB claims capture. Seen: Provider validates; BDOI captures claim details (EB-02). BRD: No claims row in BRD-8; BRD-7 covers Motor and Non-Motor only. Recommendation: Capture provider claims and utilization per programme. (EB-02)</a:t>
            </a:r>
          </a:p>
          <a:p>
            <a:r>
              <a:t>[Not in BRD] ISACOM approval. Seen: Needed when a non-accredited provider wins. BRD: Only in the process flow. Recommendation: Approval step and document in the EB cycle. (EB flow; DCR-090)</a:t>
            </a:r>
          </a:p>
          <a:p>
            <a:r>
              <a:t>[Partly in BRD] Member volumes. Seen: 50,000+ members (EB-01). BRD: NFR counts transactions (4,200 a year), not members. Recommendation: Size and test member uploads and roster at 50K+. (EB-01; EBQ15)</a:t>
            </a:r>
          </a:p>
          <a:p>
            <a:r>
              <a:t>[Partly in BRD] Census validation. Seen: Master lists by e-mail and Excel. BRD: Upload with AO validation; no data checks. Recommendation: Checks for duplicates, eligibility and changes since the last list. (BRID-007, 013)</a:t>
            </a:r>
          </a:p>
          <a:p>
            <a:r>
              <a:t>[BDOI to confirm] Portals at go-live. Seen: Insurer and client portals in the EB flow. BRD: Portal in BRD-8; drop plan says no portal. Recommendation: Confirm the portal timing and external-user security. (DCR-211, 096)</a:t>
            </a:r>
          </a:p>
          <a:p>
            <a:r>
              <a:t>[Partly in BRD] Member data privacy. Seen: Employee data travels by e-mail. BRD: Masking and need-to-know rules open. Recommendation: Data Privacy Act controls on member data. (DCR-094)</a:t>
            </a:r>
          </a:p>
          <a:p>
            <a:r>
              <a:t>[BDOI to confirm] Renewal advice lead days. Seen: Advice sent before expiry. BRD: 180 or 135 days. Recommendation: Confirm the default per programme. (DCR-087)</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HR self-service census [Partly in BRD]. Client HR uploads the census; the system checks duplicates, eligibility and changes. For BDOI: Start with an upload template and checks, portal later.</a:t>
            </a:r>
          </a:p>
          <a:p>
            <a:r>
              <a:t>Automatic member endorsements [Partly in BRD]. Additions and deletions billed pro rata and reconciled to the insurer invoice. For BDOI: Use BRID-013 / 025 / 030 as the base.</a:t>
            </a:r>
          </a:p>
          <a:p>
            <a:r>
              <a:t>Utilization analytics [Partly in BRD]. Claims and utilization per programme drive the renewal negotiation. For BDOI: Capture provider claims (EB-02).</a:t>
            </a:r>
          </a:p>
          <a:p>
            <a:r>
              <a:t>Digital member cards [Beyond the BRD]. HMO and life cards issued digitally to members. For BDOI: With the HMOs after go-live.</a:t>
            </a:r>
          </a:p>
          <a:p>
            <a:r>
              <a:t>Privacy by design [Not in BRD]. Masking, need-to-know access and retention for member data. For BDOI: Agree the rules with the DPO (DCR-094).</a:t>
            </a:r>
          </a:p>
          <a:p>
            <a:r>
              <a:t>Provider scorecard [Beyond the BRD]. Insurer and HMO service levels, network and claims turnaround scored in the comparative. For BDOI: Add capability scores to the comparative.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Package and non-package products, insurer terms, and facultative reinsurance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TSU is the technical desk between Marketing and the insurers. Marketing decides whether a customer need is served by a package (fixed rates and conditions that BDOI designs and the insurer follows) or a non-package placement (terms negotiated per deal). TSU checks the request, assesses the risk, prepares the quotation slip, refers large or special risks to Reinsurance, negotiates with insurers, builds the comparative and prepares the proposal and sign-off. Packages are then set up by MBS and IT and released with an advisory. Product maintenance was named a key pain point (PM-01).</a:t>
            </a:r>
          </a:p>
          <a:p/>
          <a:p>
            <a:r>
              <a:t>Floor walk: 22-Sep-2026, 1-1:30 pm, 44F; discovery 21 and 25-Sep-2026; Cherry Ann Manalo, Joy Intia.</a:t>
            </a:r>
          </a:p>
          <a:p>
            <a:r>
              <a:t>Sources: High-level Product Maintenance TSU process flow (package and non-package); BDOI Day 1 overview p.9 (data and reference maintenance); BRD-3 p.12-13; BRPM.001-022; PMADD01-08</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business overview (21-Sep), the Product Maintenance floor walk (22-Sep) and the 25-Sep session.</a:t>
            </a:r>
          </a:p>
          <a:p>
            <a:r>
              <a:t>PM-01 Package and non-package (User aspiration): Marketing decides package or non-package from the customer need; BDOI defines the product and the insurer follows. Wants: Product maintenance in the system for both package and non-package.</a:t>
            </a:r>
          </a:p>
          <a:p>
            <a:r>
              <a:t>PM-02 Design and rates (Business rule): Marketing gives the requirement; the product team designs and negotiates with the insurer, incl. incentives for packages; commission rate as agreed by Marketing. Wants: Package = fixed rates and conditions; non-package rates differ per deal.</a:t>
            </a:r>
          </a:p>
          <a:p>
            <a:r>
              <a:t>PM-03 Package set-up (Pain point): Packages are defined and maintained manually, starting from a customer-specific requirement of Marketing. Wants: Packages defined and maintained in the system.</a:t>
            </a:r>
          </a:p>
          <a:p>
            <a:r>
              <a:t>PM-04 Change at renewal (User aspiration): At renewal a policy can move from package to non-package or back. Wants: Allow the switch at renewal.</a:t>
            </a:r>
          </a:p>
          <a:p>
            <a:r>
              <a:t>NB-08 TSU step (Business rule): Non-package: the request goes to TSU before the quotation; once the customer accepts, to Placement.</a:t>
            </a:r>
          </a:p>
          <a:p>
            <a:r>
              <a:t>TSU flow Tracking and evidence (Pain point): Request encoded in an Excel monitoring file; acceptance evidence (signed slip, stamped slip or explicit e-mail) checked by hand; placement status tracker kept by hand; comparative table built manually in Excel.</a:t>
            </a:r>
          </a:p>
          <a:p>
            <a:r>
              <a:t>TSU flow Reinsurance loop (As-Is): Large sum insured, special risks or non-standard cover go to the Reinsurance team; RI comments come back to Marketing, who revises terms or closes the request.</a:t>
            </a:r>
          </a:p>
          <a:p>
            <a:r>
              <a:t>TSU flow Set-up dependency (Pain point): Package creation needs a maintenance request to MBS / IT; screenshots kept as evidence; TSU validates rates and conditions; release advisory to Marketing, Operations and TSU.</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asks TSU for a package placement by e-mail with a TSU request form. TSU prepares quotation slips and e-mails them to insurers, who reply by e-mail with signed slips or approved terms. The comparative table is compiled in Excel and shared by e-mail. Sign-off and advisories are manual, documents go out without password protection, package expiry is watched in spreadsheets or calendars, and changes and approvals are tracked in e-mail threads.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steps of the Product Maintenance TSU process flow (09-Jul).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 points of the BRD-3 current process (p.12-13); the TSU process flow confirms them and adds the reinsurance loop.</a:t>
            </a:r>
          </a:p>
          <a:p>
            <a:r>
              <a:t>1. Requests by e-mail: Marketing requests placements by e-mail using a TSU request form. (BRD-3 p.12; BRPM.008)</a:t>
            </a:r>
          </a:p>
          <a:p>
            <a:r>
              <a:t>2. Quotation slips by e-mail: TSU prepares and e-mails the slips; no log of what was sent. (BRD-3 p.12; BRPM.010)</a:t>
            </a:r>
          </a:p>
          <a:p>
            <a:r>
              <a:t>3. Insurer replies in mailboxes: Signed slips and approved terms arrive by e-mail. (BRD-3 p.12; BRPM.012)</a:t>
            </a:r>
          </a:p>
          <a:p>
            <a:r>
              <a:t>4. Comparative in Excel: Compiled by hand and shared by e-mail. (BRD-3 p.12; BRPM.014; PMADD03)</a:t>
            </a:r>
          </a:p>
          <a:p>
            <a:r>
              <a:t>5. Manual sign-off and advisory: ManCom sign-off and the advisory are prepared outside a system. (BRD-3 p.12-13; BRPM.015, 016)</a:t>
            </a:r>
          </a:p>
          <a:p>
            <a:r>
              <a:t>6. Documents without a password: Shared documents have no password protection. (BRD-3 p.13)</a:t>
            </a:r>
          </a:p>
          <a:p>
            <a:r>
              <a:t>7. Expiry in spreadsheets: Package expiry is monitored in spreadsheets or calendars. (BRD-3 p.13; BRPM.017)</a:t>
            </a:r>
          </a:p>
          <a:p>
            <a:r>
              <a:t>8. History in e-mail threads: Changes, approvals and documents are tracked in e-mail and files. (BRD-3 p.13)</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Marketing logs the Package Request Form, which BIBS numbers PKR-yyyy-n. A Marketing TL, TH or UH approves it (never the maker); the TSU TL recommends and the TSU Head approves. TSU prepares the quotation slips, which are approved and e-mailed per insurer, protected and logged. Insurer responses are keyed in with their outcome, over as many rounds as needed. BIBS keeps one comparative master per request and derives client views from it. ManCom signs off, which locks the slips; MBS creates the package version and the TSU Head or Business Administrator releases it. The advisory is drafted on release and sent with the signed package slip. A daily job raises expiry alerts and can draft the renewal request.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column names what the To-Be removes.</a:t>
            </a:r>
          </a:p>
          <a:p>
            <a:r>
              <a:t>1. Requests by e-mail -&gt; Package Request Form logged in BIBS, numbered PKR-yyyy-n and tracked by stage Benefit: Stage and SLA per request.</a:t>
            </a:r>
          </a:p>
          <a:p>
            <a:r>
              <a:t>2. Quotation slips by e-mail -&gt; Quotation slips prepared, approved and e-mailed per insurer, protected and logged Benefit: Send log per slip.</a:t>
            </a:r>
          </a:p>
          <a:p>
            <a:r>
              <a:t>3. Insurer replies in mailboxes -&gt; TSU keys in each response with its outcome; every change is kept Benefit: Rounds recorded.</a:t>
            </a:r>
          </a:p>
          <a:p>
            <a:r>
              <a:t>4. Comparative in Excel -&gt; One comparative master per package; client views derived from it Benefit: No Excel re-compile.</a:t>
            </a:r>
          </a:p>
          <a:p>
            <a:r>
              <a:t>5. Manual sign-off and advisory -&gt; ManCom signs off in BIBS; the advisory is drafted on release Benefit: Sign-off before release.</a:t>
            </a:r>
          </a:p>
          <a:p>
            <a:r>
              <a:t>6. Documents without a password -&gt; Documents leave password protected; password in a separate e-mail Benefit: Every document protected.</a:t>
            </a:r>
          </a:p>
          <a:p>
            <a:r>
              <a:t>7. Expiry in spreadsheets -&gt; Daily job raises expiry alerts and can draft the renewal request Benefit: No expiry missed.</a:t>
            </a:r>
          </a:p>
          <a:p>
            <a:r>
              <a:t>8. History in e-mail threads -&gt; Every action in the request history and the audit trail Benefit: Full history per package.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Non-package product maintenance is out of BRD-3; the reinsurance referral has no requirement in phase 1.</a:t>
            </a:r>
          </a:p>
          <a:p>
            <a:r>
              <a:t>[Partly in BRD] Non-package product maintenance. Seen: Both types to be maintained in the system (PM-01). BRD: BRD-3 covers packages; non-package "if and when added". Recommendation: Bring non-package product and TOR templates into scope. (PM-01; DCR-036)</a:t>
            </a:r>
          </a:p>
          <a:p>
            <a:r>
              <a:t>[Not in BRD] Reinsurance referral. Seen: Large or special risks go to the RI team and back. BRD: No RI referral in BRD-1 or BRD-3; RI is phase 2. Recommendation: Referral trigger and RI status on the TSU request (see chapter 6). (TSU flow; A3)</a:t>
            </a:r>
          </a:p>
          <a:p>
            <a:r>
              <a:t>[Partly in BRD] Acceptance evidence. Seen: Signed slip, stamped slip or explicit e-mail. BRD: Insurer response recorded; evidence type not gated. Recommendation: Require the evidence document before placement. (BRPM.013)</a:t>
            </a:r>
          </a:p>
          <a:p>
            <a:r>
              <a:t>[Partly in BRD] SLA values. Seen: Follow-up and escalation after SLA breach. BRD: SLA tracking; values open. Recommendation: Set SLA per request type and complexity. (PQ08; NB-07)</a:t>
            </a:r>
          </a:p>
          <a:p>
            <a:r>
              <a:t>[Partly in BRD] Rate formulas without IT. Seen: Package set-up needs MBS / IT. BRD: Scheme versions; new formulas still need IT. Recommendation: Rating rules maintained by the business with approval. (PQ12)</a:t>
            </a:r>
          </a:p>
          <a:p>
            <a:r>
              <a:t>[Partly in BRD] Package switch at renewal. Seen: Package to non-package or back (PM-04). BRD: No explicit rule. Recommendation: Switch rule with product versions. (PM-04; PQ11)</a:t>
            </a:r>
          </a:p>
          <a:p>
            <a:r>
              <a:t>[BDOI to confirm] Excess commission and incentives. Seen: Incentives negotiated per package. BRD: CPC2 undefined. Recommendation: Define incentive types, rates and bases. (PM-02; DCR-037)</a:t>
            </a:r>
          </a:p>
          <a:p>
            <a:r>
              <a:t>[BDOI to confirm] ManCom signature. Seen: Paper sign-off sheet. BRD: Physical signatures. Recommendation: E-sign-off in the workflow (CP-01). (PQ07)</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Business-maintained rating rules [Partly in BRD]. Rates, factors and formulas maintained by TSU with approval and versions, without IT. For BDOI: A rules screen with test premiums before release.</a:t>
            </a:r>
          </a:p>
          <a:p>
            <a:r>
              <a:t>Insurer appetite and capacity register [Not in BRD]. Per insurer: lines, limits, appetite, accreditation, commission, remittance terms. For BDOI: Build on the insurer records of Day 1 p.9.</a:t>
            </a:r>
          </a:p>
          <a:p>
            <a:r>
              <a:t>Test premiums before release [Partly in BRD]. Automatic test cases run on every package before it goes live. For BDOI: Turn the validation checkpoint into test cases.</a:t>
            </a:r>
          </a:p>
          <a:p>
            <a:r>
              <a:t>Package performance analytics [Beyond the BRD]. Take-up, loss ratio and retention per package reviewed yearly. For BDOI: Report per package from booking and claims data.</a:t>
            </a:r>
          </a:p>
          <a:p>
            <a:r>
              <a:t>E-sign-off [BDOI to confirm]. ManCom sign-off and slips signed electronically. For BDOI: With the e-signature decision (CP-01).</a:t>
            </a:r>
          </a:p>
          <a:p>
            <a:r>
              <a:t>One product catalogue [Partly in BRD]. Package and non-package products, TOR and documents in one catalogue used by every module. For BDOI: Extend BRD-3 to non-package (PM-01).</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Reinsurance places facultative reinsurance for cedants and for risks TSU cannot place fully in the direct market. The RI officer reviews the request, prepares the facultative slip, approaches reinsurers or partner RI brokers, negotiates, confirms the closings and sends the debit note to the cedant; then monitors premium payment warranties, RI premium remittance and RI commission, and handles RI claims, cash calls and settlement. BDOI placed the reinsurance module in phase 2 (answer A3), so it is outside the January 2028 go-live, but the TSU referral and the RI transactions that Remittance handles in Drop 1 (DCR-210) touch phase 1.</a:t>
            </a:r>
          </a:p>
          <a:p/>
          <a:p>
            <a:r>
              <a:t>Floor walk: Process flow confirmed by the RI and Claims heads (Feb 2026); not walked in Sep-2026; Alvin B. Pila (RI Team Head), Allan I. Villas (Claims).</a:t>
            </a:r>
          </a:p>
          <a:p>
            <a:r>
              <a:t>Sources: High-level Reinsurance process flow (4 pages: placement, RI commission collections, RI claims, RI settlement); ReInsurance BRD v1, 11-Mar-2025 (phase 2); BDOI answer A3; Umbrella BRD capability 15; Report List #112-115</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of the Reinsurance process flow; the RI team was not part of the September floor walks.</a:t>
            </a:r>
          </a:p>
          <a:p>
            <a:r>
              <a:t>RI flow p.4 Facultative placement (Business rule): TSU sends the request; RI acknowledges within 24 hours, reviews and prepares the facultative slip within 3 working days, approaches reinsurers or RI brokers, negotiates and informs TSU in writing.</a:t>
            </a:r>
          </a:p>
          <a:p>
            <a:r>
              <a:t>RI flow p.4 Closing (As-Is): RI checks special conditions, warranties and subjectivities, the share placed, sends the closings and the debit note to the cedant and secures the signed placement slip from the reinsurers.</a:t>
            </a:r>
          </a:p>
          <a:p>
            <a:r>
              <a:t>RI flow p.1 RI commission (Pain point): A monitoring sheet of premium payment schedules and expected RI premium and commission dates is shared with the Commission Receivable Unit; reminders and extensions handled by hand.</a:t>
            </a:r>
          </a:p>
          <a:p>
            <a:r>
              <a:t>RI flow p.4 RI claims (Business rule): Preliminary loss advice within 5 days; RCRF not later than the next working day; loss adjuster reports to all reinsurers within 48 hours; lead reinsurer agrees the adjuster.</a:t>
            </a:r>
          </a:p>
          <a:p>
            <a:r>
              <a:t>RI flow p.4 Settlement (Business rule): Acknowledge the statement of claim or cash call within 48 hours; invoice the reinsurer panel within 72 hours; collect within 10 days; remit to the reinsured within 5 days.</a:t>
            </a:r>
          </a:p>
          <a:p>
            <a:r>
              <a:t>A3; DCR-210 Scope (Open point): Reinsurance module in phase 2; Remittance handles "reinsurance transactions" in Drop 1. Wants: Which RI transactions and entries are in Drop 1.</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TSU e-mails the facultative request. The RI officer acknowledges it within 24 hours, reviews the underwriting information and prepares the facultative slip within 3 working days, approaches reinsurers and partner RI brokers by e-mail and negotiates. Once enough capacity is secured the officer checks conditions and warranties, informs TSU in writing, sends the closings and the debit note to the cedant and chases the signed slips. Premium payment schedules, warranties and expected RI commission are tracked on a monitoring sheet shared with the Commission Receivable Unit, with reminders by e-mail. For claims the claims handler records the reserve, shares the adjuster's reports with every reinsurer within 48 hours, prepares the RCRF and the formal loss advice, and for cash calls invoices the panel within 72 hours, collects within 10 days and remits within 5 days. None of the deadlines is tracked by a system.</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1 to 8 are on the As-Is swimlane.</a:t>
            </a:r>
          </a:p>
          <a:p>
            <a:r>
              <a:t>1. Requests by e-mail: TSU requests and underwriting information arrive by e-mail. (RI flow p.4)</a:t>
            </a:r>
          </a:p>
          <a:p>
            <a:r>
              <a:t>2. TATs tracked by memory: 24-hour acknowledgement and 3-day slip are not measured. (RI flow p.4)</a:t>
            </a:r>
          </a:p>
          <a:p>
            <a:r>
              <a:t>3. Market approached by e-mail: Slips, shares and terms negotiated in e-mail threads. (RI flow p.4)</a:t>
            </a:r>
          </a:p>
          <a:p>
            <a:r>
              <a:t>4. Closings and debit notes by hand: Word documents; signed slips chased by e-mail. (RI flow p.4)</a:t>
            </a:r>
          </a:p>
          <a:p>
            <a:r>
              <a:t>5. Monitoring sheet in Excel: Payment schedules and warranties on a shared spreadsheet. (RI flow p.1)</a:t>
            </a:r>
          </a:p>
          <a:p>
            <a:r>
              <a:t>6. RI commission chased by hand: Commission Receivable and RI follow up reinsurers and brokers. (RI flow p.1)</a:t>
            </a:r>
          </a:p>
          <a:p>
            <a:r>
              <a:t>7. Claim deadlines not tracked: 5-day PLA, next-day RCRF, 48-hour report sharing kept by hand. (RI flow p.4)</a:t>
            </a:r>
          </a:p>
          <a:p>
            <a:r>
              <a:t>8. Cash calls and settlement by hand: 72-hour invoice, 10-day collection, 5-day remittance. (RI flow p.4)</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RI BRD, TSU creates the placement request in the system and it flows to BDOI RI with the slip information. Reinsurers and RI brokers are kept as contacts with their shares; the request and the slips are sent to them from the system, and non-acceptance reasons are captured and notified to TSU. Revised slips go back to the cedant or TSU for sign-off and then to the reinsurers; the signed slip is handed to Operations, booked with generated accounting entries and an SOA is scheduled and sent. Premium payments are applied and matched, instalment reminders go to the AO, and a proof of remittance and remittance schedule are generated. For claims the system records the net loss reserve per reinsurer, generates the PLA, RCRF and formal loss advice, sends cash calls and debit notes, captures paid proceeds with the cash entry and supports net settlement. Every action is logged with its turnaround time.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To-Be is the phase-2 RI BRD (FRID numbers).</a:t>
            </a:r>
          </a:p>
          <a:p>
            <a:r>
              <a:t>1. Requests by e-mail -&gt; TSU creates the placement request; it flows to RI with the slip data (FRID-001-007) Benefit: No e-mail intake.</a:t>
            </a:r>
          </a:p>
          <a:p>
            <a:r>
              <a:t>2. TATs tracked by memory -&gt; Status changes and turnaround times logged (FRID-098); no SLA clock Benefit: Partly: see gaps.</a:t>
            </a:r>
          </a:p>
          <a:p>
            <a:r>
              <a:t>3. Market approached by e-mail -&gt; Reinsurers and brokers as contacts with shares; slips sent and answers captured (FRID-008-016) Benefit: Communication log.</a:t>
            </a:r>
          </a:p>
          <a:p>
            <a:r>
              <a:t>4. Closings and debit notes by hand -&gt; Revisions logged; signed slip to Operations; booking and entries generated (FRID-020-032) Benefit: Entries generated.</a:t>
            </a:r>
          </a:p>
          <a:p>
            <a:r>
              <a:t>5. Monitoring sheet in Excel -&gt; Instalment and due-date reminders scheduled (FRID-049-054) Benefit: No sheet.</a:t>
            </a:r>
          </a:p>
          <a:p>
            <a:r>
              <a:t>6. RI commission chased by hand -&gt; Premium applied and matched; proof of remittance; commission scenarios (FRID-039-048) Benefit: Tracked per account.</a:t>
            </a:r>
          </a:p>
          <a:p>
            <a:r>
              <a:t>7. Claim deadlines not tracked -&gt; Loss reserve per reinsurer; PLA, RCRF and FLA generated and sent (FRID-101-105) Benefit: Templates, log.</a:t>
            </a:r>
          </a:p>
          <a:p>
            <a:r>
              <a:t>8. Cash calls and settlement by hand -&gt; Cash calls, debit notes, proceeds capture and net settlement (FRID-058-094, 106) Benefit: Entry on receipt.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TATs of the flow are not requirements in the RI BRD, and the RI transactions of Drop 1 are undefined.</a:t>
            </a:r>
          </a:p>
          <a:p>
            <a:r>
              <a:t>[BDOI to confirm] RI transactions in Drop 1. Seen: Remittance handles RI transactions today. BRD: Which transactions and entries is undefined. Recommendation: List the RI transactions Remittance must support at go-live. (DCR-210; A3)</a:t>
            </a:r>
          </a:p>
          <a:p>
            <a:r>
              <a:t>[Not in BRD] TSU referral in phase 1. Seen: Large or special risks go from TSU to RI. BRD: No referral in BRD-1 or BRD-3. Recommendation: A referral status on the TSU request until the module arrives. (TSU flow)</a:t>
            </a:r>
          </a:p>
          <a:p>
            <a:r>
              <a:t>[Partly in BRD] Turnaround clocks. Seen: 24 h, 3 days, 48 h, 72 h, 10 days, 5 days. BRD: Turnaround logged, no SLA clocks or alerts. Recommendation: SLA clocks with alerts on each deadline. (RI flow; FRID-098)</a:t>
            </a:r>
          </a:p>
          <a:p>
            <a:r>
              <a:t>[Partly in BRD] RI commission follow-up. Seen: Monitoring sheet with the Commission Receivable Unit. BRD: Commission scenarios; follow-up owner not stated. Recommendation: RI commission receivable on the same worklist as direct commission. (RI flow p.1; FRID-042)</a:t>
            </a:r>
          </a:p>
          <a:p>
            <a:r>
              <a:t>[Partly in BRD] Warranty breaches and extensions. Seen: Extensions escalated to the RI Unit Head. BRD: Reminders only. Recommendation: Warranty breach alert and an extension approval. (RI flow p.1)</a:t>
            </a:r>
          </a:p>
          <a:p>
            <a:r>
              <a:t>[Not in BRD] Reinsurer security. Seen: Reinsurers chosen per slip. BRD: Contacts and shares only. Recommendation: Reinsurer register with rating and accreditation. (CORE-15)</a:t>
            </a:r>
          </a:p>
          <a:p>
            <a:r>
              <a:t>[Partly in BRD] RI reports. Seen: Four RI reports in the Report List. BRD: Generic reporting (FRID-095). Recommendation: Specify the four reports (#112-115). (Report List #112-115)</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Structured RI placement [Partly in BRD]. Lines, shares, signing-down and the order placed held per slip; the total always adds to 100%. For BDOI: Specify share and signing rules in the phase-2 design.</a:t>
            </a:r>
          </a:p>
          <a:p>
            <a:r>
              <a:t>Reinsurer security register [Not in BRD]. Rating, Insurance Commission accreditation and limits per reinsurer, checked at placement. For BDOI: Add to the insurer register.</a:t>
            </a:r>
          </a:p>
          <a:p>
            <a:r>
              <a:t>Bordereaux automation [Partly in BRD]. Premium and claims bordereaux generated and reconciled per reinsurer. For BDOI: Extend the SOA to bordereaux.</a:t>
            </a:r>
          </a:p>
          <a:p>
            <a:r>
              <a:t>SLA tracker for claims and cash calls [Partly in BRD]. Clocks on PLA, reports, invoices, collection and remittance, with escalation. For BDOI: Use the TATs of the flow as the SLA values.</a:t>
            </a:r>
          </a:p>
          <a:p>
            <a:r>
              <a:t>Payment warranty monitor [Partly in BRD]. Premium payment warranties tracked with alerts before breach. For BDOI: Build on FRID-049-054.</a:t>
            </a:r>
          </a:p>
          <a:p>
            <a:r>
              <a:t>Net settlement with reinsurers [In the BRD]. Premium, commission and claims netted per reinsurer and period. For BDOI: Agree netting rules with Comptrollership (FRID-106).</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money after booking: cashiering, remittance, adjustments, commission, reconciliation,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takes over every invoice booked by Processing and follows its money until the insurer is paid, the insurer's official receipt is recorded and every difference is closed. BDOI collects premium on behalf of about 55 insurers and remits it net of its commission. Seven sub-processes run side by side: Cashiering, Remittance, Adjustment and Cancellation, Commission receivables for direct-payment policies, Production Reconciliation, DPPR / PR2307 reversal and policy-fee invoicing. The floor walk added the volumes the BRD does not give (OQ44, DCR-025): 20-30 thousand production lines per insurer a month and bulk payment files of about 2,000 records.</a:t>
            </a:r>
          </a:p>
          <a:p/>
          <a:p>
            <a:r>
              <a:t>Floor walk: 23-Sep-2026, 1:00-5:00 pm, 44F; discovery 21 and 23-Sep-2026; Perjelyn Joy Gutierrez, Shirley Catapang, Ronna Marie Go, Aimee Medina, Renque Galos, Carolyn Pasia Baloto, Joy Ebuenga, Mark Andrew Francisco.</a:t>
            </a:r>
          </a:p>
          <a:p>
            <a:r>
              <a:t>Sources: High-level Operations process flow (Cashiering, Remittance, Adjustment, Commission receivables, Production recon, DPPR / PR2307 reversal, Invoicing); BDOI Day 1 overview p.20-25; BRD-2 p.10-13; CSHID, RMTID, PRCID, ADJID, CMRID, MKTID, DBMID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notes of the discovery sessions (21 and 23-Sep) and of the Operations floor walk (23-Sep). Joy was the single point of contact for the Cashiering items.</a:t>
            </a:r>
          </a:p>
          <a:p>
            <a:r>
              <a:t>OV-03 Three references (Pain point): One transaction carries three numbers: ISYS invoice no., QPS reference and EBIX reference, plus the payment reference. QPS holds all three. Wants: One reference across the lifecycle (to confirm).</a:t>
            </a:r>
          </a:p>
          <a:p>
            <a:r>
              <a:t>CA-01 Receipts (Pain point): The client pays against the ISYS invoice number; QPS has the insurer reference and EBIX its own. Receipts are created by hand. Wants: Receipts generated by the system.</a:t>
            </a:r>
          </a:p>
          <a:p>
            <a:r>
              <a:t>CA-02 Threshold account (Business rule): Amounts below PHP 0.99 go to a separate adjustment (threshold) account, e.g. the .99 of 8,787.99. Wants: Threshold and variance handling configurable.</a:t>
            </a:r>
          </a:p>
          <a:p>
            <a:r>
              <a:t>CA-03 Direct pay (Pain point): A direct-pay policy is tagged, so only commission entries exist. If the insured still pays BDOI, no accounting entry is created. Wants: A solution, e.g. allow the direct-pay tag to be changed.</a:t>
            </a:r>
          </a:p>
          <a:p>
            <a:r>
              <a:t>CA-04 Receipt types (Business rule): Two receipts: AR to the client for premium, OR to the insurer for commission. Wants: Both AR and OR generated from the system.</a:t>
            </a:r>
          </a:p>
          <a:p>
            <a:r>
              <a:t>CA-05 Bulk payment (As-Is): Bulk payment files of about 2,000 records. Wants: Walk through bulk payment on the floor (open point).</a:t>
            </a:r>
          </a:p>
          <a:p>
            <a:r>
              <a:t>Day 1 p.20 Payment files (As-Is): Bills Payment, CLPC, PMS, Trade, Direct Credit and FS04 files; 4-day check hold, bounced-check list, QPS / EBIX reference and zero-PR checks; exact, excess or actual-payment files; Autopay; unapplied report.</a:t>
            </a:r>
          </a:p>
          <a:p>
            <a:r>
              <a:t>Day 1 p.21 Remittance (As-Is): Weekly EBIX extract of applied payments (Monday to Friday); DPPR reversal, endorsement / knock-off and invalid accounts removed; settlement approved on an MS Teams list; signed copy kept for audit; Disbursement posts.</a:t>
            </a:r>
          </a:p>
          <a:p>
            <a:r>
              <a:t>EN-01 Endorsement (User aspiration): Marketing e-mails the request with documents; Operations validates, keys it in the EBIX endorsement module; TL / TH checker-poster; posting one by one; entries flow to Comptrollership. Wants: Endorsement computes the premium from the adjustment, like New Business, not just captures it.</a:t>
            </a:r>
          </a:p>
          <a:p>
            <a:r>
              <a:t>EN-02 Cancellation (Open point): Cancellation with refund of premium including applicable tax. Wants: Tax treatment on refund to confirm (FRS).</a:t>
            </a:r>
          </a:p>
          <a:p>
            <a:r>
              <a:t>CM-01 Commission trigger (Business rule): Commission is confirmed from premium collected (Collections) and only after the full premium is collected, also for instalment and multi-year policies.</a:t>
            </a:r>
          </a:p>
          <a:p>
            <a:r>
              <a:t>CM-02 Co-insurance (Business rule): Co-insurance: commission can be processed when one insurer has paid. Direct policy: partial commission payment is not accepted.</a:t>
            </a:r>
          </a:p>
          <a:p>
            <a:r>
              <a:t>CM-03 Excess commission (Business rule): Excess commission is computed differently for Motor and Fire and kept in the incentive module.</a:t>
            </a:r>
          </a:p>
          <a:p>
            <a:r>
              <a:t>IC-01 Early-remittance incentive (Business rule): Insurers pay an incentive for early remittance, only on premium sold within credit terms. Rates agreed with each insurer; posted to Other Income (IC-02). Wants: Incentive by insurer to walk through (open point).</a:t>
            </a:r>
          </a:p>
          <a:p>
            <a:r>
              <a:t>Day 1 p.23-24 DP commission, reversal (Pain point): DP lists per unit in a shared folder, consolidated in Excel, billed by e-mail; production recon of 20-30K lines per insurer; DPPR / PR2307 reversal through SharePoint, Teams, IT extract and VLOOKUP, with a 0.01-0.99 variance.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Payment files arrive from bills payment, CLPC, PMS (post-dated checks), Trade, direct credit and the FS04 batch; cash is received at the counter. Before a payment is applied the cashier checks the 4-day hold on checks, the bounced-check list and the exclusion list, and whether the account is in QPS with an EBIX reference. Zero-PR accounts are tagged, and exact-payment, excess-payment and actual-payment files are built before upload or Autopay; items that do not apply end in the unapplied report. Receipts (AR to the client, OR to the insurer) are prepared by hand. When a direct-pay policy is paid to BDOI no premium entry is created (CA-03). Every week Remittance extracts the applied payments of Monday to Friday from EBIX, removes DPPR reversals, knock-offs and invalid accounts in Excel, and has the settlement list approved on an MS Teams list with a signed copy kept for audit; Disbursement then posts and pays the insurer.</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client pays the insurer directly, BDOI's commission is still due. Each unit lists these direct-payment (DP) transactions in a shared folder; the CRU consolidates the lists in Excel, removes duplicates and validates them against production reports and commission trackers, bills each insurer by e-mail and follows up by e-mail, phone and messaging. When the insurer pays, the CRU asks Cashiering for the OR, sends it to the insurer and prepares the DP reversal by hand. Endorsements and cancellations start with an e-mail from Marketing; Operations checks the documents, keys the request in the EBIX endorsement module and the TL or TH checks and posts each one individually; the entries flow to Comptrollership. Policy-fee (service) invoices are keyed in the EBIX report menu from the schedule of the requestor. Reports are requested from IT.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week of each month IT extracts the accounts booked in the previous month. Operations filters the file per insurer, protects it with a password and e-mails it. The insurer marks matched accounts and discrepancies and adds a file of accounts it has but BDOI has not booked; the handler classifies 20-30 thousand lines per insurer as matched, matched with discrepancies or unbooked, sends the unbooked and discrepancy files to Marketing and Processing and keeps a ManCom masterlist in Excel. For the DPPR / PR2307 reversal the CRU uploads a reversal list to SharePoint and notifies IT on Teams; IT extracts the reversal and knock-off file; Cashiering matches it by invoice number with a VLOOKUP and a variance of 0.01 to 0.99, posts the EBIX sub-ledger reversal and the commission knock-off, copies the journal register to Excel and creates a zero-value remittance workfile for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sub-processes BDOI showed on 23-Sep (Day 1 overview p.20-25 and the Operations process flow). BRD-2 covers all seven; the volumes, frequencies and tolerances in the fifth column come from the floor walk, not the BRD.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twelve points combine the six current-process items of BRD-2 (p.11) with what the process owners showed on the floor. Points 1 to 7 are on the Cashiering and Remittance swimlane, 8, 11 and 12 on the Commission and Adjustment swimlane, 9 and 10 on the Reconciliation and Reversal swimlane.</a:t>
            </a:r>
          </a:p>
          <a:p>
            <a:r>
              <a:t>1. Intake checks by hand: 4-day check hold, bounced-check list and exclusion list are checked before each payment is applied. (Operations flow (Cashiering); Day 1 p.20)</a:t>
            </a:r>
          </a:p>
          <a:p>
            <a:r>
              <a:t>2. Three references per transaction: ISYS invoice no., QPS reference, EBIX reference and payment reference; tracing is slow. (OV-03, CA-01)</a:t>
            </a:r>
          </a:p>
          <a:p>
            <a:r>
              <a:t>3. Payment files split in Excel: Zero-PR tagging and exact, excess and actual-payment files are built by hand. (Operations flow (Cashiering))</a:t>
            </a:r>
          </a:p>
          <a:p>
            <a:r>
              <a:t>4. Manual receipts and unapplied: AR and OR are prepared by hand; unapplied items are followed offline. (CA-01, CA-04; BRD-2 p.11)</a:t>
            </a:r>
          </a:p>
          <a:p>
            <a:r>
              <a:t>5. Direct-pay money without entries: A client payment on a DP-tagged policy creates no premium entry. (CA-03)</a:t>
            </a:r>
          </a:p>
          <a:p>
            <a:r>
              <a:t>6. Remittance sanitised by hand: Weekly EBIX extract cleaned of reversals, knock-offs and invalid accounts in Excel. (Day 1 p.21; BRD-2 p.11)</a:t>
            </a:r>
          </a:p>
          <a:p>
            <a:r>
              <a:t>7. Approval on Teams, signed paper copy: The settlement list is approved on an MS Teams list; a signed copy is kept for audit. (Day 1 p.21)</a:t>
            </a:r>
          </a:p>
          <a:p>
            <a:r>
              <a:t>8. DP commission billed from Excel: Unit lists consolidated by hand, billed by e-mail, chased by phone and chat. (Day 1 p.23; BRD-2 p.11)</a:t>
            </a:r>
          </a:p>
          <a:p>
            <a:r>
              <a:t>9. Insurer reconciliation in Excel: 20-30K lines per insurer a month, password e-mails, manual classification. (Day 1 p.24; BRD-2 p.11)</a:t>
            </a:r>
          </a:p>
          <a:p>
            <a:r>
              <a:t>10. Reversals through IT and VLOOKUP: SharePoint and Teams hand-offs, IT extract, manual SL journals, zero-value workfile. (Day 1 p.24; TX-02)</a:t>
            </a:r>
          </a:p>
          <a:p>
            <a:r>
              <a:t>11. Endorsements by e-mail and keyed: Requests arrive by e-mail; premium is computed outside; posting one by one. (EN-01; BRD-2 p.11)</a:t>
            </a:r>
          </a:p>
          <a:p>
            <a:r>
              <a:t>12. Invoices keyed, reports from IT: Policy-fee invoices keyed in a report menu; reports need IT. (Day 1 p.25; RP-01; BRD-2 p.11)</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booked invoice is copied into the invoice ledger with its components. The cashier issues an AR from the branch series; BIBS matches the payment to the invoice and applies it by component, and money it cannot apply goes to the unapplied workbench. A scheduled job extracts paid, cleared and eligible premium into batches per insurer and type; the TL approves the batch (four eyes), which posts the remittance, issues the commission OR and raises the payment request to Disbursement. The insurer's OR schedule is uploaded. The production register goes to the insurer and its feedback is matched within a 1.00 tolerance. Endorsements are requests recomputed per insurer and approved; direct-payment accounts are billed per insurer against a 10-working-day SLA.</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 states the target (unified operations, scheduled extraction, automatic matching, validated entries, tracking) without turnaround targets; the benefit column names the control or the effort the To-Be removes.</a:t>
            </a:r>
          </a:p>
          <a:p>
            <a:r>
              <a:t>1. Intake checks by hand -&gt; Clearing period and bounced-check status checked by the system at acceptance; holds carry a reason Benefit: Checks at entry.</a:t>
            </a:r>
          </a:p>
          <a:p>
            <a:r>
              <a:t>2. Three references per transaction -&gt; The booked invoice carries one ARN and invoice number; legacy references kept for search Benefit: One number to trace.</a:t>
            </a:r>
          </a:p>
          <a:p>
            <a:r>
              <a:t>3. Payment files split in Excel -&gt; Payment matched to the invoice and applied by component; excess goes to unapplied automatically Benefit: No split files.</a:t>
            </a:r>
          </a:p>
          <a:p>
            <a:r>
              <a:t>4. Manual receipts and unapplied -&gt; AR and OR from controlled series per branch; unapplied workbench with disposition and approval Benefit: Receipts generated.</a:t>
            </a:r>
          </a:p>
          <a:p>
            <a:r>
              <a:t>5. Direct-pay money without entries -&gt; DP tag set at quotation and reversed on confirmed collection (MKTID.011-012); a payment on a DP invoice needs a rule (see gaps) Benefit: Partly answered.</a:t>
            </a:r>
          </a:p>
          <a:p>
            <a:r>
              <a:t>6. Remittance sanitised by hand -&gt; Scheduled extraction of paid, cleared and eligible premium into batches per insurer Benefit: No manual extract.</a:t>
            </a:r>
          </a:p>
          <a:p>
            <a:r>
              <a:t>7. Approval on Teams, signed paper copy -&gt; Batch approval in the workflow by a TL / TH who is not the maker; audit trail kept Benefit: Four eyes, no paper.</a:t>
            </a:r>
          </a:p>
          <a:p>
            <a:r>
              <a:t>8. DP commission billed from Excel -&gt; DP lists uploaded, validated, billed per insurer with a 10-working-day SLA; OR on collection Benefit: Tracked to closure.</a:t>
            </a:r>
          </a:p>
          <a:p>
            <a:r>
              <a:t>9. Insurer reconciliation in Excel -&gt; Register sent to the insurer; feedback uploaded and matched within tolerance; unbooked followed Benefit: Matching automated.</a:t>
            </a:r>
          </a:p>
          <a:p>
            <a:r>
              <a:t>10. Reversals through IT and VLOOKUP -&gt; PR2307 tagging and reversal entries generated from the invoice (CSHID.026-027) Benefit: No IT extract.</a:t>
            </a:r>
          </a:p>
          <a:p>
            <a:r>
              <a:t>11. Endorsements by e-mail and keyed -&gt; Endorsement request in the system, premium recomputed per insurer, approved, posted in batches Benefit: Computed, not keyed.</a:t>
            </a:r>
          </a:p>
          <a:p>
            <a:r>
              <a:t>12. Invoices keyed, reports from IT -&gt; Service invoice from the Other Income screen; users run reports and exports themselves Benefit: Self-service.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Items the floor walk showed that BRD-2 does not state, or states differently. The first two are true gaps; the others are rules or values the BRD must carry. Each becomes a register item (DCR) or an answer to an open question.</a:t>
            </a:r>
          </a:p>
          <a:p>
            <a:r>
              <a:t>[Not in BRD] Payment on a direct-pay invoice. Seen: The client still pays BDOI; no entry is created (CA-03). BRD: DP tag at quotation (MKTID.011); no rule for cash received on a DP invoice. Recommendation: Alert at acceptance, park in unapplied with a DP flag, re-tag with approval, define the entries. Raise a High DCR. (CA-03)</a:t>
            </a:r>
          </a:p>
          <a:p>
            <a:r>
              <a:t>[Not in BRD] Exclusion and bounced-check lists. Seen: Checked by hand at intake; tagged "Processed: Exclusion - reason". BRD: Bounced check is a cancel reason only (CSHID.003); exclusion applies to remittance. Recommendation: Maintained lists with reason codes, checked at acceptance; payor flag "cash only". (Day 1 p.20)</a:t>
            </a:r>
          </a:p>
          <a:p>
            <a:r>
              <a:t>[Partly in BRD] Check hold. Seen: 4 days at Cashiering before application. BRD: 3 banking days at remittance (RMTID.017). Recommendation: One clearing rule per instrument, configurable; confirm where it applies. (OQ20; RMTID.017)</a:t>
            </a:r>
          </a:p>
          <a:p>
            <a:r>
              <a:t>[Partly in BRD] Tolerances and threshold account. Seen: 0.99 threshold account; 0.01-0.99 reversal variance. BRD: Three other values: 10.00, 1.00, 10-100 (DCR-014). Recommendation: One tolerance matrix by component, band and approver, with its GL account. (CA-02; DCR-014; OQ11)</a:t>
            </a:r>
          </a:p>
          <a:p>
            <a:r>
              <a:t>[Not in BRD] Volumes. Seen: 20-30K lines per insurer a month; ~2,000-row payment files. BRD: Operations NFR volumes are blank. Recommendation: Add volume NFRs and test them in the performance test. (CA-05; DCR-025)</a:t>
            </a:r>
          </a:p>
          <a:p>
            <a:r>
              <a:t>[Partly in BRD] Commission recognition. Seen: Only after full premium; co-insurance per insurer; no partial for direct. BRD: Realised on application (CSHID.014); rule for regular commission open. Recommendation: State the rule per case; align with PFRS 15 (see best practice). (CM-01, CM-02; OQ07)</a:t>
            </a:r>
          </a:p>
          <a:p>
            <a:r>
              <a:t>[Partly in BRD] Early-remittance incentive. Seen: Only on premium sold within credit terms; rates per insurer. BRD: Two definitions (RMTID.023, PRCID.028); no credit-term condition. Recommendation: One incentive programme per insurer with its condition and rate table. (IC-01, IC-02; DCR-013)</a:t>
            </a:r>
          </a:p>
          <a:p>
            <a:r>
              <a:t>[Partly in BRD] Remittance approval. Seen: Teams list and signed copy. BRD: Workflow approval; approver not named. Recommendation: Name the approver per insurer or amount; the e-approval replaces the paper copy. (OQ21; CP-01)</a:t>
            </a:r>
          </a:p>
          <a:p>
            <a:r>
              <a:t>[Partly in BRD] Knock-off entries. Seen: Dr Commission Receivable / Cr Insurer; zero-value workfile to Disbursement. BRD: Reversal entries partly given; knock-off not stated. Recommendation: Define the entries; netting removes the zero cheque. (OQ07; DCR-028)</a:t>
            </a:r>
          </a:p>
          <a:p>
            <a:r>
              <a:t>[Partly in BRD] Policy-fee invoice. Seen: Allocation by branch and department (100%); amounts from a requestor schedule. BRD: Manual service invoice (CORE-08.22); split allocation not stated. Recommendation: Allow split allocation and a schedule upload. (Day 1 p.25)</a:t>
            </a:r>
          </a:p>
          <a:p>
            <a:r>
              <a:t>[BDOI to confirm] Excess commission. Seen: Motor and Fire computed differently, in the incentive module. BRD: CPC2 package incentive (Add.2 p.8-9). Recommendation: Confirm that excess commission is CPC2 and give rate and base. (CM-03; DCR-037)</a:t>
            </a:r>
          </a:p>
          <a:p>
            <a:r>
              <a:t>[BDOI to confirm] One lifecycle reference. Seen: Three system references per transaction. BRD: ARN and invoice ledger; legacy references kept. Recommendation: Confirm one reference from quotation to remittance, printed on every document. (OV-03; AQ29)</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Unique payment reference [Partly in BRD]. A check-digit reference or virtual account per client or invoice, printed on invoices and SOAs and carried in bank files. For BDOI: Generate it at booking and ask the bank channels to carry it (OBPCS, direct credit).</a:t>
            </a:r>
          </a:p>
          <a:p>
            <a:r>
              <a:t>Automated cash application [Partly in BRD]. Rule and fuzzy matching (payor name, amount tolerance, many-to-one) with confidence scores; the system learns from manual matches. For BDOI: Extend exact matching with scored suggestions on the unapplied workbench.</a:t>
            </a:r>
          </a:p>
          <a:p>
            <a:r>
              <a:t>Bank host-to-host collections [Beyond the BRD]. Collections through bank APIs, InstaPay / PESONet and QR Ph with intraday notices instead of text files run by IT. For BDOI: Plan with BDO IT after go-live (CMS / BOB, OBPCS).</a:t>
            </a:r>
          </a:p>
          <a:p>
            <a:r>
              <a:t>Premium trust account discipline [Partly in BRD]. Premium held in trust for insurers is reconciled daily: bank, unapplied plus amounts due to insurers, and the sub-ledger. For BDOI: Add a daily three-way reconciliation report; confirm the Insurance Commission rules with Compliance.</a:t>
            </a:r>
          </a:p>
          <a:p>
            <a:r>
              <a:t>One tolerance and write-off matrix [Partly in BRD]. Tolerances by component, amount band and approver in one table, each with its GL account. For BDOI: Replace the four values seen today (DCR-014).</a:t>
            </a:r>
          </a:p>
          <a:p>
            <a:r>
              <a:t>Remittance calendar per insurer [Partly in BRD]. Remittance dates per insurer, an automatic remittance advice and the insurer OR returned electronically. For BDOI: Use the calendar to meet the early-remittance window and earn the incentive.</a:t>
            </a:r>
          </a:p>
          <a:p>
            <a:r>
              <a:t>Insurer statement reconciliation [Partly in BRD]. Insurer statements of account and commission statements matched automatically, differences routed to owners. For BDOI: Extend production matching to commission statements.</a:t>
            </a:r>
          </a:p>
          <a:p>
            <a:r>
              <a:t>Commission recognition under PFRS 15 [BDOI to confirm]. Commission recognised when the placement is done, with a provision for cancellations; collection tracked separately. For BDOI: Agree the policy with Comptrollership and the auditors.</a:t>
            </a:r>
          </a:p>
          <a:p>
            <a:r>
              <a:t>Incentive accruals [Partly in BRD]. Contingent and incentive commission estimated and accrued monthly, trued up when the insurer pays. For BDOI: Add a monthly accrual to the incentive schemes.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Collections follows every unpaid premium from booking until the payment is confirmed and handed to Cashiering. It is relationship-driven: the Marketing AO owns the client and records the client's payment instruction in the Marketing Diary; the Collection Handler follows up, secures a payment commitment and checks the credit term, and the AO asks the insurer for a credit term extension (CTE) when the client needs more time. Premium and commission collection are tracked today in ICS, the Internal Collection System, a call-centre style tool fed from EBIX.</a:t>
            </a:r>
          </a:p>
          <a:p/>
          <a:p>
            <a:r>
              <a:t>Floor walk: 22-Sep-2026, 3:30-5:00 pm, 43F and 44F; discovery 21 and 24-Sep-2026; Sheryne Hernaez, Pia Pinili.</a:t>
            </a:r>
          </a:p>
          <a:p>
            <a:r>
              <a:t>Sources: High-level Marketing Collections process flow (current end-to-end manual flow); BDOI Day 1 overview p.19; BRD-4 (CMS BRD) p.40-41; BRCLXN.001-064</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Collections floor walk (22-Sep) and of the Collections and Commission session (24-Sep).</a:t>
            </a:r>
          </a:p>
          <a:p>
            <a:r>
              <a:t>CO-01 Outstanding per client (Pain point): Collection information is captured in a separate system; the outstanding amount per customer is not shown properly. Wants: The correct outstanding amount per customer.</a:t>
            </a:r>
          </a:p>
          <a:p>
            <a:r>
              <a:t>CO-02 ICS status and ageing (Pain point): ICS (Internal Collection System) tracks premium and commission collection; data flows from EBIX; the handler updates the contact status. After collection the status stays on the last action and ageing keeps running. Wants: Status closes on payment; ageing stops.</a:t>
            </a:r>
          </a:p>
          <a:p>
            <a:r>
              <a:t>CO-03 Credit policy (Open point): Credit policy to be defined. Wants: BDOI to confirm the credit policy.</a:t>
            </a:r>
          </a:p>
          <a:p>
            <a:r>
              <a:t>Day 1 p.19 Follow-up rules (Business rule): Newly booked and unpaid: collect within 10-15 days from booking; secure a payment commitment within 60 days; payment by deposit, bills payment or direct payment.</a:t>
            </a:r>
          </a:p>
          <a:p>
            <a:r>
              <a:t>Day 1 p.19 Friction named by BDOI (Pain point): Manual diary and status updates; e-mail-based CTE coordination; several payment-validation sources; follow-up that depends on the handler.</a:t>
            </a:r>
          </a:p>
          <a:p>
            <a:r>
              <a:t>Collections flow Payment check (As-Is): Deposit: check with Cashiering. Bills payment: look in the Unapplied screen. Direct payment: check with the insurer. Then proceed to Cashiering.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AO records the client's payment instruction in the Marketing Diary in ISYS. The Collection Handler takes the outstanding-PR list of the market segment and follows up each account as the diary says: new bookings within 10 to 15 days, a payment commitment within 60 days. A commitment outside the credit term goes to the AO by e-mail; the AO asks the insurer for a credit term extension and escalates to the Unit Head. The handler updates the category and remarks and checks the payment by channel with Cashiering, the Unapplied screen or the insurer. In ICS the status stays on the last action and the ageing keeps running after the premium is paid, and the outstanding amount per client is not reliable. CWT 2307 tagging moves from Marketing to Operations by hand, and Operations extracts the Direct Payment report every month for PR reversal.</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1 to 8 are the steps of the current process in BRD-4 (p.40-41), which the Marketing Collections flow confirms; points 9 and 10 were raised on the floor.</a:t>
            </a:r>
          </a:p>
          <a:p>
            <a:r>
              <a:t>1. PR list and diary in two systems: The handler takes the EBIX list and checks the ISYS Marketing Diary per account. (BRD-4 p.40-41, steps 1-2)</a:t>
            </a:r>
          </a:p>
          <a:p>
            <a:r>
              <a:t>2. Follow-up by hand: New bookings within 10-15 days, commitment within 60 days, tracked by the handler. (BRD-4 p.40-41; Day 1 p.19)</a:t>
            </a:r>
          </a:p>
          <a:p>
            <a:r>
              <a:t>3. CTE and escalation by e-mail: The AO asks the insurer for a credit term extension and escalates to the Unit Head. (BRD-4 p.40-41; Day 1 p.19)</a:t>
            </a:r>
          </a:p>
          <a:p>
            <a:r>
              <a:t>4. Dispositions kept by hand: Day-60 disposition, category A / B / C and remarks are updated manually. (BRD-4 p.40-41, steps 6-7)</a:t>
            </a:r>
          </a:p>
          <a:p>
            <a:r>
              <a:t>5. Payment status by channel: Deposit with Cashiering, bills payment on the Unapplied screen, direct payment with the insurer. (BRD-4 p.40-41; Collections flow)</a:t>
            </a:r>
          </a:p>
          <a:p>
            <a:r>
              <a:t>6. 2307 tagging handed over: A net-of-CWT payment stays a Marketing action until the BIR 2307 is collected. (BRD-4 p.40-41, step 9)</a:t>
            </a:r>
          </a:p>
          <a:p>
            <a:r>
              <a:t>7. DP report extracted monthly: Operations extracts the Direct Payment report as the basis for PR reversal. (BRD-4 p.40-41, step 10)</a:t>
            </a:r>
          </a:p>
          <a:p>
            <a:r>
              <a:t>8. Side tasks by e-mail: Cheque pick-up requests and 2307 certificates received by e-mail. (BRD-4 p.40)</a:t>
            </a:r>
          </a:p>
          <a:p>
            <a:r>
              <a:t>9. ICS status and ageing wrong: Status stays on the last action and ageing runs after payment; balance per client unreliable. (CO-01, CO-02)</a:t>
            </a:r>
          </a:p>
          <a:p>
            <a:r>
              <a:t>10. No written credit policy: Credit terms, CTE and cancellation for non-payment are decided case by case. (CO-03)</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a nightly job after the 22:00 end of day turns every invoice with PR above the threshold into a collection item, refreshes existing items and closes items at zero, keeping their history. The TL assigns items by rule (segment, unit, client). The handler records efforts, promises per installment, the collector disposition and the A / B / C category on the item, with the Marketing Diary in view. Rules escalate by ageing, commitments and broken promises to the TL / UH queue. Dispositions for Operations become in-app requests: "PR 2307 for reversal" to Cashiering, "DP PR for reversal" to Commission, "for check pick-up" to the Cashiering queue. The monthly and weekly files are produced on schedule, and billing statements are issued per billing cycle of multi-year policies.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column names the control or the effort the To-Be removes.</a:t>
            </a:r>
          </a:p>
          <a:p>
            <a:r>
              <a:t>1. PR list and diary in two systems -&gt; One worklist read from the invoice ledger, with the Marketing Diary in view on the item Benefit: Refreshed nightly.</a:t>
            </a:r>
          </a:p>
          <a:p>
            <a:r>
              <a:t>2. Follow-up by hand -&gt; Efforts, promises per instalment and reminders recorded on the collection item Benefit: History kept per item.</a:t>
            </a:r>
          </a:p>
          <a:p>
            <a:r>
              <a:t>3. CTE and escalation by e-mail -&gt; Escalation rules by ageing, commitments and broken promises; manual escalation, also in bulk Benefit: TL / UH queue by rule.</a:t>
            </a:r>
          </a:p>
          <a:p>
            <a:r>
              <a:t>4. Dispositions kept by hand -&gt; Disposition from a list of values with category A / B / C; append-only history Benefit: Audit per field.</a:t>
            </a:r>
          </a:p>
          <a:p>
            <a:r>
              <a:t>5. Payment status by channel -&gt; Payment status, balances and co-insurance shares read from the invoice ledger Benefit: Same-day balance.</a:t>
            </a:r>
          </a:p>
          <a:p>
            <a:r>
              <a:t>6. 2307 tagging handed over -&gt; "PR 2307 for reversal" goes to the Cashiering 2307 intake as an in-app request Benefit: No e-mail hand-off.</a:t>
            </a:r>
          </a:p>
          <a:p>
            <a:r>
              <a:t>7. DP report extracted monthly -&gt; DP-for-reversal file on the first working day; the same list goes to Commission Benefit: Ready on day 1.</a:t>
            </a:r>
          </a:p>
          <a:p>
            <a:r>
              <a:t>8. Side tasks by e-mail -&gt; Cheque pick-up request placed on the Cashiering queue from the item Benefit: Request tracked.</a:t>
            </a:r>
          </a:p>
          <a:p>
            <a:r>
              <a:t>9. ICS status and ageing wrong -&gt; Item closes as completed when the balance reaches zero or the threshold; ageing stops; balance summed per client (BRCLXN.003, 008, 022) Benefit: Accurate ageing.</a:t>
            </a:r>
          </a:p>
          <a:p>
            <a:r>
              <a:t>10. No written credit policy -&gt; Configurable escalation days only (BRCLXN.049); the credit policy itself is not in the BRD Benefit: Gap: see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credit policy is the one true gap: it drives the follow-up days, the CTE and the cancellation for non-payment.</a:t>
            </a:r>
          </a:p>
          <a:p>
            <a:r>
              <a:t>[Not in BRD] Credit policy. Seen: Credit terms, CTE and non-payment decided case by case (CO-03). BRD: Credit term is only a diary field; escalation days configurable. Recommendation: Write the policy: terms per segment and product, CTE approval with the insurer, cancellation request at day N (Insurance Code s.77). (CO-03; CQ20)</a:t>
            </a:r>
          </a:p>
          <a:p>
            <a:r>
              <a:t>[Partly in BRD] 10-15 and 60-day rules. Seen: Stated on the floor as the working rules. BRD: Described as today's process; defaults of the escalation rule open. Recommendation: Set them as the default rule values, per segment. (Day 1 p.19; CQ14)</a:t>
            </a:r>
          </a:p>
          <a:p>
            <a:r>
              <a:t>[Partly in BRD] CTE with the insurer. Seen: Requested and approved by e-mail. BRD: CTE is an effort code; no request or approval record. Recommendation: A CTE request with the insurer's answer and new due date on the item. (Collections flow; CQ20)</a:t>
            </a:r>
          </a:p>
          <a:p>
            <a:r>
              <a:t>[Partly in BRD] Day-60 outcome. Seen: Cancel, coordinate or refer to the bank AO. BRD: Disposition list; no hand-off to Adjustment. Recommendation: Raise the cancellation request from the collection item. (BRCLXN.016)</a:t>
            </a:r>
          </a:p>
          <a:p>
            <a:r>
              <a:t>[Partly in BRD] Marketing Diary. Seen: Kept in ISYS by the AO. BRD: Diary shown on the item; in BIBS or interfaced is undecided. Recommendation: Keep the diary in BIBS so AO and handler share one record. (CQ20)</a:t>
            </a:r>
          </a:p>
          <a:p>
            <a:r>
              <a:t>[BDOI to confirm] Commission tracked in ICS. Seen: ICS also tracks commission collection. BRD: Commission follow-up sits with CRU (CMRID); BRCLXN.061-064 only in the draft. Recommendation: Confirm the owner of commission follow-up. (CO-02; DCR-039)</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Segmented dunning strategies [Partly in BRD]. Pre-due and overdue reminders by SMS and e-mail, with a strategy per segment and risk. For BDOI: Add client-facing reminders to the escalation rules.</a:t>
            </a:r>
          </a:p>
          <a:p>
            <a:r>
              <a:t>Written credit policy in the system [Not in BRD]. Credit terms per segment and product, CTE workflow with the insurer, automatic cancellation request at day N. For BDOI: Approve the policy, then configure it (CO-03).</a:t>
            </a:r>
          </a:p>
          <a:p>
            <a:r>
              <a:t>Pay-by-link, QR Ph, e-wallets [Beyond the BRD]. Payment links in reminders and SOAs, applied straight through. For BDOI: Add after go-live with the bank channels.</a:t>
            </a:r>
          </a:p>
          <a:p>
            <a:r>
              <a:t>Collection KPIs [Partly in BRD]. Days sales outstanding, collection effectiveness, promises kept, roll rates; prioritise by likelihood to pay. For BDOI: Build a Collections dashboard on the worklist.</a:t>
            </a:r>
          </a:p>
          <a:p>
            <a:r>
              <a:t>Client self-service statement [Partly in BRD]. Clients see their statement and payment history online or through the contact centre. For BDOI: Start with the SOA through the contact centre (BRCLXN.058).</a:t>
            </a:r>
          </a:p>
          <a:p>
            <a:r>
              <a:t>Promise-to-pay discipline [In the BRD]. Promises per instalment with reminders and broken-promise escalation. For BDOI: Agree the escalation days per segment.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Accounting (FRBS), Disbursement, ACSL, refunds, tax and BIR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turns every business event into accounting and pays everyone BDOI owes: insurers (remittance), clients (refunds), suppliers, employees and the government. Disbursement runs four routes (in the system, online banking, bank instruments outside the system and government payments) with three levels of signed approval. FRBS keeps the chart of accounts, reviews the reports IT prepares, reconciles, posts manual journals and closes the books at day, month and year end. ACSL keeps the accounts sub-ledger clean by finding abnormal balances and posting adjustments. Refund requests start in Marketing with five different approval chains.</a:t>
            </a:r>
          </a:p>
          <a:p/>
          <a:p>
            <a:r>
              <a:t>Floor walk: 23-Sep-2026, 10:00 am-12:00 nn, 44F; discovery 21 and 23-Sep-2026; Rodrigo Dela Cruz, Cherry Francisco, Lineth Santos, Guada Jane Pelo (Disbursement); Iris Marquez, Fatima Joy Aguas, Cherie Jocson (FRBS); Jeniffer Lugtu, Mario Sabangan, Jennifer Carinan, Freddie Atanque (ACSL).</a:t>
            </a:r>
          </a:p>
          <a:p>
            <a:r>
              <a:t>Sources: High-level flows: Disbursement (in-system, online banking, outside the system, government), Refund Request (five segments), FRBS GL, ACSL; BDOI Day 1 overview p.26-27; BRD-5 p.44-48; DIS, MKT, FRBS, ACSL requirement families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Cashiering, Other Income, Disbursement and Tax session (23-Sep) and of the Comptrollership floor walk.</a:t>
            </a:r>
          </a:p>
          <a:p>
            <a:r>
              <a:t>DS-01 Approval (Business rule): Multi-level approval with maker and checker.</a:t>
            </a:r>
          </a:p>
          <a:p>
            <a:r>
              <a:t>DS-02 Settlement types (As-Is): Remittance and settlement cover insurer payments, customer payments and sundry creditors; client premium refunds are also settled here.</a:t>
            </a:r>
          </a:p>
          <a:p>
            <a:r>
              <a:t>DS-03 Working file (Pain point): For individual companies a working file is prepared and sent to the Disbursement team.</a:t>
            </a:r>
          </a:p>
          <a:p>
            <a:r>
              <a:t>DS-04 Payment mode (Pain point): Remittance is always processed in batch. The mode of payment is captured outside the system, as most modes are not in the system.</a:t>
            </a:r>
          </a:p>
          <a:p>
            <a:r>
              <a:t>DS-05 Entries (User aspiration): Remittance entries pass through intermediate accounts. Wants: Debit Cash in Bank and credit the insurance company directly.</a:t>
            </a:r>
          </a:p>
          <a:p>
            <a:r>
              <a:t>TX-01 WHT on commission (Business rule): WHT on commission is 15% during remittance processing.</a:t>
            </a:r>
          </a:p>
          <a:p>
            <a:r>
              <a:t>TX-03 WHT certificate (User aspiration): Certificates prepared outside the system. Wants: 2% WHT certificate (BIR 2307) generated for suppliers.</a:t>
            </a:r>
          </a:p>
          <a:p>
            <a:r>
              <a:t>TX-04 BIR reports (Business rule): Monthly, from the trial balance and sub-ledger; WHT based on disbursements; the tax code changes by supplier.</a:t>
            </a:r>
          </a:p>
          <a:p>
            <a:r>
              <a:t>TX-05 VAT (Business rule): Input VAT quarterly from the sub-ledger; output VAT the same.</a:t>
            </a:r>
          </a:p>
          <a:p>
            <a:r>
              <a:t>RC-01 Reconciliation (Open point): Bank reconciliation and insurer reconciliation (premium and commission). Wants: Detail during the floor walk.</a:t>
            </a:r>
          </a:p>
          <a:p>
            <a:r>
              <a:t>RC-02 Insurer reconciliation (User aspiration): Done on statements of account. Wants: Insurer reconciliation account-wise.</a:t>
            </a:r>
          </a:p>
          <a:p>
            <a:r>
              <a:t>FN-01 Branches (User aspiration): BDOI has 8 branches. Wants: Profit centre and cost centre tagged and mapped.</a:t>
            </a:r>
          </a:p>
          <a:p>
            <a:r>
              <a:t>RP-01 Reports (Pain point): Reports are made by hand: data pulled from several systems and consolidated, with IT help. Wants: Business units run reports themselves.</a:t>
            </a:r>
          </a:p>
          <a:p>
            <a:r>
              <a:t>OI-01 Other income (User aspiration): Other income recorded outside a standard invoice. Wants: Other income registered through invoicing.</a:t>
            </a:r>
          </a:p>
          <a:p>
            <a:r>
              <a:t>OI-02 Service fee (Business rule): A service invoice records other income; WHT rate differs by income type; VAT applies; OR issued after.</a:t>
            </a:r>
          </a:p>
          <a:p>
            <a:r>
              <a:t>OI-03 Referral fee (Pain point): Referral is treated as a service fee, credited from an Excel list.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refund starts with a Refund Request Form (client ID, CA / SA or check details, amount, reason) that the AO fills in; depending on the segment it goes through four to six signatures, and Marketing Admin, Collections or UPP fills an Excel template and keys the CA / SA in EBIX. Disbursement receives requests through the EBIX flow-in, by e-mail or on paper. Payee details are kept by MBS (insurers), the UPP handler (clients) and the DTL (sundry creditors). The DPO prepares the Excel disbursement template and bank forms; the DTL, DSH and DUH sign in turn. In-system payments run from EBIX to QPS by an IT batch, and the credit file is sent through WinSCP to the Transaction Processing Department (TPD); checks are printed in QPS. Credit tickets, ATDs, manager's checks, demand drafts and telegraphic transfers are bank forms done at a BDO branch. The signed documents go to FRBS for the GL entry. FRBS files taxes in EFPS and pays SSS, Pag-IBIG and PhilHealth through BancNet, then watches the government websites.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FRBS team leads add GL accounts in the EBIX account maintenance; EBIX creates entries from the source transactions and FRBS adds manual entries; sub-ledgers post automatically. IT generates the required reports and saves them in a shared folder; the accounting assistant reviews them, reconciles and prepares manual journals that the TL or TH reviews and posts. At day, month and year end IT extracts the output reports and closes the broking transactions before FRBS triggers the closing of the books and the balances are carried forward. ACSL receives reports from IT (PR, DTIP, CRU), looks for abnormal balances, analyses the invoices, prints the adjustment for the AP TL and routes it to an FRBS approver for posting; Cashiering e-mails invoices due for AR refund adjustment.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Refund Request and Disbursement flows confirmed by the process owners (Dec 2025). The five refund chains answer open question AQ18; the government route is not in BRD-5.</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1 to 8 are on the Disbursement and Refund swimlane, 9 to 12 on the GL and ACSL swimlane.</a:t>
            </a:r>
          </a:p>
          <a:p>
            <a:r>
              <a:t>1. Refunds on paper, five chains: RRF signed by 4-6 people; Excel template; CA / SA re-keyed in EBIX. (Refund Request flow; BRD-5 p.45)</a:t>
            </a:r>
          </a:p>
          <a:p>
            <a:r>
              <a:t>2. Requests by e-mail and paper: Disbursement receives EBIX flow-in, e-mails and hard copies. (Disbursement flow; Day 1 p.27)</a:t>
            </a:r>
          </a:p>
          <a:p>
            <a:r>
              <a:t>3. Payees kept in three places: MBS (insurers), UPP handler (clients), DTL (sundry) keep payee details. (Disbursement flow)</a:t>
            </a:r>
          </a:p>
          <a:p>
            <a:r>
              <a:t>4. Three levels of wet signature: DTL, DSH and DUH sign; online banking adds a second DTL. (DS-01; Disbursement flow)</a:t>
            </a:r>
          </a:p>
          <a:p>
            <a:r>
              <a:t>5. File chain through IT and QPS: EBIX to QPS batch, credit file by WinSCP to TPD, checks printed in QPS. (Disbursement flow; DS-04)</a:t>
            </a:r>
          </a:p>
          <a:p>
            <a:r>
              <a:t>6. Payment modes outside the system: Credit tickets, ATD, MC, DD and TT are bank forms at a branch. (DS-04; BRD-5 p.45)</a:t>
            </a:r>
          </a:p>
          <a:p>
            <a:r>
              <a:t>7. GL entries by another unit: Signed documents go to FRBS, who enters the GL entry. (Disbursement flow; BRD-5 p.45)</a:t>
            </a:r>
          </a:p>
          <a:p>
            <a:r>
              <a:t>8. Government payments by hand: EFPS filing and BancNet payments with a 24-hour posting; websites watched. (Disbursement flow (government))</a:t>
            </a:r>
          </a:p>
          <a:p>
            <a:r>
              <a:t>9. Reports prepared by IT: IT saves reports in a shared folder; business cannot run them. (FRBS flow; RP-01)</a:t>
            </a:r>
          </a:p>
          <a:p>
            <a:r>
              <a:t>10. Reconciliation and journals by hand: Bank and insurer reconciliation and manual journals in Excel. (FRBS flow; RC-01)</a:t>
            </a:r>
          </a:p>
          <a:p>
            <a:r>
              <a:t>11. IT needed to close: IT runs end-of-day, month and year and closes broking transactions. (FRBS flow; BRD-5 p.45)</a:t>
            </a:r>
          </a:p>
          <a:p>
            <a:r>
              <a:t>12. Abnormal balances found by reading: ACSL scans IT reports; adjustments printed for review. (ACSL flow)</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refund and cash-advance requests are raised on the RRF / RFP with documents and approved in the workflow, then routed to Disbursement. Disbursement receives requests from the other modules, by upload or by encoding; BIBS creates the disbursement voucher with an editable proforma entry. The verifier and approvers decide in BIBS, and approval posts the entry to the GL and the sub-ledger, which refuses unbalanced entries. The payment runs in one of seven modes; statuses and CWT are tagged automatically and by bank files, and BIR 2307 is generated. ACSL uploads the insurer statements and reconciles them per invoice, and posts corrections through create, review, approve and post. Accounting reconciles the bank by check number and amount, closes the books on schedule and runs the reports on demand. The BDO Business Online Banking interface is parked (AQ09): approvals are confirmed manually or by file.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column names the control or the effort the To-Be removes.</a:t>
            </a:r>
          </a:p>
          <a:p>
            <a:r>
              <a:t>1. Refunds on paper, five chains -&gt; RRF and RFP in the system with documents; approval routes them to Disbursement Benefit: No paper hand-over.</a:t>
            </a:r>
          </a:p>
          <a:p>
            <a:r>
              <a:t>2. Requests by e-mail and paper -&gt; Requests from other modules, uploads and encoding in one intake Benefit: One request queue.</a:t>
            </a:r>
          </a:p>
          <a:p>
            <a:r>
              <a:t>3. Payees kept in three places -&gt; One consolidated payee master for every mode (DIS 2.2.0-2.2.8) Benefit: Payee kept once.</a:t>
            </a:r>
          </a:p>
          <a:p>
            <a:r>
              <a:t>4. Three levels of wet signature -&gt; Voucher and proforma entry by the system; verifier and approvers decide in the workflow Benefit: E-approval.</a:t>
            </a:r>
          </a:p>
          <a:p>
            <a:r>
              <a:t>5. File chain through IT and QPS -&gt; Credit file and check printing from the same system; credited file uploaded back Benefit: No QPS step.</a:t>
            </a:r>
          </a:p>
          <a:p>
            <a:r>
              <a:t>6. Payment modes outside the system -&gt; Seven payment modes with instrument life cycles and bank forms generated Benefit: Mode recorded.</a:t>
            </a:r>
          </a:p>
          <a:p>
            <a:r>
              <a:t>7. GL entries by another unit -&gt; Approval posts the entry to the GL and sub-ledger; unbalanced entries refused Benefit: Entry at approval.</a:t>
            </a:r>
          </a:p>
          <a:p>
            <a:r>
              <a:t>8. Government payments by hand -&gt; Payment to government is a disbursement class only; filing and confirmation not specified Benefit: Gap: see next slides.</a:t>
            </a:r>
          </a:p>
          <a:p>
            <a:r>
              <a:t>9. Reports prepared by IT -&gt; Users run input and output reports on demand Benefit: No IT request.</a:t>
            </a:r>
          </a:p>
          <a:p>
            <a:r>
              <a:t>10. Reconciliation and journals by hand -&gt; Bank file matched on check number and amount; insurer statements reconciled per invoice Benefit: Matching automated.</a:t>
            </a:r>
          </a:p>
          <a:p>
            <a:r>
              <a:t>11. IT needed to close -&gt; Broking books close by a scheduled job; FRBS closes the period Benefit: No IT in the close.</a:t>
            </a:r>
          </a:p>
          <a:p>
            <a:r>
              <a:t>12. Abnormal balances found by reading -&gt; Ageing with SL-GL difference; corrections through create, review, approve, post Benefit: Posting on approval.</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Government remittances are the one true gap. The others are rules and values the floor showed (approval levels, tax rates, refund routing) that BRD-5 leaves open.</a:t>
            </a:r>
          </a:p>
          <a:p>
            <a:r>
              <a:t>[Not in BRD] Government remittances. Seen: EFPS for BIR; BancNet for SSS, Pag-IBIG, PhilHealth; 24-hour posting; websites watched. BRD: A disbursement class only (DIS 3.25.1). Recommendation: Tax and contribution calendar, filing reference and payment confirmation captured on the voucher. (Disbursement flow)</a:t>
            </a:r>
          </a:p>
          <a:p>
            <a:r>
              <a:t>[Partly in BRD] Delegation of authority. Seen: DTL, DSH, DUH; second DTL for online banking. BRD: Single approver (DIS 2.19) or verifier plus two for funding. Recommendation: Approval matrix by amount and payment type, all in the workflow. (DS-01; AQ28)</a:t>
            </a:r>
          </a:p>
          <a:p>
            <a:r>
              <a:t>[Partly in BRD] Refund routing per segment. Seen: Five chains of 3-6 approvers. BRD: Refund approval generic (MKT 1.14-1.16). Recommendation: Configure routing by segment; aim for two levels. (Refund flow; AQ18)</a:t>
            </a:r>
          </a:p>
          <a:p>
            <a:r>
              <a:t>[Partly in BRD] Payee bank details. Seen: Bank confirms the account name; same name as depositor? BRD: Duplicate check only; validation open. Recommendation: Name match, dual control on bank-detail changes. (AQ11, AQ19)</a:t>
            </a:r>
          </a:p>
          <a:p>
            <a:r>
              <a:t>[Partly in BRD] WHT rate on commission. Seen: 15% at remittance. BRD: WTAX column; rate not stated. Recommendation: Tax table by payee class (ATC) and rate. (TX-01)</a:t>
            </a:r>
          </a:p>
          <a:p>
            <a:r>
              <a:t>[Partly in BRD] Tax by income type. Seen: WHT differs by income type; VAT applies. BRD: OR types with VAT and WTAX; no matrix. Recommendation: Income-type matrix (ATC, WHT, VAT) driving the service invoice. (OI-02)</a:t>
            </a:r>
          </a:p>
          <a:p>
            <a:r>
              <a:t>[Partly in BRD] Referral fees. Seen: Credited from an Excel list. BRD: Service-fee monitoring (FRBS 2.10); no referrer master. Recommendation: Referrer master, computation, payout and 2307. (OI-03; AQ20)</a:t>
            </a:r>
          </a:p>
          <a:p>
            <a:r>
              <a:t>[Partly in BRD] Profit and cost centres. Seen: 8 branches to map. BRD: Cost-centre rules (FRBS 3.1.1); profit centre has no BRD. Recommendation: Profit and cost centre on every entry, mapped per branch. (FN-01; AQ26)</a:t>
            </a:r>
          </a:p>
          <a:p>
            <a:r>
              <a:t>[Partly in BRD] Remittance entries. Seen: Want Dr Cash in Bank / Cr Insurer directly. BRD: Entries per voucher type not given. Recommendation: Give the entries per voucher type. (DS-05; AQ02)</a:t>
            </a:r>
          </a:p>
          <a:p>
            <a:r>
              <a:t>[Partly in BRD] Abnormal balances. Seen: Found by reading IT reports. BRD: Ageing with SL-GL difference only. Recommendation: Rule-based exception queue for ACSL. (ACSL flow; AQ30)</a:t>
            </a:r>
          </a:p>
          <a:p>
            <a:r>
              <a:t>[Partly in BRD] Self-service reports. Seen: Reports need IT (RP-01). BRD: Standard reports on demand; ad-hoc builder parked. Recommendation: Governed report builder after go-live. (RP-01; CRQ11)</a:t>
            </a:r>
          </a:p>
          <a:p>
            <a:r>
              <a:t>[BDOI to confirm] BIR books and VAT return. Seen: Monthly BIR reports; VAT quarterly. BRD: Books format open; monthly VAT return still listed. Recommendation: Confirm CAS format and drop the monthly VAT return. (TX-04, TX-05; AQ07; DCR-055)</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Payment hub with the bank [Partly in BRD]. Host-to-host payments for credit to account, MC, TT and online banking, with digital signing and status back. For BDOI: Replace WinSCP and branch forms with BDO host-to-host (CMS / New BOB).</a:t>
            </a:r>
          </a:p>
          <a:p>
            <a:r>
              <a:t>Delegation of authority in the workflow [Partly in BRD]. Approval limits by amount and type, e-approval, no wet signatures. For BDOI: Approve a DOA matrix; the audit trail replaces the signed copy.</a:t>
            </a:r>
          </a:p>
          <a:p>
            <a:r>
              <a:t>Payee account validation [Partly in BRD]. Name match, test credit and dual control on bank-detail changes. For BDOI: Apply to refunds and new payees.</a:t>
            </a:r>
          </a:p>
          <a:p>
            <a:r>
              <a:t>Government payments calendar [Not in BRD]. Due dates, filing and payment through eFPS / eGov, confirmation captured. For BDOI: Add a calendar and confirmation to Disbursement.</a:t>
            </a:r>
          </a:p>
          <a:p>
            <a:r>
              <a:t>Straight-through refunds [Partly in BRD]. Refund computed from the cancellation or excess and paid to a validated account. For BDOI: Link cancellation, refund request and payment.</a:t>
            </a:r>
          </a:p>
          <a:p>
            <a:r>
              <a:t>Continuous close [Partly in BRD]. Daily SL-GL reconciliation, close calendar and checklist, variance analysis. For BDOI: Add a close checklist and daily reconciliation report.</a:t>
            </a:r>
          </a:p>
          <a:p>
            <a:r>
              <a:t>Automated tax certificates [Partly in BRD]. 2307 for every payee and a register of certificates received, reconciled to SAWT. For BDOI: Extend 2307 generation to all payees.</a:t>
            </a:r>
          </a:p>
          <a:p>
            <a:r>
              <a:t>BIR e-invoicing readiness [BDOI to confirm]. CAS-registered books and electronic invoicing (EIS) when it applies. For BDOI: Confirm applicability with Tax and plan the format.</a:t>
            </a:r>
          </a:p>
          <a:p>
            <a:r>
              <a:t>Multi-dimensional chart of accounts [Partly in BRD]. Branch, profit centre, cost centre, product, insurer and segment on every entry. For BDOI: Map the 8 branches and centres before go-live.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Serving the client after the sale: claims, the contact centre and case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supports the client from the notice of loss to settlement, as the client's advocate with the insurer. Motor claims end with a letter of authority (LOA) to a repair shop or dealer, or with a cash offer; Non-Motor claims go through the claims reporting form, the formal loss advice, an adjuster's inspection and an offer that the client accepts or contests. Claims are handled outside any system today and were called a major pain point (CL-01).</a:t>
            </a:r>
          </a:p>
          <a:p/>
          <a:p>
            <a:r>
              <a:t>Floor walk: 22-Sep-2026, 5-6 pm, 44F; discovery 21-Sep-2026; Elmar O. Alvarez Jr., Richard Castanares.</a:t>
            </a:r>
          </a:p>
          <a:p>
            <a:r>
              <a:t>Sources: High-level Claims process flow (Motor and Non-Motor swimlanes); BDOI Day 1 overview p.8 and p.14; BRD-7 p.23-27; BRCLM.001-043</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business overview (21-Sep) and of the Claims floor walk (22-Sep).</a:t>
            </a:r>
          </a:p>
          <a:p>
            <a:r>
              <a:t>CL-01 Claims handling (Pain point): Claims are handled outside the system and manually. Wants: Major pain point: claims in the system.</a:t>
            </a:r>
          </a:p>
          <a:p>
            <a:r>
              <a:t>Day 1 p.8 What BDOI needs to see (User aspiration): How a claim links to the policy; required documents and status values; who can update, review or approve; how customer communication is recorded.</a:t>
            </a:r>
          </a:p>
          <a:p>
            <a:r>
              <a:t>Claims flow Motor (As-Is): Client, AO or branch sends the notice and PLA; handler completes the documents and sends them to the insurer; insurer issues an LOA to the preferred CASA / dealer or evaluates a cash offer; assured signs; repair monitored offline; claim tagged settled.</a:t>
            </a:r>
          </a:p>
          <a:p>
            <a:r>
              <a:t>Claims flow Non-Motor (As-Is): Claims reporting form (CRF); formal loss advice to the insurer; initial assessment; adjuster inspection when needed; evaluation; offer reviewed and sent to the insured; accept, or contest and re-evaluate; payment; claim closed.</a:t>
            </a:r>
          </a:p>
          <a:p>
            <a:r>
              <a:t>Day 1 p.14 Servicing path (As-Is): Receive the claim from the client; submit documents to the insurer; inform the client of settlement or declination.</a:t>
            </a:r>
          </a:p>
          <a:p>
            <a:r>
              <a:t>EB-02 EB claims (As-Is): Employee Benefits claims are validated by the provider; BDOI captures the details (see chapter 4).</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notice of loss arrives by e-mail or call; Marketing prepares the Preliminary Loss Advice for Motor or the Claims Reporting Form for Non-Motor. Policy details are looked up in EBIX and re-keyed. Premium payment is checked by hand. The loss advice goes to the insurer by e-mail from a mailbox and the handler chases the client for documents. Status and follow-up are tracked in spreadsheets, closure is tagged informally, and claims reports are extracted from ISYS.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Claims process flow (swimlane version), confirmed by the Claims team on 13-Feb-2026.</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points of the BRD-7 current process (p.23-27); the Claims flow confirms them.</a:t>
            </a:r>
          </a:p>
          <a:p>
            <a:r>
              <a:t>1. Notice prepared by hand: PLA or CRF prepared by Marketing from an e-mail or a call. (BRD-7 p.24-25)</a:t>
            </a:r>
          </a:p>
          <a:p>
            <a:r>
              <a:t>2. Policy details re-keyed: Policy details are looked up in EBIX and keyed again. (BRD-7 p.24-25; BRCLM.003, 004)</a:t>
            </a:r>
          </a:p>
          <a:p>
            <a:r>
              <a:t>3. Premium checked by hand: Nothing stops a claim on an unpaid invoice. (BRD-7 p.23; BRCLM.001)</a:t>
            </a:r>
          </a:p>
          <a:p>
            <a:r>
              <a:t>4. Loss advice from a mailbox: No send log; insurer claim numbers kept outside a system. (BRD-7 p.24-25; BRCLM.041, 043)</a:t>
            </a:r>
          </a:p>
          <a:p>
            <a:r>
              <a:t>5. Status in spreadsheets: Status, adjuster, reserve and follow-up dates tracked in Excel. (BRD-7 p.23, 27; BRCLM.010-024)</a:t>
            </a:r>
          </a:p>
          <a:p>
            <a:r>
              <a:t>6. Informal closure: No distinction between temporary and permanent closure. (BRD-7 p.27-28; BRCLM.005, 035)</a:t>
            </a:r>
          </a:p>
          <a:p>
            <a:r>
              <a:t>7. Reports from ISYS: Claims reports are extracted from ISYS. (BRD-7 p.39-42; Report List)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Claims Officer records the claim on the client's cover; the claim number is BCL-yyyy-nnnnnn. The cover, policy number, version, locations, Marketing unit and branch come from the BIBS account, read-only. BIBS reads the invoice ledger and disables the authorization code while premium is unpaid. The loss advice is generated and e-mailed to each insurer with a send log; insurer claim numbers are recorded per insurer. Status (restricted by role and unit), adjuster, reserve, next follow-up date, action plan and diary are on the claim, with history. Settlement type and amount are recorded; permanent closure needs a closing settlement type and a TL or TH. Ageing, outstanding, settled, loss experience and loss ratio reports run in BIBS and export to Excel.</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column names what the To-Be removes.</a:t>
            </a:r>
          </a:p>
          <a:p>
            <a:r>
              <a:t>1. Notice prepared by hand -&gt; Claim recorded on the cover in BIBS with the PLA / CRF data; number BCL-yyyy-nnnnnn Benefit: 55 claims a day.</a:t>
            </a:r>
          </a:p>
          <a:p>
            <a:r>
              <a:t>2. Policy details re-keyed -&gt; Cover, policy, version, locations, unit and branch read from the account, read-only Benefit: No re-keying.</a:t>
            </a:r>
          </a:p>
          <a:p>
            <a:r>
              <a:t>3. Premium checked by hand -&gt; Invoice ledger read; authorization code disabled while premium is unpaid Benefit: Check in 5 s.</a:t>
            </a:r>
          </a:p>
          <a:p>
            <a:r>
              <a:t>4. Loss advice from a mailbox -&gt; Loss advice generated and e-mailed per insurer; insurer claim numbers recorded Benefit: Send log.</a:t>
            </a:r>
          </a:p>
          <a:p>
            <a:r>
              <a:t>5. Status in spreadsheets -&gt; Status within the role / unit matrix, adjuster, reserve, follow-up and diary on the claim Benefit: 1,096 updates a day.</a:t>
            </a:r>
          </a:p>
          <a:p>
            <a:r>
              <a:t>6. Informal closure -&gt; Temporary and permanent closure; permanent needs a settlement type and a TL / TH Benefit: Four-eyes closure.</a:t>
            </a:r>
          </a:p>
          <a:p>
            <a:r>
              <a:t>7. Reports from ISYS -&gt; Ageing, outstanding, settled, loss experience and loss ratio reports in BIBS, to Excel Benefit: No ISYS extract.</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offer and contest loop, repair monitoring and a digital notice of loss are not in the BRD.</a:t>
            </a:r>
          </a:p>
          <a:p>
            <a:r>
              <a:t>[Partly in BRD] Offer and contest loop. Seen: Offer reviewed, sent, accepted or contested, re-evaluated. BRD: Status values only; no offer record. Recommendation: Offer record with versions, acceptance and contest reason. (Claims flow)</a:t>
            </a:r>
          </a:p>
          <a:p>
            <a:r>
              <a:t>[Partly in BRD] Repair monitoring after the LOA. Seen: Repair tracked offline until completion. BRD: LOA statuses; no repair milestones. Recommendation: Repair milestones and dealer updates until the car is released. (CLQ05)</a:t>
            </a:r>
          </a:p>
          <a:p>
            <a:r>
              <a:t>[Partly in BRD] Document checklist. Seen: Documents chased until complete. BRD: Diary and statuses; no checklist per claim type. Recommendation: Checklist per line and cause of loss with reminders. (CLQ26)</a:t>
            </a:r>
          </a:p>
          <a:p>
            <a:r>
              <a:t>[Not in BRD] Digital notice of loss. Seen: Notice by e-mail or call; PLA or CRF prepared by hand. BRD: Claim record from PLA / CRF data; no client channel. Recommendation: Notice through the contact centre or a web form with photos. (CLQ23)</a:t>
            </a:r>
          </a:p>
          <a:p>
            <a:r>
              <a:t>[BDOI to confirm] Money through BDOI. Seen: Cheque payable to the assured; cash settlement. BRD: Open whether proceeds pass through BDOI. Recommendation: Confirm per line; if yes, route through Disbursement. (DCR-086)</a:t>
            </a:r>
          </a:p>
          <a:p>
            <a:r>
              <a:t>[BDOI to confirm] Authorization code. Seen: Premium checked before filing. BRD: Code disabled while premium unpaid; code undefined. Recommendation: Define the code and who can override. (DCR-085)</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Digital first notice of loss [Not in BRD]. Notice by web, app or contact centre with photos and automatic policy lookup. For BDOI: Start with a contact-centre form that creates the claim.</a:t>
            </a:r>
          </a:p>
          <a:p>
            <a:r>
              <a:t>Client status updates [Partly in BRD]. Automatic SMS or e-mail at each status change. For BDOI: Send notices on the key statuses.</a:t>
            </a:r>
          </a:p>
          <a:p>
            <a:r>
              <a:t>Insurer SLA scorecards [Partly in BRD]. Days from notice to offer and offer to payment, per insurer and line. For BDOI: Build from the ageing reports.</a:t>
            </a:r>
          </a:p>
          <a:p>
            <a:r>
              <a:t>Repair network integration [Beyond the BRD]. LOA and repair status exchanged with accredited shops and dealers. For BDOI: After go-live with the main dealers.</a:t>
            </a:r>
          </a:p>
          <a:p>
            <a:r>
              <a:t>Document checklist with chasing [Not in BRD]. Checklist per claim type and automatic reminders to the client. For BDOI: Define the checklists with the Claims team.</a:t>
            </a:r>
          </a:p>
          <a:p>
            <a:r>
              <a:t>Claims analytics for renewals [Partly in BRD]. Loss ratio and claims-prone locations feed renewals and risk advice. For BDOI: Share loss experience with Renewal and TSU.</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Insure contact centre answers clients by phone, e-mail and digital channels. Agents search the client's accounts, answer inquiries, update contact details and resend documents; concerns they cannot close go to the fulfilment unit that manages the account. Today the facility shows full details for CBG accounts only, and every contact is logged by hand in a separate case tool. BDOI has already drawn its own case-management To-Be (15-Jul-2026), which goes further than BRD-9.</a:t>
            </a:r>
          </a:p>
          <a:p/>
          <a:p>
            <a:r>
              <a:t>Floor walk: Process flows walked with the contact centre owners; not a September floor-walk slot; Contact Center Management (BDO Insure).</a:t>
            </a:r>
          </a:p>
          <a:p>
            <a:r>
              <a:t>Sources: High-level Customer Servicing Facility process flow; BDOI Case Management To-Be process flow, 15-Jul-2026; BRD-9 p.3-5; e-mail clarification p.17; BRCSF-001-011</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of the Customer Servicing flow and of BDOI's case-management To-Be flow.</a:t>
            </a:r>
          </a:p>
          <a:p>
            <a:r>
              <a:t>CSF flow Search (As-Is): Account inquiry by invoice number, PN number, last, first or full name (CBG); client inquiry by name for Non-CBG; open the account from the invoice or client code; view contact and insurance details.</a:t>
            </a:r>
          </a:p>
          <a:p>
            <a:r>
              <a:t>CSF flow Contact update (Pain point): When contact details change, the agent updates them and the system migration updates the source databases (QPS, EBIX).</a:t>
            </a:r>
          </a:p>
          <a:p>
            <a:r>
              <a:t>Case To-Be Case logging (User aspiration): Agent identifies the client and the concern; logs every concern in CLS by typing it in; general inquiries answered from CC Nav and closed. Wants: Client details filled in automatically in the case form.</a:t>
            </a:r>
          </a:p>
          <a:p>
            <a:r>
              <a:t>Case To-Be Positive identification (User aspiration): Positive identification (PID) of the client before any account transaction; failed PID closes the case. Wants: PID as a step of the case.</a:t>
            </a:r>
          </a:p>
          <a:p>
            <a:r>
              <a:t>Case To-Be Referral and TAT (User aspiration): Concerns not solved at the first contact are referred to the fulfilment unit by e-mail and a CLS prompt. Wants: Cases routed automatically to the Marketing unit of the account; open cases within or past TAT visible; invalid returns re-logged by BDO CCC.</a:t>
            </a:r>
          </a:p>
          <a:p>
            <a:r>
              <a:t>NB and RN flows E-policy after fall-out (Pain point): After an SFTP fall-out Marketing fixes the e-policy and the BDOI contact centre sends it to the client.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agent searches the Front-End on a limited set of keys. Full account details show for CBG accounts only; for non-CBG accounts the agent sees only contact details, account number and expiry date. Every agent has the same rights. Contact updates are written into QPS or EBIX. Renewal advice and e-policy resends are handled outside the tool by the fulfilment units, and management has no audit report. The servers have reached end of life.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BDOI's case-management To-Be flow of 15-Jul-2026. It is BDOI's own design, beyond BRD-9, and should be taken into the BRD.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points of the BRD-9 current process (p.3-5).</a:t>
            </a:r>
          </a:p>
          <a:p>
            <a:r>
              <a:t>1. Full details for CBG accounts only: Non-CBG accounts show contact details, account number and expiry date only. (BRD-9 p.4; BRCSF-002, 005)</a:t>
            </a:r>
          </a:p>
          <a:p>
            <a:r>
              <a:t>2. Limited search keys: Agents cannot search by every key the caller gives. (BRD-9 p.17 (e-mail); BRCSF-003)</a:t>
            </a:r>
          </a:p>
          <a:p>
            <a:r>
              <a:t>3. No role-based access: Agents, supervisors and management have the same rights. (BRD-9 p.4)</a:t>
            </a:r>
          </a:p>
          <a:p>
            <a:r>
              <a:t>4. Updates written in QPS or EBIX: Contact details are changed in the legacy systems. (BRD-9 p.3-5; BRCSF-004)</a:t>
            </a:r>
          </a:p>
          <a:p>
            <a:r>
              <a:t>5. Resends outside the tool: RA and e-policy resends are handled by other units. (BRD-9 p.17 (e-mail item 9); BRCSF-006)</a:t>
            </a:r>
          </a:p>
          <a:p>
            <a:r>
              <a:t>6. No audit report; ageing servers: Management has no audit trail of agent actions; servers at end of life. (BRD-9 p.4; BRCSF-010, 011)</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agent signs in to the Customer Search. One search box takes the name, client ID, account number, PN number or application number, and results group by client. The servicing view shows the client summary, every account (CBG and non-CBG) with its CSF status, payments of the last 12 months, RAs, e-policies and documents. Before an update the agent completes the verification checklist; only contact fields change, with a reason, in the BIBS client master. The agent resends the RA or the e-policy to the registered e-mail, password protected, with the password sent separately. The contact change is queued for QPS and EBIX while they coexist (parked seam, CSQ01). Management prints or saves the audit trail and agent activity in PDF or Excel.</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column names what the To-Be removes.</a:t>
            </a:r>
          </a:p>
          <a:p>
            <a:r>
              <a:t>1. Full details for CBG accounts only -&gt; Every account of the client, CBG and non-CBG, with status and payments Benefit: All segments.</a:t>
            </a:r>
          </a:p>
          <a:p>
            <a:r>
              <a:t>2. Limited search keys -&gt; One search box for name, client ID, account number, PN number and application number Benefit: &lt; 3 s search.</a:t>
            </a:r>
          </a:p>
          <a:p>
            <a:r>
              <a:t>3. No role-based access -&gt; Agent, supervisor and management roles with separate rights to update, resend and upload Benefit: Role-based access.</a:t>
            </a:r>
          </a:p>
          <a:p>
            <a:r>
              <a:t>4. Updates written in QPS or EBIX -&gt; Update made once in the BIBS client master after verifying the caller; write-back seam for QPS / EBIX Benefit: Verification before change.</a:t>
            </a:r>
          </a:p>
          <a:p>
            <a:r>
              <a:t>5. Resends outside the tool -&gt; Agent views, downloads and resends the RA and e-policy to the registered e-mail, protected Benefit: Resend in one call.</a:t>
            </a:r>
          </a:p>
          <a:p>
            <a:r>
              <a:t>6. No audit report; ageing servers -&gt; Every change and agent action logged; audit trail in PDF or Excel Benefit: Full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management is the main gap: BRD-9 puts it out of scope while the umbrella BRD and BDOI's own To-Be want it.</a:t>
            </a:r>
          </a:p>
          <a:p>
            <a:r>
              <a:t>[Not in BRD] Case management. Seen: Every contact logged by hand in CLS; BDOI's To-Be wants cases in the system. BRD: Case logging out of BRD-9 (CSF-EM10); umbrella BRD wants it. Recommendation: Bring BDOI's 15-Jul To-Be into scope as a change request. (DCR-163; CRQ04)</a:t>
            </a:r>
          </a:p>
          <a:p>
            <a:r>
              <a:t>[Partly in BRD] Positive identification. Seen: PID before any account transaction. BRD: Caller verification topic only. Recommendation: PID questions and result recorded on the case. (CSQ03)</a:t>
            </a:r>
          </a:p>
          <a:p>
            <a:r>
              <a:t>[Not in BRD] Referral routing and TAT. Seen: Referral by e-mail; no TAT view. BRD: Not specified. Recommendation: Auto-route to the account's unit; TAT per case type; return loop. (Case To-Be)</a:t>
            </a:r>
          </a:p>
          <a:p>
            <a:r>
              <a:t>[Partly in BRD] Write-back to legacy. Seen: Contact updates written to QPS and EBIX. BRD: Write-back seam; open. Recommendation: No write-back after go-live; one client master. (DCR-104, 202)</a:t>
            </a:r>
          </a:p>
          <a:p>
            <a:r>
              <a:t>[Partly in BRD] E-policy after a fall-out. Seen: Contact centre sends e-policies Marketing fixed. BRD: Resend on request only. Recommendation: One e-policy sender with an exception queue (chapter 1). (NB flow)</a:t>
            </a:r>
          </a:p>
          <a:p>
            <a:r>
              <a:t>[BDOI to confirm] Two contact centres. Seen: BDO Insure and BDO CCC both handle cases. BRD: Roles open. Recommendation: Confirm who logs, who resolves, who re-logs. (XQ02)</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Omnichannel case management [Not in BRD]. Every call, e-mail and chat is a case with SLA, routing and history on the client record. For BDOI: Adopt BDOI's 15-Jul To-Be.</a:t>
            </a:r>
          </a:p>
          <a:p>
            <a:r>
              <a:t>Screen-pop and assisted PID [Partly in BRD]. Caller recognised from the number; PID by OTP or questions from the client record. For BDOI: Add PID to the servicing view.</a:t>
            </a:r>
          </a:p>
          <a:p>
            <a:r>
              <a:t>Self-service [Beyond the BRD]. Clients get RA, e-policy, SOA and payment status online or by chatbot. For BDOI: Phase after go-live; start with document download.</a:t>
            </a:r>
          </a:p>
          <a:p>
            <a:r>
              <a:t>Knowledge base and scripts [Beyond the BRD]. Answers and call scripts per concern type, kept by the contact centre. For BDOI: Move CC Nav content into the case tool.</a:t>
            </a:r>
          </a:p>
          <a:p>
            <a:r>
              <a:t>First-contact resolution metrics [Beyond the BRD]. First-contact resolution, TAT met and satisfaction per unit. For BDOI: Report from case data.</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screening and user access, which every other area depends on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screens clients against sanction and PEP lists, profiles their risk, reviews possible matches and files suspicious transaction reports with the AMLC. Today names are matched by hand against lists that arrive by e-mail and are kept on SharePoint, and the PEP list is refreshed quarterly through one NLDS user. On the floor, Marketing confirmed that KYC and the AMLA check for every new client happen outside the system (NB-04). BRD-10 is the only BRD with quantified benefits (p.4-5).</a:t>
            </a:r>
          </a:p>
          <a:p/>
          <a:p>
            <a:r>
              <a:t>Floor walk: Not walked in Sep-2026; KYC / AMLA raised in the New Business session of 25-Sep; Compliance (Chief Compliance Officer).</a:t>
            </a:r>
          </a:p>
          <a:p>
            <a:r>
              <a:t>Sources: BRD-10 p.6-7 (current process), p.8 (to-be); SNSRP-101 to 706; Floor-walk note NB-04</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floor-walk note that touches Compliance, and the current process of BRD-10.</a:t>
            </a:r>
          </a:p>
          <a:p>
            <a:r>
              <a:t>NB-04 KYC and AMLA (Open point): KYC for every new customer (corporate and retail), then the AMLA check; both done outside the system with the insurance declaration form. Wants: Confirm whether KYC and AMLA come into the system.</a:t>
            </a:r>
          </a:p>
          <a:p>
            <a:r>
              <a:t>BRD-10 p.6 Lists (Pain point): Sanctioned names arrive by e-mail advisory and are consolidated on SharePoint; the PEP list is refreshed quarterly through NLDS, which one person can access.</a:t>
            </a:r>
          </a:p>
          <a:p>
            <a:r>
              <a:t>BRD-10 p.7 Matching and cases (Pain point): Names matched by hand; risk tag and review template filled by hand; review and approval routed by e-mail; STR prepared by hand and filed on the AMLC portal.</a:t>
            </a:r>
          </a:p>
          <a:p>
            <a:r>
              <a:t>CP-01 E-signature (Open point): E-signature requirement to be checked with Legal and Compliance. Wants: Decision on e-signature for approvals and documents.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risk-profile category is cascaded by memo. The AML unit sends sanctioned names by e-mail advisory; Compliance consolidates them and publishes them on SharePoint. Investigators match the names against new and existing clients by hand, tag the client risk profile by hand, fill review templates outside the system and route them by e-mail for review and approval. PEP lists are prepared every quarter by Marketing and validated in NLDS, to which one person has access. There is no Enhanced Due Diligence for PEPs. The STR is prepared by hand and filed on the AMLC portal.</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nine points of the BRD-10 current process (p.6-7).</a:t>
            </a:r>
          </a:p>
          <a:p>
            <a:r>
              <a:t>1. Risk category by memo: The risk-profile category is cascaded by memo. (BRD-10 p.6)</a:t>
            </a:r>
          </a:p>
          <a:p>
            <a:r>
              <a:t>2. Sanctioned names by e-mail: The AML unit sends names by e-mail advisory. (BRD-10 p.6)</a:t>
            </a:r>
          </a:p>
          <a:p>
            <a:r>
              <a:t>3. List kept on SharePoint: Compliance consolidates and publishes the names on SharePoint. (BRD-10 p.6)</a:t>
            </a:r>
          </a:p>
          <a:p>
            <a:r>
              <a:t>4. Matching by hand: Names are matched against new and existing clients manually. (BRD-10 p.6)</a:t>
            </a:r>
          </a:p>
          <a:p>
            <a:r>
              <a:t>5. Risk profile tagged by hand: The client risk profile is tagged manually. (BRD-10 p.6)</a:t>
            </a:r>
          </a:p>
          <a:p>
            <a:r>
              <a:t>6. Templates outside the system: Review templates are filled outside the system and e-mailed. (BRD-10 p.6)</a:t>
            </a:r>
          </a:p>
          <a:p>
            <a:r>
              <a:t>7. Routing by e-mail: Review and approval items are routed by e-mail. (BRD-10 p.6)</a:t>
            </a:r>
          </a:p>
          <a:p>
            <a:r>
              <a:t>8. PEP list quarterly; one NLDS user: PEP lists prepared by Marketing AOs; no EDD for PEPs. (BRD-10 p.7)</a:t>
            </a:r>
          </a:p>
          <a:p>
            <a:r>
              <a:t>9. STR by hand: The STR is prepared manually and filed on the AMLC portal. (BRD-10 p.6)</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Compliance maintains the risk categories, rules, matrices, templates and dispositions; a checker approves each version. List files load on a schedule or by upload, and every run is logged. BIBS matches every new client, every identity change, every account application, every list change and the whole client base in a batch window, with exact, phonetic and fuzzy rules, and sets the risk rating and the PEP / watchlist tags. A case opens and is assigned by the assignment matrix. The Investigator completes the review template, uploads the KYC documents and submits. BIBS validates the case and routes it by the approval matrix to the Unit Head, Compliance and the AML Committee. The STR is prefilled from the case and the committee-approved STRs are extracted in the AMLC format; the AMLC reference is recorded after portal filing.</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column names what the To-Be removes.</a:t>
            </a:r>
          </a:p>
          <a:p>
            <a:r>
              <a:t>1. Risk category by memo -&gt; Risk categories and rules maintained in BIBS; a checker approves each version Benefit: Maker-checker on rules.</a:t>
            </a:r>
          </a:p>
          <a:p>
            <a:r>
              <a:t>2. Sanctioned names by e-mail -&gt; List files loaded on a schedule or uploaded; every run logged, failed records reported Benefit: 10-300 records a day.</a:t>
            </a:r>
          </a:p>
          <a:p>
            <a:r>
              <a:t>3. List kept on SharePoint -&gt; Watchlist held in BIBS by source; manual additions through maker-checker Benefit: One list.</a:t>
            </a:r>
          </a:p>
          <a:p>
            <a:r>
              <a:t>4. Matching by hand -&gt; Every new client, application, list change and the client base in a batch window Benefit: 10 min saved per case.</a:t>
            </a:r>
          </a:p>
          <a:p>
            <a:r>
              <a:t>5. Risk profile tagged by hand -&gt; Risk rules set the rating and PEP / watchlist tags; override with evidence Benefit: Tags by rule.</a:t>
            </a:r>
          </a:p>
          <a:p>
            <a:r>
              <a:t>6. Templates outside the system -&gt; Review template completed on the case with the KYC documents Benefit: Case cycle 4 h &gt; 1 h.</a:t>
            </a:r>
          </a:p>
          <a:p>
            <a:r>
              <a:t>7. Routing by e-mail -&gt; Case validated and routed by the approval matrix to UH, Compliance and AML Committee Benefit: 64 h a month freed.</a:t>
            </a:r>
          </a:p>
          <a:p>
            <a:r>
              <a:t>8. PEP list quarterly; one NLDS user -&gt; PEP entries in the watchlist; PEP clients get a case and, where required, an EDD review Benefit: EDD for PEPs.</a:t>
            </a:r>
          </a:p>
          <a:p>
            <a:r>
              <a:t>9. STR by hand -&gt; STR prefilled from the case; approved STRs extracted in the AMLC format Benefit: Reference recorded.</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 or warn on a match is the decision that shapes New Business and Renewal.</a:t>
            </a:r>
          </a:p>
          <a:p>
            <a:r>
              <a:t>[BDOI to confirm] Block or warn on a match. Seen: Screening today happens after KYC, outside the system. BRD: Screening on client creation and account submission; effect of an open match not decided. Recommendation: Decide block or warn at quotation, placement, booking and renewal. (DCR-112)</a:t>
            </a:r>
          </a:p>
          <a:p>
            <a:r>
              <a:t>[Partly in BRD] Insurance declaration form. Seen: Collected with KYC outside the system (NB-04). BRD: Not in any BRD. Recommendation: Capture the declaration in client onboarding. (NB-04)</a:t>
            </a:r>
          </a:p>
          <a:p>
            <a:r>
              <a:t>[Partly in BRD] PEP source for individuals. Seen: Quarterly PEP list through NLDS. BRD: Source for individuals open. Recommendation: Name the PEP source and refresh frequency. (DCR-109)</a:t>
            </a:r>
          </a:p>
          <a:p>
            <a:r>
              <a:t>[Not in BRD] Adverse media. Seen: Not screened today. BRD: Not required. Recommendation: Consider adverse-media screening for high-risk clients. (DCR-111)</a:t>
            </a:r>
          </a:p>
          <a:p>
            <a:r>
              <a:t>[Not in BRD] Beneficial owners. Seen: Corporate clients screened by name. BRD: Related parties not screened. Recommendation: Screen beneficial owners and authorised signatories. (SQ11)</a:t>
            </a:r>
          </a:p>
          <a:p>
            <a:r>
              <a:t>[BDOI to confirm] Screening of migrated clients. Seen: Legacy clients screened at different times. BRD: Full re-screen after load proposed. Recommendation: Confirm a full re-screen at cut-over. (DCR-208; DMQ06)</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Reuse bank screening [BDOI to confirm]. BDO group CIF and screening results reused for bank-referred clients. For BDOI: Confirm with BDO Compliance (SQ11, Q16).</a:t>
            </a:r>
          </a:p>
          <a:p>
            <a:r>
              <a:t>Tuned fuzzy matching [Partly in BRD]. Commercial watchlists with fuzzy matching tuned on BDOI data. For BDOI: Tune thresholds during SIT.</a:t>
            </a:r>
          </a:p>
          <a:p>
            <a:r>
              <a:t>Adverse-media screening [Not in BRD]. News and adverse-media checks for high-risk clients. For BDOI: Add for high-risk segments.</a:t>
            </a:r>
          </a:p>
          <a:p>
            <a:r>
              <a:t>Perpetual KYC [Partly in BRD]. Re-screening on every list update and on client events. For BDOI: Schedule re-screening after each list load.</a:t>
            </a:r>
          </a:p>
          <a:p>
            <a:r>
              <a:t>Beneficial-owner screening [Not in BRD]. Owners, directors and signatories screened with the client. For BDOI: Capture related parties at onboarding.</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BDOI coordinates every access request with IT, which causes delays (BRD-11 p.5). The BRD asks for a module in which the business manages permissions, roles and access levels itself, with self-service requests, approvals and access reports. The floor walk showed why this matters beyond BRD-11: in New Business, who books depends on who has EBIX access; Combank account support books on behalf of Marketing; two contact centres handle cases; and EB portal users would be BDOI's first external users.</a:t>
            </a:r>
          </a:p>
          <a:p/>
          <a:p>
            <a:r>
              <a:t>Floor walk: Not walked in Sep-2026; access issues seen in the New Business and Customer Servicing flows; UAM process owner; BDO ITIO.</a:t>
            </a:r>
          </a:p>
          <a:p>
            <a:r>
              <a:t>Sources: BRD-11 p.5-6 (current, envisioned); NFR p.11-18; New Business process flow (who books); Case Management To-Be (two contact centres); Integration inventory INT-01 (EIAM), INT-02 (UIDM-ISC)</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observations from the process flows and the floor walk.</a:t>
            </a:r>
          </a:p>
          <a:p>
            <a:r>
              <a:t>NB flow Who books (Pain point): The Processing Officer or the MAO books in EBIX "depending on who has access"; Marketing Account Support books for Combank.</a:t>
            </a:r>
          </a:p>
          <a:p>
            <a:r>
              <a:t>Case To-Be Two contact centres (As-Is): BDO Insure agents and BDO CCC both log and handle cases.</a:t>
            </a:r>
          </a:p>
          <a:p>
            <a:r>
              <a:t>EB flow External users (User aspiration): Insurer and client HR portals planned for Employee Benefits. Wants: Portal users with their own access rules.</a:t>
            </a:r>
          </a:p>
          <a:p>
            <a:r>
              <a:t>BRD-11 p.5 Requests through IT (Pain point): Every QPS access request is coordinated with IT; approvers are reached by e-mail; access lists compiled by hand.</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business unit sends access requests to IT and coordinates them. The approver is reached by e-mail. IT grants the access in QPS, and group profiles are created or changed by IT on request. Access lists are compiled by hand (BRD-11 p.5).</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points of the BRD-11 current process (p.5-6).</a:t>
            </a:r>
          </a:p>
          <a:p>
            <a:r>
              <a:t>1. Requests go through IT: The business unit coordinates every request with IT; this causes delays. (BRD-11 p.5)</a:t>
            </a:r>
          </a:p>
          <a:p>
            <a:r>
              <a:t>2. Approver reached by e-mail: No queue of requests waiting for a decision. (BRD-11 p.5; BRD 2.002)</a:t>
            </a:r>
          </a:p>
          <a:p>
            <a:r>
              <a:t>3. IT grants the access: The grant waits for IT; no effective date. (BRD-11 p.5-6)</a:t>
            </a:r>
          </a:p>
          <a:p>
            <a:r>
              <a:t>4. Group profiles changed by IT: Profile changes are made on request with no approval trail. (BRD-11 p.5-6; BRD 3.002)</a:t>
            </a:r>
          </a:p>
          <a:p>
            <a:r>
              <a:t>5. Access lists by hand: Who has which access, and since when, is compiled manually. (BRD-11 p.5; BRD 3.003, 4.003)</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Requestor raises the request (enrol, modify, deactivate or reactivate, alone or in bulk), as a draft or submitted, and chooses the approver. BIBS checks it, sets it PENDING and notifies the chosen approver, who sees it under "Assigned to me". A change to a high-privilege profile, or a submission outside working hours, needs a second approval and raises an alert. The approver approves, rejects with a reason or returns it with remarks. BIBS applies the change on approval or on the effective date, logs the from / to values and notifies the requester and the affected user. Group profiles are requested by the Business Administrator, approved in order and implemented by the System Administrator. Four reports and a structured audit log show who has which access, since when and who changed it. Sign-in by the BDO directory (EUA) is a parked port.</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column names what the To-Be removes.</a:t>
            </a:r>
          </a:p>
          <a:p>
            <a:r>
              <a:t>1. Requests go through IT -&gt; Requestor raises the request in BIBS, as a draft or submitted, alone or in bulk Benefit: No IT hand-off.</a:t>
            </a:r>
          </a:p>
          <a:p>
            <a:r>
              <a:t>2. Approver reached by e-mail -&gt; Chosen approver notified; request listed under "Assigned to me" Benefit: Queue per approver.</a:t>
            </a:r>
          </a:p>
          <a:p>
            <a:r>
              <a:t>3. IT grants the access -&gt; BIBS applies the access on approval or on the effective date; high-risk changes need a 2nd approval Benefit: Four eyes on every change.</a:t>
            </a:r>
          </a:p>
          <a:p>
            <a:r>
              <a:t>4. Group profiles changed by IT -&gt; Business Administrator requests; approvers approve in order; System Administrator implements Benefit: Approval trail.</a:t>
            </a:r>
          </a:p>
          <a:p>
            <a:r>
              <a:t>5. Access lists by hand -&gt; Four reports and a structured audit log with from / to values Benefit: Reports in 20 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BIBS-wide access matrix and the enterprise identity decisions shape every module.</a:t>
            </a:r>
          </a:p>
          <a:p>
            <a:r>
              <a:t>[Partly in BRD] BIBS-wide access matrix. Seen: Access decides who books, sends and approves. BRD: BRD-11 covers the process; the matrix of all modules is open. Recommendation: One role and access matrix for all modules, approved by every BRD owner. (DCR-121)</a:t>
            </a:r>
          </a:p>
          <a:p>
            <a:r>
              <a:t>[BDOI to confirm] Enterprise sign-in. Seen: Windows ID through BDO EUA today. BRD: EUA in BRD-11; the IER names EIAM (Entra ID). Recommendation: Confirm EIAM single sign-on and MFA for all users. (DCR-143, 230; INT-01)</a:t>
            </a:r>
          </a:p>
          <a:p>
            <a:r>
              <a:t>[BDOI to confirm] Identity governance. Seen: Access requests in the business module. BRD: UIDM-ISC may take over requests and approvals. Recommendation: Decide which tool owns requests and recertification. (DCR-229; INT-02)</a:t>
            </a:r>
          </a:p>
          <a:p>
            <a:r>
              <a:t>[Partly in BRD] Personas seen on the floor. Seen: Combank account support; two contact centres; sanitation handlers. BRD: Not all in the role list. Recommendation: Add them to the matrix. (XQ02; DCR-121)</a:t>
            </a:r>
          </a:p>
          <a:p>
            <a:r>
              <a:t>[Partly in BRD] External users. Seen: EB portal users planned. BRD: Provisioning, MFA and hosting open. Recommendation: Rules for external users before any portal goes live. (DCR-096)</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Single sign-on with MFA [Partly in BRD]. Sign-in through the enterprise identity provider with MFA. For BDOI: Confirm EIAM (DCR-230).</a:t>
            </a:r>
          </a:p>
          <a:p>
            <a:r>
              <a:t>Access recertification [Partly in BRD]. Managers confirm their team's access every quarter. For BDOI: Use the access reports as the review input.</a:t>
            </a:r>
          </a:p>
          <a:p>
            <a:r>
              <a:t>Segregation-of-duties matrix [Partly in BRD]. Conflicting roles (maker and approver, payee set-up and payment) blocked by rule. For BDOI: Define the conflicts with Audit.</a:t>
            </a:r>
          </a:p>
          <a:p>
            <a:r>
              <a:t>Privileged access control [Not in BRD]. Administrator access time-bound, approved and recorded. For BDOI: Agree with BDO IT Security.</a:t>
            </a:r>
          </a:p>
          <a:p>
            <a:r>
              <a:t>Joiner-mover-leaver automation [Beyond the BRD]. Access granted and removed from HR events. For BDOI: Through the identity governance tool.</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topics cut across every chapter: moving the data out of EBIX, QPS, ISYS and the spreadsheets; connecting BDOI to about 55 insurers, the BDO bank channels and the government; and the shared capabilities (documents, e-signature, notifications, SLA, audit, reports) that every department asked for on the floor.</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BRD-13 is a draft v0.01 of 14-Apr-2026, unsigned (DCR-189, 190). It asks for a selective migration, not a full history conversion: master and reference data migrate, open financial items are carried forward on legacy sub-ledgers, history is archived with logged access, and in-force policies are recreated cleanly when they renew. The floor walk showed where the data actually lives today and why it is hard to move.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DM strategy "Legacy systems in scope"; DATA_MIGRATION_DESIGN section 2; floor-walk notes and process flows.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 layouts, objects R01-H02. Real counts are due from BDOI by 29-Jan-2027 (DMQ28).</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object passes seven gates with segregation of duties. Reconciliation runs at five levels, from counts to the general ledger, with Migration Clearing at 0.00 per branch and currency. Four mock loads and a dress rehearsal precede the cut-over weekend.</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DM strategy risks, the design and the floor walk.</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BRD-13 gaps from the register (DCR-157, 189-209) and from the floor walk.</a:t>
            </a:r>
          </a:p>
          <a:p>
            <a:r>
              <a:t>[BDOI to confirm] BRD-13 status. Seen: Draft v0.01, unsigned, template text. BRD: Draft only. Recommendation: Sign BRD-13 with the migration object list. (DCR-189, 190)</a:t>
            </a:r>
          </a:p>
          <a:p>
            <a:r>
              <a:t>[Partly in BRD] Go-live scope per BRD. Seen: Each department keeps open items differently. BRD: Scope, cut-off and format uneven across BRDs. Recommendation: One object register approved by every data owner. (DCR-157)</a:t>
            </a:r>
          </a:p>
          <a:p>
            <a:r>
              <a:t>[Not in BRD] Objects outside BRD-13. Seen: Claims, EB, SP masterlists, payees, PDCs, DP and RI trackers. BRD: Not listed. Recommendation: Add them with class and owner. (DMQ30; DCR-196)</a:t>
            </a:r>
          </a:p>
          <a:p>
            <a:r>
              <a:t>[BDOI to confirm] Collections source. Seen: ICS on the floor. BRD: CMS (Collection Management System). Recommendation: Confirm ICS = CMS and its extract. (CO-02; DCR-221)</a:t>
            </a:r>
          </a:p>
          <a:p>
            <a:r>
              <a:t>[BDOI to confirm] Volumes. Seen: Volumes heard on the floor only. BRD: Counts to be supplied. Recommendation: Supply counts per object by M3. (DMQ28)</a:t>
            </a:r>
          </a:p>
          <a:p>
            <a:r>
              <a:t>[BDOI to confirm] Year-end option. Seen: Cut-over at year end. BRD: Provisional opening, true-ups to May 2028 proposed. Recommendation: Comptrollership to confirm option A. (DMQ39)</a:t>
            </a:r>
          </a:p>
          <a:p>
            <a:r>
              <a:t>[Partly in BRD] Data owners and stewards. Seen: Owners implied by department. BRD: Roles described, people not named. Recommendation: Name an owner and a steward per object. (DMQ01)</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Named data owners and stewards [Partly in BRD]. Each object has a business owner who signs the class, the maps and the acceptance, and stewards who clean it. For BDOI: Name them in October 2026.</a:t>
            </a:r>
          </a:p>
          <a:p>
            <a:r>
              <a:t>Clean at source now [Partly in BRD]. Duplicates, missing TINs and old unapplied items fixed in legacy long before the mocks. For BDOI: Start a cleansing sprint per department in Q4 2026.</a:t>
            </a:r>
          </a:p>
          <a:p>
            <a:r>
              <a:t>Reconciled by construction [In the BRD]. Every load reconciles counts, amounts and GL; clearing account at zero. For BDOI: Comptrollership signs each financial object.</a:t>
            </a:r>
          </a:p>
          <a:p>
            <a:r>
              <a:t>Rehearse the cut-over [In the BRD]. Timed mocks and a dress rehearsal with the real run book. For BDOI: Keep the four mocks and the dress rehearsal.</a:t>
            </a:r>
          </a:p>
          <a:p>
            <a:r>
              <a:t>Retire spreadsheets [Beyond the BRD]. Every tracker either migrates into the system or is archived; none survives go-live. For BDOI: Inventory the trackers per department.</a:t>
            </a:r>
          </a:p>
          <a:p>
            <a:r>
              <a:t>Legacy inquiry and archive [In the BRD]. History readable after legacy is switched off, with logged access. For BDOI: Agree retention per record type (DCR-136).</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almost every exchange with insurers, the bank and the government is an e-mail, a file moved by IT, or a form. The BRDs and the IER list twenty interfaces; most are seams until their specifications arrive. The floor walk added several channels the inventory does not yet name.</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programme alignment integration inventory (INT-01 to INT-20) and the BRD interfaces; completed with the channels of the floor walk.</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integration inventory, the register and the floor walk.</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Integration gaps across the BRDs.</a:t>
            </a:r>
          </a:p>
          <a:p>
            <a:r>
              <a:t>[Not in BRD] Insurer data standard. Seen: ~55 insurers, each different (OV-01). BRD: Channel per insurer configurable; no common standard. Recommendation: A BDOI insurer interface standard (layouts, SFTP / API) and on-boarding waves. (OV-01; Q06)</a:t>
            </a:r>
          </a:p>
          <a:p>
            <a:r>
              <a:t>[Not in BRD] Government channels. Seen: EFPS, BancNet by hand. BRD: Not specified. Recommendation: Add to the inventory; calendar and confirmation in Disbursement. (Disbursement flow)</a:t>
            </a:r>
          </a:p>
          <a:p>
            <a:r>
              <a:t>[Not in BRD] CLAS, CTS feeds. Seen: Bank reports sanitised by hand. BRD: HLS only. Recommendation: Add to the inventory with layouts. (NB flow; Q11)</a:t>
            </a:r>
          </a:p>
          <a:p>
            <a:r>
              <a:t>[Partly in BRD] EGL and EDP. Seen: GARD report exports. BRD: No specification. Recommendation: BDO IT to specify by 31-Jan-2027. (DCR-233)</a:t>
            </a:r>
          </a:p>
          <a:p>
            <a:r>
              <a:t>[Partly in BRD] Bank payment channels. Seen: WinSCP to TPD; branch forms. BRD: Named; layouts and transport open. Recommendation: Host-to-host with status back. (DCR-234; AQ09)</a:t>
            </a:r>
          </a:p>
          <a:p>
            <a:r>
              <a:t>[BDOI to confirm] Print channel. Seen: COG prints RA and reminders. BRD: Channel open. Recommendation: Mail-house batch with tracking. (SQ09)</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BDOI, beyond what the BRD asks; the chip shows how far the BRD already covers each one.</a:t>
            </a:r>
          </a:p>
          <a:p>
            <a:r>
              <a:t>One insurer interface standard [Beyond the BRD]. One BDOI layout and channel (API or SFTP) for slips, e-policies, SOAs and recon files; insurers on-boarded in waves. For BDOI: Start with the top 10 insurers by premium.</a:t>
            </a:r>
          </a:p>
          <a:p>
            <a:r>
              <a:t>Integration layer with monitoring [Partly in BRD]. All files and APIs through one layer with retries, alerts and a message log. For BDOI: Agree with BDO IT architecture.</a:t>
            </a:r>
          </a:p>
          <a:p>
            <a:r>
              <a:t>Bank host-to-host [Partly in BRD]. Collections and payments by host-to-host with status callbacks. For BDOI: Plan with BDO transaction banking.</a:t>
            </a:r>
          </a:p>
          <a:p>
            <a:r>
              <a:t>Event-driven notices [Beyond the BRD]. Business events published once for reports, analytics and partners. For BDOI: Use for the EDP feed.</a:t>
            </a:r>
          </a:p>
          <a:p>
            <a:r>
              <a:t>Partner portals [BDOI to confirm]. Insurers, HMOs and client HR upload and download through a portal. For BDOI: Confirm timing (DCR-211).</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Capabilities that are not one department's: the floor walk raised each of them in several sessions.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does not wait for the system. Some improvements are decisions BDOI can take now (rules, owners, templates, data clean-up); the BRD scope arrives at go-live in January 2028; automation and integration beyond the BRDs follow once the platform is stable.</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Automating a broken process only makes it fail faster. These five levers, applied in order, are how insurance brokers usually take cost and delay out of operations; each has BDOI examples from the floor walk.</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is the project team's estimate of effort removed and control gained, from what we saw on the floor. "Go-live" means the lever is in the BRD scope; "After" means beyond the BRDs.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 is what BDOI can decide and prepare now; H1 is the BRD scope at go-live; H2 and H3 go beyond the BRDs. The enablers make every horizon possible.</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Targets are suggestions for BDOI to set; the baseline is what we heard on the floor.</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To-Be moves every theme to one workflow in one system or better; the roadmap takes the themes to automated and integrated. Integration and customer service need the most work beyond the BRDs.</a:t>
            </a:r>
          </a:p>
          <a:p>
            <a:r>
              <a:t>Automation: today 1, To-Be 4, best practice 5. Today: split files, receipts, reversals and journals by hand (Operations and FRBS flows). To-Be: jobs, matching and straight-through steps with exception queues.</a:t>
            </a:r>
          </a:p>
          <a:p>
            <a:r>
              <a:t>Controls: today 2, To-Be 4, best practice 5. Today: wet signatures, Teams approvals, checker-poster one by one. To-Be: maker-checker and approval matrices in the workflow.</a:t>
            </a:r>
          </a:p>
          <a:p>
            <a:r>
              <a:t>Data: today 1, To-Be 4, best practice 5. Today: three references, Excel masterlists, re-keying across five tools. To-Be: one client, one ARN, one invoice ledger.</a:t>
            </a:r>
          </a:p>
          <a:p>
            <a:r>
              <a:t>Integration: today 2, To-Be 3, best practice 5. Today: e-mail, SFTP and WinSCP files, IT batches. To-Be: uploads and seams; APIs to specify.</a:t>
            </a:r>
          </a:p>
          <a:p>
            <a:r>
              <a:t>Customer service: today 2, To-Be 3, best practice 5. Today: CBG-only view, cases logged by hand. To-Be: every account; case management not in BRD-9.</a:t>
            </a:r>
          </a:p>
          <a:p>
            <a:r>
              <a:t>Compliance: today 1, To-Be 4, best practice 5. Today: KYC and AMLA outside the system, names matched by hand. To-Be: screening on every trigger with cases.</a:t>
            </a:r>
          </a:p>
          <a:p>
            <a:r>
              <a:t>Reporting: today 1, To-Be 4, best practice 5. Today: reports need IT (RP-01). To-Be: users run reports; ad-hoc builder open.</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items of the chapters that are not in any BRD or that block several areas, ranked by impact. Each becomes a register item or a change request with BDOI's decision.</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239 items are raised against the BRDs and the Report List; 64 are High.</a:t>
            </a:r>
          </a:p>
          <a:p>
            <a:r>
              <a:t>High items change what is built, the money, compliance or access; they are resolved before the FRS of the area is signed off.</a:t>
            </a:r>
          </a:p>
          <a:p>
            <a:r>
              <a:t>Items that touch several BRDs, such as the service window, RPO and retention, count under each BRD.</a:t>
            </a:r>
          </a:p>
          <a:p>
            <a:r>
              <a:t>The floor-walk gaps of this deck are added to the register after BDOI confirms them.</a:t>
            </a:r>
          </a:p>
          <a:p>
            <a:r>
              <a:t>Source: docs/deliverables/src/registers/discrepancy_register.yaml. An item that touches several BRDs is counted under each of them.</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17 open points of the floor-walk notes, plus the cross-BRD decisions that unblock the most chapters.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reverse KT is complete when each department has confirmed or corrected its chapter. We propose one 60-minute session per part (A to F) in the first two weeks of October, and a steering committee review of Parts G and 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6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6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7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7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7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8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8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8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9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notesSlide" Target="../notesSlides/notesSlide9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notesSlide" Target="../notesSlides/notesSlide9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notesSlide" Target="../notesSlides/notesSlide10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notesSlide" Target="../notesSlides/notesSlide10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notesSlide" Target="../notesSlides/notesSlide110.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1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notesSlide" Target="../notesSlides/notesSlide119.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png"/><Relationship Id="rId4" Type="http://schemas.openxmlformats.org/officeDocument/2006/relationships/notesSlide" Target="../notesSlides/notesSlide12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png"/><Relationship Id="rId4" Type="http://schemas.openxmlformats.org/officeDocument/2006/relationships/notesSlide" Target="../notesSlides/notesSlide12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png"/><Relationship Id="rId4" Type="http://schemas.openxmlformats.org/officeDocument/2006/relationships/notesSlide" Target="../notesSlides/notesSlide13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notesSlide" Target="../notesSlides/notesSlide13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png"/><Relationship Id="rId4" Type="http://schemas.openxmlformats.org/officeDocument/2006/relationships/notesSlide" Target="../notesSlides/notesSlide13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do-insure.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BDOI Business Process Reverse KT</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Our understanding: As-Is, pain points, To-Be in the BRDs, gaps and best practice</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27 September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Why this reverse KT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234440"/>
            <a:ext cx="11094415" cy="457200"/>
          </a:xfrm>
          <a:prstGeom prst="rect">
            <a:avLst/>
          </a:prstGeom>
          <a:noFill/>
        </p:spPr>
        <p:txBody>
          <a:bodyPr wrap="square" anchor="t" lIns="45720" rIns="45720" tIns="18288" bIns="18288">
            <a:spAutoFit/>
          </a:bodyPr>
          <a:lstStyle/>
          <a:p>
            <a:pPr>
              <a:spcAft>
                <a:spcPts val="0"/>
              </a:spcAft>
            </a:pPr>
            <a:r>
              <a:rPr sz="1300" b="0">
                <a:solidFill>
                  <a:srgbClr val="2E2E2E"/>
                </a:solidFill>
                <a:latin typeface="Arial"/>
              </a:rPr>
              <a:t>We walked the floor with 40+ process owners. This deck gives back what we understood, so BDOI can correct it before the FRS sign-offs.</a:t>
            </a:r>
          </a:p>
        </p:txBody>
      </p:sp>
      <p:sp>
        <p:nvSpPr>
          <p:cNvPr id="10" name="Rounded Rectangle 9"/>
          <p:cNvSpPr/>
          <p:nvPr/>
        </p:nvSpPr>
        <p:spPr>
          <a:xfrm>
            <a:off x="548640"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737360"/>
            <a:ext cx="3442106" cy="457200"/>
          </a:xfrm>
          <a:prstGeom prst="rect">
            <a:avLst/>
          </a:prstGeom>
          <a:noFill/>
        </p:spPr>
        <p:txBody>
          <a:bodyPr wrap="square" anchor="ctr" lIns="45720" rIns="45720" tIns="18288" bIns="18288">
            <a:spAutoFit/>
          </a:bodyPr>
          <a:lstStyle/>
          <a:p>
            <a:pPr>
              <a:spcAft>
                <a:spcPts val="0"/>
              </a:spcAft>
            </a:pPr>
            <a:r>
              <a:rPr sz="1500" b="1">
                <a:solidFill>
                  <a:srgbClr val="FFFFFF"/>
                </a:solidFill>
                <a:latin typeface="Arial"/>
              </a:rPr>
              <a:t>What this deck is</a:t>
            </a:r>
          </a:p>
        </p:txBody>
      </p:sp>
      <p:sp>
        <p:nvSpPr>
          <p:cNvPr id="13" name="TextBox 12"/>
          <p:cNvSpPr txBox="1"/>
          <p:nvPr/>
        </p:nvSpPr>
        <p:spPr>
          <a:xfrm>
            <a:off x="621792" y="2267712"/>
            <a:ext cx="3442106" cy="3895344"/>
          </a:xfrm>
          <a:prstGeom prst="rect">
            <a:avLst/>
          </a:prstGeom>
          <a:noFill/>
        </p:spPr>
        <p:txBody>
          <a:bodyPr wrap="square" anchor="t" lIns="45720" rIns="45720" tIns="18288" bIns="18288">
            <a:spAutoFit/>
          </a:bodyPr>
          <a:lstStyle/>
          <a:p>
            <a:pPr>
              <a:spcAft>
                <a:spcPts val="300"/>
              </a:spcAft>
            </a:pPr>
            <a:r>
              <a:rPr sz="1500" b="0">
                <a:solidFill>
                  <a:srgbClr val="004EA8"/>
                </a:solidFill>
                <a:latin typeface="Arial"/>
              </a:rPr>
              <a:t>•  </a:t>
            </a:r>
            <a:r>
              <a:rPr sz="1500" b="0">
                <a:solidFill>
                  <a:srgbClr val="4B4B4B"/>
                </a:solidFill>
                <a:latin typeface="Arial"/>
              </a:rPr>
              <a:t>Our understanding of how BDOI works today, per department and end to end</a:t>
            </a:r>
          </a:p>
          <a:p>
            <a:pPr>
              <a:spcAft>
                <a:spcPts val="300"/>
              </a:spcAft>
            </a:pPr>
            <a:r>
              <a:rPr sz="1500" b="0">
                <a:solidFill>
                  <a:srgbClr val="004EA8"/>
                </a:solidFill>
                <a:latin typeface="Arial"/>
              </a:rPr>
              <a:t>•  </a:t>
            </a:r>
            <a:r>
              <a:rPr sz="1500" b="0">
                <a:solidFill>
                  <a:srgbClr val="4B4B4B"/>
                </a:solidFill>
                <a:latin typeface="Arial"/>
              </a:rPr>
              <a:t>The pain points the business users raised on the floor, in their words</a:t>
            </a:r>
          </a:p>
          <a:p>
            <a:pPr>
              <a:spcAft>
                <a:spcPts val="300"/>
              </a:spcAft>
            </a:pPr>
            <a:r>
              <a:rPr sz="1500" b="0">
                <a:solidFill>
                  <a:srgbClr val="004EA8"/>
                </a:solidFill>
                <a:latin typeface="Arial"/>
              </a:rPr>
              <a:t>•  </a:t>
            </a:r>
            <a:r>
              <a:rPr sz="1500" b="0">
                <a:solidFill>
                  <a:srgbClr val="4B4B4B"/>
                </a:solidFill>
                <a:latin typeface="Arial"/>
              </a:rPr>
              <a:t>What the BRDs ask for (To-Be) and how it answers those pain points</a:t>
            </a:r>
          </a:p>
          <a:p>
            <a:pPr>
              <a:spcAft>
                <a:spcPts val="300"/>
              </a:spcAft>
            </a:pPr>
            <a:r>
              <a:rPr sz="1500" b="0">
                <a:solidFill>
                  <a:srgbClr val="004EA8"/>
                </a:solidFill>
                <a:latin typeface="Arial"/>
              </a:rPr>
              <a:t>•  </a:t>
            </a:r>
            <a:r>
              <a:rPr sz="1500" b="0">
                <a:solidFill>
                  <a:srgbClr val="4B4B4B"/>
                </a:solidFill>
                <a:latin typeface="Arial"/>
              </a:rPr>
              <a:t>What the BRDs miss, and industry practice beyond the BRDs</a:t>
            </a:r>
          </a:p>
        </p:txBody>
      </p:sp>
      <p:sp>
        <p:nvSpPr>
          <p:cNvPr id="14" name="Rounded Rectangle 13"/>
          <p:cNvSpPr/>
          <p:nvPr/>
        </p:nvSpPr>
        <p:spPr>
          <a:xfrm>
            <a:off x="4301642"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737360"/>
            <a:ext cx="3442106" cy="457200"/>
          </a:xfrm>
          <a:prstGeom prst="rect">
            <a:avLst/>
          </a:prstGeom>
          <a:noFill/>
        </p:spPr>
        <p:txBody>
          <a:bodyPr wrap="square" anchor="ctr" lIns="45720" rIns="45720" tIns="18288" bIns="18288">
            <a:spAutoFit/>
          </a:bodyPr>
          <a:lstStyle/>
          <a:p>
            <a:pPr>
              <a:spcAft>
                <a:spcPts val="0"/>
              </a:spcAft>
            </a:pPr>
            <a:r>
              <a:rPr sz="1500" b="1">
                <a:solidFill>
                  <a:srgbClr val="FFFFFF"/>
                </a:solidFill>
                <a:latin typeface="Arial"/>
              </a:rPr>
              <a:t>What we ask of each department</a:t>
            </a:r>
          </a:p>
        </p:txBody>
      </p:sp>
      <p:sp>
        <p:nvSpPr>
          <p:cNvPr id="17" name="TextBox 16"/>
          <p:cNvSpPr txBox="1"/>
          <p:nvPr/>
        </p:nvSpPr>
        <p:spPr>
          <a:xfrm>
            <a:off x="4374794" y="2267712"/>
            <a:ext cx="3442106" cy="3895344"/>
          </a:xfrm>
          <a:prstGeom prst="rect">
            <a:avLst/>
          </a:prstGeom>
          <a:noFill/>
        </p:spPr>
        <p:txBody>
          <a:bodyPr wrap="square" anchor="t" lIns="45720" rIns="45720" tIns="18288" bIns="18288">
            <a:spAutoFit/>
          </a:bodyPr>
          <a:lstStyle/>
          <a:p>
            <a:pPr>
              <a:spcAft>
                <a:spcPts val="300"/>
              </a:spcAft>
            </a:pPr>
            <a:r>
              <a:rPr sz="1500" b="0">
                <a:solidFill>
                  <a:srgbClr val="004EA8"/>
                </a:solidFill>
                <a:latin typeface="Arial"/>
              </a:rPr>
              <a:t>•  </a:t>
            </a:r>
            <a:r>
              <a:rPr sz="1500" b="0">
                <a:solidFill>
                  <a:srgbClr val="4B4B4B"/>
                </a:solidFill>
                <a:latin typeface="Arial"/>
              </a:rPr>
              <a:t>Confirm or correct the As-Is swimlanes and the pain points</a:t>
            </a:r>
          </a:p>
          <a:p>
            <a:pPr>
              <a:spcAft>
                <a:spcPts val="300"/>
              </a:spcAft>
            </a:pPr>
            <a:r>
              <a:rPr sz="1500" b="0">
                <a:solidFill>
                  <a:srgbClr val="004EA8"/>
                </a:solidFill>
                <a:latin typeface="Arial"/>
              </a:rPr>
              <a:t>•  </a:t>
            </a:r>
            <a:r>
              <a:rPr sz="1500" b="0">
                <a:solidFill>
                  <a:srgbClr val="4B4B4B"/>
                </a:solidFill>
                <a:latin typeface="Arial"/>
              </a:rPr>
              <a:t>Confirm the rules and values we heard (days, rates, tolerances, volumes)</a:t>
            </a:r>
          </a:p>
          <a:p>
            <a:pPr>
              <a:spcAft>
                <a:spcPts val="300"/>
              </a:spcAft>
            </a:pPr>
            <a:r>
              <a:rPr sz="1500" b="0">
                <a:solidFill>
                  <a:srgbClr val="004EA8"/>
                </a:solidFill>
                <a:latin typeface="Arial"/>
              </a:rPr>
              <a:t>•  </a:t>
            </a:r>
            <a:r>
              <a:rPr sz="1500" b="0">
                <a:solidFill>
                  <a:srgbClr val="4B4B4B"/>
                </a:solidFill>
                <a:latin typeface="Arial"/>
              </a:rPr>
              <a:t>Decide the open points and the items marked "BDOI to confirm"</a:t>
            </a:r>
          </a:p>
          <a:p>
            <a:pPr>
              <a:spcAft>
                <a:spcPts val="300"/>
              </a:spcAft>
            </a:pPr>
            <a:r>
              <a:rPr sz="1500" b="0">
                <a:solidFill>
                  <a:srgbClr val="004EA8"/>
                </a:solidFill>
                <a:latin typeface="Arial"/>
              </a:rPr>
              <a:t>•  </a:t>
            </a:r>
            <a:r>
              <a:rPr sz="1500" b="0">
                <a:solidFill>
                  <a:srgbClr val="4B4B4B"/>
                </a:solidFill>
                <a:latin typeface="Arial"/>
              </a:rPr>
              <a:t>Say which best practices BDOI wants on the roadmap</a:t>
            </a:r>
          </a:p>
        </p:txBody>
      </p:sp>
      <p:sp>
        <p:nvSpPr>
          <p:cNvPr id="18" name="Rounded Rectangle 17"/>
          <p:cNvSpPr/>
          <p:nvPr/>
        </p:nvSpPr>
        <p:spPr>
          <a:xfrm>
            <a:off x="8054644"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4644"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7796" y="1737360"/>
            <a:ext cx="3442106" cy="457200"/>
          </a:xfrm>
          <a:prstGeom prst="rect">
            <a:avLst/>
          </a:prstGeom>
          <a:noFill/>
        </p:spPr>
        <p:txBody>
          <a:bodyPr wrap="square" anchor="ctr" lIns="45720" rIns="45720" tIns="18288" bIns="18288">
            <a:spAutoFit/>
          </a:bodyPr>
          <a:lstStyle/>
          <a:p>
            <a:pPr>
              <a:spcAft>
                <a:spcPts val="0"/>
              </a:spcAft>
            </a:pPr>
            <a:r>
              <a:rPr sz="1500" b="1">
                <a:solidFill>
                  <a:srgbClr val="FFFFFF"/>
                </a:solidFill>
                <a:latin typeface="Arial"/>
              </a:rPr>
              <a:t>What this deck is not</a:t>
            </a:r>
          </a:p>
        </p:txBody>
      </p:sp>
      <p:sp>
        <p:nvSpPr>
          <p:cNvPr id="21" name="TextBox 20"/>
          <p:cNvSpPr txBox="1"/>
          <p:nvPr/>
        </p:nvSpPr>
        <p:spPr>
          <a:xfrm>
            <a:off x="8127796" y="2267712"/>
            <a:ext cx="3442106" cy="3895344"/>
          </a:xfrm>
          <a:prstGeom prst="rect">
            <a:avLst/>
          </a:prstGeom>
          <a:noFill/>
        </p:spPr>
        <p:txBody>
          <a:bodyPr wrap="square" anchor="t" lIns="45720" rIns="45720" tIns="18288" bIns="18288">
            <a:spAutoFit/>
          </a:bodyPr>
          <a:lstStyle/>
          <a:p>
            <a:pPr>
              <a:spcAft>
                <a:spcPts val="300"/>
              </a:spcAft>
            </a:pPr>
            <a:r>
              <a:rPr sz="1500" b="0">
                <a:solidFill>
                  <a:srgbClr val="004EA8"/>
                </a:solidFill>
                <a:latin typeface="Arial"/>
              </a:rPr>
              <a:t>•  </a:t>
            </a:r>
            <a:r>
              <a:rPr sz="1500" b="0">
                <a:solidFill>
                  <a:srgbClr val="4B4B4B"/>
                </a:solidFill>
                <a:latin typeface="Arial"/>
              </a:rPr>
              <a:t>Not a build status or test report</a:t>
            </a:r>
          </a:p>
          <a:p>
            <a:pPr>
              <a:spcAft>
                <a:spcPts val="300"/>
              </a:spcAft>
            </a:pPr>
            <a:r>
              <a:rPr sz="1500" b="0">
                <a:solidFill>
                  <a:srgbClr val="004EA8"/>
                </a:solidFill>
                <a:latin typeface="Arial"/>
              </a:rPr>
              <a:t>•  </a:t>
            </a:r>
            <a:r>
              <a:rPr sz="1500" b="0">
                <a:solidFill>
                  <a:srgbClr val="4B4B4B"/>
                </a:solidFill>
                <a:latin typeface="Arial"/>
              </a:rPr>
              <a:t>Not a change to the signed BRDs: gaps become register items or change requests through the normal governance</a:t>
            </a:r>
          </a:p>
          <a:p>
            <a:pPr>
              <a:spcAft>
                <a:spcPts val="300"/>
              </a:spcAft>
            </a:pPr>
            <a:r>
              <a:rPr sz="1500" b="0">
                <a:solidFill>
                  <a:srgbClr val="004EA8"/>
                </a:solidFill>
                <a:latin typeface="Arial"/>
              </a:rPr>
              <a:t>•  </a:t>
            </a:r>
            <a:r>
              <a:rPr sz="1500" b="0">
                <a:solidFill>
                  <a:srgbClr val="4B4B4B"/>
                </a:solidFill>
                <a:latin typeface="Arial"/>
              </a:rPr>
              <a:t>Not a design: the FRS per BRD remains the reference for screens and rules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What we learned, in six messages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ounded Rectangle 8"/>
          <p:cNvSpPr/>
          <p:nvPr/>
        </p:nvSpPr>
        <p:spPr>
          <a:xfrm>
            <a:off x="548640"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1. One deal, five tools, three references</a:t>
            </a:r>
          </a:p>
        </p:txBody>
      </p:sp>
      <p:sp>
        <p:nvSpPr>
          <p:cNvPr id="12" name="TextBox 11"/>
          <p:cNvSpPr txBox="1"/>
          <p:nvPr/>
        </p:nvSpPr>
        <p:spPr>
          <a:xfrm>
            <a:off x="621792"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Excel templates, Broker, ISYS, QPS and EBIX for one policy (NB flow)</a:t>
            </a:r>
          </a:p>
          <a:p>
            <a:pPr>
              <a:spcAft>
                <a:spcPts val="300"/>
              </a:spcAft>
            </a:pPr>
            <a:r>
              <a:rPr sz="1400" b="0">
                <a:solidFill>
                  <a:srgbClr val="004EA8"/>
                </a:solidFill>
                <a:latin typeface="Arial"/>
              </a:rPr>
              <a:t>•  </a:t>
            </a:r>
            <a:r>
              <a:rPr sz="1400" b="0">
                <a:solidFill>
                  <a:srgbClr val="4B4B4B"/>
                </a:solidFill>
                <a:latin typeface="Arial"/>
              </a:rPr>
              <a:t>ISYS, QPS and EBIX numbers on the same transaction (OV-03)</a:t>
            </a:r>
          </a:p>
          <a:p>
            <a:pPr>
              <a:spcAft>
                <a:spcPts val="300"/>
              </a:spcAft>
            </a:pPr>
            <a:r>
              <a:rPr sz="1400" b="0">
                <a:solidFill>
                  <a:srgbClr val="004EA8"/>
                </a:solidFill>
                <a:latin typeface="Arial"/>
              </a:rPr>
              <a:t>•  </a:t>
            </a:r>
            <a:r>
              <a:rPr sz="1400" b="0">
                <a:solidFill>
                  <a:srgbClr val="4B4B4B"/>
                </a:solidFill>
                <a:latin typeface="Arial"/>
              </a:rPr>
              <a:t>The BRDs answer it: one client, one ARN, one invoice ledger</a:t>
            </a:r>
          </a:p>
        </p:txBody>
      </p:sp>
      <p:sp>
        <p:nvSpPr>
          <p:cNvPr id="13" name="Rounded Rectangle 12"/>
          <p:cNvSpPr/>
          <p:nvPr/>
        </p:nvSpPr>
        <p:spPr>
          <a:xfrm>
            <a:off x="4301642"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1642"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4794"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2. E-mail and Excel carry the work</a:t>
            </a:r>
          </a:p>
        </p:txBody>
      </p:sp>
      <p:sp>
        <p:nvSpPr>
          <p:cNvPr id="16" name="TextBox 15"/>
          <p:cNvSpPr txBox="1"/>
          <p:nvPr/>
        </p:nvSpPr>
        <p:spPr>
          <a:xfrm>
            <a:off x="4374794"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16 department hand-offs by e-mail, file, Teams or paper</a:t>
            </a:r>
          </a:p>
          <a:p>
            <a:pPr>
              <a:spcAft>
                <a:spcPts val="300"/>
              </a:spcAft>
            </a:pPr>
            <a:r>
              <a:rPr sz="1400" b="0">
                <a:solidFill>
                  <a:srgbClr val="004EA8"/>
                </a:solidFill>
                <a:latin typeface="Arial"/>
              </a:rPr>
              <a:t>•  </a:t>
            </a:r>
            <a:r>
              <a:rPr sz="1400" b="0">
                <a:solidFill>
                  <a:srgbClr val="4B4B4B"/>
                </a:solidFill>
                <a:latin typeface="Arial"/>
              </a:rPr>
              <a:t>Dispositions, recon, DP lists, trackers in Excel</a:t>
            </a:r>
          </a:p>
          <a:p>
            <a:pPr>
              <a:spcAft>
                <a:spcPts val="300"/>
              </a:spcAft>
            </a:pPr>
            <a:r>
              <a:rPr sz="1400" b="0">
                <a:solidFill>
                  <a:srgbClr val="004EA8"/>
                </a:solidFill>
                <a:latin typeface="Arial"/>
              </a:rPr>
              <a:t>•  </a:t>
            </a:r>
            <a:r>
              <a:rPr sz="1400" b="0">
                <a:solidFill>
                  <a:srgbClr val="4B4B4B"/>
                </a:solidFill>
                <a:latin typeface="Arial"/>
              </a:rPr>
              <a:t>Most move into workflows in the BRDs</a:t>
            </a:r>
          </a:p>
        </p:txBody>
      </p:sp>
      <p:sp>
        <p:nvSpPr>
          <p:cNvPr id="17" name="Rounded Rectangle 16"/>
          <p:cNvSpPr/>
          <p:nvPr/>
        </p:nvSpPr>
        <p:spPr>
          <a:xfrm>
            <a:off x="8054644"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4644"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7796"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3. Controls rely on people</a:t>
            </a:r>
          </a:p>
        </p:txBody>
      </p:sp>
      <p:sp>
        <p:nvSpPr>
          <p:cNvPr id="20" name="TextBox 19"/>
          <p:cNvSpPr txBox="1"/>
          <p:nvPr/>
        </p:nvSpPr>
        <p:spPr>
          <a:xfrm>
            <a:off x="8127796"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Wet signatures at 3-6 levels; checker-poster one by one</a:t>
            </a:r>
          </a:p>
          <a:p>
            <a:pPr>
              <a:spcAft>
                <a:spcPts val="300"/>
              </a:spcAft>
            </a:pPr>
            <a:r>
              <a:rPr sz="1400" b="0">
                <a:solidFill>
                  <a:srgbClr val="004EA8"/>
                </a:solidFill>
                <a:latin typeface="Arial"/>
              </a:rPr>
              <a:t>•  </a:t>
            </a:r>
            <a:r>
              <a:rPr sz="1400" b="0">
                <a:solidFill>
                  <a:srgbClr val="4B4B4B"/>
                </a:solidFill>
                <a:latin typeface="Arial"/>
              </a:rPr>
              <a:t>Intake checks and reversals by hand</a:t>
            </a:r>
          </a:p>
          <a:p>
            <a:pPr>
              <a:spcAft>
                <a:spcPts val="300"/>
              </a:spcAft>
            </a:pPr>
            <a:r>
              <a:rPr sz="1400" b="0">
                <a:solidFill>
                  <a:srgbClr val="004EA8"/>
                </a:solidFill>
                <a:latin typeface="Arial"/>
              </a:rPr>
              <a:t>•  </a:t>
            </a:r>
            <a:r>
              <a:rPr sz="1400" b="0">
                <a:solidFill>
                  <a:srgbClr val="4B4B4B"/>
                </a:solidFill>
                <a:latin typeface="Arial"/>
              </a:rPr>
              <a:t>The BRDs add maker-checker; a DOA matrix is still to agree</a:t>
            </a:r>
          </a:p>
        </p:txBody>
      </p:sp>
      <p:sp>
        <p:nvSpPr>
          <p:cNvPr id="21" name="Rounded Rectangle 20"/>
          <p:cNvSpPr/>
          <p:nvPr/>
        </p:nvSpPr>
        <p:spPr>
          <a:xfrm>
            <a:off x="548640"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4. IT is in the business path</a:t>
            </a:r>
          </a:p>
        </p:txBody>
      </p:sp>
      <p:sp>
        <p:nvSpPr>
          <p:cNvPr id="24" name="TextBox 23"/>
          <p:cNvSpPr txBox="1"/>
          <p:nvPr/>
        </p:nvSpPr>
        <p:spPr>
          <a:xfrm>
            <a:off x="621792"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Extracts (RMEL, recon), migrations, batches, reports and the close</a:t>
            </a:r>
          </a:p>
          <a:p>
            <a:pPr>
              <a:spcAft>
                <a:spcPts val="300"/>
              </a:spcAft>
            </a:pPr>
            <a:r>
              <a:rPr sz="1400" b="0">
                <a:solidFill>
                  <a:srgbClr val="004EA8"/>
                </a:solidFill>
                <a:latin typeface="Arial"/>
              </a:rPr>
              <a:t>•  </a:t>
            </a:r>
            <a:r>
              <a:rPr sz="1400" b="0">
                <a:solidFill>
                  <a:srgbClr val="4B4B4B"/>
                </a:solidFill>
                <a:latin typeface="Arial"/>
              </a:rPr>
              <a:t>WinSCP and text files between systems</a:t>
            </a:r>
          </a:p>
          <a:p>
            <a:pPr>
              <a:spcAft>
                <a:spcPts val="300"/>
              </a:spcAft>
            </a:pPr>
            <a:r>
              <a:rPr sz="1400" b="0">
                <a:solidFill>
                  <a:srgbClr val="004EA8"/>
                </a:solidFill>
                <a:latin typeface="Arial"/>
              </a:rPr>
              <a:t>•  </a:t>
            </a:r>
            <a:r>
              <a:rPr sz="1400" b="0">
                <a:solidFill>
                  <a:srgbClr val="4B4B4B"/>
                </a:solidFill>
                <a:latin typeface="Arial"/>
              </a:rPr>
              <a:t>The BRDs give users self-service and scheduled jobs</a:t>
            </a:r>
          </a:p>
        </p:txBody>
      </p:sp>
      <p:sp>
        <p:nvSpPr>
          <p:cNvPr id="25" name="Rounded Rectangle 24"/>
          <p:cNvSpPr/>
          <p:nvPr/>
        </p:nvSpPr>
        <p:spPr>
          <a:xfrm>
            <a:off x="4301642"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01642"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4794"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5. What the BRDs miss</a:t>
            </a:r>
          </a:p>
        </p:txBody>
      </p:sp>
      <p:sp>
        <p:nvSpPr>
          <p:cNvPr id="28" name="TextBox 27"/>
          <p:cNvSpPr txBox="1"/>
          <p:nvPr/>
        </p:nvSpPr>
        <p:spPr>
          <a:xfrm>
            <a:off x="4374794"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Direct-pay payments without entries; credit policy</a:t>
            </a:r>
          </a:p>
          <a:p>
            <a:pPr>
              <a:spcAft>
                <a:spcPts val="300"/>
              </a:spcAft>
            </a:pPr>
            <a:r>
              <a:rPr sz="1400" b="0">
                <a:solidFill>
                  <a:srgbClr val="004EA8"/>
                </a:solidFill>
                <a:latin typeface="Arial"/>
              </a:rPr>
              <a:t>•  </a:t>
            </a:r>
            <a:r>
              <a:rPr sz="1400" b="0">
                <a:solidFill>
                  <a:srgbClr val="4B4B4B"/>
                </a:solidFill>
                <a:latin typeface="Arial"/>
              </a:rPr>
              <a:t>Case management; government remittances</a:t>
            </a:r>
          </a:p>
          <a:p>
            <a:pPr>
              <a:spcAft>
                <a:spcPts val="300"/>
              </a:spcAft>
            </a:pPr>
            <a:r>
              <a:rPr sz="1400" b="0">
                <a:solidFill>
                  <a:srgbClr val="004EA8"/>
                </a:solidFill>
                <a:latin typeface="Arial"/>
              </a:rPr>
              <a:t>•  </a:t>
            </a:r>
            <a:r>
              <a:rPr sz="1400" b="0">
                <a:solidFill>
                  <a:srgbClr val="4B4B4B"/>
                </a:solidFill>
                <a:latin typeface="Arial"/>
              </a:rPr>
              <a:t>Quote validity, risk survey, e-policy fall-outs, Marine open covers</a:t>
            </a:r>
          </a:p>
        </p:txBody>
      </p:sp>
      <p:sp>
        <p:nvSpPr>
          <p:cNvPr id="29" name="Rounded Rectangle 28"/>
          <p:cNvSpPr/>
          <p:nvPr/>
        </p:nvSpPr>
        <p:spPr>
          <a:xfrm>
            <a:off x="8054644"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54644"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7796"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6. Beyond the BRDs</a:t>
            </a:r>
          </a:p>
        </p:txBody>
      </p:sp>
      <p:sp>
        <p:nvSpPr>
          <p:cNvPr id="32" name="TextBox 31"/>
          <p:cNvSpPr txBox="1"/>
          <p:nvPr/>
        </p:nvSpPr>
        <p:spPr>
          <a:xfrm>
            <a:off x="8127796"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One insurer interface standard for ~55 insurers</a:t>
            </a:r>
          </a:p>
          <a:p>
            <a:pPr>
              <a:spcAft>
                <a:spcPts val="300"/>
              </a:spcAft>
            </a:pPr>
            <a:r>
              <a:rPr sz="1400" b="0">
                <a:solidFill>
                  <a:srgbClr val="004EA8"/>
                </a:solidFill>
                <a:latin typeface="Arial"/>
              </a:rPr>
              <a:t>•  </a:t>
            </a:r>
            <a:r>
              <a:rPr sz="1400" b="0">
                <a:solidFill>
                  <a:srgbClr val="4B4B4B"/>
                </a:solidFill>
                <a:latin typeface="Arial"/>
              </a:rPr>
              <a:t>Automated cash application and payment references</a:t>
            </a:r>
          </a:p>
          <a:p>
            <a:pPr>
              <a:spcAft>
                <a:spcPts val="300"/>
              </a:spcAft>
            </a:pPr>
            <a:r>
              <a:rPr sz="1400" b="0">
                <a:solidFill>
                  <a:srgbClr val="004EA8"/>
                </a:solidFill>
                <a:latin typeface="Arial"/>
              </a:rPr>
              <a:t>•  </a:t>
            </a:r>
            <a:r>
              <a:rPr sz="1400" b="0">
                <a:solidFill>
                  <a:srgbClr val="4B4B4B"/>
                </a:solidFill>
                <a:latin typeface="Arial"/>
              </a:rPr>
              <a:t>Host-to-host banking, portals, analytics: the H2-H3 roadmap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we built our understanding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353312"/>
            <a:ext cx="2362123" cy="685800"/>
          </a:xfrm>
          <a:prstGeom prst="rect">
            <a:avLst/>
          </a:prstGeom>
          <a:noFill/>
        </p:spPr>
        <p:txBody>
          <a:bodyPr wrap="square" anchor="t" lIns="45720" rIns="45720">
            <a:spAutoFit/>
          </a:bodyPr>
          <a:lstStyle/>
          <a:p>
            <a:r>
              <a:rPr sz="3000" b="1" i="0">
                <a:solidFill>
                  <a:srgbClr val="004EA8"/>
                </a:solidFill>
                <a:latin typeface="Arial"/>
              </a:rPr>
              <a:t>21-25 Sep</a:t>
            </a:r>
          </a:p>
        </p:txBody>
      </p:sp>
      <p:sp>
        <p:nvSpPr>
          <p:cNvPr id="11" name="TextBox 10"/>
          <p:cNvSpPr txBox="1"/>
          <p:nvPr/>
        </p:nvSpPr>
        <p:spPr>
          <a:xfrm>
            <a:off x="685800"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Day 1 business overview, floor walks and discovery sessions</a:t>
            </a:r>
          </a:p>
        </p:txBody>
      </p:sp>
      <p:sp>
        <p:nvSpPr>
          <p:cNvPr id="12" name="TextBox 11"/>
          <p:cNvSpPr txBox="1"/>
          <p:nvPr/>
        </p:nvSpPr>
        <p:spPr>
          <a:xfrm>
            <a:off x="685800"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BDOI Day 1 deck; floor-walk schedule</a:t>
            </a:r>
          </a:p>
        </p:txBody>
      </p:sp>
      <p:sp>
        <p:nvSpPr>
          <p:cNvPr id="13" name="Rounded Rectangle 12"/>
          <p:cNvSpPr/>
          <p:nvPr/>
        </p:nvSpPr>
        <p:spPr>
          <a:xfrm>
            <a:off x="3367963"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123" y="1353312"/>
            <a:ext cx="2362123" cy="685800"/>
          </a:xfrm>
          <a:prstGeom prst="rect">
            <a:avLst/>
          </a:prstGeom>
          <a:noFill/>
        </p:spPr>
        <p:txBody>
          <a:bodyPr wrap="square" anchor="t" lIns="45720" rIns="45720">
            <a:spAutoFit/>
          </a:bodyPr>
          <a:lstStyle/>
          <a:p>
            <a:r>
              <a:rPr sz="3000" b="1" i="0">
                <a:solidFill>
                  <a:srgbClr val="004EA8"/>
                </a:solidFill>
                <a:latin typeface="Arial"/>
              </a:rPr>
              <a:t>12</a:t>
            </a:r>
          </a:p>
        </p:txBody>
      </p:sp>
      <p:sp>
        <p:nvSpPr>
          <p:cNvPr id="15" name="TextBox 14"/>
          <p:cNvSpPr txBox="1"/>
          <p:nvPr/>
        </p:nvSpPr>
        <p:spPr>
          <a:xfrm>
            <a:off x="3505123"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floor-walk sessions with designated process owners (22-23 Sep)</a:t>
            </a:r>
          </a:p>
        </p:txBody>
      </p:sp>
      <p:sp>
        <p:nvSpPr>
          <p:cNvPr id="16" name="TextBox 15"/>
          <p:cNvSpPr txBox="1"/>
          <p:nvPr/>
        </p:nvSpPr>
        <p:spPr>
          <a:xfrm>
            <a:off x="3505123"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Iorta floor-walk POC schedule</a:t>
            </a:r>
          </a:p>
        </p:txBody>
      </p:sp>
      <p:sp>
        <p:nvSpPr>
          <p:cNvPr id="17" name="Rounded Rectangle 16"/>
          <p:cNvSpPr/>
          <p:nvPr/>
        </p:nvSpPr>
        <p:spPr>
          <a:xfrm>
            <a:off x="6187287"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447" y="1353312"/>
            <a:ext cx="2362123" cy="685800"/>
          </a:xfrm>
          <a:prstGeom prst="rect">
            <a:avLst/>
          </a:prstGeom>
          <a:noFill/>
        </p:spPr>
        <p:txBody>
          <a:bodyPr wrap="square" anchor="t" lIns="45720" rIns="45720">
            <a:spAutoFit/>
          </a:bodyPr>
          <a:lstStyle/>
          <a:p>
            <a:r>
              <a:rPr sz="3000" b="1" i="0">
                <a:solidFill>
                  <a:srgbClr val="004EA8"/>
                </a:solidFill>
                <a:latin typeface="Arial"/>
              </a:rPr>
              <a:t>66</a:t>
            </a:r>
          </a:p>
        </p:txBody>
      </p:sp>
      <p:sp>
        <p:nvSpPr>
          <p:cNvPr id="19" name="TextBox 18"/>
          <p:cNvSpPr txBox="1"/>
          <p:nvPr/>
        </p:nvSpPr>
        <p:spPr>
          <a:xfrm>
            <a:off x="6324447"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floor-walk notes: As-Is, To-Be, pain points</a:t>
            </a:r>
          </a:p>
        </p:txBody>
      </p:sp>
      <p:sp>
        <p:nvSpPr>
          <p:cNvPr id="20" name="TextBox 19"/>
          <p:cNvSpPr txBox="1"/>
          <p:nvPr/>
        </p:nvSpPr>
        <p:spPr>
          <a:xfrm>
            <a:off x="6324447"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Floor-walk notes workbook</a:t>
            </a:r>
          </a:p>
        </p:txBody>
      </p:sp>
      <p:sp>
        <p:nvSpPr>
          <p:cNvPr id="21" name="Rounded Rectangle 20"/>
          <p:cNvSpPr/>
          <p:nvPr/>
        </p:nvSpPr>
        <p:spPr>
          <a:xfrm>
            <a:off x="9006611"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3771" y="1353312"/>
            <a:ext cx="2362123" cy="685800"/>
          </a:xfrm>
          <a:prstGeom prst="rect">
            <a:avLst/>
          </a:prstGeom>
          <a:noFill/>
        </p:spPr>
        <p:txBody>
          <a:bodyPr wrap="square" anchor="t" lIns="45720" rIns="45720">
            <a:spAutoFit/>
          </a:bodyPr>
          <a:lstStyle/>
          <a:p>
            <a:r>
              <a:rPr sz="3000" b="1" i="0">
                <a:solidFill>
                  <a:srgbClr val="004EA8"/>
                </a:solidFill>
                <a:latin typeface="Arial"/>
              </a:rPr>
              <a:t>17</a:t>
            </a:r>
          </a:p>
        </p:txBody>
      </p:sp>
      <p:sp>
        <p:nvSpPr>
          <p:cNvPr id="23" name="TextBox 22"/>
          <p:cNvSpPr txBox="1"/>
          <p:nvPr/>
        </p:nvSpPr>
        <p:spPr>
          <a:xfrm>
            <a:off x="9143771"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open points raised on the floor</a:t>
            </a:r>
          </a:p>
        </p:txBody>
      </p:sp>
      <p:sp>
        <p:nvSpPr>
          <p:cNvPr id="24" name="TextBox 23"/>
          <p:cNvSpPr txBox="1"/>
          <p:nvPr/>
        </p:nvSpPr>
        <p:spPr>
          <a:xfrm>
            <a:off x="9143771"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Floor-walk notes, Open Points</a:t>
            </a:r>
          </a:p>
        </p:txBody>
      </p:sp>
      <p:sp>
        <p:nvSpPr>
          <p:cNvPr id="25" name="Rounded Rectangle 24"/>
          <p:cNvSpPr/>
          <p:nvPr/>
        </p:nvSpPr>
        <p:spPr>
          <a:xfrm>
            <a:off x="548640"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721608"/>
            <a:ext cx="2362123" cy="685800"/>
          </a:xfrm>
          <a:prstGeom prst="rect">
            <a:avLst/>
          </a:prstGeom>
          <a:noFill/>
        </p:spPr>
        <p:txBody>
          <a:bodyPr wrap="square" anchor="t" lIns="45720" rIns="45720">
            <a:spAutoFit/>
          </a:bodyPr>
          <a:lstStyle/>
          <a:p>
            <a:r>
              <a:rPr sz="3000" b="1" i="0">
                <a:solidFill>
                  <a:srgbClr val="004EA8"/>
                </a:solidFill>
                <a:latin typeface="Arial"/>
              </a:rPr>
              <a:t>16</a:t>
            </a:r>
          </a:p>
        </p:txBody>
      </p:sp>
      <p:sp>
        <p:nvSpPr>
          <p:cNvPr id="27" name="TextBox 26"/>
          <p:cNvSpPr txBox="1"/>
          <p:nvPr/>
        </p:nvSpPr>
        <p:spPr>
          <a:xfrm>
            <a:off x="685800"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high-level process flows confirmed by BDOI process owners</a:t>
            </a:r>
          </a:p>
        </p:txBody>
      </p:sp>
      <p:sp>
        <p:nvSpPr>
          <p:cNvPr id="28" name="TextBox 27"/>
          <p:cNvSpPr txBox="1"/>
          <p:nvPr/>
        </p:nvSpPr>
        <p:spPr>
          <a:xfrm>
            <a:off x="685800"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HL Process Overview pack</a:t>
            </a:r>
          </a:p>
        </p:txBody>
      </p:sp>
      <p:sp>
        <p:nvSpPr>
          <p:cNvPr id="29" name="Rounded Rectangle 28"/>
          <p:cNvSpPr/>
          <p:nvPr/>
        </p:nvSpPr>
        <p:spPr>
          <a:xfrm>
            <a:off x="3367963"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05123" y="3721608"/>
            <a:ext cx="2362123" cy="685800"/>
          </a:xfrm>
          <a:prstGeom prst="rect">
            <a:avLst/>
          </a:prstGeom>
          <a:noFill/>
        </p:spPr>
        <p:txBody>
          <a:bodyPr wrap="square" anchor="t" lIns="45720" rIns="45720">
            <a:spAutoFit/>
          </a:bodyPr>
          <a:lstStyle/>
          <a:p>
            <a:r>
              <a:rPr sz="3000" b="1" i="0">
                <a:solidFill>
                  <a:srgbClr val="004EA8"/>
                </a:solidFill>
                <a:latin typeface="Arial"/>
              </a:rPr>
              <a:t>13 + 1</a:t>
            </a:r>
          </a:p>
        </p:txBody>
      </p:sp>
      <p:sp>
        <p:nvSpPr>
          <p:cNvPr id="31" name="TextBox 30"/>
          <p:cNvSpPr txBox="1"/>
          <p:nvPr/>
        </p:nvSpPr>
        <p:spPr>
          <a:xfrm>
            <a:off x="3505123"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BRDs in scope plus the Reinsurance BRD (phase 2)</a:t>
            </a:r>
          </a:p>
        </p:txBody>
      </p:sp>
      <p:sp>
        <p:nvSpPr>
          <p:cNvPr id="32" name="TextBox 31"/>
          <p:cNvSpPr txBox="1"/>
          <p:nvPr/>
        </p:nvSpPr>
        <p:spPr>
          <a:xfrm>
            <a:off x="3505123"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BRD pack; answer A3</a:t>
            </a:r>
          </a:p>
        </p:txBody>
      </p:sp>
      <p:sp>
        <p:nvSpPr>
          <p:cNvPr id="33" name="Rounded Rectangle 32"/>
          <p:cNvSpPr/>
          <p:nvPr/>
        </p:nvSpPr>
        <p:spPr>
          <a:xfrm>
            <a:off x="6187287"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24447" y="3721608"/>
            <a:ext cx="2362123" cy="685800"/>
          </a:xfrm>
          <a:prstGeom prst="rect">
            <a:avLst/>
          </a:prstGeom>
          <a:noFill/>
        </p:spPr>
        <p:txBody>
          <a:bodyPr wrap="square" anchor="t" lIns="45720" rIns="45720">
            <a:spAutoFit/>
          </a:bodyPr>
          <a:lstStyle/>
          <a:p>
            <a:r>
              <a:rPr sz="3000" b="1" i="0">
                <a:solidFill>
                  <a:srgbClr val="004EA8"/>
                </a:solidFill>
                <a:latin typeface="Arial"/>
              </a:rPr>
              <a:t>239</a:t>
            </a:r>
          </a:p>
        </p:txBody>
      </p:sp>
      <p:sp>
        <p:nvSpPr>
          <p:cNvPr id="35" name="TextBox 34"/>
          <p:cNvSpPr txBox="1"/>
          <p:nvPr/>
        </p:nvSpPr>
        <p:spPr>
          <a:xfrm>
            <a:off x="6324447"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register items on the BRDs; 64 High</a:t>
            </a:r>
          </a:p>
        </p:txBody>
      </p:sp>
      <p:sp>
        <p:nvSpPr>
          <p:cNvPr id="36" name="TextBox 35"/>
          <p:cNvSpPr txBox="1"/>
          <p:nvPr/>
        </p:nvSpPr>
        <p:spPr>
          <a:xfrm>
            <a:off x="6324447"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Discrepancy register</a:t>
            </a:r>
          </a:p>
        </p:txBody>
      </p:sp>
      <p:sp>
        <p:nvSpPr>
          <p:cNvPr id="37" name="Rounded Rectangle 36"/>
          <p:cNvSpPr/>
          <p:nvPr/>
        </p:nvSpPr>
        <p:spPr>
          <a:xfrm>
            <a:off x="9006611"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3771" y="3721608"/>
            <a:ext cx="2362123" cy="685800"/>
          </a:xfrm>
          <a:prstGeom prst="rect">
            <a:avLst/>
          </a:prstGeom>
          <a:noFill/>
        </p:spPr>
        <p:txBody>
          <a:bodyPr wrap="square" anchor="t" lIns="45720" rIns="45720">
            <a:spAutoFit/>
          </a:bodyPr>
          <a:lstStyle/>
          <a:p>
            <a:r>
              <a:rPr sz="3000" b="1" i="0">
                <a:solidFill>
                  <a:srgbClr val="004EA8"/>
                </a:solidFill>
                <a:latin typeface="Arial"/>
              </a:rPr>
              <a:t>59</a:t>
            </a:r>
          </a:p>
        </p:txBody>
      </p:sp>
      <p:sp>
        <p:nvSpPr>
          <p:cNvPr id="39" name="TextBox 38"/>
          <p:cNvSpPr txBox="1"/>
          <p:nvPr/>
        </p:nvSpPr>
        <p:spPr>
          <a:xfrm>
            <a:off x="9143771"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change champions (21) and additional POCs / SMEs (38)</a:t>
            </a:r>
          </a:p>
        </p:txBody>
      </p:sp>
      <p:sp>
        <p:nvSpPr>
          <p:cNvPr id="40" name="TextBox 39"/>
          <p:cNvSpPr txBox="1"/>
          <p:nvPr/>
        </p:nvSpPr>
        <p:spPr>
          <a:xfrm>
            <a:off x="9143771"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Day 1 p.5</a:t>
            </a:r>
          </a:p>
        </p:txBody>
      </p:sp>
      <p:sp>
        <p:nvSpPr>
          <p:cNvPr id="41" name="TextBox 40"/>
          <p:cNvSpPr txBox="1"/>
          <p:nvPr/>
        </p:nvSpPr>
        <p:spPr>
          <a:xfrm>
            <a:off x="548640" y="5879592"/>
            <a:ext cx="11094415" cy="365760"/>
          </a:xfrm>
          <a:prstGeom prst="rect">
            <a:avLst/>
          </a:prstGeom>
          <a:noFill/>
        </p:spPr>
        <p:txBody>
          <a:bodyPr wrap="square" anchor="t" lIns="45720" rIns="45720" tIns="18288" bIns="18288">
            <a:spAutoFit/>
          </a:bodyPr>
          <a:lstStyle/>
          <a:p>
            <a:pPr>
              <a:spcAft>
                <a:spcPts val="0"/>
              </a:spcAft>
            </a:pPr>
            <a:r>
              <a:rPr sz="1100" b="0">
                <a:solidFill>
                  <a:srgbClr val="656565"/>
                </a:solidFill>
                <a:latin typeface="Arial"/>
              </a:rPr>
              <a:t>Floor-walk notes: 66 rows, 17 open points. Process flows: New Business, Renewal, Submitted Policies, EB, TSU, Reinsurance, Operations, Collections, Disbursement, Refund, FRBS, ACSL, Claims, CSF, Case Management, end to 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Floor-walk coverage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280160"/>
          <a:ext cx="11094413" cy="4919470"/>
        </p:xfrm>
        <a:graphic>
          <a:graphicData uri="http://schemas.openxmlformats.org/drawingml/2006/table">
            <a:tbl>
              <a:tblPr firstRow="1" bandRow="1">
                <a:tableStyleId>{5C22544A-7EE6-4342-B048-85BDC9FD1C3A}</a:tableStyleId>
              </a:tblPr>
              <a:tblGrid>
                <a:gridCol w="984181"/>
                <a:gridCol w="1163124"/>
                <a:gridCol w="2147306"/>
                <a:gridCol w="715768"/>
                <a:gridCol w="6084034"/>
              </a:tblGrid>
              <a:tr h="365760">
                <a:tc>
                  <a:txBody>
                    <a:bodyPr wrap="square"/>
                    <a:lstStyle/>
                    <a:p>
                      <a:r>
                        <a:rPr sz="1100" b="1">
                          <a:solidFill>
                            <a:srgbClr val="FFFFFF"/>
                          </a:solidFill>
                          <a:latin typeface="Arial"/>
                        </a:rPr>
                        <a:t>Date</a:t>
                      </a:r>
                    </a:p>
                  </a:txBody>
                  <a:tcPr marL="64008" marR="64008" marT="27432" marB="27432" anchor="ctr">
                    <a:solidFill>
                      <a:srgbClr val="004EA8"/>
                    </a:solidFill>
                  </a:tcPr>
                </a:tc>
                <a:tc>
                  <a:txBody>
                    <a:bodyPr wrap="square"/>
                    <a:lstStyle/>
                    <a:p>
                      <a:r>
                        <a:rPr sz="1100" b="1">
                          <a:solidFill>
                            <a:srgbClr val="FFFFFF"/>
                          </a:solidFill>
                          <a:latin typeface="Arial"/>
                        </a:rPr>
                        <a:t>Time</a:t>
                      </a:r>
                    </a:p>
                  </a:txBody>
                  <a:tcPr marL="64008" marR="64008" marT="27432" marB="27432" anchor="ctr">
                    <a:solidFill>
                      <a:srgbClr val="004EA8"/>
                    </a:solidFill>
                  </a:tcPr>
                </a:tc>
                <a:tc>
                  <a:txBody>
                    <a:bodyPr wrap="square"/>
                    <a:lstStyle/>
                    <a:p>
                      <a:r>
                        <a:rPr sz="1100" b="1">
                          <a:solidFill>
                            <a:srgbClr val="FFFFFF"/>
                          </a:solidFill>
                          <a:latin typeface="Arial"/>
                        </a:rPr>
                        <a:t>Process</a:t>
                      </a:r>
                    </a:p>
                  </a:txBody>
                  <a:tcPr marL="64008" marR="64008" marT="27432" marB="27432" anchor="ctr">
                    <a:solidFill>
                      <a:srgbClr val="004EA8"/>
                    </a:solidFill>
                  </a:tcPr>
                </a:tc>
                <a:tc>
                  <a:txBody>
                    <a:bodyPr wrap="square"/>
                    <a:lstStyle/>
                    <a:p>
                      <a:r>
                        <a:rPr sz="1100" b="1">
                          <a:solidFill>
                            <a:srgbClr val="FFFFFF"/>
                          </a:solidFill>
                          <a:latin typeface="Arial"/>
                        </a:rPr>
                        <a:t>Floor</a:t>
                      </a:r>
                    </a:p>
                  </a:txBody>
                  <a:tcPr marL="64008" marR="64008" marT="27432" marB="27432" anchor="ctr">
                    <a:solidFill>
                      <a:srgbClr val="004EA8"/>
                    </a:solidFill>
                  </a:tcPr>
                </a:tc>
                <a:tc>
                  <a:txBody>
                    <a:bodyPr wrap="square"/>
                    <a:lstStyle/>
                    <a:p>
                      <a:r>
                        <a:rPr sz="1100" b="1">
                          <a:solidFill>
                            <a:srgbClr val="FFFFFF"/>
                          </a:solidFill>
                          <a:latin typeface="Arial"/>
                        </a:rPr>
                        <a:t>Process owners</a:t>
                      </a:r>
                    </a:p>
                  </a:txBody>
                  <a:tcPr marL="64008" marR="64008" marT="27432" marB="27432" anchor="ctr">
                    <a:solidFill>
                      <a:srgbClr val="004EA8"/>
                    </a:solidFill>
                  </a:tcPr>
                </a:tc>
              </a:tr>
              <a:tr h="650530">
                <a:tc>
                  <a:txBody>
                    <a:bodyPr wrap="square"/>
                    <a:lstStyle/>
                    <a:p>
                      <a:r>
                        <a:rPr sz="1100" b="0">
                          <a:solidFill>
                            <a:srgbClr val="4B4B4B"/>
                          </a:solidFill>
                          <a:latin typeface="Arial"/>
                        </a:rPr>
                        <a:t>21 Sep</a:t>
                      </a:r>
                    </a:p>
                  </a:txBody>
                  <a:tcPr marL="64008" marR="64008" marT="27432" marB="27432" anchor="ctr">
                    <a:solidFill>
                      <a:srgbClr val="FFFFFF"/>
                    </a:solidFill>
                  </a:tcPr>
                </a:tc>
                <a:tc>
                  <a:txBody>
                    <a:bodyPr wrap="square"/>
                    <a:lstStyle/>
                    <a:p>
                      <a:r>
                        <a:rPr sz="1100" b="0">
                          <a:solidFill>
                            <a:srgbClr val="4B4B4B"/>
                          </a:solidFill>
                          <a:latin typeface="Arial"/>
                        </a:rPr>
                        <a:t>Full day</a:t>
                      </a:r>
                    </a:p>
                  </a:txBody>
                  <a:tcPr marL="64008" marR="64008" marT="27432" marB="27432" anchor="ctr">
                    <a:solidFill>
                      <a:srgbClr val="FFFFFF"/>
                    </a:solidFill>
                  </a:tcPr>
                </a:tc>
                <a:tc>
                  <a:txBody>
                    <a:bodyPr wrap="square"/>
                    <a:lstStyle/>
                    <a:p>
                      <a:r>
                        <a:rPr sz="1100" b="1">
                          <a:solidFill>
                            <a:srgbClr val="4B4B4B"/>
                          </a:solidFill>
                          <a:latin typeface="Arial"/>
                        </a:rPr>
                        <a:t>Business overview; discovery</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c>
                  <a:txBody>
                    <a:bodyPr wrap="square"/>
                    <a:lstStyle/>
                    <a:p>
                      <a:r>
                        <a:rPr sz="1100" b="0">
                          <a:solidFill>
                            <a:srgbClr val="4B4B4B"/>
                          </a:solidFill>
                          <a:latin typeface="Arial"/>
                        </a:rPr>
                        <a:t>BDOI programme, BU and IT leads (Day 1 deck)</a:t>
                      </a:r>
                    </a:p>
                  </a:txBody>
                  <a:tcPr marL="64008" marR="64008" marT="27432" marB="27432" anchor="ctr">
                    <a:solidFill>
                      <a:srgbClr val="FFFFFF"/>
                    </a:solidFill>
                  </a:tcPr>
                </a:tc>
              </a:tr>
              <a:tr h="650530">
                <a:tc>
                  <a:txBody>
                    <a:bodyPr wrap="square"/>
                    <a:lstStyle/>
                    <a:p>
                      <a:r>
                        <a:rPr sz="1100" b="0">
                          <a:solidFill>
                            <a:srgbClr val="4B4B4B"/>
                          </a:solidFill>
                          <a:latin typeface="Arial"/>
                        </a:rPr>
                        <a:t>22 Sep</a:t>
                      </a:r>
                    </a:p>
                  </a:txBody>
                  <a:tcPr marL="64008" marR="64008" marT="27432" marB="27432" anchor="ctr">
                    <a:solidFill>
                      <a:srgbClr val="E5F5FF"/>
                    </a:solidFill>
                  </a:tcPr>
                </a:tc>
                <a:tc>
                  <a:txBody>
                    <a:bodyPr wrap="square"/>
                    <a:lstStyle/>
                    <a:p>
                      <a:r>
                        <a:rPr sz="1100" b="0">
                          <a:solidFill>
                            <a:srgbClr val="4B4B4B"/>
                          </a:solidFill>
                          <a:latin typeface="Arial"/>
                        </a:rPr>
                        <a:t>9-10 am</a:t>
                      </a:r>
                    </a:p>
                  </a:txBody>
                  <a:tcPr marL="64008" marR="64008" marT="27432" marB="27432" anchor="ctr">
                    <a:solidFill>
                      <a:srgbClr val="E5F5FF"/>
                    </a:solidFill>
                  </a:tcPr>
                </a:tc>
                <a:tc>
                  <a:txBody>
                    <a:bodyPr wrap="square"/>
                    <a:lstStyle/>
                    <a:p>
                      <a:r>
                        <a:rPr sz="1100" b="1">
                          <a:solidFill>
                            <a:srgbClr val="4B4B4B"/>
                          </a:solidFill>
                          <a:latin typeface="Arial"/>
                        </a:rPr>
                        <a:t>New Business</a:t>
                      </a:r>
                    </a:p>
                  </a:txBody>
                  <a:tcPr marL="64008" marR="64008" marT="27432" marB="27432" anchor="ctr">
                    <a:solidFill>
                      <a:srgbClr val="E5F5FF"/>
                    </a:solidFill>
                  </a:tcPr>
                </a:tc>
                <a:tc>
                  <a:txBody>
                    <a:bodyPr wrap="square"/>
                    <a:lstStyle/>
                    <a:p>
                      <a:r>
                        <a:rPr sz="1100" b="0">
                          <a:solidFill>
                            <a:srgbClr val="4B4B4B"/>
                          </a:solidFill>
                          <a:latin typeface="Arial"/>
                        </a:rPr>
                        <a:t>43F</a:t>
                      </a:r>
                    </a:p>
                  </a:txBody>
                  <a:tcPr marL="64008" marR="64008" marT="27432" marB="27432" anchor="ctr">
                    <a:solidFill>
                      <a:srgbClr val="E5F5FF"/>
                    </a:solidFill>
                  </a:tcPr>
                </a:tc>
                <a:tc>
                  <a:txBody>
                    <a:bodyPr wrap="square"/>
                    <a:lstStyle/>
                    <a:p>
                      <a:r>
                        <a:rPr sz="1100" b="0">
                          <a:solidFill>
                            <a:srgbClr val="4B4B4B"/>
                          </a:solidFill>
                          <a:latin typeface="Arial"/>
                        </a:rPr>
                        <a:t>Rose Lique, Marla Apostol (Corporate); Grace Tordesillas, Kin Ysaac Flores (Non-CBG Retail); Justine Malonzo, Jhosven Awa (CBG Motor); Lyka Palomeno, Regina Matutina</a:t>
                      </a:r>
                    </a:p>
                  </a:txBody>
                  <a:tcPr marL="64008" marR="64008" marT="27432" marB="27432" anchor="ctr">
                    <a:solidFill>
                      <a:srgbClr val="E5F5FF"/>
                    </a:solidFill>
                  </a:tcPr>
                </a:tc>
              </a:tr>
              <a:tr h="650530">
                <a:tc>
                  <a:txBody>
                    <a:bodyPr wrap="square"/>
                    <a:lstStyle/>
                    <a:p>
                      <a:r>
                        <a:rPr sz="1100" b="0">
                          <a:solidFill>
                            <a:srgbClr val="4B4B4B"/>
                          </a:solidFill>
                          <a:latin typeface="Arial"/>
                        </a:rPr>
                        <a:t>22 Sep</a:t>
                      </a:r>
                    </a:p>
                  </a:txBody>
                  <a:tcPr marL="64008" marR="64008" marT="27432" marB="27432" anchor="ctr">
                    <a:solidFill>
                      <a:srgbClr val="FFFFFF"/>
                    </a:solidFill>
                  </a:tcPr>
                </a:tc>
                <a:tc>
                  <a:txBody>
                    <a:bodyPr wrap="square"/>
                    <a:lstStyle/>
                    <a:p>
                      <a:r>
                        <a:rPr sz="1100" b="0">
                          <a:solidFill>
                            <a:srgbClr val="4B4B4B"/>
                          </a:solidFill>
                          <a:latin typeface="Arial"/>
                        </a:rPr>
                        <a:t>10-11 am</a:t>
                      </a:r>
                    </a:p>
                  </a:txBody>
                  <a:tcPr marL="64008" marR="64008" marT="27432" marB="27432" anchor="ctr">
                    <a:solidFill>
                      <a:srgbClr val="FFFFFF"/>
                    </a:solidFill>
                  </a:tcPr>
                </a:tc>
                <a:tc>
                  <a:txBody>
                    <a:bodyPr wrap="square"/>
                    <a:lstStyle/>
                    <a:p>
                      <a:r>
                        <a:rPr sz="1100" b="1">
                          <a:solidFill>
                            <a:srgbClr val="4B4B4B"/>
                          </a:solidFill>
                          <a:latin typeface="Arial"/>
                        </a:rPr>
                        <a:t>Renewal Marketing</a:t>
                      </a:r>
                    </a:p>
                  </a:txBody>
                  <a:tcPr marL="64008" marR="64008" marT="27432" marB="27432" anchor="ctr">
                    <a:solidFill>
                      <a:srgbClr val="FFFFFF"/>
                    </a:solidFill>
                  </a:tcPr>
                </a:tc>
                <a:tc>
                  <a:txBody>
                    <a:bodyPr wrap="square"/>
                    <a:lstStyle/>
                    <a:p>
                      <a:r>
                        <a:rPr sz="1100" b="0">
                          <a:solidFill>
                            <a:srgbClr val="4B4B4B"/>
                          </a:solidFill>
                          <a:latin typeface="Arial"/>
                        </a:rPr>
                        <a:t>43F</a:t>
                      </a:r>
                    </a:p>
                  </a:txBody>
                  <a:tcPr marL="64008" marR="64008" marT="27432" marB="27432" anchor="ctr">
                    <a:solidFill>
                      <a:srgbClr val="FFFFFF"/>
                    </a:solidFill>
                  </a:tcPr>
                </a:tc>
                <a:tc>
                  <a:txBody>
                    <a:bodyPr wrap="square"/>
                    <a:lstStyle/>
                    <a:p>
                      <a:r>
                        <a:rPr sz="1100" b="0">
                          <a:solidFill>
                            <a:srgbClr val="4B4B4B"/>
                          </a:solidFill>
                          <a:latin typeface="Arial"/>
                        </a:rPr>
                        <a:t>Amara Cruz, Rose Lique, Joy Ilagan, Tina Fajardo; Grace Tordesillas, Kin Ysaac Flores; Criffson Rendon, Joyce Aritao; Ma. Christena Cezar; Cezssane Canarias, Jeramie Ramos</a:t>
                      </a:r>
                    </a:p>
                  </a:txBody>
                  <a:tcPr marL="64008" marR="64008" marT="27432" marB="27432" anchor="ctr">
                    <a:solidFill>
                      <a:srgbClr val="FFFFFF"/>
                    </a:solidFill>
                  </a:tcPr>
                </a:tc>
              </a:tr>
              <a:tr h="650530">
                <a:tc>
                  <a:txBody>
                    <a:bodyPr wrap="square"/>
                    <a:lstStyle/>
                    <a:p>
                      <a:r>
                        <a:rPr sz="1100" b="0">
                          <a:solidFill>
                            <a:srgbClr val="4B4B4B"/>
                          </a:solidFill>
                          <a:latin typeface="Arial"/>
                        </a:rPr>
                        <a:t>22 Sep</a:t>
                      </a:r>
                    </a:p>
                  </a:txBody>
                  <a:tcPr marL="64008" marR="64008" marT="27432" marB="27432" anchor="ctr">
                    <a:solidFill>
                      <a:srgbClr val="E5F5FF"/>
                    </a:solidFill>
                  </a:tcPr>
                </a:tc>
                <a:tc>
                  <a:txBody>
                    <a:bodyPr wrap="square"/>
                    <a:lstStyle/>
                    <a:p>
                      <a:r>
                        <a:rPr sz="1100" b="0">
                          <a:solidFill>
                            <a:srgbClr val="4B4B4B"/>
                          </a:solidFill>
                          <a:latin typeface="Arial"/>
                        </a:rPr>
                        <a:t>11-11:30 am</a:t>
                      </a:r>
                    </a:p>
                  </a:txBody>
                  <a:tcPr marL="64008" marR="64008" marT="27432" marB="27432" anchor="ctr">
                    <a:solidFill>
                      <a:srgbClr val="E5F5FF"/>
                    </a:solidFill>
                  </a:tcPr>
                </a:tc>
                <a:tc>
                  <a:txBody>
                    <a:bodyPr wrap="square"/>
                    <a:lstStyle/>
                    <a:p>
                      <a:r>
                        <a:rPr sz="1100" b="1">
                          <a:solidFill>
                            <a:srgbClr val="4B4B4B"/>
                          </a:solidFill>
                          <a:latin typeface="Arial"/>
                        </a:rPr>
                        <a:t>Marketing Admin</a:t>
                      </a:r>
                    </a:p>
                  </a:txBody>
                  <a:tcPr marL="64008" marR="64008" marT="27432" marB="27432" anchor="ctr">
                    <a:solidFill>
                      <a:srgbClr val="E5F5FF"/>
                    </a:solidFill>
                  </a:tcPr>
                </a:tc>
                <a:tc>
                  <a:txBody>
                    <a:bodyPr wrap="square"/>
                    <a:lstStyle/>
                    <a:p>
                      <a:r>
                        <a:rPr sz="1100" b="0">
                          <a:solidFill>
                            <a:srgbClr val="4B4B4B"/>
                          </a:solidFill>
                          <a:latin typeface="Arial"/>
                        </a:rPr>
                        <a:t>43F</a:t>
                      </a:r>
                    </a:p>
                  </a:txBody>
                  <a:tcPr marL="64008" marR="64008" marT="27432" marB="27432" anchor="ctr">
                    <a:solidFill>
                      <a:srgbClr val="E5F5FF"/>
                    </a:solidFill>
                  </a:tcPr>
                </a:tc>
                <a:tc>
                  <a:txBody>
                    <a:bodyPr wrap="square"/>
                    <a:lstStyle/>
                    <a:p>
                      <a:r>
                        <a:rPr sz="1100" b="0">
                          <a:solidFill>
                            <a:srgbClr val="4B4B4B"/>
                          </a:solidFill>
                          <a:latin typeface="Arial"/>
                        </a:rPr>
                        <a:t>Rose Lique, Reymark Marcelo; Nina Odvina, Kim Nayve, Mae Varron, Grace Tordesillas, Jordan Lambino</a:t>
                      </a:r>
                    </a:p>
                  </a:txBody>
                  <a:tcPr marL="64008" marR="64008" marT="27432" marB="27432" anchor="ctr">
                    <a:solidFill>
                      <a:srgbClr val="E5F5FF"/>
                    </a:solidFill>
                  </a:tcPr>
                </a:tc>
              </a:tr>
              <a:tr h="650530">
                <a:tc>
                  <a:txBody>
                    <a:bodyPr wrap="square"/>
                    <a:lstStyle/>
                    <a:p>
                      <a:r>
                        <a:rPr sz="1100" b="0">
                          <a:solidFill>
                            <a:srgbClr val="4B4B4B"/>
                          </a:solidFill>
                          <a:latin typeface="Arial"/>
                        </a:rPr>
                        <a:t>22 Sep</a:t>
                      </a:r>
                    </a:p>
                  </a:txBody>
                  <a:tcPr marL="64008" marR="64008" marT="27432" marB="27432" anchor="ctr">
                    <a:solidFill>
                      <a:srgbClr val="FFFFFF"/>
                    </a:solidFill>
                  </a:tcPr>
                </a:tc>
                <a:tc>
                  <a:txBody>
                    <a:bodyPr wrap="square"/>
                    <a:lstStyle/>
                    <a:p>
                      <a:r>
                        <a:rPr sz="1100" b="0">
                          <a:solidFill>
                            <a:srgbClr val="4B4B4B"/>
                          </a:solidFill>
                          <a:latin typeface="Arial"/>
                        </a:rPr>
                        <a:t>1-1:30 pm</a:t>
                      </a:r>
                    </a:p>
                  </a:txBody>
                  <a:tcPr marL="64008" marR="64008" marT="27432" marB="27432" anchor="ctr">
                    <a:solidFill>
                      <a:srgbClr val="FFFFFF"/>
                    </a:solidFill>
                  </a:tcPr>
                </a:tc>
                <a:tc>
                  <a:txBody>
                    <a:bodyPr wrap="square"/>
                    <a:lstStyle/>
                    <a:p>
                      <a:r>
                        <a:rPr sz="1100" b="1">
                          <a:solidFill>
                            <a:srgbClr val="4B4B4B"/>
                          </a:solidFill>
                          <a:latin typeface="Arial"/>
                        </a:rPr>
                        <a:t>Product Maintenance (TSU)</a:t>
                      </a:r>
                    </a:p>
                  </a:txBody>
                  <a:tcPr marL="64008" marR="64008" marT="27432" marB="27432" anchor="ctr">
                    <a:solidFill>
                      <a:srgbClr val="FFFFFF"/>
                    </a:solidFill>
                  </a:tcPr>
                </a:tc>
                <a:tc>
                  <a:txBody>
                    <a:bodyPr wrap="square"/>
                    <a:lstStyle/>
                    <a:p>
                      <a:r>
                        <a:rPr sz="1100" b="0">
                          <a:solidFill>
                            <a:srgbClr val="4B4B4B"/>
                          </a:solidFill>
                          <a:latin typeface="Arial"/>
                        </a:rPr>
                        <a:t>44F</a:t>
                      </a:r>
                    </a:p>
                  </a:txBody>
                  <a:tcPr marL="64008" marR="64008" marT="27432" marB="27432" anchor="ctr">
                    <a:solidFill>
                      <a:srgbClr val="FFFFFF"/>
                    </a:solidFill>
                  </a:tcPr>
                </a:tc>
                <a:tc>
                  <a:txBody>
                    <a:bodyPr wrap="square"/>
                    <a:lstStyle/>
                    <a:p>
                      <a:r>
                        <a:rPr sz="1100" b="0">
                          <a:solidFill>
                            <a:srgbClr val="4B4B4B"/>
                          </a:solidFill>
                          <a:latin typeface="Arial"/>
                        </a:rPr>
                        <a:t>Cherry Ann Manalo, Joy Intia</a:t>
                      </a:r>
                    </a:p>
                  </a:txBody>
                  <a:tcPr marL="64008" marR="64008" marT="27432" marB="27432" anchor="ctr">
                    <a:solidFill>
                      <a:srgbClr val="FFFFFF"/>
                    </a:solidFill>
                  </a:tcPr>
                </a:tc>
              </a:tr>
              <a:tr h="650530">
                <a:tc>
                  <a:txBody>
                    <a:bodyPr wrap="square"/>
                    <a:lstStyle/>
                    <a:p>
                      <a:r>
                        <a:rPr sz="1100" b="0">
                          <a:solidFill>
                            <a:srgbClr val="4B4B4B"/>
                          </a:solidFill>
                          <a:latin typeface="Arial"/>
                        </a:rPr>
                        <a:t>22 Sep</a:t>
                      </a:r>
                    </a:p>
                  </a:txBody>
                  <a:tcPr marL="64008" marR="64008" marT="27432" marB="27432" anchor="ctr">
                    <a:solidFill>
                      <a:srgbClr val="E5F5FF"/>
                    </a:solidFill>
                  </a:tcPr>
                </a:tc>
                <a:tc>
                  <a:txBody>
                    <a:bodyPr wrap="square"/>
                    <a:lstStyle/>
                    <a:p>
                      <a:r>
                        <a:rPr sz="1100" b="0">
                          <a:solidFill>
                            <a:srgbClr val="4B4B4B"/>
                          </a:solidFill>
                          <a:latin typeface="Arial"/>
                        </a:rPr>
                        <a:t>1:30-3 pm</a:t>
                      </a:r>
                    </a:p>
                  </a:txBody>
                  <a:tcPr marL="64008" marR="64008" marT="27432" marB="27432" anchor="ctr">
                    <a:solidFill>
                      <a:srgbClr val="E5F5FF"/>
                    </a:solidFill>
                  </a:tcPr>
                </a:tc>
                <a:tc>
                  <a:txBody>
                    <a:bodyPr wrap="square"/>
                    <a:lstStyle/>
                    <a:p>
                      <a:r>
                        <a:rPr sz="1100" b="1">
                          <a:solidFill>
                            <a:srgbClr val="4B4B4B"/>
                          </a:solidFill>
                          <a:latin typeface="Arial"/>
                        </a:rPr>
                        <a:t>Renewal Processing</a:t>
                      </a:r>
                    </a:p>
                  </a:txBody>
                  <a:tcPr marL="64008" marR="64008" marT="27432" marB="27432" anchor="ctr">
                    <a:solidFill>
                      <a:srgbClr val="E5F5FF"/>
                    </a:solidFill>
                  </a:tcPr>
                </a:tc>
                <a:tc>
                  <a:txBody>
                    <a:bodyPr wrap="square"/>
                    <a:lstStyle/>
                    <a:p>
                      <a:r>
                        <a:rPr sz="1100" b="0">
                          <a:solidFill>
                            <a:srgbClr val="4B4B4B"/>
                          </a:solidFill>
                          <a:latin typeface="Arial"/>
                        </a:rPr>
                        <a:t>44F</a:t>
                      </a:r>
                    </a:p>
                  </a:txBody>
                  <a:tcPr marL="64008" marR="64008" marT="27432" marB="27432" anchor="ctr">
                    <a:solidFill>
                      <a:srgbClr val="E5F5FF"/>
                    </a:solidFill>
                  </a:tcPr>
                </a:tc>
                <a:tc>
                  <a:txBody>
                    <a:bodyPr wrap="square"/>
                    <a:lstStyle/>
                    <a:p>
                      <a:r>
                        <a:rPr sz="1100" b="0">
                          <a:solidFill>
                            <a:srgbClr val="4B4B4B"/>
                          </a:solidFill>
                          <a:latin typeface="Arial"/>
                        </a:rPr>
                        <a:t>Angelo Alibuyog (CBG Fire), Ces Remodo (CBG Motor), Berna Corpuz (Non-CBG Corporate), Norberto Fulo (Non-CBG Retail)</a:t>
                      </a:r>
                    </a:p>
                  </a:txBody>
                  <a:tcPr marL="64008" marR="64008" marT="27432" marB="27432" anchor="ctr">
                    <a:solidFill>
                      <a:srgbClr val="E5F5FF"/>
                    </a:solidFill>
                  </a:tcPr>
                </a:tc>
              </a:tr>
              <a:tr h="650530">
                <a:tc>
                  <a:txBody>
                    <a:bodyPr wrap="square"/>
                    <a:lstStyle/>
                    <a:p>
                      <a:r>
                        <a:rPr sz="1100" b="0">
                          <a:solidFill>
                            <a:srgbClr val="4B4B4B"/>
                          </a:solidFill>
                          <a:latin typeface="Arial"/>
                        </a:rPr>
                        <a:t>22 Sep</a:t>
                      </a:r>
                    </a:p>
                  </a:txBody>
                  <a:tcPr marL="64008" marR="64008" marT="27432" marB="27432" anchor="ctr">
                    <a:solidFill>
                      <a:srgbClr val="FFFFFF"/>
                    </a:solidFill>
                  </a:tcPr>
                </a:tc>
                <a:tc>
                  <a:txBody>
                    <a:bodyPr wrap="square"/>
                    <a:lstStyle/>
                    <a:p>
                      <a:r>
                        <a:rPr sz="1100" b="0">
                          <a:solidFill>
                            <a:srgbClr val="4B4B4B"/>
                          </a:solidFill>
                          <a:latin typeface="Arial"/>
                        </a:rPr>
                        <a:t>2-3:30 pm</a:t>
                      </a:r>
                    </a:p>
                  </a:txBody>
                  <a:tcPr marL="64008" marR="64008" marT="27432" marB="27432" anchor="ctr">
                    <a:solidFill>
                      <a:srgbClr val="FFFFFF"/>
                    </a:solidFill>
                  </a:tcPr>
                </a:tc>
                <a:tc>
                  <a:txBody>
                    <a:bodyPr wrap="square"/>
                    <a:lstStyle/>
                    <a:p>
                      <a:r>
                        <a:rPr sz="1100" b="1">
                          <a:solidFill>
                            <a:srgbClr val="4B4B4B"/>
                          </a:solidFill>
                          <a:latin typeface="Arial"/>
                        </a:rPr>
                        <a:t>Placement and Booking</a:t>
                      </a:r>
                    </a:p>
                  </a:txBody>
                  <a:tcPr marL="64008" marR="64008" marT="27432" marB="27432" anchor="ctr">
                    <a:solidFill>
                      <a:srgbClr val="FFFFFF"/>
                    </a:solidFill>
                  </a:tcPr>
                </a:tc>
                <a:tc>
                  <a:txBody>
                    <a:bodyPr wrap="square"/>
                    <a:lstStyle/>
                    <a:p>
                      <a:r>
                        <a:rPr sz="1100" b="0">
                          <a:solidFill>
                            <a:srgbClr val="4B4B4B"/>
                          </a:solidFill>
                          <a:latin typeface="Arial"/>
                        </a:rPr>
                        <a:t>43F</a:t>
                      </a:r>
                    </a:p>
                  </a:txBody>
                  <a:tcPr marL="64008" marR="64008" marT="27432" marB="27432" anchor="ctr">
                    <a:solidFill>
                      <a:srgbClr val="FFFFFF"/>
                    </a:solidFill>
                  </a:tcPr>
                </a:tc>
                <a:tc>
                  <a:txBody>
                    <a:bodyPr wrap="square"/>
                    <a:lstStyle/>
                    <a:p>
                      <a:r>
                        <a:rPr sz="1100" b="0">
                          <a:solidFill>
                            <a:srgbClr val="4B4B4B"/>
                          </a:solidFill>
                          <a:latin typeface="Arial"/>
                        </a:rPr>
                        <a:t>Ramoncito Manalo, Cherry Ann Catayas; Jean Deam Dela Cruz, Cristina Labrador, Mae Anne B. Roque; John Ray Bellen, Rey Mark Magsael</a:t>
                      </a:r>
                    </a:p>
                  </a:txBody>
                  <a:tcPr marL="64008" marR="64008" marT="27432" marB="27432"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Floor-walk coverage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280160"/>
          <a:ext cx="11094413" cy="4754880"/>
        </p:xfrm>
        <a:graphic>
          <a:graphicData uri="http://schemas.openxmlformats.org/drawingml/2006/table">
            <a:tbl>
              <a:tblPr firstRow="1" bandRow="1">
                <a:tableStyleId>{5C22544A-7EE6-4342-B048-85BDC9FD1C3A}</a:tableStyleId>
              </a:tblPr>
              <a:tblGrid>
                <a:gridCol w="984181"/>
                <a:gridCol w="1163124"/>
                <a:gridCol w="2147306"/>
                <a:gridCol w="715768"/>
                <a:gridCol w="6084034"/>
              </a:tblGrid>
              <a:tr h="365760">
                <a:tc>
                  <a:txBody>
                    <a:bodyPr wrap="square"/>
                    <a:lstStyle/>
                    <a:p>
                      <a:r>
                        <a:rPr sz="1100" b="1">
                          <a:solidFill>
                            <a:srgbClr val="FFFFFF"/>
                          </a:solidFill>
                          <a:latin typeface="Arial"/>
                        </a:rPr>
                        <a:t>Date</a:t>
                      </a:r>
                    </a:p>
                  </a:txBody>
                  <a:tcPr marL="64008" marR="64008" marT="27432" marB="27432" anchor="ctr">
                    <a:solidFill>
                      <a:srgbClr val="004EA8"/>
                    </a:solidFill>
                  </a:tcPr>
                </a:tc>
                <a:tc>
                  <a:txBody>
                    <a:bodyPr wrap="square"/>
                    <a:lstStyle/>
                    <a:p>
                      <a:r>
                        <a:rPr sz="1100" b="1">
                          <a:solidFill>
                            <a:srgbClr val="FFFFFF"/>
                          </a:solidFill>
                          <a:latin typeface="Arial"/>
                        </a:rPr>
                        <a:t>Time</a:t>
                      </a:r>
                    </a:p>
                  </a:txBody>
                  <a:tcPr marL="64008" marR="64008" marT="27432" marB="27432" anchor="ctr">
                    <a:solidFill>
                      <a:srgbClr val="004EA8"/>
                    </a:solidFill>
                  </a:tcPr>
                </a:tc>
                <a:tc>
                  <a:txBody>
                    <a:bodyPr wrap="square"/>
                    <a:lstStyle/>
                    <a:p>
                      <a:r>
                        <a:rPr sz="1100" b="1">
                          <a:solidFill>
                            <a:srgbClr val="FFFFFF"/>
                          </a:solidFill>
                          <a:latin typeface="Arial"/>
                        </a:rPr>
                        <a:t>Process</a:t>
                      </a:r>
                    </a:p>
                  </a:txBody>
                  <a:tcPr marL="64008" marR="64008" marT="27432" marB="27432" anchor="ctr">
                    <a:solidFill>
                      <a:srgbClr val="004EA8"/>
                    </a:solidFill>
                  </a:tcPr>
                </a:tc>
                <a:tc>
                  <a:txBody>
                    <a:bodyPr wrap="square"/>
                    <a:lstStyle/>
                    <a:p>
                      <a:r>
                        <a:rPr sz="1100" b="1">
                          <a:solidFill>
                            <a:srgbClr val="FFFFFF"/>
                          </a:solidFill>
                          <a:latin typeface="Arial"/>
                        </a:rPr>
                        <a:t>Floor</a:t>
                      </a:r>
                    </a:p>
                  </a:txBody>
                  <a:tcPr marL="64008" marR="64008" marT="27432" marB="27432" anchor="ctr">
                    <a:solidFill>
                      <a:srgbClr val="004EA8"/>
                    </a:solidFill>
                  </a:tcPr>
                </a:tc>
                <a:tc>
                  <a:txBody>
                    <a:bodyPr wrap="square"/>
                    <a:lstStyle/>
                    <a:p>
                      <a:r>
                        <a:rPr sz="1100" b="1">
                          <a:solidFill>
                            <a:srgbClr val="FFFFFF"/>
                          </a:solidFill>
                          <a:latin typeface="Arial"/>
                        </a:rPr>
                        <a:t>Process owners</a:t>
                      </a:r>
                    </a:p>
                  </a:txBody>
                  <a:tcPr marL="64008" marR="64008" marT="27432" marB="27432" anchor="ctr">
                    <a:solidFill>
                      <a:srgbClr val="004EA8"/>
                    </a:solidFill>
                  </a:tcPr>
                </a:tc>
              </a:tr>
              <a:tr h="731520">
                <a:tc>
                  <a:txBody>
                    <a:bodyPr wrap="square"/>
                    <a:lstStyle/>
                    <a:p>
                      <a:r>
                        <a:rPr sz="1100" b="0">
                          <a:solidFill>
                            <a:srgbClr val="4B4B4B"/>
                          </a:solidFill>
                          <a:latin typeface="Arial"/>
                        </a:rPr>
                        <a:t>22 Sep</a:t>
                      </a:r>
                    </a:p>
                  </a:txBody>
                  <a:tcPr marL="64008" marR="64008" marT="27432" marB="27432" anchor="ctr">
                    <a:solidFill>
                      <a:srgbClr val="FFFFFF"/>
                    </a:solidFill>
                  </a:tcPr>
                </a:tc>
                <a:tc>
                  <a:txBody>
                    <a:bodyPr wrap="square"/>
                    <a:lstStyle/>
                    <a:p>
                      <a:r>
                        <a:rPr sz="1100" b="0">
                          <a:solidFill>
                            <a:srgbClr val="4B4B4B"/>
                          </a:solidFill>
                          <a:latin typeface="Arial"/>
                        </a:rPr>
                        <a:t>3:30-5 pm</a:t>
                      </a:r>
                    </a:p>
                  </a:txBody>
                  <a:tcPr marL="64008" marR="64008" marT="27432" marB="27432" anchor="ctr">
                    <a:solidFill>
                      <a:srgbClr val="FFFFFF"/>
                    </a:solidFill>
                  </a:tcPr>
                </a:tc>
                <a:tc>
                  <a:txBody>
                    <a:bodyPr wrap="square"/>
                    <a:lstStyle/>
                    <a:p>
                      <a:r>
                        <a:rPr sz="1100" b="1">
                          <a:solidFill>
                            <a:srgbClr val="4B4B4B"/>
                          </a:solidFill>
                          <a:latin typeface="Arial"/>
                        </a:rPr>
                        <a:t>Collections</a:t>
                      </a:r>
                    </a:p>
                  </a:txBody>
                  <a:tcPr marL="64008" marR="64008" marT="27432" marB="27432" anchor="ctr">
                    <a:solidFill>
                      <a:srgbClr val="FFFFFF"/>
                    </a:solidFill>
                  </a:tcPr>
                </a:tc>
                <a:tc>
                  <a:txBody>
                    <a:bodyPr wrap="square"/>
                    <a:lstStyle/>
                    <a:p>
                      <a:r>
                        <a:rPr sz="1100" b="0">
                          <a:solidFill>
                            <a:srgbClr val="4B4B4B"/>
                          </a:solidFill>
                          <a:latin typeface="Arial"/>
                        </a:rPr>
                        <a:t>43F, 44F</a:t>
                      </a:r>
                    </a:p>
                  </a:txBody>
                  <a:tcPr marL="64008" marR="64008" marT="27432" marB="27432" anchor="ctr">
                    <a:solidFill>
                      <a:srgbClr val="FFFFFF"/>
                    </a:solidFill>
                  </a:tcPr>
                </a:tc>
                <a:tc>
                  <a:txBody>
                    <a:bodyPr wrap="square"/>
                    <a:lstStyle/>
                    <a:p>
                      <a:r>
                        <a:rPr sz="1100" b="0">
                          <a:solidFill>
                            <a:srgbClr val="4B4B4B"/>
                          </a:solidFill>
                          <a:latin typeface="Arial"/>
                        </a:rPr>
                        <a:t>Sheryne Hernaez, Pia Pinili</a:t>
                      </a:r>
                    </a:p>
                  </a:txBody>
                  <a:tcPr marL="64008" marR="64008" marT="27432" marB="27432" anchor="ctr">
                    <a:solidFill>
                      <a:srgbClr val="FFFFFF"/>
                    </a:solidFill>
                  </a:tcPr>
                </a:tc>
              </a:tr>
              <a:tr h="731520">
                <a:tc>
                  <a:txBody>
                    <a:bodyPr wrap="square"/>
                    <a:lstStyle/>
                    <a:p>
                      <a:r>
                        <a:rPr sz="1100" b="0">
                          <a:solidFill>
                            <a:srgbClr val="4B4B4B"/>
                          </a:solidFill>
                          <a:latin typeface="Arial"/>
                        </a:rPr>
                        <a:t>22 Sep</a:t>
                      </a:r>
                    </a:p>
                  </a:txBody>
                  <a:tcPr marL="64008" marR="64008" marT="27432" marB="27432" anchor="ctr">
                    <a:solidFill>
                      <a:srgbClr val="E5F5FF"/>
                    </a:solidFill>
                  </a:tcPr>
                </a:tc>
                <a:tc>
                  <a:txBody>
                    <a:bodyPr wrap="square"/>
                    <a:lstStyle/>
                    <a:p>
                      <a:r>
                        <a:rPr sz="1100" b="0">
                          <a:solidFill>
                            <a:srgbClr val="4B4B4B"/>
                          </a:solidFill>
                          <a:latin typeface="Arial"/>
                        </a:rPr>
                        <a:t>5-6 pm</a:t>
                      </a:r>
                    </a:p>
                  </a:txBody>
                  <a:tcPr marL="64008" marR="64008" marT="27432" marB="27432" anchor="ctr">
                    <a:solidFill>
                      <a:srgbClr val="E5F5FF"/>
                    </a:solidFill>
                  </a:tcPr>
                </a:tc>
                <a:tc>
                  <a:txBody>
                    <a:bodyPr wrap="square"/>
                    <a:lstStyle/>
                    <a:p>
                      <a:r>
                        <a:rPr sz="1100" b="1">
                          <a:solidFill>
                            <a:srgbClr val="4B4B4B"/>
                          </a:solidFill>
                          <a:latin typeface="Arial"/>
                        </a:rPr>
                        <a:t>Claims</a:t>
                      </a:r>
                    </a:p>
                  </a:txBody>
                  <a:tcPr marL="64008" marR="64008" marT="27432" marB="27432" anchor="ctr">
                    <a:solidFill>
                      <a:srgbClr val="E5F5FF"/>
                    </a:solidFill>
                  </a:tcPr>
                </a:tc>
                <a:tc>
                  <a:txBody>
                    <a:bodyPr wrap="square"/>
                    <a:lstStyle/>
                    <a:p>
                      <a:r>
                        <a:rPr sz="1100" b="0">
                          <a:solidFill>
                            <a:srgbClr val="4B4B4B"/>
                          </a:solidFill>
                          <a:latin typeface="Arial"/>
                        </a:rPr>
                        <a:t>44F</a:t>
                      </a:r>
                    </a:p>
                  </a:txBody>
                  <a:tcPr marL="64008" marR="64008" marT="27432" marB="27432" anchor="ctr">
                    <a:solidFill>
                      <a:srgbClr val="E5F5FF"/>
                    </a:solidFill>
                  </a:tcPr>
                </a:tc>
                <a:tc>
                  <a:txBody>
                    <a:bodyPr wrap="square"/>
                    <a:lstStyle/>
                    <a:p>
                      <a:r>
                        <a:rPr sz="1100" b="0">
                          <a:solidFill>
                            <a:srgbClr val="4B4B4B"/>
                          </a:solidFill>
                          <a:latin typeface="Arial"/>
                        </a:rPr>
                        <a:t>Elmar O. Alvarez Jr., Richard Castanares</a:t>
                      </a:r>
                    </a:p>
                  </a:txBody>
                  <a:tcPr marL="64008" marR="64008" marT="27432" marB="27432" anchor="ctr">
                    <a:solidFill>
                      <a:srgbClr val="E5F5FF"/>
                    </a:solidFill>
                  </a:tcPr>
                </a:tc>
              </a:tr>
              <a:tr h="731520">
                <a:tc>
                  <a:txBody>
                    <a:bodyPr wrap="square"/>
                    <a:lstStyle/>
                    <a:p>
                      <a:r>
                        <a:rPr sz="1100" b="0">
                          <a:solidFill>
                            <a:srgbClr val="4B4B4B"/>
                          </a:solidFill>
                          <a:latin typeface="Arial"/>
                        </a:rPr>
                        <a:t>23 Sep</a:t>
                      </a:r>
                    </a:p>
                  </a:txBody>
                  <a:tcPr marL="64008" marR="64008" marT="27432" marB="27432" anchor="ctr">
                    <a:solidFill>
                      <a:srgbClr val="FFFFFF"/>
                    </a:solidFill>
                  </a:tcPr>
                </a:tc>
                <a:tc>
                  <a:txBody>
                    <a:bodyPr wrap="square"/>
                    <a:lstStyle/>
                    <a:p>
                      <a:r>
                        <a:rPr sz="1100" b="0">
                          <a:solidFill>
                            <a:srgbClr val="4B4B4B"/>
                          </a:solidFill>
                          <a:latin typeface="Arial"/>
                        </a:rPr>
                        <a:t>9-10 am</a:t>
                      </a:r>
                    </a:p>
                  </a:txBody>
                  <a:tcPr marL="64008" marR="64008" marT="27432" marB="27432" anchor="ctr">
                    <a:solidFill>
                      <a:srgbClr val="FFFFFF"/>
                    </a:solidFill>
                  </a:tcPr>
                </a:tc>
                <a:tc>
                  <a:txBody>
                    <a:bodyPr wrap="square"/>
                    <a:lstStyle/>
                    <a:p>
                      <a:r>
                        <a:rPr sz="1100" b="1">
                          <a:solidFill>
                            <a:srgbClr val="4B4B4B"/>
                          </a:solidFill>
                          <a:latin typeface="Arial"/>
                        </a:rPr>
                        <a:t>Employee Benefits</a:t>
                      </a:r>
                    </a:p>
                  </a:txBody>
                  <a:tcPr marL="64008" marR="64008" marT="27432" marB="27432" anchor="ctr">
                    <a:solidFill>
                      <a:srgbClr val="FFFFFF"/>
                    </a:solidFill>
                  </a:tcPr>
                </a:tc>
                <a:tc>
                  <a:txBody>
                    <a:bodyPr wrap="square"/>
                    <a:lstStyle/>
                    <a:p>
                      <a:r>
                        <a:rPr sz="1100" b="0">
                          <a:solidFill>
                            <a:srgbClr val="4B4B4B"/>
                          </a:solidFill>
                          <a:latin typeface="Arial"/>
                        </a:rPr>
                        <a:t>43F</a:t>
                      </a:r>
                    </a:p>
                  </a:txBody>
                  <a:tcPr marL="64008" marR="64008" marT="27432" marB="27432" anchor="ctr">
                    <a:solidFill>
                      <a:srgbClr val="FFFFFF"/>
                    </a:solidFill>
                  </a:tcPr>
                </a:tc>
                <a:tc>
                  <a:txBody>
                    <a:bodyPr wrap="square"/>
                    <a:lstStyle/>
                    <a:p>
                      <a:r>
                        <a:rPr sz="1100" b="0">
                          <a:solidFill>
                            <a:srgbClr val="4B4B4B"/>
                          </a:solidFill>
                          <a:latin typeface="Arial"/>
                        </a:rPr>
                        <a:t>Marianne Alpapara, Jyneffer Liansing, Edwin Garcia</a:t>
                      </a:r>
                    </a:p>
                  </a:txBody>
                  <a:tcPr marL="64008" marR="64008" marT="27432" marB="27432" anchor="ctr">
                    <a:solidFill>
                      <a:srgbClr val="FFFFFF"/>
                    </a:solidFill>
                  </a:tcPr>
                </a:tc>
              </a:tr>
              <a:tr h="731520">
                <a:tc>
                  <a:txBody>
                    <a:bodyPr wrap="square"/>
                    <a:lstStyle/>
                    <a:p>
                      <a:r>
                        <a:rPr sz="1100" b="0">
                          <a:solidFill>
                            <a:srgbClr val="4B4B4B"/>
                          </a:solidFill>
                          <a:latin typeface="Arial"/>
                        </a:rPr>
                        <a:t>23 Sep</a:t>
                      </a:r>
                    </a:p>
                  </a:txBody>
                  <a:tcPr marL="64008" marR="64008" marT="27432" marB="27432" anchor="ctr">
                    <a:solidFill>
                      <a:srgbClr val="E5F5FF"/>
                    </a:solidFill>
                  </a:tcPr>
                </a:tc>
                <a:tc>
                  <a:txBody>
                    <a:bodyPr wrap="square"/>
                    <a:lstStyle/>
                    <a:p>
                      <a:r>
                        <a:rPr sz="1100" b="0">
                          <a:solidFill>
                            <a:srgbClr val="4B4B4B"/>
                          </a:solidFill>
                          <a:latin typeface="Arial"/>
                        </a:rPr>
                        <a:t>10 am-12 nn</a:t>
                      </a:r>
                    </a:p>
                  </a:txBody>
                  <a:tcPr marL="64008" marR="64008" marT="27432" marB="27432" anchor="ctr">
                    <a:solidFill>
                      <a:srgbClr val="E5F5FF"/>
                    </a:solidFill>
                  </a:tcPr>
                </a:tc>
                <a:tc>
                  <a:txBody>
                    <a:bodyPr wrap="square"/>
                    <a:lstStyle/>
                    <a:p>
                      <a:r>
                        <a:rPr sz="1100" b="1">
                          <a:solidFill>
                            <a:srgbClr val="4B4B4B"/>
                          </a:solidFill>
                          <a:latin typeface="Arial"/>
                        </a:rPr>
                        <a:t>Disbursement, FRBS, ACSL</a:t>
                      </a:r>
                    </a:p>
                  </a:txBody>
                  <a:tcPr marL="64008" marR="64008" marT="27432" marB="27432" anchor="ctr">
                    <a:solidFill>
                      <a:srgbClr val="E5F5FF"/>
                    </a:solidFill>
                  </a:tcPr>
                </a:tc>
                <a:tc>
                  <a:txBody>
                    <a:bodyPr wrap="square"/>
                    <a:lstStyle/>
                    <a:p>
                      <a:r>
                        <a:rPr sz="1100" b="0">
                          <a:solidFill>
                            <a:srgbClr val="4B4B4B"/>
                          </a:solidFill>
                          <a:latin typeface="Arial"/>
                        </a:rPr>
                        <a:t>44F</a:t>
                      </a:r>
                    </a:p>
                  </a:txBody>
                  <a:tcPr marL="64008" marR="64008" marT="27432" marB="27432" anchor="ctr">
                    <a:solidFill>
                      <a:srgbClr val="E5F5FF"/>
                    </a:solidFill>
                  </a:tcPr>
                </a:tc>
                <a:tc>
                  <a:txBody>
                    <a:bodyPr wrap="square"/>
                    <a:lstStyle/>
                    <a:p>
                      <a:r>
                        <a:rPr sz="1100" b="0">
                          <a:solidFill>
                            <a:srgbClr val="4B4B4B"/>
                          </a:solidFill>
                          <a:latin typeface="Arial"/>
                        </a:rPr>
                        <a:t>Rodrigo Dela Cruz, Cherry Francisco, Lineth Santos, Guada Jane Pelo; Iris Marquez, Fatima Joy Aguas, Cherie Jocson; Jeniffer Lugtu, Mario Sabangan, Jennifer Carinan, Freddie Atanque</a:t>
                      </a:r>
                    </a:p>
                  </a:txBody>
                  <a:tcPr marL="64008" marR="64008" marT="27432" marB="27432" anchor="ctr">
                    <a:solidFill>
                      <a:srgbClr val="E5F5FF"/>
                    </a:solidFill>
                  </a:tcPr>
                </a:tc>
              </a:tr>
              <a:tr h="731520">
                <a:tc>
                  <a:txBody>
                    <a:bodyPr wrap="square"/>
                    <a:lstStyle/>
                    <a:p>
                      <a:r>
                        <a:rPr sz="1100" b="0">
                          <a:solidFill>
                            <a:srgbClr val="4B4B4B"/>
                          </a:solidFill>
                          <a:latin typeface="Arial"/>
                        </a:rPr>
                        <a:t>23 Sep</a:t>
                      </a:r>
                    </a:p>
                  </a:txBody>
                  <a:tcPr marL="64008" marR="64008" marT="27432" marB="27432" anchor="ctr">
                    <a:solidFill>
                      <a:srgbClr val="FFFFFF"/>
                    </a:solidFill>
                  </a:tcPr>
                </a:tc>
                <a:tc>
                  <a:txBody>
                    <a:bodyPr wrap="square"/>
                    <a:lstStyle/>
                    <a:p>
                      <a:r>
                        <a:rPr sz="1100" b="0">
                          <a:solidFill>
                            <a:srgbClr val="4B4B4B"/>
                          </a:solidFill>
                          <a:latin typeface="Arial"/>
                        </a:rPr>
                        <a:t>1-5 pm</a:t>
                      </a:r>
                    </a:p>
                  </a:txBody>
                  <a:tcPr marL="64008" marR="64008" marT="27432" marB="27432" anchor="ctr">
                    <a:solidFill>
                      <a:srgbClr val="FFFFFF"/>
                    </a:solidFill>
                  </a:tcPr>
                </a:tc>
                <a:tc>
                  <a:txBody>
                    <a:bodyPr wrap="square"/>
                    <a:lstStyle/>
                    <a:p>
                      <a:r>
                        <a:rPr sz="1100" b="1">
                          <a:solidFill>
                            <a:srgbClr val="4B4B4B"/>
                          </a:solidFill>
                          <a:latin typeface="Arial"/>
                        </a:rPr>
                        <a:t>Operations: Cashiering, Remittance, Adjustment, Prod Recon</a:t>
                      </a:r>
                    </a:p>
                  </a:txBody>
                  <a:tcPr marL="64008" marR="64008" marT="27432" marB="27432" anchor="ctr">
                    <a:solidFill>
                      <a:srgbClr val="FFFFFF"/>
                    </a:solidFill>
                  </a:tcPr>
                </a:tc>
                <a:tc>
                  <a:txBody>
                    <a:bodyPr wrap="square"/>
                    <a:lstStyle/>
                    <a:p>
                      <a:r>
                        <a:rPr sz="1100" b="0">
                          <a:solidFill>
                            <a:srgbClr val="4B4B4B"/>
                          </a:solidFill>
                          <a:latin typeface="Arial"/>
                        </a:rPr>
                        <a:t>44F</a:t>
                      </a:r>
                    </a:p>
                  </a:txBody>
                  <a:tcPr marL="64008" marR="64008" marT="27432" marB="27432" anchor="ctr">
                    <a:solidFill>
                      <a:srgbClr val="FFFFFF"/>
                    </a:solidFill>
                  </a:tcPr>
                </a:tc>
                <a:tc>
                  <a:txBody>
                    <a:bodyPr wrap="square"/>
                    <a:lstStyle/>
                    <a:p>
                      <a:r>
                        <a:rPr sz="1100" b="0">
                          <a:solidFill>
                            <a:srgbClr val="4B4B4B"/>
                          </a:solidFill>
                          <a:latin typeface="Arial"/>
                        </a:rPr>
                        <a:t>Perjelyn Joy Gutierrez, Shirley Catapang, Ronna Marie Go, Aimee Medina, Renque Galos, Carolyn Pasia Baloto, Joy Ebuenga, Mark Andrew Francisco</a:t>
                      </a:r>
                    </a:p>
                  </a:txBody>
                  <a:tcPr marL="64008" marR="64008" marT="27432" marB="27432" anchor="ctr">
                    <a:solidFill>
                      <a:srgbClr val="FFFFFF"/>
                    </a:solidFill>
                  </a:tcPr>
                </a:tc>
              </a:tr>
              <a:tr h="731520">
                <a:tc>
                  <a:txBody>
                    <a:bodyPr wrap="square"/>
                    <a:lstStyle/>
                    <a:p>
                      <a:r>
                        <a:rPr sz="1100" b="0">
                          <a:solidFill>
                            <a:srgbClr val="4B4B4B"/>
                          </a:solidFill>
                          <a:latin typeface="Arial"/>
                        </a:rPr>
                        <a:t>23-25 Sep</a:t>
                      </a:r>
                    </a:p>
                  </a:txBody>
                  <a:tcPr marL="64008" marR="64008" marT="27432" marB="27432" anchor="ctr">
                    <a:solidFill>
                      <a:srgbClr val="E5F5FF"/>
                    </a:solidFill>
                  </a:tcPr>
                </a:tc>
                <a:tc>
                  <a:txBody>
                    <a:bodyPr wrap="square"/>
                    <a:lstStyle/>
                    <a:p>
                      <a:r>
                        <a:rPr sz="1100" b="0">
                          <a:solidFill>
                            <a:srgbClr val="4B4B4B"/>
                          </a:solidFill>
                          <a:latin typeface="Arial"/>
                        </a:rPr>
                        <a:t>Sessions</a:t>
                      </a:r>
                    </a:p>
                  </a:txBody>
                  <a:tcPr marL="64008" marR="64008" marT="27432" marB="27432" anchor="ctr">
                    <a:solidFill>
                      <a:srgbClr val="E5F5FF"/>
                    </a:solidFill>
                  </a:tcPr>
                </a:tc>
                <a:tc>
                  <a:txBody>
                    <a:bodyPr wrap="square"/>
                    <a:lstStyle/>
                    <a:p>
                      <a:r>
                        <a:rPr sz="1100" b="1">
                          <a:solidFill>
                            <a:srgbClr val="4B4B4B"/>
                          </a:solidFill>
                          <a:latin typeface="Arial"/>
                        </a:rPr>
                        <a:t>Cashiering, Other Income, Tax (23); Collections, Commission (24); NB, Trade, Product (25)</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c>
                  <a:txBody>
                    <a:bodyPr wrap="square"/>
                    <a:lstStyle/>
                    <a:p>
                      <a:r>
                        <a:rPr sz="1100" b="0">
                          <a:solidFill>
                            <a:srgbClr val="4B4B4B"/>
                          </a:solidFill>
                          <a:latin typeface="Arial"/>
                        </a:rPr>
                        <a:t>Operations, Comptrollership, Marketing and TSU process owners</a:t>
                      </a:r>
                    </a:p>
                  </a:txBody>
                  <a:tcPr marL="64008" marR="64008" marT="27432" marB="27432" anchor="ctr">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Agenda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sp>
        <p:nvSpPr>
          <p:cNvPr id="9" name="Rounded Rectangle 8"/>
          <p:cNvSpPr/>
          <p:nvPr/>
        </p:nvSpPr>
        <p:spPr>
          <a:xfrm>
            <a:off x="548640" y="1280160"/>
            <a:ext cx="2663875" cy="1078992"/>
          </a:xfrm>
          <a:prstGeom prst="roundRect">
            <a:avLst>
              <a:gd name="adj" fmla="val 8000"/>
            </a:avLst>
          </a:prstGeom>
          <a:solidFill>
            <a:srgbClr val="004EA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316736"/>
            <a:ext cx="566928" cy="457200"/>
          </a:xfrm>
          <a:prstGeom prst="rect">
            <a:avLst/>
          </a:prstGeom>
          <a:noFill/>
        </p:spPr>
        <p:txBody>
          <a:bodyPr wrap="square" anchor="t" lIns="45720" rIns="45720">
            <a:spAutoFit/>
          </a:bodyPr>
          <a:lstStyle/>
          <a:p>
            <a:r>
              <a:rPr sz="2000" b="1" i="0">
                <a:solidFill>
                  <a:srgbClr val="FDB913"/>
                </a:solidFill>
                <a:latin typeface="Arial"/>
              </a:rPr>
              <a:t>0</a:t>
            </a:r>
          </a:p>
        </p:txBody>
      </p:sp>
      <p:sp>
        <p:nvSpPr>
          <p:cNvPr id="11" name="TextBox 10"/>
          <p:cNvSpPr txBox="1"/>
          <p:nvPr/>
        </p:nvSpPr>
        <p:spPr>
          <a:xfrm>
            <a:off x="1152144" y="1335024"/>
            <a:ext cx="2005507" cy="713232"/>
          </a:xfrm>
          <a:prstGeom prst="rect">
            <a:avLst/>
          </a:prstGeom>
          <a:noFill/>
        </p:spPr>
        <p:txBody>
          <a:bodyPr wrap="square" anchor="t" lIns="45720" rIns="45720" tIns="18288" bIns="18288">
            <a:spAutoFit/>
          </a:bodyPr>
          <a:lstStyle/>
          <a:p>
            <a:pPr>
              <a:spcAft>
                <a:spcPts val="400"/>
              </a:spcAft>
            </a:pPr>
            <a:r>
              <a:rPr sz="1300" b="1">
                <a:solidFill>
                  <a:srgbClr val="FFFFFF"/>
                </a:solidFill>
                <a:latin typeface="Arial"/>
              </a:rPr>
              <a:t>Our understanding of BDOI, end to end</a:t>
            </a:r>
          </a:p>
        </p:txBody>
      </p:sp>
      <p:sp>
        <p:nvSpPr>
          <p:cNvPr id="12" name="TextBox 11"/>
          <p:cNvSpPr txBox="1"/>
          <p:nvPr/>
        </p:nvSpPr>
        <p:spPr>
          <a:xfrm>
            <a:off x="640080" y="2029968"/>
            <a:ext cx="2480995" cy="292608"/>
          </a:xfrm>
          <a:prstGeom prst="rect">
            <a:avLst/>
          </a:prstGeom>
          <a:noFill/>
        </p:spPr>
        <p:txBody>
          <a:bodyPr wrap="square" anchor="t" lIns="45720" rIns="45720">
            <a:spAutoFit/>
          </a:bodyPr>
          <a:lstStyle/>
          <a:p>
            <a:r>
              <a:rPr sz="1100" b="0" i="0">
                <a:solidFill>
                  <a:srgbClr val="E5F5FF"/>
                </a:solidFill>
                <a:latin typeface="Arial"/>
              </a:rPr>
              <a:t>Holistic view</a:t>
            </a:r>
          </a:p>
        </p:txBody>
      </p:sp>
      <p:sp>
        <p:nvSpPr>
          <p:cNvPr id="13" name="Rounded Rectangle 12"/>
          <p:cNvSpPr/>
          <p:nvPr/>
        </p:nvSpPr>
        <p:spPr>
          <a:xfrm>
            <a:off x="3358819" y="1280160"/>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1971" y="1316736"/>
            <a:ext cx="566928" cy="457200"/>
          </a:xfrm>
          <a:prstGeom prst="rect">
            <a:avLst/>
          </a:prstGeom>
          <a:noFill/>
        </p:spPr>
        <p:txBody>
          <a:bodyPr wrap="square" anchor="t" lIns="45720" rIns="45720">
            <a:spAutoFit/>
          </a:bodyPr>
          <a:lstStyle/>
          <a:p>
            <a:r>
              <a:rPr sz="2000" b="1" i="0">
                <a:solidFill>
                  <a:srgbClr val="0072D8"/>
                </a:solidFill>
                <a:latin typeface="Arial"/>
              </a:rPr>
              <a:t>1</a:t>
            </a:r>
          </a:p>
        </p:txBody>
      </p:sp>
      <p:sp>
        <p:nvSpPr>
          <p:cNvPr id="15" name="TextBox 14"/>
          <p:cNvSpPr txBox="1"/>
          <p:nvPr/>
        </p:nvSpPr>
        <p:spPr>
          <a:xfrm>
            <a:off x="3962323" y="1335024"/>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New Business</a:t>
            </a:r>
          </a:p>
        </p:txBody>
      </p:sp>
      <p:sp>
        <p:nvSpPr>
          <p:cNvPr id="16" name="TextBox 15"/>
          <p:cNvSpPr txBox="1"/>
          <p:nvPr/>
        </p:nvSpPr>
        <p:spPr>
          <a:xfrm>
            <a:off x="3450259" y="2029968"/>
            <a:ext cx="2480995" cy="292608"/>
          </a:xfrm>
          <a:prstGeom prst="rect">
            <a:avLst/>
          </a:prstGeom>
          <a:noFill/>
        </p:spPr>
        <p:txBody>
          <a:bodyPr wrap="square" anchor="t" lIns="45720" rIns="45720">
            <a:spAutoFit/>
          </a:bodyPr>
          <a:lstStyle/>
          <a:p>
            <a:r>
              <a:rPr sz="1100" b="0" i="0">
                <a:solidFill>
                  <a:srgbClr val="656565"/>
                </a:solidFill>
                <a:latin typeface="Arial"/>
              </a:rPr>
              <a:t>Part A | BRD-1</a:t>
            </a:r>
          </a:p>
        </p:txBody>
      </p:sp>
      <p:sp>
        <p:nvSpPr>
          <p:cNvPr id="17" name="Rounded Rectangle 16"/>
          <p:cNvSpPr/>
          <p:nvPr/>
        </p:nvSpPr>
        <p:spPr>
          <a:xfrm>
            <a:off x="6168999" y="1280160"/>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42151" y="1316736"/>
            <a:ext cx="566928" cy="457200"/>
          </a:xfrm>
          <a:prstGeom prst="rect">
            <a:avLst/>
          </a:prstGeom>
          <a:noFill/>
        </p:spPr>
        <p:txBody>
          <a:bodyPr wrap="square" anchor="t" lIns="45720" rIns="45720">
            <a:spAutoFit/>
          </a:bodyPr>
          <a:lstStyle/>
          <a:p>
            <a:r>
              <a:rPr sz="2000" b="1" i="0">
                <a:solidFill>
                  <a:srgbClr val="0072D8"/>
                </a:solidFill>
                <a:latin typeface="Arial"/>
              </a:rPr>
              <a:t>2</a:t>
            </a:r>
          </a:p>
        </p:txBody>
      </p:sp>
      <p:sp>
        <p:nvSpPr>
          <p:cNvPr id="19" name="TextBox 18"/>
          <p:cNvSpPr txBox="1"/>
          <p:nvPr/>
        </p:nvSpPr>
        <p:spPr>
          <a:xfrm>
            <a:off x="6772503" y="1335024"/>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Renewal</a:t>
            </a:r>
          </a:p>
        </p:txBody>
      </p:sp>
      <p:sp>
        <p:nvSpPr>
          <p:cNvPr id="20" name="TextBox 19"/>
          <p:cNvSpPr txBox="1"/>
          <p:nvPr/>
        </p:nvSpPr>
        <p:spPr>
          <a:xfrm>
            <a:off x="6260439" y="2029968"/>
            <a:ext cx="2480995" cy="292608"/>
          </a:xfrm>
          <a:prstGeom prst="rect">
            <a:avLst/>
          </a:prstGeom>
          <a:noFill/>
        </p:spPr>
        <p:txBody>
          <a:bodyPr wrap="square" anchor="t" lIns="45720" rIns="45720">
            <a:spAutoFit/>
          </a:bodyPr>
          <a:lstStyle/>
          <a:p>
            <a:r>
              <a:rPr sz="1100" b="0" i="0">
                <a:solidFill>
                  <a:srgbClr val="656565"/>
                </a:solidFill>
                <a:latin typeface="Arial"/>
              </a:rPr>
              <a:t>Part A | BRD-6</a:t>
            </a:r>
          </a:p>
        </p:txBody>
      </p:sp>
      <p:sp>
        <p:nvSpPr>
          <p:cNvPr id="21" name="Rounded Rectangle 20"/>
          <p:cNvSpPr/>
          <p:nvPr/>
        </p:nvSpPr>
        <p:spPr>
          <a:xfrm>
            <a:off x="8979179" y="1280160"/>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331" y="1316736"/>
            <a:ext cx="566928" cy="457200"/>
          </a:xfrm>
          <a:prstGeom prst="rect">
            <a:avLst/>
          </a:prstGeom>
          <a:noFill/>
        </p:spPr>
        <p:txBody>
          <a:bodyPr wrap="square" anchor="t" lIns="45720" rIns="45720">
            <a:spAutoFit/>
          </a:bodyPr>
          <a:lstStyle/>
          <a:p>
            <a:r>
              <a:rPr sz="2000" b="1" i="0">
                <a:solidFill>
                  <a:srgbClr val="0072D8"/>
                </a:solidFill>
                <a:latin typeface="Arial"/>
              </a:rPr>
              <a:t>3</a:t>
            </a:r>
          </a:p>
        </p:txBody>
      </p:sp>
      <p:sp>
        <p:nvSpPr>
          <p:cNvPr id="23" name="TextBox 22"/>
          <p:cNvSpPr txBox="1"/>
          <p:nvPr/>
        </p:nvSpPr>
        <p:spPr>
          <a:xfrm>
            <a:off x="9582683" y="1335024"/>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Submitted Policies</a:t>
            </a:r>
          </a:p>
        </p:txBody>
      </p:sp>
      <p:sp>
        <p:nvSpPr>
          <p:cNvPr id="24" name="TextBox 23"/>
          <p:cNvSpPr txBox="1"/>
          <p:nvPr/>
        </p:nvSpPr>
        <p:spPr>
          <a:xfrm>
            <a:off x="9070619" y="2029968"/>
            <a:ext cx="2480995" cy="292608"/>
          </a:xfrm>
          <a:prstGeom prst="rect">
            <a:avLst/>
          </a:prstGeom>
          <a:noFill/>
        </p:spPr>
        <p:txBody>
          <a:bodyPr wrap="square" anchor="t" lIns="45720" rIns="45720">
            <a:spAutoFit/>
          </a:bodyPr>
          <a:lstStyle/>
          <a:p>
            <a:r>
              <a:rPr sz="1100" b="0" i="0">
                <a:solidFill>
                  <a:srgbClr val="656565"/>
                </a:solidFill>
                <a:latin typeface="Arial"/>
              </a:rPr>
              <a:t>Part A | BRD-12</a:t>
            </a:r>
          </a:p>
        </p:txBody>
      </p:sp>
      <p:sp>
        <p:nvSpPr>
          <p:cNvPr id="25" name="Rounded Rectangle 24"/>
          <p:cNvSpPr/>
          <p:nvPr/>
        </p:nvSpPr>
        <p:spPr>
          <a:xfrm>
            <a:off x="548640" y="2505456"/>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2542032"/>
            <a:ext cx="566928" cy="457200"/>
          </a:xfrm>
          <a:prstGeom prst="rect">
            <a:avLst/>
          </a:prstGeom>
          <a:noFill/>
        </p:spPr>
        <p:txBody>
          <a:bodyPr wrap="square" anchor="t" lIns="45720" rIns="45720">
            <a:spAutoFit/>
          </a:bodyPr>
          <a:lstStyle/>
          <a:p>
            <a:r>
              <a:rPr sz="2000" b="1" i="0">
                <a:solidFill>
                  <a:srgbClr val="0072D8"/>
                </a:solidFill>
                <a:latin typeface="Arial"/>
              </a:rPr>
              <a:t>4</a:t>
            </a:r>
          </a:p>
        </p:txBody>
      </p:sp>
      <p:sp>
        <p:nvSpPr>
          <p:cNvPr id="27" name="TextBox 26"/>
          <p:cNvSpPr txBox="1"/>
          <p:nvPr/>
        </p:nvSpPr>
        <p:spPr>
          <a:xfrm>
            <a:off x="1152144" y="2560320"/>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Employee Benefits</a:t>
            </a:r>
          </a:p>
        </p:txBody>
      </p:sp>
      <p:sp>
        <p:nvSpPr>
          <p:cNvPr id="28" name="TextBox 27"/>
          <p:cNvSpPr txBox="1"/>
          <p:nvPr/>
        </p:nvSpPr>
        <p:spPr>
          <a:xfrm>
            <a:off x="640080" y="3255264"/>
            <a:ext cx="2480995" cy="292608"/>
          </a:xfrm>
          <a:prstGeom prst="rect">
            <a:avLst/>
          </a:prstGeom>
          <a:noFill/>
        </p:spPr>
        <p:txBody>
          <a:bodyPr wrap="square" anchor="t" lIns="45720" rIns="45720">
            <a:spAutoFit/>
          </a:bodyPr>
          <a:lstStyle/>
          <a:p>
            <a:r>
              <a:rPr sz="1100" b="0" i="0">
                <a:solidFill>
                  <a:srgbClr val="656565"/>
                </a:solidFill>
                <a:latin typeface="Arial"/>
              </a:rPr>
              <a:t>Part A | BRD-8</a:t>
            </a:r>
          </a:p>
        </p:txBody>
      </p:sp>
      <p:sp>
        <p:nvSpPr>
          <p:cNvPr id="29" name="Rounded Rectangle 28"/>
          <p:cNvSpPr/>
          <p:nvPr/>
        </p:nvSpPr>
        <p:spPr>
          <a:xfrm>
            <a:off x="3358819" y="2505456"/>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31971" y="2542032"/>
            <a:ext cx="566928" cy="457200"/>
          </a:xfrm>
          <a:prstGeom prst="rect">
            <a:avLst/>
          </a:prstGeom>
          <a:noFill/>
        </p:spPr>
        <p:txBody>
          <a:bodyPr wrap="square" anchor="t" lIns="45720" rIns="45720">
            <a:spAutoFit/>
          </a:bodyPr>
          <a:lstStyle/>
          <a:p>
            <a:r>
              <a:rPr sz="2000" b="1" i="0">
                <a:solidFill>
                  <a:srgbClr val="0072D8"/>
                </a:solidFill>
                <a:latin typeface="Arial"/>
              </a:rPr>
              <a:t>5</a:t>
            </a:r>
          </a:p>
        </p:txBody>
      </p:sp>
      <p:sp>
        <p:nvSpPr>
          <p:cNvPr id="31" name="TextBox 30"/>
          <p:cNvSpPr txBox="1"/>
          <p:nvPr/>
        </p:nvSpPr>
        <p:spPr>
          <a:xfrm>
            <a:off x="3962323" y="2560320"/>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Product Maintenance and TSU</a:t>
            </a:r>
          </a:p>
        </p:txBody>
      </p:sp>
      <p:sp>
        <p:nvSpPr>
          <p:cNvPr id="32" name="TextBox 31"/>
          <p:cNvSpPr txBox="1"/>
          <p:nvPr/>
        </p:nvSpPr>
        <p:spPr>
          <a:xfrm>
            <a:off x="3450259" y="3255264"/>
            <a:ext cx="2480995" cy="292608"/>
          </a:xfrm>
          <a:prstGeom prst="rect">
            <a:avLst/>
          </a:prstGeom>
          <a:noFill/>
        </p:spPr>
        <p:txBody>
          <a:bodyPr wrap="square" anchor="t" lIns="45720" rIns="45720">
            <a:spAutoFit/>
          </a:bodyPr>
          <a:lstStyle/>
          <a:p>
            <a:r>
              <a:rPr sz="1100" b="0" i="0">
                <a:solidFill>
                  <a:srgbClr val="656565"/>
                </a:solidFill>
                <a:latin typeface="Arial"/>
              </a:rPr>
              <a:t>Part B | BRD-3</a:t>
            </a:r>
          </a:p>
        </p:txBody>
      </p:sp>
      <p:sp>
        <p:nvSpPr>
          <p:cNvPr id="33" name="Rounded Rectangle 32"/>
          <p:cNvSpPr/>
          <p:nvPr/>
        </p:nvSpPr>
        <p:spPr>
          <a:xfrm>
            <a:off x="6168999" y="2505456"/>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2151" y="2542032"/>
            <a:ext cx="566928" cy="457200"/>
          </a:xfrm>
          <a:prstGeom prst="rect">
            <a:avLst/>
          </a:prstGeom>
          <a:noFill/>
        </p:spPr>
        <p:txBody>
          <a:bodyPr wrap="square" anchor="t" lIns="45720" rIns="45720">
            <a:spAutoFit/>
          </a:bodyPr>
          <a:lstStyle/>
          <a:p>
            <a:r>
              <a:rPr sz="2000" b="1" i="0">
                <a:solidFill>
                  <a:srgbClr val="0072D8"/>
                </a:solidFill>
                <a:latin typeface="Arial"/>
              </a:rPr>
              <a:t>6</a:t>
            </a:r>
          </a:p>
        </p:txBody>
      </p:sp>
      <p:sp>
        <p:nvSpPr>
          <p:cNvPr id="35" name="TextBox 34"/>
          <p:cNvSpPr txBox="1"/>
          <p:nvPr/>
        </p:nvSpPr>
        <p:spPr>
          <a:xfrm>
            <a:off x="6772503" y="2560320"/>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Reinsurance</a:t>
            </a:r>
          </a:p>
        </p:txBody>
      </p:sp>
      <p:sp>
        <p:nvSpPr>
          <p:cNvPr id="36" name="TextBox 35"/>
          <p:cNvSpPr txBox="1"/>
          <p:nvPr/>
        </p:nvSpPr>
        <p:spPr>
          <a:xfrm>
            <a:off x="6260439" y="3255264"/>
            <a:ext cx="2480995" cy="292608"/>
          </a:xfrm>
          <a:prstGeom prst="rect">
            <a:avLst/>
          </a:prstGeom>
          <a:noFill/>
        </p:spPr>
        <p:txBody>
          <a:bodyPr wrap="square" anchor="t" lIns="45720" rIns="45720">
            <a:spAutoFit/>
          </a:bodyPr>
          <a:lstStyle/>
          <a:p>
            <a:r>
              <a:rPr sz="1100" b="0" i="0">
                <a:solidFill>
                  <a:srgbClr val="656565"/>
                </a:solidFill>
                <a:latin typeface="Arial"/>
              </a:rPr>
              <a:t>Part B | RI BRD (phase 2)</a:t>
            </a:r>
          </a:p>
        </p:txBody>
      </p:sp>
      <p:sp>
        <p:nvSpPr>
          <p:cNvPr id="37" name="Rounded Rectangle 36"/>
          <p:cNvSpPr/>
          <p:nvPr/>
        </p:nvSpPr>
        <p:spPr>
          <a:xfrm>
            <a:off x="8979179" y="2505456"/>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331" y="2542032"/>
            <a:ext cx="566928" cy="457200"/>
          </a:xfrm>
          <a:prstGeom prst="rect">
            <a:avLst/>
          </a:prstGeom>
          <a:noFill/>
        </p:spPr>
        <p:txBody>
          <a:bodyPr wrap="square" anchor="t" lIns="45720" rIns="45720">
            <a:spAutoFit/>
          </a:bodyPr>
          <a:lstStyle/>
          <a:p>
            <a:r>
              <a:rPr sz="2000" b="1" i="0">
                <a:solidFill>
                  <a:srgbClr val="0072D8"/>
                </a:solidFill>
                <a:latin typeface="Arial"/>
              </a:rPr>
              <a:t>7</a:t>
            </a:r>
          </a:p>
        </p:txBody>
      </p:sp>
      <p:sp>
        <p:nvSpPr>
          <p:cNvPr id="39" name="TextBox 38"/>
          <p:cNvSpPr txBox="1"/>
          <p:nvPr/>
        </p:nvSpPr>
        <p:spPr>
          <a:xfrm>
            <a:off x="9582683" y="2560320"/>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Operations</a:t>
            </a:r>
          </a:p>
        </p:txBody>
      </p:sp>
      <p:sp>
        <p:nvSpPr>
          <p:cNvPr id="40" name="TextBox 39"/>
          <p:cNvSpPr txBox="1"/>
          <p:nvPr/>
        </p:nvSpPr>
        <p:spPr>
          <a:xfrm>
            <a:off x="9070619" y="3255264"/>
            <a:ext cx="2480995" cy="292608"/>
          </a:xfrm>
          <a:prstGeom prst="rect">
            <a:avLst/>
          </a:prstGeom>
          <a:noFill/>
        </p:spPr>
        <p:txBody>
          <a:bodyPr wrap="square" anchor="t" lIns="45720" rIns="45720">
            <a:spAutoFit/>
          </a:bodyPr>
          <a:lstStyle/>
          <a:p>
            <a:r>
              <a:rPr sz="1100" b="0" i="0">
                <a:solidFill>
                  <a:srgbClr val="656565"/>
                </a:solidFill>
                <a:latin typeface="Arial"/>
              </a:rPr>
              <a:t>Part C | BRD-2</a:t>
            </a:r>
          </a:p>
        </p:txBody>
      </p:sp>
      <p:sp>
        <p:nvSpPr>
          <p:cNvPr id="41" name="Rounded Rectangle 40"/>
          <p:cNvSpPr/>
          <p:nvPr/>
        </p:nvSpPr>
        <p:spPr>
          <a:xfrm>
            <a:off x="548640" y="3730752"/>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3767328"/>
            <a:ext cx="566928" cy="457200"/>
          </a:xfrm>
          <a:prstGeom prst="rect">
            <a:avLst/>
          </a:prstGeom>
          <a:noFill/>
        </p:spPr>
        <p:txBody>
          <a:bodyPr wrap="square" anchor="t" lIns="45720" rIns="45720">
            <a:spAutoFit/>
          </a:bodyPr>
          <a:lstStyle/>
          <a:p>
            <a:r>
              <a:rPr sz="2000" b="1" i="0">
                <a:solidFill>
                  <a:srgbClr val="0072D8"/>
                </a:solidFill>
                <a:latin typeface="Arial"/>
              </a:rPr>
              <a:t>8</a:t>
            </a:r>
          </a:p>
        </p:txBody>
      </p:sp>
      <p:sp>
        <p:nvSpPr>
          <p:cNvPr id="43" name="TextBox 42"/>
          <p:cNvSpPr txBox="1"/>
          <p:nvPr/>
        </p:nvSpPr>
        <p:spPr>
          <a:xfrm>
            <a:off x="1152144" y="3785616"/>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Collections</a:t>
            </a:r>
          </a:p>
        </p:txBody>
      </p:sp>
      <p:sp>
        <p:nvSpPr>
          <p:cNvPr id="44" name="TextBox 43"/>
          <p:cNvSpPr txBox="1"/>
          <p:nvPr/>
        </p:nvSpPr>
        <p:spPr>
          <a:xfrm>
            <a:off x="640080" y="4480560"/>
            <a:ext cx="2480995" cy="292608"/>
          </a:xfrm>
          <a:prstGeom prst="rect">
            <a:avLst/>
          </a:prstGeom>
          <a:noFill/>
        </p:spPr>
        <p:txBody>
          <a:bodyPr wrap="square" anchor="t" lIns="45720" rIns="45720">
            <a:spAutoFit/>
          </a:bodyPr>
          <a:lstStyle/>
          <a:p>
            <a:r>
              <a:rPr sz="1100" b="0" i="0">
                <a:solidFill>
                  <a:srgbClr val="656565"/>
                </a:solidFill>
                <a:latin typeface="Arial"/>
              </a:rPr>
              <a:t>Part C | BRD-4</a:t>
            </a:r>
          </a:p>
        </p:txBody>
      </p:sp>
      <p:sp>
        <p:nvSpPr>
          <p:cNvPr id="45" name="Rounded Rectangle 44"/>
          <p:cNvSpPr/>
          <p:nvPr/>
        </p:nvSpPr>
        <p:spPr>
          <a:xfrm>
            <a:off x="3358819" y="3730752"/>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1971" y="3767328"/>
            <a:ext cx="566928" cy="457200"/>
          </a:xfrm>
          <a:prstGeom prst="rect">
            <a:avLst/>
          </a:prstGeom>
          <a:noFill/>
        </p:spPr>
        <p:txBody>
          <a:bodyPr wrap="square" anchor="t" lIns="45720" rIns="45720">
            <a:spAutoFit/>
          </a:bodyPr>
          <a:lstStyle/>
          <a:p>
            <a:r>
              <a:rPr sz="2000" b="1" i="0">
                <a:solidFill>
                  <a:srgbClr val="0072D8"/>
                </a:solidFill>
                <a:latin typeface="Arial"/>
              </a:rPr>
              <a:t>9</a:t>
            </a:r>
          </a:p>
        </p:txBody>
      </p:sp>
      <p:sp>
        <p:nvSpPr>
          <p:cNvPr id="47" name="TextBox 46"/>
          <p:cNvSpPr txBox="1"/>
          <p:nvPr/>
        </p:nvSpPr>
        <p:spPr>
          <a:xfrm>
            <a:off x="3962323" y="3785616"/>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Accounting, Disbursement and ACSL</a:t>
            </a:r>
          </a:p>
        </p:txBody>
      </p:sp>
      <p:sp>
        <p:nvSpPr>
          <p:cNvPr id="48" name="TextBox 47"/>
          <p:cNvSpPr txBox="1"/>
          <p:nvPr/>
        </p:nvSpPr>
        <p:spPr>
          <a:xfrm>
            <a:off x="3450259" y="4480560"/>
            <a:ext cx="2480995" cy="292608"/>
          </a:xfrm>
          <a:prstGeom prst="rect">
            <a:avLst/>
          </a:prstGeom>
          <a:noFill/>
        </p:spPr>
        <p:txBody>
          <a:bodyPr wrap="square" anchor="t" lIns="45720" rIns="45720">
            <a:spAutoFit/>
          </a:bodyPr>
          <a:lstStyle/>
          <a:p>
            <a:r>
              <a:rPr sz="1100" b="0" i="0">
                <a:solidFill>
                  <a:srgbClr val="656565"/>
                </a:solidFill>
                <a:latin typeface="Arial"/>
              </a:rPr>
              <a:t>Part D | BRD-5</a:t>
            </a:r>
          </a:p>
        </p:txBody>
      </p:sp>
      <p:sp>
        <p:nvSpPr>
          <p:cNvPr id="49" name="Rounded Rectangle 48"/>
          <p:cNvSpPr/>
          <p:nvPr/>
        </p:nvSpPr>
        <p:spPr>
          <a:xfrm>
            <a:off x="6168999" y="3730752"/>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42151" y="3767328"/>
            <a:ext cx="566928" cy="457200"/>
          </a:xfrm>
          <a:prstGeom prst="rect">
            <a:avLst/>
          </a:prstGeom>
          <a:noFill/>
        </p:spPr>
        <p:txBody>
          <a:bodyPr wrap="square" anchor="t" lIns="45720" rIns="45720">
            <a:spAutoFit/>
          </a:bodyPr>
          <a:lstStyle/>
          <a:p>
            <a:r>
              <a:rPr sz="2000" b="1" i="0">
                <a:solidFill>
                  <a:srgbClr val="0072D8"/>
                </a:solidFill>
                <a:latin typeface="Arial"/>
              </a:rPr>
              <a:t>10</a:t>
            </a:r>
          </a:p>
        </p:txBody>
      </p:sp>
      <p:sp>
        <p:nvSpPr>
          <p:cNvPr id="51" name="TextBox 50"/>
          <p:cNvSpPr txBox="1"/>
          <p:nvPr/>
        </p:nvSpPr>
        <p:spPr>
          <a:xfrm>
            <a:off x="6772503" y="3785616"/>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Claims</a:t>
            </a:r>
          </a:p>
        </p:txBody>
      </p:sp>
      <p:sp>
        <p:nvSpPr>
          <p:cNvPr id="52" name="TextBox 51"/>
          <p:cNvSpPr txBox="1"/>
          <p:nvPr/>
        </p:nvSpPr>
        <p:spPr>
          <a:xfrm>
            <a:off x="6260439" y="4480560"/>
            <a:ext cx="2480995" cy="292608"/>
          </a:xfrm>
          <a:prstGeom prst="rect">
            <a:avLst/>
          </a:prstGeom>
          <a:noFill/>
        </p:spPr>
        <p:txBody>
          <a:bodyPr wrap="square" anchor="t" lIns="45720" rIns="45720">
            <a:spAutoFit/>
          </a:bodyPr>
          <a:lstStyle/>
          <a:p>
            <a:r>
              <a:rPr sz="1100" b="0" i="0">
                <a:solidFill>
                  <a:srgbClr val="656565"/>
                </a:solidFill>
                <a:latin typeface="Arial"/>
              </a:rPr>
              <a:t>Part E | BRD-7</a:t>
            </a:r>
          </a:p>
        </p:txBody>
      </p:sp>
      <p:sp>
        <p:nvSpPr>
          <p:cNvPr id="53" name="Rounded Rectangle 52"/>
          <p:cNvSpPr/>
          <p:nvPr/>
        </p:nvSpPr>
        <p:spPr>
          <a:xfrm>
            <a:off x="8979179" y="3730752"/>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52331" y="3767328"/>
            <a:ext cx="566928" cy="457200"/>
          </a:xfrm>
          <a:prstGeom prst="rect">
            <a:avLst/>
          </a:prstGeom>
          <a:noFill/>
        </p:spPr>
        <p:txBody>
          <a:bodyPr wrap="square" anchor="t" lIns="45720" rIns="45720">
            <a:spAutoFit/>
          </a:bodyPr>
          <a:lstStyle/>
          <a:p>
            <a:r>
              <a:rPr sz="2000" b="1" i="0">
                <a:solidFill>
                  <a:srgbClr val="0072D8"/>
                </a:solidFill>
                <a:latin typeface="Arial"/>
              </a:rPr>
              <a:t>11</a:t>
            </a:r>
          </a:p>
        </p:txBody>
      </p:sp>
      <p:sp>
        <p:nvSpPr>
          <p:cNvPr id="55" name="TextBox 54"/>
          <p:cNvSpPr txBox="1"/>
          <p:nvPr/>
        </p:nvSpPr>
        <p:spPr>
          <a:xfrm>
            <a:off x="9582683" y="3785616"/>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Customer Servicing and Case Management</a:t>
            </a:r>
          </a:p>
        </p:txBody>
      </p:sp>
      <p:sp>
        <p:nvSpPr>
          <p:cNvPr id="56" name="TextBox 55"/>
          <p:cNvSpPr txBox="1"/>
          <p:nvPr/>
        </p:nvSpPr>
        <p:spPr>
          <a:xfrm>
            <a:off x="9070619" y="4480560"/>
            <a:ext cx="2480995" cy="292608"/>
          </a:xfrm>
          <a:prstGeom prst="rect">
            <a:avLst/>
          </a:prstGeom>
          <a:noFill/>
        </p:spPr>
        <p:txBody>
          <a:bodyPr wrap="square" anchor="t" lIns="45720" rIns="45720">
            <a:spAutoFit/>
          </a:bodyPr>
          <a:lstStyle/>
          <a:p>
            <a:r>
              <a:rPr sz="1100" b="0" i="0">
                <a:solidFill>
                  <a:srgbClr val="656565"/>
                </a:solidFill>
                <a:latin typeface="Arial"/>
              </a:rPr>
              <a:t>Part E | BRD-9</a:t>
            </a:r>
          </a:p>
        </p:txBody>
      </p:sp>
      <p:sp>
        <p:nvSpPr>
          <p:cNvPr id="57" name="Rounded Rectangle 56"/>
          <p:cNvSpPr/>
          <p:nvPr/>
        </p:nvSpPr>
        <p:spPr>
          <a:xfrm>
            <a:off x="548640" y="4956048"/>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1792" y="4992624"/>
            <a:ext cx="566928" cy="457200"/>
          </a:xfrm>
          <a:prstGeom prst="rect">
            <a:avLst/>
          </a:prstGeom>
          <a:noFill/>
        </p:spPr>
        <p:txBody>
          <a:bodyPr wrap="square" anchor="t" lIns="45720" rIns="45720">
            <a:spAutoFit/>
          </a:bodyPr>
          <a:lstStyle/>
          <a:p>
            <a:r>
              <a:rPr sz="2000" b="1" i="0">
                <a:solidFill>
                  <a:srgbClr val="0072D8"/>
                </a:solidFill>
                <a:latin typeface="Arial"/>
              </a:rPr>
              <a:t>12</a:t>
            </a:r>
          </a:p>
        </p:txBody>
      </p:sp>
      <p:sp>
        <p:nvSpPr>
          <p:cNvPr id="59" name="TextBox 58"/>
          <p:cNvSpPr txBox="1"/>
          <p:nvPr/>
        </p:nvSpPr>
        <p:spPr>
          <a:xfrm>
            <a:off x="1152144" y="5010912"/>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Sanction Screening</a:t>
            </a:r>
          </a:p>
        </p:txBody>
      </p:sp>
      <p:sp>
        <p:nvSpPr>
          <p:cNvPr id="60" name="TextBox 59"/>
          <p:cNvSpPr txBox="1"/>
          <p:nvPr/>
        </p:nvSpPr>
        <p:spPr>
          <a:xfrm>
            <a:off x="640080" y="5705856"/>
            <a:ext cx="2480995" cy="292608"/>
          </a:xfrm>
          <a:prstGeom prst="rect">
            <a:avLst/>
          </a:prstGeom>
          <a:noFill/>
        </p:spPr>
        <p:txBody>
          <a:bodyPr wrap="square" anchor="t" lIns="45720" rIns="45720">
            <a:spAutoFit/>
          </a:bodyPr>
          <a:lstStyle/>
          <a:p>
            <a:r>
              <a:rPr sz="1100" b="0" i="0">
                <a:solidFill>
                  <a:srgbClr val="656565"/>
                </a:solidFill>
                <a:latin typeface="Arial"/>
              </a:rPr>
              <a:t>Part F | BRD-10</a:t>
            </a:r>
          </a:p>
        </p:txBody>
      </p:sp>
      <p:sp>
        <p:nvSpPr>
          <p:cNvPr id="61" name="Rounded Rectangle 60"/>
          <p:cNvSpPr/>
          <p:nvPr/>
        </p:nvSpPr>
        <p:spPr>
          <a:xfrm>
            <a:off x="3358819" y="4956048"/>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431971" y="4992624"/>
            <a:ext cx="566928" cy="457200"/>
          </a:xfrm>
          <a:prstGeom prst="rect">
            <a:avLst/>
          </a:prstGeom>
          <a:noFill/>
        </p:spPr>
        <p:txBody>
          <a:bodyPr wrap="square" anchor="t" lIns="45720" rIns="45720">
            <a:spAutoFit/>
          </a:bodyPr>
          <a:lstStyle/>
          <a:p>
            <a:r>
              <a:rPr sz="2000" b="1" i="0">
                <a:solidFill>
                  <a:srgbClr val="0072D8"/>
                </a:solidFill>
                <a:latin typeface="Arial"/>
              </a:rPr>
              <a:t>13</a:t>
            </a:r>
          </a:p>
        </p:txBody>
      </p:sp>
      <p:sp>
        <p:nvSpPr>
          <p:cNvPr id="63" name="TextBox 62"/>
          <p:cNvSpPr txBox="1"/>
          <p:nvPr/>
        </p:nvSpPr>
        <p:spPr>
          <a:xfrm>
            <a:off x="3962323" y="5010912"/>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User Access Maintenance</a:t>
            </a:r>
          </a:p>
        </p:txBody>
      </p:sp>
      <p:sp>
        <p:nvSpPr>
          <p:cNvPr id="64" name="TextBox 63"/>
          <p:cNvSpPr txBox="1"/>
          <p:nvPr/>
        </p:nvSpPr>
        <p:spPr>
          <a:xfrm>
            <a:off x="3450259" y="5705856"/>
            <a:ext cx="2480995" cy="292608"/>
          </a:xfrm>
          <a:prstGeom prst="rect">
            <a:avLst/>
          </a:prstGeom>
          <a:noFill/>
        </p:spPr>
        <p:txBody>
          <a:bodyPr wrap="square" anchor="t" lIns="45720" rIns="45720">
            <a:spAutoFit/>
          </a:bodyPr>
          <a:lstStyle/>
          <a:p>
            <a:r>
              <a:rPr sz="1100" b="0" i="0">
                <a:solidFill>
                  <a:srgbClr val="656565"/>
                </a:solidFill>
                <a:latin typeface="Arial"/>
              </a:rPr>
              <a:t>Part F | BRD-11</a:t>
            </a:r>
          </a:p>
        </p:txBody>
      </p:sp>
      <p:sp>
        <p:nvSpPr>
          <p:cNvPr id="65" name="Rounded Rectangle 64"/>
          <p:cNvSpPr/>
          <p:nvPr/>
        </p:nvSpPr>
        <p:spPr>
          <a:xfrm>
            <a:off x="6168999" y="4956048"/>
            <a:ext cx="2663875" cy="1078992"/>
          </a:xfrm>
          <a:prstGeom prst="roundRect">
            <a:avLst>
              <a:gd name="adj" fmla="val 8000"/>
            </a:avLst>
          </a:prstGeom>
          <a:solidFill>
            <a:srgbClr val="004EA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42151" y="4992624"/>
            <a:ext cx="566928" cy="457200"/>
          </a:xfrm>
          <a:prstGeom prst="rect">
            <a:avLst/>
          </a:prstGeom>
          <a:noFill/>
        </p:spPr>
        <p:txBody>
          <a:bodyPr wrap="square" anchor="t" lIns="45720" rIns="45720">
            <a:spAutoFit/>
          </a:bodyPr>
          <a:lstStyle/>
          <a:p>
            <a:r>
              <a:rPr sz="2000" b="1" i="0">
                <a:solidFill>
                  <a:srgbClr val="FDB913"/>
                </a:solidFill>
                <a:latin typeface="Arial"/>
              </a:rPr>
              <a:t>14-16</a:t>
            </a:r>
          </a:p>
        </p:txBody>
      </p:sp>
      <p:sp>
        <p:nvSpPr>
          <p:cNvPr id="67" name="TextBox 66"/>
          <p:cNvSpPr txBox="1"/>
          <p:nvPr/>
        </p:nvSpPr>
        <p:spPr>
          <a:xfrm>
            <a:off x="6772503" y="5010912"/>
            <a:ext cx="2005507" cy="713232"/>
          </a:xfrm>
          <a:prstGeom prst="rect">
            <a:avLst/>
          </a:prstGeom>
          <a:noFill/>
        </p:spPr>
        <p:txBody>
          <a:bodyPr wrap="square" anchor="t" lIns="45720" rIns="45720" tIns="18288" bIns="18288">
            <a:spAutoFit/>
          </a:bodyPr>
          <a:lstStyle/>
          <a:p>
            <a:pPr>
              <a:spcAft>
                <a:spcPts val="400"/>
              </a:spcAft>
            </a:pPr>
            <a:r>
              <a:rPr sz="1300" b="1">
                <a:solidFill>
                  <a:srgbClr val="FFFFFF"/>
                </a:solidFill>
                <a:latin typeface="Arial"/>
              </a:rPr>
              <a:t>Data migration, integrations, shared capabilities</a:t>
            </a:r>
          </a:p>
        </p:txBody>
      </p:sp>
      <p:sp>
        <p:nvSpPr>
          <p:cNvPr id="68" name="TextBox 67"/>
          <p:cNvSpPr txBox="1"/>
          <p:nvPr/>
        </p:nvSpPr>
        <p:spPr>
          <a:xfrm>
            <a:off x="6260439" y="5705856"/>
            <a:ext cx="2480995" cy="292608"/>
          </a:xfrm>
          <a:prstGeom prst="rect">
            <a:avLst/>
          </a:prstGeom>
          <a:noFill/>
        </p:spPr>
        <p:txBody>
          <a:bodyPr wrap="square" anchor="t" lIns="45720" rIns="45720">
            <a:spAutoFit/>
          </a:bodyPr>
          <a:lstStyle/>
          <a:p>
            <a:r>
              <a:rPr sz="1100" b="0" i="0">
                <a:solidFill>
                  <a:srgbClr val="E5F5FF"/>
                </a:solidFill>
                <a:latin typeface="Arial"/>
              </a:rPr>
              <a:t>Part G | cross-cutting</a:t>
            </a:r>
          </a:p>
        </p:txBody>
      </p:sp>
      <p:sp>
        <p:nvSpPr>
          <p:cNvPr id="69" name="Rounded Rectangle 68"/>
          <p:cNvSpPr/>
          <p:nvPr/>
        </p:nvSpPr>
        <p:spPr>
          <a:xfrm>
            <a:off x="8979179" y="4956048"/>
            <a:ext cx="2663875" cy="1078992"/>
          </a:xfrm>
          <a:prstGeom prst="roundRect">
            <a:avLst>
              <a:gd name="adj" fmla="val 8000"/>
            </a:avLst>
          </a:prstGeom>
          <a:solidFill>
            <a:srgbClr val="004EA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052331" y="4992624"/>
            <a:ext cx="566928" cy="457200"/>
          </a:xfrm>
          <a:prstGeom prst="rect">
            <a:avLst/>
          </a:prstGeom>
          <a:noFill/>
        </p:spPr>
        <p:txBody>
          <a:bodyPr wrap="square" anchor="t" lIns="45720" rIns="45720">
            <a:spAutoFit/>
          </a:bodyPr>
          <a:lstStyle/>
          <a:p>
            <a:r>
              <a:rPr sz="2000" b="1" i="0">
                <a:solidFill>
                  <a:srgbClr val="FDB913"/>
                </a:solidFill>
                <a:latin typeface="Arial"/>
              </a:rPr>
              <a:t>17</a:t>
            </a:r>
          </a:p>
        </p:txBody>
      </p:sp>
      <p:sp>
        <p:nvSpPr>
          <p:cNvPr id="71" name="TextBox 70"/>
          <p:cNvSpPr txBox="1"/>
          <p:nvPr/>
        </p:nvSpPr>
        <p:spPr>
          <a:xfrm>
            <a:off x="9582683" y="5010912"/>
            <a:ext cx="2005507" cy="713232"/>
          </a:xfrm>
          <a:prstGeom prst="rect">
            <a:avLst/>
          </a:prstGeom>
          <a:noFill/>
        </p:spPr>
        <p:txBody>
          <a:bodyPr wrap="square" anchor="t" lIns="45720" rIns="45720" tIns="18288" bIns="18288">
            <a:spAutoFit/>
          </a:bodyPr>
          <a:lstStyle/>
          <a:p>
            <a:pPr>
              <a:spcAft>
                <a:spcPts val="400"/>
              </a:spcAft>
            </a:pPr>
            <a:r>
              <a:rPr sz="1300" b="1">
                <a:solidFill>
                  <a:srgbClr val="FFFFFF"/>
                </a:solidFill>
                <a:latin typeface="Arial"/>
              </a:rPr>
              <a:t>Roadmap, consolidated gaps and open points</a:t>
            </a:r>
          </a:p>
        </p:txBody>
      </p:sp>
      <p:sp>
        <p:nvSpPr>
          <p:cNvPr id="72" name="TextBox 71"/>
          <p:cNvSpPr txBox="1"/>
          <p:nvPr/>
        </p:nvSpPr>
        <p:spPr>
          <a:xfrm>
            <a:off x="9070619" y="5705856"/>
            <a:ext cx="2480995" cy="292608"/>
          </a:xfrm>
          <a:prstGeom prst="rect">
            <a:avLst/>
          </a:prstGeom>
          <a:noFill/>
        </p:spPr>
        <p:txBody>
          <a:bodyPr wrap="square" anchor="t" lIns="45720" rIns="45720">
            <a:spAutoFit/>
          </a:bodyPr>
          <a:lstStyle/>
          <a:p>
            <a:r>
              <a:rPr sz="1100" b="0" i="0">
                <a:solidFill>
                  <a:srgbClr val="E5F5FF"/>
                </a:solidFill>
                <a:latin typeface="Arial"/>
              </a:rPr>
              <a:t>Part 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read this deck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Each department chapter plays back: what we heard, the As-Is flow, the pain points, the To-Be in the BRD, what the BRD does not cover, and best practice</a:t>
            </a:r>
          </a:p>
          <a:p>
            <a:pPr>
              <a:spcAft>
                <a:spcPts val="600"/>
              </a:spcAft>
            </a:pPr>
            <a:r>
              <a:rPr sz="1500">
                <a:solidFill>
                  <a:srgbClr val="004EA8"/>
                </a:solidFill>
                <a:latin typeface="Arial"/>
              </a:rPr>
              <a:t>•  </a:t>
            </a:r>
            <a:r>
              <a:rPr sz="1500">
                <a:solidFill>
                  <a:srgbClr val="4B4B4B"/>
                </a:solidFill>
                <a:latin typeface="Arial"/>
              </a:rPr>
              <a:t>Swimlanes: one lane per BDOI role, external party (grey) or system (light blue); dashed boxes are steps in today's systems or files</a:t>
            </a:r>
          </a:p>
          <a:p>
            <a:pPr>
              <a:spcAft>
                <a:spcPts val="600"/>
              </a:spcAft>
            </a:pPr>
            <a:r>
              <a:rPr sz="1500">
                <a:solidFill>
                  <a:srgbClr val="004EA8"/>
                </a:solidFill>
                <a:latin typeface="Arial"/>
              </a:rPr>
              <a:t>•  </a:t>
            </a:r>
            <a:r>
              <a:rPr sz="1500">
                <a:solidFill>
                  <a:srgbClr val="4B4B4B"/>
                </a:solidFill>
                <a:latin typeface="Arial"/>
              </a:rPr>
              <a:t>Yellow numbered circles are pain points; the slide after the swimlanes explains each one with its source</a:t>
            </a:r>
          </a:p>
          <a:p>
            <a:pPr>
              <a:spcAft>
                <a:spcPts val="600"/>
              </a:spcAft>
            </a:pPr>
            <a:r>
              <a:rPr sz="1500">
                <a:solidFill>
                  <a:srgbClr val="004EA8"/>
                </a:solidFill>
                <a:latin typeface="Arial"/>
              </a:rPr>
              <a:t>•  </a:t>
            </a:r>
            <a:r>
              <a:rPr sz="1500">
                <a:solidFill>
                  <a:srgbClr val="4B4B4B"/>
                </a:solidFill>
                <a:latin typeface="Arial"/>
              </a:rPr>
              <a:t>On the To-Be swimlane (the BRD), light blue boxes are steps a user takes on a screen and solid blue boxes are steps the system runs by itself</a:t>
            </a:r>
          </a:p>
          <a:p>
            <a:pPr>
              <a:spcAft>
                <a:spcPts val="600"/>
              </a:spcAft>
            </a:pPr>
            <a:r>
              <a:rPr sz="1500">
                <a:solidFill>
                  <a:srgbClr val="004EA8"/>
                </a:solidFill>
                <a:latin typeface="Arial"/>
              </a:rPr>
              <a:t>•  </a:t>
            </a:r>
            <a:r>
              <a:rPr sz="1500">
                <a:solidFill>
                  <a:srgbClr val="4B4B4B"/>
                </a:solidFill>
                <a:latin typeface="Arial"/>
              </a:rPr>
              <a:t>Coverage chips: In the BRD, Partly in BRD, Not in BRD, Beyond the BRD (industry practice), BDOI to confirm</a:t>
            </a:r>
          </a:p>
          <a:p>
            <a:pPr>
              <a:spcAft>
                <a:spcPts val="600"/>
              </a:spcAft>
            </a:pPr>
            <a:r>
              <a:rPr sz="1500">
                <a:solidFill>
                  <a:srgbClr val="004EA8"/>
                </a:solidFill>
                <a:latin typeface="Arial"/>
              </a:rPr>
              <a:t>•  </a:t>
            </a:r>
            <a:r>
              <a:rPr sz="1500">
                <a:solidFill>
                  <a:srgbClr val="4B4B4B"/>
                </a:solidFill>
                <a:latin typeface="Arial"/>
              </a:rPr>
              <a:t>Refs: floor-walk notes (NB-03, CA-02...), Day 1 overview page, process flow, BRD page, register item (DCR-nnn), open question (Qnn)</a:t>
            </a:r>
          </a:p>
          <a:p>
            <a:pPr>
              <a:spcAft>
                <a:spcPts val="600"/>
              </a:spcAft>
            </a:pPr>
            <a:r>
              <a:rPr sz="1500">
                <a:solidFill>
                  <a:srgbClr val="004EA8"/>
                </a:solidFill>
                <a:latin typeface="Arial"/>
              </a:rPr>
              <a:t>•  </a:t>
            </a:r>
            <a:r>
              <a:rPr sz="1500">
                <a:solidFill>
                  <a:srgbClr val="4B4B4B"/>
                </a:solidFill>
                <a:latin typeface="Arial"/>
              </a:rPr>
              <a:t>Not in this deck: build progress, test status or plans; those are in the programme status reports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0. Our understanding of BDOI</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enterprise today, the To-Be in the BRDs, and where the pain sits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Business Process Reverse KT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BDOI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sp>
        <p:nvSpPr>
          <p:cNvPr id="9" name="Rounded Rectangle 8"/>
          <p:cNvSpPr/>
          <p:nvPr/>
        </p:nvSpPr>
        <p:spPr>
          <a:xfrm>
            <a:off x="548640"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353312"/>
            <a:ext cx="2362123" cy="685800"/>
          </a:xfrm>
          <a:prstGeom prst="rect">
            <a:avLst/>
          </a:prstGeom>
          <a:noFill/>
        </p:spPr>
        <p:txBody>
          <a:bodyPr wrap="square" anchor="t" lIns="45720" rIns="45720">
            <a:spAutoFit/>
          </a:bodyPr>
          <a:lstStyle/>
          <a:p>
            <a:r>
              <a:rPr sz="3000" b="1" i="0">
                <a:solidFill>
                  <a:srgbClr val="004EA8"/>
                </a:solidFill>
                <a:latin typeface="Arial"/>
              </a:rPr>
              <a:t>~55</a:t>
            </a:r>
          </a:p>
        </p:txBody>
      </p:sp>
      <p:sp>
        <p:nvSpPr>
          <p:cNvPr id="11" name="TextBox 10"/>
          <p:cNvSpPr txBox="1"/>
          <p:nvPr/>
        </p:nvSpPr>
        <p:spPr>
          <a:xfrm>
            <a:off x="685800"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insurer partners, each connected and handled differently</a:t>
            </a:r>
          </a:p>
        </p:txBody>
      </p:sp>
      <p:sp>
        <p:nvSpPr>
          <p:cNvPr id="12" name="TextBox 11"/>
          <p:cNvSpPr txBox="1"/>
          <p:nvPr/>
        </p:nvSpPr>
        <p:spPr>
          <a:xfrm>
            <a:off x="685800"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OV-01</a:t>
            </a:r>
          </a:p>
        </p:txBody>
      </p:sp>
      <p:sp>
        <p:nvSpPr>
          <p:cNvPr id="13" name="Rounded Rectangle 12"/>
          <p:cNvSpPr/>
          <p:nvPr/>
        </p:nvSpPr>
        <p:spPr>
          <a:xfrm>
            <a:off x="3367963"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123" y="1353312"/>
            <a:ext cx="2362123" cy="685800"/>
          </a:xfrm>
          <a:prstGeom prst="rect">
            <a:avLst/>
          </a:prstGeom>
          <a:noFill/>
        </p:spPr>
        <p:txBody>
          <a:bodyPr wrap="square" anchor="t" lIns="45720" rIns="45720">
            <a:spAutoFit/>
          </a:bodyPr>
          <a:lstStyle/>
          <a:p>
            <a:r>
              <a:rPr sz="3000" b="1" i="0">
                <a:solidFill>
                  <a:srgbClr val="004EA8"/>
                </a:solidFill>
                <a:latin typeface="Arial"/>
              </a:rPr>
              <a:t>8</a:t>
            </a:r>
          </a:p>
        </p:txBody>
      </p:sp>
      <p:sp>
        <p:nvSpPr>
          <p:cNvPr id="15" name="TextBox 14"/>
          <p:cNvSpPr txBox="1"/>
          <p:nvPr/>
        </p:nvSpPr>
        <p:spPr>
          <a:xfrm>
            <a:off x="3505123"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branches, plus head office units</a:t>
            </a:r>
          </a:p>
        </p:txBody>
      </p:sp>
      <p:sp>
        <p:nvSpPr>
          <p:cNvPr id="16" name="TextBox 15"/>
          <p:cNvSpPr txBox="1"/>
          <p:nvPr/>
        </p:nvSpPr>
        <p:spPr>
          <a:xfrm>
            <a:off x="3505123"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FN-01</a:t>
            </a:r>
          </a:p>
        </p:txBody>
      </p:sp>
      <p:sp>
        <p:nvSpPr>
          <p:cNvPr id="17" name="Rounded Rectangle 16"/>
          <p:cNvSpPr/>
          <p:nvPr/>
        </p:nvSpPr>
        <p:spPr>
          <a:xfrm>
            <a:off x="6187287"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447" y="1353312"/>
            <a:ext cx="2362123" cy="685800"/>
          </a:xfrm>
          <a:prstGeom prst="rect">
            <a:avLst/>
          </a:prstGeom>
          <a:noFill/>
        </p:spPr>
        <p:txBody>
          <a:bodyPr wrap="square" anchor="t" lIns="45720" rIns="45720">
            <a:spAutoFit/>
          </a:bodyPr>
          <a:lstStyle/>
          <a:p>
            <a:r>
              <a:rPr sz="3000" b="1" i="0">
                <a:solidFill>
                  <a:srgbClr val="004EA8"/>
                </a:solidFill>
                <a:latin typeface="Arial"/>
              </a:rPr>
              <a:t>3</a:t>
            </a:r>
          </a:p>
        </p:txBody>
      </p:sp>
      <p:sp>
        <p:nvSpPr>
          <p:cNvPr id="19" name="TextBox 18"/>
          <p:cNvSpPr txBox="1"/>
          <p:nvPr/>
        </p:nvSpPr>
        <p:spPr>
          <a:xfrm>
            <a:off x="6324447"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core systems: ISYS / Broker, QPS, EBIX Evolution, plus Excel</a:t>
            </a:r>
          </a:p>
        </p:txBody>
      </p:sp>
      <p:sp>
        <p:nvSpPr>
          <p:cNvPr id="20" name="TextBox 19"/>
          <p:cNvSpPr txBox="1"/>
          <p:nvPr/>
        </p:nvSpPr>
        <p:spPr>
          <a:xfrm>
            <a:off x="6324447"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Day 1 p.10</a:t>
            </a:r>
          </a:p>
        </p:txBody>
      </p:sp>
      <p:sp>
        <p:nvSpPr>
          <p:cNvPr id="21" name="Rounded Rectangle 20"/>
          <p:cNvSpPr/>
          <p:nvPr/>
        </p:nvSpPr>
        <p:spPr>
          <a:xfrm>
            <a:off x="9006611"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3771" y="1353312"/>
            <a:ext cx="2362123" cy="685800"/>
          </a:xfrm>
          <a:prstGeom prst="rect">
            <a:avLst/>
          </a:prstGeom>
          <a:noFill/>
        </p:spPr>
        <p:txBody>
          <a:bodyPr wrap="square" anchor="t" lIns="45720" rIns="45720">
            <a:spAutoFit/>
          </a:bodyPr>
          <a:lstStyle/>
          <a:p>
            <a:r>
              <a:rPr sz="3000" b="1" i="0">
                <a:solidFill>
                  <a:srgbClr val="004EA8"/>
                </a:solidFill>
                <a:latin typeface="Arial"/>
              </a:rPr>
              <a:t>3</a:t>
            </a:r>
          </a:p>
        </p:txBody>
      </p:sp>
      <p:sp>
        <p:nvSpPr>
          <p:cNvPr id="23" name="TextBox 22"/>
          <p:cNvSpPr txBox="1"/>
          <p:nvPr/>
        </p:nvSpPr>
        <p:spPr>
          <a:xfrm>
            <a:off x="9143771"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references for one transaction (ISYS, QPS, EBIX), plus the payment reference</a:t>
            </a:r>
          </a:p>
        </p:txBody>
      </p:sp>
      <p:sp>
        <p:nvSpPr>
          <p:cNvPr id="24" name="TextBox 23"/>
          <p:cNvSpPr txBox="1"/>
          <p:nvPr/>
        </p:nvSpPr>
        <p:spPr>
          <a:xfrm>
            <a:off x="9143771"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OV-03</a:t>
            </a:r>
          </a:p>
        </p:txBody>
      </p:sp>
      <p:sp>
        <p:nvSpPr>
          <p:cNvPr id="25" name="Rounded Rectangle 24"/>
          <p:cNvSpPr/>
          <p:nvPr/>
        </p:nvSpPr>
        <p:spPr>
          <a:xfrm>
            <a:off x="548640"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721608"/>
            <a:ext cx="2362123" cy="685800"/>
          </a:xfrm>
          <a:prstGeom prst="rect">
            <a:avLst/>
          </a:prstGeom>
          <a:noFill/>
        </p:spPr>
        <p:txBody>
          <a:bodyPr wrap="square" anchor="t" lIns="45720" rIns="45720">
            <a:spAutoFit/>
          </a:bodyPr>
          <a:lstStyle/>
          <a:p>
            <a:r>
              <a:rPr sz="3000" b="1" i="0">
                <a:solidFill>
                  <a:srgbClr val="004EA8"/>
                </a:solidFill>
                <a:latin typeface="Arial"/>
              </a:rPr>
              <a:t>21,200</a:t>
            </a:r>
          </a:p>
        </p:txBody>
      </p:sp>
      <p:sp>
        <p:nvSpPr>
          <p:cNvPr id="27" name="TextBox 26"/>
          <p:cNvSpPr txBox="1"/>
          <p:nvPr/>
        </p:nvSpPr>
        <p:spPr>
          <a:xfrm>
            <a:off x="685800"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New Business transactions a month</a:t>
            </a:r>
          </a:p>
        </p:txBody>
      </p:sp>
      <p:sp>
        <p:nvSpPr>
          <p:cNvPr id="28" name="TextBox 27"/>
          <p:cNvSpPr txBox="1"/>
          <p:nvPr/>
        </p:nvSpPr>
        <p:spPr>
          <a:xfrm>
            <a:off x="685800"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BRD-1 p.210</a:t>
            </a:r>
          </a:p>
        </p:txBody>
      </p:sp>
      <p:sp>
        <p:nvSpPr>
          <p:cNvPr id="29" name="Rounded Rectangle 28"/>
          <p:cNvSpPr/>
          <p:nvPr/>
        </p:nvSpPr>
        <p:spPr>
          <a:xfrm>
            <a:off x="3367963"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05123" y="3721608"/>
            <a:ext cx="2362123" cy="685800"/>
          </a:xfrm>
          <a:prstGeom prst="rect">
            <a:avLst/>
          </a:prstGeom>
          <a:noFill/>
        </p:spPr>
        <p:txBody>
          <a:bodyPr wrap="square" anchor="t" lIns="45720" rIns="45720">
            <a:spAutoFit/>
          </a:bodyPr>
          <a:lstStyle/>
          <a:p>
            <a:r>
              <a:rPr sz="3000" b="1" i="0">
                <a:solidFill>
                  <a:srgbClr val="004EA8"/>
                </a:solidFill>
                <a:latin typeface="Arial"/>
              </a:rPr>
              <a:t>25,800</a:t>
            </a:r>
          </a:p>
        </p:txBody>
      </p:sp>
      <p:sp>
        <p:nvSpPr>
          <p:cNvPr id="31" name="TextBox 30"/>
          <p:cNvSpPr txBox="1"/>
          <p:nvPr/>
        </p:nvSpPr>
        <p:spPr>
          <a:xfrm>
            <a:off x="3505123"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renewal transactions a month</a:t>
            </a:r>
          </a:p>
        </p:txBody>
      </p:sp>
      <p:sp>
        <p:nvSpPr>
          <p:cNvPr id="32" name="TextBox 31"/>
          <p:cNvSpPr txBox="1"/>
          <p:nvPr/>
        </p:nvSpPr>
        <p:spPr>
          <a:xfrm>
            <a:off x="3505123"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BRD-6 p.186-188</a:t>
            </a:r>
          </a:p>
        </p:txBody>
      </p:sp>
      <p:sp>
        <p:nvSpPr>
          <p:cNvPr id="33" name="Rounded Rectangle 32"/>
          <p:cNvSpPr/>
          <p:nvPr/>
        </p:nvSpPr>
        <p:spPr>
          <a:xfrm>
            <a:off x="6187287"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24447" y="3721608"/>
            <a:ext cx="2362123" cy="685800"/>
          </a:xfrm>
          <a:prstGeom prst="rect">
            <a:avLst/>
          </a:prstGeom>
          <a:noFill/>
        </p:spPr>
        <p:txBody>
          <a:bodyPr wrap="square" anchor="t" lIns="45720" rIns="45720">
            <a:spAutoFit/>
          </a:bodyPr>
          <a:lstStyle/>
          <a:p>
            <a:r>
              <a:rPr sz="3000" b="1" i="0">
                <a:solidFill>
                  <a:srgbClr val="004EA8"/>
                </a:solidFill>
                <a:latin typeface="Arial"/>
              </a:rPr>
              <a:t>50,000+</a:t>
            </a:r>
          </a:p>
        </p:txBody>
      </p:sp>
      <p:sp>
        <p:nvSpPr>
          <p:cNvPr id="35" name="TextBox 34"/>
          <p:cNvSpPr txBox="1"/>
          <p:nvPr/>
        </p:nvSpPr>
        <p:spPr>
          <a:xfrm>
            <a:off x="6324447"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Employee Benefits members</a:t>
            </a:r>
          </a:p>
        </p:txBody>
      </p:sp>
      <p:sp>
        <p:nvSpPr>
          <p:cNvPr id="36" name="TextBox 35"/>
          <p:cNvSpPr txBox="1"/>
          <p:nvPr/>
        </p:nvSpPr>
        <p:spPr>
          <a:xfrm>
            <a:off x="6324447"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EB-01</a:t>
            </a:r>
          </a:p>
        </p:txBody>
      </p:sp>
      <p:sp>
        <p:nvSpPr>
          <p:cNvPr id="37" name="Rounded Rectangle 36"/>
          <p:cNvSpPr/>
          <p:nvPr/>
        </p:nvSpPr>
        <p:spPr>
          <a:xfrm>
            <a:off x="9006611"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3771" y="3721608"/>
            <a:ext cx="2362123" cy="685800"/>
          </a:xfrm>
          <a:prstGeom prst="rect">
            <a:avLst/>
          </a:prstGeom>
          <a:noFill/>
        </p:spPr>
        <p:txBody>
          <a:bodyPr wrap="square" anchor="t" lIns="45720" rIns="45720">
            <a:spAutoFit/>
          </a:bodyPr>
          <a:lstStyle/>
          <a:p>
            <a:r>
              <a:rPr sz="3000" b="1" i="0">
                <a:solidFill>
                  <a:srgbClr val="004EA8"/>
                </a:solidFill>
                <a:latin typeface="Arial"/>
              </a:rPr>
              <a:t>1,344</a:t>
            </a:r>
          </a:p>
        </p:txBody>
      </p:sp>
      <p:sp>
        <p:nvSpPr>
          <p:cNvPr id="39" name="TextBox 38"/>
          <p:cNvSpPr txBox="1"/>
          <p:nvPr/>
        </p:nvSpPr>
        <p:spPr>
          <a:xfrm>
            <a:off x="9143771"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named users across the BRDs; up to 429 at once</a:t>
            </a:r>
          </a:p>
        </p:txBody>
      </p:sp>
      <p:sp>
        <p:nvSpPr>
          <p:cNvPr id="40" name="TextBox 39"/>
          <p:cNvSpPr txBox="1"/>
          <p:nvPr/>
        </p:nvSpPr>
        <p:spPr>
          <a:xfrm>
            <a:off x="9143771"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Umbrella BRD p.42</a:t>
            </a:r>
          </a:p>
        </p:txBody>
      </p:sp>
      <p:sp>
        <p:nvSpPr>
          <p:cNvPr id="41" name="TextBox 40"/>
          <p:cNvSpPr txBox="1"/>
          <p:nvPr/>
        </p:nvSpPr>
        <p:spPr>
          <a:xfrm>
            <a:off x="548640" y="5879592"/>
            <a:ext cx="11094415" cy="365760"/>
          </a:xfrm>
          <a:prstGeom prst="rect">
            <a:avLst/>
          </a:prstGeom>
          <a:noFill/>
        </p:spPr>
        <p:txBody>
          <a:bodyPr wrap="square" anchor="t" lIns="45720" rIns="45720" tIns="18288" bIns="18288">
            <a:spAutoFit/>
          </a:bodyPr>
          <a:lstStyle/>
          <a:p>
            <a:pPr>
              <a:spcAft>
                <a:spcPts val="0"/>
              </a:spcAft>
            </a:pPr>
            <a:r>
              <a:rPr sz="1100" b="0">
                <a:solidFill>
                  <a:srgbClr val="656565"/>
                </a:solidFill>
                <a:latin typeface="Arial"/>
              </a:rPr>
              <a:t>Sources: floor-walk notes OV-01, OV-03, FN-01, EB-01; Day 1 p.10 and p.24; BRD-1 p.210; BRD-6 p.186; umbrella BRD p.42.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does what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sp>
        <p:nvSpPr>
          <p:cNvPr id="9" name="Rounded Rectangle 8"/>
          <p:cNvSpPr/>
          <p:nvPr/>
        </p:nvSpPr>
        <p:spPr>
          <a:xfrm>
            <a:off x="548640" y="1280160"/>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Marketing: Corporate and IBG</a:t>
            </a:r>
          </a:p>
        </p:txBody>
      </p:sp>
      <p:sp>
        <p:nvSpPr>
          <p:cNvPr id="12" name="TextBox 11"/>
          <p:cNvSpPr txBox="1"/>
          <p:nvPr/>
        </p:nvSpPr>
        <p:spPr>
          <a:xfrm>
            <a:off x="621792" y="1810512"/>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Corporate and institutional clients; IBG referrals</a:t>
            </a:r>
          </a:p>
          <a:p>
            <a:pPr>
              <a:spcAft>
                <a:spcPts val="300"/>
              </a:spcAft>
            </a:pPr>
            <a:r>
              <a:rPr sz="1100" b="0">
                <a:solidFill>
                  <a:srgbClr val="004EA8"/>
                </a:solidFill>
                <a:latin typeface="Arial"/>
              </a:rPr>
              <a:t>•  </a:t>
            </a:r>
            <a:r>
              <a:rPr sz="1100" b="0">
                <a:solidFill>
                  <a:srgbClr val="4B4B4B"/>
                </a:solidFill>
                <a:latin typeface="Arial"/>
              </a:rPr>
              <a:t>Quotations, proposals, renewals, collections follow-up</a:t>
            </a:r>
          </a:p>
          <a:p>
            <a:pPr>
              <a:spcAft>
                <a:spcPts val="300"/>
              </a:spcAft>
            </a:pPr>
            <a:r>
              <a:rPr sz="1100" b="0">
                <a:solidFill>
                  <a:srgbClr val="004EA8"/>
                </a:solidFill>
                <a:latin typeface="Arial"/>
              </a:rPr>
              <a:t>•  </a:t>
            </a:r>
            <a:r>
              <a:rPr sz="1100" b="0">
                <a:solidFill>
                  <a:srgbClr val="4B4B4B"/>
                </a:solidFill>
                <a:latin typeface="Arial"/>
              </a:rPr>
              <a:t>Chapters 1, 2, 8</a:t>
            </a:r>
          </a:p>
        </p:txBody>
      </p:sp>
      <p:sp>
        <p:nvSpPr>
          <p:cNvPr id="13" name="Rounded Rectangle 12"/>
          <p:cNvSpPr/>
          <p:nvPr/>
        </p:nvSpPr>
        <p:spPr>
          <a:xfrm>
            <a:off x="3363391" y="1280160"/>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63391" y="1280160"/>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36543" y="1280160"/>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Marketing: Retail and Branches</a:t>
            </a:r>
          </a:p>
        </p:txBody>
      </p:sp>
      <p:sp>
        <p:nvSpPr>
          <p:cNvPr id="16" name="TextBox 15"/>
          <p:cNvSpPr txBox="1"/>
          <p:nvPr/>
        </p:nvSpPr>
        <p:spPr>
          <a:xfrm>
            <a:off x="3436543" y="1810512"/>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CBG Motor, Fire, Home; Non-CBG Retail; 8 branches</a:t>
            </a:r>
          </a:p>
          <a:p>
            <a:pPr>
              <a:spcAft>
                <a:spcPts val="300"/>
              </a:spcAft>
            </a:pPr>
            <a:r>
              <a:rPr sz="1100" b="0">
                <a:solidFill>
                  <a:srgbClr val="004EA8"/>
                </a:solidFill>
                <a:latin typeface="Arial"/>
              </a:rPr>
              <a:t>•  </a:t>
            </a:r>
            <a:r>
              <a:rPr sz="1100" b="0">
                <a:solidFill>
                  <a:srgbClr val="4B4B4B"/>
                </a:solidFill>
                <a:latin typeface="Arial"/>
              </a:rPr>
              <a:t>Bank-referred and bulk business (HLS, LAD)</a:t>
            </a:r>
          </a:p>
          <a:p>
            <a:pPr>
              <a:spcAft>
                <a:spcPts val="300"/>
              </a:spcAft>
            </a:pPr>
            <a:r>
              <a:rPr sz="1100" b="0">
                <a:solidFill>
                  <a:srgbClr val="004EA8"/>
                </a:solidFill>
                <a:latin typeface="Arial"/>
              </a:rPr>
              <a:t>•  </a:t>
            </a:r>
            <a:r>
              <a:rPr sz="1100" b="0">
                <a:solidFill>
                  <a:srgbClr val="4B4B4B"/>
                </a:solidFill>
                <a:latin typeface="Arial"/>
              </a:rPr>
              <a:t>Chapters 1, 2, 3</a:t>
            </a:r>
          </a:p>
        </p:txBody>
      </p:sp>
      <p:sp>
        <p:nvSpPr>
          <p:cNvPr id="17" name="Rounded Rectangle 16"/>
          <p:cNvSpPr/>
          <p:nvPr/>
        </p:nvSpPr>
        <p:spPr>
          <a:xfrm>
            <a:off x="6178143" y="1280160"/>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8143" y="1280160"/>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1295" y="1280160"/>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Marketing Admin and Support</a:t>
            </a:r>
          </a:p>
        </p:txBody>
      </p:sp>
      <p:sp>
        <p:nvSpPr>
          <p:cNvPr id="20" name="TextBox 19"/>
          <p:cNvSpPr txBox="1"/>
          <p:nvPr/>
        </p:nvSpPr>
        <p:spPr>
          <a:xfrm>
            <a:off x="6251295" y="1810512"/>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RMEL split and dispositions; refunds (RRF)</a:t>
            </a:r>
          </a:p>
          <a:p>
            <a:pPr>
              <a:spcAft>
                <a:spcPts val="300"/>
              </a:spcAft>
            </a:pPr>
            <a:r>
              <a:rPr sz="1100" b="0">
                <a:solidFill>
                  <a:srgbClr val="004EA8"/>
                </a:solidFill>
                <a:latin typeface="Arial"/>
              </a:rPr>
              <a:t>•  </a:t>
            </a:r>
            <a:r>
              <a:rPr sz="1100" b="0">
                <a:solidFill>
                  <a:srgbClr val="4B4B4B"/>
                </a:solidFill>
                <a:latin typeface="Arial"/>
              </a:rPr>
              <a:t>Account Support for Combank; UPP handling</a:t>
            </a:r>
          </a:p>
          <a:p>
            <a:pPr>
              <a:spcAft>
                <a:spcPts val="300"/>
              </a:spcAft>
            </a:pPr>
            <a:r>
              <a:rPr sz="1100" b="0">
                <a:solidFill>
                  <a:srgbClr val="004EA8"/>
                </a:solidFill>
                <a:latin typeface="Arial"/>
              </a:rPr>
              <a:t>•  </a:t>
            </a:r>
            <a:r>
              <a:rPr sz="1100" b="0">
                <a:solidFill>
                  <a:srgbClr val="4B4B4B"/>
                </a:solidFill>
                <a:latin typeface="Arial"/>
              </a:rPr>
              <a:t>Chapters 2, 9</a:t>
            </a:r>
          </a:p>
        </p:txBody>
      </p:sp>
      <p:sp>
        <p:nvSpPr>
          <p:cNvPr id="21" name="Rounded Rectangle 20"/>
          <p:cNvSpPr/>
          <p:nvPr/>
        </p:nvSpPr>
        <p:spPr>
          <a:xfrm>
            <a:off x="8992895" y="1280160"/>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92895" y="1280160"/>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66047" y="1280160"/>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Employee Benefits</a:t>
            </a:r>
          </a:p>
        </p:txBody>
      </p:sp>
      <p:sp>
        <p:nvSpPr>
          <p:cNvPr id="24" name="TextBox 23"/>
          <p:cNvSpPr txBox="1"/>
          <p:nvPr/>
        </p:nvSpPr>
        <p:spPr>
          <a:xfrm>
            <a:off x="9066047" y="1810512"/>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Group life, HMO and accident programmes</a:t>
            </a:r>
          </a:p>
          <a:p>
            <a:pPr>
              <a:spcAft>
                <a:spcPts val="300"/>
              </a:spcAft>
            </a:pPr>
            <a:r>
              <a:rPr sz="1100" b="0">
                <a:solidFill>
                  <a:srgbClr val="004EA8"/>
                </a:solidFill>
                <a:latin typeface="Arial"/>
              </a:rPr>
              <a:t>•  </a:t>
            </a:r>
            <a:r>
              <a:rPr sz="1100" b="0">
                <a:solidFill>
                  <a:srgbClr val="4B4B4B"/>
                </a:solidFill>
                <a:latin typeface="Arial"/>
              </a:rPr>
              <a:t>BOR, TOR, proposals, comparative, placement</a:t>
            </a:r>
          </a:p>
          <a:p>
            <a:pPr>
              <a:spcAft>
                <a:spcPts val="300"/>
              </a:spcAft>
            </a:pPr>
            <a:r>
              <a:rPr sz="1100" b="0">
                <a:solidFill>
                  <a:srgbClr val="004EA8"/>
                </a:solidFill>
                <a:latin typeface="Arial"/>
              </a:rPr>
              <a:t>•  </a:t>
            </a:r>
            <a:r>
              <a:rPr sz="1100" b="0">
                <a:solidFill>
                  <a:srgbClr val="4B4B4B"/>
                </a:solidFill>
                <a:latin typeface="Arial"/>
              </a:rPr>
              <a:t>Chapter 4</a:t>
            </a:r>
          </a:p>
        </p:txBody>
      </p:sp>
      <p:sp>
        <p:nvSpPr>
          <p:cNvPr id="25" name="Rounded Rectangle 24"/>
          <p:cNvSpPr/>
          <p:nvPr/>
        </p:nvSpPr>
        <p:spPr>
          <a:xfrm>
            <a:off x="548640" y="2974848"/>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2974848"/>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2974848"/>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TSU and MBS</a:t>
            </a:r>
          </a:p>
        </p:txBody>
      </p:sp>
      <p:sp>
        <p:nvSpPr>
          <p:cNvPr id="28" name="TextBox 27"/>
          <p:cNvSpPr txBox="1"/>
          <p:nvPr/>
        </p:nvSpPr>
        <p:spPr>
          <a:xfrm>
            <a:off x="621792" y="3505200"/>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Non-package terms; quotation slips; comparative</a:t>
            </a:r>
          </a:p>
          <a:p>
            <a:pPr>
              <a:spcAft>
                <a:spcPts val="300"/>
              </a:spcAft>
            </a:pPr>
            <a:r>
              <a:rPr sz="1100" b="0">
                <a:solidFill>
                  <a:srgbClr val="004EA8"/>
                </a:solidFill>
                <a:latin typeface="Arial"/>
              </a:rPr>
              <a:t>•  </a:t>
            </a:r>
            <a:r>
              <a:rPr sz="1100" b="0">
                <a:solidFill>
                  <a:srgbClr val="4B4B4B"/>
                </a:solidFill>
                <a:latin typeface="Arial"/>
              </a:rPr>
              <a:t>Package design, set-up and release</a:t>
            </a:r>
          </a:p>
          <a:p>
            <a:pPr>
              <a:spcAft>
                <a:spcPts val="300"/>
              </a:spcAft>
            </a:pPr>
            <a:r>
              <a:rPr sz="1100" b="0">
                <a:solidFill>
                  <a:srgbClr val="004EA8"/>
                </a:solidFill>
                <a:latin typeface="Arial"/>
              </a:rPr>
              <a:t>•  </a:t>
            </a:r>
            <a:r>
              <a:rPr sz="1100" b="0">
                <a:solidFill>
                  <a:srgbClr val="4B4B4B"/>
                </a:solidFill>
                <a:latin typeface="Arial"/>
              </a:rPr>
              <a:t>Chapter 5</a:t>
            </a:r>
          </a:p>
        </p:txBody>
      </p:sp>
      <p:sp>
        <p:nvSpPr>
          <p:cNvPr id="29" name="Rounded Rectangle 28"/>
          <p:cNvSpPr/>
          <p:nvPr/>
        </p:nvSpPr>
        <p:spPr>
          <a:xfrm>
            <a:off x="3363391" y="2974848"/>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63391" y="2974848"/>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36543" y="2974848"/>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Reinsurance</a:t>
            </a:r>
          </a:p>
        </p:txBody>
      </p:sp>
      <p:sp>
        <p:nvSpPr>
          <p:cNvPr id="32" name="TextBox 31"/>
          <p:cNvSpPr txBox="1"/>
          <p:nvPr/>
        </p:nvSpPr>
        <p:spPr>
          <a:xfrm>
            <a:off x="3436543" y="3505200"/>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Facultative placement for cedants and TSU</a:t>
            </a:r>
          </a:p>
          <a:p>
            <a:pPr>
              <a:spcAft>
                <a:spcPts val="300"/>
              </a:spcAft>
            </a:pPr>
            <a:r>
              <a:rPr sz="1100" b="0">
                <a:solidFill>
                  <a:srgbClr val="004EA8"/>
                </a:solidFill>
                <a:latin typeface="Arial"/>
              </a:rPr>
              <a:t>•  </a:t>
            </a:r>
            <a:r>
              <a:rPr sz="1100" b="0">
                <a:solidFill>
                  <a:srgbClr val="4B4B4B"/>
                </a:solidFill>
                <a:latin typeface="Arial"/>
              </a:rPr>
              <a:t>RI premium, commission, claims, cash calls</a:t>
            </a:r>
          </a:p>
          <a:p>
            <a:pPr>
              <a:spcAft>
                <a:spcPts val="300"/>
              </a:spcAft>
            </a:pPr>
            <a:r>
              <a:rPr sz="1100" b="0">
                <a:solidFill>
                  <a:srgbClr val="004EA8"/>
                </a:solidFill>
                <a:latin typeface="Arial"/>
              </a:rPr>
              <a:t>•  </a:t>
            </a:r>
            <a:r>
              <a:rPr sz="1100" b="0">
                <a:solidFill>
                  <a:srgbClr val="4B4B4B"/>
                </a:solidFill>
                <a:latin typeface="Arial"/>
              </a:rPr>
              <a:t>Chapter 6</a:t>
            </a:r>
          </a:p>
        </p:txBody>
      </p:sp>
      <p:sp>
        <p:nvSpPr>
          <p:cNvPr id="33" name="Rounded Rectangle 32"/>
          <p:cNvSpPr/>
          <p:nvPr/>
        </p:nvSpPr>
        <p:spPr>
          <a:xfrm>
            <a:off x="6178143" y="2974848"/>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8143" y="2974848"/>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1295" y="2974848"/>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Processing</a:t>
            </a:r>
          </a:p>
        </p:txBody>
      </p:sp>
      <p:sp>
        <p:nvSpPr>
          <p:cNvPr id="36" name="TextBox 35"/>
          <p:cNvSpPr txBox="1"/>
          <p:nvPr/>
        </p:nvSpPr>
        <p:spPr>
          <a:xfrm>
            <a:off x="6251295" y="3505200"/>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Client and account set-up; placement; booking</a:t>
            </a:r>
          </a:p>
          <a:p>
            <a:pPr>
              <a:spcAft>
                <a:spcPts val="300"/>
              </a:spcAft>
            </a:pPr>
            <a:r>
              <a:rPr sz="1100" b="0">
                <a:solidFill>
                  <a:srgbClr val="004EA8"/>
                </a:solidFill>
                <a:latin typeface="Arial"/>
              </a:rPr>
              <a:t>•  </a:t>
            </a:r>
            <a:r>
              <a:rPr sz="1100" b="0">
                <a:solidFill>
                  <a:srgbClr val="4B4B4B"/>
                </a:solidFill>
                <a:latin typeface="Arial"/>
              </a:rPr>
              <a:t>Renewal sanitation (CBG Fire and Motor)</a:t>
            </a:r>
          </a:p>
          <a:p>
            <a:pPr>
              <a:spcAft>
                <a:spcPts val="300"/>
              </a:spcAft>
            </a:pPr>
            <a:r>
              <a:rPr sz="1100" b="0">
                <a:solidFill>
                  <a:srgbClr val="004EA8"/>
                </a:solidFill>
                <a:latin typeface="Arial"/>
              </a:rPr>
              <a:t>•  </a:t>
            </a:r>
            <a:r>
              <a:rPr sz="1100" b="0">
                <a:solidFill>
                  <a:srgbClr val="4B4B4B"/>
                </a:solidFill>
                <a:latin typeface="Arial"/>
              </a:rPr>
              <a:t>Chapters 1, 2</a:t>
            </a:r>
          </a:p>
        </p:txBody>
      </p:sp>
      <p:sp>
        <p:nvSpPr>
          <p:cNvPr id="37" name="Rounded Rectangle 36"/>
          <p:cNvSpPr/>
          <p:nvPr/>
        </p:nvSpPr>
        <p:spPr>
          <a:xfrm>
            <a:off x="8992895" y="2974848"/>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992895" y="2974848"/>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66047" y="2974848"/>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Operations</a:t>
            </a:r>
          </a:p>
        </p:txBody>
      </p:sp>
      <p:sp>
        <p:nvSpPr>
          <p:cNvPr id="40" name="TextBox 39"/>
          <p:cNvSpPr txBox="1"/>
          <p:nvPr/>
        </p:nvSpPr>
        <p:spPr>
          <a:xfrm>
            <a:off x="9066047" y="3505200"/>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Cashiering, Remittance, Adjustment and Collateral Release</a:t>
            </a:r>
          </a:p>
          <a:p>
            <a:pPr>
              <a:spcAft>
                <a:spcPts val="300"/>
              </a:spcAft>
            </a:pPr>
            <a:r>
              <a:rPr sz="1100" b="0">
                <a:solidFill>
                  <a:srgbClr val="004EA8"/>
                </a:solidFill>
                <a:latin typeface="Arial"/>
              </a:rPr>
              <a:t>•  </a:t>
            </a:r>
            <a:r>
              <a:rPr sz="1100" b="0">
                <a:solidFill>
                  <a:srgbClr val="4B4B4B"/>
                </a:solidFill>
                <a:latin typeface="Arial"/>
              </a:rPr>
              <a:t>Production recon, CRU, invoicing</a:t>
            </a:r>
          </a:p>
          <a:p>
            <a:pPr>
              <a:spcAft>
                <a:spcPts val="300"/>
              </a:spcAft>
            </a:pPr>
            <a:r>
              <a:rPr sz="1100" b="0">
                <a:solidFill>
                  <a:srgbClr val="004EA8"/>
                </a:solidFill>
                <a:latin typeface="Arial"/>
              </a:rPr>
              <a:t>•  </a:t>
            </a:r>
            <a:r>
              <a:rPr sz="1100" b="0">
                <a:solidFill>
                  <a:srgbClr val="4B4B4B"/>
                </a:solidFill>
                <a:latin typeface="Arial"/>
              </a:rPr>
              <a:t>Chapter 7</a:t>
            </a:r>
          </a:p>
        </p:txBody>
      </p:sp>
      <p:sp>
        <p:nvSpPr>
          <p:cNvPr id="41" name="Rounded Rectangle 40"/>
          <p:cNvSpPr/>
          <p:nvPr/>
        </p:nvSpPr>
        <p:spPr>
          <a:xfrm>
            <a:off x="548640" y="4669536"/>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4669536"/>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 y="4669536"/>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Collections</a:t>
            </a:r>
          </a:p>
        </p:txBody>
      </p:sp>
      <p:sp>
        <p:nvSpPr>
          <p:cNvPr id="44" name="TextBox 43"/>
          <p:cNvSpPr txBox="1"/>
          <p:nvPr/>
        </p:nvSpPr>
        <p:spPr>
          <a:xfrm>
            <a:off x="621792" y="5199888"/>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Premium receivable follow-up with Marketing AOs</a:t>
            </a:r>
          </a:p>
          <a:p>
            <a:pPr>
              <a:spcAft>
                <a:spcPts val="300"/>
              </a:spcAft>
            </a:pPr>
            <a:r>
              <a:rPr sz="1100" b="0">
                <a:solidFill>
                  <a:srgbClr val="004EA8"/>
                </a:solidFill>
                <a:latin typeface="Arial"/>
              </a:rPr>
              <a:t>•  </a:t>
            </a:r>
            <a:r>
              <a:rPr sz="1100" b="0">
                <a:solidFill>
                  <a:srgbClr val="4B4B4B"/>
                </a:solidFill>
                <a:latin typeface="Arial"/>
              </a:rPr>
              <a:t>ICS, commitments, CTE, dispositions</a:t>
            </a:r>
          </a:p>
          <a:p>
            <a:pPr>
              <a:spcAft>
                <a:spcPts val="300"/>
              </a:spcAft>
            </a:pPr>
            <a:r>
              <a:rPr sz="1100" b="0">
                <a:solidFill>
                  <a:srgbClr val="004EA8"/>
                </a:solidFill>
                <a:latin typeface="Arial"/>
              </a:rPr>
              <a:t>•  </a:t>
            </a:r>
            <a:r>
              <a:rPr sz="1100" b="0">
                <a:solidFill>
                  <a:srgbClr val="4B4B4B"/>
                </a:solidFill>
                <a:latin typeface="Arial"/>
              </a:rPr>
              <a:t>Chapter 8</a:t>
            </a:r>
          </a:p>
        </p:txBody>
      </p:sp>
      <p:sp>
        <p:nvSpPr>
          <p:cNvPr id="45" name="Rounded Rectangle 44"/>
          <p:cNvSpPr/>
          <p:nvPr/>
        </p:nvSpPr>
        <p:spPr>
          <a:xfrm>
            <a:off x="3363391" y="4669536"/>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363391" y="4669536"/>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36543" y="4669536"/>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Comptrollership</a:t>
            </a:r>
          </a:p>
        </p:txBody>
      </p:sp>
      <p:sp>
        <p:nvSpPr>
          <p:cNvPr id="48" name="TextBox 47"/>
          <p:cNvSpPr txBox="1"/>
          <p:nvPr/>
        </p:nvSpPr>
        <p:spPr>
          <a:xfrm>
            <a:off x="3436543" y="5199888"/>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FRBS: GL, reconciliation, close, BIR</a:t>
            </a:r>
          </a:p>
          <a:p>
            <a:pPr>
              <a:spcAft>
                <a:spcPts val="300"/>
              </a:spcAft>
            </a:pPr>
            <a:r>
              <a:rPr sz="1100" b="0">
                <a:solidFill>
                  <a:srgbClr val="004EA8"/>
                </a:solidFill>
                <a:latin typeface="Arial"/>
              </a:rPr>
              <a:t>•  </a:t>
            </a:r>
            <a:r>
              <a:rPr sz="1100" b="0">
                <a:solidFill>
                  <a:srgbClr val="4B4B4B"/>
                </a:solidFill>
                <a:latin typeface="Arial"/>
              </a:rPr>
              <a:t>Disbursement; ACSL sub-ledger</a:t>
            </a:r>
          </a:p>
          <a:p>
            <a:pPr>
              <a:spcAft>
                <a:spcPts val="300"/>
              </a:spcAft>
            </a:pPr>
            <a:r>
              <a:rPr sz="1100" b="0">
                <a:solidFill>
                  <a:srgbClr val="004EA8"/>
                </a:solidFill>
                <a:latin typeface="Arial"/>
              </a:rPr>
              <a:t>•  </a:t>
            </a:r>
            <a:r>
              <a:rPr sz="1100" b="0">
                <a:solidFill>
                  <a:srgbClr val="4B4B4B"/>
                </a:solidFill>
                <a:latin typeface="Arial"/>
              </a:rPr>
              <a:t>Chapter 9</a:t>
            </a:r>
          </a:p>
        </p:txBody>
      </p:sp>
      <p:sp>
        <p:nvSpPr>
          <p:cNvPr id="49" name="Rounded Rectangle 48"/>
          <p:cNvSpPr/>
          <p:nvPr/>
        </p:nvSpPr>
        <p:spPr>
          <a:xfrm>
            <a:off x="6178143" y="4669536"/>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78143" y="4669536"/>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51295" y="4669536"/>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Claims</a:t>
            </a:r>
          </a:p>
        </p:txBody>
      </p:sp>
      <p:sp>
        <p:nvSpPr>
          <p:cNvPr id="52" name="TextBox 51"/>
          <p:cNvSpPr txBox="1"/>
          <p:nvPr/>
        </p:nvSpPr>
        <p:spPr>
          <a:xfrm>
            <a:off x="6251295" y="5199888"/>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Motor and Non-Motor claims, client advocacy</a:t>
            </a:r>
          </a:p>
          <a:p>
            <a:pPr>
              <a:spcAft>
                <a:spcPts val="300"/>
              </a:spcAft>
            </a:pPr>
            <a:r>
              <a:rPr sz="1100" b="0">
                <a:solidFill>
                  <a:srgbClr val="004EA8"/>
                </a:solidFill>
                <a:latin typeface="Arial"/>
              </a:rPr>
              <a:t>•  </a:t>
            </a:r>
            <a:r>
              <a:rPr sz="1100" b="0">
                <a:solidFill>
                  <a:srgbClr val="4B4B4B"/>
                </a:solidFill>
                <a:latin typeface="Arial"/>
              </a:rPr>
              <a:t>Insurers, adjusters, CASA / dealers</a:t>
            </a:r>
          </a:p>
          <a:p>
            <a:pPr>
              <a:spcAft>
                <a:spcPts val="300"/>
              </a:spcAft>
            </a:pPr>
            <a:r>
              <a:rPr sz="1100" b="0">
                <a:solidFill>
                  <a:srgbClr val="004EA8"/>
                </a:solidFill>
                <a:latin typeface="Arial"/>
              </a:rPr>
              <a:t>•  </a:t>
            </a:r>
            <a:r>
              <a:rPr sz="1100" b="0">
                <a:solidFill>
                  <a:srgbClr val="4B4B4B"/>
                </a:solidFill>
                <a:latin typeface="Arial"/>
              </a:rPr>
              <a:t>Chapter 10</a:t>
            </a:r>
          </a:p>
        </p:txBody>
      </p:sp>
      <p:sp>
        <p:nvSpPr>
          <p:cNvPr id="53" name="Rounded Rectangle 52"/>
          <p:cNvSpPr/>
          <p:nvPr/>
        </p:nvSpPr>
        <p:spPr>
          <a:xfrm>
            <a:off x="8992895" y="4669536"/>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992895" y="4669536"/>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66047" y="4669536"/>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Contact centre, COG, Compliance, IT</a:t>
            </a:r>
          </a:p>
        </p:txBody>
      </p:sp>
      <p:sp>
        <p:nvSpPr>
          <p:cNvPr id="56" name="TextBox 55"/>
          <p:cNvSpPr txBox="1"/>
          <p:nvPr/>
        </p:nvSpPr>
        <p:spPr>
          <a:xfrm>
            <a:off x="9066047" y="5199888"/>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Contact centre and COG-OPRM (letters, e-policies)</a:t>
            </a:r>
          </a:p>
          <a:p>
            <a:pPr>
              <a:spcAft>
                <a:spcPts val="300"/>
              </a:spcAft>
            </a:pPr>
            <a:r>
              <a:rPr sz="1100" b="0">
                <a:solidFill>
                  <a:srgbClr val="004EA8"/>
                </a:solidFill>
                <a:latin typeface="Arial"/>
              </a:rPr>
              <a:t>•  </a:t>
            </a:r>
            <a:r>
              <a:rPr sz="1100" b="0">
                <a:solidFill>
                  <a:srgbClr val="4B4B4B"/>
                </a:solidFill>
                <a:latin typeface="Arial"/>
              </a:rPr>
              <a:t>Compliance: screening, AMLA; IT: extracts, batches</a:t>
            </a:r>
          </a:p>
          <a:p>
            <a:pPr>
              <a:spcAft>
                <a:spcPts val="300"/>
              </a:spcAft>
            </a:pPr>
            <a:r>
              <a:rPr sz="1100" b="0">
                <a:solidFill>
                  <a:srgbClr val="004EA8"/>
                </a:solidFill>
                <a:latin typeface="Arial"/>
              </a:rPr>
              <a:t>•  </a:t>
            </a:r>
            <a:r>
              <a:rPr sz="1100" b="0">
                <a:solidFill>
                  <a:srgbClr val="4B4B4B"/>
                </a:solidFill>
                <a:latin typeface="Arial"/>
              </a:rPr>
              <a:t>Chapters 11-13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broking lifecycle and its three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sp>
        <p:nvSpPr>
          <p:cNvPr id="9" name="Pentagon 8"/>
          <p:cNvSpPr/>
          <p:nvPr/>
        </p:nvSpPr>
        <p:spPr>
          <a:xfrm>
            <a:off x="548640" y="1280160"/>
            <a:ext cx="1694644" cy="731520"/>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Market, find the opportunity</a:t>
            </a:r>
          </a:p>
        </p:txBody>
      </p:sp>
      <p:sp>
        <p:nvSpPr>
          <p:cNvPr id="11" name="Chevron 10"/>
          <p:cNvSpPr/>
          <p:nvPr/>
        </p:nvSpPr>
        <p:spPr>
          <a:xfrm>
            <a:off x="2133556" y="1280160"/>
            <a:ext cx="1694644" cy="731520"/>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16436"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Understand the need</a:t>
            </a:r>
          </a:p>
        </p:txBody>
      </p:sp>
      <p:sp>
        <p:nvSpPr>
          <p:cNvPr id="13" name="Chevron 12"/>
          <p:cNvSpPr/>
          <p:nvPr/>
        </p:nvSpPr>
        <p:spPr>
          <a:xfrm>
            <a:off x="3718472" y="1280160"/>
            <a:ext cx="1694644" cy="731520"/>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01352"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Source quotes and terms</a:t>
            </a:r>
          </a:p>
        </p:txBody>
      </p:sp>
      <p:sp>
        <p:nvSpPr>
          <p:cNvPr id="15" name="Chevron 14"/>
          <p:cNvSpPr/>
          <p:nvPr/>
        </p:nvSpPr>
        <p:spPr>
          <a:xfrm>
            <a:off x="5303389" y="1280160"/>
            <a:ext cx="1694644" cy="731520"/>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269"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Present, confirm</a:t>
            </a:r>
          </a:p>
        </p:txBody>
      </p:sp>
      <p:sp>
        <p:nvSpPr>
          <p:cNvPr id="17" name="Chevron 16"/>
          <p:cNvSpPr/>
          <p:nvPr/>
        </p:nvSpPr>
        <p:spPr>
          <a:xfrm>
            <a:off x="6888305" y="1280160"/>
            <a:ext cx="1694644" cy="731520"/>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71185"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Place and book</a:t>
            </a:r>
          </a:p>
        </p:txBody>
      </p:sp>
      <p:sp>
        <p:nvSpPr>
          <p:cNvPr id="19" name="Chevron 18"/>
          <p:cNvSpPr/>
          <p:nvPr/>
        </p:nvSpPr>
        <p:spPr>
          <a:xfrm>
            <a:off x="8473222" y="1280160"/>
            <a:ext cx="1694644" cy="731520"/>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56102"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Collect, reconcile</a:t>
            </a:r>
          </a:p>
        </p:txBody>
      </p:sp>
      <p:sp>
        <p:nvSpPr>
          <p:cNvPr id="21" name="Chevron 20"/>
          <p:cNvSpPr/>
          <p:nvPr/>
        </p:nvSpPr>
        <p:spPr>
          <a:xfrm>
            <a:off x="10058138" y="1280160"/>
            <a:ext cx="1694644" cy="731520"/>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018"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Service, adjust, renew, claims</a:t>
            </a:r>
          </a:p>
        </p:txBody>
      </p:sp>
      <p:sp>
        <p:nvSpPr>
          <p:cNvPr id="23" name="TextBox 22"/>
          <p:cNvSpPr txBox="1"/>
          <p:nvPr/>
        </p:nvSpPr>
        <p:spPr>
          <a:xfrm>
            <a:off x="548640" y="2103120"/>
            <a:ext cx="11094415" cy="274320"/>
          </a:xfrm>
          <a:prstGeom prst="rect">
            <a:avLst/>
          </a:prstGeom>
          <a:noFill/>
        </p:spPr>
        <p:txBody>
          <a:bodyPr wrap="square" anchor="t" lIns="45720" rIns="45720">
            <a:spAutoFit/>
          </a:bodyPr>
          <a:lstStyle/>
          <a:p>
            <a:r>
              <a:rPr sz="1200" b="1" i="0">
                <a:solidFill>
                  <a:srgbClr val="656565"/>
                </a:solidFill>
                <a:latin typeface="Arial"/>
              </a:rPr>
              <a:t>Systems and tools used today</a:t>
            </a:r>
          </a:p>
        </p:txBody>
      </p:sp>
      <p:sp>
        <p:nvSpPr>
          <p:cNvPr id="24" name="Rounded Rectangle 23"/>
          <p:cNvSpPr/>
          <p:nvPr/>
        </p:nvSpPr>
        <p:spPr>
          <a:xfrm>
            <a:off x="585216"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ISYS / Broker; bank lists (HLS, LAD)</a:t>
            </a:r>
          </a:p>
        </p:txBody>
      </p:sp>
      <p:sp>
        <p:nvSpPr>
          <p:cNvPr id="26" name="Rounded Rectangle 25"/>
          <p:cNvSpPr/>
          <p:nvPr/>
        </p:nvSpPr>
        <p:spPr>
          <a:xfrm>
            <a:off x="2170132"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06708"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E-mail; Broker; declaration form</a:t>
            </a:r>
          </a:p>
        </p:txBody>
      </p:sp>
      <p:sp>
        <p:nvSpPr>
          <p:cNvPr id="28" name="Rounded Rectangle 27"/>
          <p:cNvSpPr/>
          <p:nvPr/>
        </p:nvSpPr>
        <p:spPr>
          <a:xfrm>
            <a:off x="3755048"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91624"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IDF Excel, QPS, ISYS; TSU Excel</a:t>
            </a:r>
          </a:p>
        </p:txBody>
      </p:sp>
      <p:sp>
        <p:nvSpPr>
          <p:cNvPr id="30" name="Rounded Rectangle 29"/>
          <p:cNvSpPr/>
          <p:nvPr/>
        </p:nvSpPr>
        <p:spPr>
          <a:xfrm>
            <a:off x="5339965"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6541"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E-mail, PDF, shared drive</a:t>
            </a:r>
          </a:p>
        </p:txBody>
      </p:sp>
      <p:sp>
        <p:nvSpPr>
          <p:cNvPr id="32" name="Rounded Rectangle 31"/>
          <p:cNvSpPr/>
          <p:nvPr/>
        </p:nvSpPr>
        <p:spPr>
          <a:xfrm>
            <a:off x="6924881"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1457"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ISYS, QPS, EBIX; SFTP, e-mail</a:t>
            </a:r>
          </a:p>
        </p:txBody>
      </p:sp>
      <p:sp>
        <p:nvSpPr>
          <p:cNvPr id="34" name="Rounded Rectangle 33"/>
          <p:cNvSpPr/>
          <p:nvPr/>
        </p:nvSpPr>
        <p:spPr>
          <a:xfrm>
            <a:off x="8509798"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6374"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EBIX, ICS, Autopay, Excel, Teams</a:t>
            </a:r>
          </a:p>
        </p:txBody>
      </p:sp>
      <p:sp>
        <p:nvSpPr>
          <p:cNvPr id="36" name="Rounded Rectangle 35"/>
          <p:cNvSpPr/>
          <p:nvPr/>
        </p:nvSpPr>
        <p:spPr>
          <a:xfrm>
            <a:off x="10094714"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31290"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EBIX, Excel, CLS, e-mail</a:t>
            </a:r>
          </a:p>
        </p:txBody>
      </p:sp>
      <p:sp>
        <p:nvSpPr>
          <p:cNvPr id="38" name="TextBox 37"/>
          <p:cNvSpPr txBox="1"/>
          <p:nvPr/>
        </p:nvSpPr>
        <p:spPr>
          <a:xfrm>
            <a:off x="548640" y="3182112"/>
            <a:ext cx="11094415" cy="274320"/>
          </a:xfrm>
          <a:prstGeom prst="rect">
            <a:avLst/>
          </a:prstGeom>
          <a:noFill/>
        </p:spPr>
        <p:txBody>
          <a:bodyPr wrap="square" anchor="t" lIns="45720" rIns="45720">
            <a:spAutoFit/>
          </a:bodyPr>
          <a:lstStyle/>
          <a:p>
            <a:r>
              <a:rPr sz="1200" b="1" i="0">
                <a:solidFill>
                  <a:srgbClr val="656565"/>
                </a:solidFill>
                <a:latin typeface="Arial"/>
              </a:rPr>
              <a:t>Owner</a:t>
            </a:r>
          </a:p>
        </p:txBody>
      </p:sp>
      <p:sp>
        <p:nvSpPr>
          <p:cNvPr id="39" name="TextBox 38"/>
          <p:cNvSpPr txBox="1"/>
          <p:nvPr/>
        </p:nvSpPr>
        <p:spPr>
          <a:xfrm>
            <a:off x="585216"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Marketing AO</a:t>
            </a:r>
          </a:p>
        </p:txBody>
      </p:sp>
      <p:sp>
        <p:nvSpPr>
          <p:cNvPr id="40" name="TextBox 39"/>
          <p:cNvSpPr txBox="1"/>
          <p:nvPr/>
        </p:nvSpPr>
        <p:spPr>
          <a:xfrm>
            <a:off x="2170132"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Marketing AO</a:t>
            </a:r>
          </a:p>
        </p:txBody>
      </p:sp>
      <p:sp>
        <p:nvSpPr>
          <p:cNvPr id="41" name="TextBox 40"/>
          <p:cNvSpPr txBox="1"/>
          <p:nvPr/>
        </p:nvSpPr>
        <p:spPr>
          <a:xfrm>
            <a:off x="3755048"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Marketing, TSU, RI</a:t>
            </a:r>
          </a:p>
        </p:txBody>
      </p:sp>
      <p:sp>
        <p:nvSpPr>
          <p:cNvPr id="42" name="TextBox 41"/>
          <p:cNvSpPr txBox="1"/>
          <p:nvPr/>
        </p:nvSpPr>
        <p:spPr>
          <a:xfrm>
            <a:off x="5339965"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Marketing</a:t>
            </a:r>
          </a:p>
        </p:txBody>
      </p:sp>
      <p:sp>
        <p:nvSpPr>
          <p:cNvPr id="43" name="TextBox 42"/>
          <p:cNvSpPr txBox="1"/>
          <p:nvPr/>
        </p:nvSpPr>
        <p:spPr>
          <a:xfrm>
            <a:off x="6924881"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Processing, IT</a:t>
            </a:r>
          </a:p>
        </p:txBody>
      </p:sp>
      <p:sp>
        <p:nvSpPr>
          <p:cNvPr id="44" name="TextBox 43"/>
          <p:cNvSpPr txBox="1"/>
          <p:nvPr/>
        </p:nvSpPr>
        <p:spPr>
          <a:xfrm>
            <a:off x="8509798"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Operations, Collections, Comptrollership</a:t>
            </a:r>
          </a:p>
        </p:txBody>
      </p:sp>
      <p:sp>
        <p:nvSpPr>
          <p:cNvPr id="45" name="TextBox 44"/>
          <p:cNvSpPr txBox="1"/>
          <p:nvPr/>
        </p:nvSpPr>
        <p:spPr>
          <a:xfrm>
            <a:off x="10094714"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Operations, Renewal, Claims, contact centre</a:t>
            </a:r>
          </a:p>
        </p:txBody>
      </p:sp>
      <p:sp>
        <p:nvSpPr>
          <p:cNvPr id="46" name="Rounded Rectangle 45"/>
          <p:cNvSpPr/>
          <p:nvPr/>
        </p:nvSpPr>
        <p:spPr>
          <a:xfrm>
            <a:off x="548640" y="3959352"/>
            <a:ext cx="3588410" cy="22402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3959352"/>
            <a:ext cx="3588410" cy="38404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3959352"/>
            <a:ext cx="3442106" cy="38404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Information flow</a:t>
            </a:r>
          </a:p>
        </p:txBody>
      </p:sp>
      <p:sp>
        <p:nvSpPr>
          <p:cNvPr id="49" name="TextBox 48"/>
          <p:cNvSpPr txBox="1"/>
          <p:nvPr/>
        </p:nvSpPr>
        <p:spPr>
          <a:xfrm>
            <a:off x="621792" y="4416552"/>
            <a:ext cx="3442106" cy="174650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Client and policy data keyed in Broker, ISYS, QPS and EBIX</a:t>
            </a:r>
          </a:p>
          <a:p>
            <a:pPr>
              <a:spcAft>
                <a:spcPts val="300"/>
              </a:spcAft>
            </a:pPr>
            <a:r>
              <a:rPr sz="1200" b="0">
                <a:solidFill>
                  <a:srgbClr val="004EA8"/>
                </a:solidFill>
                <a:latin typeface="Arial"/>
              </a:rPr>
              <a:t>•  </a:t>
            </a:r>
            <a:r>
              <a:rPr sz="1200" b="0">
                <a:solidFill>
                  <a:srgbClr val="4B4B4B"/>
                </a:solidFill>
                <a:latin typeface="Arial"/>
              </a:rPr>
              <a:t>Quotations, instructions and documents travel by e-mail and shared drive</a:t>
            </a:r>
          </a:p>
          <a:p>
            <a:pPr>
              <a:spcAft>
                <a:spcPts val="300"/>
              </a:spcAft>
            </a:pPr>
            <a:r>
              <a:rPr sz="1200" b="0">
                <a:solidFill>
                  <a:srgbClr val="004EA8"/>
                </a:solidFill>
                <a:latin typeface="Arial"/>
              </a:rPr>
              <a:t>•  </a:t>
            </a:r>
            <a:r>
              <a:rPr sz="1200" b="0">
                <a:solidFill>
                  <a:srgbClr val="4B4B4B"/>
                </a:solidFill>
                <a:latin typeface="Arial"/>
              </a:rPr>
              <a:t>Three references per transaction (OV-03)</a:t>
            </a:r>
          </a:p>
        </p:txBody>
      </p:sp>
      <p:sp>
        <p:nvSpPr>
          <p:cNvPr id="50" name="Rounded Rectangle 49"/>
          <p:cNvSpPr/>
          <p:nvPr/>
        </p:nvSpPr>
        <p:spPr>
          <a:xfrm>
            <a:off x="4301642" y="3959352"/>
            <a:ext cx="3588410" cy="22402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301642" y="3959352"/>
            <a:ext cx="3588410" cy="38404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74794" y="3959352"/>
            <a:ext cx="3442106" cy="38404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Decision flow</a:t>
            </a:r>
          </a:p>
        </p:txBody>
      </p:sp>
      <p:sp>
        <p:nvSpPr>
          <p:cNvPr id="53" name="TextBox 52"/>
          <p:cNvSpPr txBox="1"/>
          <p:nvPr/>
        </p:nvSpPr>
        <p:spPr>
          <a:xfrm>
            <a:off x="4374794" y="4416552"/>
            <a:ext cx="3442106" cy="174650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Business reviews and approvals by e-mail, Teams and wet signature</a:t>
            </a:r>
          </a:p>
          <a:p>
            <a:pPr>
              <a:spcAft>
                <a:spcPts val="300"/>
              </a:spcAft>
            </a:pPr>
            <a:r>
              <a:rPr sz="1200" b="0">
                <a:solidFill>
                  <a:srgbClr val="004EA8"/>
                </a:solidFill>
                <a:latin typeface="Arial"/>
              </a:rPr>
              <a:t>•  </a:t>
            </a:r>
            <a:r>
              <a:rPr sz="1200" b="0">
                <a:solidFill>
                  <a:srgbClr val="4B4B4B"/>
                </a:solidFill>
                <a:latin typeface="Arial"/>
              </a:rPr>
              <a:t>Insurer and customer confirmations by e-mail</a:t>
            </a:r>
          </a:p>
          <a:p>
            <a:pPr>
              <a:spcAft>
                <a:spcPts val="300"/>
              </a:spcAft>
            </a:pPr>
            <a:r>
              <a:rPr sz="1200" b="0">
                <a:solidFill>
                  <a:srgbClr val="004EA8"/>
                </a:solidFill>
                <a:latin typeface="Arial"/>
              </a:rPr>
              <a:t>•  </a:t>
            </a:r>
            <a:r>
              <a:rPr sz="1200" b="0">
                <a:solidFill>
                  <a:srgbClr val="4B4B4B"/>
                </a:solidFill>
                <a:latin typeface="Arial"/>
              </a:rPr>
              <a:t>SLA and validity kept by memory (NB-03, NB-07)</a:t>
            </a:r>
          </a:p>
        </p:txBody>
      </p:sp>
      <p:sp>
        <p:nvSpPr>
          <p:cNvPr id="54" name="Rounded Rectangle 53"/>
          <p:cNvSpPr/>
          <p:nvPr/>
        </p:nvSpPr>
        <p:spPr>
          <a:xfrm>
            <a:off x="8054644" y="3959352"/>
            <a:ext cx="3588410" cy="22402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054644" y="3959352"/>
            <a:ext cx="3588410" cy="38404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27796" y="3959352"/>
            <a:ext cx="3442106" cy="38404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Financial flow</a:t>
            </a:r>
          </a:p>
        </p:txBody>
      </p:sp>
      <p:sp>
        <p:nvSpPr>
          <p:cNvPr id="57" name="TextBox 56"/>
          <p:cNvSpPr txBox="1"/>
          <p:nvPr/>
        </p:nvSpPr>
        <p:spPr>
          <a:xfrm>
            <a:off x="8127796" y="4416552"/>
            <a:ext cx="3442106" cy="174650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Premium receipts, application and reconciliation across payment routes</a:t>
            </a:r>
          </a:p>
          <a:p>
            <a:pPr>
              <a:spcAft>
                <a:spcPts val="300"/>
              </a:spcAft>
            </a:pPr>
            <a:r>
              <a:rPr sz="1200" b="0">
                <a:solidFill>
                  <a:srgbClr val="004EA8"/>
                </a:solidFill>
                <a:latin typeface="Arial"/>
              </a:rPr>
              <a:t>•  </a:t>
            </a:r>
            <a:r>
              <a:rPr sz="1200" b="0">
                <a:solidFill>
                  <a:srgbClr val="4B4B4B"/>
                </a:solidFill>
                <a:latin typeface="Arial"/>
              </a:rPr>
              <a:t>Commission after full premium; remittance weekly</a:t>
            </a:r>
          </a:p>
          <a:p>
            <a:pPr>
              <a:spcAft>
                <a:spcPts val="300"/>
              </a:spcAft>
            </a:pPr>
            <a:r>
              <a:rPr sz="1200" b="0">
                <a:solidFill>
                  <a:srgbClr val="004EA8"/>
                </a:solidFill>
                <a:latin typeface="Arial"/>
              </a:rPr>
              <a:t>•  </a:t>
            </a:r>
            <a:r>
              <a:rPr sz="1200" b="0">
                <a:solidFill>
                  <a:srgbClr val="4B4B4B"/>
                </a:solidFill>
                <a:latin typeface="Arial"/>
              </a:rPr>
              <a:t>Accounting entries, reversals and adjustments partly by hand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End to end today (1/2): prospect to booked policy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holistic_e2e_1.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From the client's need to a booked policy (BDOIR end-to-end process flow; Day 1 p.11, p.18)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End to end today (2/2): premium to books, and servicing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holistic_e2e_2.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Money and servicing after booking (BDOIR end-to-end process flow; Day 1 p.12-14)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Today: thirteen areas and the tools they depend 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holistic_asis_map.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Each line is a system, file or channel an area depends on today (floor walk, process flows, BRD current process)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One transaction, several references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sp>
        <p:nvSpPr>
          <p:cNvPr id="9" name="Rounded Rectangle 8"/>
          <p:cNvSpPr/>
          <p:nvPr/>
        </p:nvSpPr>
        <p:spPr>
          <a:xfrm>
            <a:off x="548640" y="1371600"/>
            <a:ext cx="1588770" cy="1371600"/>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426464"/>
            <a:ext cx="1479042" cy="1280160"/>
          </a:xfrm>
          <a:prstGeom prst="rect">
            <a:avLst/>
          </a:prstGeom>
          <a:noFill/>
        </p:spPr>
        <p:txBody>
          <a:bodyPr wrap="square" anchor="t" lIns="45720" rIns="45720" tIns="18288" bIns="18288">
            <a:spAutoFit/>
          </a:bodyPr>
          <a:lstStyle/>
          <a:p>
            <a:pPr algn="ctr">
              <a:spcAft>
                <a:spcPts val="200"/>
              </a:spcAft>
            </a:pPr>
            <a:r>
              <a:rPr sz="1200" b="1">
                <a:solidFill>
                  <a:srgbClr val="004EA8"/>
                </a:solidFill>
                <a:latin typeface="Arial"/>
              </a:rPr>
              <a:t>ISYS / Broker</a:t>
            </a:r>
          </a:p>
          <a:p>
            <a:pPr algn="ctr">
              <a:spcAft>
                <a:spcPts val="200"/>
              </a:spcAft>
            </a:pPr>
            <a:r>
              <a:rPr sz="1200" b="1">
                <a:solidFill>
                  <a:srgbClr val="2E2E2E"/>
                </a:solidFill>
                <a:latin typeface="Arial"/>
              </a:rPr>
              <a:t>Invoice number</a:t>
            </a:r>
          </a:p>
          <a:p>
            <a:pPr algn="ctr">
              <a:spcAft>
                <a:spcPts val="200"/>
              </a:spcAft>
            </a:pPr>
            <a:r>
              <a:rPr sz="1200" b="0">
                <a:solidFill>
                  <a:srgbClr val="656565"/>
                </a:solidFill>
                <a:latin typeface="Arial"/>
              </a:rPr>
              <a:t>Marketing; the client pays against it</a:t>
            </a:r>
          </a:p>
        </p:txBody>
      </p:sp>
      <p:sp>
        <p:nvSpPr>
          <p:cNvPr id="11" name="Right Arrow 10"/>
          <p:cNvSpPr/>
          <p:nvPr/>
        </p:nvSpPr>
        <p:spPr>
          <a:xfrm>
            <a:off x="2173986" y="1938528"/>
            <a:ext cx="246888" cy="237744"/>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57450" y="1371600"/>
            <a:ext cx="1588770" cy="1371600"/>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2314" y="1426464"/>
            <a:ext cx="1479042" cy="1280160"/>
          </a:xfrm>
          <a:prstGeom prst="rect">
            <a:avLst/>
          </a:prstGeom>
          <a:noFill/>
        </p:spPr>
        <p:txBody>
          <a:bodyPr wrap="square" anchor="t" lIns="45720" rIns="45720" tIns="18288" bIns="18288">
            <a:spAutoFit/>
          </a:bodyPr>
          <a:lstStyle/>
          <a:p>
            <a:pPr algn="ctr">
              <a:spcAft>
                <a:spcPts val="200"/>
              </a:spcAft>
            </a:pPr>
            <a:r>
              <a:rPr sz="1200" b="1">
                <a:solidFill>
                  <a:srgbClr val="004EA8"/>
                </a:solidFill>
                <a:latin typeface="Arial"/>
              </a:rPr>
              <a:t>QPS</a:t>
            </a:r>
          </a:p>
          <a:p>
            <a:pPr algn="ctr">
              <a:spcAft>
                <a:spcPts val="200"/>
              </a:spcAft>
            </a:pPr>
            <a:r>
              <a:rPr sz="1200" b="1">
                <a:solidFill>
                  <a:srgbClr val="2E2E2E"/>
                </a:solidFill>
                <a:latin typeface="Arial"/>
              </a:rPr>
              <a:t>QPS reference</a:t>
            </a:r>
          </a:p>
          <a:p>
            <a:pPr algn="ctr">
              <a:spcAft>
                <a:spcPts val="200"/>
              </a:spcAft>
            </a:pPr>
            <a:r>
              <a:rPr sz="1200" b="0">
                <a:solidFill>
                  <a:srgbClr val="656565"/>
                </a:solidFill>
                <a:latin typeface="Arial"/>
              </a:rPr>
              <a:t>Processing; holds all three numbers</a:t>
            </a:r>
          </a:p>
        </p:txBody>
      </p:sp>
      <p:sp>
        <p:nvSpPr>
          <p:cNvPr id="14" name="Right Arrow 13"/>
          <p:cNvSpPr/>
          <p:nvPr/>
        </p:nvSpPr>
        <p:spPr>
          <a:xfrm>
            <a:off x="4082796" y="1938528"/>
            <a:ext cx="246888" cy="237744"/>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66260" y="1371600"/>
            <a:ext cx="1588770" cy="1371600"/>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1124" y="1426464"/>
            <a:ext cx="1479042" cy="1280160"/>
          </a:xfrm>
          <a:prstGeom prst="rect">
            <a:avLst/>
          </a:prstGeom>
          <a:noFill/>
        </p:spPr>
        <p:txBody>
          <a:bodyPr wrap="square" anchor="t" lIns="45720" rIns="45720" tIns="18288" bIns="18288">
            <a:spAutoFit/>
          </a:bodyPr>
          <a:lstStyle/>
          <a:p>
            <a:pPr algn="ctr">
              <a:spcAft>
                <a:spcPts val="200"/>
              </a:spcAft>
            </a:pPr>
            <a:r>
              <a:rPr sz="1200" b="1">
                <a:solidFill>
                  <a:srgbClr val="004EA8"/>
                </a:solidFill>
                <a:latin typeface="Arial"/>
              </a:rPr>
              <a:t>EBIX</a:t>
            </a:r>
          </a:p>
          <a:p>
            <a:pPr algn="ctr">
              <a:spcAft>
                <a:spcPts val="200"/>
              </a:spcAft>
            </a:pPr>
            <a:r>
              <a:rPr sz="1200" b="1">
                <a:solidFill>
                  <a:srgbClr val="2E2E2E"/>
                </a:solidFill>
                <a:latin typeface="Arial"/>
              </a:rPr>
              <a:t>EBIX reference</a:t>
            </a:r>
          </a:p>
          <a:p>
            <a:pPr algn="ctr">
              <a:spcAft>
                <a:spcPts val="200"/>
              </a:spcAft>
            </a:pPr>
            <a:r>
              <a:rPr sz="1200" b="0">
                <a:solidFill>
                  <a:srgbClr val="656565"/>
                </a:solidFill>
                <a:latin typeface="Arial"/>
              </a:rPr>
              <a:t>Booking, accounting, remittance</a:t>
            </a:r>
          </a:p>
        </p:txBody>
      </p:sp>
      <p:sp>
        <p:nvSpPr>
          <p:cNvPr id="17" name="Right Arrow 16"/>
          <p:cNvSpPr/>
          <p:nvPr/>
        </p:nvSpPr>
        <p:spPr>
          <a:xfrm>
            <a:off x="5991606" y="1938528"/>
            <a:ext cx="246888" cy="237744"/>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75070" y="1371600"/>
            <a:ext cx="1588770" cy="1371600"/>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9934" y="1426464"/>
            <a:ext cx="1479042" cy="1280160"/>
          </a:xfrm>
          <a:prstGeom prst="rect">
            <a:avLst/>
          </a:prstGeom>
          <a:noFill/>
        </p:spPr>
        <p:txBody>
          <a:bodyPr wrap="square" anchor="t" lIns="45720" rIns="45720" tIns="18288" bIns="18288">
            <a:spAutoFit/>
          </a:bodyPr>
          <a:lstStyle/>
          <a:p>
            <a:pPr algn="ctr">
              <a:spcAft>
                <a:spcPts val="200"/>
              </a:spcAft>
            </a:pPr>
            <a:r>
              <a:rPr sz="1200" b="1">
                <a:solidFill>
                  <a:srgbClr val="004EA8"/>
                </a:solidFill>
                <a:latin typeface="Arial"/>
              </a:rPr>
              <a:t>Bank, Cashiering</a:t>
            </a:r>
          </a:p>
          <a:p>
            <a:pPr algn="ctr">
              <a:spcAft>
                <a:spcPts val="200"/>
              </a:spcAft>
            </a:pPr>
            <a:r>
              <a:rPr sz="1200" b="1">
                <a:solidFill>
                  <a:srgbClr val="2E2E2E"/>
                </a:solidFill>
                <a:latin typeface="Arial"/>
              </a:rPr>
              <a:t>Payment reference</a:t>
            </a:r>
          </a:p>
          <a:p>
            <a:pPr algn="ctr">
              <a:spcAft>
                <a:spcPts val="200"/>
              </a:spcAft>
            </a:pPr>
            <a:r>
              <a:rPr sz="1200" b="0">
                <a:solidFill>
                  <a:srgbClr val="656565"/>
                </a:solidFill>
                <a:latin typeface="Arial"/>
              </a:rPr>
              <a:t>Bills payment, CLPC, Autopay</a:t>
            </a:r>
          </a:p>
        </p:txBody>
      </p:sp>
      <p:sp>
        <p:nvSpPr>
          <p:cNvPr id="20" name="TextBox 19"/>
          <p:cNvSpPr txBox="1"/>
          <p:nvPr/>
        </p:nvSpPr>
        <p:spPr>
          <a:xfrm>
            <a:off x="548640" y="2834640"/>
            <a:ext cx="7315200" cy="365760"/>
          </a:xfrm>
          <a:prstGeom prst="rect">
            <a:avLst/>
          </a:prstGeom>
          <a:noFill/>
        </p:spPr>
        <p:txBody>
          <a:bodyPr wrap="square" anchor="t" lIns="45720" rIns="45720" tIns="18288" bIns="18288">
            <a:spAutoFit/>
          </a:bodyPr>
          <a:lstStyle/>
          <a:p>
            <a:pPr>
              <a:spcAft>
                <a:spcPts val="0"/>
              </a:spcAft>
            </a:pPr>
            <a:r>
              <a:rPr sz="1100" b="0">
                <a:solidFill>
                  <a:srgbClr val="656565"/>
                </a:solidFill>
                <a:latin typeface="Arial"/>
              </a:rPr>
              <a:t>Seen in Cashiering (CA-01), the overview (OV-03), the e-policy text files (NB flow) and the reversal lists (DPPR).</a:t>
            </a:r>
          </a:p>
        </p:txBody>
      </p:sp>
      <p:sp>
        <p:nvSpPr>
          <p:cNvPr id="21" name="TextBox 20"/>
          <p:cNvSpPr txBox="1"/>
          <p:nvPr/>
        </p:nvSpPr>
        <p:spPr>
          <a:xfrm>
            <a:off x="548640" y="3291840"/>
            <a:ext cx="7315200" cy="320040"/>
          </a:xfrm>
          <a:prstGeom prst="rect">
            <a:avLst/>
          </a:prstGeom>
          <a:noFill/>
        </p:spPr>
        <p:txBody>
          <a:bodyPr wrap="square" anchor="t" lIns="45720" rIns="45720">
            <a:spAutoFit/>
          </a:bodyPr>
          <a:lstStyle/>
          <a:p>
            <a:r>
              <a:rPr sz="1400" b="1" i="0">
                <a:solidFill>
                  <a:srgbClr val="004EA8"/>
                </a:solidFill>
                <a:latin typeface="Arial"/>
              </a:rPr>
              <a:t>What it causes today</a:t>
            </a:r>
          </a:p>
        </p:txBody>
      </p:sp>
      <p:sp>
        <p:nvSpPr>
          <p:cNvPr id="22" name="TextBox 21"/>
          <p:cNvSpPr txBox="1"/>
          <p:nvPr/>
        </p:nvSpPr>
        <p:spPr>
          <a:xfrm>
            <a:off x="548640" y="3657600"/>
            <a:ext cx="7315200" cy="2542032"/>
          </a:xfrm>
          <a:prstGeom prst="rect">
            <a:avLst/>
          </a:prstGeom>
          <a:noFill/>
        </p:spPr>
        <p:txBody>
          <a:bodyPr wrap="square" anchor="t" lIns="45720" rIns="45720" tIns="18288" bIns="18288">
            <a:spAutoFit/>
          </a:bodyPr>
          <a:lstStyle/>
          <a:p>
            <a:pPr>
              <a:spcAft>
                <a:spcPts val="400"/>
              </a:spcAft>
            </a:pPr>
            <a:r>
              <a:rPr sz="1300" b="0">
                <a:solidFill>
                  <a:srgbClr val="004EA8"/>
                </a:solidFill>
                <a:latin typeface="Arial"/>
              </a:rPr>
              <a:t>•  </a:t>
            </a:r>
            <a:r>
              <a:rPr sz="1300" b="0">
                <a:solidFill>
                  <a:srgbClr val="4B4B4B"/>
                </a:solidFill>
                <a:latin typeface="Arial"/>
              </a:rPr>
              <a:t>Tracing one transaction across systems is slow (OV-03)</a:t>
            </a:r>
          </a:p>
          <a:p>
            <a:pPr>
              <a:spcAft>
                <a:spcPts val="400"/>
              </a:spcAft>
            </a:pPr>
            <a:r>
              <a:rPr sz="1300" b="0">
                <a:solidFill>
                  <a:srgbClr val="004EA8"/>
                </a:solidFill>
                <a:latin typeface="Arial"/>
              </a:rPr>
              <a:t>•  </a:t>
            </a:r>
            <a:r>
              <a:rPr sz="1300" b="0">
                <a:solidFill>
                  <a:srgbClr val="4B4B4B"/>
                </a:solidFill>
                <a:latin typeface="Arial"/>
              </a:rPr>
              <a:t>Receipts are created by hand against three numbers (CA-01)</a:t>
            </a:r>
          </a:p>
          <a:p>
            <a:pPr>
              <a:spcAft>
                <a:spcPts val="400"/>
              </a:spcAft>
            </a:pPr>
            <a:r>
              <a:rPr sz="1300" b="0">
                <a:solidFill>
                  <a:srgbClr val="004EA8"/>
                </a:solidFill>
                <a:latin typeface="Arial"/>
              </a:rPr>
              <a:t>•  </a:t>
            </a:r>
            <a:r>
              <a:rPr sz="1300" b="0">
                <a:solidFill>
                  <a:srgbClr val="4B4B4B"/>
                </a:solidFill>
                <a:latin typeface="Arial"/>
              </a:rPr>
              <a:t>Each payment is checked: "in QPS with an EBIX reference?" (Cashiering flow)</a:t>
            </a:r>
          </a:p>
          <a:p>
            <a:pPr>
              <a:spcAft>
                <a:spcPts val="400"/>
              </a:spcAft>
            </a:pPr>
            <a:r>
              <a:rPr sz="1300" b="0">
                <a:solidFill>
                  <a:srgbClr val="004EA8"/>
                </a:solidFill>
                <a:latin typeface="Arial"/>
              </a:rPr>
              <a:t>•  </a:t>
            </a:r>
            <a:r>
              <a:rPr sz="1300" b="0">
                <a:solidFill>
                  <a:srgbClr val="4B4B4B"/>
                </a:solidFill>
                <a:latin typeface="Arial"/>
              </a:rPr>
              <a:t>Reversal lists are matched to IT extracts by VLOOKUP on the invoice number (DPPR / PR2307)</a:t>
            </a:r>
          </a:p>
          <a:p>
            <a:pPr>
              <a:spcAft>
                <a:spcPts val="400"/>
              </a:spcAft>
            </a:pPr>
            <a:r>
              <a:rPr sz="1300" b="0">
                <a:solidFill>
                  <a:srgbClr val="004EA8"/>
                </a:solidFill>
                <a:latin typeface="Arial"/>
              </a:rPr>
              <a:t>•  </a:t>
            </a:r>
            <a:r>
              <a:rPr sz="1300" b="0">
                <a:solidFill>
                  <a:srgbClr val="4B4B4B"/>
                </a:solidFill>
                <a:latin typeface="Arial"/>
              </a:rPr>
              <a:t>E-policy updates need text files with the policy, ISYS, EBIX and QPS numbers (NB flow)</a:t>
            </a:r>
          </a:p>
          <a:p>
            <a:pPr>
              <a:spcAft>
                <a:spcPts val="400"/>
              </a:spcAft>
            </a:pPr>
            <a:r>
              <a:rPr sz="1300" b="0">
                <a:solidFill>
                  <a:srgbClr val="004EA8"/>
                </a:solidFill>
                <a:latin typeface="Arial"/>
              </a:rPr>
              <a:t>•  </a:t>
            </a:r>
            <a:r>
              <a:rPr sz="1300" b="0">
                <a:solidFill>
                  <a:srgbClr val="4B4B4B"/>
                </a:solidFill>
                <a:latin typeface="Arial"/>
              </a:rPr>
              <a:t>Migration must map several legacy references per invoice (CQ22, DMQ11)</a:t>
            </a:r>
          </a:p>
        </p:txBody>
      </p:sp>
      <p:sp>
        <p:nvSpPr>
          <p:cNvPr id="23" name="Rounded Rectangle 22"/>
          <p:cNvSpPr/>
          <p:nvPr/>
        </p:nvSpPr>
        <p:spPr>
          <a:xfrm>
            <a:off x="8138160" y="1280160"/>
            <a:ext cx="3504895"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38160" y="1280160"/>
            <a:ext cx="3504895"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1280160"/>
            <a:ext cx="3358591" cy="41148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To-Be in the BRD</a:t>
            </a:r>
          </a:p>
        </p:txBody>
      </p:sp>
      <p:sp>
        <p:nvSpPr>
          <p:cNvPr id="26" name="TextBox 25"/>
          <p:cNvSpPr txBox="1"/>
          <p:nvPr/>
        </p:nvSpPr>
        <p:spPr>
          <a:xfrm>
            <a:off x="8211312" y="1764792"/>
            <a:ext cx="3358591" cy="1856232"/>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One client master and one account number (ARN) per account (BRNB.102)</a:t>
            </a:r>
          </a:p>
          <a:p>
            <a:pPr>
              <a:spcAft>
                <a:spcPts val="300"/>
              </a:spcAft>
            </a:pPr>
            <a:r>
              <a:rPr sz="1200" b="0">
                <a:solidFill>
                  <a:srgbClr val="004EA8"/>
                </a:solidFill>
                <a:latin typeface="Arial"/>
              </a:rPr>
              <a:t>•  </a:t>
            </a:r>
            <a:r>
              <a:rPr sz="1200" b="0">
                <a:solidFill>
                  <a:srgbClr val="4B4B4B"/>
                </a:solidFill>
                <a:latin typeface="Arial"/>
              </a:rPr>
              <a:t>One invoice ledger; related transactions carry the root invoice number (ACSL 2.16, DIS 3.27.2)</a:t>
            </a:r>
          </a:p>
          <a:p>
            <a:pPr>
              <a:spcAft>
                <a:spcPts val="300"/>
              </a:spcAft>
            </a:pPr>
            <a:r>
              <a:rPr sz="1200" b="0">
                <a:solidFill>
                  <a:srgbClr val="004EA8"/>
                </a:solidFill>
                <a:latin typeface="Arial"/>
              </a:rPr>
              <a:t>•  </a:t>
            </a:r>
            <a:r>
              <a:rPr sz="1200" b="0">
                <a:solidFill>
                  <a:srgbClr val="4B4B4B"/>
                </a:solidFill>
                <a:latin typeface="Arial"/>
              </a:rPr>
              <a:t>Legacy references kept for search after migration</a:t>
            </a:r>
          </a:p>
        </p:txBody>
      </p:sp>
      <p:sp>
        <p:nvSpPr>
          <p:cNvPr id="27" name="Rounded Rectangle 26"/>
          <p:cNvSpPr/>
          <p:nvPr/>
        </p:nvSpPr>
        <p:spPr>
          <a:xfrm>
            <a:off x="8138160" y="3822192"/>
            <a:ext cx="3504895"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60" y="3822192"/>
            <a:ext cx="3504895" cy="411480"/>
          </a:xfrm>
          <a:prstGeom prst="rect">
            <a:avLst/>
          </a:prstGeom>
          <a:solidFill>
            <a:srgbClr val="0072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11312" y="3822192"/>
            <a:ext cx="3358591" cy="41148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Our recommendation</a:t>
            </a:r>
          </a:p>
        </p:txBody>
      </p:sp>
      <p:sp>
        <p:nvSpPr>
          <p:cNvPr id="30" name="TextBox 29"/>
          <p:cNvSpPr txBox="1"/>
          <p:nvPr/>
        </p:nvSpPr>
        <p:spPr>
          <a:xfrm>
            <a:off x="8211312" y="4306824"/>
            <a:ext cx="3358591" cy="1856232"/>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One lifecycle reference printed on quotation, invoice, AR / OR, SOA and e-policy letter</a:t>
            </a:r>
          </a:p>
          <a:p>
            <a:pPr>
              <a:spcAft>
                <a:spcPts val="300"/>
              </a:spcAft>
            </a:pPr>
            <a:r>
              <a:rPr sz="1200" b="0">
                <a:solidFill>
                  <a:srgbClr val="004EA8"/>
                </a:solidFill>
                <a:latin typeface="Arial"/>
              </a:rPr>
              <a:t>•  </a:t>
            </a:r>
            <a:r>
              <a:rPr sz="1200" b="0">
                <a:solidFill>
                  <a:srgbClr val="4B4B4B"/>
                </a:solidFill>
                <a:latin typeface="Arial"/>
              </a:rPr>
              <a:t>A payment reference with a check digit derived from it, carried in bank files</a:t>
            </a:r>
          </a:p>
          <a:p>
            <a:pPr>
              <a:spcAft>
                <a:spcPts val="300"/>
              </a:spcAft>
            </a:pPr>
            <a:r>
              <a:rPr sz="1200" b="0">
                <a:solidFill>
                  <a:srgbClr val="004EA8"/>
                </a:solidFill>
                <a:latin typeface="Arial"/>
              </a:rPr>
              <a:t>•  </a:t>
            </a:r>
            <a:r>
              <a:rPr sz="1200" b="0">
                <a:solidFill>
                  <a:srgbClr val="4B4B4B"/>
                </a:solidFill>
                <a:latin typeface="Arial"/>
              </a:rPr>
              <a:t>BDOI to confirm (open point OV-03)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Hand-offs between departments (1/3)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graphicFrame>
        <p:nvGraphicFramePr>
          <p:cNvPr id="9" name="Table 8"/>
          <p:cNvGraphicFramePr>
            <a:graphicFrameLocks noGrp="1"/>
          </p:cNvGraphicFramePr>
          <p:nvPr/>
        </p:nvGraphicFramePr>
        <p:xfrm>
          <a:off x="548640" y="1280160"/>
          <a:ext cx="11094411" cy="4754880"/>
        </p:xfrm>
        <a:graphic>
          <a:graphicData uri="http://schemas.openxmlformats.org/drawingml/2006/table">
            <a:tbl>
              <a:tblPr firstRow="1" bandRow="1">
                <a:tableStyleId>{5C22544A-7EE6-4342-B048-85BDC9FD1C3A}</a:tableStyleId>
              </a:tblPr>
              <a:tblGrid>
                <a:gridCol w="1699950"/>
                <a:gridCol w="1699950"/>
                <a:gridCol w="2863074"/>
                <a:gridCol w="1968363"/>
                <a:gridCol w="2863074"/>
              </a:tblGrid>
              <a:tr h="365760">
                <a:tc>
                  <a:txBody>
                    <a:bodyPr wrap="square"/>
                    <a:lstStyle/>
                    <a:p>
                      <a:r>
                        <a:rPr sz="1100" b="1">
                          <a:solidFill>
                            <a:srgbClr val="FFFFFF"/>
                          </a:solidFill>
                          <a:latin typeface="Arial"/>
                        </a:rPr>
                        <a:t>From</a:t>
                      </a:r>
                    </a:p>
                  </a:txBody>
                  <a:tcPr marL="64008" marR="64008" marT="27432" marB="27432" anchor="ctr">
                    <a:solidFill>
                      <a:srgbClr val="004EA8"/>
                    </a:solidFill>
                  </a:tcPr>
                </a:tc>
                <a:tc>
                  <a:txBody>
                    <a:bodyPr wrap="square"/>
                    <a:lstStyle/>
                    <a:p>
                      <a:r>
                        <a:rPr sz="1100" b="1">
                          <a:solidFill>
                            <a:srgbClr val="FFFFFF"/>
                          </a:solidFill>
                          <a:latin typeface="Arial"/>
                        </a:rPr>
                        <a:t>To</a:t>
                      </a:r>
                    </a:p>
                  </a:txBody>
                  <a:tcPr marL="64008" marR="64008" marT="27432" marB="27432" anchor="ctr">
                    <a:solidFill>
                      <a:srgbClr val="004EA8"/>
                    </a:solidFill>
                  </a:tcPr>
                </a:tc>
                <a:tc>
                  <a:txBody>
                    <a:bodyPr wrap="square"/>
                    <a:lstStyle/>
                    <a:p>
                      <a:r>
                        <a:rPr sz="1100" b="1">
                          <a:solidFill>
                            <a:srgbClr val="FFFFFF"/>
                          </a:solidFill>
                          <a:latin typeface="Arial"/>
                        </a:rPr>
                        <a:t>What passes</a:t>
                      </a:r>
                    </a:p>
                  </a:txBody>
                  <a:tcPr marL="64008" marR="64008" marT="27432" marB="27432" anchor="ctr">
                    <a:solidFill>
                      <a:srgbClr val="004EA8"/>
                    </a:solidFill>
                  </a:tcPr>
                </a:tc>
                <a:tc>
                  <a:txBody>
                    <a:bodyPr wrap="square"/>
                    <a:lstStyle/>
                    <a:p>
                      <a:r>
                        <a:rPr sz="1100" b="1">
                          <a:solidFill>
                            <a:srgbClr val="FFFFFF"/>
                          </a:solidFill>
                          <a:latin typeface="Arial"/>
                        </a:rPr>
                        <a:t>Channel today</a:t>
                      </a:r>
                    </a:p>
                  </a:txBody>
                  <a:tcPr marL="64008" marR="64008" marT="27432" marB="27432" anchor="ctr">
                    <a:solidFill>
                      <a:srgbClr val="004EA8"/>
                    </a:solidFill>
                  </a:tcPr>
                </a:tc>
                <a:tc>
                  <a:txBody>
                    <a:bodyPr wrap="square"/>
                    <a:lstStyle/>
                    <a:p>
                      <a:r>
                        <a:rPr sz="1100" b="1">
                          <a:solidFill>
                            <a:srgbClr val="FFFFFF"/>
                          </a:solidFill>
                          <a:latin typeface="Arial"/>
                        </a:rPr>
                        <a:t>To-Be in the BRDs</a:t>
                      </a:r>
                    </a:p>
                  </a:txBody>
                  <a:tcPr marL="64008" marR="64008" marT="27432" marB="27432" anchor="ctr">
                    <a:solidFill>
                      <a:srgbClr val="004EA8"/>
                    </a:solidFill>
                  </a:tcPr>
                </a:tc>
              </a:tr>
              <a:tr h="731520">
                <a:tc>
                  <a:txBody>
                    <a:bodyPr wrap="square"/>
                    <a:lstStyle/>
                    <a:p>
                      <a:r>
                        <a:rPr sz="1100" b="1">
                          <a:solidFill>
                            <a:srgbClr val="4B4B4B"/>
                          </a:solidFill>
                          <a:latin typeface="Arial"/>
                        </a:rPr>
                        <a:t>Marketing</a:t>
                      </a:r>
                    </a:p>
                  </a:txBody>
                  <a:tcPr marL="64008" marR="64008" marT="27432" marB="27432" anchor="ctr">
                    <a:solidFill>
                      <a:srgbClr val="FFFFFF"/>
                    </a:solidFill>
                  </a:tcPr>
                </a:tc>
                <a:tc>
                  <a:txBody>
                    <a:bodyPr wrap="square"/>
                    <a:lstStyle/>
                    <a:p>
                      <a:r>
                        <a:rPr sz="1100" b="0">
                          <a:solidFill>
                            <a:srgbClr val="4B4B4B"/>
                          </a:solidFill>
                          <a:latin typeface="Arial"/>
                        </a:rPr>
                        <a:t>TSU</a:t>
                      </a:r>
                    </a:p>
                  </a:txBody>
                  <a:tcPr marL="64008" marR="64008" marT="27432" marB="27432" anchor="ctr">
                    <a:solidFill>
                      <a:srgbClr val="FFFFFF"/>
                    </a:solidFill>
                  </a:tcPr>
                </a:tc>
                <a:tc>
                  <a:txBody>
                    <a:bodyPr wrap="square"/>
                    <a:lstStyle/>
                    <a:p>
                      <a:r>
                        <a:rPr sz="1100" b="0">
                          <a:solidFill>
                            <a:srgbClr val="4B4B4B"/>
                          </a:solidFill>
                          <a:latin typeface="Arial"/>
                        </a:rPr>
                        <a:t>Non-package request (PRF / TSU form)</a:t>
                      </a:r>
                    </a:p>
                  </a:txBody>
                  <a:tcPr marL="64008" marR="64008" marT="27432" marB="27432" anchor="ctr">
                    <a:solidFill>
                      <a:srgbClr val="FFFFFF"/>
                    </a:solidFill>
                  </a:tcPr>
                </a:tc>
                <a:tc>
                  <a:txBody>
                    <a:bodyPr wrap="square"/>
                    <a:lstStyle/>
                    <a:p>
                      <a:r>
                        <a:rPr sz="1100" b="0">
                          <a:solidFill>
                            <a:srgbClr val="4B4B4B"/>
                          </a:solidFill>
                          <a:latin typeface="Arial"/>
                        </a:rPr>
                        <a:t>E-mail</a:t>
                      </a:r>
                    </a:p>
                  </a:txBody>
                  <a:tcPr marL="64008" marR="64008" marT="27432" marB="27432" anchor="ctr">
                    <a:solidFill>
                      <a:srgbClr val="FFFFFF"/>
                    </a:solidFill>
                  </a:tcPr>
                </a:tc>
                <a:tc>
                  <a:txBody>
                    <a:bodyPr wrap="square"/>
                    <a:lstStyle/>
                    <a:p>
                      <a:r>
                        <a:rPr sz="1100" b="0">
                          <a:solidFill>
                            <a:srgbClr val="4B4B4B"/>
                          </a:solidFill>
                          <a:latin typeface="Arial"/>
                        </a:rPr>
                        <a:t>Request in the TSU workflow (BRD-3)</a:t>
                      </a:r>
                    </a:p>
                  </a:txBody>
                  <a:tcPr marL="64008" marR="64008" marT="27432" marB="27432" anchor="ctr">
                    <a:solidFill>
                      <a:srgbClr val="FFFFFF"/>
                    </a:solidFill>
                  </a:tcPr>
                </a:tc>
              </a:tr>
              <a:tr h="731520">
                <a:tc>
                  <a:txBody>
                    <a:bodyPr wrap="square"/>
                    <a:lstStyle/>
                    <a:p>
                      <a:r>
                        <a:rPr sz="1100" b="1">
                          <a:solidFill>
                            <a:srgbClr val="4B4B4B"/>
                          </a:solidFill>
                          <a:latin typeface="Arial"/>
                        </a:rPr>
                        <a:t>TSU</a:t>
                      </a:r>
                    </a:p>
                  </a:txBody>
                  <a:tcPr marL="64008" marR="64008" marT="27432" marB="27432" anchor="ctr">
                    <a:solidFill>
                      <a:srgbClr val="E5F5FF"/>
                    </a:solidFill>
                  </a:tcPr>
                </a:tc>
                <a:tc>
                  <a:txBody>
                    <a:bodyPr wrap="square"/>
                    <a:lstStyle/>
                    <a:p>
                      <a:r>
                        <a:rPr sz="1100" b="0">
                          <a:solidFill>
                            <a:srgbClr val="4B4B4B"/>
                          </a:solidFill>
                          <a:latin typeface="Arial"/>
                        </a:rPr>
                        <a:t>Reinsurance</a:t>
                      </a:r>
                    </a:p>
                  </a:txBody>
                  <a:tcPr marL="64008" marR="64008" marT="27432" marB="27432" anchor="ctr">
                    <a:solidFill>
                      <a:srgbClr val="E5F5FF"/>
                    </a:solidFill>
                  </a:tcPr>
                </a:tc>
                <a:tc>
                  <a:txBody>
                    <a:bodyPr wrap="square"/>
                    <a:lstStyle/>
                    <a:p>
                      <a:r>
                        <a:rPr sz="1100" b="0">
                          <a:solidFill>
                            <a:srgbClr val="4B4B4B"/>
                          </a:solidFill>
                          <a:latin typeface="Arial"/>
                        </a:rPr>
                        <a:t>Large or special risks for facultative placement</a:t>
                      </a:r>
                    </a:p>
                  </a:txBody>
                  <a:tcPr marL="64008" marR="64008" marT="27432" marB="27432" anchor="ctr">
                    <a:solidFill>
                      <a:srgbClr val="E5F5FF"/>
                    </a:solidFill>
                  </a:tcPr>
                </a:tc>
                <a:tc>
                  <a:txBody>
                    <a:bodyPr wrap="square"/>
                    <a:lstStyle/>
                    <a:p>
                      <a:r>
                        <a:rPr sz="1100" b="0">
                          <a:solidFill>
                            <a:srgbClr val="4B4B4B"/>
                          </a:solidFill>
                          <a:latin typeface="Arial"/>
                        </a:rPr>
                        <a:t>E-mail</a:t>
                      </a:r>
                    </a:p>
                  </a:txBody>
                  <a:tcPr marL="64008" marR="64008" marT="27432" marB="27432" anchor="ctr">
                    <a:solidFill>
                      <a:srgbClr val="E5F5FF"/>
                    </a:solidFill>
                  </a:tcPr>
                </a:tc>
                <a:tc>
                  <a:txBody>
                    <a:bodyPr wrap="square"/>
                    <a:lstStyle/>
                    <a:p>
                      <a:r>
                        <a:rPr sz="1100" b="0">
                          <a:solidFill>
                            <a:srgbClr val="4B4B4B"/>
                          </a:solidFill>
                          <a:latin typeface="Arial"/>
                        </a:rPr>
                        <a:t>RI module in phase 2; referral not specified</a:t>
                      </a:r>
                    </a:p>
                  </a:txBody>
                  <a:tcPr marL="64008" marR="64008" marT="27432" marB="27432" anchor="ctr">
                    <a:solidFill>
                      <a:srgbClr val="E5F5FF"/>
                    </a:solidFill>
                  </a:tcPr>
                </a:tc>
              </a:tr>
              <a:tr h="731520">
                <a:tc>
                  <a:txBody>
                    <a:bodyPr wrap="square"/>
                    <a:lstStyle/>
                    <a:p>
                      <a:r>
                        <a:rPr sz="1100" b="1">
                          <a:solidFill>
                            <a:srgbClr val="4B4B4B"/>
                          </a:solidFill>
                          <a:latin typeface="Arial"/>
                        </a:rPr>
                        <a:t>Marketing</a:t>
                      </a:r>
                    </a:p>
                  </a:txBody>
                  <a:tcPr marL="64008" marR="64008" marT="27432" marB="27432" anchor="ctr">
                    <a:solidFill>
                      <a:srgbClr val="FFFFFF"/>
                    </a:solidFill>
                  </a:tcPr>
                </a:tc>
                <a:tc>
                  <a:txBody>
                    <a:bodyPr wrap="square"/>
                    <a:lstStyle/>
                    <a:p>
                      <a:r>
                        <a:rPr sz="1100" b="0">
                          <a:solidFill>
                            <a:srgbClr val="4B4B4B"/>
                          </a:solidFill>
                          <a:latin typeface="Arial"/>
                        </a:rPr>
                        <a:t>Processing</a:t>
                      </a:r>
                    </a:p>
                  </a:txBody>
                  <a:tcPr marL="64008" marR="64008" marT="27432" marB="27432" anchor="ctr">
                    <a:solidFill>
                      <a:srgbClr val="FFFFFF"/>
                    </a:solidFill>
                  </a:tcPr>
                </a:tc>
                <a:tc>
                  <a:txBody>
                    <a:bodyPr wrap="square"/>
                    <a:lstStyle/>
                    <a:p>
                      <a:r>
                        <a:rPr sz="1100" b="0">
                          <a:solidFill>
                            <a:srgbClr val="4B4B4B"/>
                          </a:solidFill>
                          <a:latin typeface="Arial"/>
                        </a:rPr>
                        <a:t>Accepted quote, GRF / ARF, proof of payment</a:t>
                      </a:r>
                    </a:p>
                  </a:txBody>
                  <a:tcPr marL="64008" marR="64008" marT="27432" marB="27432" anchor="ctr">
                    <a:solidFill>
                      <a:srgbClr val="FFFFFF"/>
                    </a:solidFill>
                  </a:tcPr>
                </a:tc>
                <a:tc>
                  <a:txBody>
                    <a:bodyPr wrap="square"/>
                    <a:lstStyle/>
                    <a:p>
                      <a:r>
                        <a:rPr sz="1100" b="0">
                          <a:solidFill>
                            <a:srgbClr val="4B4B4B"/>
                          </a:solidFill>
                          <a:latin typeface="Arial"/>
                        </a:rPr>
                        <a:t>E-mail, ISYS ARF</a:t>
                      </a:r>
                    </a:p>
                  </a:txBody>
                  <a:tcPr marL="64008" marR="64008" marT="27432" marB="27432" anchor="ctr">
                    <a:solidFill>
                      <a:srgbClr val="FFFFFF"/>
                    </a:solidFill>
                  </a:tcPr>
                </a:tc>
                <a:tc>
                  <a:txBody>
                    <a:bodyPr wrap="square"/>
                    <a:lstStyle/>
                    <a:p>
                      <a:r>
                        <a:rPr sz="1100" b="0">
                          <a:solidFill>
                            <a:srgbClr val="4B4B4B"/>
                          </a:solidFill>
                          <a:latin typeface="Arial"/>
                        </a:rPr>
                        <a:t>Account submitted in the workflow (BRD-1)</a:t>
                      </a:r>
                    </a:p>
                  </a:txBody>
                  <a:tcPr marL="64008" marR="64008" marT="27432" marB="27432" anchor="ctr">
                    <a:solidFill>
                      <a:srgbClr val="FFFFFF"/>
                    </a:solidFill>
                  </a:tcPr>
                </a:tc>
              </a:tr>
              <a:tr h="731520">
                <a:tc>
                  <a:txBody>
                    <a:bodyPr wrap="square"/>
                    <a:lstStyle/>
                    <a:p>
                      <a:r>
                        <a:rPr sz="1100" b="1">
                          <a:solidFill>
                            <a:srgbClr val="4B4B4B"/>
                          </a:solidFill>
                          <a:latin typeface="Arial"/>
                        </a:rPr>
                        <a:t>Processing</a:t>
                      </a:r>
                    </a:p>
                  </a:txBody>
                  <a:tcPr marL="64008" marR="64008" marT="27432" marB="27432" anchor="ctr">
                    <a:solidFill>
                      <a:srgbClr val="E5F5FF"/>
                    </a:solidFill>
                  </a:tcPr>
                </a:tc>
                <a:tc>
                  <a:txBody>
                    <a:bodyPr wrap="square"/>
                    <a:lstStyle/>
                    <a:p>
                      <a:r>
                        <a:rPr sz="1100" b="0">
                          <a:solidFill>
                            <a:srgbClr val="4B4B4B"/>
                          </a:solidFill>
                          <a:latin typeface="Arial"/>
                        </a:rPr>
                        <a:t>IT</a:t>
                      </a:r>
                    </a:p>
                  </a:txBody>
                  <a:tcPr marL="64008" marR="64008" marT="27432" marB="27432" anchor="ctr">
                    <a:solidFill>
                      <a:srgbClr val="E5F5FF"/>
                    </a:solidFill>
                  </a:tcPr>
                </a:tc>
                <a:tc>
                  <a:txBody>
                    <a:bodyPr wrap="square"/>
                    <a:lstStyle/>
                    <a:p>
                      <a:r>
                        <a:rPr sz="1100" b="0">
                          <a:solidFill>
                            <a:srgbClr val="4B4B4B"/>
                          </a:solidFill>
                          <a:latin typeface="Arial"/>
                        </a:rPr>
                        <a:t>ISYS to QPS migration; policy-number text files</a:t>
                      </a:r>
                    </a:p>
                  </a:txBody>
                  <a:tcPr marL="64008" marR="64008" marT="27432" marB="27432" anchor="ctr">
                    <a:solidFill>
                      <a:srgbClr val="E5F5FF"/>
                    </a:solidFill>
                  </a:tcPr>
                </a:tc>
                <a:tc>
                  <a:txBody>
                    <a:bodyPr wrap="square"/>
                    <a:lstStyle/>
                    <a:p>
                      <a:r>
                        <a:rPr sz="1100" b="0">
                          <a:solidFill>
                            <a:srgbClr val="4B4B4B"/>
                          </a:solidFill>
                          <a:latin typeface="Arial"/>
                        </a:rPr>
                        <a:t>Request, text file</a:t>
                      </a:r>
                    </a:p>
                  </a:txBody>
                  <a:tcPr marL="64008" marR="64008" marT="27432" marB="27432" anchor="ctr">
                    <a:solidFill>
                      <a:srgbClr val="E5F5FF"/>
                    </a:solidFill>
                  </a:tcPr>
                </a:tc>
                <a:tc>
                  <a:txBody>
                    <a:bodyPr wrap="square"/>
                    <a:lstStyle/>
                    <a:p>
                      <a:r>
                        <a:rPr sz="1100" b="0">
                          <a:solidFill>
                            <a:srgbClr val="4B4B4B"/>
                          </a:solidFill>
                          <a:latin typeface="Arial"/>
                        </a:rPr>
                        <a:t>Not needed: one system, one account</a:t>
                      </a:r>
                    </a:p>
                  </a:txBody>
                  <a:tcPr marL="64008" marR="64008" marT="27432" marB="27432" anchor="ctr">
                    <a:solidFill>
                      <a:srgbClr val="E5F5FF"/>
                    </a:solidFill>
                  </a:tcPr>
                </a:tc>
              </a:tr>
              <a:tr h="731520">
                <a:tc>
                  <a:txBody>
                    <a:bodyPr wrap="square"/>
                    <a:lstStyle/>
                    <a:p>
                      <a:r>
                        <a:rPr sz="1100" b="1">
                          <a:solidFill>
                            <a:srgbClr val="4B4B4B"/>
                          </a:solidFill>
                          <a:latin typeface="Arial"/>
                        </a:rPr>
                        <a:t>Processing</a:t>
                      </a:r>
                    </a:p>
                  </a:txBody>
                  <a:tcPr marL="64008" marR="64008" marT="27432" marB="27432" anchor="ctr">
                    <a:solidFill>
                      <a:srgbClr val="FFFFFF"/>
                    </a:solidFill>
                  </a:tcPr>
                </a:tc>
                <a:tc>
                  <a:txBody>
                    <a:bodyPr wrap="square"/>
                    <a:lstStyle/>
                    <a:p>
                      <a:r>
                        <a:rPr sz="1100" b="0">
                          <a:solidFill>
                            <a:srgbClr val="4B4B4B"/>
                          </a:solidFill>
                          <a:latin typeface="Arial"/>
                        </a:rPr>
                        <a:t>Insurers</a:t>
                      </a:r>
                    </a:p>
                  </a:txBody>
                  <a:tcPr marL="64008" marR="64008" marT="27432" marB="27432" anchor="ctr">
                    <a:solidFill>
                      <a:srgbClr val="FFFFFF"/>
                    </a:solidFill>
                  </a:tcPr>
                </a:tc>
                <a:tc>
                  <a:txBody>
                    <a:bodyPr wrap="square"/>
                    <a:lstStyle/>
                    <a:p>
                      <a:r>
                        <a:rPr sz="1100" b="0">
                          <a:solidFill>
                            <a:srgbClr val="4B4B4B"/>
                          </a:solidFill>
                          <a:latin typeface="Arial"/>
                        </a:rPr>
                        <a:t>Placement slips, hold covers, returns</a:t>
                      </a:r>
                    </a:p>
                  </a:txBody>
                  <a:tcPr marL="64008" marR="64008" marT="27432" marB="27432" anchor="ctr">
                    <a:solidFill>
                      <a:srgbClr val="FFFFFF"/>
                    </a:solidFill>
                  </a:tcPr>
                </a:tc>
                <a:tc>
                  <a:txBody>
                    <a:bodyPr wrap="square"/>
                    <a:lstStyle/>
                    <a:p>
                      <a:r>
                        <a:rPr sz="1100" b="0">
                          <a:solidFill>
                            <a:srgbClr val="4B4B4B"/>
                          </a:solidFill>
                          <a:latin typeface="Arial"/>
                        </a:rPr>
                        <a:t>E-mail, SFTP</a:t>
                      </a:r>
                    </a:p>
                  </a:txBody>
                  <a:tcPr marL="64008" marR="64008" marT="27432" marB="27432" anchor="ctr">
                    <a:solidFill>
                      <a:srgbClr val="FFFFFF"/>
                    </a:solidFill>
                  </a:tcPr>
                </a:tc>
                <a:tc>
                  <a:txBody>
                    <a:bodyPr wrap="square"/>
                    <a:lstStyle/>
                    <a:p>
                      <a:r>
                        <a:rPr sz="1100" b="0">
                          <a:solidFill>
                            <a:srgbClr val="4B4B4B"/>
                          </a:solidFill>
                          <a:latin typeface="Arial"/>
                        </a:rPr>
                        <a:t>Slip with send log; channel per insurer</a:t>
                      </a:r>
                    </a:p>
                  </a:txBody>
                  <a:tcPr marL="64008" marR="64008" marT="27432" marB="27432" anchor="ctr">
                    <a:solidFill>
                      <a:srgbClr val="FFFFFF"/>
                    </a:solidFill>
                  </a:tcPr>
                </a:tc>
              </a:tr>
              <a:tr h="731520">
                <a:tc>
                  <a:txBody>
                    <a:bodyPr wrap="square"/>
                    <a:lstStyle/>
                    <a:p>
                      <a:r>
                        <a:rPr sz="1100" b="1">
                          <a:solidFill>
                            <a:srgbClr val="4B4B4B"/>
                          </a:solidFill>
                          <a:latin typeface="Arial"/>
                        </a:rPr>
                        <a:t>Processing, IT</a:t>
                      </a:r>
                    </a:p>
                  </a:txBody>
                  <a:tcPr marL="64008" marR="64008" marT="27432" marB="27432" anchor="ctr">
                    <a:solidFill>
                      <a:srgbClr val="E5F5FF"/>
                    </a:solidFill>
                  </a:tcPr>
                </a:tc>
                <a:tc>
                  <a:txBody>
                    <a:bodyPr wrap="square"/>
                    <a:lstStyle/>
                    <a:p>
                      <a:r>
                        <a:rPr sz="1100" b="0">
                          <a:solidFill>
                            <a:srgbClr val="4B4B4B"/>
                          </a:solidFill>
                          <a:latin typeface="Arial"/>
                        </a:rPr>
                        <a:t>COG, contact centre</a:t>
                      </a:r>
                    </a:p>
                  </a:txBody>
                  <a:tcPr marL="64008" marR="64008" marT="27432" marB="27432" anchor="ctr">
                    <a:solidFill>
                      <a:srgbClr val="E5F5FF"/>
                    </a:solidFill>
                  </a:tcPr>
                </a:tc>
                <a:tc>
                  <a:txBody>
                    <a:bodyPr wrap="square"/>
                    <a:lstStyle/>
                    <a:p>
                      <a:r>
                        <a:rPr sz="1100" b="0">
                          <a:solidFill>
                            <a:srgbClr val="4B4B4B"/>
                          </a:solidFill>
                          <a:latin typeface="Arial"/>
                        </a:rPr>
                        <a:t>E-policy delivery and fall-outs</a:t>
                      </a:r>
                    </a:p>
                  </a:txBody>
                  <a:tcPr marL="64008" marR="64008" marT="27432" marB="27432" anchor="ctr">
                    <a:solidFill>
                      <a:srgbClr val="E5F5FF"/>
                    </a:solidFill>
                  </a:tcPr>
                </a:tc>
                <a:tc>
                  <a:txBody>
                    <a:bodyPr wrap="square"/>
                    <a:lstStyle/>
                    <a:p>
                      <a:r>
                        <a:rPr sz="1100" b="0">
                          <a:solidFill>
                            <a:srgbClr val="4B4B4B"/>
                          </a:solidFill>
                          <a:latin typeface="Arial"/>
                        </a:rPr>
                        <a:t>SFTP, e-mail</a:t>
                      </a:r>
                    </a:p>
                  </a:txBody>
                  <a:tcPr marL="64008" marR="64008" marT="27432" marB="27432" anchor="ctr">
                    <a:solidFill>
                      <a:srgbClr val="E5F5FF"/>
                    </a:solidFill>
                  </a:tcPr>
                </a:tc>
                <a:tc>
                  <a:txBody>
                    <a:bodyPr wrap="square"/>
                    <a:lstStyle/>
                    <a:p>
                      <a:r>
                        <a:rPr sz="1100" b="0">
                          <a:solidFill>
                            <a:srgbClr val="4B4B4B"/>
                          </a:solidFill>
                          <a:latin typeface="Arial"/>
                        </a:rPr>
                        <a:t>One e-policy sender; fall-out queue not specified</a:t>
                      </a:r>
                    </a:p>
                  </a:txBody>
                  <a:tcPr marL="64008" marR="64008" marT="27432" marB="27432" anchor="ctr">
                    <a:solidFill>
                      <a:srgbClr val="E5F5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Hand-offs between departments (2/3)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graphicFrame>
        <p:nvGraphicFramePr>
          <p:cNvPr id="9" name="Table 8"/>
          <p:cNvGraphicFramePr>
            <a:graphicFrameLocks noGrp="1"/>
          </p:cNvGraphicFramePr>
          <p:nvPr/>
        </p:nvGraphicFramePr>
        <p:xfrm>
          <a:off x="548640" y="1280160"/>
          <a:ext cx="11094411" cy="4754880"/>
        </p:xfrm>
        <a:graphic>
          <a:graphicData uri="http://schemas.openxmlformats.org/drawingml/2006/table">
            <a:tbl>
              <a:tblPr firstRow="1" bandRow="1">
                <a:tableStyleId>{5C22544A-7EE6-4342-B048-85BDC9FD1C3A}</a:tableStyleId>
              </a:tblPr>
              <a:tblGrid>
                <a:gridCol w="1699950"/>
                <a:gridCol w="1699950"/>
                <a:gridCol w="2863074"/>
                <a:gridCol w="1968363"/>
                <a:gridCol w="2863074"/>
              </a:tblGrid>
              <a:tr h="365760">
                <a:tc>
                  <a:txBody>
                    <a:bodyPr wrap="square"/>
                    <a:lstStyle/>
                    <a:p>
                      <a:r>
                        <a:rPr sz="1100" b="1">
                          <a:solidFill>
                            <a:srgbClr val="FFFFFF"/>
                          </a:solidFill>
                          <a:latin typeface="Arial"/>
                        </a:rPr>
                        <a:t>From</a:t>
                      </a:r>
                    </a:p>
                  </a:txBody>
                  <a:tcPr marL="64008" marR="64008" marT="27432" marB="27432" anchor="ctr">
                    <a:solidFill>
                      <a:srgbClr val="004EA8"/>
                    </a:solidFill>
                  </a:tcPr>
                </a:tc>
                <a:tc>
                  <a:txBody>
                    <a:bodyPr wrap="square"/>
                    <a:lstStyle/>
                    <a:p>
                      <a:r>
                        <a:rPr sz="1100" b="1">
                          <a:solidFill>
                            <a:srgbClr val="FFFFFF"/>
                          </a:solidFill>
                          <a:latin typeface="Arial"/>
                        </a:rPr>
                        <a:t>To</a:t>
                      </a:r>
                    </a:p>
                  </a:txBody>
                  <a:tcPr marL="64008" marR="64008" marT="27432" marB="27432" anchor="ctr">
                    <a:solidFill>
                      <a:srgbClr val="004EA8"/>
                    </a:solidFill>
                  </a:tcPr>
                </a:tc>
                <a:tc>
                  <a:txBody>
                    <a:bodyPr wrap="square"/>
                    <a:lstStyle/>
                    <a:p>
                      <a:r>
                        <a:rPr sz="1100" b="1">
                          <a:solidFill>
                            <a:srgbClr val="FFFFFF"/>
                          </a:solidFill>
                          <a:latin typeface="Arial"/>
                        </a:rPr>
                        <a:t>What passes</a:t>
                      </a:r>
                    </a:p>
                  </a:txBody>
                  <a:tcPr marL="64008" marR="64008" marT="27432" marB="27432" anchor="ctr">
                    <a:solidFill>
                      <a:srgbClr val="004EA8"/>
                    </a:solidFill>
                  </a:tcPr>
                </a:tc>
                <a:tc>
                  <a:txBody>
                    <a:bodyPr wrap="square"/>
                    <a:lstStyle/>
                    <a:p>
                      <a:r>
                        <a:rPr sz="1100" b="1">
                          <a:solidFill>
                            <a:srgbClr val="FFFFFF"/>
                          </a:solidFill>
                          <a:latin typeface="Arial"/>
                        </a:rPr>
                        <a:t>Channel today</a:t>
                      </a:r>
                    </a:p>
                  </a:txBody>
                  <a:tcPr marL="64008" marR="64008" marT="27432" marB="27432" anchor="ctr">
                    <a:solidFill>
                      <a:srgbClr val="004EA8"/>
                    </a:solidFill>
                  </a:tcPr>
                </a:tc>
                <a:tc>
                  <a:txBody>
                    <a:bodyPr wrap="square"/>
                    <a:lstStyle/>
                    <a:p>
                      <a:r>
                        <a:rPr sz="1100" b="1">
                          <a:solidFill>
                            <a:srgbClr val="FFFFFF"/>
                          </a:solidFill>
                          <a:latin typeface="Arial"/>
                        </a:rPr>
                        <a:t>To-Be in the BRDs</a:t>
                      </a:r>
                    </a:p>
                  </a:txBody>
                  <a:tcPr marL="64008" marR="64008" marT="27432" marB="27432" anchor="ctr">
                    <a:solidFill>
                      <a:srgbClr val="004EA8"/>
                    </a:solidFill>
                  </a:tcPr>
                </a:tc>
              </a:tr>
              <a:tr h="731520">
                <a:tc>
                  <a:txBody>
                    <a:bodyPr wrap="square"/>
                    <a:lstStyle/>
                    <a:p>
                      <a:r>
                        <a:rPr sz="1100" b="1">
                          <a:solidFill>
                            <a:srgbClr val="4B4B4B"/>
                          </a:solidFill>
                          <a:latin typeface="Arial"/>
                        </a:rPr>
                        <a:t>Marketing</a:t>
                      </a:r>
                    </a:p>
                  </a:txBody>
                  <a:tcPr marL="64008" marR="64008" marT="27432" marB="27432" anchor="ctr">
                    <a:solidFill>
                      <a:srgbClr val="FFFFFF"/>
                    </a:solidFill>
                  </a:tcPr>
                </a:tc>
                <a:tc>
                  <a:txBody>
                    <a:bodyPr wrap="square"/>
                    <a:lstStyle/>
                    <a:p>
                      <a:r>
                        <a:rPr sz="1100" b="0">
                          <a:solidFill>
                            <a:srgbClr val="4B4B4B"/>
                          </a:solidFill>
                          <a:latin typeface="Arial"/>
                        </a:rPr>
                        <a:t>Operations</a:t>
                      </a:r>
                    </a:p>
                  </a:txBody>
                  <a:tcPr marL="64008" marR="64008" marT="27432" marB="27432" anchor="ctr">
                    <a:solidFill>
                      <a:srgbClr val="FFFFFF"/>
                    </a:solidFill>
                  </a:tcPr>
                </a:tc>
                <a:tc>
                  <a:txBody>
                    <a:bodyPr wrap="square"/>
                    <a:lstStyle/>
                    <a:p>
                      <a:r>
                        <a:rPr sz="1100" b="0">
                          <a:solidFill>
                            <a:srgbClr val="4B4B4B"/>
                          </a:solidFill>
                          <a:latin typeface="Arial"/>
                        </a:rPr>
                        <a:t>Endorsement and cancellation requests</a:t>
                      </a:r>
                    </a:p>
                  </a:txBody>
                  <a:tcPr marL="64008" marR="64008" marT="27432" marB="27432" anchor="ctr">
                    <a:solidFill>
                      <a:srgbClr val="FFFFFF"/>
                    </a:solidFill>
                  </a:tcPr>
                </a:tc>
                <a:tc>
                  <a:txBody>
                    <a:bodyPr wrap="square"/>
                    <a:lstStyle/>
                    <a:p>
                      <a:r>
                        <a:rPr sz="1100" b="0">
                          <a:solidFill>
                            <a:srgbClr val="4B4B4B"/>
                          </a:solidFill>
                          <a:latin typeface="Arial"/>
                        </a:rPr>
                        <a:t>E-mail with documents</a:t>
                      </a:r>
                    </a:p>
                  </a:txBody>
                  <a:tcPr marL="64008" marR="64008" marT="27432" marB="27432" anchor="ctr">
                    <a:solidFill>
                      <a:srgbClr val="FFFFFF"/>
                    </a:solidFill>
                  </a:tcPr>
                </a:tc>
                <a:tc>
                  <a:txBody>
                    <a:bodyPr wrap="square"/>
                    <a:lstStyle/>
                    <a:p>
                      <a:r>
                        <a:rPr sz="1100" b="0">
                          <a:solidFill>
                            <a:srgbClr val="4B4B4B"/>
                          </a:solidFill>
                          <a:latin typeface="Arial"/>
                        </a:rPr>
                        <a:t>Request in the system; premium recomputed</a:t>
                      </a:r>
                    </a:p>
                  </a:txBody>
                  <a:tcPr marL="64008" marR="64008" marT="27432" marB="27432" anchor="ctr">
                    <a:solidFill>
                      <a:srgbClr val="FFFFFF"/>
                    </a:solidFill>
                  </a:tcPr>
                </a:tc>
              </a:tr>
              <a:tr h="731520">
                <a:tc>
                  <a:txBody>
                    <a:bodyPr wrap="square"/>
                    <a:lstStyle/>
                    <a:p>
                      <a:r>
                        <a:rPr sz="1100" b="1">
                          <a:solidFill>
                            <a:srgbClr val="4B4B4B"/>
                          </a:solidFill>
                          <a:latin typeface="Arial"/>
                        </a:rPr>
                        <a:t>Marketing, units</a:t>
                      </a:r>
                    </a:p>
                  </a:txBody>
                  <a:tcPr marL="64008" marR="64008" marT="27432" marB="27432" anchor="ctr">
                    <a:solidFill>
                      <a:srgbClr val="E5F5FF"/>
                    </a:solidFill>
                  </a:tcPr>
                </a:tc>
                <a:tc>
                  <a:txBody>
                    <a:bodyPr wrap="square"/>
                    <a:lstStyle/>
                    <a:p>
                      <a:r>
                        <a:rPr sz="1100" b="0">
                          <a:solidFill>
                            <a:srgbClr val="4B4B4B"/>
                          </a:solidFill>
                          <a:latin typeface="Arial"/>
                        </a:rPr>
                        <a:t>CRU</a:t>
                      </a:r>
                    </a:p>
                  </a:txBody>
                  <a:tcPr marL="64008" marR="64008" marT="27432" marB="27432" anchor="ctr">
                    <a:solidFill>
                      <a:srgbClr val="E5F5FF"/>
                    </a:solidFill>
                  </a:tcPr>
                </a:tc>
                <a:tc>
                  <a:txBody>
                    <a:bodyPr wrap="square"/>
                    <a:lstStyle/>
                    <a:p>
                      <a:r>
                        <a:rPr sz="1100" b="0">
                          <a:solidFill>
                            <a:srgbClr val="4B4B4B"/>
                          </a:solidFill>
                          <a:latin typeface="Arial"/>
                        </a:rPr>
                        <a:t>Direct-payment lists</a:t>
                      </a:r>
                    </a:p>
                  </a:txBody>
                  <a:tcPr marL="64008" marR="64008" marT="27432" marB="27432" anchor="ctr">
                    <a:solidFill>
                      <a:srgbClr val="E5F5FF"/>
                    </a:solidFill>
                  </a:tcPr>
                </a:tc>
                <a:tc>
                  <a:txBody>
                    <a:bodyPr wrap="square"/>
                    <a:lstStyle/>
                    <a:p>
                      <a:r>
                        <a:rPr sz="1100" b="0">
                          <a:solidFill>
                            <a:srgbClr val="4B4B4B"/>
                          </a:solidFill>
                          <a:latin typeface="Arial"/>
                        </a:rPr>
                        <a:t>Shared folder</a:t>
                      </a:r>
                    </a:p>
                  </a:txBody>
                  <a:tcPr marL="64008" marR="64008" marT="27432" marB="27432" anchor="ctr">
                    <a:solidFill>
                      <a:srgbClr val="E5F5FF"/>
                    </a:solidFill>
                  </a:tcPr>
                </a:tc>
                <a:tc>
                  <a:txBody>
                    <a:bodyPr wrap="square"/>
                    <a:lstStyle/>
                    <a:p>
                      <a:r>
                        <a:rPr sz="1100" b="0">
                          <a:solidFill>
                            <a:srgbClr val="4B4B4B"/>
                          </a:solidFill>
                          <a:latin typeface="Arial"/>
                        </a:rPr>
                        <a:t>Uploaded, validated, billed per insurer</a:t>
                      </a:r>
                    </a:p>
                  </a:txBody>
                  <a:tcPr marL="64008" marR="64008" marT="27432" marB="27432" anchor="ctr">
                    <a:solidFill>
                      <a:srgbClr val="E5F5FF"/>
                    </a:solidFill>
                  </a:tcPr>
                </a:tc>
              </a:tr>
              <a:tr h="731520">
                <a:tc>
                  <a:txBody>
                    <a:bodyPr wrap="square"/>
                    <a:lstStyle/>
                    <a:p>
                      <a:r>
                        <a:rPr sz="1100" b="1">
                          <a:solidFill>
                            <a:srgbClr val="4B4B4B"/>
                          </a:solidFill>
                          <a:latin typeface="Arial"/>
                        </a:rPr>
                        <a:t>Collections</a:t>
                      </a:r>
                    </a:p>
                  </a:txBody>
                  <a:tcPr marL="64008" marR="64008" marT="27432" marB="27432" anchor="ctr">
                    <a:solidFill>
                      <a:srgbClr val="FFFFFF"/>
                    </a:solidFill>
                  </a:tcPr>
                </a:tc>
                <a:tc>
                  <a:txBody>
                    <a:bodyPr wrap="square"/>
                    <a:lstStyle/>
                    <a:p>
                      <a:r>
                        <a:rPr sz="1100" b="0">
                          <a:solidFill>
                            <a:srgbClr val="4B4B4B"/>
                          </a:solidFill>
                          <a:latin typeface="Arial"/>
                        </a:rPr>
                        <a:t>Marketing AO</a:t>
                      </a:r>
                    </a:p>
                  </a:txBody>
                  <a:tcPr marL="64008" marR="64008" marT="27432" marB="27432" anchor="ctr">
                    <a:solidFill>
                      <a:srgbClr val="FFFFFF"/>
                    </a:solidFill>
                  </a:tcPr>
                </a:tc>
                <a:tc>
                  <a:txBody>
                    <a:bodyPr wrap="square"/>
                    <a:lstStyle/>
                    <a:p>
                      <a:r>
                        <a:rPr sz="1100" b="0">
                          <a:solidFill>
                            <a:srgbClr val="4B4B4B"/>
                          </a:solidFill>
                          <a:latin typeface="Arial"/>
                        </a:rPr>
                        <a:t>CTE, escalation, day-60 outcome</a:t>
                      </a:r>
                    </a:p>
                  </a:txBody>
                  <a:tcPr marL="64008" marR="64008" marT="27432" marB="27432" anchor="ctr">
                    <a:solidFill>
                      <a:srgbClr val="FFFFFF"/>
                    </a:solidFill>
                  </a:tcPr>
                </a:tc>
                <a:tc>
                  <a:txBody>
                    <a:bodyPr wrap="square"/>
                    <a:lstStyle/>
                    <a:p>
                      <a:r>
                        <a:rPr sz="1100" b="0">
                          <a:solidFill>
                            <a:srgbClr val="4B4B4B"/>
                          </a:solidFill>
                          <a:latin typeface="Arial"/>
                        </a:rPr>
                        <a:t>E-mail</a:t>
                      </a:r>
                    </a:p>
                  </a:txBody>
                  <a:tcPr marL="64008" marR="64008" marT="27432" marB="27432" anchor="ctr">
                    <a:solidFill>
                      <a:srgbClr val="FFFFFF"/>
                    </a:solidFill>
                  </a:tcPr>
                </a:tc>
                <a:tc>
                  <a:txBody>
                    <a:bodyPr wrap="square"/>
                    <a:lstStyle/>
                    <a:p>
                      <a:r>
                        <a:rPr sz="1100" b="0">
                          <a:solidFill>
                            <a:srgbClr val="4B4B4B"/>
                          </a:solidFill>
                          <a:latin typeface="Arial"/>
                        </a:rPr>
                        <a:t>Escalation rules; CTE record not specified</a:t>
                      </a:r>
                    </a:p>
                  </a:txBody>
                  <a:tcPr marL="64008" marR="64008" marT="27432" marB="27432" anchor="ctr">
                    <a:solidFill>
                      <a:srgbClr val="FFFFFF"/>
                    </a:solidFill>
                  </a:tcPr>
                </a:tc>
              </a:tr>
              <a:tr h="731520">
                <a:tc>
                  <a:txBody>
                    <a:bodyPr wrap="square"/>
                    <a:lstStyle/>
                    <a:p>
                      <a:r>
                        <a:rPr sz="1100" b="1">
                          <a:solidFill>
                            <a:srgbClr val="4B4B4B"/>
                          </a:solidFill>
                          <a:latin typeface="Arial"/>
                        </a:rPr>
                        <a:t>Remittance</a:t>
                      </a:r>
                    </a:p>
                  </a:txBody>
                  <a:tcPr marL="64008" marR="64008" marT="27432" marB="27432" anchor="ctr">
                    <a:solidFill>
                      <a:srgbClr val="E5F5FF"/>
                    </a:solidFill>
                  </a:tcPr>
                </a:tc>
                <a:tc>
                  <a:txBody>
                    <a:bodyPr wrap="square"/>
                    <a:lstStyle/>
                    <a:p>
                      <a:r>
                        <a:rPr sz="1100" b="0">
                          <a:solidFill>
                            <a:srgbClr val="4B4B4B"/>
                          </a:solidFill>
                          <a:latin typeface="Arial"/>
                        </a:rPr>
                        <a:t>Disbursement</a:t>
                      </a:r>
                    </a:p>
                  </a:txBody>
                  <a:tcPr marL="64008" marR="64008" marT="27432" marB="27432" anchor="ctr">
                    <a:solidFill>
                      <a:srgbClr val="E5F5FF"/>
                    </a:solidFill>
                  </a:tcPr>
                </a:tc>
                <a:tc>
                  <a:txBody>
                    <a:bodyPr wrap="square"/>
                    <a:lstStyle/>
                    <a:p>
                      <a:r>
                        <a:rPr sz="1100" b="0">
                          <a:solidFill>
                            <a:srgbClr val="4B4B4B"/>
                          </a:solidFill>
                          <a:latin typeface="Arial"/>
                        </a:rPr>
                        <a:t>Weekly settlement list</a:t>
                      </a:r>
                    </a:p>
                  </a:txBody>
                  <a:tcPr marL="64008" marR="64008" marT="27432" marB="27432" anchor="ctr">
                    <a:solidFill>
                      <a:srgbClr val="E5F5FF"/>
                    </a:solidFill>
                  </a:tcPr>
                </a:tc>
                <a:tc>
                  <a:txBody>
                    <a:bodyPr wrap="square"/>
                    <a:lstStyle/>
                    <a:p>
                      <a:r>
                        <a:rPr sz="1100" b="0">
                          <a:solidFill>
                            <a:srgbClr val="4B4B4B"/>
                          </a:solidFill>
                          <a:latin typeface="Arial"/>
                        </a:rPr>
                        <a:t>Teams list, signed copy</a:t>
                      </a:r>
                    </a:p>
                  </a:txBody>
                  <a:tcPr marL="64008" marR="64008" marT="27432" marB="27432" anchor="ctr">
                    <a:solidFill>
                      <a:srgbClr val="E5F5FF"/>
                    </a:solidFill>
                  </a:tcPr>
                </a:tc>
                <a:tc>
                  <a:txBody>
                    <a:bodyPr wrap="square"/>
                    <a:lstStyle/>
                    <a:p>
                      <a:r>
                        <a:rPr sz="1100" b="0">
                          <a:solidFill>
                            <a:srgbClr val="4B4B4B"/>
                          </a:solidFill>
                          <a:latin typeface="Arial"/>
                        </a:rPr>
                        <a:t>Batch approval creates the voucher</a:t>
                      </a:r>
                    </a:p>
                  </a:txBody>
                  <a:tcPr marL="64008" marR="64008" marT="27432" marB="27432" anchor="ctr">
                    <a:solidFill>
                      <a:srgbClr val="E5F5FF"/>
                    </a:solidFill>
                  </a:tcPr>
                </a:tc>
              </a:tr>
              <a:tr h="731520">
                <a:tc>
                  <a:txBody>
                    <a:bodyPr wrap="square"/>
                    <a:lstStyle/>
                    <a:p>
                      <a:r>
                        <a:rPr sz="1100" b="1">
                          <a:solidFill>
                            <a:srgbClr val="4B4B4B"/>
                          </a:solidFill>
                          <a:latin typeface="Arial"/>
                        </a:rPr>
                        <a:t>Marketing</a:t>
                      </a:r>
                    </a:p>
                  </a:txBody>
                  <a:tcPr marL="64008" marR="64008" marT="27432" marB="27432" anchor="ctr">
                    <a:solidFill>
                      <a:srgbClr val="FFFFFF"/>
                    </a:solidFill>
                  </a:tcPr>
                </a:tc>
                <a:tc>
                  <a:txBody>
                    <a:bodyPr wrap="square"/>
                    <a:lstStyle/>
                    <a:p>
                      <a:r>
                        <a:rPr sz="1100" b="0">
                          <a:solidFill>
                            <a:srgbClr val="4B4B4B"/>
                          </a:solidFill>
                          <a:latin typeface="Arial"/>
                        </a:rPr>
                        <a:t>Disbursement</a:t>
                      </a:r>
                    </a:p>
                  </a:txBody>
                  <a:tcPr marL="64008" marR="64008" marT="27432" marB="27432" anchor="ctr">
                    <a:solidFill>
                      <a:srgbClr val="FFFFFF"/>
                    </a:solidFill>
                  </a:tcPr>
                </a:tc>
                <a:tc>
                  <a:txBody>
                    <a:bodyPr wrap="square"/>
                    <a:lstStyle/>
                    <a:p>
                      <a:r>
                        <a:rPr sz="1100" b="0">
                          <a:solidFill>
                            <a:srgbClr val="4B4B4B"/>
                          </a:solidFill>
                          <a:latin typeface="Arial"/>
                        </a:rPr>
                        <a:t>Refund requests (RRF)</a:t>
                      </a:r>
                    </a:p>
                  </a:txBody>
                  <a:tcPr marL="64008" marR="64008" marT="27432" marB="27432" anchor="ctr">
                    <a:solidFill>
                      <a:srgbClr val="FFFFFF"/>
                    </a:solidFill>
                  </a:tcPr>
                </a:tc>
                <a:tc>
                  <a:txBody>
                    <a:bodyPr wrap="square"/>
                    <a:lstStyle/>
                    <a:p>
                      <a:r>
                        <a:rPr sz="1100" b="0">
                          <a:solidFill>
                            <a:srgbClr val="4B4B4B"/>
                          </a:solidFill>
                          <a:latin typeface="Arial"/>
                        </a:rPr>
                        <a:t>Paper, scanned copies</a:t>
                      </a:r>
                    </a:p>
                  </a:txBody>
                  <a:tcPr marL="64008" marR="64008" marT="27432" marB="27432" anchor="ctr">
                    <a:solidFill>
                      <a:srgbClr val="FFFFFF"/>
                    </a:solidFill>
                  </a:tcPr>
                </a:tc>
                <a:tc>
                  <a:txBody>
                    <a:bodyPr wrap="square"/>
                    <a:lstStyle/>
                    <a:p>
                      <a:r>
                        <a:rPr sz="1100" b="0">
                          <a:solidFill>
                            <a:srgbClr val="4B4B4B"/>
                          </a:solidFill>
                          <a:latin typeface="Arial"/>
                        </a:rPr>
                        <a:t>RRF in the workflow</a:t>
                      </a:r>
                    </a:p>
                  </a:txBody>
                  <a:tcPr marL="64008" marR="64008" marT="27432" marB="27432" anchor="ctr">
                    <a:solidFill>
                      <a:srgbClr val="FFFFFF"/>
                    </a:solidFill>
                  </a:tcPr>
                </a:tc>
              </a:tr>
              <a:tr h="731520">
                <a:tc>
                  <a:txBody>
                    <a:bodyPr wrap="square"/>
                    <a:lstStyle/>
                    <a:p>
                      <a:r>
                        <a:rPr sz="1100" b="1">
                          <a:solidFill>
                            <a:srgbClr val="4B4B4B"/>
                          </a:solidFill>
                          <a:latin typeface="Arial"/>
                        </a:rPr>
                        <a:t>Disbursement</a:t>
                      </a:r>
                    </a:p>
                  </a:txBody>
                  <a:tcPr marL="64008" marR="64008" marT="27432" marB="27432" anchor="ctr">
                    <a:solidFill>
                      <a:srgbClr val="E5F5FF"/>
                    </a:solidFill>
                  </a:tcPr>
                </a:tc>
                <a:tc>
                  <a:txBody>
                    <a:bodyPr wrap="square"/>
                    <a:lstStyle/>
                    <a:p>
                      <a:r>
                        <a:rPr sz="1100" b="0">
                          <a:solidFill>
                            <a:srgbClr val="4B4B4B"/>
                          </a:solidFill>
                          <a:latin typeface="Arial"/>
                        </a:rPr>
                        <a:t>FRBS</a:t>
                      </a:r>
                    </a:p>
                  </a:txBody>
                  <a:tcPr marL="64008" marR="64008" marT="27432" marB="27432" anchor="ctr">
                    <a:solidFill>
                      <a:srgbClr val="E5F5FF"/>
                    </a:solidFill>
                  </a:tcPr>
                </a:tc>
                <a:tc>
                  <a:txBody>
                    <a:bodyPr wrap="square"/>
                    <a:lstStyle/>
                    <a:p>
                      <a:r>
                        <a:rPr sz="1100" b="0">
                          <a:solidFill>
                            <a:srgbClr val="4B4B4B"/>
                          </a:solidFill>
                          <a:latin typeface="Arial"/>
                        </a:rPr>
                        <a:t>Signed documents for the GL entry</a:t>
                      </a:r>
                    </a:p>
                  </a:txBody>
                  <a:tcPr marL="64008" marR="64008" marT="27432" marB="27432" anchor="ctr">
                    <a:solidFill>
                      <a:srgbClr val="E5F5FF"/>
                    </a:solidFill>
                  </a:tcPr>
                </a:tc>
                <a:tc>
                  <a:txBody>
                    <a:bodyPr wrap="square"/>
                    <a:lstStyle/>
                    <a:p>
                      <a:r>
                        <a:rPr sz="1100" b="0">
                          <a:solidFill>
                            <a:srgbClr val="4B4B4B"/>
                          </a:solidFill>
                          <a:latin typeface="Arial"/>
                        </a:rPr>
                        <a:t>Paper</a:t>
                      </a:r>
                    </a:p>
                  </a:txBody>
                  <a:tcPr marL="64008" marR="64008" marT="27432" marB="27432" anchor="ctr">
                    <a:solidFill>
                      <a:srgbClr val="E5F5FF"/>
                    </a:solidFill>
                  </a:tcPr>
                </a:tc>
                <a:tc>
                  <a:txBody>
                    <a:bodyPr wrap="square"/>
                    <a:lstStyle/>
                    <a:p>
                      <a:r>
                        <a:rPr sz="1100" b="0">
                          <a:solidFill>
                            <a:srgbClr val="4B4B4B"/>
                          </a:solidFill>
                          <a:latin typeface="Arial"/>
                        </a:rPr>
                        <a:t>Entry posted at approval</a:t>
                      </a:r>
                    </a:p>
                  </a:txBody>
                  <a:tcPr marL="64008" marR="64008" marT="27432" marB="27432" anchor="ctr">
                    <a:solidFill>
                      <a:srgbClr val="E5F5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Hand-offs between departments (3/3)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graphicFrame>
        <p:nvGraphicFramePr>
          <p:cNvPr id="9" name="Table 8"/>
          <p:cNvGraphicFramePr>
            <a:graphicFrameLocks noGrp="1"/>
          </p:cNvGraphicFramePr>
          <p:nvPr/>
        </p:nvGraphicFramePr>
        <p:xfrm>
          <a:off x="548640" y="1280160"/>
          <a:ext cx="11094411" cy="3291840"/>
        </p:xfrm>
        <a:graphic>
          <a:graphicData uri="http://schemas.openxmlformats.org/drawingml/2006/table">
            <a:tbl>
              <a:tblPr firstRow="1" bandRow="1">
                <a:tableStyleId>{5C22544A-7EE6-4342-B048-85BDC9FD1C3A}</a:tableStyleId>
              </a:tblPr>
              <a:tblGrid>
                <a:gridCol w="1699950"/>
                <a:gridCol w="1699950"/>
                <a:gridCol w="2863074"/>
                <a:gridCol w="1968363"/>
                <a:gridCol w="2863074"/>
              </a:tblGrid>
              <a:tr h="365760">
                <a:tc>
                  <a:txBody>
                    <a:bodyPr wrap="square"/>
                    <a:lstStyle/>
                    <a:p>
                      <a:r>
                        <a:rPr sz="1100" b="1">
                          <a:solidFill>
                            <a:srgbClr val="FFFFFF"/>
                          </a:solidFill>
                          <a:latin typeface="Arial"/>
                        </a:rPr>
                        <a:t>From</a:t>
                      </a:r>
                    </a:p>
                  </a:txBody>
                  <a:tcPr marL="64008" marR="64008" marT="27432" marB="27432" anchor="ctr">
                    <a:solidFill>
                      <a:srgbClr val="004EA8"/>
                    </a:solidFill>
                  </a:tcPr>
                </a:tc>
                <a:tc>
                  <a:txBody>
                    <a:bodyPr wrap="square"/>
                    <a:lstStyle/>
                    <a:p>
                      <a:r>
                        <a:rPr sz="1100" b="1">
                          <a:solidFill>
                            <a:srgbClr val="FFFFFF"/>
                          </a:solidFill>
                          <a:latin typeface="Arial"/>
                        </a:rPr>
                        <a:t>To</a:t>
                      </a:r>
                    </a:p>
                  </a:txBody>
                  <a:tcPr marL="64008" marR="64008" marT="27432" marB="27432" anchor="ctr">
                    <a:solidFill>
                      <a:srgbClr val="004EA8"/>
                    </a:solidFill>
                  </a:tcPr>
                </a:tc>
                <a:tc>
                  <a:txBody>
                    <a:bodyPr wrap="square"/>
                    <a:lstStyle/>
                    <a:p>
                      <a:r>
                        <a:rPr sz="1100" b="1">
                          <a:solidFill>
                            <a:srgbClr val="FFFFFF"/>
                          </a:solidFill>
                          <a:latin typeface="Arial"/>
                        </a:rPr>
                        <a:t>What passes</a:t>
                      </a:r>
                    </a:p>
                  </a:txBody>
                  <a:tcPr marL="64008" marR="64008" marT="27432" marB="27432" anchor="ctr">
                    <a:solidFill>
                      <a:srgbClr val="004EA8"/>
                    </a:solidFill>
                  </a:tcPr>
                </a:tc>
                <a:tc>
                  <a:txBody>
                    <a:bodyPr wrap="square"/>
                    <a:lstStyle/>
                    <a:p>
                      <a:r>
                        <a:rPr sz="1100" b="1">
                          <a:solidFill>
                            <a:srgbClr val="FFFFFF"/>
                          </a:solidFill>
                          <a:latin typeface="Arial"/>
                        </a:rPr>
                        <a:t>Channel today</a:t>
                      </a:r>
                    </a:p>
                  </a:txBody>
                  <a:tcPr marL="64008" marR="64008" marT="27432" marB="27432" anchor="ctr">
                    <a:solidFill>
                      <a:srgbClr val="004EA8"/>
                    </a:solidFill>
                  </a:tcPr>
                </a:tc>
                <a:tc>
                  <a:txBody>
                    <a:bodyPr wrap="square"/>
                    <a:lstStyle/>
                    <a:p>
                      <a:r>
                        <a:rPr sz="1100" b="1">
                          <a:solidFill>
                            <a:srgbClr val="FFFFFF"/>
                          </a:solidFill>
                          <a:latin typeface="Arial"/>
                        </a:rPr>
                        <a:t>To-Be in the BRDs</a:t>
                      </a:r>
                    </a:p>
                  </a:txBody>
                  <a:tcPr marL="64008" marR="64008" marT="27432" marB="27432" anchor="ctr">
                    <a:solidFill>
                      <a:srgbClr val="004EA8"/>
                    </a:solidFill>
                  </a:tcPr>
                </a:tc>
              </a:tr>
              <a:tr h="731520">
                <a:tc>
                  <a:txBody>
                    <a:bodyPr wrap="square"/>
                    <a:lstStyle/>
                    <a:p>
                      <a:r>
                        <a:rPr sz="1100" b="1">
                          <a:solidFill>
                            <a:srgbClr val="4B4B4B"/>
                          </a:solidFill>
                          <a:latin typeface="Arial"/>
                        </a:rPr>
                        <a:t>IT</a:t>
                      </a:r>
                    </a:p>
                  </a:txBody>
                  <a:tcPr marL="64008" marR="64008" marT="27432" marB="27432" anchor="ctr">
                    <a:solidFill>
                      <a:srgbClr val="FFFFFF"/>
                    </a:solidFill>
                  </a:tcPr>
                </a:tc>
                <a:tc>
                  <a:txBody>
                    <a:bodyPr wrap="square"/>
                    <a:lstStyle/>
                    <a:p>
                      <a:r>
                        <a:rPr sz="1100" b="0">
                          <a:solidFill>
                            <a:srgbClr val="4B4B4B"/>
                          </a:solidFill>
                          <a:latin typeface="Arial"/>
                        </a:rPr>
                        <a:t>FRBS, ACSL, units</a:t>
                      </a:r>
                    </a:p>
                  </a:txBody>
                  <a:tcPr marL="64008" marR="64008" marT="27432" marB="27432" anchor="ctr">
                    <a:solidFill>
                      <a:srgbClr val="FFFFFF"/>
                    </a:solidFill>
                  </a:tcPr>
                </a:tc>
                <a:tc>
                  <a:txBody>
                    <a:bodyPr wrap="square"/>
                    <a:lstStyle/>
                    <a:p>
                      <a:r>
                        <a:rPr sz="1100" b="0">
                          <a:solidFill>
                            <a:srgbClr val="4B4B4B"/>
                          </a:solidFill>
                          <a:latin typeface="Arial"/>
                        </a:rPr>
                        <a:t>Reports and extracts</a:t>
                      </a:r>
                    </a:p>
                  </a:txBody>
                  <a:tcPr marL="64008" marR="64008" marT="27432" marB="27432" anchor="ctr">
                    <a:solidFill>
                      <a:srgbClr val="FFFFFF"/>
                    </a:solidFill>
                  </a:tcPr>
                </a:tc>
                <a:tc>
                  <a:txBody>
                    <a:bodyPr wrap="square"/>
                    <a:lstStyle/>
                    <a:p>
                      <a:r>
                        <a:rPr sz="1100" b="0">
                          <a:solidFill>
                            <a:srgbClr val="4B4B4B"/>
                          </a:solidFill>
                          <a:latin typeface="Arial"/>
                        </a:rPr>
                        <a:t>Shared folder</a:t>
                      </a:r>
                    </a:p>
                  </a:txBody>
                  <a:tcPr marL="64008" marR="64008" marT="27432" marB="27432" anchor="ctr">
                    <a:solidFill>
                      <a:srgbClr val="FFFFFF"/>
                    </a:solidFill>
                  </a:tcPr>
                </a:tc>
                <a:tc>
                  <a:txBody>
                    <a:bodyPr wrap="square"/>
                    <a:lstStyle/>
                    <a:p>
                      <a:r>
                        <a:rPr sz="1100" b="0">
                          <a:solidFill>
                            <a:srgbClr val="4B4B4B"/>
                          </a:solidFill>
                          <a:latin typeface="Arial"/>
                        </a:rPr>
                        <a:t>Reports run by users</a:t>
                      </a:r>
                    </a:p>
                  </a:txBody>
                  <a:tcPr marL="64008" marR="64008" marT="27432" marB="27432" anchor="ctr">
                    <a:solidFill>
                      <a:srgbClr val="FFFFFF"/>
                    </a:solidFill>
                  </a:tcPr>
                </a:tc>
              </a:tr>
              <a:tr h="731520">
                <a:tc>
                  <a:txBody>
                    <a:bodyPr wrap="square"/>
                    <a:lstStyle/>
                    <a:p>
                      <a:r>
                        <a:rPr sz="1100" b="1">
                          <a:solidFill>
                            <a:srgbClr val="4B4B4B"/>
                          </a:solidFill>
                          <a:latin typeface="Arial"/>
                        </a:rPr>
                        <a:t>CRU</a:t>
                      </a:r>
                    </a:p>
                  </a:txBody>
                  <a:tcPr marL="64008" marR="64008" marT="27432" marB="27432" anchor="ctr">
                    <a:solidFill>
                      <a:srgbClr val="E5F5FF"/>
                    </a:solidFill>
                  </a:tcPr>
                </a:tc>
                <a:tc>
                  <a:txBody>
                    <a:bodyPr wrap="square"/>
                    <a:lstStyle/>
                    <a:p>
                      <a:r>
                        <a:rPr sz="1100" b="0">
                          <a:solidFill>
                            <a:srgbClr val="4B4B4B"/>
                          </a:solidFill>
                          <a:latin typeface="Arial"/>
                        </a:rPr>
                        <a:t>IT, Cashiering</a:t>
                      </a:r>
                    </a:p>
                  </a:txBody>
                  <a:tcPr marL="64008" marR="64008" marT="27432" marB="27432" anchor="ctr">
                    <a:solidFill>
                      <a:srgbClr val="E5F5FF"/>
                    </a:solidFill>
                  </a:tcPr>
                </a:tc>
                <a:tc>
                  <a:txBody>
                    <a:bodyPr wrap="square"/>
                    <a:lstStyle/>
                    <a:p>
                      <a:r>
                        <a:rPr sz="1100" b="0">
                          <a:solidFill>
                            <a:srgbClr val="4B4B4B"/>
                          </a:solidFill>
                          <a:latin typeface="Arial"/>
                        </a:rPr>
                        <a:t>DPPR / PR2307 reversal lists</a:t>
                      </a:r>
                    </a:p>
                  </a:txBody>
                  <a:tcPr marL="64008" marR="64008" marT="27432" marB="27432" anchor="ctr">
                    <a:solidFill>
                      <a:srgbClr val="E5F5FF"/>
                    </a:solidFill>
                  </a:tcPr>
                </a:tc>
                <a:tc>
                  <a:txBody>
                    <a:bodyPr wrap="square"/>
                    <a:lstStyle/>
                    <a:p>
                      <a:r>
                        <a:rPr sz="1100" b="0">
                          <a:solidFill>
                            <a:srgbClr val="4B4B4B"/>
                          </a:solidFill>
                          <a:latin typeface="Arial"/>
                        </a:rPr>
                        <a:t>SharePoint, Teams</a:t>
                      </a:r>
                    </a:p>
                  </a:txBody>
                  <a:tcPr marL="64008" marR="64008" marT="27432" marB="27432" anchor="ctr">
                    <a:solidFill>
                      <a:srgbClr val="E5F5FF"/>
                    </a:solidFill>
                  </a:tcPr>
                </a:tc>
                <a:tc>
                  <a:txBody>
                    <a:bodyPr wrap="square"/>
                    <a:lstStyle/>
                    <a:p>
                      <a:r>
                        <a:rPr sz="1100" b="0">
                          <a:solidFill>
                            <a:srgbClr val="4B4B4B"/>
                          </a:solidFill>
                          <a:latin typeface="Arial"/>
                        </a:rPr>
                        <a:t>Tagging and reversal in the system</a:t>
                      </a:r>
                    </a:p>
                  </a:txBody>
                  <a:tcPr marL="64008" marR="64008" marT="27432" marB="27432" anchor="ctr">
                    <a:solidFill>
                      <a:srgbClr val="E5F5FF"/>
                    </a:solidFill>
                  </a:tcPr>
                </a:tc>
              </a:tr>
              <a:tr h="731520">
                <a:tc>
                  <a:txBody>
                    <a:bodyPr wrap="square"/>
                    <a:lstStyle/>
                    <a:p>
                      <a:r>
                        <a:rPr sz="1100" b="1">
                          <a:solidFill>
                            <a:srgbClr val="4B4B4B"/>
                          </a:solidFill>
                          <a:latin typeface="Arial"/>
                        </a:rPr>
                        <a:t>IT</a:t>
                      </a:r>
                    </a:p>
                  </a:txBody>
                  <a:tcPr marL="64008" marR="64008" marT="27432" marB="27432" anchor="ctr">
                    <a:solidFill>
                      <a:srgbClr val="FFFFFF"/>
                    </a:solidFill>
                  </a:tcPr>
                </a:tc>
                <a:tc>
                  <a:txBody>
                    <a:bodyPr wrap="square"/>
                    <a:lstStyle/>
                    <a:p>
                      <a:r>
                        <a:rPr sz="1100" b="0">
                          <a:solidFill>
                            <a:srgbClr val="4B4B4B"/>
                          </a:solidFill>
                          <a:latin typeface="Arial"/>
                        </a:rPr>
                        <a:t>Marketing Admin, AO</a:t>
                      </a:r>
                    </a:p>
                  </a:txBody>
                  <a:tcPr marL="64008" marR="64008" marT="27432" marB="27432" anchor="ctr">
                    <a:solidFill>
                      <a:srgbClr val="FFFFFF"/>
                    </a:solidFill>
                  </a:tcPr>
                </a:tc>
                <a:tc>
                  <a:txBody>
                    <a:bodyPr wrap="square"/>
                    <a:lstStyle/>
                    <a:p>
                      <a:r>
                        <a:rPr sz="1100" b="0">
                          <a:solidFill>
                            <a:srgbClr val="4B4B4B"/>
                          </a:solidFill>
                          <a:latin typeface="Arial"/>
                        </a:rPr>
                        <a:t>Expiring list (RMEL) and dispositions</a:t>
                      </a:r>
                    </a:p>
                  </a:txBody>
                  <a:tcPr marL="64008" marR="64008" marT="27432" marB="27432" anchor="ctr">
                    <a:solidFill>
                      <a:srgbClr val="FFFFFF"/>
                    </a:solidFill>
                  </a:tcPr>
                </a:tc>
                <a:tc>
                  <a:txBody>
                    <a:bodyPr wrap="square"/>
                    <a:lstStyle/>
                    <a:p>
                      <a:r>
                        <a:rPr sz="1100" b="0">
                          <a:solidFill>
                            <a:srgbClr val="4B4B4B"/>
                          </a:solidFill>
                          <a:latin typeface="Arial"/>
                        </a:rPr>
                        <a:t>Excel, e-mail</a:t>
                      </a:r>
                    </a:p>
                  </a:txBody>
                  <a:tcPr marL="64008" marR="64008" marT="27432" marB="27432" anchor="ctr">
                    <a:solidFill>
                      <a:srgbClr val="FFFFFF"/>
                    </a:solidFill>
                  </a:tcPr>
                </a:tc>
                <a:tc>
                  <a:txBody>
                    <a:bodyPr wrap="square"/>
                    <a:lstStyle/>
                    <a:p>
                      <a:r>
                        <a:rPr sz="1100" b="0">
                          <a:solidFill>
                            <a:srgbClr val="4B4B4B"/>
                          </a:solidFill>
                          <a:latin typeface="Arial"/>
                        </a:rPr>
                        <a:t>Work assigned by rule</a:t>
                      </a:r>
                    </a:p>
                  </a:txBody>
                  <a:tcPr marL="64008" marR="64008" marT="27432" marB="27432" anchor="ctr">
                    <a:solidFill>
                      <a:srgbClr val="FFFFFF"/>
                    </a:solidFill>
                  </a:tcPr>
                </a:tc>
              </a:tr>
              <a:tr h="731520">
                <a:tc>
                  <a:txBody>
                    <a:bodyPr wrap="square"/>
                    <a:lstStyle/>
                    <a:p>
                      <a:r>
                        <a:rPr sz="1100" b="1">
                          <a:solidFill>
                            <a:srgbClr val="4B4B4B"/>
                          </a:solidFill>
                          <a:latin typeface="Arial"/>
                        </a:rPr>
                        <a:t>Contact centre</a:t>
                      </a:r>
                    </a:p>
                  </a:txBody>
                  <a:tcPr marL="64008" marR="64008" marT="27432" marB="27432" anchor="ctr">
                    <a:solidFill>
                      <a:srgbClr val="E5F5FF"/>
                    </a:solidFill>
                  </a:tcPr>
                </a:tc>
                <a:tc>
                  <a:txBody>
                    <a:bodyPr wrap="square"/>
                    <a:lstStyle/>
                    <a:p>
                      <a:r>
                        <a:rPr sz="1100" b="0">
                          <a:solidFill>
                            <a:srgbClr val="4B4B4B"/>
                          </a:solidFill>
                          <a:latin typeface="Arial"/>
                        </a:rPr>
                        <a:t>Fulfilment unit</a:t>
                      </a:r>
                    </a:p>
                  </a:txBody>
                  <a:tcPr marL="64008" marR="64008" marT="27432" marB="27432" anchor="ctr">
                    <a:solidFill>
                      <a:srgbClr val="E5F5FF"/>
                    </a:solidFill>
                  </a:tcPr>
                </a:tc>
                <a:tc>
                  <a:txBody>
                    <a:bodyPr wrap="square"/>
                    <a:lstStyle/>
                    <a:p>
                      <a:r>
                        <a:rPr sz="1100" b="0">
                          <a:solidFill>
                            <a:srgbClr val="4B4B4B"/>
                          </a:solidFill>
                          <a:latin typeface="Arial"/>
                        </a:rPr>
                        <a:t>Referred client concerns</a:t>
                      </a:r>
                    </a:p>
                  </a:txBody>
                  <a:tcPr marL="64008" marR="64008" marT="27432" marB="27432" anchor="ctr">
                    <a:solidFill>
                      <a:srgbClr val="E5F5FF"/>
                    </a:solidFill>
                  </a:tcPr>
                </a:tc>
                <a:tc>
                  <a:txBody>
                    <a:bodyPr wrap="square"/>
                    <a:lstStyle/>
                    <a:p>
                      <a:r>
                        <a:rPr sz="1100" b="0">
                          <a:solidFill>
                            <a:srgbClr val="4B4B4B"/>
                          </a:solidFill>
                          <a:latin typeface="Arial"/>
                        </a:rPr>
                        <a:t>E-mail, CLS prompt</a:t>
                      </a:r>
                    </a:p>
                  </a:txBody>
                  <a:tcPr marL="64008" marR="64008" marT="27432" marB="27432" anchor="ctr">
                    <a:solidFill>
                      <a:srgbClr val="E5F5FF"/>
                    </a:solidFill>
                  </a:tcPr>
                </a:tc>
                <a:tc>
                  <a:txBody>
                    <a:bodyPr wrap="square"/>
                    <a:lstStyle/>
                    <a:p>
                      <a:r>
                        <a:rPr sz="1100" b="0">
                          <a:solidFill>
                            <a:srgbClr val="4B4B4B"/>
                          </a:solidFill>
                          <a:latin typeface="Arial"/>
                        </a:rPr>
                        <a:t>Not in BRD-9 (case management)</a:t>
                      </a:r>
                    </a:p>
                  </a:txBody>
                  <a:tcPr marL="64008" marR="64008" marT="27432" marB="27432" anchor="ctr">
                    <a:solidFill>
                      <a:srgbClr val="E5F5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challenges BDOI named, and what we saw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sp>
        <p:nvSpPr>
          <p:cNvPr id="9" name="Rounded Rectangle 8"/>
          <p:cNvSpPr/>
          <p:nvPr/>
        </p:nvSpPr>
        <p:spPr>
          <a:xfrm>
            <a:off x="548640" y="1280160"/>
            <a:ext cx="5464911"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5464911"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5318607"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Operational bottlenecks</a:t>
            </a:r>
          </a:p>
        </p:txBody>
      </p:sp>
      <p:sp>
        <p:nvSpPr>
          <p:cNvPr id="12" name="TextBox 11"/>
          <p:cNvSpPr txBox="1"/>
          <p:nvPr/>
        </p:nvSpPr>
        <p:spPr>
          <a:xfrm>
            <a:off x="621792" y="1810512"/>
            <a:ext cx="5318607" cy="1810512"/>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Multiple hand-offs: 16 department hand-offs by e-mail, file or paper (previous slide)</a:t>
            </a:r>
          </a:p>
          <a:p>
            <a:pPr>
              <a:spcAft>
                <a:spcPts val="300"/>
              </a:spcAft>
            </a:pPr>
            <a:r>
              <a:rPr sz="1200" b="0">
                <a:solidFill>
                  <a:srgbClr val="004EA8"/>
                </a:solidFill>
                <a:latin typeface="Arial"/>
              </a:rPr>
              <a:t>•  </a:t>
            </a:r>
            <a:r>
              <a:rPr sz="1200" b="0">
                <a:solidFill>
                  <a:srgbClr val="4B4B4B"/>
                </a:solidFill>
                <a:latin typeface="Arial"/>
              </a:rPr>
              <a:t>Waiting for approval: 3-6 signatures on refunds and disbursements</a:t>
            </a:r>
          </a:p>
          <a:p>
            <a:pPr>
              <a:spcAft>
                <a:spcPts val="300"/>
              </a:spcAft>
            </a:pPr>
            <a:r>
              <a:rPr sz="1200" b="0">
                <a:solidFill>
                  <a:srgbClr val="004EA8"/>
                </a:solidFill>
                <a:latin typeface="Arial"/>
              </a:rPr>
              <a:t>•  </a:t>
            </a:r>
            <a:r>
              <a:rPr sz="1200" b="0">
                <a:solidFill>
                  <a:srgbClr val="4B4B4B"/>
                </a:solidFill>
                <a:latin typeface="Arial"/>
              </a:rPr>
              <a:t>Peak workload: 20-30K recon lines per insurer a month; 25,800 renewals a month</a:t>
            </a:r>
          </a:p>
          <a:p>
            <a:pPr>
              <a:spcAft>
                <a:spcPts val="300"/>
              </a:spcAft>
            </a:pPr>
            <a:r>
              <a:rPr sz="1200" b="1">
                <a:solidFill>
                  <a:srgbClr val="004EA8"/>
                </a:solidFill>
                <a:latin typeface="Arial"/>
              </a:rPr>
              <a:t>BRDs: </a:t>
            </a:r>
            <a:r>
              <a:rPr sz="1200" b="0">
                <a:solidFill>
                  <a:srgbClr val="4B4B4B"/>
                </a:solidFill>
                <a:latin typeface="Arial"/>
              </a:rPr>
              <a:t>workflow with queues, rules and batch jobs; approvals in the system</a:t>
            </a:r>
          </a:p>
        </p:txBody>
      </p:sp>
      <p:sp>
        <p:nvSpPr>
          <p:cNvPr id="13" name="Rounded Rectangle 12"/>
          <p:cNvSpPr/>
          <p:nvPr/>
        </p:nvSpPr>
        <p:spPr>
          <a:xfrm>
            <a:off x="6178143" y="1280160"/>
            <a:ext cx="5464911"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8143" y="1280160"/>
            <a:ext cx="5464911"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1295" y="1280160"/>
            <a:ext cx="5318607"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Data quality</a:t>
            </a:r>
          </a:p>
        </p:txBody>
      </p:sp>
      <p:sp>
        <p:nvSpPr>
          <p:cNvPr id="16" name="TextBox 15"/>
          <p:cNvSpPr txBox="1"/>
          <p:nvPr/>
        </p:nvSpPr>
        <p:spPr>
          <a:xfrm>
            <a:off x="6251295" y="1810512"/>
            <a:ext cx="5318607" cy="1810512"/>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Three references per transaction; leads and clients in one category (OV-03, OV-04)</a:t>
            </a:r>
          </a:p>
          <a:p>
            <a:pPr>
              <a:spcAft>
                <a:spcPts val="300"/>
              </a:spcAft>
            </a:pPr>
            <a:r>
              <a:rPr sz="1200" b="0">
                <a:solidFill>
                  <a:srgbClr val="004EA8"/>
                </a:solidFill>
                <a:latin typeface="Arial"/>
              </a:rPr>
              <a:t>•  </a:t>
            </a:r>
            <a:r>
              <a:rPr sz="1200" b="0">
                <a:solidFill>
                  <a:srgbClr val="4B4B4B"/>
                </a:solidFill>
                <a:latin typeface="Arial"/>
              </a:rPr>
              <a:t>Outstanding per client not reliable; ageing keeps running after payment (CO-01, CO-02)</a:t>
            </a:r>
          </a:p>
          <a:p>
            <a:pPr>
              <a:spcAft>
                <a:spcPts val="300"/>
              </a:spcAft>
            </a:pPr>
            <a:r>
              <a:rPr sz="1200" b="0">
                <a:solidFill>
                  <a:srgbClr val="004EA8"/>
                </a:solidFill>
                <a:latin typeface="Arial"/>
              </a:rPr>
              <a:t>•  </a:t>
            </a:r>
            <a:r>
              <a:rPr sz="1200" b="0">
                <a:solidFill>
                  <a:srgbClr val="4B4B4B"/>
                </a:solidFill>
                <a:latin typeface="Arial"/>
              </a:rPr>
              <a:t>Duplicate clients across Broker, QPS and EBIX</a:t>
            </a:r>
          </a:p>
          <a:p>
            <a:pPr>
              <a:spcAft>
                <a:spcPts val="300"/>
              </a:spcAft>
            </a:pPr>
            <a:r>
              <a:rPr sz="1200" b="1">
                <a:solidFill>
                  <a:srgbClr val="004EA8"/>
                </a:solidFill>
                <a:latin typeface="Arial"/>
              </a:rPr>
              <a:t>BRDs: </a:t>
            </a:r>
            <a:r>
              <a:rPr sz="1200" b="0">
                <a:solidFill>
                  <a:srgbClr val="4B4B4B"/>
                </a:solidFill>
                <a:latin typeface="Arial"/>
              </a:rPr>
              <a:t>one client master and one account; dedupe at migration; lead category open</a:t>
            </a:r>
          </a:p>
        </p:txBody>
      </p:sp>
      <p:sp>
        <p:nvSpPr>
          <p:cNvPr id="17" name="Rounded Rectangle 16"/>
          <p:cNvSpPr/>
          <p:nvPr/>
        </p:nvSpPr>
        <p:spPr>
          <a:xfrm>
            <a:off x="548640" y="3822192"/>
            <a:ext cx="5464911"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822192"/>
            <a:ext cx="5464911"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822192"/>
            <a:ext cx="5318607"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Manual workarounds</a:t>
            </a:r>
          </a:p>
        </p:txBody>
      </p:sp>
      <p:sp>
        <p:nvSpPr>
          <p:cNvPr id="20" name="TextBox 19"/>
          <p:cNvSpPr txBox="1"/>
          <p:nvPr/>
        </p:nvSpPr>
        <p:spPr>
          <a:xfrm>
            <a:off x="621792" y="4352544"/>
            <a:ext cx="5318607" cy="1810512"/>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Excel for quotes, dispositions, recon, DP lists, trackers and the RI sheet</a:t>
            </a:r>
          </a:p>
          <a:p>
            <a:pPr>
              <a:spcAft>
                <a:spcPts val="300"/>
              </a:spcAft>
            </a:pPr>
            <a:r>
              <a:rPr sz="1200" b="0">
                <a:solidFill>
                  <a:srgbClr val="004EA8"/>
                </a:solidFill>
                <a:latin typeface="Arial"/>
              </a:rPr>
              <a:t>•  </a:t>
            </a:r>
            <a:r>
              <a:rPr sz="1200" b="0">
                <a:solidFill>
                  <a:srgbClr val="4B4B4B"/>
                </a:solidFill>
                <a:latin typeface="Arial"/>
              </a:rPr>
              <a:t>E-mail for requests, returns, CTE; Teams for approvals</a:t>
            </a:r>
          </a:p>
          <a:p>
            <a:pPr>
              <a:spcAft>
                <a:spcPts val="300"/>
              </a:spcAft>
            </a:pPr>
            <a:r>
              <a:rPr sz="1200" b="0">
                <a:solidFill>
                  <a:srgbClr val="004EA8"/>
                </a:solidFill>
                <a:latin typeface="Arial"/>
              </a:rPr>
              <a:t>•  </a:t>
            </a:r>
            <a:r>
              <a:rPr sz="1200" b="0">
                <a:solidFill>
                  <a:srgbClr val="4B4B4B"/>
                </a:solidFill>
                <a:latin typeface="Arial"/>
              </a:rPr>
              <a:t>Receipts, reversals, invoices and journals by hand</a:t>
            </a:r>
          </a:p>
          <a:p>
            <a:pPr>
              <a:spcAft>
                <a:spcPts val="300"/>
              </a:spcAft>
            </a:pPr>
            <a:r>
              <a:rPr sz="1200" b="1">
                <a:solidFill>
                  <a:srgbClr val="004EA8"/>
                </a:solidFill>
                <a:latin typeface="Arial"/>
              </a:rPr>
              <a:t>BRDs: </a:t>
            </a:r>
            <a:r>
              <a:rPr sz="1200" b="0">
                <a:solidFill>
                  <a:srgbClr val="4B4B4B"/>
                </a:solidFill>
                <a:latin typeface="Arial"/>
              </a:rPr>
              <a:t>most steps move into the system; gaps listed per chapter</a:t>
            </a:r>
          </a:p>
        </p:txBody>
      </p:sp>
      <p:sp>
        <p:nvSpPr>
          <p:cNvPr id="21" name="Rounded Rectangle 20"/>
          <p:cNvSpPr/>
          <p:nvPr/>
        </p:nvSpPr>
        <p:spPr>
          <a:xfrm>
            <a:off x="6178143" y="3822192"/>
            <a:ext cx="5464911"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8143" y="3822192"/>
            <a:ext cx="5464911"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1295" y="3822192"/>
            <a:ext cx="5318607"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Reporting limitations</a:t>
            </a:r>
          </a:p>
        </p:txBody>
      </p:sp>
      <p:sp>
        <p:nvSpPr>
          <p:cNvPr id="24" name="TextBox 23"/>
          <p:cNvSpPr txBox="1"/>
          <p:nvPr/>
        </p:nvSpPr>
        <p:spPr>
          <a:xfrm>
            <a:off x="6251295" y="4352544"/>
            <a:ext cx="5318607" cy="1810512"/>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Reports need IT and a consolidation from several systems (RP-01)</a:t>
            </a:r>
          </a:p>
          <a:p>
            <a:pPr>
              <a:spcAft>
                <a:spcPts val="300"/>
              </a:spcAft>
            </a:pPr>
            <a:r>
              <a:rPr sz="1200" b="0">
                <a:solidFill>
                  <a:srgbClr val="004EA8"/>
                </a:solidFill>
                <a:latin typeface="Arial"/>
              </a:rPr>
              <a:t>•  </a:t>
            </a:r>
            <a:r>
              <a:rPr sz="1200" b="0">
                <a:solidFill>
                  <a:srgbClr val="4B4B4B"/>
                </a:solidFill>
                <a:latin typeface="Arial"/>
              </a:rPr>
              <a:t>No real-time pipeline or status; ManCom lists in Excel</a:t>
            </a:r>
          </a:p>
          <a:p>
            <a:pPr>
              <a:spcAft>
                <a:spcPts val="300"/>
              </a:spcAft>
            </a:pPr>
            <a:r>
              <a:rPr sz="1200" b="0">
                <a:solidFill>
                  <a:srgbClr val="004EA8"/>
                </a:solidFill>
                <a:latin typeface="Arial"/>
              </a:rPr>
              <a:t>•  </a:t>
            </a:r>
            <a:r>
              <a:rPr sz="1200" b="0">
                <a:solidFill>
                  <a:srgbClr val="4B4B4B"/>
                </a:solidFill>
                <a:latin typeface="Arial"/>
              </a:rPr>
              <a:t>Hard to trace figures to source transactions</a:t>
            </a:r>
          </a:p>
          <a:p>
            <a:pPr>
              <a:spcAft>
                <a:spcPts val="300"/>
              </a:spcAft>
            </a:pPr>
            <a:r>
              <a:rPr sz="1200" b="1">
                <a:solidFill>
                  <a:srgbClr val="004EA8"/>
                </a:solidFill>
                <a:latin typeface="Arial"/>
              </a:rPr>
              <a:t>BRDs: </a:t>
            </a:r>
            <a:r>
              <a:rPr sz="1200" b="0">
                <a:solidFill>
                  <a:srgbClr val="4B4B4B"/>
                </a:solidFill>
                <a:latin typeface="Arial"/>
              </a:rPr>
              <a:t>users run reports; ad-hoc builder and data-platform feed still open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To-Be in the BRDs: one platform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holistic_envisioned_map.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Business functions and shared capabilities of the BRDs; external parties and interfaces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To-Be value chain: one record from client to claims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holistic_value_chain.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From client to claims: the stage, the BDOI owner and the To-Be of the BRDs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Maturity: today, To-Be,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sp>
        <p:nvSpPr>
          <p:cNvPr id="9" name="Rectangle 8"/>
          <p:cNvSpPr/>
          <p:nvPr/>
        </p:nvSpPr>
        <p:spPr>
          <a:xfrm>
            <a:off x="2679192"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80"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1  </a:t>
            </a:r>
            <a:r>
              <a:rPr sz="1100" b="0">
                <a:solidFill>
                  <a:srgbClr val="2E2E2E"/>
                </a:solidFill>
                <a:latin typeface="Arial"/>
              </a:rPr>
              <a:t>Manual: paper, e-mail</a:t>
            </a:r>
          </a:p>
        </p:txBody>
      </p:sp>
      <p:sp>
        <p:nvSpPr>
          <p:cNvPr id="11" name="Rectangle 10"/>
          <p:cNvSpPr/>
          <p:nvPr/>
        </p:nvSpPr>
        <p:spPr>
          <a:xfrm>
            <a:off x="4477451"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5739"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2  </a:t>
            </a:r>
            <a:r>
              <a:rPr sz="1100" b="0">
                <a:solidFill>
                  <a:srgbClr val="2E2E2E"/>
                </a:solidFill>
                <a:latin typeface="Arial"/>
              </a:rPr>
              <a:t>Tool-assisted: spreadsheets, separate systems</a:t>
            </a:r>
          </a:p>
        </p:txBody>
      </p:sp>
      <p:sp>
        <p:nvSpPr>
          <p:cNvPr id="13" name="Rectangle 12"/>
          <p:cNvSpPr/>
          <p:nvPr/>
        </p:nvSpPr>
        <p:spPr>
          <a:xfrm>
            <a:off x="6275710"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3998"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3  </a:t>
            </a:r>
            <a:r>
              <a:rPr sz="1100" b="0">
                <a:solidFill>
                  <a:srgbClr val="2E2E2E"/>
                </a:solidFill>
                <a:latin typeface="Arial"/>
              </a:rPr>
              <a:t>One workflow in one system</a:t>
            </a:r>
          </a:p>
        </p:txBody>
      </p:sp>
      <p:sp>
        <p:nvSpPr>
          <p:cNvPr id="15" name="Rectangle 14"/>
          <p:cNvSpPr/>
          <p:nvPr/>
        </p:nvSpPr>
        <p:spPr>
          <a:xfrm>
            <a:off x="8073969"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257"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4  </a:t>
            </a:r>
            <a:r>
              <a:rPr sz="1100" b="0">
                <a:solidFill>
                  <a:srgbClr val="2E2E2E"/>
                </a:solidFill>
                <a:latin typeface="Arial"/>
              </a:rPr>
              <a:t>Automated, with exception queues</a:t>
            </a:r>
          </a:p>
        </p:txBody>
      </p:sp>
      <p:sp>
        <p:nvSpPr>
          <p:cNvPr id="17" name="Rectangle 16"/>
          <p:cNvSpPr/>
          <p:nvPr/>
        </p:nvSpPr>
        <p:spPr>
          <a:xfrm>
            <a:off x="9872228"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90516"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5  </a:t>
            </a:r>
            <a:r>
              <a:rPr sz="1100" b="0">
                <a:solidFill>
                  <a:srgbClr val="2E2E2E"/>
                </a:solidFill>
                <a:latin typeface="Arial"/>
              </a:rPr>
              <a:t>Integrated and measured</a:t>
            </a:r>
          </a:p>
        </p:txBody>
      </p:sp>
      <p:sp>
        <p:nvSpPr>
          <p:cNvPr id="19" name="Rectangle 18"/>
          <p:cNvSpPr/>
          <p:nvPr/>
        </p:nvSpPr>
        <p:spPr>
          <a:xfrm>
            <a:off x="548640" y="1938528"/>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1938528"/>
            <a:ext cx="2103120" cy="483325"/>
          </a:xfrm>
          <a:prstGeom prst="rect">
            <a:avLst/>
          </a:prstGeom>
          <a:noFill/>
        </p:spPr>
        <p:txBody>
          <a:bodyPr wrap="square" anchor="ctr" lIns="45720" rIns="45720">
            <a:spAutoFit/>
          </a:bodyPr>
          <a:lstStyle/>
          <a:p>
            <a:r>
              <a:rPr sz="1300" b="1" i="0">
                <a:solidFill>
                  <a:srgbClr val="004EA8"/>
                </a:solidFill>
                <a:latin typeface="Arial"/>
              </a:rPr>
              <a:t>Automation</a:t>
            </a:r>
          </a:p>
        </p:txBody>
      </p:sp>
      <p:sp>
        <p:nvSpPr>
          <p:cNvPr id="21" name="Rectangle 20"/>
          <p:cNvSpPr/>
          <p:nvPr/>
        </p:nvSpPr>
        <p:spPr>
          <a:xfrm>
            <a:off x="3550889" y="2161140"/>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13729" y="2043030"/>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3" name="Oval 22"/>
          <p:cNvSpPr/>
          <p:nvPr/>
        </p:nvSpPr>
        <p:spPr>
          <a:xfrm>
            <a:off x="8808506" y="2043030"/>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4" name="Oval 23"/>
          <p:cNvSpPr/>
          <p:nvPr/>
        </p:nvSpPr>
        <p:spPr>
          <a:xfrm>
            <a:off x="10606765" y="2043030"/>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5" name="TextBox 24"/>
          <p:cNvSpPr txBox="1"/>
          <p:nvPr/>
        </p:nvSpPr>
        <p:spPr>
          <a:xfrm>
            <a:off x="594360" y="2421853"/>
            <a:ext cx="2103120" cy="483325"/>
          </a:xfrm>
          <a:prstGeom prst="rect">
            <a:avLst/>
          </a:prstGeom>
          <a:noFill/>
        </p:spPr>
        <p:txBody>
          <a:bodyPr wrap="square" anchor="ctr" lIns="45720" rIns="45720">
            <a:spAutoFit/>
          </a:bodyPr>
          <a:lstStyle/>
          <a:p>
            <a:r>
              <a:rPr sz="1300" b="1" i="0">
                <a:solidFill>
                  <a:srgbClr val="004EA8"/>
                </a:solidFill>
                <a:latin typeface="Arial"/>
              </a:rPr>
              <a:t>Controls</a:t>
            </a:r>
          </a:p>
        </p:txBody>
      </p:sp>
      <p:sp>
        <p:nvSpPr>
          <p:cNvPr id="26" name="Rectangle 25"/>
          <p:cNvSpPr/>
          <p:nvPr/>
        </p:nvSpPr>
        <p:spPr>
          <a:xfrm>
            <a:off x="5349148" y="2644466"/>
            <a:ext cx="3596518"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211988" y="2526356"/>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8" name="Oval 27"/>
          <p:cNvSpPr/>
          <p:nvPr/>
        </p:nvSpPr>
        <p:spPr>
          <a:xfrm>
            <a:off x="8808506" y="2526356"/>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9" name="Oval 28"/>
          <p:cNvSpPr/>
          <p:nvPr/>
        </p:nvSpPr>
        <p:spPr>
          <a:xfrm>
            <a:off x="10606765" y="2526356"/>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0" name="Rectangle 29"/>
          <p:cNvSpPr/>
          <p:nvPr/>
        </p:nvSpPr>
        <p:spPr>
          <a:xfrm>
            <a:off x="548640" y="2905179"/>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905179"/>
            <a:ext cx="2103120" cy="483325"/>
          </a:xfrm>
          <a:prstGeom prst="rect">
            <a:avLst/>
          </a:prstGeom>
          <a:noFill/>
        </p:spPr>
        <p:txBody>
          <a:bodyPr wrap="square" anchor="ctr" lIns="45720" rIns="45720">
            <a:spAutoFit/>
          </a:bodyPr>
          <a:lstStyle/>
          <a:p>
            <a:r>
              <a:rPr sz="1300" b="1" i="0">
                <a:solidFill>
                  <a:srgbClr val="004EA8"/>
                </a:solidFill>
                <a:latin typeface="Arial"/>
              </a:rPr>
              <a:t>Data</a:t>
            </a:r>
          </a:p>
        </p:txBody>
      </p:sp>
      <p:sp>
        <p:nvSpPr>
          <p:cNvPr id="32" name="Rectangle 31"/>
          <p:cNvSpPr/>
          <p:nvPr/>
        </p:nvSpPr>
        <p:spPr>
          <a:xfrm>
            <a:off x="3550889" y="3127792"/>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413729" y="3009682"/>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4" name="Oval 33"/>
          <p:cNvSpPr/>
          <p:nvPr/>
        </p:nvSpPr>
        <p:spPr>
          <a:xfrm>
            <a:off x="8808506" y="3009682"/>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5" name="Oval 34"/>
          <p:cNvSpPr/>
          <p:nvPr/>
        </p:nvSpPr>
        <p:spPr>
          <a:xfrm>
            <a:off x="10606765" y="3009682"/>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6" name="TextBox 35"/>
          <p:cNvSpPr txBox="1"/>
          <p:nvPr/>
        </p:nvSpPr>
        <p:spPr>
          <a:xfrm>
            <a:off x="594360" y="3388505"/>
            <a:ext cx="2103120" cy="483325"/>
          </a:xfrm>
          <a:prstGeom prst="rect">
            <a:avLst/>
          </a:prstGeom>
          <a:noFill/>
        </p:spPr>
        <p:txBody>
          <a:bodyPr wrap="square" anchor="ctr" lIns="45720" rIns="45720">
            <a:spAutoFit/>
          </a:bodyPr>
          <a:lstStyle/>
          <a:p>
            <a:r>
              <a:rPr sz="1300" b="1" i="0">
                <a:solidFill>
                  <a:srgbClr val="004EA8"/>
                </a:solidFill>
                <a:latin typeface="Arial"/>
              </a:rPr>
              <a:t>Integration</a:t>
            </a:r>
          </a:p>
        </p:txBody>
      </p:sp>
      <p:sp>
        <p:nvSpPr>
          <p:cNvPr id="37" name="Rectangle 36"/>
          <p:cNvSpPr/>
          <p:nvPr/>
        </p:nvSpPr>
        <p:spPr>
          <a:xfrm>
            <a:off x="5349148" y="3611118"/>
            <a:ext cx="1798259"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211988" y="3493008"/>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9" name="Oval 38"/>
          <p:cNvSpPr/>
          <p:nvPr/>
        </p:nvSpPr>
        <p:spPr>
          <a:xfrm>
            <a:off x="7010247" y="3493008"/>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0" name="Oval 39"/>
          <p:cNvSpPr/>
          <p:nvPr/>
        </p:nvSpPr>
        <p:spPr>
          <a:xfrm>
            <a:off x="10606765" y="3493008"/>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1" name="Rectangle 40"/>
          <p:cNvSpPr/>
          <p:nvPr/>
        </p:nvSpPr>
        <p:spPr>
          <a:xfrm>
            <a:off x="548640" y="3871830"/>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871830"/>
            <a:ext cx="2103120" cy="483325"/>
          </a:xfrm>
          <a:prstGeom prst="rect">
            <a:avLst/>
          </a:prstGeom>
          <a:noFill/>
        </p:spPr>
        <p:txBody>
          <a:bodyPr wrap="square" anchor="ctr" lIns="45720" rIns="45720">
            <a:spAutoFit/>
          </a:bodyPr>
          <a:lstStyle/>
          <a:p>
            <a:r>
              <a:rPr sz="1300" b="1" i="0">
                <a:solidFill>
                  <a:srgbClr val="004EA8"/>
                </a:solidFill>
                <a:latin typeface="Arial"/>
              </a:rPr>
              <a:t>Customer service</a:t>
            </a:r>
          </a:p>
        </p:txBody>
      </p:sp>
      <p:sp>
        <p:nvSpPr>
          <p:cNvPr id="43" name="Rectangle 42"/>
          <p:cNvSpPr/>
          <p:nvPr/>
        </p:nvSpPr>
        <p:spPr>
          <a:xfrm>
            <a:off x="5349148" y="4094443"/>
            <a:ext cx="1798259"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211988" y="3976333"/>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5" name="Oval 44"/>
          <p:cNvSpPr/>
          <p:nvPr/>
        </p:nvSpPr>
        <p:spPr>
          <a:xfrm>
            <a:off x="7010247" y="3976333"/>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6" name="Oval 45"/>
          <p:cNvSpPr/>
          <p:nvPr/>
        </p:nvSpPr>
        <p:spPr>
          <a:xfrm>
            <a:off x="10606765" y="3976333"/>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7" name="TextBox 46"/>
          <p:cNvSpPr txBox="1"/>
          <p:nvPr/>
        </p:nvSpPr>
        <p:spPr>
          <a:xfrm>
            <a:off x="594360" y="4355156"/>
            <a:ext cx="2103120" cy="483325"/>
          </a:xfrm>
          <a:prstGeom prst="rect">
            <a:avLst/>
          </a:prstGeom>
          <a:noFill/>
        </p:spPr>
        <p:txBody>
          <a:bodyPr wrap="square" anchor="ctr" lIns="45720" rIns="45720">
            <a:spAutoFit/>
          </a:bodyPr>
          <a:lstStyle/>
          <a:p>
            <a:r>
              <a:rPr sz="1300" b="1" i="0">
                <a:solidFill>
                  <a:srgbClr val="004EA8"/>
                </a:solidFill>
                <a:latin typeface="Arial"/>
              </a:rPr>
              <a:t>Compliance</a:t>
            </a:r>
          </a:p>
        </p:txBody>
      </p:sp>
      <p:sp>
        <p:nvSpPr>
          <p:cNvPr id="48" name="Rectangle 47"/>
          <p:cNvSpPr/>
          <p:nvPr/>
        </p:nvSpPr>
        <p:spPr>
          <a:xfrm>
            <a:off x="3550889" y="4577769"/>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13729" y="4459659"/>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0" name="Oval 49"/>
          <p:cNvSpPr/>
          <p:nvPr/>
        </p:nvSpPr>
        <p:spPr>
          <a:xfrm>
            <a:off x="8808506" y="4459659"/>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1" name="Oval 50"/>
          <p:cNvSpPr/>
          <p:nvPr/>
        </p:nvSpPr>
        <p:spPr>
          <a:xfrm>
            <a:off x="10606765" y="4459659"/>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2" name="Rectangle 51"/>
          <p:cNvSpPr/>
          <p:nvPr/>
        </p:nvSpPr>
        <p:spPr>
          <a:xfrm>
            <a:off x="548640" y="4838482"/>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838482"/>
            <a:ext cx="2103120" cy="483325"/>
          </a:xfrm>
          <a:prstGeom prst="rect">
            <a:avLst/>
          </a:prstGeom>
          <a:noFill/>
        </p:spPr>
        <p:txBody>
          <a:bodyPr wrap="square" anchor="ctr" lIns="45720" rIns="45720">
            <a:spAutoFit/>
          </a:bodyPr>
          <a:lstStyle/>
          <a:p>
            <a:r>
              <a:rPr sz="1300" b="1" i="0">
                <a:solidFill>
                  <a:srgbClr val="004EA8"/>
                </a:solidFill>
                <a:latin typeface="Arial"/>
              </a:rPr>
              <a:t>Reporting</a:t>
            </a:r>
          </a:p>
        </p:txBody>
      </p:sp>
      <p:sp>
        <p:nvSpPr>
          <p:cNvPr id="54" name="Rectangle 53"/>
          <p:cNvSpPr/>
          <p:nvPr/>
        </p:nvSpPr>
        <p:spPr>
          <a:xfrm>
            <a:off x="3550889" y="5061095"/>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413729" y="4942985"/>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6" name="Oval 55"/>
          <p:cNvSpPr/>
          <p:nvPr/>
        </p:nvSpPr>
        <p:spPr>
          <a:xfrm>
            <a:off x="8808506" y="4942985"/>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7" name="Oval 56"/>
          <p:cNvSpPr/>
          <p:nvPr/>
        </p:nvSpPr>
        <p:spPr>
          <a:xfrm>
            <a:off x="10606765" y="4942985"/>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8" name="Oval 57"/>
          <p:cNvSpPr/>
          <p:nvPr/>
        </p:nvSpPr>
        <p:spPr>
          <a:xfrm>
            <a:off x="548640" y="5431536"/>
            <a:ext cx="237744" cy="237744"/>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59" name="TextBox 58"/>
          <p:cNvSpPr txBox="1"/>
          <p:nvPr/>
        </p:nvSpPr>
        <p:spPr>
          <a:xfrm>
            <a:off x="822960" y="5404104"/>
            <a:ext cx="2011680" cy="292608"/>
          </a:xfrm>
          <a:prstGeom prst="rect">
            <a:avLst/>
          </a:prstGeom>
          <a:noFill/>
        </p:spPr>
        <p:txBody>
          <a:bodyPr wrap="square" anchor="t" lIns="45720" rIns="45720">
            <a:spAutoFit/>
          </a:bodyPr>
          <a:lstStyle/>
          <a:p>
            <a:r>
              <a:rPr sz="1200" b="0" i="0">
                <a:solidFill>
                  <a:srgbClr val="4B4B4B"/>
                </a:solidFill>
                <a:latin typeface="Arial"/>
              </a:rPr>
              <a:t>Today</a:t>
            </a:r>
          </a:p>
        </p:txBody>
      </p:sp>
      <p:sp>
        <p:nvSpPr>
          <p:cNvPr id="60" name="Oval 59"/>
          <p:cNvSpPr/>
          <p:nvPr/>
        </p:nvSpPr>
        <p:spPr>
          <a:xfrm>
            <a:off x="2651760" y="5431536"/>
            <a:ext cx="237744" cy="237744"/>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1" name="TextBox 60"/>
          <p:cNvSpPr txBox="1"/>
          <p:nvPr/>
        </p:nvSpPr>
        <p:spPr>
          <a:xfrm>
            <a:off x="2926080" y="5404104"/>
            <a:ext cx="2011680" cy="292608"/>
          </a:xfrm>
          <a:prstGeom prst="rect">
            <a:avLst/>
          </a:prstGeom>
          <a:noFill/>
        </p:spPr>
        <p:txBody>
          <a:bodyPr wrap="square" anchor="t" lIns="45720" rIns="45720">
            <a:spAutoFit/>
          </a:bodyPr>
          <a:lstStyle/>
          <a:p>
            <a:r>
              <a:rPr sz="1200" b="0" i="0">
                <a:solidFill>
                  <a:srgbClr val="4B4B4B"/>
                </a:solidFill>
                <a:latin typeface="Arial"/>
              </a:rPr>
              <a:t>To-Be in the BRDs</a:t>
            </a:r>
          </a:p>
        </p:txBody>
      </p:sp>
      <p:sp>
        <p:nvSpPr>
          <p:cNvPr id="62" name="Oval 61"/>
          <p:cNvSpPr/>
          <p:nvPr/>
        </p:nvSpPr>
        <p:spPr>
          <a:xfrm>
            <a:off x="4754880" y="5431536"/>
            <a:ext cx="237744" cy="23774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3" name="TextBox 62"/>
          <p:cNvSpPr txBox="1"/>
          <p:nvPr/>
        </p:nvSpPr>
        <p:spPr>
          <a:xfrm>
            <a:off x="5029200" y="5404104"/>
            <a:ext cx="2011680" cy="292608"/>
          </a:xfrm>
          <a:prstGeom prst="rect">
            <a:avLst/>
          </a:prstGeom>
          <a:noFill/>
        </p:spPr>
        <p:txBody>
          <a:bodyPr wrap="square" anchor="t" lIns="45720" rIns="45720">
            <a:spAutoFit/>
          </a:bodyPr>
          <a:lstStyle/>
          <a:p>
            <a:r>
              <a:rPr sz="1200" b="0" i="0">
                <a:solidFill>
                  <a:srgbClr val="4B4B4B"/>
                </a:solidFill>
                <a:latin typeface="Arial"/>
              </a:rPr>
              <a:t>Best practice</a:t>
            </a:r>
          </a:p>
        </p:txBody>
      </p:sp>
      <p:sp>
        <p:nvSpPr>
          <p:cNvPr id="64" name="TextBox 63"/>
          <p:cNvSpPr txBox="1"/>
          <p:nvPr/>
        </p:nvSpPr>
        <p:spPr>
          <a:xfrm>
            <a:off x="6949440" y="5385816"/>
            <a:ext cx="4693615" cy="457200"/>
          </a:xfrm>
          <a:prstGeom prst="rect">
            <a:avLst/>
          </a:prstGeom>
          <a:noFill/>
        </p:spPr>
        <p:txBody>
          <a:bodyPr wrap="square" anchor="t" lIns="45720" rIns="45720" tIns="18288" bIns="18288">
            <a:spAutoFit/>
          </a:bodyPr>
          <a:lstStyle/>
          <a:p>
            <a:pPr>
              <a:spcAft>
                <a:spcPts val="400"/>
              </a:spcAft>
            </a:pPr>
            <a:r>
              <a:rPr sz="1100" b="0">
                <a:solidFill>
                  <a:srgbClr val="656565"/>
                </a:solidFill>
                <a:latin typeface="Arial"/>
              </a:rPr>
              <a:t>Scale: project team assessment from the floor walk, the process flows and the BRDs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A</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Marketing and Sales</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New business, renewal, submitted policies and employee benefits: the front office and its hand-off to Processing</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  </a:t>
            </a:r>
            <a:r>
              <a:rPr sz="1500" b="1">
                <a:solidFill>
                  <a:srgbClr val="FFFFFF"/>
                </a:solidFill>
                <a:latin typeface="Arial"/>
              </a:rPr>
              <a:t>New Business</a:t>
            </a:r>
            <a:r>
              <a:rPr sz="1500" b="0">
                <a:solidFill>
                  <a:srgbClr val="99C1E7"/>
                </a:solidFill>
                <a:latin typeface="Arial"/>
              </a:rPr>
              <a:t>   BRD-1</a:t>
            </a:r>
          </a:p>
        </p:txBody>
      </p:sp>
      <p:sp>
        <p:nvSpPr>
          <p:cNvPr id="8" name="TextBox 7"/>
          <p:cNvSpPr txBox="1"/>
          <p:nvPr/>
        </p:nvSpPr>
        <p:spPr>
          <a:xfrm>
            <a:off x="548640" y="4361687"/>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2.  </a:t>
            </a:r>
            <a:r>
              <a:rPr sz="1500" b="1">
                <a:solidFill>
                  <a:srgbClr val="FFFFFF"/>
                </a:solidFill>
                <a:latin typeface="Arial"/>
              </a:rPr>
              <a:t>Renewal</a:t>
            </a:r>
            <a:r>
              <a:rPr sz="1500" b="0">
                <a:solidFill>
                  <a:srgbClr val="99C1E7"/>
                </a:solidFill>
                <a:latin typeface="Arial"/>
              </a:rPr>
              <a:t>   BRD-6</a:t>
            </a:r>
          </a:p>
        </p:txBody>
      </p:sp>
      <p:sp>
        <p:nvSpPr>
          <p:cNvPr id="9" name="TextBox 8"/>
          <p:cNvSpPr txBox="1"/>
          <p:nvPr/>
        </p:nvSpPr>
        <p:spPr>
          <a:xfrm>
            <a:off x="548640" y="4745735"/>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3.  </a:t>
            </a:r>
            <a:r>
              <a:rPr sz="1500" b="1">
                <a:solidFill>
                  <a:srgbClr val="FFFFFF"/>
                </a:solidFill>
                <a:latin typeface="Arial"/>
              </a:rPr>
              <a:t>Submitted Policies</a:t>
            </a:r>
            <a:r>
              <a:rPr sz="1500" b="0">
                <a:solidFill>
                  <a:srgbClr val="99C1E7"/>
                </a:solidFill>
                <a:latin typeface="Arial"/>
              </a:rPr>
              <a:t>   BRD-12</a:t>
            </a:r>
          </a:p>
        </p:txBody>
      </p:sp>
      <p:sp>
        <p:nvSpPr>
          <p:cNvPr id="10" name="TextBox 9"/>
          <p:cNvSpPr txBox="1"/>
          <p:nvPr/>
        </p:nvSpPr>
        <p:spPr>
          <a:xfrm>
            <a:off x="548640" y="5129783"/>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4.  </a:t>
            </a:r>
            <a:r>
              <a:rPr sz="1500" b="1">
                <a:solidFill>
                  <a:srgbClr val="FFFFFF"/>
                </a:solidFill>
                <a:latin typeface="Arial"/>
              </a:rPr>
              <a:t>Employee Benefits</a:t>
            </a:r>
            <a:r>
              <a:rPr sz="1500" b="0">
                <a:solidFill>
                  <a:srgbClr val="99C1E7"/>
                </a:solidFill>
                <a:latin typeface="Arial"/>
              </a:rPr>
              <a:t>   BRD-8</a:t>
            </a:r>
          </a:p>
        </p:txBody>
      </p:sp>
      <p:sp>
        <p:nvSpPr>
          <p:cNvPr id="11" name="TextBox 10"/>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Business Process Reverse KT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Marketing (CBG, Non-CBG Retail, Corporate, Branches) and Processing (Placement and Booking)</a:t>
            </a:r>
          </a:p>
          <a:p>
            <a:pPr>
              <a:spcAft>
                <a:spcPts val="300"/>
              </a:spcAft>
            </a:pPr>
            <a:r>
              <a:rPr sz="1200" b="0">
                <a:solidFill>
                  <a:srgbClr val="004EA8"/>
                </a:solidFill>
                <a:latin typeface="Arial"/>
              </a:rPr>
              <a:t>•  </a:t>
            </a:r>
            <a:r>
              <a:rPr sz="1200" b="0">
                <a:solidFill>
                  <a:srgbClr val="4B4B4B"/>
                </a:solidFill>
                <a:latin typeface="Arial"/>
              </a:rPr>
              <a:t>Marketing AO, TL, TH, UH per segment; Marketing Account Support (Combank)</a:t>
            </a:r>
          </a:p>
          <a:p>
            <a:pPr>
              <a:spcAft>
                <a:spcPts val="300"/>
              </a:spcAft>
            </a:pPr>
            <a:r>
              <a:rPr sz="1200" b="0">
                <a:solidFill>
                  <a:srgbClr val="004EA8"/>
                </a:solidFill>
                <a:latin typeface="Arial"/>
              </a:rPr>
              <a:t>•  </a:t>
            </a:r>
            <a:r>
              <a:rPr sz="1200" b="0">
                <a:solidFill>
                  <a:srgbClr val="4B4B4B"/>
                </a:solidFill>
                <a:latin typeface="Arial"/>
              </a:rPr>
              <a:t>TSU (non-package proposals; see chapter 5)</a:t>
            </a:r>
          </a:p>
          <a:p>
            <a:pPr>
              <a:spcAft>
                <a:spcPts val="300"/>
              </a:spcAft>
            </a:pPr>
            <a:r>
              <a:rPr sz="1200" b="0">
                <a:solidFill>
                  <a:srgbClr val="004EA8"/>
                </a:solidFill>
                <a:latin typeface="Arial"/>
              </a:rPr>
              <a:t>•  </a:t>
            </a:r>
            <a:r>
              <a:rPr sz="1200" b="0">
                <a:solidFill>
                  <a:srgbClr val="4B4B4B"/>
                </a:solidFill>
                <a:latin typeface="Arial"/>
              </a:rPr>
              <a:t>Processing Team (client and account set-up), Processing Officer and TL (placement, booking)</a:t>
            </a:r>
          </a:p>
          <a:p>
            <a:pPr>
              <a:spcAft>
                <a:spcPts val="300"/>
              </a:spcAft>
            </a:pPr>
            <a:r>
              <a:rPr sz="1200" b="0">
                <a:solidFill>
                  <a:srgbClr val="004EA8"/>
                </a:solidFill>
                <a:latin typeface="Arial"/>
              </a:rPr>
              <a:t>•  </a:t>
            </a:r>
            <a:r>
              <a:rPr sz="1200" b="0">
                <a:solidFill>
                  <a:srgbClr val="4B4B4B"/>
                </a:solidFill>
                <a:latin typeface="Arial"/>
              </a:rPr>
              <a:t>IT (ISYS to QPS migration, e-policy batch, exception report); COG-OPRM (e-policy sending)</a:t>
            </a:r>
          </a:p>
          <a:p>
            <a:pPr>
              <a:spcAft>
                <a:spcPts val="300"/>
              </a:spcAft>
            </a:pPr>
            <a:r>
              <a:rPr sz="1200" b="0">
                <a:solidFill>
                  <a:srgbClr val="004EA8"/>
                </a:solidFill>
                <a:latin typeface="Arial"/>
              </a:rPr>
              <a:t>•  </a:t>
            </a:r>
            <a:r>
              <a:rPr sz="1200" b="0">
                <a:solidFill>
                  <a:srgbClr val="4B4B4B"/>
                </a:solidFill>
                <a:latin typeface="Arial"/>
              </a:rPr>
              <a:t>BDOI contact centre (e-policy after a fall-out); Adjustment Team (cancellations)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485</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named users, 145 concurrent (BRD-1 p.210)</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21,200</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transactions a month; 1,300 endorsements (p.210-211)</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30 days</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quote validity for every product, retail and corporate (NB-03)</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7 / 3 days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SLA for complex / normal corporate risks (NB-07)</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22-Sep-2026 (New Business 9-10 am; Placement and Booking 2-3:30 pm, 43F) and 25-Sep-2026</a:t>
            </a:r>
          </a:p>
          <a:p>
            <a:pPr>
              <a:spcAft>
                <a:spcPts val="400"/>
              </a:spcAft>
            </a:pPr>
            <a:r>
              <a:rPr sz="1100" b="1">
                <a:solidFill>
                  <a:srgbClr val="004EA8"/>
                </a:solidFill>
                <a:latin typeface="Arial"/>
              </a:rPr>
              <a:t>Process owners: </a:t>
            </a:r>
            <a:r>
              <a:rPr sz="1100" b="0">
                <a:solidFill>
                  <a:srgbClr val="4B4B4B"/>
                </a:solidFill>
                <a:latin typeface="Arial"/>
              </a:rPr>
              <a:t>Rose Lique, Marla Apostol, Grace Tordesillas, Kin Ysaac Flores, Justine Malonzo, Jhosven Awa and 9 more (floor-walk coverage slide)</a:t>
            </a:r>
          </a:p>
          <a:p>
            <a:pPr>
              <a:spcAft>
                <a:spcPts val="400"/>
              </a:spcAft>
            </a:pPr>
            <a:r>
              <a:rPr sz="1100" b="0">
                <a:solidFill>
                  <a:srgbClr val="004EA8"/>
                </a:solidFill>
                <a:latin typeface="Arial"/>
              </a:rPr>
              <a:t>•  </a:t>
            </a:r>
            <a:r>
              <a:rPr sz="1100" b="0">
                <a:solidFill>
                  <a:srgbClr val="4B4B4B"/>
                </a:solidFill>
                <a:latin typeface="Arial"/>
              </a:rPr>
              <a:t>High-level New Business process flow (CBG Motor, CBG Fire, Non-CBG Corporate, Non-CBG Retail, Branches)</a:t>
            </a:r>
          </a:p>
          <a:p>
            <a:pPr>
              <a:spcAft>
                <a:spcPts val="400"/>
              </a:spcAft>
            </a:pPr>
            <a:r>
              <a:rPr sz="1100" b="0">
                <a:solidFill>
                  <a:srgbClr val="004EA8"/>
                </a:solidFill>
                <a:latin typeface="Arial"/>
              </a:rPr>
              <a:t>•  </a:t>
            </a:r>
            <a:r>
              <a:rPr sz="1100" b="0">
                <a:solidFill>
                  <a:srgbClr val="4B4B4B"/>
                </a:solidFill>
                <a:latin typeface="Arial"/>
              </a:rPr>
              <a:t>BDOI Day 1 overview p.11 and p.18</a:t>
            </a:r>
          </a:p>
          <a:p>
            <a:pPr>
              <a:spcAft>
                <a:spcPts val="400"/>
              </a:spcAft>
            </a:pPr>
            <a:r>
              <a:rPr sz="1100" b="0">
                <a:solidFill>
                  <a:srgbClr val="004EA8"/>
                </a:solidFill>
                <a:latin typeface="Arial"/>
              </a:rPr>
              <a:t>•  </a:t>
            </a:r>
            <a:r>
              <a:rPr sz="1100" b="0">
                <a:solidFill>
                  <a:srgbClr val="4B4B4B"/>
                </a:solidFill>
                <a:latin typeface="Arial"/>
              </a:rPr>
              <a:t>BRD-1 p.132-134; Other Lines addendum p.47-48; BRNB.001-115</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Request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Quotation</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Acceptance</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Client and account</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Migration</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Placement</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E-policy</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Booking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what we heard on the floor (1/3)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NB-01</a:t>
                      </a:r>
                    </a:p>
                  </a:txBody>
                  <a:tcPr marL="64008" marR="64008" marT="27432" marB="27432" anchor="ctr">
                    <a:solidFill>
                      <a:srgbClr val="FFFFFF"/>
                    </a:solidFill>
                  </a:tcPr>
                </a:tc>
                <a:tc>
                  <a:txBody>
                    <a:bodyPr wrap="square"/>
                    <a:lstStyle/>
                    <a:p>
                      <a:r>
                        <a:rPr sz="1100" b="0">
                          <a:solidFill>
                            <a:srgbClr val="4B4B4B"/>
                          </a:solidFill>
                          <a:latin typeface="Arial"/>
                        </a:rPr>
                        <a:t>Routing</a:t>
                      </a:r>
                    </a:p>
                  </a:txBody>
                  <a:tcPr marL="64008" marR="64008" marT="27432" marB="27432" anchor="ctr">
                    <a:solidFill>
                      <a:srgbClr val="FFFF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Package goes quote to policy; non-package goes direct to policy issuance; some package products go straight to placement. On 25-Sep: the TSU step is for non-package only.</a:t>
                      </a:r>
                    </a:p>
                  </a:txBody>
                  <a:tcPr marL="64008" marR="64008" marT="27432" marB="27432" anchor="ctr">
                    <a:solidFill>
                      <a:srgbClr val="FFFFFF"/>
                    </a:solidFill>
                  </a:tcPr>
                </a:tc>
                <a:tc>
                  <a:txBody>
                    <a:bodyPr wrap="square"/>
                    <a:lstStyle/>
                    <a:p>
                      <a:r>
                        <a:rPr sz="1100" b="0">
                          <a:solidFill>
                            <a:srgbClr val="4B4B4B"/>
                          </a:solidFill>
                          <a:latin typeface="Arial"/>
                        </a:rPr>
                        <a:t>Confirm routing per product type.</a:t>
                      </a:r>
                    </a:p>
                  </a:txBody>
                  <a:tcPr marL="64008" marR="64008" marT="27432" marB="27432" anchor="ctr">
                    <a:solidFill>
                      <a:srgbClr val="FFFFFF"/>
                    </a:solidFill>
                  </a:tcPr>
                </a:tc>
              </a:tr>
              <a:tr h="758952">
                <a:tc>
                  <a:txBody>
                    <a:bodyPr wrap="square"/>
                    <a:lstStyle/>
                    <a:p>
                      <a:r>
                        <a:rPr sz="1100" b="1">
                          <a:solidFill>
                            <a:srgbClr val="4B4B4B"/>
                          </a:solidFill>
                          <a:latin typeface="Arial"/>
                        </a:rPr>
                        <a:t>NB-02</a:t>
                      </a:r>
                    </a:p>
                  </a:txBody>
                  <a:tcPr marL="64008" marR="64008" marT="27432" marB="27432" anchor="ctr">
                    <a:solidFill>
                      <a:srgbClr val="E5F5FF"/>
                    </a:solidFill>
                  </a:tcPr>
                </a:tc>
                <a:tc>
                  <a:txBody>
                    <a:bodyPr wrap="square"/>
                    <a:lstStyle/>
                    <a:p>
                      <a:r>
                        <a:rPr sz="1100" b="0">
                          <a:solidFill>
                            <a:srgbClr val="4B4B4B"/>
                          </a:solidFill>
                          <a:latin typeface="Arial"/>
                        </a:rPr>
                        <a:t>Premium confirmation</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Marketing shares the premium computation with the client; placement follows once the client confirms.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NB-03</a:t>
                      </a:r>
                    </a:p>
                  </a:txBody>
                  <a:tcPr marL="64008" marR="64008" marT="27432" marB="27432" anchor="ctr">
                    <a:solidFill>
                      <a:srgbClr val="FFFFFF"/>
                    </a:solidFill>
                  </a:tcPr>
                </a:tc>
                <a:tc>
                  <a:txBody>
                    <a:bodyPr wrap="square"/>
                    <a:lstStyle/>
                    <a:p>
                      <a:r>
                        <a:rPr sz="1100" b="0">
                          <a:solidFill>
                            <a:srgbClr val="4B4B4B"/>
                          </a:solidFill>
                          <a:latin typeface="Arial"/>
                        </a:rPr>
                        <a:t>Quote validity</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 quote is valid 30 days for all products, retail and corporate.</a:t>
                      </a:r>
                    </a:p>
                  </a:txBody>
                  <a:tcPr marL="64008" marR="64008" marT="27432" marB="27432" anchor="ctr">
                    <a:solidFill>
                      <a:srgbClr val="FFFFFF"/>
                    </a:solidFill>
                  </a:tcPr>
                </a:tc>
                <a:tc>
                  <a:txBody>
                    <a:bodyPr wrap="square"/>
                    <a:lstStyle/>
                    <a:p>
                      <a:r>
                        <a:rPr sz="1100" b="0">
                          <a:solidFill>
                            <a:srgbClr val="4B4B4B"/>
                          </a:solidFill>
                          <a:latin typeface="Arial"/>
                        </a:rPr>
                        <a:t>The system applies 30-day validity on every quote.</a:t>
                      </a:r>
                    </a:p>
                  </a:txBody>
                  <a:tcPr marL="64008" marR="64008" marT="27432" marB="27432" anchor="ctr">
                    <a:solidFill>
                      <a:srgbClr val="FFFFFF"/>
                    </a:solidFill>
                  </a:tcPr>
                </a:tc>
              </a:tr>
              <a:tr h="758952">
                <a:tc>
                  <a:txBody>
                    <a:bodyPr wrap="square"/>
                    <a:lstStyle/>
                    <a:p>
                      <a:r>
                        <a:rPr sz="1100" b="1">
                          <a:solidFill>
                            <a:srgbClr val="4B4B4B"/>
                          </a:solidFill>
                          <a:latin typeface="Arial"/>
                        </a:rPr>
                        <a:t>NB-04</a:t>
                      </a:r>
                    </a:p>
                  </a:txBody>
                  <a:tcPr marL="64008" marR="64008" marT="27432" marB="27432" anchor="ctr">
                    <a:solidFill>
                      <a:srgbClr val="E5F5FF"/>
                    </a:solidFill>
                  </a:tcPr>
                </a:tc>
                <a:tc>
                  <a:txBody>
                    <a:bodyPr wrap="square"/>
                    <a:lstStyle/>
                    <a:p>
                      <a:r>
                        <a:rPr sz="1100" b="0">
                          <a:solidFill>
                            <a:srgbClr val="4B4B4B"/>
                          </a:solidFill>
                          <a:latin typeface="Arial"/>
                        </a:rPr>
                        <a:t>KYC, AMLA</a:t>
                      </a:r>
                    </a:p>
                  </a:txBody>
                  <a:tcPr marL="64008" marR="64008" marT="27432" marB="27432" anchor="ctr">
                    <a:solidFill>
                      <a:srgbClr val="E5F5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Insurance declaration form and KYC done outside the system, for every new customer; then the AMLA check.</a:t>
                      </a:r>
                    </a:p>
                  </a:txBody>
                  <a:tcPr marL="64008" marR="64008" marT="27432" marB="27432" anchor="ctr">
                    <a:solidFill>
                      <a:srgbClr val="E5F5FF"/>
                    </a:solidFill>
                  </a:tcPr>
                </a:tc>
                <a:tc>
                  <a:txBody>
                    <a:bodyPr wrap="square"/>
                    <a:lstStyle/>
                    <a:p>
                      <a:r>
                        <a:rPr sz="1100" b="0">
                          <a:solidFill>
                            <a:srgbClr val="4B4B4B"/>
                          </a:solidFill>
                          <a:latin typeface="Arial"/>
                        </a:rPr>
                        <a:t>Confirm whether KYC and AMLA come into the system.</a:t>
                      </a:r>
                    </a:p>
                  </a:txBody>
                  <a:tcPr marL="64008" marR="64008" marT="27432" marB="27432" anchor="ctr">
                    <a:solidFill>
                      <a:srgbClr val="E5F5FF"/>
                    </a:solidFill>
                  </a:tcPr>
                </a:tc>
              </a:tr>
              <a:tr h="758952">
                <a:tc>
                  <a:txBody>
                    <a:bodyPr wrap="square"/>
                    <a:lstStyle/>
                    <a:p>
                      <a:r>
                        <a:rPr sz="1100" b="1">
                          <a:solidFill>
                            <a:srgbClr val="4B4B4B"/>
                          </a:solidFill>
                          <a:latin typeface="Arial"/>
                        </a:rPr>
                        <a:t>NB-05</a:t>
                      </a:r>
                    </a:p>
                  </a:txBody>
                  <a:tcPr marL="64008" marR="64008" marT="27432" marB="27432" anchor="ctr">
                    <a:solidFill>
                      <a:srgbClr val="FFFFFF"/>
                    </a:solidFill>
                  </a:tcPr>
                </a:tc>
                <a:tc>
                  <a:txBody>
                    <a:bodyPr wrap="square"/>
                    <a:lstStyle/>
                    <a:p>
                      <a:r>
                        <a:rPr sz="1100" b="0">
                          <a:solidFill>
                            <a:srgbClr val="4B4B4B"/>
                          </a:solidFill>
                          <a:latin typeface="Arial"/>
                        </a:rPr>
                        <a:t>Risk survey</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 risk survey is required above 500M.</a:t>
                      </a:r>
                    </a:p>
                  </a:txBody>
                  <a:tcPr marL="64008" marR="64008" marT="27432" marB="27432" anchor="ctr">
                    <a:solidFill>
                      <a:srgbClr val="FFFFFF"/>
                    </a:solidFill>
                  </a:tcPr>
                </a:tc>
                <a:tc>
                  <a:txBody>
                    <a:bodyPr wrap="square"/>
                    <a:lstStyle/>
                    <a:p>
                      <a:r>
                        <a:rPr sz="1100" b="0">
                          <a:solidFill>
                            <a:srgbClr val="4B4B4B"/>
                          </a:solidFill>
                          <a:latin typeface="Arial"/>
                        </a:rPr>
                        <a:t>Confirm the basis (sum insured? PHP?).</a:t>
                      </a:r>
                    </a:p>
                  </a:txBody>
                  <a:tcPr marL="64008" marR="64008" marT="27432" marB="27432" anchor="ctr">
                    <a:solidFill>
                      <a:srgbClr val="FFFFFF"/>
                    </a:solidFill>
                  </a:tcPr>
                </a:tc>
              </a:tr>
              <a:tr h="758952">
                <a:tc>
                  <a:txBody>
                    <a:bodyPr wrap="square"/>
                    <a:lstStyle/>
                    <a:p>
                      <a:r>
                        <a:rPr sz="1100" b="1">
                          <a:solidFill>
                            <a:srgbClr val="4B4B4B"/>
                          </a:solidFill>
                          <a:latin typeface="Arial"/>
                        </a:rPr>
                        <a:t>NB-06</a:t>
                      </a:r>
                    </a:p>
                  </a:txBody>
                  <a:tcPr marL="64008" marR="64008" marT="27432" marB="27432" anchor="ctr">
                    <a:solidFill>
                      <a:srgbClr val="E5F5FF"/>
                    </a:solidFill>
                  </a:tcPr>
                </a:tc>
                <a:tc>
                  <a:txBody>
                    <a:bodyPr wrap="square"/>
                    <a:lstStyle/>
                    <a:p>
                      <a:r>
                        <a:rPr sz="1100" b="0">
                          <a:solidFill>
                            <a:srgbClr val="4B4B4B"/>
                          </a:solidFill>
                          <a:latin typeface="Arial"/>
                        </a:rPr>
                        <a:t>Quote to insurer</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Non-life lines (Motor, Property, Marine): the quote request goes to the insurer with recommended terms.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what we heard on the floor (2/3)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NB-07</a:t>
                      </a:r>
                    </a:p>
                  </a:txBody>
                  <a:tcPr marL="64008" marR="64008" marT="27432" marB="27432" anchor="ctr">
                    <a:solidFill>
                      <a:srgbClr val="FFFFFF"/>
                    </a:solidFill>
                  </a:tcPr>
                </a:tc>
                <a:tc>
                  <a:txBody>
                    <a:bodyPr wrap="square"/>
                    <a:lstStyle/>
                    <a:p>
                      <a:r>
                        <a:rPr sz="1100" b="0">
                          <a:solidFill>
                            <a:srgbClr val="4B4B4B"/>
                          </a:solidFill>
                          <a:latin typeface="Arial"/>
                        </a:rPr>
                        <a:t>SLA</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Complex risk 7 days, normal risk 3 days.</a:t>
                      </a:r>
                    </a:p>
                  </a:txBody>
                  <a:tcPr marL="64008" marR="64008" marT="27432" marB="27432" anchor="ctr">
                    <a:solidFill>
                      <a:srgbClr val="FFFFFF"/>
                    </a:solidFill>
                  </a:tcPr>
                </a:tc>
                <a:tc>
                  <a:txBody>
                    <a:bodyPr wrap="square"/>
                    <a:lstStyle/>
                    <a:p>
                      <a:r>
                        <a:rPr sz="1100" b="0">
                          <a:solidFill>
                            <a:srgbClr val="4B4B4B"/>
                          </a:solidFill>
                          <a:latin typeface="Arial"/>
                        </a:rPr>
                        <a:t>SLA tracking available.</a:t>
                      </a:r>
                    </a:p>
                  </a:txBody>
                  <a:tcPr marL="64008" marR="64008" marT="27432" marB="27432" anchor="ctr">
                    <a:solidFill>
                      <a:srgbClr val="FFFFFF"/>
                    </a:solidFill>
                  </a:tcPr>
                </a:tc>
              </a:tr>
              <a:tr h="758952">
                <a:tc>
                  <a:txBody>
                    <a:bodyPr wrap="square"/>
                    <a:lstStyle/>
                    <a:p>
                      <a:r>
                        <a:rPr sz="1100" b="1">
                          <a:solidFill>
                            <a:srgbClr val="4B4B4B"/>
                          </a:solidFill>
                          <a:latin typeface="Arial"/>
                        </a:rPr>
                        <a:t>NB-08</a:t>
                      </a:r>
                    </a:p>
                  </a:txBody>
                  <a:tcPr marL="64008" marR="64008" marT="27432" marB="27432" anchor="ctr">
                    <a:solidFill>
                      <a:srgbClr val="E5F5FF"/>
                    </a:solidFill>
                  </a:tcPr>
                </a:tc>
                <a:tc>
                  <a:txBody>
                    <a:bodyPr wrap="square"/>
                    <a:lstStyle/>
                    <a:p>
                      <a:r>
                        <a:rPr sz="1100" b="0">
                          <a:solidFill>
                            <a:srgbClr val="4B4B4B"/>
                          </a:solidFill>
                          <a:latin typeface="Arial"/>
                        </a:rPr>
                        <a:t>TSU step</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Non-package: TSU before the quotation; after acceptance to the Placement team.</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NB-09</a:t>
                      </a:r>
                    </a:p>
                  </a:txBody>
                  <a:tcPr marL="64008" marR="64008" marT="27432" marB="27432" anchor="ctr">
                    <a:solidFill>
                      <a:srgbClr val="FFFFFF"/>
                    </a:solidFill>
                  </a:tcPr>
                </a:tc>
                <a:tc>
                  <a:txBody>
                    <a:bodyPr wrap="square"/>
                    <a:lstStyle/>
                    <a:p>
                      <a:r>
                        <a:rPr sz="1100" b="0">
                          <a:solidFill>
                            <a:srgbClr val="4B4B4B"/>
                          </a:solidFill>
                          <a:latin typeface="Arial"/>
                        </a:rPr>
                        <a:t>Package flow</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Client created in Broker, proposal in EBIX, then QPS for the package policy: one deal keyed in three systems.</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NB-10</a:t>
                      </a:r>
                    </a:p>
                  </a:txBody>
                  <a:tcPr marL="64008" marR="64008" marT="27432" marB="27432" anchor="ctr">
                    <a:solidFill>
                      <a:srgbClr val="E5F5FF"/>
                    </a:solidFill>
                  </a:tcPr>
                </a:tc>
                <a:tc>
                  <a:txBody>
                    <a:bodyPr wrap="square"/>
                    <a:lstStyle/>
                    <a:p>
                      <a:r>
                        <a:rPr sz="1100" b="0">
                          <a:solidFill>
                            <a:srgbClr val="4B4B4B"/>
                          </a:solidFill>
                          <a:latin typeface="Arial"/>
                        </a:rPr>
                        <a:t>TOR</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Terms of reference kept per product.</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NB-11</a:t>
                      </a:r>
                    </a:p>
                  </a:txBody>
                  <a:tcPr marL="64008" marR="64008" marT="27432" marB="27432" anchor="ctr">
                    <a:solidFill>
                      <a:srgbClr val="FFFFFF"/>
                    </a:solidFill>
                  </a:tcPr>
                </a:tc>
                <a:tc>
                  <a:txBody>
                    <a:bodyPr wrap="square"/>
                    <a:lstStyle/>
                    <a:p>
                      <a:r>
                        <a:rPr sz="1100" b="0">
                          <a:solidFill>
                            <a:srgbClr val="4B4B4B"/>
                          </a:solidFill>
                          <a:latin typeface="Arial"/>
                        </a:rPr>
                        <a:t>Pipeline</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TSU outstanding items and risk profile in a pipeline report; sources are the bank and direct clients.</a:t>
                      </a:r>
                    </a:p>
                  </a:txBody>
                  <a:tcPr marL="64008" marR="64008" marT="27432" marB="27432" anchor="ctr">
                    <a:solidFill>
                      <a:srgbClr val="FFFFFF"/>
                    </a:solidFill>
                  </a:tcPr>
                </a:tc>
                <a:tc>
                  <a:txBody>
                    <a:bodyPr wrap="square"/>
                    <a:lstStyle/>
                    <a:p>
                      <a:r>
                        <a:rPr sz="1100" b="0">
                          <a:solidFill>
                            <a:srgbClr val="4B4B4B"/>
                          </a:solidFill>
                          <a:latin typeface="Arial"/>
                        </a:rPr>
                        <a:t>Pipeline for Retail and Corporate accounts.</a:t>
                      </a:r>
                    </a:p>
                  </a:txBody>
                  <a:tcPr marL="64008" marR="64008" marT="27432" marB="27432" anchor="ctr">
                    <a:solidFill>
                      <a:srgbClr val="FFFFFF"/>
                    </a:solidFill>
                  </a:tcPr>
                </a:tc>
              </a:tr>
              <a:tr h="758952">
                <a:tc>
                  <a:txBody>
                    <a:bodyPr wrap="square"/>
                    <a:lstStyle/>
                    <a:p>
                      <a:r>
                        <a:rPr sz="1100" b="1">
                          <a:solidFill>
                            <a:srgbClr val="4B4B4B"/>
                          </a:solidFill>
                          <a:latin typeface="Arial"/>
                        </a:rPr>
                        <a:t>NB-12</a:t>
                      </a:r>
                    </a:p>
                  </a:txBody>
                  <a:tcPr marL="64008" marR="64008" marT="27432" marB="27432" anchor="ctr">
                    <a:solidFill>
                      <a:srgbClr val="E5F5FF"/>
                    </a:solidFill>
                  </a:tcPr>
                </a:tc>
                <a:tc>
                  <a:txBody>
                    <a:bodyPr wrap="square"/>
                    <a:lstStyle/>
                    <a:p>
                      <a:r>
                        <a:rPr sz="1100" b="0">
                          <a:solidFill>
                            <a:srgbClr val="4B4B4B"/>
                          </a:solidFill>
                          <a:latin typeface="Arial"/>
                        </a:rPr>
                        <a:t>CBG quick quote</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CBG gives quick-quote details; allocation by branch or area and by region to the handler; placement once agreed.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what we heard on the floor (3/3)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graphicFrame>
        <p:nvGraphicFramePr>
          <p:cNvPr id="9" name="Table 8"/>
          <p:cNvGraphicFramePr>
            <a:graphicFrameLocks noGrp="1"/>
          </p:cNvGraphicFramePr>
          <p:nvPr/>
        </p:nvGraphicFramePr>
        <p:xfrm>
          <a:off x="548640" y="1280160"/>
          <a:ext cx="11094412" cy="448056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NB-13</a:t>
                      </a:r>
                    </a:p>
                  </a:txBody>
                  <a:tcPr marL="64008" marR="64008" marT="27432" marB="27432" anchor="ctr">
                    <a:solidFill>
                      <a:srgbClr val="FFFFFF"/>
                    </a:solidFill>
                  </a:tcPr>
                </a:tc>
                <a:tc>
                  <a:txBody>
                    <a:bodyPr wrap="square"/>
                    <a:lstStyle/>
                    <a:p>
                      <a:r>
                        <a:rPr sz="1100" b="0">
                          <a:solidFill>
                            <a:srgbClr val="4B4B4B"/>
                          </a:solidFill>
                          <a:latin typeface="Arial"/>
                        </a:rPr>
                        <a:t>CBG Motor</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CBG is Motor and package only, so TSU is not involved.</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NB-14</a:t>
                      </a:r>
                    </a:p>
                  </a:txBody>
                  <a:tcPr marL="64008" marR="64008" marT="27432" marB="27432" anchor="ctr">
                    <a:solidFill>
                      <a:srgbClr val="E5F5FF"/>
                    </a:solidFill>
                  </a:tcPr>
                </a:tc>
                <a:tc>
                  <a:txBody>
                    <a:bodyPr wrap="square"/>
                    <a:lstStyle/>
                    <a:p>
                      <a:r>
                        <a:rPr sz="1100" b="0">
                          <a:solidFill>
                            <a:srgbClr val="4B4B4B"/>
                          </a:solidFill>
                          <a:latin typeface="Arial"/>
                        </a:rPr>
                        <a:t>Non-CBG from the bank</a:t>
                      </a:r>
                    </a:p>
                  </a:txBody>
                  <a:tcPr marL="64008" marR="64008" marT="27432" marB="27432" anchor="ctr">
                    <a:solidFill>
                      <a:srgbClr val="E5F5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The bank gives details and premium; the first year premium is free; the process stops when the COC is received from PGA.</a:t>
                      </a:r>
                    </a:p>
                  </a:txBody>
                  <a:tcPr marL="64008" marR="64008" marT="27432" marB="27432" anchor="ctr">
                    <a:solidFill>
                      <a:srgbClr val="E5F5FF"/>
                    </a:solidFill>
                  </a:tcPr>
                </a:tc>
                <a:tc>
                  <a:txBody>
                    <a:bodyPr wrap="square"/>
                    <a:lstStyle/>
                    <a:p>
                      <a:r>
                        <a:rPr sz="1100" b="0">
                          <a:solidFill>
                            <a:srgbClr val="4B4B4B"/>
                          </a:solidFill>
                          <a:latin typeface="Arial"/>
                        </a:rPr>
                        <a:t>Commission on the free first year (Cashiering).</a:t>
                      </a:r>
                    </a:p>
                  </a:txBody>
                  <a:tcPr marL="64008" marR="64008" marT="27432" marB="27432" anchor="ctr">
                    <a:solidFill>
                      <a:srgbClr val="E5F5FF"/>
                    </a:solidFill>
                  </a:tcPr>
                </a:tc>
              </a:tr>
              <a:tr h="822960">
                <a:tc>
                  <a:txBody>
                    <a:bodyPr wrap="square"/>
                    <a:lstStyle/>
                    <a:p>
                      <a:r>
                        <a:rPr sz="1100" b="1">
                          <a:solidFill>
                            <a:srgbClr val="4B4B4B"/>
                          </a:solidFill>
                          <a:latin typeface="Arial"/>
                        </a:rPr>
                        <a:t>NB-15</a:t>
                      </a:r>
                    </a:p>
                  </a:txBody>
                  <a:tcPr marL="64008" marR="64008" marT="27432" marB="27432" anchor="ctr">
                    <a:solidFill>
                      <a:srgbClr val="FFFFFF"/>
                    </a:solidFill>
                  </a:tcPr>
                </a:tc>
                <a:tc>
                  <a:txBody>
                    <a:bodyPr wrap="square"/>
                    <a:lstStyle/>
                    <a:p>
                      <a:r>
                        <a:rPr sz="1100" b="0">
                          <a:solidFill>
                            <a:srgbClr val="4B4B4B"/>
                          </a:solidFill>
                          <a:latin typeface="Arial"/>
                        </a:rPr>
                        <a:t>Kept for renewal</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Client code created and kept in Broker so it can be retrieved at renewal.</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DC-01</a:t>
                      </a:r>
                    </a:p>
                  </a:txBody>
                  <a:tcPr marL="64008" marR="64008" marT="27432" marB="27432" anchor="ctr">
                    <a:solidFill>
                      <a:srgbClr val="E5F5FF"/>
                    </a:solidFill>
                  </a:tcPr>
                </a:tc>
                <a:tc>
                  <a:txBody>
                    <a:bodyPr wrap="square"/>
                    <a:lstStyle/>
                    <a:p>
                      <a:r>
                        <a:rPr sz="1100" b="0">
                          <a:solidFill>
                            <a:srgbClr val="4B4B4B"/>
                          </a:solidFill>
                          <a:latin typeface="Arial"/>
                        </a:rPr>
                        <a:t>Documents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Policy schedules follow insurer templates; no BDOI template for NB or endorsement; the renewal advice uses the BDOI template.</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822960">
                <a:tc>
                  <a:txBody>
                    <a:bodyPr wrap="square"/>
                    <a:lstStyle/>
                    <a:p>
                      <a:r>
                        <a:rPr sz="1100" b="1">
                          <a:solidFill>
                            <a:srgbClr val="4B4B4B"/>
                          </a:solidFill>
                          <a:latin typeface="Arial"/>
                        </a:rPr>
                        <a:t>TR-01, 02</a:t>
                      </a:r>
                    </a:p>
                  </a:txBody>
                  <a:tcPr marL="64008" marR="64008" marT="27432" marB="27432" anchor="ctr">
                    <a:solidFill>
                      <a:srgbClr val="FFFFFF"/>
                    </a:solidFill>
                  </a:tcPr>
                </a:tc>
                <a:tc>
                  <a:txBody>
                    <a:bodyPr wrap="square"/>
                    <a:lstStyle/>
                    <a:p>
                      <a:r>
                        <a:rPr sz="1100" b="0">
                          <a:solidFill>
                            <a:srgbClr val="4B4B4B"/>
                          </a:solidFill>
                          <a:latin typeface="Arial"/>
                        </a:rPr>
                        <a:t>Trade and Marine</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Clients import with bank trade loans; business from the bank is mostly Marine Open Policy declarations; accumulation to track by location.</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As-Is process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pic>
        <p:nvPicPr>
          <p:cNvPr id="9" name="Picture 8" descr="brd01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Request to account today (New Business process flow; Day 1 p.18; NB-01 to NB-15)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As-Is process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pic>
        <p:nvPicPr>
          <p:cNvPr id="9" name="Picture 8" descr="brd01_asis_2.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Placement to booking and e-policy delivery today (New Business process flow; Day 1 p.18)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1. New Business: one process, seven segment variants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280160"/>
          <a:ext cx="11094411" cy="4919470"/>
        </p:xfrm>
        <a:graphic>
          <a:graphicData uri="http://schemas.openxmlformats.org/drawingml/2006/table">
            <a:tbl>
              <a:tblPr firstRow="1" bandRow="1">
                <a:tableStyleId>{5C22544A-7EE6-4342-B048-85BDC9FD1C3A}</a:tableStyleId>
              </a:tblPr>
              <a:tblGrid>
                <a:gridCol w="1747151"/>
                <a:gridCol w="2183939"/>
                <a:gridCol w="2271297"/>
                <a:gridCol w="2446012"/>
                <a:gridCol w="2446012"/>
              </a:tblGrid>
              <a:tr h="365760">
                <a:tc>
                  <a:txBody>
                    <a:bodyPr wrap="square"/>
                    <a:lstStyle/>
                    <a:p>
                      <a:r>
                        <a:rPr sz="1100" b="1">
                          <a:solidFill>
                            <a:srgbClr val="FFFFFF"/>
                          </a:solidFill>
                          <a:latin typeface="Arial"/>
                        </a:rPr>
                        <a:t>Segment</a:t>
                      </a:r>
                    </a:p>
                  </a:txBody>
                  <a:tcPr marL="64008" marR="64008" marT="27432" marB="27432" anchor="ctr">
                    <a:solidFill>
                      <a:srgbClr val="004EA8"/>
                    </a:solidFill>
                  </a:tcPr>
                </a:tc>
                <a:tc>
                  <a:txBody>
                    <a:bodyPr wrap="square"/>
                    <a:lstStyle/>
                    <a:p>
                      <a:r>
                        <a:rPr sz="1100" b="1">
                          <a:solidFill>
                            <a:srgbClr val="FFFFFF"/>
                          </a:solidFill>
                          <a:latin typeface="Arial"/>
                        </a:rPr>
                        <a:t>Request from</a:t>
                      </a:r>
                    </a:p>
                  </a:txBody>
                  <a:tcPr marL="64008" marR="64008" marT="27432" marB="27432" anchor="ctr">
                    <a:solidFill>
                      <a:srgbClr val="004EA8"/>
                    </a:solidFill>
                  </a:tcPr>
                </a:tc>
                <a:tc>
                  <a:txBody>
                    <a:bodyPr wrap="square"/>
                    <a:lstStyle/>
                    <a:p>
                      <a:r>
                        <a:rPr sz="1100" b="1">
                          <a:solidFill>
                            <a:srgbClr val="FFFFFF"/>
                          </a:solidFill>
                          <a:latin typeface="Arial"/>
                        </a:rPr>
                        <a:t>Quotation</a:t>
                      </a:r>
                    </a:p>
                  </a:txBody>
                  <a:tcPr marL="64008" marR="64008" marT="27432" marB="27432" anchor="ctr">
                    <a:solidFill>
                      <a:srgbClr val="004EA8"/>
                    </a:solidFill>
                  </a:tcPr>
                </a:tc>
                <a:tc>
                  <a:txBody>
                    <a:bodyPr wrap="square"/>
                    <a:lstStyle/>
                    <a:p>
                      <a:r>
                        <a:rPr sz="1100" b="1">
                          <a:solidFill>
                            <a:srgbClr val="FFFFFF"/>
                          </a:solidFill>
                          <a:latin typeface="Arial"/>
                        </a:rPr>
                        <a:t>Client and account</a:t>
                      </a:r>
                    </a:p>
                  </a:txBody>
                  <a:tcPr marL="64008" marR="64008" marT="27432" marB="27432" anchor="ctr">
                    <a:solidFill>
                      <a:srgbClr val="004EA8"/>
                    </a:solidFill>
                  </a:tcPr>
                </a:tc>
                <a:tc>
                  <a:txBody>
                    <a:bodyPr wrap="square"/>
                    <a:lstStyle/>
                    <a:p>
                      <a:r>
                        <a:rPr sz="1100" b="1">
                          <a:solidFill>
                            <a:srgbClr val="FFFFFF"/>
                          </a:solidFill>
                          <a:latin typeface="Arial"/>
                        </a:rPr>
                        <a:t>Placement, e-policy</a:t>
                      </a:r>
                    </a:p>
                  </a:txBody>
                  <a:tcPr marL="64008" marR="64008" marT="27432" marB="27432" anchor="ctr">
                    <a:solidFill>
                      <a:srgbClr val="004EA8"/>
                    </a:solidFill>
                  </a:tcPr>
                </a:tc>
              </a:tr>
              <a:tr h="650530">
                <a:tc>
                  <a:txBody>
                    <a:bodyPr wrap="square"/>
                    <a:lstStyle/>
                    <a:p>
                      <a:r>
                        <a:rPr sz="1100" b="1">
                          <a:solidFill>
                            <a:srgbClr val="4B4B4B"/>
                          </a:solidFill>
                          <a:latin typeface="Arial"/>
                        </a:rPr>
                        <a:t>CBG Motor (package)</a:t>
                      </a:r>
                    </a:p>
                  </a:txBody>
                  <a:tcPr marL="64008" marR="64008" marT="27432" marB="27432" anchor="ctr">
                    <a:solidFill>
                      <a:srgbClr val="FFFFFF"/>
                    </a:solidFill>
                  </a:tcPr>
                </a:tc>
                <a:tc>
                  <a:txBody>
                    <a:bodyPr wrap="square"/>
                    <a:lstStyle/>
                    <a:p>
                      <a:r>
                        <a:rPr sz="1100" b="0">
                          <a:solidFill>
                            <a:srgbClr val="4B4B4B"/>
                          </a:solidFill>
                          <a:latin typeface="Arial"/>
                        </a:rPr>
                        <a:t>BDO branch or CBG Auto Loans AO, by e-mail</a:t>
                      </a:r>
                    </a:p>
                  </a:txBody>
                  <a:tcPr marL="64008" marR="64008" marT="27432" marB="27432" anchor="ctr">
                    <a:solidFill>
                      <a:srgbClr val="FFFFFF"/>
                    </a:solidFill>
                  </a:tcPr>
                </a:tc>
                <a:tc>
                  <a:txBody>
                    <a:bodyPr wrap="square"/>
                    <a:lstStyle/>
                    <a:p>
                      <a:r>
                        <a:rPr sz="1100" b="0">
                          <a:solidFill>
                            <a:srgbClr val="4B4B4B"/>
                          </a:solidFill>
                          <a:latin typeface="Arial"/>
                        </a:rPr>
                        <a:t>Excel template with ISYS reference; quick quote</a:t>
                      </a:r>
                    </a:p>
                  </a:txBody>
                  <a:tcPr marL="64008" marR="64008" marT="27432" marB="27432" anchor="ctr">
                    <a:solidFill>
                      <a:srgbClr val="FFFFFF"/>
                    </a:solidFill>
                  </a:tcPr>
                </a:tc>
                <a:tc>
                  <a:txBody>
                    <a:bodyPr wrap="square"/>
                    <a:lstStyle/>
                    <a:p>
                      <a:r>
                        <a:rPr sz="1100" b="0">
                          <a:solidFill>
                            <a:srgbClr val="4B4B4B"/>
                          </a:solidFill>
                          <a:latin typeface="Arial"/>
                        </a:rPr>
                        <a:t>Client in Broker; account in ISYS; IT migration to QPS</a:t>
                      </a:r>
                    </a:p>
                  </a:txBody>
                  <a:tcPr marL="64008" marR="64008" marT="27432" marB="27432" anchor="ctr">
                    <a:solidFill>
                      <a:srgbClr val="FFFFFF"/>
                    </a:solidFill>
                  </a:tcPr>
                </a:tc>
                <a:tc>
                  <a:txBody>
                    <a:bodyPr wrap="square"/>
                    <a:lstStyle/>
                    <a:p>
                      <a:r>
                        <a:rPr sz="1100" b="0">
                          <a:solidFill>
                            <a:srgbClr val="4B4B4B"/>
                          </a:solidFill>
                          <a:latin typeface="Arial"/>
                        </a:rPr>
                        <a:t>Slip by SFTP or e-mail; IT batch policy number; COG or PO sends</a:t>
                      </a:r>
                    </a:p>
                  </a:txBody>
                  <a:tcPr marL="64008" marR="64008" marT="27432" marB="27432" anchor="ctr">
                    <a:solidFill>
                      <a:srgbClr val="FFFFFF"/>
                    </a:solidFill>
                  </a:tcPr>
                </a:tc>
              </a:tr>
              <a:tr h="650530">
                <a:tc>
                  <a:txBody>
                    <a:bodyPr wrap="square"/>
                    <a:lstStyle/>
                    <a:p>
                      <a:r>
                        <a:rPr sz="1100" b="1">
                          <a:solidFill>
                            <a:srgbClr val="4B4B4B"/>
                          </a:solidFill>
                          <a:latin typeface="Arial"/>
                        </a:rPr>
                        <a:t>CBG Fire and Home</a:t>
                      </a:r>
                    </a:p>
                  </a:txBody>
                  <a:tcPr marL="64008" marR="64008" marT="27432" marB="27432" anchor="ctr">
                    <a:solidFill>
                      <a:srgbClr val="E5F5FF"/>
                    </a:solidFill>
                  </a:tcPr>
                </a:tc>
                <a:tc>
                  <a:txBody>
                    <a:bodyPr wrap="square"/>
                    <a:lstStyle/>
                    <a:p>
                      <a:r>
                        <a:rPr sz="1100" b="0">
                          <a:solidFill>
                            <a:srgbClr val="4B4B4B"/>
                          </a:solidFill>
                          <a:latin typeface="Arial"/>
                        </a:rPr>
                        <a:t>CBG AO; CBG LAD daily approved-loan list from HLS</a:t>
                      </a:r>
                    </a:p>
                  </a:txBody>
                  <a:tcPr marL="64008" marR="64008" marT="27432" marB="27432" anchor="ctr">
                    <a:solidFill>
                      <a:srgbClr val="E5F5FF"/>
                    </a:solidFill>
                  </a:tcPr>
                </a:tc>
                <a:tc>
                  <a:txBody>
                    <a:bodyPr wrap="square"/>
                    <a:lstStyle/>
                    <a:p>
                      <a:r>
                        <a:rPr sz="1100" b="0">
                          <a:solidFill>
                            <a:srgbClr val="4B4B4B"/>
                          </a:solidFill>
                          <a:latin typeface="Arial"/>
                        </a:rPr>
                        <a:t>IDF Excel template converted to PDF</a:t>
                      </a:r>
                    </a:p>
                  </a:txBody>
                  <a:tcPr marL="64008" marR="64008" marT="27432" marB="27432" anchor="ctr">
                    <a:solidFill>
                      <a:srgbClr val="E5F5FF"/>
                    </a:solidFill>
                  </a:tcPr>
                </a:tc>
                <a:tc>
                  <a:txBody>
                    <a:bodyPr wrap="square"/>
                    <a:lstStyle/>
                    <a:p>
                      <a:r>
                        <a:rPr sz="1100" b="0">
                          <a:solidFill>
                            <a:srgbClr val="4B4B4B"/>
                          </a:solidFill>
                          <a:latin typeface="Arial"/>
                        </a:rPr>
                        <a:t>Processing bulk upload into Broker from the insurance report</a:t>
                      </a:r>
                    </a:p>
                  </a:txBody>
                  <a:tcPr marL="64008" marR="64008" marT="27432" marB="27432" anchor="ctr">
                    <a:solidFill>
                      <a:srgbClr val="E5F5FF"/>
                    </a:solidFill>
                  </a:tcPr>
                </a:tc>
                <a:tc>
                  <a:txBody>
                    <a:bodyPr wrap="square"/>
                    <a:lstStyle/>
                    <a:p>
                      <a:r>
                        <a:rPr sz="1100" b="0">
                          <a:solidFill>
                            <a:srgbClr val="4B4B4B"/>
                          </a:solidFill>
                          <a:latin typeface="Arial"/>
                        </a:rPr>
                        <a:t>GRF to Placement; hold cover by e-mail; CLPC billing and paid list</a:t>
                      </a:r>
                    </a:p>
                  </a:txBody>
                  <a:tcPr marL="64008" marR="64008" marT="27432" marB="27432" anchor="ctr">
                    <a:solidFill>
                      <a:srgbClr val="E5F5FF"/>
                    </a:solidFill>
                  </a:tcPr>
                </a:tc>
              </a:tr>
              <a:tr h="650530">
                <a:tc>
                  <a:txBody>
                    <a:bodyPr wrap="square"/>
                    <a:lstStyle/>
                    <a:p>
                      <a:r>
                        <a:rPr sz="1100" b="1">
                          <a:solidFill>
                            <a:srgbClr val="4B4B4B"/>
                          </a:solidFill>
                          <a:latin typeface="Arial"/>
                        </a:rPr>
                        <a:t>Non-CBG Corporate, all lines</a:t>
                      </a:r>
                    </a:p>
                  </a:txBody>
                  <a:tcPr marL="64008" marR="64008" marT="27432" marB="27432" anchor="ctr">
                    <a:solidFill>
                      <a:srgbClr val="FFFFFF"/>
                    </a:solidFill>
                  </a:tcPr>
                </a:tc>
                <a:tc>
                  <a:txBody>
                    <a:bodyPr wrap="square"/>
                    <a:lstStyle/>
                    <a:p>
                      <a:r>
                        <a:rPr sz="1100" b="0">
                          <a:solidFill>
                            <a:srgbClr val="4B4B4B"/>
                          </a:solidFill>
                          <a:latin typeface="Arial"/>
                        </a:rPr>
                        <a:t>IBG or client, by e-mail</a:t>
                      </a:r>
                    </a:p>
                  </a:txBody>
                  <a:tcPr marL="64008" marR="64008" marT="27432" marB="27432" anchor="ctr">
                    <a:solidFill>
                      <a:srgbClr val="FFFFFF"/>
                    </a:solidFill>
                  </a:tcPr>
                </a:tc>
                <a:tc>
                  <a:txBody>
                    <a:bodyPr wrap="square"/>
                    <a:lstStyle/>
                    <a:p>
                      <a:r>
                        <a:rPr sz="1100" b="0">
                          <a:solidFill>
                            <a:srgbClr val="4B4B4B"/>
                          </a:solidFill>
                          <a:latin typeface="Arial"/>
                        </a:rPr>
                        <a:t>ISYS full quote (package); Excel or TSU proposal (non-package)</a:t>
                      </a:r>
                    </a:p>
                  </a:txBody>
                  <a:tcPr marL="64008" marR="64008" marT="27432" marB="27432" anchor="ctr">
                    <a:solidFill>
                      <a:srgbClr val="FFFFFF"/>
                    </a:solidFill>
                  </a:tcPr>
                </a:tc>
                <a:tc>
                  <a:txBody>
                    <a:bodyPr wrap="square"/>
                    <a:lstStyle/>
                    <a:p>
                      <a:r>
                        <a:rPr sz="1100" b="0">
                          <a:solidFill>
                            <a:srgbClr val="4B4B4B"/>
                          </a:solidFill>
                          <a:latin typeface="Arial"/>
                        </a:rPr>
                        <a:t>Broker and ISYS; IT migration to QPS</a:t>
                      </a:r>
                    </a:p>
                  </a:txBody>
                  <a:tcPr marL="64008" marR="64008" marT="27432" marB="27432" anchor="ctr">
                    <a:solidFill>
                      <a:srgbClr val="FFFFFF"/>
                    </a:solidFill>
                  </a:tcPr>
                </a:tc>
                <a:tc>
                  <a:txBody>
                    <a:bodyPr wrap="square"/>
                    <a:lstStyle/>
                    <a:p>
                      <a:r>
                        <a:rPr sz="1100" b="0">
                          <a:solidFill>
                            <a:srgbClr val="4B4B4B"/>
                          </a:solidFill>
                          <a:latin typeface="Arial"/>
                        </a:rPr>
                        <a:t>Placement PDF by e-mail per insurer; SFTP or PO sends</a:t>
                      </a:r>
                    </a:p>
                  </a:txBody>
                  <a:tcPr marL="64008" marR="64008" marT="27432" marB="27432" anchor="ctr">
                    <a:solidFill>
                      <a:srgbClr val="FFFFFF"/>
                    </a:solidFill>
                  </a:tcPr>
                </a:tc>
              </a:tr>
              <a:tr h="650530">
                <a:tc>
                  <a:txBody>
                    <a:bodyPr wrap="square"/>
                    <a:lstStyle/>
                    <a:p>
                      <a:r>
                        <a:rPr sz="1100" b="1">
                          <a:solidFill>
                            <a:srgbClr val="4B4B4B"/>
                          </a:solidFill>
                          <a:latin typeface="Arial"/>
                        </a:rPr>
                        <a:t>Non-CBG Retail</a:t>
                      </a:r>
                    </a:p>
                  </a:txBody>
                  <a:tcPr marL="64008" marR="64008" marT="27432" marB="27432" anchor="ctr">
                    <a:solidFill>
                      <a:srgbClr val="E5F5FF"/>
                    </a:solidFill>
                  </a:tcPr>
                </a:tc>
                <a:tc>
                  <a:txBody>
                    <a:bodyPr wrap="square"/>
                    <a:lstStyle/>
                    <a:p>
                      <a:r>
                        <a:rPr sz="1100" b="0">
                          <a:solidFill>
                            <a:srgbClr val="4B4B4B"/>
                          </a:solidFill>
                          <a:latin typeface="Arial"/>
                        </a:rPr>
                        <a:t>BDO branch, by e-mail</a:t>
                      </a:r>
                    </a:p>
                  </a:txBody>
                  <a:tcPr marL="64008" marR="64008" marT="27432" marB="27432" anchor="ctr">
                    <a:solidFill>
                      <a:srgbClr val="E5F5FF"/>
                    </a:solidFill>
                  </a:tcPr>
                </a:tc>
                <a:tc>
                  <a:txBody>
                    <a:bodyPr wrap="square"/>
                    <a:lstStyle/>
                    <a:p>
                      <a:r>
                        <a:rPr sz="1100" b="0">
                          <a:solidFill>
                            <a:srgbClr val="4B4B4B"/>
                          </a:solidFill>
                          <a:latin typeface="Arial"/>
                        </a:rPr>
                        <a:t>Excel quick quote; ISYS for package and motor</a:t>
                      </a:r>
                    </a:p>
                  </a:txBody>
                  <a:tcPr marL="64008" marR="64008" marT="27432" marB="27432" anchor="ctr">
                    <a:solidFill>
                      <a:srgbClr val="E5F5FF"/>
                    </a:solidFill>
                  </a:tcPr>
                </a:tc>
                <a:tc>
                  <a:txBody>
                    <a:bodyPr wrap="square"/>
                    <a:lstStyle/>
                    <a:p>
                      <a:r>
                        <a:rPr sz="1100" b="0">
                          <a:solidFill>
                            <a:srgbClr val="4B4B4B"/>
                          </a:solidFill>
                          <a:latin typeface="Arial"/>
                        </a:rPr>
                        <a:t>Broker; ISYS ARF module</a:t>
                      </a:r>
                    </a:p>
                  </a:txBody>
                  <a:tcPr marL="64008" marR="64008" marT="27432" marB="27432" anchor="ctr">
                    <a:solidFill>
                      <a:srgbClr val="E5F5FF"/>
                    </a:solidFill>
                  </a:tcPr>
                </a:tc>
                <a:tc>
                  <a:txBody>
                    <a:bodyPr wrap="square"/>
                    <a:lstStyle/>
                    <a:p>
                      <a:r>
                        <a:rPr sz="1100" b="0">
                          <a:solidFill>
                            <a:srgbClr val="4B4B4B"/>
                          </a:solidFill>
                          <a:latin typeface="Arial"/>
                        </a:rPr>
                        <a:t>Slip PDF by e-mail; e-policy as above</a:t>
                      </a:r>
                    </a:p>
                  </a:txBody>
                  <a:tcPr marL="64008" marR="64008" marT="27432" marB="27432" anchor="ctr">
                    <a:solidFill>
                      <a:srgbClr val="E5F5FF"/>
                    </a:solidFill>
                  </a:tcPr>
                </a:tc>
              </a:tr>
              <a:tr h="650530">
                <a:tc>
                  <a:txBody>
                    <a:bodyPr wrap="square"/>
                    <a:lstStyle/>
                    <a:p>
                      <a:r>
                        <a:rPr sz="1100" b="1">
                          <a:solidFill>
                            <a:srgbClr val="4B4B4B"/>
                          </a:solidFill>
                          <a:latin typeface="Arial"/>
                        </a:rPr>
                        <a:t>Branches</a:t>
                      </a:r>
                    </a:p>
                  </a:txBody>
                  <a:tcPr marL="64008" marR="64008" marT="27432" marB="27432" anchor="ctr">
                    <a:solidFill>
                      <a:srgbClr val="FFFFFF"/>
                    </a:solidFill>
                  </a:tcPr>
                </a:tc>
                <a:tc>
                  <a:txBody>
                    <a:bodyPr wrap="square"/>
                    <a:lstStyle/>
                    <a:p>
                      <a:r>
                        <a:rPr sz="1100" b="0">
                          <a:solidFill>
                            <a:srgbClr val="4B4B4B"/>
                          </a:solidFill>
                          <a:latin typeface="Arial"/>
                        </a:rPr>
                        <a:t>Bank AO or client; single or bulk</a:t>
                      </a:r>
                    </a:p>
                  </a:txBody>
                  <a:tcPr marL="64008" marR="64008" marT="27432" marB="27432" anchor="ctr">
                    <a:solidFill>
                      <a:srgbClr val="FFFFFF"/>
                    </a:solidFill>
                  </a:tcPr>
                </a:tc>
                <a:tc>
                  <a:txBody>
                    <a:bodyPr wrap="square"/>
                    <a:lstStyle/>
                    <a:p>
                      <a:r>
                        <a:rPr sz="1100" b="0">
                          <a:solidFill>
                            <a:srgbClr val="4B4B4B"/>
                          </a:solidFill>
                          <a:latin typeface="Arial"/>
                        </a:rPr>
                        <a:t>Excel quick quote; ISYS for package</a:t>
                      </a:r>
                    </a:p>
                  </a:txBody>
                  <a:tcPr marL="64008" marR="64008" marT="27432" marB="27432" anchor="ctr">
                    <a:solidFill>
                      <a:srgbClr val="FFFFFF"/>
                    </a:solidFill>
                  </a:tcPr>
                </a:tc>
                <a:tc>
                  <a:txBody>
                    <a:bodyPr wrap="square"/>
                    <a:lstStyle/>
                    <a:p>
                      <a:r>
                        <a:rPr sz="1100" b="0">
                          <a:solidFill>
                            <a:srgbClr val="4B4B4B"/>
                          </a:solidFill>
                          <a:latin typeface="Arial"/>
                        </a:rPr>
                        <a:t>Broker; ISYS</a:t>
                      </a:r>
                    </a:p>
                  </a:txBody>
                  <a:tcPr marL="64008" marR="64008" marT="27432" marB="27432" anchor="ctr">
                    <a:solidFill>
                      <a:srgbClr val="FFFFFF"/>
                    </a:solidFill>
                  </a:tcPr>
                </a:tc>
                <a:tc>
                  <a:txBody>
                    <a:bodyPr wrap="square"/>
                    <a:lstStyle/>
                    <a:p>
                      <a:r>
                        <a:rPr sz="1100" b="0">
                          <a:solidFill>
                            <a:srgbClr val="4B4B4B"/>
                          </a:solidFill>
                          <a:latin typeface="Arial"/>
                        </a:rPr>
                        <a:t>Slip PDF by e-mail; e-policy as above</a:t>
                      </a:r>
                    </a:p>
                  </a:txBody>
                  <a:tcPr marL="64008" marR="64008" marT="27432" marB="27432" anchor="ctr">
                    <a:solidFill>
                      <a:srgbClr val="FFFFFF"/>
                    </a:solidFill>
                  </a:tcPr>
                </a:tc>
              </a:tr>
              <a:tr h="650530">
                <a:tc>
                  <a:txBody>
                    <a:bodyPr wrap="square"/>
                    <a:lstStyle/>
                    <a:p>
                      <a:r>
                        <a:rPr sz="1100" b="1">
                          <a:solidFill>
                            <a:srgbClr val="4B4B4B"/>
                          </a:solidFill>
                          <a:latin typeface="Arial"/>
                        </a:rPr>
                        <a:t>Bank-referred, free first year</a:t>
                      </a:r>
                    </a:p>
                  </a:txBody>
                  <a:tcPr marL="64008" marR="64008" marT="27432" marB="27432" anchor="ctr">
                    <a:solidFill>
                      <a:srgbClr val="E5F5FF"/>
                    </a:solidFill>
                  </a:tcPr>
                </a:tc>
                <a:tc>
                  <a:txBody>
                    <a:bodyPr wrap="square"/>
                    <a:lstStyle/>
                    <a:p>
                      <a:r>
                        <a:rPr sz="1100" b="0">
                          <a:solidFill>
                            <a:srgbClr val="4B4B4B"/>
                          </a:solidFill>
                          <a:latin typeface="Arial"/>
                        </a:rPr>
                        <a:t>Bank gives details and premium</a:t>
                      </a:r>
                    </a:p>
                  </a:txBody>
                  <a:tcPr marL="64008" marR="64008" marT="27432" marB="27432" anchor="ctr">
                    <a:solidFill>
                      <a:srgbClr val="E5F5FF"/>
                    </a:solidFill>
                  </a:tcPr>
                </a:tc>
                <a:tc>
                  <a:txBody>
                    <a:bodyPr wrap="square"/>
                    <a:lstStyle/>
                    <a:p>
                      <a:r>
                        <a:rPr sz="1100" b="0">
                          <a:solidFill>
                            <a:srgbClr val="4B4B4B"/>
                          </a:solidFill>
                          <a:latin typeface="Arial"/>
                        </a:rPr>
                        <a:t>None; premium from the bank</a:t>
                      </a:r>
                    </a:p>
                  </a:txBody>
                  <a:tcPr marL="64008" marR="64008" marT="27432" marB="27432" anchor="ctr">
                    <a:solidFill>
                      <a:srgbClr val="E5F5FF"/>
                    </a:solidFill>
                  </a:tcPr>
                </a:tc>
                <a:tc>
                  <a:txBody>
                    <a:bodyPr wrap="square"/>
                    <a:lstStyle/>
                    <a:p>
                      <a:r>
                        <a:rPr sz="1100" b="0">
                          <a:solidFill>
                            <a:srgbClr val="4B4B4B"/>
                          </a:solidFill>
                          <a:latin typeface="Arial"/>
                        </a:rPr>
                        <a:t>Client code in Broker for renewal</a:t>
                      </a:r>
                    </a:p>
                  </a:txBody>
                  <a:tcPr marL="64008" marR="64008" marT="27432" marB="27432" anchor="ctr">
                    <a:solidFill>
                      <a:srgbClr val="E5F5FF"/>
                    </a:solidFill>
                  </a:tcPr>
                </a:tc>
                <a:tc>
                  <a:txBody>
                    <a:bodyPr wrap="square"/>
                    <a:lstStyle/>
                    <a:p>
                      <a:r>
                        <a:rPr sz="1100" b="0">
                          <a:solidFill>
                            <a:srgbClr val="4B4B4B"/>
                          </a:solidFill>
                          <a:latin typeface="Arial"/>
                        </a:rPr>
                        <a:t>Stops at the COC from PGA; handled at renewal</a:t>
                      </a:r>
                    </a:p>
                  </a:txBody>
                  <a:tcPr marL="64008" marR="64008" marT="27432" marB="27432" anchor="ctr">
                    <a:solidFill>
                      <a:srgbClr val="E5F5FF"/>
                    </a:solidFill>
                  </a:tcPr>
                </a:tc>
              </a:tr>
              <a:tr h="650530">
                <a:tc>
                  <a:txBody>
                    <a:bodyPr wrap="square"/>
                    <a:lstStyle/>
                    <a:p>
                      <a:r>
                        <a:rPr sz="1100" b="1">
                          <a:solidFill>
                            <a:srgbClr val="4B4B4B"/>
                          </a:solidFill>
                          <a:latin typeface="Arial"/>
                        </a:rPr>
                        <a:t>TSU accounts, EB, SM Construction, Combank</a:t>
                      </a:r>
                    </a:p>
                  </a:txBody>
                  <a:tcPr marL="64008" marR="64008" marT="27432" marB="27432" anchor="ctr">
                    <a:solidFill>
                      <a:srgbClr val="FFFFFF"/>
                    </a:solidFill>
                  </a:tcPr>
                </a:tc>
                <a:tc>
                  <a:txBody>
                    <a:bodyPr wrap="square"/>
                    <a:lstStyle/>
                    <a:p>
                      <a:r>
                        <a:rPr sz="1100" b="0">
                          <a:solidFill>
                            <a:srgbClr val="4B4B4B"/>
                          </a:solidFill>
                          <a:latin typeface="Arial"/>
                        </a:rPr>
                        <a:t>Via TSU, EB or Marketing Account Support</a:t>
                      </a:r>
                    </a:p>
                  </a:txBody>
                  <a:tcPr marL="64008" marR="64008" marT="27432" marB="27432" anchor="ctr">
                    <a:solidFill>
                      <a:srgbClr val="FFFFFF"/>
                    </a:solidFill>
                  </a:tcPr>
                </a:tc>
                <a:tc>
                  <a:txBody>
                    <a:bodyPr wrap="square"/>
                    <a:lstStyle/>
                    <a:p>
                      <a:r>
                        <a:rPr sz="1100" b="0">
                          <a:solidFill>
                            <a:srgbClr val="4B4B4B"/>
                          </a:solidFill>
                          <a:latin typeface="Arial"/>
                        </a:rPr>
                        <a:t>TSU proposal or insurer terms</a:t>
                      </a:r>
                    </a:p>
                  </a:txBody>
                  <a:tcPr marL="64008" marR="64008" marT="27432" marB="27432" anchor="ctr">
                    <a:solidFill>
                      <a:srgbClr val="FFFFFF"/>
                    </a:solidFill>
                  </a:tcPr>
                </a:tc>
                <a:tc>
                  <a:txBody>
                    <a:bodyPr wrap="square"/>
                    <a:lstStyle/>
                    <a:p>
                      <a:r>
                        <a:rPr sz="1100" b="0">
                          <a:solidFill>
                            <a:srgbClr val="4B4B4B"/>
                          </a:solidFill>
                          <a:latin typeface="Arial"/>
                        </a:rPr>
                        <a:t>Encoded in EBIX directly</a:t>
                      </a:r>
                    </a:p>
                  </a:txBody>
                  <a:tcPr marL="64008" marR="64008" marT="27432" marB="27432" anchor="ctr">
                    <a:solidFill>
                      <a:srgbClr val="FFFFFF"/>
                    </a:solidFill>
                  </a:tcPr>
                </a:tc>
                <a:tc>
                  <a:txBody>
                    <a:bodyPr wrap="square"/>
                    <a:lstStyle/>
                    <a:p>
                      <a:r>
                        <a:rPr sz="1100" b="0">
                          <a:solidFill>
                            <a:srgbClr val="4B4B4B"/>
                          </a:solidFill>
                          <a:latin typeface="Arial"/>
                        </a:rPr>
                        <a:t>PO places; insurer SOA before booking and invoicing</a:t>
                      </a:r>
                    </a:p>
                  </a:txBody>
                  <a:tcPr marL="64008" marR="64008" marT="27432" marB="27432"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and bank lists by hand</a:t>
            </a:r>
          </a:p>
          <a:p>
            <a:pPr>
              <a:spcAft>
                <a:spcPts val="100"/>
              </a:spcAft>
            </a:pPr>
            <a:r>
              <a:rPr sz="1200" b="0">
                <a:solidFill>
                  <a:srgbClr val="4B4B4B"/>
                </a:solidFill>
                <a:latin typeface="Arial"/>
              </a:rPr>
              <a:t>Requests arrive by e-mail; HLS, CLAS and CTS reports are sanitised by hand.</a:t>
            </a:r>
          </a:p>
          <a:p>
            <a:pPr>
              <a:spcAft>
                <a:spcPts val="100"/>
              </a:spcAft>
            </a:pPr>
            <a:r>
              <a:rPr sz="1200" b="0">
                <a:solidFill>
                  <a:srgbClr val="0072D8"/>
                </a:solidFill>
                <a:latin typeface="Arial"/>
              </a:rPr>
              <a:t>NB flow; BRD-1 p.133</a:t>
            </a:r>
          </a:p>
        </p:txBody>
      </p:sp>
      <p:sp>
        <p:nvSpPr>
          <p:cNvPr id="11" name="Oval 10"/>
          <p:cNvSpPr/>
          <p:nvPr/>
        </p:nvSpPr>
        <p:spPr>
          <a:xfrm>
            <a:off x="548640"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Quotations in Excel templates</a:t>
            </a:r>
          </a:p>
          <a:p>
            <a:pPr>
              <a:spcAft>
                <a:spcPts val="100"/>
              </a:spcAft>
            </a:pPr>
            <a:r>
              <a:rPr sz="1200" b="0">
                <a:solidFill>
                  <a:srgbClr val="4B4B4B"/>
                </a:solidFill>
                <a:latin typeface="Arial"/>
              </a:rPr>
              <a:t>IDF templates filled, converted to PDF, shared by drive link.</a:t>
            </a:r>
          </a:p>
          <a:p>
            <a:pPr>
              <a:spcAft>
                <a:spcPts val="100"/>
              </a:spcAft>
            </a:pPr>
            <a:r>
              <a:rPr sz="1200" b="0">
                <a:solidFill>
                  <a:srgbClr val="0072D8"/>
                </a:solidFill>
                <a:latin typeface="Arial"/>
              </a:rPr>
              <a:t>NB flow; BRD-1 p.133</a:t>
            </a:r>
          </a:p>
        </p:txBody>
      </p:sp>
      <p:sp>
        <p:nvSpPr>
          <p:cNvPr id="13" name="Oval 12"/>
          <p:cNvSpPr/>
          <p:nvPr/>
        </p:nvSpPr>
        <p:spPr>
          <a:xfrm>
            <a:off x="548640"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validity or SLA control</a:t>
            </a:r>
          </a:p>
          <a:p>
            <a:pPr>
              <a:spcAft>
                <a:spcPts val="100"/>
              </a:spcAft>
            </a:pPr>
            <a:r>
              <a:rPr sz="1200" b="0">
                <a:solidFill>
                  <a:srgbClr val="4B4B4B"/>
                </a:solidFill>
                <a:latin typeface="Arial"/>
              </a:rPr>
              <a:t>30-day validity and 7 / 3-day SLA are tracked by memory.</a:t>
            </a:r>
          </a:p>
          <a:p>
            <a:pPr>
              <a:spcAft>
                <a:spcPts val="100"/>
              </a:spcAft>
            </a:pPr>
            <a:r>
              <a:rPr sz="1200" b="0">
                <a:solidFill>
                  <a:srgbClr val="0072D8"/>
                </a:solidFill>
                <a:latin typeface="Arial"/>
              </a:rPr>
              <a:t>NB-03, NB-07</a:t>
            </a:r>
          </a:p>
        </p:txBody>
      </p:sp>
      <p:sp>
        <p:nvSpPr>
          <p:cNvPr id="15" name="Oval 14"/>
          <p:cNvSpPr/>
          <p:nvPr/>
        </p:nvSpPr>
        <p:spPr>
          <a:xfrm>
            <a:off x="548640"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KYC outside the system</a:t>
            </a:r>
          </a:p>
          <a:p>
            <a:pPr>
              <a:spcAft>
                <a:spcPts val="100"/>
              </a:spcAft>
            </a:pPr>
            <a:r>
              <a:rPr sz="1200" b="0">
                <a:solidFill>
                  <a:srgbClr val="4B4B4B"/>
                </a:solidFill>
                <a:latin typeface="Arial"/>
              </a:rPr>
              <a:t>Insurance declaration form and KYC done on paper before the AMLA check.</a:t>
            </a:r>
          </a:p>
          <a:p>
            <a:pPr>
              <a:spcAft>
                <a:spcPts val="100"/>
              </a:spcAft>
            </a:pPr>
            <a:r>
              <a:rPr sz="1200" b="0">
                <a:solidFill>
                  <a:srgbClr val="0072D8"/>
                </a:solidFill>
                <a:latin typeface="Arial"/>
              </a:rPr>
              <a:t>NB-04; Workshop addendum p.3-5</a:t>
            </a:r>
          </a:p>
        </p:txBody>
      </p:sp>
      <p:sp>
        <p:nvSpPr>
          <p:cNvPr id="17" name="Oval 16"/>
          <p:cNvSpPr/>
          <p:nvPr/>
        </p:nvSpPr>
        <p:spPr>
          <a:xfrm>
            <a:off x="548640"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One deal keyed in three systems</a:t>
            </a:r>
          </a:p>
          <a:p>
            <a:pPr>
              <a:spcAft>
                <a:spcPts val="100"/>
              </a:spcAft>
            </a:pPr>
            <a:r>
              <a:rPr sz="1200" b="0">
                <a:solidFill>
                  <a:srgbClr val="4B4B4B"/>
                </a:solidFill>
                <a:latin typeface="Arial"/>
              </a:rPr>
              <a:t>Broker, then ISYS, then an IT migration to QPS with a fall-out loop.</a:t>
            </a:r>
          </a:p>
          <a:p>
            <a:pPr>
              <a:spcAft>
                <a:spcPts val="100"/>
              </a:spcAft>
            </a:pPr>
            <a:r>
              <a:rPr sz="1200" b="0">
                <a:solidFill>
                  <a:srgbClr val="0072D8"/>
                </a:solidFill>
                <a:latin typeface="Arial"/>
              </a:rPr>
              <a:t>NB-09; NB flow; OV-02</a:t>
            </a:r>
          </a:p>
        </p:txBody>
      </p:sp>
      <p:sp>
        <p:nvSpPr>
          <p:cNvPr id="19" name="Oval 18"/>
          <p:cNvSpPr/>
          <p:nvPr/>
        </p:nvSpPr>
        <p:spPr>
          <a:xfrm>
            <a:off x="548640"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1024128"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Placement per insurer by e-mail</a:t>
            </a:r>
          </a:p>
          <a:p>
            <a:pPr>
              <a:spcAft>
                <a:spcPts val="100"/>
              </a:spcAft>
            </a:pPr>
            <a:r>
              <a:rPr sz="1200" b="0">
                <a:solidFill>
                  <a:srgbClr val="4B4B4B"/>
                </a:solidFill>
                <a:latin typeface="Arial"/>
              </a:rPr>
              <a:t>Slips by SFTP only for enrolled insurers; the rest by e-mail.</a:t>
            </a:r>
          </a:p>
          <a:p>
            <a:pPr>
              <a:spcAft>
                <a:spcPts val="100"/>
              </a:spcAft>
            </a:pPr>
            <a:r>
              <a:rPr sz="1200" b="0">
                <a:solidFill>
                  <a:srgbClr val="0072D8"/>
                </a:solidFill>
                <a:latin typeface="Arial"/>
              </a:rPr>
              <a:t>NB flow; OV-01</a:t>
            </a:r>
          </a:p>
        </p:txBody>
      </p:sp>
      <p:sp>
        <p:nvSpPr>
          <p:cNvPr id="21" name="Oval 20"/>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Returns and hold covers by e-mail</a:t>
            </a:r>
          </a:p>
          <a:p>
            <a:pPr>
              <a:spcAft>
                <a:spcPts val="100"/>
              </a:spcAft>
            </a:pPr>
            <a:r>
              <a:rPr sz="1200" b="0">
                <a:solidFill>
                  <a:srgbClr val="4B4B4B"/>
                </a:solidFill>
                <a:latin typeface="Arial"/>
              </a:rPr>
              <a:t>Revisions, hold covers and PDFs travel by e-mail and shared drive.</a:t>
            </a:r>
          </a:p>
          <a:p>
            <a:pPr>
              <a:spcAft>
                <a:spcPts val="100"/>
              </a:spcAft>
            </a:pPr>
            <a:r>
              <a:rPr sz="1200" b="0">
                <a:solidFill>
                  <a:srgbClr val="0072D8"/>
                </a:solidFill>
                <a:latin typeface="Arial"/>
              </a:rPr>
              <a:t>NB flow; BRD-1 p.133</a:t>
            </a:r>
          </a:p>
        </p:txBody>
      </p:sp>
      <p:sp>
        <p:nvSpPr>
          <p:cNvPr id="23" name="Oval 22"/>
          <p:cNvSpPr/>
          <p:nvPr/>
        </p:nvSpPr>
        <p:spPr>
          <a:xfrm>
            <a:off x="6233007"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E-policy fall-outs</a:t>
            </a:r>
          </a:p>
          <a:p>
            <a:pPr>
              <a:spcAft>
                <a:spcPts val="100"/>
              </a:spcAft>
            </a:pPr>
            <a:r>
              <a:rPr sz="1200" b="0">
                <a:solidFill>
                  <a:srgbClr val="4B4B4B"/>
                </a:solidFill>
                <a:latin typeface="Arial"/>
              </a:rPr>
              <a:t>Text files, an IT exception report and a batch update of policy numbers.</a:t>
            </a:r>
          </a:p>
          <a:p>
            <a:pPr>
              <a:spcAft>
                <a:spcPts val="100"/>
              </a:spcAft>
            </a:pPr>
            <a:r>
              <a:rPr sz="1200" b="0">
                <a:solidFill>
                  <a:srgbClr val="0072D8"/>
                </a:solidFill>
                <a:latin typeface="Arial"/>
              </a:rPr>
              <a:t>NB flow</a:t>
            </a:r>
          </a:p>
        </p:txBody>
      </p:sp>
      <p:sp>
        <p:nvSpPr>
          <p:cNvPr id="25" name="Oval 24"/>
          <p:cNvSpPr/>
          <p:nvPr/>
        </p:nvSpPr>
        <p:spPr>
          <a:xfrm>
            <a:off x="6233007"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Three senders of the e-policy</a:t>
            </a:r>
          </a:p>
          <a:p>
            <a:pPr>
              <a:spcAft>
                <a:spcPts val="100"/>
              </a:spcAft>
            </a:pPr>
            <a:r>
              <a:rPr sz="1200" b="0">
                <a:solidFill>
                  <a:srgbClr val="4B4B4B"/>
                </a:solidFill>
                <a:latin typeface="Arial"/>
              </a:rPr>
              <a:t>COG-OPRM, the Processing Officer or the contact centre after a fall-out.</a:t>
            </a:r>
          </a:p>
          <a:p>
            <a:pPr>
              <a:spcAft>
                <a:spcPts val="100"/>
              </a:spcAft>
            </a:pPr>
            <a:r>
              <a:rPr sz="1200" b="0">
                <a:solidFill>
                  <a:srgbClr val="0072D8"/>
                </a:solidFill>
                <a:latin typeface="Arial"/>
              </a:rPr>
              <a:t>NB flow</a:t>
            </a:r>
          </a:p>
        </p:txBody>
      </p:sp>
      <p:sp>
        <p:nvSpPr>
          <p:cNvPr id="27" name="Oval 26"/>
          <p:cNvSpPr/>
          <p:nvPr/>
        </p:nvSpPr>
        <p:spPr>
          <a:xfrm>
            <a:off x="6233007"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10</a:t>
            </a:r>
          </a:p>
        </p:txBody>
      </p:sp>
      <p:sp>
        <p:nvSpPr>
          <p:cNvPr id="28" name="TextBox 27"/>
          <p:cNvSpPr txBox="1"/>
          <p:nvPr/>
        </p:nvSpPr>
        <p:spPr>
          <a:xfrm>
            <a:off x="6708495"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Booking depends on access</a:t>
            </a:r>
          </a:p>
          <a:p>
            <a:pPr>
              <a:spcAft>
                <a:spcPts val="100"/>
              </a:spcAft>
            </a:pPr>
            <a:r>
              <a:rPr sz="1200" b="0">
                <a:solidFill>
                  <a:srgbClr val="4B4B4B"/>
                </a:solidFill>
                <a:latin typeface="Arial"/>
              </a:rPr>
              <a:t>Placement and booking done in ISYS or EBIX by whoever has access.</a:t>
            </a:r>
          </a:p>
          <a:p>
            <a:pPr>
              <a:spcAft>
                <a:spcPts val="100"/>
              </a:spcAft>
            </a:pPr>
            <a:r>
              <a:rPr sz="1200" b="0">
                <a:solidFill>
                  <a:srgbClr val="0072D8"/>
                </a:solidFill>
                <a:latin typeface="Arial"/>
              </a:rPr>
              <a:t>NB flow; BRD-1 p.133-134</a:t>
            </a:r>
          </a:p>
        </p:txBody>
      </p:sp>
      <p:sp>
        <p:nvSpPr>
          <p:cNvPr id="29" name="Oval 28"/>
          <p:cNvSpPr/>
          <p:nvPr/>
        </p:nvSpPr>
        <p:spPr>
          <a:xfrm>
            <a:off x="6233007"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11</a:t>
            </a:r>
          </a:p>
        </p:txBody>
      </p:sp>
      <p:sp>
        <p:nvSpPr>
          <p:cNvPr id="30" name="TextBox 29"/>
          <p:cNvSpPr txBox="1"/>
          <p:nvPr/>
        </p:nvSpPr>
        <p:spPr>
          <a:xfrm>
            <a:off x="6708495"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CBG Fire billing by hand</a:t>
            </a:r>
          </a:p>
          <a:p>
            <a:pPr>
              <a:spcAft>
                <a:spcPts val="100"/>
              </a:spcAft>
            </a:pPr>
            <a:r>
              <a:rPr sz="1200" b="0">
                <a:solidFill>
                  <a:srgbClr val="4B4B4B"/>
                </a:solidFill>
                <a:latin typeface="Arial"/>
              </a:rPr>
              <a:t>CLPC billing file prepared and paid list checked manually.</a:t>
            </a:r>
          </a:p>
          <a:p>
            <a:pPr>
              <a:spcAft>
                <a:spcPts val="100"/>
              </a:spcAft>
            </a:pPr>
            <a:r>
              <a:rPr sz="1200" b="0">
                <a:solidFill>
                  <a:srgbClr val="0072D8"/>
                </a:solidFill>
                <a:latin typeface="Arial"/>
              </a:rPr>
              <a:t>NB flow; BRD-1 p.133</a:t>
            </a:r>
          </a:p>
        </p:txBody>
      </p:sp>
      <p:sp>
        <p:nvSpPr>
          <p:cNvPr id="31" name="Oval 30"/>
          <p:cNvSpPr/>
          <p:nvPr/>
        </p:nvSpPr>
        <p:spPr>
          <a:xfrm>
            <a:off x="6233007"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12</a:t>
            </a:r>
          </a:p>
        </p:txBody>
      </p:sp>
      <p:sp>
        <p:nvSpPr>
          <p:cNvPr id="32" name="TextBox 31"/>
          <p:cNvSpPr txBox="1"/>
          <p:nvPr/>
        </p:nvSpPr>
        <p:spPr>
          <a:xfrm>
            <a:off x="6708495"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Pipeline and status in Excel</a:t>
            </a:r>
          </a:p>
          <a:p>
            <a:pPr>
              <a:spcAft>
                <a:spcPts val="100"/>
              </a:spcAft>
            </a:pPr>
            <a:r>
              <a:rPr sz="1200" b="0">
                <a:solidFill>
                  <a:srgbClr val="4B4B4B"/>
                </a:solidFill>
                <a:latin typeface="Arial"/>
              </a:rPr>
              <a:t>NB masterlist and status reports compiled by hand.</a:t>
            </a:r>
          </a:p>
          <a:p>
            <a:pPr>
              <a:spcAft>
                <a:spcPts val="100"/>
              </a:spcAft>
            </a:pPr>
            <a:r>
              <a:rPr sz="1200" b="0">
                <a:solidFill>
                  <a:srgbClr val="0072D8"/>
                </a:solidFill>
                <a:latin typeface="Arial"/>
              </a:rPr>
              <a:t>NB-11; BRD-1 p.133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pic>
        <p:nvPicPr>
          <p:cNvPr id="9" name="Picture 8" descr="brd01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Request to booking in BIBS: workflows NB_CLIENT, NB_QUOTATION, NB_PROPOSAL, NB_ACCOUNT (FRS BRD-1 section 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how the BRD answers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and bank lists by hand</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Request inbox; HLS extract and bulk files uploaded with a template and row checks</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Up to 5,000 rows a file</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Quotations in Excel templates</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Quotation rated with the Appendix A formulas, versioned, approved and sent protected</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Excel quotes</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validity or SLA control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SLA timers and breach alerts (BRNB.012, 022); quote validity not specified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Partly: see gaps</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KYC outside the system</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Prospect, KYC documents, verification by a second user, screening, then confirmed client</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Four-eyes KYC</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deal keyed in three systems</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client master and one account (ARN) used by every module; no migration between systems</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Keyed once</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Placement per insurer by e-mail</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Placement slip generated and sent per insurer with a send log; channel per insurer configurable</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Send log per slip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how the BRD answers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Returns and hold covers by e-mail</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Returns and hold cover requests handled in the placement workflow; documents stored</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drive links</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E-policy fall-outs</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E-policy received, matched and policy number set automatically (BRNB.073-074)</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Fall-out queue open</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Three senders of the e-policy</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E-policy Sender role sends protected e-policies with a log</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sender</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10</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Booking depends on access</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Booking posts invoice, GL entry and service invoice in one transaction; roles by persona</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step</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11</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CBG Fire billing by hand</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CLPC billing file produced and payment report matched in the system</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Matching automated</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12</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Pipeline and status in Excel</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Dashboards and status reports read the workflow history</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Live pipeline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gaps in the BRD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graphicFrame>
        <p:nvGraphicFramePr>
          <p:cNvPr id="9" name="Table 8"/>
          <p:cNvGraphicFramePr>
            <a:graphicFrameLocks noGrp="1"/>
          </p:cNvGraphicFramePr>
          <p:nvPr/>
        </p:nvGraphicFramePr>
        <p:xfrm>
          <a:off x="548640" y="1280160"/>
          <a:ext cx="11094412" cy="4919470"/>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65053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Quote validity</a:t>
                      </a:r>
                    </a:p>
                  </a:txBody>
                  <a:tcPr marL="64008" marR="64008" marT="27432" marB="27432" anchor="ctr">
                    <a:solidFill>
                      <a:srgbClr val="FFFFFF"/>
                    </a:solidFill>
                  </a:tcPr>
                </a:tc>
                <a:tc>
                  <a:txBody>
                    <a:bodyPr wrap="square"/>
                    <a:lstStyle/>
                    <a:p>
                      <a:r>
                        <a:rPr sz="1100" b="0">
                          <a:solidFill>
                            <a:srgbClr val="4B4B4B"/>
                          </a:solidFill>
                          <a:latin typeface="Arial"/>
                        </a:rPr>
                        <a:t>30 days for every product (NB-03).</a:t>
                      </a:r>
                    </a:p>
                  </a:txBody>
                  <a:tcPr marL="64008" marR="64008" marT="27432" marB="27432" anchor="ctr">
                    <a:solidFill>
                      <a:srgbClr val="FFFFFF"/>
                    </a:solidFill>
                  </a:tcPr>
                </a:tc>
                <a:tc>
                  <a:txBody>
                    <a:bodyPr wrap="square"/>
                    <a:lstStyle/>
                    <a:p>
                      <a:r>
                        <a:rPr sz="1100" b="0">
                          <a:solidFill>
                            <a:srgbClr val="4B4B4B"/>
                          </a:solidFill>
                          <a:latin typeface="Arial"/>
                        </a:rPr>
                        <a:t>No validity or expiry on the quotation (BRNB.043).</a:t>
                      </a:r>
                    </a:p>
                  </a:txBody>
                  <a:tcPr marL="64008" marR="64008" marT="27432" marB="27432" anchor="ctr">
                    <a:solidFill>
                      <a:srgbClr val="FFFFFF"/>
                    </a:solidFill>
                  </a:tcPr>
                </a:tc>
                <a:tc>
                  <a:txBody>
                    <a:bodyPr wrap="square"/>
                    <a:lstStyle/>
                    <a:p>
                      <a:r>
                        <a:rPr sz="1100" b="0">
                          <a:solidFill>
                            <a:srgbClr val="4B4B4B"/>
                          </a:solidFill>
                          <a:latin typeface="Arial"/>
                        </a:rPr>
                        <a:t>Validity parameter per product, auto-expiry and re-quote.</a:t>
                      </a:r>
                    </a:p>
                  </a:txBody>
                  <a:tcPr marL="64008" marR="64008" marT="27432" marB="27432" anchor="ctr">
                    <a:solidFill>
                      <a:srgbClr val="FFFFFF"/>
                    </a:solidFill>
                  </a:tcPr>
                </a:tc>
                <a:tc>
                  <a:txBody>
                    <a:bodyPr wrap="square"/>
                    <a:lstStyle/>
                    <a:p>
                      <a:r>
                        <a:rPr sz="1100" b="0">
                          <a:solidFill>
                            <a:srgbClr val="4B4B4B"/>
                          </a:solidFill>
                          <a:latin typeface="Arial"/>
                        </a:rPr>
                        <a:t>NB-03</a:t>
                      </a:r>
                    </a:p>
                  </a:txBody>
                  <a:tcPr marL="64008" marR="64008" marT="27432" marB="27432" anchor="ctr">
                    <a:solidFill>
                      <a:srgbClr val="FFFFFF"/>
                    </a:solidFill>
                  </a:tcPr>
                </a:tc>
              </a:tr>
              <a:tr h="65053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Risk survey</a:t>
                      </a:r>
                    </a:p>
                  </a:txBody>
                  <a:tcPr marL="64008" marR="64008" marT="27432" marB="27432" anchor="ctr">
                    <a:solidFill>
                      <a:srgbClr val="E5F5FF"/>
                    </a:solidFill>
                  </a:tcPr>
                </a:tc>
                <a:tc>
                  <a:txBody>
                    <a:bodyPr wrap="square"/>
                    <a:lstStyle/>
                    <a:p>
                      <a:r>
                        <a:rPr sz="1100" b="0">
                          <a:solidFill>
                            <a:srgbClr val="4B4B4B"/>
                          </a:solidFill>
                          <a:latin typeface="Arial"/>
                        </a:rPr>
                        <a:t>Required above 500M (NB-05).</a:t>
                      </a:r>
                    </a:p>
                  </a:txBody>
                  <a:tcPr marL="64008" marR="64008" marT="27432" marB="27432" anchor="ctr">
                    <a:solidFill>
                      <a:srgbClr val="E5F5FF"/>
                    </a:solidFill>
                  </a:tcPr>
                </a:tc>
                <a:tc>
                  <a:txBody>
                    <a:bodyPr wrap="square"/>
                    <a:lstStyle/>
                    <a:p>
                      <a:r>
                        <a:rPr sz="1100" b="0">
                          <a:solidFill>
                            <a:srgbClr val="4B4B4B"/>
                          </a:solidFill>
                          <a:latin typeface="Arial"/>
                        </a:rPr>
                        <a:t>No survey step; the TSI threshold only routes to TSU.</a:t>
                      </a:r>
                    </a:p>
                  </a:txBody>
                  <a:tcPr marL="64008" marR="64008" marT="27432" marB="27432" anchor="ctr">
                    <a:solidFill>
                      <a:srgbClr val="E5F5FF"/>
                    </a:solidFill>
                  </a:tcPr>
                </a:tc>
                <a:tc>
                  <a:txBody>
                    <a:bodyPr wrap="square"/>
                    <a:lstStyle/>
                    <a:p>
                      <a:r>
                        <a:rPr sz="1100" b="0">
                          <a:solidFill>
                            <a:srgbClr val="4B4B4B"/>
                          </a:solidFill>
                          <a:latin typeface="Arial"/>
                        </a:rPr>
                        <a:t>Survey trigger by sum insured, survey document type, status on the account.</a:t>
                      </a:r>
                    </a:p>
                  </a:txBody>
                  <a:tcPr marL="64008" marR="64008" marT="27432" marB="27432" anchor="ctr">
                    <a:solidFill>
                      <a:srgbClr val="E5F5FF"/>
                    </a:solidFill>
                  </a:tcPr>
                </a:tc>
                <a:tc>
                  <a:txBody>
                    <a:bodyPr wrap="square"/>
                    <a:lstStyle/>
                    <a:p>
                      <a:r>
                        <a:rPr sz="1100" b="0">
                          <a:solidFill>
                            <a:srgbClr val="4B4B4B"/>
                          </a:solidFill>
                          <a:latin typeface="Arial"/>
                        </a:rPr>
                        <a:t>NB-05</a:t>
                      </a:r>
                    </a:p>
                  </a:txBody>
                  <a:tcPr marL="64008" marR="64008" marT="27432" marB="27432" anchor="ctr">
                    <a:solidFill>
                      <a:srgbClr val="E5F5FF"/>
                    </a:solidFill>
                  </a:tcPr>
                </a:tc>
              </a:tr>
              <a:tr h="65053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SLA values</a:t>
                      </a:r>
                    </a:p>
                  </a:txBody>
                  <a:tcPr marL="64008" marR="64008" marT="27432" marB="27432" anchor="ctr">
                    <a:solidFill>
                      <a:srgbClr val="FFFFFF"/>
                    </a:solidFill>
                  </a:tcPr>
                </a:tc>
                <a:tc>
                  <a:txBody>
                    <a:bodyPr wrap="square"/>
                    <a:lstStyle/>
                    <a:p>
                      <a:r>
                        <a:rPr sz="1100" b="0">
                          <a:solidFill>
                            <a:srgbClr val="4B4B4B"/>
                          </a:solidFill>
                          <a:latin typeface="Arial"/>
                        </a:rPr>
                        <a:t>Complex 7 days, normal 3 days (NB-07).</a:t>
                      </a:r>
                    </a:p>
                  </a:txBody>
                  <a:tcPr marL="64008" marR="64008" marT="27432" marB="27432" anchor="ctr">
                    <a:solidFill>
                      <a:srgbClr val="FFFFFF"/>
                    </a:solidFill>
                  </a:tcPr>
                </a:tc>
                <a:tc>
                  <a:txBody>
                    <a:bodyPr wrap="square"/>
                    <a:lstStyle/>
                    <a:p>
                      <a:r>
                        <a:rPr sz="1100" b="0">
                          <a:solidFill>
                            <a:srgbClr val="4B4B4B"/>
                          </a:solidFill>
                          <a:latin typeface="Arial"/>
                        </a:rPr>
                        <a:t>SLA timers without values or complexity class.</a:t>
                      </a:r>
                    </a:p>
                  </a:txBody>
                  <a:tcPr marL="64008" marR="64008" marT="27432" marB="27432" anchor="ctr">
                    <a:solidFill>
                      <a:srgbClr val="FFFFFF"/>
                    </a:solidFill>
                  </a:tcPr>
                </a:tc>
                <a:tc>
                  <a:txBody>
                    <a:bodyPr wrap="square"/>
                    <a:lstStyle/>
                    <a:p>
                      <a:r>
                        <a:rPr sz="1100" b="0">
                          <a:solidFill>
                            <a:srgbClr val="4B4B4B"/>
                          </a:solidFill>
                          <a:latin typeface="Arial"/>
                        </a:rPr>
                        <a:t>Configure the values and a complex / normal flag.</a:t>
                      </a:r>
                    </a:p>
                  </a:txBody>
                  <a:tcPr marL="64008" marR="64008" marT="27432" marB="27432" anchor="ctr">
                    <a:solidFill>
                      <a:srgbClr val="FFFFFF"/>
                    </a:solidFill>
                  </a:tcPr>
                </a:tc>
                <a:tc>
                  <a:txBody>
                    <a:bodyPr wrap="square"/>
                    <a:lstStyle/>
                    <a:p>
                      <a:r>
                        <a:rPr sz="1100" b="0">
                          <a:solidFill>
                            <a:srgbClr val="4B4B4B"/>
                          </a:solidFill>
                          <a:latin typeface="Arial"/>
                        </a:rPr>
                        <a:t>NB-07; PQ08</a:t>
                      </a:r>
                    </a:p>
                  </a:txBody>
                  <a:tcPr marL="64008" marR="64008" marT="27432" marB="27432" anchor="ctr">
                    <a:solidFill>
                      <a:srgbClr val="FFFFFF"/>
                    </a:solidFill>
                  </a:tcPr>
                </a:tc>
              </a:tr>
              <a:tr h="65053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Routing per product</a:t>
                      </a:r>
                    </a:p>
                  </a:txBody>
                  <a:tcPr marL="64008" marR="64008" marT="27432" marB="27432" anchor="ctr">
                    <a:solidFill>
                      <a:srgbClr val="E5F5FF"/>
                    </a:solidFill>
                  </a:tcPr>
                </a:tc>
                <a:tc>
                  <a:txBody>
                    <a:bodyPr wrap="square"/>
                    <a:lstStyle/>
                    <a:p>
                      <a:r>
                        <a:rPr sz="1100" b="0">
                          <a:solidFill>
                            <a:srgbClr val="4B4B4B"/>
                          </a:solidFill>
                          <a:latin typeface="Arial"/>
                        </a:rPr>
                        <a:t>Two versions of the routing (21 and 25-Sep).</a:t>
                      </a:r>
                    </a:p>
                  </a:txBody>
                  <a:tcPr marL="64008" marR="64008" marT="27432" marB="27432" anchor="ctr">
                    <a:solidFill>
                      <a:srgbClr val="E5F5FF"/>
                    </a:solidFill>
                  </a:tcPr>
                </a:tc>
                <a:tc>
                  <a:txBody>
                    <a:bodyPr wrap="square"/>
                    <a:lstStyle/>
                    <a:p>
                      <a:r>
                        <a:rPr sz="1100" b="0">
                          <a:solidFill>
                            <a:srgbClr val="4B4B4B"/>
                          </a:solidFill>
                          <a:latin typeface="Arial"/>
                        </a:rPr>
                        <a:t>Rule-based TSU routing; thresholds open.</a:t>
                      </a:r>
                    </a:p>
                  </a:txBody>
                  <a:tcPr marL="64008" marR="64008" marT="27432" marB="27432" anchor="ctr">
                    <a:solidFill>
                      <a:srgbClr val="E5F5FF"/>
                    </a:solidFill>
                  </a:tcPr>
                </a:tc>
                <a:tc>
                  <a:txBody>
                    <a:bodyPr wrap="square"/>
                    <a:lstStyle/>
                    <a:p>
                      <a:r>
                        <a:rPr sz="1100" b="0">
                          <a:solidFill>
                            <a:srgbClr val="4B4B4B"/>
                          </a:solidFill>
                          <a:latin typeface="Arial"/>
                        </a:rPr>
                        <a:t>One routing matrix per product and segment.</a:t>
                      </a:r>
                    </a:p>
                  </a:txBody>
                  <a:tcPr marL="64008" marR="64008" marT="27432" marB="27432" anchor="ctr">
                    <a:solidFill>
                      <a:srgbClr val="E5F5FF"/>
                    </a:solidFill>
                  </a:tcPr>
                </a:tc>
                <a:tc>
                  <a:txBody>
                    <a:bodyPr wrap="square"/>
                    <a:lstStyle/>
                    <a:p>
                      <a:r>
                        <a:rPr sz="1100" b="0">
                          <a:solidFill>
                            <a:srgbClr val="4B4B4B"/>
                          </a:solidFill>
                          <a:latin typeface="Arial"/>
                        </a:rPr>
                        <a:t>NB-01; Q04</a:t>
                      </a:r>
                    </a:p>
                  </a:txBody>
                  <a:tcPr marL="64008" marR="64008" marT="27432" marB="27432" anchor="ctr">
                    <a:solidFill>
                      <a:srgbClr val="E5F5FF"/>
                    </a:solidFill>
                  </a:tcPr>
                </a:tc>
              </a:tr>
              <a:tr h="65053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E-policy fall-out queue</a:t>
                      </a:r>
                    </a:p>
                  </a:txBody>
                  <a:tcPr marL="64008" marR="64008" marT="27432" marB="27432" anchor="ctr">
                    <a:solidFill>
                      <a:srgbClr val="FFFFFF"/>
                    </a:solidFill>
                  </a:tcPr>
                </a:tc>
                <a:tc>
                  <a:txBody>
                    <a:bodyPr wrap="square"/>
                    <a:lstStyle/>
                    <a:p>
                      <a:r>
                        <a:rPr sz="1100" b="0">
                          <a:solidFill>
                            <a:srgbClr val="4B4B4B"/>
                          </a:solidFill>
                          <a:latin typeface="Arial"/>
                        </a:rPr>
                        <a:t>Text files, IT exception report, contact centre sends.</a:t>
                      </a:r>
                    </a:p>
                  </a:txBody>
                  <a:tcPr marL="64008" marR="64008" marT="27432" marB="27432" anchor="ctr">
                    <a:solidFill>
                      <a:srgbClr val="FFFFFF"/>
                    </a:solidFill>
                  </a:tcPr>
                </a:tc>
                <a:tc>
                  <a:txBody>
                    <a:bodyPr wrap="square"/>
                    <a:lstStyle/>
                    <a:p>
                      <a:r>
                        <a:rPr sz="1100" b="0">
                          <a:solidFill>
                            <a:srgbClr val="4B4B4B"/>
                          </a:solidFill>
                          <a:latin typeface="Arial"/>
                        </a:rPr>
                        <a:t>Receive and match only; no exception queue.</a:t>
                      </a:r>
                    </a:p>
                  </a:txBody>
                  <a:tcPr marL="64008" marR="64008" marT="27432" marB="27432" anchor="ctr">
                    <a:solidFill>
                      <a:srgbClr val="FFFFFF"/>
                    </a:solidFill>
                  </a:tcPr>
                </a:tc>
                <a:tc>
                  <a:txBody>
                    <a:bodyPr wrap="square"/>
                    <a:lstStyle/>
                    <a:p>
                      <a:r>
                        <a:rPr sz="1100" b="0">
                          <a:solidFill>
                            <a:srgbClr val="4B4B4B"/>
                          </a:solidFill>
                          <a:latin typeface="Arial"/>
                        </a:rPr>
                        <a:t>Exception queue with owner and SLA; one sender.</a:t>
                      </a:r>
                    </a:p>
                  </a:txBody>
                  <a:tcPr marL="64008" marR="64008" marT="27432" marB="27432" anchor="ctr">
                    <a:solidFill>
                      <a:srgbClr val="FFFFFF"/>
                    </a:solidFill>
                  </a:tcPr>
                </a:tc>
                <a:tc>
                  <a:txBody>
                    <a:bodyPr wrap="square"/>
                    <a:lstStyle/>
                    <a:p>
                      <a:r>
                        <a:rPr sz="1100" b="0">
                          <a:solidFill>
                            <a:srgbClr val="4B4B4B"/>
                          </a:solidFill>
                          <a:latin typeface="Arial"/>
                        </a:rPr>
                        <a:t>NB flow; Q31</a:t>
                      </a:r>
                    </a:p>
                  </a:txBody>
                  <a:tcPr marL="64008" marR="64008" marT="27432" marB="27432" anchor="ctr">
                    <a:solidFill>
                      <a:srgbClr val="FFFFFF"/>
                    </a:solidFill>
                  </a:tcPr>
                </a:tc>
              </a:tr>
              <a:tr h="65053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Marine open-cover declarations</a:t>
                      </a:r>
                    </a:p>
                  </a:txBody>
                  <a:tcPr marL="64008" marR="64008" marT="27432" marB="27432" anchor="ctr">
                    <a:solidFill>
                      <a:srgbClr val="E5F5FF"/>
                    </a:solidFill>
                  </a:tcPr>
                </a:tc>
                <a:tc>
                  <a:txBody>
                    <a:bodyPr wrap="square"/>
                    <a:lstStyle/>
                    <a:p>
                      <a:r>
                        <a:rPr sz="1100" b="0">
                          <a:solidFill>
                            <a:srgbClr val="4B4B4B"/>
                          </a:solidFill>
                          <a:latin typeface="Arial"/>
                        </a:rPr>
                        <a:t>Bank trade business; declarations under open policies (TR-01).</a:t>
                      </a:r>
                    </a:p>
                  </a:txBody>
                  <a:tcPr marL="64008" marR="64008" marT="27432" marB="27432" anchor="ctr">
                    <a:solidFill>
                      <a:srgbClr val="E5F5FF"/>
                    </a:solidFill>
                  </a:tcPr>
                </a:tc>
                <a:tc>
                  <a:txBody>
                    <a:bodyPr wrap="square"/>
                    <a:lstStyle/>
                    <a:p>
                      <a:r>
                        <a:rPr sz="1100" b="0">
                          <a:solidFill>
                            <a:srgbClr val="4B4B4B"/>
                          </a:solidFill>
                          <a:latin typeface="Arial"/>
                        </a:rPr>
                        <a:t>Product codes only; no open-cover master or declarations.</a:t>
                      </a:r>
                    </a:p>
                  </a:txBody>
                  <a:tcPr marL="64008" marR="64008" marT="27432" marB="27432" anchor="ctr">
                    <a:solidFill>
                      <a:srgbClr val="E5F5FF"/>
                    </a:solidFill>
                  </a:tcPr>
                </a:tc>
                <a:tc>
                  <a:txBody>
                    <a:bodyPr wrap="square"/>
                    <a:lstStyle/>
                    <a:p>
                      <a:r>
                        <a:rPr sz="1100" b="0">
                          <a:solidFill>
                            <a:srgbClr val="4B4B4B"/>
                          </a:solidFill>
                          <a:latin typeface="Arial"/>
                        </a:rPr>
                        <a:t>Open-cover master, declaration intake, certificate, premium per declaration.</a:t>
                      </a:r>
                    </a:p>
                  </a:txBody>
                  <a:tcPr marL="64008" marR="64008" marT="27432" marB="27432" anchor="ctr">
                    <a:solidFill>
                      <a:srgbClr val="E5F5FF"/>
                    </a:solidFill>
                  </a:tcPr>
                </a:tc>
                <a:tc>
                  <a:txBody>
                    <a:bodyPr wrap="square"/>
                    <a:lstStyle/>
                    <a:p>
                      <a:r>
                        <a:rPr sz="1100" b="0">
                          <a:solidFill>
                            <a:srgbClr val="4B4B4B"/>
                          </a:solidFill>
                          <a:latin typeface="Arial"/>
                        </a:rPr>
                        <a:t>TR-01; DCR-132</a:t>
                      </a:r>
                    </a:p>
                  </a:txBody>
                  <a:tcPr marL="64008" marR="64008" marT="27432" marB="27432" anchor="ctr">
                    <a:solidFill>
                      <a:srgbClr val="E5F5FF"/>
                    </a:solidFill>
                  </a:tcPr>
                </a:tc>
              </a:tr>
              <a:tr h="65053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Accumulation by location</a:t>
                      </a:r>
                    </a:p>
                  </a:txBody>
                  <a:tcPr marL="64008" marR="64008" marT="27432" marB="27432" anchor="ctr">
                    <a:solidFill>
                      <a:srgbClr val="FFFFFF"/>
                    </a:solidFill>
                  </a:tcPr>
                </a:tc>
                <a:tc>
                  <a:txBody>
                    <a:bodyPr wrap="square"/>
                    <a:lstStyle/>
                    <a:p>
                      <a:r>
                        <a:rPr sz="1100" b="0">
                          <a:solidFill>
                            <a:srgbClr val="4B4B4B"/>
                          </a:solidFill>
                          <a:latin typeface="Arial"/>
                        </a:rPr>
                        <a:t>Marine accumulation to track by location (TR-02).</a:t>
                      </a:r>
                    </a:p>
                  </a:txBody>
                  <a:tcPr marL="64008" marR="64008" marT="27432" marB="27432" anchor="ctr">
                    <a:solidFill>
                      <a:srgbClr val="FFFFFF"/>
                    </a:solidFill>
                  </a:tcPr>
                </a:tc>
                <a:tc>
                  <a:txBody>
                    <a:bodyPr wrap="square"/>
                    <a:lstStyle/>
                    <a:p>
                      <a:r>
                        <a:rPr sz="1100" b="0">
                          <a:solidFill>
                            <a:srgbClr val="4B4B4B"/>
                          </a:solidFill>
                          <a:latin typeface="Arial"/>
                        </a:rPr>
                        <a:t>Trade accumulation report listed, no BRD.</a:t>
                      </a:r>
                    </a:p>
                  </a:txBody>
                  <a:tcPr marL="64008" marR="64008" marT="27432" marB="27432" anchor="ctr">
                    <a:solidFill>
                      <a:srgbClr val="FFFFFF"/>
                    </a:solidFill>
                  </a:tcPr>
                </a:tc>
                <a:tc>
                  <a:txBody>
                    <a:bodyPr wrap="square"/>
                    <a:lstStyle/>
                    <a:p>
                      <a:r>
                        <a:rPr sz="1100" b="0">
                          <a:solidFill>
                            <a:srgbClr val="4B4B4B"/>
                          </a:solidFill>
                          <a:latin typeface="Arial"/>
                        </a:rPr>
                        <a:t>Location-based accumulation with capacity alerts.</a:t>
                      </a:r>
                    </a:p>
                  </a:txBody>
                  <a:tcPr marL="64008" marR="64008" marT="27432" marB="27432" anchor="ctr">
                    <a:solidFill>
                      <a:srgbClr val="FFFFFF"/>
                    </a:solidFill>
                  </a:tcPr>
                </a:tc>
                <a:tc>
                  <a:txBody>
                    <a:bodyPr wrap="square"/>
                    <a:lstStyle/>
                    <a:p>
                      <a:r>
                        <a:rPr sz="1100" b="0">
                          <a:solidFill>
                            <a:srgbClr val="4B4B4B"/>
                          </a:solidFill>
                          <a:latin typeface="Arial"/>
                        </a:rPr>
                        <a:t>TR-02; DCR-132</a:t>
                      </a:r>
                    </a:p>
                  </a:txBody>
                  <a:tcPr marL="64008" marR="64008" marT="27432" marB="27432"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gaps in the BRD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Pipeline and lead source</a:t>
                      </a:r>
                    </a:p>
                  </a:txBody>
                  <a:tcPr marL="64008" marR="64008" marT="27432" marB="27432" anchor="ctr">
                    <a:solidFill>
                      <a:srgbClr val="FFFFFF"/>
                    </a:solidFill>
                  </a:tcPr>
                </a:tc>
                <a:tc>
                  <a:txBody>
                    <a:bodyPr wrap="square"/>
                    <a:lstStyle/>
                    <a:p>
                      <a:r>
                        <a:rPr sz="1100" b="0">
                          <a:solidFill>
                            <a:srgbClr val="4B4B4B"/>
                          </a:solidFill>
                          <a:latin typeface="Arial"/>
                        </a:rPr>
                        <a:t>Pipeline from bank and direct sources, TSU items (NB-11).</a:t>
                      </a:r>
                    </a:p>
                  </a:txBody>
                  <a:tcPr marL="64008" marR="64008" marT="27432" marB="27432" anchor="ctr">
                    <a:solidFill>
                      <a:srgbClr val="FFFFFF"/>
                    </a:solidFill>
                  </a:tcPr>
                </a:tc>
                <a:tc>
                  <a:txBody>
                    <a:bodyPr wrap="square"/>
                    <a:lstStyle/>
                    <a:p>
                      <a:r>
                        <a:rPr sz="1100" b="0">
                          <a:solidFill>
                            <a:srgbClr val="4B4B4B"/>
                          </a:solidFill>
                          <a:latin typeface="Arial"/>
                        </a:rPr>
                        <a:t>Status and stalled-account reports; lead source not defined.</a:t>
                      </a:r>
                    </a:p>
                  </a:txBody>
                  <a:tcPr marL="64008" marR="64008" marT="27432" marB="27432" anchor="ctr">
                    <a:solidFill>
                      <a:srgbClr val="FFFFFF"/>
                    </a:solidFill>
                  </a:tcPr>
                </a:tc>
                <a:tc>
                  <a:txBody>
                    <a:bodyPr wrap="square"/>
                    <a:lstStyle/>
                    <a:p>
                      <a:r>
                        <a:rPr sz="1100" b="0">
                          <a:solidFill>
                            <a:srgbClr val="4B4B4B"/>
                          </a:solidFill>
                          <a:latin typeface="Arial"/>
                        </a:rPr>
                        <a:t>Lead source on every prospect; pipeline for Retail and Corporate.</a:t>
                      </a:r>
                    </a:p>
                  </a:txBody>
                  <a:tcPr marL="64008" marR="64008" marT="27432" marB="27432" anchor="ctr">
                    <a:solidFill>
                      <a:srgbClr val="FFFFFF"/>
                    </a:solidFill>
                  </a:tcPr>
                </a:tc>
                <a:tc>
                  <a:txBody>
                    <a:bodyPr wrap="square"/>
                    <a:lstStyle/>
                    <a:p>
                      <a:r>
                        <a:rPr sz="1100" b="0">
                          <a:solidFill>
                            <a:srgbClr val="4B4B4B"/>
                          </a:solidFill>
                          <a:latin typeface="Arial"/>
                        </a:rPr>
                        <a:t>NB-11; Q19</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Allocation to handlers</a:t>
                      </a:r>
                    </a:p>
                  </a:txBody>
                  <a:tcPr marL="64008" marR="64008" marT="27432" marB="27432" anchor="ctr">
                    <a:solidFill>
                      <a:srgbClr val="E5F5FF"/>
                    </a:solidFill>
                  </a:tcPr>
                </a:tc>
                <a:tc>
                  <a:txBody>
                    <a:bodyPr wrap="square"/>
                    <a:lstStyle/>
                    <a:p>
                      <a:r>
                        <a:rPr sz="1100" b="0">
                          <a:solidFill>
                            <a:srgbClr val="4B4B4B"/>
                          </a:solidFill>
                          <a:latin typeface="Arial"/>
                        </a:rPr>
                        <a:t>By branch or area and region (NB-12).</a:t>
                      </a:r>
                    </a:p>
                  </a:txBody>
                  <a:tcPr marL="64008" marR="64008" marT="27432" marB="27432" anchor="ctr">
                    <a:solidFill>
                      <a:srgbClr val="E5F5FF"/>
                    </a:solidFill>
                  </a:tcPr>
                </a:tc>
                <a:tc>
                  <a:txBody>
                    <a:bodyPr wrap="square"/>
                    <a:lstStyle/>
                    <a:p>
                      <a:r>
                        <a:rPr sz="1100" b="0">
                          <a:solidFill>
                            <a:srgbClr val="4B4B4B"/>
                          </a:solidFill>
                          <a:latin typeface="Arial"/>
                        </a:rPr>
                        <a:t>Assign and re-assign by hand.</a:t>
                      </a:r>
                    </a:p>
                  </a:txBody>
                  <a:tcPr marL="64008" marR="64008" marT="27432" marB="27432" anchor="ctr">
                    <a:solidFill>
                      <a:srgbClr val="E5F5FF"/>
                    </a:solidFill>
                  </a:tcPr>
                </a:tc>
                <a:tc>
                  <a:txBody>
                    <a:bodyPr wrap="square"/>
                    <a:lstStyle/>
                    <a:p>
                      <a:r>
                        <a:rPr sz="1100" b="0">
                          <a:solidFill>
                            <a:srgbClr val="4B4B4B"/>
                          </a:solidFill>
                          <a:latin typeface="Arial"/>
                        </a:rPr>
                        <a:t>Automatic allocation rules by branch and region.</a:t>
                      </a:r>
                    </a:p>
                  </a:txBody>
                  <a:tcPr marL="64008" marR="64008" marT="27432" marB="27432" anchor="ctr">
                    <a:solidFill>
                      <a:srgbClr val="E5F5FF"/>
                    </a:solidFill>
                  </a:tcPr>
                </a:tc>
                <a:tc>
                  <a:txBody>
                    <a:bodyPr wrap="square"/>
                    <a:lstStyle/>
                    <a:p>
                      <a:r>
                        <a:rPr sz="1100" b="0">
                          <a:solidFill>
                            <a:srgbClr val="4B4B4B"/>
                          </a:solidFill>
                          <a:latin typeface="Arial"/>
                        </a:rPr>
                        <a:t>NB-12</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Free first year and COC</a:t>
                      </a:r>
                    </a:p>
                  </a:txBody>
                  <a:tcPr marL="64008" marR="64008" marT="27432" marB="27432" anchor="ctr">
                    <a:solidFill>
                      <a:srgbClr val="FFFFFF"/>
                    </a:solidFill>
                  </a:tcPr>
                </a:tc>
                <a:tc>
                  <a:txBody>
                    <a:bodyPr wrap="square"/>
                    <a:lstStyle/>
                    <a:p>
                      <a:r>
                        <a:rPr sz="1100" b="0">
                          <a:solidFill>
                            <a:srgbClr val="4B4B4B"/>
                          </a:solidFill>
                          <a:latin typeface="Arial"/>
                        </a:rPr>
                        <a:t>Premium free in year one; COC from PGA ends the case (NB-14).</a:t>
                      </a:r>
                    </a:p>
                  </a:txBody>
                  <a:tcPr marL="64008" marR="64008" marT="27432" marB="27432" anchor="ctr">
                    <a:solidFill>
                      <a:srgbClr val="FFFFFF"/>
                    </a:solidFill>
                  </a:tcPr>
                </a:tc>
                <a:tc>
                  <a:txBody>
                    <a:bodyPr wrap="square"/>
                    <a:lstStyle/>
                    <a:p>
                      <a:r>
                        <a:rPr sz="1100" b="0">
                          <a:solidFill>
                            <a:srgbClr val="4B4B4B"/>
                          </a:solidFill>
                          <a:latin typeface="Arial"/>
                        </a:rPr>
                        <a:t>FFY register; COC and payer not specified.</a:t>
                      </a:r>
                    </a:p>
                  </a:txBody>
                  <a:tcPr marL="64008" marR="64008" marT="27432" marB="27432" anchor="ctr">
                    <a:solidFill>
                      <a:srgbClr val="FFFFFF"/>
                    </a:solidFill>
                  </a:tcPr>
                </a:tc>
                <a:tc>
                  <a:txBody>
                    <a:bodyPr wrap="square"/>
                    <a:lstStyle/>
                    <a:p>
                      <a:r>
                        <a:rPr sz="1100" b="0">
                          <a:solidFill>
                            <a:srgbClr val="4B4B4B"/>
                          </a:solidFill>
                          <a:latin typeface="Arial"/>
                        </a:rPr>
                        <a:t>Define the COC receipt and the commission on FFY.</a:t>
                      </a:r>
                    </a:p>
                  </a:txBody>
                  <a:tcPr marL="64008" marR="64008" marT="27432" marB="27432" anchor="ctr">
                    <a:solidFill>
                      <a:srgbClr val="FFFFFF"/>
                    </a:solidFill>
                  </a:tcPr>
                </a:tc>
                <a:tc>
                  <a:txBody>
                    <a:bodyPr wrap="square"/>
                    <a:lstStyle/>
                    <a:p>
                      <a:r>
                        <a:rPr sz="1100" b="0">
                          <a:solidFill>
                            <a:srgbClr val="4B4B4B"/>
                          </a:solidFill>
                          <a:latin typeface="Arial"/>
                        </a:rPr>
                        <a:t>NB-14; Q36</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Terms of reference per product</a:t>
                      </a:r>
                    </a:p>
                  </a:txBody>
                  <a:tcPr marL="64008" marR="64008" marT="27432" marB="27432" anchor="ctr">
                    <a:solidFill>
                      <a:srgbClr val="E5F5FF"/>
                    </a:solidFill>
                  </a:tcPr>
                </a:tc>
                <a:tc>
                  <a:txBody>
                    <a:bodyPr wrap="square"/>
                    <a:lstStyle/>
                    <a:p>
                      <a:r>
                        <a:rPr sz="1100" b="0">
                          <a:solidFill>
                            <a:srgbClr val="4B4B4B"/>
                          </a:solidFill>
                          <a:latin typeface="Arial"/>
                        </a:rPr>
                        <a:t>TOR kept per product (NB-10).</a:t>
                      </a:r>
                    </a:p>
                  </a:txBody>
                  <a:tcPr marL="64008" marR="64008" marT="27432" marB="27432" anchor="ctr">
                    <a:solidFill>
                      <a:srgbClr val="E5F5FF"/>
                    </a:solidFill>
                  </a:tcPr>
                </a:tc>
                <a:tc>
                  <a:txBody>
                    <a:bodyPr wrap="square"/>
                    <a:lstStyle/>
                    <a:p>
                      <a:r>
                        <a:rPr sz="1100" b="0">
                          <a:solidFill>
                            <a:srgbClr val="4B4B4B"/>
                          </a:solidFill>
                          <a:latin typeface="Arial"/>
                        </a:rPr>
                        <a:t>TOR only in Submitted Policies and EB.</a:t>
                      </a:r>
                    </a:p>
                  </a:txBody>
                  <a:tcPr marL="64008" marR="64008" marT="27432" marB="27432" anchor="ctr">
                    <a:solidFill>
                      <a:srgbClr val="E5F5FF"/>
                    </a:solidFill>
                  </a:tcPr>
                </a:tc>
                <a:tc>
                  <a:txBody>
                    <a:bodyPr wrap="square"/>
                    <a:lstStyle/>
                    <a:p>
                      <a:r>
                        <a:rPr sz="1100" b="0">
                          <a:solidFill>
                            <a:srgbClr val="4B4B4B"/>
                          </a:solidFill>
                          <a:latin typeface="Arial"/>
                        </a:rPr>
                        <a:t>TOR held on the product and shown at quotation.</a:t>
                      </a:r>
                    </a:p>
                  </a:txBody>
                  <a:tcPr marL="64008" marR="64008" marT="27432" marB="27432" anchor="ctr">
                    <a:solidFill>
                      <a:srgbClr val="E5F5FF"/>
                    </a:solidFill>
                  </a:tcPr>
                </a:tc>
                <a:tc>
                  <a:txBody>
                    <a:bodyPr wrap="square"/>
                    <a:lstStyle/>
                    <a:p>
                      <a:r>
                        <a:rPr sz="1100" b="0">
                          <a:solidFill>
                            <a:srgbClr val="4B4B4B"/>
                          </a:solidFill>
                          <a:latin typeface="Arial"/>
                        </a:rPr>
                        <a:t>NB-10; SQ19</a:t>
                      </a:r>
                    </a:p>
                  </a:txBody>
                  <a:tcPr marL="64008" marR="64008" marT="27432" marB="27432" anchor="ctr">
                    <a:solidFill>
                      <a:srgbClr val="E5F5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KYC, declaration form, CIF</a:t>
                      </a:r>
                    </a:p>
                  </a:txBody>
                  <a:tcPr marL="64008" marR="64008" marT="27432" marB="27432" anchor="ctr">
                    <a:solidFill>
                      <a:srgbClr val="FFFFFF"/>
                    </a:solidFill>
                  </a:tcPr>
                </a:tc>
                <a:tc>
                  <a:txBody>
                    <a:bodyPr wrap="square"/>
                    <a:lstStyle/>
                    <a:p>
                      <a:r>
                        <a:rPr sz="1100" b="0">
                          <a:solidFill>
                            <a:srgbClr val="4B4B4B"/>
                          </a:solidFill>
                          <a:latin typeface="Arial"/>
                        </a:rPr>
                        <a:t>Outside the system (NB-04).</a:t>
                      </a:r>
                    </a:p>
                  </a:txBody>
                  <a:tcPr marL="64008" marR="64008" marT="27432" marB="27432" anchor="ctr">
                    <a:solidFill>
                      <a:srgbClr val="FFFFFF"/>
                    </a:solidFill>
                  </a:tcPr>
                </a:tc>
                <a:tc>
                  <a:txBody>
                    <a:bodyPr wrap="square"/>
                    <a:lstStyle/>
                    <a:p>
                      <a:r>
                        <a:rPr sz="1100" b="0">
                          <a:solidFill>
                            <a:srgbClr val="4B4B4B"/>
                          </a:solidFill>
                          <a:latin typeface="Arial"/>
                        </a:rPr>
                        <a:t>KYC gate at onboarding; declaration form in no BRD; CIF reuse open.</a:t>
                      </a:r>
                    </a:p>
                  </a:txBody>
                  <a:tcPr marL="64008" marR="64008" marT="27432" marB="27432" anchor="ctr">
                    <a:solidFill>
                      <a:srgbClr val="FFFFFF"/>
                    </a:solidFill>
                  </a:tcPr>
                </a:tc>
                <a:tc>
                  <a:txBody>
                    <a:bodyPr wrap="square"/>
                    <a:lstStyle/>
                    <a:p>
                      <a:r>
                        <a:rPr sz="1100" b="0">
                          <a:solidFill>
                            <a:srgbClr val="4B4B4B"/>
                          </a:solidFill>
                          <a:latin typeface="Arial"/>
                        </a:rPr>
                        <a:t>Bring the declaration form into onboarding; reuse the BDO CIF if allowed.</a:t>
                      </a:r>
                    </a:p>
                  </a:txBody>
                  <a:tcPr marL="64008" marR="64008" marT="27432" marB="27432" anchor="ctr">
                    <a:solidFill>
                      <a:srgbClr val="FFFFFF"/>
                    </a:solidFill>
                  </a:tcPr>
                </a:tc>
                <a:tc>
                  <a:txBody>
                    <a:bodyPr wrap="square"/>
                    <a:lstStyle/>
                    <a:p>
                      <a:r>
                        <a:rPr sz="1100" b="0">
                          <a:solidFill>
                            <a:srgbClr val="4B4B4B"/>
                          </a:solidFill>
                          <a:latin typeface="Arial"/>
                        </a:rPr>
                        <a:t>NB-04; Q16</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Source feeds and personas</a:t>
                      </a:r>
                    </a:p>
                  </a:txBody>
                  <a:tcPr marL="64008" marR="64008" marT="27432" marB="27432" anchor="ctr">
                    <a:solidFill>
                      <a:srgbClr val="E5F5FF"/>
                    </a:solidFill>
                  </a:tcPr>
                </a:tc>
                <a:tc>
                  <a:txBody>
                    <a:bodyPr wrap="square"/>
                    <a:lstStyle/>
                    <a:p>
                      <a:r>
                        <a:rPr sz="1100" b="0">
                          <a:solidFill>
                            <a:srgbClr val="4B4B4B"/>
                          </a:solidFill>
                          <a:latin typeface="Arial"/>
                        </a:rPr>
                        <a:t>CLAS and CTS reports; Combank Account Support books.</a:t>
                      </a:r>
                    </a:p>
                  </a:txBody>
                  <a:tcPr marL="64008" marR="64008" marT="27432" marB="27432" anchor="ctr">
                    <a:solidFill>
                      <a:srgbClr val="E5F5FF"/>
                    </a:solidFill>
                  </a:tcPr>
                </a:tc>
                <a:tc>
                  <a:txBody>
                    <a:bodyPr wrap="square"/>
                    <a:lstStyle/>
                    <a:p>
                      <a:r>
                        <a:rPr sz="1100" b="0">
                          <a:solidFill>
                            <a:srgbClr val="4B4B4B"/>
                          </a:solidFill>
                          <a:latin typeface="Arial"/>
                        </a:rPr>
                        <a:t>HLS only; Combank roles not in the matrix.</a:t>
                      </a:r>
                    </a:p>
                  </a:txBody>
                  <a:tcPr marL="64008" marR="64008" marT="27432" marB="27432" anchor="ctr">
                    <a:solidFill>
                      <a:srgbClr val="E5F5FF"/>
                    </a:solidFill>
                  </a:tcPr>
                </a:tc>
                <a:tc>
                  <a:txBody>
                    <a:bodyPr wrap="square"/>
                    <a:lstStyle/>
                    <a:p>
                      <a:r>
                        <a:rPr sz="1100" b="0">
                          <a:solidFill>
                            <a:srgbClr val="4B4B4B"/>
                          </a:solidFill>
                          <a:latin typeface="Arial"/>
                        </a:rPr>
                        <a:t>Add CLAS / CTS to the inventory and the roles to the access matrix.</a:t>
                      </a:r>
                    </a:p>
                  </a:txBody>
                  <a:tcPr marL="64008" marR="64008" marT="27432" marB="27432" anchor="ctr">
                    <a:solidFill>
                      <a:srgbClr val="E5F5FF"/>
                    </a:solidFill>
                  </a:tcPr>
                </a:tc>
                <a:tc>
                  <a:txBody>
                    <a:bodyPr wrap="square"/>
                    <a:lstStyle/>
                    <a:p>
                      <a:r>
                        <a:rPr sz="1100" b="0">
                          <a:solidFill>
                            <a:srgbClr val="4B4B4B"/>
                          </a:solidFill>
                          <a:latin typeface="Arial"/>
                        </a:rPr>
                        <a:t>Q11; DCR-121</a:t>
                      </a:r>
                    </a:p>
                  </a:txBody>
                  <a:tcPr marL="64008" marR="64008" marT="27432" marB="27432" anchor="ctr">
                    <a:solidFill>
                      <a:srgbClr val="E5F5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best practice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Digital placement exchange</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One pattern for ~55 insurers</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Placement, returns and e-policies exchanged through one standard channel (API or SFTP with a common layout).</a:t>
            </a:r>
          </a:p>
          <a:p>
            <a:pPr>
              <a:spcAft>
                <a:spcPts val="400"/>
              </a:spcAft>
            </a:pPr>
            <a:r>
              <a:rPr sz="1200" b="1">
                <a:solidFill>
                  <a:srgbClr val="004EA8"/>
                </a:solidFill>
                <a:latin typeface="Arial"/>
              </a:rPr>
              <a:t>For BDOI: </a:t>
            </a:r>
            <a:r>
              <a:rPr sz="1200" b="0">
                <a:solidFill>
                  <a:srgbClr val="4B4B4B"/>
                </a:solidFill>
                <a:latin typeface="Arial"/>
              </a:rPr>
              <a:t>Agree a BDOI insurer data standard and on-board insurers in waves.</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Broker CRM and pipeline</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Sales productivity</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Leads from bank referrals, funnel stages, hit ratio and cross-sell per client.</a:t>
            </a:r>
          </a:p>
          <a:p>
            <a:pPr>
              <a:spcAft>
                <a:spcPts val="400"/>
              </a:spcAft>
            </a:pPr>
            <a:r>
              <a:rPr sz="1200" b="1">
                <a:solidFill>
                  <a:srgbClr val="004EA8"/>
                </a:solidFill>
                <a:latin typeface="Arial"/>
              </a:rPr>
              <a:t>For BDOI: </a:t>
            </a:r>
            <a:r>
              <a:rPr sz="1200" b="0">
                <a:solidFill>
                  <a:srgbClr val="4B4B4B"/>
                </a:solidFill>
                <a:latin typeface="Arial"/>
              </a:rPr>
              <a:t>Add lead source and funnel KPIs to the dashboard.</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E-policy ingestion with OCR</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fall-out text files</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E-policies read, matched to the account and filed automatically; exceptions in a queue.</a:t>
            </a:r>
          </a:p>
          <a:p>
            <a:pPr>
              <a:spcAft>
                <a:spcPts val="400"/>
              </a:spcAft>
            </a:pPr>
            <a:r>
              <a:rPr sz="1200" b="1">
                <a:solidFill>
                  <a:srgbClr val="004EA8"/>
                </a:solidFill>
                <a:latin typeface="Arial"/>
              </a:rPr>
              <a:t>For BDOI: </a:t>
            </a:r>
            <a:r>
              <a:rPr sz="1200" b="0">
                <a:solidFill>
                  <a:srgbClr val="4B4B4B"/>
                </a:solidFill>
                <a:latin typeface="Arial"/>
              </a:rPr>
              <a:t>Start with the top insurers by volume.</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Reuse of bank KYC</a:t>
            </a:r>
          </a:p>
        </p:txBody>
      </p:sp>
      <p:sp>
        <p:nvSpPr>
          <p:cNvPr id="30" name="Rounded Rectangle 29"/>
          <p:cNvSpPr/>
          <p:nvPr/>
        </p:nvSpPr>
        <p:spPr>
          <a:xfrm>
            <a:off x="640080" y="4448556"/>
            <a:ext cx="160020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onboarding</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Client data and KYC reused from the bank CIF for bank-referred clients.</a:t>
            </a:r>
          </a:p>
          <a:p>
            <a:pPr>
              <a:spcAft>
                <a:spcPts val="400"/>
              </a:spcAft>
            </a:pPr>
            <a:r>
              <a:rPr sz="1200" b="1">
                <a:solidFill>
                  <a:srgbClr val="004EA8"/>
                </a:solidFill>
                <a:latin typeface="Arial"/>
              </a:rPr>
              <a:t>For BDOI: </a:t>
            </a:r>
            <a:r>
              <a:rPr sz="1200" b="0">
                <a:solidFill>
                  <a:srgbClr val="4B4B4B"/>
                </a:solidFill>
                <a:latin typeface="Arial"/>
              </a:rPr>
              <a:t>Confirm with Compliance and BDO IT (Q16).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best practice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Quote lifecycle control</a:t>
            </a:r>
          </a:p>
        </p:txBody>
      </p:sp>
      <p:sp>
        <p:nvSpPr>
          <p:cNvPr id="12" name="Rounded Rectangle 11"/>
          <p:cNvSpPr/>
          <p:nvPr/>
        </p:nvSpPr>
        <p:spPr>
          <a:xfrm>
            <a:off x="640080" y="1920240"/>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stale quotes</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Validity, auto-expiry, SLA clocks and reminders on every quote.</a:t>
            </a:r>
          </a:p>
          <a:p>
            <a:pPr>
              <a:spcAft>
                <a:spcPts val="400"/>
              </a:spcAft>
            </a:pPr>
            <a:r>
              <a:rPr sz="1200" b="1">
                <a:solidFill>
                  <a:srgbClr val="004EA8"/>
                </a:solidFill>
                <a:latin typeface="Arial"/>
              </a:rPr>
              <a:t>For BDOI: </a:t>
            </a:r>
            <a:r>
              <a:rPr sz="1200" b="0">
                <a:solidFill>
                  <a:srgbClr val="4B4B4B"/>
                </a:solidFill>
                <a:latin typeface="Arial"/>
              </a:rPr>
              <a:t>Add validity and SLA values (NB-03, NB-07).</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Digital acceptance and payment link</a:t>
            </a:r>
          </a:p>
        </p:txBody>
      </p:sp>
      <p:sp>
        <p:nvSpPr>
          <p:cNvPr id="18" name="Rounded Rectangle 17"/>
          <p:cNvSpPr/>
          <p:nvPr/>
        </p:nvSpPr>
        <p:spPr>
          <a:xfrm>
            <a:off x="4393082" y="1920240"/>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Shorter cycle</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Client accepts the proposal online with e-signature and pays by link.</a:t>
            </a:r>
          </a:p>
          <a:p>
            <a:pPr>
              <a:spcAft>
                <a:spcPts val="400"/>
              </a:spcAft>
            </a:pPr>
            <a:r>
              <a:rPr sz="1200" b="1">
                <a:solidFill>
                  <a:srgbClr val="004EA8"/>
                </a:solidFill>
                <a:latin typeface="Arial"/>
              </a:rPr>
              <a:t>For BDOI: </a:t>
            </a:r>
            <a:r>
              <a:rPr sz="1200" b="0">
                <a:solidFill>
                  <a:srgbClr val="4B4B4B"/>
                </a:solidFill>
                <a:latin typeface="Arial"/>
              </a:rPr>
              <a:t>After go-live, with the e-signature decision (CP-01).</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bank business</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Volume at low cost</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Bank loan files (HLS, LAD) become quotations and accounts in bulk without re-keying.</a:t>
            </a:r>
          </a:p>
          <a:p>
            <a:pPr>
              <a:spcAft>
                <a:spcPts val="400"/>
              </a:spcAft>
            </a:pPr>
            <a:r>
              <a:rPr sz="1200" b="1">
                <a:solidFill>
                  <a:srgbClr val="004EA8"/>
                </a:solidFill>
                <a:latin typeface="Arial"/>
              </a:rPr>
              <a:t>For BDOI: </a:t>
            </a:r>
            <a:r>
              <a:rPr sz="1200" b="0">
                <a:solidFill>
                  <a:srgbClr val="4B4B4B"/>
                </a:solidFill>
                <a:latin typeface="Arial"/>
              </a:rPr>
              <a:t>Specify the HLS, CLAS and CTS feeds.</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Marine declarations portal</a:t>
            </a:r>
          </a:p>
        </p:txBody>
      </p:sp>
      <p:sp>
        <p:nvSpPr>
          <p:cNvPr id="30" name="Rounded Rectangle 29"/>
          <p:cNvSpPr/>
          <p:nvPr/>
        </p:nvSpPr>
        <p:spPr>
          <a:xfrm>
            <a:off x="640080"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Trade growth</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Declarations by portal or API with e-certificates and QR verification.</a:t>
            </a:r>
          </a:p>
          <a:p>
            <a:pPr>
              <a:spcAft>
                <a:spcPts val="400"/>
              </a:spcAft>
            </a:pPr>
            <a:r>
              <a:rPr sz="1200" b="1">
                <a:solidFill>
                  <a:srgbClr val="004EA8"/>
                </a:solidFill>
                <a:latin typeface="Arial"/>
              </a:rPr>
              <a:t>For BDOI: </a:t>
            </a:r>
            <a:r>
              <a:rPr sz="1200" b="0">
                <a:solidFill>
                  <a:srgbClr val="4B4B4B"/>
                </a:solidFill>
                <a:latin typeface="Arial"/>
              </a:rPr>
              <a:t>Specify open covers first (TR-01).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Marketing (renewal AOs, Marketing Admin) and Processing (renewal sanitation and placement)</a:t>
            </a:r>
          </a:p>
          <a:p>
            <a:pPr>
              <a:spcAft>
                <a:spcPts val="300"/>
              </a:spcAft>
            </a:pPr>
            <a:r>
              <a:rPr sz="1200" b="0">
                <a:solidFill>
                  <a:srgbClr val="004EA8"/>
                </a:solidFill>
                <a:latin typeface="Arial"/>
              </a:rPr>
              <a:t>•  </a:t>
            </a:r>
            <a:r>
              <a:rPr sz="1200" b="0">
                <a:solidFill>
                  <a:srgbClr val="4B4B4B"/>
                </a:solidFill>
                <a:latin typeface="Arial"/>
              </a:rPr>
              <a:t>Marketing Admin (MA) and Marketing Admin TL; Marketing TL, TH and AO</a:t>
            </a:r>
          </a:p>
          <a:p>
            <a:pPr>
              <a:spcAft>
                <a:spcPts val="300"/>
              </a:spcAft>
            </a:pPr>
            <a:r>
              <a:rPr sz="1200" b="0">
                <a:solidFill>
                  <a:srgbClr val="004EA8"/>
                </a:solidFill>
                <a:latin typeface="Arial"/>
              </a:rPr>
              <a:t>•  </a:t>
            </a:r>
            <a:r>
              <a:rPr sz="1200" b="0">
                <a:solidFill>
                  <a:srgbClr val="4B4B4B"/>
                </a:solidFill>
                <a:latin typeface="Arial"/>
              </a:rPr>
              <a:t>Sanitation Handler (SH) and head-office SH (CBG Fire, CBG Motor)</a:t>
            </a:r>
          </a:p>
          <a:p>
            <a:pPr>
              <a:spcAft>
                <a:spcPts val="300"/>
              </a:spcAft>
            </a:pPr>
            <a:r>
              <a:rPr sz="1200" b="0">
                <a:solidFill>
                  <a:srgbClr val="004EA8"/>
                </a:solidFill>
                <a:latin typeface="Arial"/>
              </a:rPr>
              <a:t>•  </a:t>
            </a:r>
            <a:r>
              <a:rPr sz="1200" b="0">
                <a:solidFill>
                  <a:srgbClr val="4B4B4B"/>
                </a:solidFill>
                <a:latin typeface="Arial"/>
              </a:rPr>
              <a:t>Processing Officer and TL (Non-CBG corporate and retail)</a:t>
            </a:r>
          </a:p>
          <a:p>
            <a:pPr>
              <a:spcAft>
                <a:spcPts val="300"/>
              </a:spcAft>
            </a:pPr>
            <a:r>
              <a:rPr sz="1200" b="0">
                <a:solidFill>
                  <a:srgbClr val="004EA8"/>
                </a:solidFill>
                <a:latin typeface="Arial"/>
              </a:rPr>
              <a:t>•  </a:t>
            </a:r>
            <a:r>
              <a:rPr sz="1200" b="0">
                <a:solidFill>
                  <a:srgbClr val="4B4B4B"/>
                </a:solidFill>
                <a:latin typeface="Arial"/>
              </a:rPr>
              <a:t>IT (RMEL extract, RA text file); ES-COG-OPRM (RA letters); contact centre</a:t>
            </a:r>
          </a:p>
          <a:p>
            <a:pPr>
              <a:spcAft>
                <a:spcPts val="300"/>
              </a:spcAft>
            </a:pPr>
            <a:r>
              <a:rPr sz="1200" b="0">
                <a:solidFill>
                  <a:srgbClr val="004EA8"/>
                </a:solidFill>
                <a:latin typeface="Arial"/>
              </a:rPr>
              <a:t>•  </a:t>
            </a:r>
            <a:r>
              <a:rPr sz="1200" b="0">
                <a:solidFill>
                  <a:srgbClr val="4B4B4B"/>
                </a:solidFill>
                <a:latin typeface="Arial"/>
              </a:rPr>
              <a:t>Clients and insurers (external)</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25,800</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renewal transactions a month; growth 20% a year (BRD-6 p.186-188)</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-140 days</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expiring list (RMEL) extracted from EBIX (Renewal flow)</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-70 / -40</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days: first and final notice (CBG); final at -45 for Non-CBG</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2 channels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RA by e-mail and by snail mail (CBG)</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22-Sep-2026 (Renewal Marketing 10-11 am, 43F; Renewal Processing 1:30-3 pm, 44F)</a:t>
            </a:r>
          </a:p>
          <a:p>
            <a:pPr>
              <a:spcAft>
                <a:spcPts val="400"/>
              </a:spcAft>
            </a:pPr>
            <a:r>
              <a:rPr sz="1100" b="1">
                <a:solidFill>
                  <a:srgbClr val="004EA8"/>
                </a:solidFill>
                <a:latin typeface="Arial"/>
              </a:rPr>
              <a:t>Process owners: </a:t>
            </a:r>
            <a:r>
              <a:rPr sz="1100" b="0">
                <a:solidFill>
                  <a:srgbClr val="4B4B4B"/>
                </a:solidFill>
                <a:latin typeface="Arial"/>
              </a:rPr>
              <a:t>Amara Cruz, Rose Lique, Joy Ilagan, Tina Fajardo, Grace Tordesillas, Kin Ysaac Flores and 9 more (floor-walk coverage slide)</a:t>
            </a:r>
          </a:p>
          <a:p>
            <a:pPr>
              <a:spcAft>
                <a:spcPts val="400"/>
              </a:spcAft>
            </a:pPr>
            <a:r>
              <a:rPr sz="1100" b="0">
                <a:solidFill>
                  <a:srgbClr val="004EA8"/>
                </a:solidFill>
                <a:latin typeface="Arial"/>
              </a:rPr>
              <a:t>•  </a:t>
            </a:r>
            <a:r>
              <a:rPr sz="1100" b="0">
                <a:solidFill>
                  <a:srgbClr val="4B4B4B"/>
                </a:solidFill>
                <a:latin typeface="Arial"/>
              </a:rPr>
              <a:t>High-level Renewal process flow (CBG automated RMEL; Non-CBG; non-package and exceptions)</a:t>
            </a:r>
          </a:p>
          <a:p>
            <a:pPr>
              <a:spcAft>
                <a:spcPts val="400"/>
              </a:spcAft>
            </a:pPr>
            <a:r>
              <a:rPr sz="1100" b="0">
                <a:solidFill>
                  <a:srgbClr val="004EA8"/>
                </a:solidFill>
                <a:latin typeface="Arial"/>
              </a:rPr>
              <a:t>•  </a:t>
            </a:r>
            <a:r>
              <a:rPr sz="1100" b="0">
                <a:solidFill>
                  <a:srgbClr val="4B4B4B"/>
                </a:solidFill>
                <a:latin typeface="Arial"/>
              </a:rPr>
              <a:t>BDOI Day 1 overview p.14</a:t>
            </a:r>
          </a:p>
          <a:p>
            <a:pPr>
              <a:spcAft>
                <a:spcPts val="400"/>
              </a:spcAft>
            </a:pPr>
            <a:r>
              <a:rPr sz="1100" b="0">
                <a:solidFill>
                  <a:srgbClr val="004EA8"/>
                </a:solidFill>
                <a:latin typeface="Arial"/>
              </a:rPr>
              <a:t>•  </a:t>
            </a:r>
            <a:r>
              <a:rPr sz="1100" b="0">
                <a:solidFill>
                  <a:srgbClr val="4B4B4B"/>
                </a:solidFill>
                <a:latin typeface="Arial"/>
              </a:rPr>
              <a:t>BRD-6 p.80-84 (current process); BRRN.001-040</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Expiring list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Sanitation</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Disposition</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Review</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Renewal advice</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Client decision</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Placement</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Booking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graphicFrame>
        <p:nvGraphicFramePr>
          <p:cNvPr id="9" name="Table 8"/>
          <p:cNvGraphicFramePr>
            <a:graphicFrameLocks noGrp="1"/>
          </p:cNvGraphicFramePr>
          <p:nvPr/>
        </p:nvGraphicFramePr>
        <p:xfrm>
          <a:off x="548640" y="1280160"/>
          <a:ext cx="11094412" cy="491947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650530">
                <a:tc>
                  <a:txBody>
                    <a:bodyPr wrap="square"/>
                    <a:lstStyle/>
                    <a:p>
                      <a:r>
                        <a:rPr sz="1100" b="1">
                          <a:solidFill>
                            <a:srgbClr val="4B4B4B"/>
                          </a:solidFill>
                          <a:latin typeface="Arial"/>
                        </a:rPr>
                        <a:t>RN-01</a:t>
                      </a:r>
                    </a:p>
                  </a:txBody>
                  <a:tcPr marL="64008" marR="64008" marT="27432" marB="27432" anchor="ctr">
                    <a:solidFill>
                      <a:srgbClr val="FFFFFF"/>
                    </a:solidFill>
                  </a:tcPr>
                </a:tc>
                <a:tc>
                  <a:txBody>
                    <a:bodyPr wrap="square"/>
                    <a:lstStyle/>
                    <a:p>
                      <a:r>
                        <a:rPr sz="1100" b="0">
                          <a:solidFill>
                            <a:srgbClr val="4B4B4B"/>
                          </a:solidFill>
                          <a:latin typeface="Arial"/>
                        </a:rPr>
                        <a:t>Review and disposition</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Renewal review and dispositions are done in Excel; the renewal master expiry list is sent and the renewal advice goes to the client.</a:t>
                      </a:r>
                    </a:p>
                  </a:txBody>
                  <a:tcPr marL="64008" marR="64008" marT="27432" marB="27432" anchor="ctr">
                    <a:solidFill>
                      <a:srgbClr val="FFFFFF"/>
                    </a:solidFill>
                  </a:tcPr>
                </a:tc>
                <a:tc>
                  <a:txBody>
                    <a:bodyPr wrap="square"/>
                    <a:lstStyle/>
                    <a:p>
                      <a:r>
                        <a:rPr sz="1100" b="0">
                          <a:solidFill>
                            <a:srgbClr val="4B4B4B"/>
                          </a:solidFill>
                          <a:latin typeface="Arial"/>
                        </a:rPr>
                        <a:t>Major pain point: move it into the system.</a:t>
                      </a:r>
                    </a:p>
                  </a:txBody>
                  <a:tcPr marL="64008" marR="64008" marT="27432" marB="27432" anchor="ctr">
                    <a:solidFill>
                      <a:srgbClr val="FFFFFF"/>
                    </a:solidFill>
                  </a:tcPr>
                </a:tc>
              </a:tr>
              <a:tr h="650530">
                <a:tc>
                  <a:txBody>
                    <a:bodyPr wrap="square"/>
                    <a:lstStyle/>
                    <a:p>
                      <a:r>
                        <a:rPr sz="1100" b="1">
                          <a:solidFill>
                            <a:srgbClr val="4B4B4B"/>
                          </a:solidFill>
                          <a:latin typeface="Arial"/>
                        </a:rPr>
                        <a:t>RN-02</a:t>
                      </a:r>
                    </a:p>
                  </a:txBody>
                  <a:tcPr marL="64008" marR="64008" marT="27432" marB="27432" anchor="ctr">
                    <a:solidFill>
                      <a:srgbClr val="E5F5FF"/>
                    </a:solidFill>
                  </a:tcPr>
                </a:tc>
                <a:tc>
                  <a:txBody>
                    <a:bodyPr wrap="square"/>
                    <a:lstStyle/>
                    <a:p>
                      <a:r>
                        <a:rPr sz="1100" b="0">
                          <a:solidFill>
                            <a:srgbClr val="4B4B4B"/>
                          </a:solidFill>
                          <a:latin typeface="Arial"/>
                        </a:rPr>
                        <a:t>Pro-forma entries</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Renewal accounting is not real time, so adjustments are made later for additional remittance or recovery.</a:t>
                      </a:r>
                    </a:p>
                  </a:txBody>
                  <a:tcPr marL="64008" marR="64008" marT="27432" marB="27432" anchor="ctr">
                    <a:solidFill>
                      <a:srgbClr val="E5F5FF"/>
                    </a:solidFill>
                  </a:tcPr>
                </a:tc>
                <a:tc>
                  <a:txBody>
                    <a:bodyPr wrap="square"/>
                    <a:lstStyle/>
                    <a:p>
                      <a:r>
                        <a:rPr sz="1100" b="0">
                          <a:solidFill>
                            <a:srgbClr val="4B4B4B"/>
                          </a:solidFill>
                          <a:latin typeface="Arial"/>
                        </a:rPr>
                        <a:t>Pro-forma accounting entries for renewals.</a:t>
                      </a:r>
                    </a:p>
                  </a:txBody>
                  <a:tcPr marL="64008" marR="64008" marT="27432" marB="27432" anchor="ctr">
                    <a:solidFill>
                      <a:srgbClr val="E5F5FF"/>
                    </a:solidFill>
                  </a:tcPr>
                </a:tc>
              </a:tr>
              <a:tr h="650530">
                <a:tc>
                  <a:txBody>
                    <a:bodyPr wrap="square"/>
                    <a:lstStyle/>
                    <a:p>
                      <a:r>
                        <a:rPr sz="1100" b="1">
                          <a:solidFill>
                            <a:srgbClr val="4B4B4B"/>
                          </a:solidFill>
                          <a:latin typeface="Arial"/>
                        </a:rPr>
                        <a:t>PM-04</a:t>
                      </a:r>
                    </a:p>
                  </a:txBody>
                  <a:tcPr marL="64008" marR="64008" marT="27432" marB="27432" anchor="ctr">
                    <a:solidFill>
                      <a:srgbClr val="FFFFFF"/>
                    </a:solidFill>
                  </a:tcPr>
                </a:tc>
                <a:tc>
                  <a:txBody>
                    <a:bodyPr wrap="square"/>
                    <a:lstStyle/>
                    <a:p>
                      <a:r>
                        <a:rPr sz="1100" b="0">
                          <a:solidFill>
                            <a:srgbClr val="4B4B4B"/>
                          </a:solidFill>
                          <a:latin typeface="Arial"/>
                        </a:rPr>
                        <a:t>Package switch</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At renewal a policy can move from package to non-package or back.</a:t>
                      </a:r>
                    </a:p>
                  </a:txBody>
                  <a:tcPr marL="64008" marR="64008" marT="27432" marB="27432" anchor="ctr">
                    <a:solidFill>
                      <a:srgbClr val="FFFFFF"/>
                    </a:solidFill>
                  </a:tcPr>
                </a:tc>
                <a:tc>
                  <a:txBody>
                    <a:bodyPr wrap="square"/>
                    <a:lstStyle/>
                    <a:p>
                      <a:r>
                        <a:rPr sz="1100" b="0">
                          <a:solidFill>
                            <a:srgbClr val="4B4B4B"/>
                          </a:solidFill>
                          <a:latin typeface="Arial"/>
                        </a:rPr>
                        <a:t>The system allows the switch at renewal.</a:t>
                      </a:r>
                    </a:p>
                  </a:txBody>
                  <a:tcPr marL="64008" marR="64008" marT="27432" marB="27432" anchor="ctr">
                    <a:solidFill>
                      <a:srgbClr val="FFFFFF"/>
                    </a:solidFill>
                  </a:tcPr>
                </a:tc>
              </a:tr>
              <a:tr h="650530">
                <a:tc>
                  <a:txBody>
                    <a:bodyPr wrap="square"/>
                    <a:lstStyle/>
                    <a:p>
                      <a:r>
                        <a:rPr sz="1100" b="1">
                          <a:solidFill>
                            <a:srgbClr val="4B4B4B"/>
                          </a:solidFill>
                          <a:latin typeface="Arial"/>
                        </a:rPr>
                        <a:t>DC-01</a:t>
                      </a:r>
                    </a:p>
                  </a:txBody>
                  <a:tcPr marL="64008" marR="64008" marT="27432" marB="27432" anchor="ctr">
                    <a:solidFill>
                      <a:srgbClr val="E5F5FF"/>
                    </a:solidFill>
                  </a:tcPr>
                </a:tc>
                <a:tc>
                  <a:txBody>
                    <a:bodyPr wrap="square"/>
                    <a:lstStyle/>
                    <a:p>
                      <a:r>
                        <a:rPr sz="1100" b="0">
                          <a:solidFill>
                            <a:srgbClr val="4B4B4B"/>
                          </a:solidFill>
                          <a:latin typeface="Arial"/>
                        </a:rPr>
                        <a:t>Renewal advice template</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Policy schedules follow insurer templates; the renewal advice uses the BDOI template.</a:t>
                      </a:r>
                    </a:p>
                  </a:txBody>
                  <a:tcPr marL="64008" marR="64008" marT="27432" marB="27432" anchor="ctr">
                    <a:solidFill>
                      <a:srgbClr val="E5F5FF"/>
                    </a:solidFill>
                  </a:tcPr>
                </a:tc>
                <a:tc>
                  <a:txBody>
                    <a:bodyPr wrap="square"/>
                    <a:lstStyle/>
                    <a:p>
                      <a:r>
                        <a:rPr sz="1100" b="0">
                          <a:solidFill>
                            <a:srgbClr val="4B4B4B"/>
                          </a:solidFill>
                          <a:latin typeface="Arial"/>
                        </a:rPr>
                        <a:t>RA generated from the BDOI template.</a:t>
                      </a:r>
                    </a:p>
                  </a:txBody>
                  <a:tcPr marL="64008" marR="64008" marT="27432" marB="27432" anchor="ctr">
                    <a:solidFill>
                      <a:srgbClr val="E5F5FF"/>
                    </a:solidFill>
                  </a:tcPr>
                </a:tc>
              </a:tr>
              <a:tr h="650530">
                <a:tc>
                  <a:txBody>
                    <a:bodyPr wrap="square"/>
                    <a:lstStyle/>
                    <a:p>
                      <a:r>
                        <a:rPr sz="1100" b="1">
                          <a:solidFill>
                            <a:srgbClr val="4B4B4B"/>
                          </a:solidFill>
                          <a:latin typeface="Arial"/>
                        </a:rPr>
                        <a:t>Day 1 p.14</a:t>
                      </a:r>
                    </a:p>
                  </a:txBody>
                  <a:tcPr marL="64008" marR="64008" marT="27432" marB="27432" anchor="ctr">
                    <a:solidFill>
                      <a:srgbClr val="FFFFFF"/>
                    </a:solidFill>
                  </a:tcPr>
                </a:tc>
                <a:tc>
                  <a:txBody>
                    <a:bodyPr wrap="square"/>
                    <a:lstStyle/>
                    <a:p>
                      <a:r>
                        <a:rPr sz="1100" b="0">
                          <a:solidFill>
                            <a:srgbClr val="4B4B4B"/>
                          </a:solidFill>
                          <a:latin typeface="Arial"/>
                        </a:rPr>
                        <a:t>Servicing path</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Send the sanitised renewal master expiry list; generate the renewal advice letter and send it to the client.</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650530">
                <a:tc>
                  <a:txBody>
                    <a:bodyPr wrap="square"/>
                    <a:lstStyle/>
                    <a:p>
                      <a:r>
                        <a:rPr sz="1100" b="1">
                          <a:solidFill>
                            <a:srgbClr val="4B4B4B"/>
                          </a:solidFill>
                          <a:latin typeface="Arial"/>
                        </a:rPr>
                        <a:t>Renewal flow</a:t>
                      </a:r>
                    </a:p>
                  </a:txBody>
                  <a:tcPr marL="64008" marR="64008" marT="27432" marB="27432" anchor="ctr">
                    <a:solidFill>
                      <a:srgbClr val="E5F5FF"/>
                    </a:solidFill>
                  </a:tcPr>
                </a:tc>
                <a:tc>
                  <a:txBody>
                    <a:bodyPr wrap="square"/>
                    <a:lstStyle/>
                    <a:p>
                      <a:r>
                        <a:rPr sz="1100" b="0">
                          <a:solidFill>
                            <a:srgbClr val="4B4B4B"/>
                          </a:solidFill>
                          <a:latin typeface="Arial"/>
                        </a:rPr>
                        <a:t>Notice days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RMEL at -140 days; first notice at -70 days; final notice at -40 days (CBG) or -45 days (Non-CBG); CBG letters also by snail mail.</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650530">
                <a:tc>
                  <a:txBody>
                    <a:bodyPr wrap="square"/>
                    <a:lstStyle/>
                    <a:p>
                      <a:r>
                        <a:rPr sz="1100" b="1">
                          <a:solidFill>
                            <a:srgbClr val="4B4B4B"/>
                          </a:solidFill>
                          <a:latin typeface="Arial"/>
                        </a:rPr>
                        <a:t>Renewal flow</a:t>
                      </a:r>
                    </a:p>
                  </a:txBody>
                  <a:tcPr marL="64008" marR="64008" marT="27432" marB="27432" anchor="ctr">
                    <a:solidFill>
                      <a:srgbClr val="FFFFFF"/>
                    </a:solidFill>
                  </a:tcPr>
                </a:tc>
                <a:tc>
                  <a:txBody>
                    <a:bodyPr wrap="square"/>
                    <a:lstStyle/>
                    <a:p>
                      <a:r>
                        <a:rPr sz="1100" b="0">
                          <a:solidFill>
                            <a:srgbClr val="4B4B4B"/>
                          </a:solidFill>
                          <a:latin typeface="Arial"/>
                        </a:rPr>
                        <a:t>Non-package and exceptions</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Accounts with no QPS set-up are booked directly in EBIX; Processing computes, prepares the dispositioned files and coordinates with the AO when the insurer does not approve.</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pic>
        <p:nvPicPr>
          <p:cNvPr id="9" name="Picture 8" descr="brd06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Renewal today (Renewal process flow: CBG automated RMEL, Non-CBG, exceptions; Day 1 p.14; RN-01, RN-02)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three renewal paths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graphicFrame>
        <p:nvGraphicFramePr>
          <p:cNvPr id="9" name="Table 8"/>
          <p:cNvGraphicFramePr>
            <a:graphicFrameLocks noGrp="1"/>
          </p:cNvGraphicFramePr>
          <p:nvPr/>
        </p:nvGraphicFramePr>
        <p:xfrm>
          <a:off x="548640" y="1280160"/>
          <a:ext cx="11094412" cy="4023360"/>
        </p:xfrm>
        <a:graphic>
          <a:graphicData uri="http://schemas.openxmlformats.org/drawingml/2006/table">
            <a:tbl>
              <a:tblPr firstRow="1" bandRow="1">
                <a:tableStyleId>{5C22544A-7EE6-4342-B048-85BDC9FD1C3A}</a:tableStyleId>
              </a:tblPr>
              <a:tblGrid>
                <a:gridCol w="1693803"/>
                <a:gridCol w="2117254"/>
                <a:gridCol w="2710086"/>
                <a:gridCol w="2371325"/>
                <a:gridCol w="2201944"/>
              </a:tblGrid>
              <a:tr h="365760">
                <a:tc>
                  <a:txBody>
                    <a:bodyPr wrap="square"/>
                    <a:lstStyle/>
                    <a:p>
                      <a:r>
                        <a:rPr sz="1100" b="1">
                          <a:solidFill>
                            <a:srgbClr val="FFFFFF"/>
                          </a:solidFill>
                          <a:latin typeface="Arial"/>
                        </a:rPr>
                        <a:t>Path</a:t>
                      </a:r>
                    </a:p>
                  </a:txBody>
                  <a:tcPr marL="64008" marR="64008" marT="27432" marB="27432" anchor="ctr">
                    <a:solidFill>
                      <a:srgbClr val="004EA8"/>
                    </a:solidFill>
                  </a:tcPr>
                </a:tc>
                <a:tc>
                  <a:txBody>
                    <a:bodyPr wrap="square"/>
                    <a:lstStyle/>
                    <a:p>
                      <a:r>
                        <a:rPr sz="1100" b="1">
                          <a:solidFill>
                            <a:srgbClr val="FFFFFF"/>
                          </a:solidFill>
                          <a:latin typeface="Arial"/>
                        </a:rPr>
                        <a:t>Who starts</a:t>
                      </a:r>
                    </a:p>
                  </a:txBody>
                  <a:tcPr marL="64008" marR="64008" marT="27432" marB="27432" anchor="ctr">
                    <a:solidFill>
                      <a:srgbClr val="004EA8"/>
                    </a:solidFill>
                  </a:tcPr>
                </a:tc>
                <a:tc>
                  <a:txBody>
                    <a:bodyPr wrap="square"/>
                    <a:lstStyle/>
                    <a:p>
                      <a:r>
                        <a:rPr sz="1100" b="1">
                          <a:solidFill>
                            <a:srgbClr val="FFFFFF"/>
                          </a:solidFill>
                          <a:latin typeface="Arial"/>
                        </a:rPr>
                        <a:t>Sanitation and disposition</a:t>
                      </a:r>
                    </a:p>
                  </a:txBody>
                  <a:tcPr marL="64008" marR="64008" marT="27432" marB="27432" anchor="ctr">
                    <a:solidFill>
                      <a:srgbClr val="004EA8"/>
                    </a:solidFill>
                  </a:tcPr>
                </a:tc>
                <a:tc>
                  <a:txBody>
                    <a:bodyPr wrap="square"/>
                    <a:lstStyle/>
                    <a:p>
                      <a:r>
                        <a:rPr sz="1100" b="1">
                          <a:solidFill>
                            <a:srgbClr val="FFFFFF"/>
                          </a:solidFill>
                          <a:latin typeface="Arial"/>
                        </a:rPr>
                        <a:t>Renewal advice</a:t>
                      </a:r>
                    </a:p>
                  </a:txBody>
                  <a:tcPr marL="64008" marR="64008" marT="27432" marB="27432" anchor="ctr">
                    <a:solidFill>
                      <a:srgbClr val="004EA8"/>
                    </a:solidFill>
                  </a:tcPr>
                </a:tc>
                <a:tc>
                  <a:txBody>
                    <a:bodyPr wrap="square"/>
                    <a:lstStyle/>
                    <a:p>
                      <a:r>
                        <a:rPr sz="1100" b="1">
                          <a:solidFill>
                            <a:srgbClr val="FFFFFF"/>
                          </a:solidFill>
                          <a:latin typeface="Arial"/>
                        </a:rPr>
                        <a:t>Placement</a:t>
                      </a:r>
                    </a:p>
                  </a:txBody>
                  <a:tcPr marL="64008" marR="64008" marT="27432" marB="27432" anchor="ctr">
                    <a:solidFill>
                      <a:srgbClr val="004EA8"/>
                    </a:solidFill>
                  </a:tcPr>
                </a:tc>
              </a:tr>
              <a:tr h="731520">
                <a:tc>
                  <a:txBody>
                    <a:bodyPr wrap="square"/>
                    <a:lstStyle/>
                    <a:p>
                      <a:r>
                        <a:rPr sz="1100" b="1">
                          <a:solidFill>
                            <a:srgbClr val="4B4B4B"/>
                          </a:solidFill>
                          <a:latin typeface="Arial"/>
                        </a:rPr>
                        <a:t>CBG Fire and Motor (automated RMEL)</a:t>
                      </a:r>
                    </a:p>
                  </a:txBody>
                  <a:tcPr marL="64008" marR="64008" marT="27432" marB="27432" anchor="ctr">
                    <a:solidFill>
                      <a:srgbClr val="FFFFFF"/>
                    </a:solidFill>
                  </a:tcPr>
                </a:tc>
                <a:tc>
                  <a:txBody>
                    <a:bodyPr wrap="square"/>
                    <a:lstStyle/>
                    <a:p>
                      <a:r>
                        <a:rPr sz="1100" b="0">
                          <a:solidFill>
                            <a:srgbClr val="4B4B4B"/>
                          </a:solidFill>
                          <a:latin typeface="Arial"/>
                        </a:rPr>
                        <a:t>Head-office SH advises branch SHs</a:t>
                      </a:r>
                    </a:p>
                  </a:txBody>
                  <a:tcPr marL="64008" marR="64008" marT="27432" marB="27432" anchor="ctr">
                    <a:solidFill>
                      <a:srgbClr val="FFFFFF"/>
                    </a:solidFill>
                  </a:tcPr>
                </a:tc>
                <a:tc>
                  <a:txBody>
                    <a:bodyPr wrap="square"/>
                    <a:lstStyle/>
                    <a:p>
                      <a:r>
                        <a:rPr sz="1100" b="0">
                          <a:solidFill>
                            <a:srgbClr val="4B4B4B"/>
                          </a:solidFill>
                          <a:latin typeface="Arial"/>
                        </a:rPr>
                        <a:t>SH identifies, updates, computes; MTL / MTH review by e-mail</a:t>
                      </a:r>
                    </a:p>
                  </a:txBody>
                  <a:tcPr marL="64008" marR="64008" marT="27432" marB="27432" anchor="ctr">
                    <a:solidFill>
                      <a:srgbClr val="FFFFFF"/>
                    </a:solidFill>
                  </a:tcPr>
                </a:tc>
                <a:tc>
                  <a:txBody>
                    <a:bodyPr wrap="square"/>
                    <a:lstStyle/>
                    <a:p>
                      <a:r>
                        <a:rPr sz="1100" b="0">
                          <a:solidFill>
                            <a:srgbClr val="4B4B4B"/>
                          </a:solidFill>
                          <a:latin typeface="Arial"/>
                        </a:rPr>
                        <a:t>IT RA text file; COG e-mail and snail mail; -70 / -40 days</a:t>
                      </a:r>
                    </a:p>
                  </a:txBody>
                  <a:tcPr marL="64008" marR="64008" marT="27432" marB="27432" anchor="ctr">
                    <a:solidFill>
                      <a:srgbClr val="FFFFFF"/>
                    </a:solidFill>
                  </a:tcPr>
                </a:tc>
                <a:tc>
                  <a:txBody>
                    <a:bodyPr wrap="square"/>
                    <a:lstStyle/>
                    <a:p>
                      <a:r>
                        <a:rPr sz="1100" b="0">
                          <a:solidFill>
                            <a:srgbClr val="4B4B4B"/>
                          </a:solidFill>
                          <a:latin typeface="Arial"/>
                        </a:rPr>
                        <a:t>MA validates payment; GRF; slip by SFTP or e-mail</a:t>
                      </a:r>
                    </a:p>
                  </a:txBody>
                  <a:tcPr marL="64008" marR="64008" marT="27432" marB="27432" anchor="ctr">
                    <a:solidFill>
                      <a:srgbClr val="FFFFFF"/>
                    </a:solidFill>
                  </a:tcPr>
                </a:tc>
              </a:tr>
              <a:tr h="731520">
                <a:tc>
                  <a:txBody>
                    <a:bodyPr wrap="square"/>
                    <a:lstStyle/>
                    <a:p>
                      <a:r>
                        <a:rPr sz="1100" b="1">
                          <a:solidFill>
                            <a:srgbClr val="4B4B4B"/>
                          </a:solidFill>
                          <a:latin typeface="Arial"/>
                        </a:rPr>
                        <a:t>Non-CBG (package)</a:t>
                      </a:r>
                    </a:p>
                  </a:txBody>
                  <a:tcPr marL="64008" marR="64008" marT="27432" marB="27432" anchor="ctr">
                    <a:solidFill>
                      <a:srgbClr val="E5F5FF"/>
                    </a:solidFill>
                  </a:tcPr>
                </a:tc>
                <a:tc>
                  <a:txBody>
                    <a:bodyPr wrap="square"/>
                    <a:lstStyle/>
                    <a:p>
                      <a:r>
                        <a:rPr sz="1100" b="0">
                          <a:solidFill>
                            <a:srgbClr val="4B4B4B"/>
                          </a:solidFill>
                          <a:latin typeface="Arial"/>
                        </a:rPr>
                        <a:t>MA TL advises MA; MA splits per segment</a:t>
                      </a:r>
                    </a:p>
                  </a:txBody>
                  <a:tcPr marL="64008" marR="64008" marT="27432" marB="27432" anchor="ctr">
                    <a:solidFill>
                      <a:srgbClr val="E5F5FF"/>
                    </a:solidFill>
                  </a:tcPr>
                </a:tc>
                <a:tc>
                  <a:txBody>
                    <a:bodyPr wrap="square"/>
                    <a:lstStyle/>
                    <a:p>
                      <a:r>
                        <a:rPr sz="1100" b="0">
                          <a:solidFill>
                            <a:srgbClr val="4B4B4B"/>
                          </a:solidFill>
                          <a:latin typeface="Arial"/>
                        </a:rPr>
                        <a:t>AO dispositions, TL reviews; PO sanitises per insurer</a:t>
                      </a:r>
                    </a:p>
                  </a:txBody>
                  <a:tcPr marL="64008" marR="64008" marT="27432" marB="27432" anchor="ctr">
                    <a:solidFill>
                      <a:srgbClr val="E5F5FF"/>
                    </a:solidFill>
                  </a:tcPr>
                </a:tc>
                <a:tc>
                  <a:txBody>
                    <a:bodyPr wrap="square"/>
                    <a:lstStyle/>
                    <a:p>
                      <a:r>
                        <a:rPr sz="1100" b="0">
                          <a:solidFill>
                            <a:srgbClr val="4B4B4B"/>
                          </a:solidFill>
                          <a:latin typeface="Arial"/>
                        </a:rPr>
                        <a:t>IT RA text file; COG e-mail; -70 / -45 days</a:t>
                      </a:r>
                    </a:p>
                  </a:txBody>
                  <a:tcPr marL="64008" marR="64008" marT="27432" marB="27432" anchor="ctr">
                    <a:solidFill>
                      <a:srgbClr val="E5F5FF"/>
                    </a:solidFill>
                  </a:tcPr>
                </a:tc>
                <a:tc>
                  <a:txBody>
                    <a:bodyPr wrap="square"/>
                    <a:lstStyle/>
                    <a:p>
                      <a:r>
                        <a:rPr sz="1100" b="0">
                          <a:solidFill>
                            <a:srgbClr val="4B4B4B"/>
                          </a:solidFill>
                          <a:latin typeface="Arial"/>
                        </a:rPr>
                        <a:t>MTL submits; PO places by Excel file per insurer</a:t>
                      </a:r>
                    </a:p>
                  </a:txBody>
                  <a:tcPr marL="64008" marR="64008" marT="27432" marB="27432" anchor="ctr">
                    <a:solidFill>
                      <a:srgbClr val="E5F5FF"/>
                    </a:solidFill>
                  </a:tcPr>
                </a:tc>
              </a:tr>
              <a:tr h="731520">
                <a:tc>
                  <a:txBody>
                    <a:bodyPr wrap="square"/>
                    <a:lstStyle/>
                    <a:p>
                      <a:r>
                        <a:rPr sz="1100" b="1">
                          <a:solidFill>
                            <a:srgbClr val="4B4B4B"/>
                          </a:solidFill>
                          <a:latin typeface="Arial"/>
                        </a:rPr>
                        <a:t>Non-CBG non-package and exceptions</a:t>
                      </a:r>
                    </a:p>
                  </a:txBody>
                  <a:tcPr marL="64008" marR="64008" marT="27432" marB="27432" anchor="ctr">
                    <a:solidFill>
                      <a:srgbClr val="FFFFFF"/>
                    </a:solidFill>
                  </a:tcPr>
                </a:tc>
                <a:tc>
                  <a:txBody>
                    <a:bodyPr wrap="square"/>
                    <a:lstStyle/>
                    <a:p>
                      <a:r>
                        <a:rPr sz="1100" b="0">
                          <a:solidFill>
                            <a:srgbClr val="4B4B4B"/>
                          </a:solidFill>
                          <a:latin typeface="Arial"/>
                        </a:rPr>
                        <a:t>MA TL advises MA</a:t>
                      </a:r>
                    </a:p>
                  </a:txBody>
                  <a:tcPr marL="64008" marR="64008" marT="27432" marB="27432" anchor="ctr">
                    <a:solidFill>
                      <a:srgbClr val="FFFFFF"/>
                    </a:solidFill>
                  </a:tcPr>
                </a:tc>
                <a:tc>
                  <a:txBody>
                    <a:bodyPr wrap="square"/>
                    <a:lstStyle/>
                    <a:p>
                      <a:r>
                        <a:rPr sz="1100" b="0">
                          <a:solidFill>
                            <a:srgbClr val="4B4B4B"/>
                          </a:solidFill>
                          <a:latin typeface="Arial"/>
                        </a:rPr>
                        <a:t>PO computes and prepares the dispositioned files</a:t>
                      </a:r>
                    </a:p>
                  </a:txBody>
                  <a:tcPr marL="64008" marR="64008" marT="27432" marB="27432" anchor="ctr">
                    <a:solidFill>
                      <a:srgbClr val="FFFFFF"/>
                    </a:solidFill>
                  </a:tcPr>
                </a:tc>
                <a:tc>
                  <a:txBody>
                    <a:bodyPr wrap="square"/>
                    <a:lstStyle/>
                    <a:p>
                      <a:r>
                        <a:rPr sz="1100" b="0">
                          <a:solidFill>
                            <a:srgbClr val="4B4B4B"/>
                          </a:solidFill>
                          <a:latin typeface="Arial"/>
                        </a:rPr>
                        <a:t>PO drops RA text files for COG; -70 / -45 days</a:t>
                      </a:r>
                    </a:p>
                  </a:txBody>
                  <a:tcPr marL="64008" marR="64008" marT="27432" marB="27432" anchor="ctr">
                    <a:solidFill>
                      <a:srgbClr val="FFFFFF"/>
                    </a:solidFill>
                  </a:tcPr>
                </a:tc>
                <a:tc>
                  <a:txBody>
                    <a:bodyPr wrap="square"/>
                    <a:lstStyle/>
                    <a:p>
                      <a:r>
                        <a:rPr sz="1100" b="0">
                          <a:solidFill>
                            <a:srgbClr val="4B4B4B"/>
                          </a:solidFill>
                          <a:latin typeface="Arial"/>
                        </a:rPr>
                        <a:t>PO coordinates with the AO when the insurer declines</a:t>
                      </a:r>
                    </a:p>
                  </a:txBody>
                  <a:tcPr marL="64008" marR="64008" marT="27432" marB="27432" anchor="ctr">
                    <a:solidFill>
                      <a:srgbClr val="FFFFFF"/>
                    </a:solidFill>
                  </a:tcPr>
                </a:tc>
              </a:tr>
              <a:tr h="731520">
                <a:tc>
                  <a:txBody>
                    <a:bodyPr wrap="square"/>
                    <a:lstStyle/>
                    <a:p>
                      <a:r>
                        <a:rPr sz="1100" b="1">
                          <a:solidFill>
                            <a:srgbClr val="4B4B4B"/>
                          </a:solidFill>
                          <a:latin typeface="Arial"/>
                        </a:rPr>
                        <a:t>CBG Home only</a:t>
                      </a:r>
                    </a:p>
                  </a:txBody>
                  <a:tcPr marL="64008" marR="64008" marT="27432" marB="27432" anchor="ctr">
                    <a:solidFill>
                      <a:srgbClr val="E5F5FF"/>
                    </a:solidFill>
                  </a:tcPr>
                </a:tc>
                <a:tc>
                  <a:txBody>
                    <a:bodyPr wrap="square"/>
                    <a:lstStyle/>
                    <a:p>
                      <a:r>
                        <a:rPr sz="1100" b="0">
                          <a:solidFill>
                            <a:srgbClr val="4B4B4B"/>
                          </a:solidFill>
                          <a:latin typeface="Arial"/>
                        </a:rPr>
                        <a:t>Head-office SH</a:t>
                      </a:r>
                    </a:p>
                  </a:txBody>
                  <a:tcPr marL="64008" marR="64008" marT="27432" marB="27432" anchor="ctr">
                    <a:solidFill>
                      <a:srgbClr val="E5F5FF"/>
                    </a:solidFill>
                  </a:tcPr>
                </a:tc>
                <a:tc>
                  <a:txBody>
                    <a:bodyPr wrap="square"/>
                    <a:lstStyle/>
                    <a:p>
                      <a:r>
                        <a:rPr sz="1100" b="0">
                          <a:solidFill>
                            <a:srgbClr val="4B4B4B"/>
                          </a:solidFill>
                          <a:latin typeface="Arial"/>
                        </a:rPr>
                        <a:t>As CBG; PO coordinates insurer and Marketing by e-mail</a:t>
                      </a:r>
                    </a:p>
                  </a:txBody>
                  <a:tcPr marL="64008" marR="64008" marT="27432" marB="27432" anchor="ctr">
                    <a:solidFill>
                      <a:srgbClr val="E5F5FF"/>
                    </a:solidFill>
                  </a:tcPr>
                </a:tc>
                <a:tc>
                  <a:txBody>
                    <a:bodyPr wrap="square"/>
                    <a:lstStyle/>
                    <a:p>
                      <a:r>
                        <a:rPr sz="1100" b="0">
                          <a:solidFill>
                            <a:srgbClr val="4B4B4B"/>
                          </a:solidFill>
                          <a:latin typeface="Arial"/>
                        </a:rPr>
                        <a:t>As CBG</a:t>
                      </a:r>
                    </a:p>
                  </a:txBody>
                  <a:tcPr marL="64008" marR="64008" marT="27432" marB="27432" anchor="ctr">
                    <a:solidFill>
                      <a:srgbClr val="E5F5FF"/>
                    </a:solidFill>
                  </a:tcPr>
                </a:tc>
                <a:tc>
                  <a:txBody>
                    <a:bodyPr wrap="square"/>
                    <a:lstStyle/>
                    <a:p>
                      <a:r>
                        <a:rPr sz="1100" b="0">
                          <a:solidFill>
                            <a:srgbClr val="4B4B4B"/>
                          </a:solidFill>
                          <a:latin typeface="Arial"/>
                        </a:rPr>
                        <a:t>MA TL reviews and sends to PO</a:t>
                      </a:r>
                    </a:p>
                  </a:txBody>
                  <a:tcPr marL="64008" marR="64008" marT="27432" marB="27432" anchor="ctr">
                    <a:solidFill>
                      <a:srgbClr val="E5F5FF"/>
                    </a:solidFill>
                  </a:tcPr>
                </a:tc>
              </a:tr>
              <a:tr h="731520">
                <a:tc>
                  <a:txBody>
                    <a:bodyPr wrap="square"/>
                    <a:lstStyle/>
                    <a:p>
                      <a:r>
                        <a:rPr sz="1100" b="1">
                          <a:solidFill>
                            <a:srgbClr val="4B4B4B"/>
                          </a:solidFill>
                          <a:latin typeface="Arial"/>
                        </a:rPr>
                        <a:t>Branches without an MA TL</a:t>
                      </a:r>
                    </a:p>
                  </a:txBody>
                  <a:tcPr marL="64008" marR="64008" marT="27432" marB="27432" anchor="ctr">
                    <a:solidFill>
                      <a:srgbClr val="FFFFFF"/>
                    </a:solidFill>
                  </a:tcPr>
                </a:tc>
                <a:tc>
                  <a:txBody>
                    <a:bodyPr wrap="square"/>
                    <a:lstStyle/>
                    <a:p>
                      <a:r>
                        <a:rPr sz="1100" b="0">
                          <a:solidFill>
                            <a:srgbClr val="4B4B4B"/>
                          </a:solidFill>
                          <a:latin typeface="Arial"/>
                        </a:rPr>
                        <a:t>MTL does the MA TL steps</a:t>
                      </a:r>
                    </a:p>
                  </a:txBody>
                  <a:tcPr marL="64008" marR="64008" marT="27432" marB="27432" anchor="ctr">
                    <a:solidFill>
                      <a:srgbClr val="FFFFFF"/>
                    </a:solidFill>
                  </a:tcPr>
                </a:tc>
                <a:tc>
                  <a:txBody>
                    <a:bodyPr wrap="square"/>
                    <a:lstStyle/>
                    <a:p>
                      <a:r>
                        <a:rPr sz="1100" b="0">
                          <a:solidFill>
                            <a:srgbClr val="4B4B4B"/>
                          </a:solidFill>
                          <a:latin typeface="Arial"/>
                        </a:rPr>
                        <a:t>As Non-CBG</a:t>
                      </a:r>
                    </a:p>
                  </a:txBody>
                  <a:tcPr marL="64008" marR="64008" marT="27432" marB="27432" anchor="ctr">
                    <a:solidFill>
                      <a:srgbClr val="FFFFFF"/>
                    </a:solidFill>
                  </a:tcPr>
                </a:tc>
                <a:tc>
                  <a:txBody>
                    <a:bodyPr wrap="square"/>
                    <a:lstStyle/>
                    <a:p>
                      <a:r>
                        <a:rPr sz="1100" b="0">
                          <a:solidFill>
                            <a:srgbClr val="4B4B4B"/>
                          </a:solidFill>
                          <a:latin typeface="Arial"/>
                        </a:rPr>
                        <a:t>As Non-CBG</a:t>
                      </a:r>
                    </a:p>
                  </a:txBody>
                  <a:tcPr marL="64008" marR="64008" marT="27432" marB="27432" anchor="ctr">
                    <a:solidFill>
                      <a:srgbClr val="FFFFFF"/>
                    </a:solidFill>
                  </a:tcPr>
                </a:tc>
                <a:tc>
                  <a:txBody>
                    <a:bodyPr wrap="square"/>
                    <a:lstStyle/>
                    <a:p>
                      <a:r>
                        <a:rPr sz="1100" b="0">
                          <a:solidFill>
                            <a:srgbClr val="4B4B4B"/>
                          </a:solidFill>
                          <a:latin typeface="Arial"/>
                        </a:rPr>
                        <a:t>As Non-CBG</a:t>
                      </a:r>
                    </a:p>
                  </a:txBody>
                  <a:tcPr marL="64008" marR="64008" marT="27432" marB="27432"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extracts the expiring list</a:t>
            </a:r>
          </a:p>
          <a:p>
            <a:pPr>
              <a:spcAft>
                <a:spcPts val="100"/>
              </a:spcAft>
            </a:pPr>
            <a:r>
              <a:rPr sz="1200" b="0">
                <a:solidFill>
                  <a:srgbClr val="4B4B4B"/>
                </a:solidFill>
                <a:latin typeface="Arial"/>
              </a:rPr>
              <a:t>The RMEL is an IT extract from EBIX; business cannot run it.</a:t>
            </a:r>
          </a:p>
          <a:p>
            <a:pPr>
              <a:spcAft>
                <a:spcPts val="100"/>
              </a:spcAft>
            </a:pPr>
            <a:r>
              <a:rPr sz="1200" b="0">
                <a:solidFill>
                  <a:srgbClr val="0072D8"/>
                </a:solidFill>
                <a:latin typeface="Arial"/>
              </a:rPr>
              <a:t>Renewal flow; BRD-6 p.80</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Many hand-offs before work starts</a:t>
            </a:r>
          </a:p>
          <a:p>
            <a:pPr>
              <a:spcAft>
                <a:spcPts val="100"/>
              </a:spcAft>
            </a:pPr>
            <a:r>
              <a:rPr sz="1200" b="0">
                <a:solidFill>
                  <a:srgbClr val="4B4B4B"/>
                </a:solidFill>
                <a:latin typeface="Arial"/>
              </a:rPr>
              <a:t>MA TL, MA, MTL and AO (or head-office and branch SHs) pass the file on.</a:t>
            </a:r>
          </a:p>
          <a:p>
            <a:pPr>
              <a:spcAft>
                <a:spcPts val="100"/>
              </a:spcAft>
            </a:pPr>
            <a:r>
              <a:rPr sz="1200" b="0">
                <a:solidFill>
                  <a:srgbClr val="0072D8"/>
                </a:solidFill>
                <a:latin typeface="Arial"/>
              </a:rPr>
              <a:t>Renewal flow</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Sanitation in Excel</a:t>
            </a:r>
          </a:p>
          <a:p>
            <a:pPr>
              <a:spcAft>
                <a:spcPts val="100"/>
              </a:spcAft>
            </a:pPr>
            <a:r>
              <a:rPr sz="1200" b="0">
                <a:solidFill>
                  <a:srgbClr val="4B4B4B"/>
                </a:solidFill>
                <a:latin typeface="Arial"/>
              </a:rPr>
              <a:t>Handlers identify accounts, update details and compute premium in Excel.</a:t>
            </a:r>
          </a:p>
          <a:p>
            <a:pPr>
              <a:spcAft>
                <a:spcPts val="100"/>
              </a:spcAft>
            </a:pPr>
            <a:r>
              <a:rPr sz="1200" b="0">
                <a:solidFill>
                  <a:srgbClr val="0072D8"/>
                </a:solidFill>
                <a:latin typeface="Arial"/>
              </a:rPr>
              <a:t>Renewal flow; BRD-6 p.81</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Disposition in Excel</a:t>
            </a:r>
          </a:p>
          <a:p>
            <a:pPr>
              <a:spcAft>
                <a:spcPts val="100"/>
              </a:spcAft>
            </a:pPr>
            <a:r>
              <a:rPr sz="1200" b="0">
                <a:solidFill>
                  <a:srgbClr val="4B4B4B"/>
                </a:solidFill>
                <a:latin typeface="Arial"/>
              </a:rPr>
              <a:t>AO dispositions in a spreadsheet, reviewed by e-mail.</a:t>
            </a:r>
          </a:p>
          <a:p>
            <a:pPr>
              <a:spcAft>
                <a:spcPts val="100"/>
              </a:spcAft>
            </a:pPr>
            <a:r>
              <a:rPr sz="1200" b="0">
                <a:solidFill>
                  <a:srgbClr val="0072D8"/>
                </a:solidFill>
                <a:latin typeface="Arial"/>
              </a:rPr>
              <a:t>RN-01; BRD-6 p.81</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Upload and correction loop</a:t>
            </a:r>
          </a:p>
          <a:p>
            <a:pPr>
              <a:spcAft>
                <a:spcPts val="100"/>
              </a:spcAft>
            </a:pPr>
            <a:r>
              <a:rPr sz="1200" b="0">
                <a:solidFill>
                  <a:srgbClr val="4B4B4B"/>
                </a:solidFill>
                <a:latin typeface="Arial"/>
              </a:rPr>
              <a:t>Files dropped in a folder; failed rows found and re-worked.</a:t>
            </a:r>
          </a:p>
          <a:p>
            <a:pPr>
              <a:spcAft>
                <a:spcPts val="100"/>
              </a:spcAft>
            </a:pPr>
            <a:r>
              <a:rPr sz="1200" b="0">
                <a:solidFill>
                  <a:srgbClr val="0072D8"/>
                </a:solidFill>
                <a:latin typeface="Arial"/>
              </a:rPr>
              <a:t>Renewal flow</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RA through text files and COG</a:t>
            </a:r>
          </a:p>
          <a:p>
            <a:pPr>
              <a:spcAft>
                <a:spcPts val="100"/>
              </a:spcAft>
            </a:pPr>
            <a:r>
              <a:rPr sz="1200" b="0">
                <a:solidFill>
                  <a:srgbClr val="4B4B4B"/>
                </a:solidFill>
                <a:latin typeface="Arial"/>
              </a:rPr>
              <a:t>IT text file, COG print; snail mail for CBG; notice days differ by segment.</a:t>
            </a:r>
          </a:p>
          <a:p>
            <a:pPr>
              <a:spcAft>
                <a:spcPts val="100"/>
              </a:spcAft>
            </a:pPr>
            <a:r>
              <a:rPr sz="1200" b="0">
                <a:solidFill>
                  <a:srgbClr val="0072D8"/>
                </a:solidFill>
                <a:latin typeface="Arial"/>
              </a:rPr>
              <a:t>Renewal flow; DC-01</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Accepted renewals re-keyed</a:t>
            </a:r>
          </a:p>
          <a:p>
            <a:pPr>
              <a:spcAft>
                <a:spcPts val="100"/>
              </a:spcAft>
            </a:pPr>
            <a:r>
              <a:rPr sz="1200" b="0">
                <a:solidFill>
                  <a:srgbClr val="4B4B4B"/>
                </a:solidFill>
                <a:latin typeface="Arial"/>
              </a:rPr>
              <a:t>AO updates the account; payment and changes validated by hand.</a:t>
            </a:r>
          </a:p>
          <a:p>
            <a:pPr>
              <a:spcAft>
                <a:spcPts val="100"/>
              </a:spcAft>
            </a:pPr>
            <a:r>
              <a:rPr sz="1200" b="0">
                <a:solidFill>
                  <a:srgbClr val="0072D8"/>
                </a:solidFill>
                <a:latin typeface="Arial"/>
              </a:rPr>
              <a:t>Renewal flow; BRD-6 p.82</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 lists from Excel</a:t>
            </a:r>
          </a:p>
          <a:p>
            <a:pPr>
              <a:spcAft>
                <a:spcPts val="100"/>
              </a:spcAft>
            </a:pPr>
            <a:r>
              <a:rPr sz="1200" b="0">
                <a:solidFill>
                  <a:srgbClr val="4B4B4B"/>
                </a:solidFill>
                <a:latin typeface="Arial"/>
              </a:rPr>
              <a:t>Placement files prepared in Excel and e-mailed to each insurer.</a:t>
            </a:r>
          </a:p>
          <a:p>
            <a:pPr>
              <a:spcAft>
                <a:spcPts val="100"/>
              </a:spcAft>
            </a:pPr>
            <a:r>
              <a:rPr sz="1200" b="0">
                <a:solidFill>
                  <a:srgbClr val="0072D8"/>
                </a:solidFill>
                <a:latin typeface="Arial"/>
              </a:rPr>
              <a:t>Renewal flow; BRD-6 p.82</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Accounting after the fact</a:t>
            </a:r>
          </a:p>
          <a:p>
            <a:pPr>
              <a:spcAft>
                <a:spcPts val="100"/>
              </a:spcAft>
            </a:pPr>
            <a:r>
              <a:rPr sz="1200" b="0">
                <a:solidFill>
                  <a:srgbClr val="4B4B4B"/>
                </a:solidFill>
                <a:latin typeface="Arial"/>
              </a:rPr>
              <a:t>No real-time renewal accounting; additional remittance or recovery adjusted later.</a:t>
            </a:r>
          </a:p>
          <a:p>
            <a:pPr>
              <a:spcAft>
                <a:spcPts val="100"/>
              </a:spcAft>
            </a:pPr>
            <a:r>
              <a:rPr sz="1200" b="0">
                <a:solidFill>
                  <a:srgbClr val="0072D8"/>
                </a:solidFill>
                <a:latin typeface="Arial"/>
              </a:rPr>
              <a:t>RN-02</a:t>
            </a:r>
          </a:p>
        </p:txBody>
      </p:sp>
      <p:sp>
        <p:nvSpPr>
          <p:cNvPr id="27" name="Oval 26"/>
          <p:cNvSpPr/>
          <p:nvPr/>
        </p:nvSpPr>
        <p:spPr>
          <a:xfrm>
            <a:off x="6233007"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10</a:t>
            </a:r>
          </a:p>
        </p:txBody>
      </p:sp>
      <p:sp>
        <p:nvSpPr>
          <p:cNvPr id="28" name="TextBox 27"/>
          <p:cNvSpPr txBox="1"/>
          <p:nvPr/>
        </p:nvSpPr>
        <p:spPr>
          <a:xfrm>
            <a:off x="6708495"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E-policy fall-outs again</a:t>
            </a:r>
          </a:p>
          <a:p>
            <a:pPr>
              <a:spcAft>
                <a:spcPts val="100"/>
              </a:spcAft>
            </a:pPr>
            <a:r>
              <a:rPr sz="1200" b="0">
                <a:solidFill>
                  <a:srgbClr val="4B4B4B"/>
                </a:solidFill>
                <a:latin typeface="Arial"/>
              </a:rPr>
              <a:t>The e-policy leg repeats the New Business fall-out chain.</a:t>
            </a:r>
          </a:p>
          <a:p>
            <a:pPr>
              <a:spcAft>
                <a:spcPts val="100"/>
              </a:spcAft>
            </a:pPr>
            <a:r>
              <a:rPr sz="1200" b="0">
                <a:solidFill>
                  <a:srgbClr val="0072D8"/>
                </a:solidFill>
                <a:latin typeface="Arial"/>
              </a:rPr>
              <a:t>Renewal flow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pic>
        <p:nvPicPr>
          <p:cNvPr id="9" name="Picture 8" descr="brd06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Renewal in BIBS: workflow RNW_CASE with the decision matrix (FRS BRD-6 sections 2.2 and 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how the BRD answers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extracts the expiring list</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Daily job extracts expiring accounts at the lead days; users generate the list for any range</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25,800 a month without IT</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Many hand-offs before work starts</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Work assigned by rule to the AO or handler; staged workflow with notices</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file passing</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Sanitation in Excel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Sanitation, matching and eligibility checks classify each record Clean, Review or Exception</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Checks by the system</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 in Excel</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AO dispositions online; clean cases pass by the decision matrix</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Straight-through for clean cases</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Upload and correction loop</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Records never leave the system; no upload step</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correction loop</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how the BRD answers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RA through text files and COG</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RA first and second notice from the latest template, in batch, by e-mail</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RA in 20 s; print open</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Accepted renewals re-keyed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Acceptance moves the account to placement and booking; it books as RENEWAL</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re-keying</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lists from Excel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Extract per insurer sent protected; insurer decision file uploaded and applied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Protected, logged</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Accounting after the fact</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Renewal books through New Business booking in real time; pro-forma not specified</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Partly: see gaps</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10</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E-policy fall-outs again</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Same e-policy receipt and sender as New Business</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Fall-out queue open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gaps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Pro-forma renewal entries</a:t>
                      </a:r>
                    </a:p>
                  </a:txBody>
                  <a:tcPr marL="64008" marR="64008" marT="27432" marB="27432" anchor="ctr">
                    <a:solidFill>
                      <a:srgbClr val="FFFFFF"/>
                    </a:solidFill>
                  </a:tcPr>
                </a:tc>
                <a:tc>
                  <a:txBody>
                    <a:bodyPr wrap="square"/>
                    <a:lstStyle/>
                    <a:p>
                      <a:r>
                        <a:rPr sz="1100" b="0">
                          <a:solidFill>
                            <a:srgbClr val="4B4B4B"/>
                          </a:solidFill>
                          <a:latin typeface="Arial"/>
                        </a:rPr>
                        <a:t>Adjustments after the fact for additional remittance or recovery (RN-02).</a:t>
                      </a:r>
                    </a:p>
                  </a:txBody>
                  <a:tcPr marL="64008" marR="64008" marT="27432" marB="27432" anchor="ctr">
                    <a:solidFill>
                      <a:srgbClr val="FFFFFF"/>
                    </a:solidFill>
                  </a:tcPr>
                </a:tc>
                <a:tc>
                  <a:txBody>
                    <a:bodyPr wrap="square"/>
                    <a:lstStyle/>
                    <a:p>
                      <a:r>
                        <a:rPr sz="1100" b="0">
                          <a:solidFill>
                            <a:srgbClr val="4B4B4B"/>
                          </a:solidFill>
                          <a:latin typeface="Arial"/>
                        </a:rPr>
                        <a:t>Renewal books through NB booking; no pro-forma.</a:t>
                      </a:r>
                    </a:p>
                  </a:txBody>
                  <a:tcPr marL="64008" marR="64008" marT="27432" marB="27432" anchor="ctr">
                    <a:solidFill>
                      <a:srgbClr val="FFFFFF"/>
                    </a:solidFill>
                  </a:tcPr>
                </a:tc>
                <a:tc>
                  <a:txBody>
                    <a:bodyPr wrap="square"/>
                    <a:lstStyle/>
                    <a:p>
                      <a:r>
                        <a:rPr sz="1100" b="0">
                          <a:solidFill>
                            <a:srgbClr val="4B4B4B"/>
                          </a:solidFill>
                          <a:latin typeface="Arial"/>
                        </a:rPr>
                        <a:t>Pro-forma entry at acceptance, finalised at booking; differences posted automatically.</a:t>
                      </a:r>
                    </a:p>
                  </a:txBody>
                  <a:tcPr marL="64008" marR="64008" marT="27432" marB="27432" anchor="ctr">
                    <a:solidFill>
                      <a:srgbClr val="FFFFFF"/>
                    </a:solidFill>
                  </a:tcPr>
                </a:tc>
                <a:tc>
                  <a:txBody>
                    <a:bodyPr wrap="square"/>
                    <a:lstStyle/>
                    <a:p>
                      <a:r>
                        <a:rPr sz="1100" b="0">
                          <a:solidFill>
                            <a:srgbClr val="4B4B4B"/>
                          </a:solidFill>
                          <a:latin typeface="Arial"/>
                        </a:rPr>
                        <a:t>RN-02</a:t>
                      </a:r>
                    </a:p>
                  </a:txBody>
                  <a:tcPr marL="64008" marR="64008" marT="27432" marB="27432" anchor="ctr">
                    <a:solidFill>
                      <a:srgbClr val="FFFFFF"/>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Snail-mail and print channel</a:t>
                      </a:r>
                    </a:p>
                  </a:txBody>
                  <a:tcPr marL="64008" marR="64008" marT="27432" marB="27432" anchor="ctr">
                    <a:solidFill>
                      <a:srgbClr val="E5F5FF"/>
                    </a:solidFill>
                  </a:tcPr>
                </a:tc>
                <a:tc>
                  <a:txBody>
                    <a:bodyPr wrap="square"/>
                    <a:lstStyle/>
                    <a:p>
                      <a:r>
                        <a:rPr sz="1100" b="0">
                          <a:solidFill>
                            <a:srgbClr val="4B4B4B"/>
                          </a:solidFill>
                          <a:latin typeface="Arial"/>
                        </a:rPr>
                        <a:t>CBG RAs and reminders printed by COG and mailed.</a:t>
                      </a:r>
                    </a:p>
                  </a:txBody>
                  <a:tcPr marL="64008" marR="64008" marT="27432" marB="27432" anchor="ctr">
                    <a:solidFill>
                      <a:srgbClr val="E5F5FF"/>
                    </a:solidFill>
                  </a:tcPr>
                </a:tc>
                <a:tc>
                  <a:txBody>
                    <a:bodyPr wrap="square"/>
                    <a:lstStyle/>
                    <a:p>
                      <a:r>
                        <a:rPr sz="1100" b="0">
                          <a:solidFill>
                            <a:srgbClr val="4B4B4B"/>
                          </a:solidFill>
                          <a:latin typeface="Arial"/>
                        </a:rPr>
                        <a:t>RA by e-mail only (BRRN.010).</a:t>
                      </a:r>
                    </a:p>
                  </a:txBody>
                  <a:tcPr marL="64008" marR="64008" marT="27432" marB="27432" anchor="ctr">
                    <a:solidFill>
                      <a:srgbClr val="E5F5FF"/>
                    </a:solidFill>
                  </a:tcPr>
                </a:tc>
                <a:tc>
                  <a:txBody>
                    <a:bodyPr wrap="square"/>
                    <a:lstStyle/>
                    <a:p>
                      <a:r>
                        <a:rPr sz="1100" b="0">
                          <a:solidFill>
                            <a:srgbClr val="4B4B4B"/>
                          </a:solidFill>
                          <a:latin typeface="Arial"/>
                        </a:rPr>
                        <a:t>Print batch for a mail house with delivery tracking, per client preference.</a:t>
                      </a:r>
                    </a:p>
                  </a:txBody>
                  <a:tcPr marL="64008" marR="64008" marT="27432" marB="27432" anchor="ctr">
                    <a:solidFill>
                      <a:srgbClr val="E5F5FF"/>
                    </a:solidFill>
                  </a:tcPr>
                </a:tc>
                <a:tc>
                  <a:txBody>
                    <a:bodyPr wrap="square"/>
                    <a:lstStyle/>
                    <a:p>
                      <a:r>
                        <a:rPr sz="1100" b="0">
                          <a:solidFill>
                            <a:srgbClr val="4B4B4B"/>
                          </a:solidFill>
                          <a:latin typeface="Arial"/>
                        </a:rPr>
                        <a:t>Renewal flow; SQ09</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Notice days per segment</a:t>
                      </a:r>
                    </a:p>
                  </a:txBody>
                  <a:tcPr marL="64008" marR="64008" marT="27432" marB="27432" anchor="ctr">
                    <a:solidFill>
                      <a:srgbClr val="FFFFFF"/>
                    </a:solidFill>
                  </a:tcPr>
                </a:tc>
                <a:tc>
                  <a:txBody>
                    <a:bodyPr wrap="square"/>
                    <a:lstStyle/>
                    <a:p>
                      <a:r>
                        <a:rPr sz="1100" b="0">
                          <a:solidFill>
                            <a:srgbClr val="4B4B4B"/>
                          </a:solidFill>
                          <a:latin typeface="Arial"/>
                        </a:rPr>
                        <a:t>-70 first; -40 (CBG) or -45 (Non-CBG) final.</a:t>
                      </a:r>
                    </a:p>
                  </a:txBody>
                  <a:tcPr marL="64008" marR="64008" marT="27432" marB="27432" anchor="ctr">
                    <a:solidFill>
                      <a:srgbClr val="FFFFFF"/>
                    </a:solidFill>
                  </a:tcPr>
                </a:tc>
                <a:tc>
                  <a:txBody>
                    <a:bodyPr wrap="square"/>
                    <a:lstStyle/>
                    <a:p>
                      <a:r>
                        <a:rPr sz="1100" b="0">
                          <a:solidFill>
                            <a:srgbClr val="4B4B4B"/>
                          </a:solidFill>
                          <a:latin typeface="Arial"/>
                        </a:rPr>
                        <a:t>First and second notice; days not per segment.</a:t>
                      </a:r>
                    </a:p>
                  </a:txBody>
                  <a:tcPr marL="64008" marR="64008" marT="27432" marB="27432" anchor="ctr">
                    <a:solidFill>
                      <a:srgbClr val="FFFFFF"/>
                    </a:solidFill>
                  </a:tcPr>
                </a:tc>
                <a:tc>
                  <a:txBody>
                    <a:bodyPr wrap="square"/>
                    <a:lstStyle/>
                    <a:p>
                      <a:r>
                        <a:rPr sz="1100" b="0">
                          <a:solidFill>
                            <a:srgbClr val="4B4B4B"/>
                          </a:solidFill>
                          <a:latin typeface="Arial"/>
                        </a:rPr>
                        <a:t>Lead days configurable per segment and product.</a:t>
                      </a:r>
                    </a:p>
                  </a:txBody>
                  <a:tcPr marL="64008" marR="64008" marT="27432" marB="27432" anchor="ctr">
                    <a:solidFill>
                      <a:srgbClr val="FFFFFF"/>
                    </a:solidFill>
                  </a:tcPr>
                </a:tc>
                <a:tc>
                  <a:txBody>
                    <a:bodyPr wrap="square"/>
                    <a:lstStyle/>
                    <a:p>
                      <a:r>
                        <a:rPr sz="1100" b="0">
                          <a:solidFill>
                            <a:srgbClr val="4B4B4B"/>
                          </a:solidFill>
                          <a:latin typeface="Arial"/>
                        </a:rPr>
                        <a:t>Renewal flow</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Package switch at renewal</a:t>
                      </a:r>
                    </a:p>
                  </a:txBody>
                  <a:tcPr marL="64008" marR="64008" marT="27432" marB="27432" anchor="ctr">
                    <a:solidFill>
                      <a:srgbClr val="E5F5FF"/>
                    </a:solidFill>
                  </a:tcPr>
                </a:tc>
                <a:tc>
                  <a:txBody>
                    <a:bodyPr wrap="square"/>
                    <a:lstStyle/>
                    <a:p>
                      <a:r>
                        <a:rPr sz="1100" b="0">
                          <a:solidFill>
                            <a:srgbClr val="4B4B4B"/>
                          </a:solidFill>
                          <a:latin typeface="Arial"/>
                        </a:rPr>
                        <a:t>Package to non-package or back (PM-04).</a:t>
                      </a:r>
                    </a:p>
                  </a:txBody>
                  <a:tcPr marL="64008" marR="64008" marT="27432" marB="27432" anchor="ctr">
                    <a:solidFill>
                      <a:srgbClr val="E5F5FF"/>
                    </a:solidFill>
                  </a:tcPr>
                </a:tc>
                <a:tc>
                  <a:txBody>
                    <a:bodyPr wrap="square"/>
                    <a:lstStyle/>
                    <a:p>
                      <a:r>
                        <a:rPr sz="1100" b="0">
                          <a:solidFill>
                            <a:srgbClr val="4B4B4B"/>
                          </a:solidFill>
                          <a:latin typeface="Arial"/>
                        </a:rPr>
                        <a:t>Restructure goes the NB path; no explicit switch rule.</a:t>
                      </a:r>
                    </a:p>
                  </a:txBody>
                  <a:tcPr marL="64008" marR="64008" marT="27432" marB="27432" anchor="ctr">
                    <a:solidFill>
                      <a:srgbClr val="E5F5FF"/>
                    </a:solidFill>
                  </a:tcPr>
                </a:tc>
                <a:tc>
                  <a:txBody>
                    <a:bodyPr wrap="square"/>
                    <a:lstStyle/>
                    <a:p>
                      <a:r>
                        <a:rPr sz="1100" b="0">
                          <a:solidFill>
                            <a:srgbClr val="4B4B4B"/>
                          </a:solidFill>
                          <a:latin typeface="Arial"/>
                        </a:rPr>
                        <a:t>Switch rule with product-version handling at sanitation.</a:t>
                      </a:r>
                    </a:p>
                  </a:txBody>
                  <a:tcPr marL="64008" marR="64008" marT="27432" marB="27432" anchor="ctr">
                    <a:solidFill>
                      <a:srgbClr val="E5F5FF"/>
                    </a:solidFill>
                  </a:tcPr>
                </a:tc>
                <a:tc>
                  <a:txBody>
                    <a:bodyPr wrap="square"/>
                    <a:lstStyle/>
                    <a:p>
                      <a:r>
                        <a:rPr sz="1100" b="0">
                          <a:solidFill>
                            <a:srgbClr val="4B4B4B"/>
                          </a:solidFill>
                          <a:latin typeface="Arial"/>
                        </a:rPr>
                        <a:t>PM-04; PQ11</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Online or upload per segment</a:t>
                      </a:r>
                    </a:p>
                  </a:txBody>
                  <a:tcPr marL="64008" marR="64008" marT="27432" marB="27432" anchor="ctr">
                    <a:solidFill>
                      <a:srgbClr val="FFFFFF"/>
                    </a:solidFill>
                  </a:tcPr>
                </a:tc>
                <a:tc>
                  <a:txBody>
                    <a:bodyPr wrap="square"/>
                    <a:lstStyle/>
                    <a:p>
                      <a:r>
                        <a:rPr sz="1100" b="0">
                          <a:solidFill>
                            <a:srgbClr val="4B4B4B"/>
                          </a:solidFill>
                          <a:latin typeface="Arial"/>
                        </a:rPr>
                        <a:t>CBG in bulk files; Non-CBG by AO.</a:t>
                      </a:r>
                    </a:p>
                  </a:txBody>
                  <a:tcPr marL="64008" marR="64008" marT="27432" marB="27432" anchor="ctr">
                    <a:solidFill>
                      <a:srgbClr val="FFFFFF"/>
                    </a:solidFill>
                  </a:tcPr>
                </a:tc>
                <a:tc>
                  <a:txBody>
                    <a:bodyPr wrap="square"/>
                    <a:lstStyle/>
                    <a:p>
                      <a:r>
                        <a:rPr sz="1100" b="0">
                          <a:solidFill>
                            <a:srgbClr val="4B4B4B"/>
                          </a:solidFill>
                          <a:latin typeface="Arial"/>
                        </a:rPr>
                        <a:t>Both paths described; choice per segment open.</a:t>
                      </a:r>
                    </a:p>
                  </a:txBody>
                  <a:tcPr marL="64008" marR="64008" marT="27432" marB="27432" anchor="ctr">
                    <a:solidFill>
                      <a:srgbClr val="FFFFFF"/>
                    </a:solidFill>
                  </a:tcPr>
                </a:tc>
                <a:tc>
                  <a:txBody>
                    <a:bodyPr wrap="square"/>
                    <a:lstStyle/>
                    <a:p>
                      <a:r>
                        <a:rPr sz="1100" b="0">
                          <a:solidFill>
                            <a:srgbClr val="4B4B4B"/>
                          </a:solidFill>
                          <a:latin typeface="Arial"/>
                        </a:rPr>
                        <a:t>Online disposition for all, bulk actions for CBG.</a:t>
                      </a:r>
                    </a:p>
                  </a:txBody>
                  <a:tcPr marL="64008" marR="64008" marT="27432" marB="27432" anchor="ctr">
                    <a:solidFill>
                      <a:srgbClr val="FFFFFF"/>
                    </a:solidFill>
                  </a:tcPr>
                </a:tc>
                <a:tc>
                  <a:txBody>
                    <a:bodyPr wrap="square"/>
                    <a:lstStyle/>
                    <a:p>
                      <a:r>
                        <a:rPr sz="1100" b="0">
                          <a:solidFill>
                            <a:srgbClr val="4B4B4B"/>
                          </a:solidFill>
                          <a:latin typeface="Arial"/>
                        </a:rPr>
                        <a:t>DCR-062</a:t>
                      </a:r>
                    </a:p>
                  </a:txBody>
                  <a:tcPr marL="64008" marR="64008" marT="27432" marB="27432" anchor="ctr">
                    <a:solidFill>
                      <a:srgbClr val="FFFF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Renewal of submitted policies</a:t>
                      </a:r>
                    </a:p>
                  </a:txBody>
                  <a:tcPr marL="64008" marR="64008" marT="27432" marB="27432" anchor="ctr">
                    <a:solidFill>
                      <a:srgbClr val="E5F5FF"/>
                    </a:solidFill>
                  </a:tcPr>
                </a:tc>
                <a:tc>
                  <a:txBody>
                    <a:bodyPr wrap="square"/>
                    <a:lstStyle/>
                    <a:p>
                      <a:r>
                        <a:rPr sz="1100" b="0">
                          <a:solidFill>
                            <a:srgbClr val="4B4B4B"/>
                          </a:solidFill>
                          <a:latin typeface="Arial"/>
                        </a:rPr>
                        <a:t>SP renewals prepared by the Submitted handlers (chapter 3).</a:t>
                      </a:r>
                    </a:p>
                  </a:txBody>
                  <a:tcPr marL="64008" marR="64008" marT="27432" marB="27432" anchor="ctr">
                    <a:solidFill>
                      <a:srgbClr val="E5F5FF"/>
                    </a:solidFill>
                  </a:tcPr>
                </a:tc>
                <a:tc>
                  <a:txBody>
                    <a:bodyPr wrap="square"/>
                    <a:lstStyle/>
                    <a:p>
                      <a:r>
                        <a:rPr sz="1100" b="0">
                          <a:solidFill>
                            <a:srgbClr val="4B4B4B"/>
                          </a:solidFill>
                          <a:latin typeface="Arial"/>
                        </a:rPr>
                        <a:t>Two renewal paths; boundary open.</a:t>
                      </a:r>
                    </a:p>
                  </a:txBody>
                  <a:tcPr marL="64008" marR="64008" marT="27432" marB="27432" anchor="ctr">
                    <a:solidFill>
                      <a:srgbClr val="E5F5FF"/>
                    </a:solidFill>
                  </a:tcPr>
                </a:tc>
                <a:tc>
                  <a:txBody>
                    <a:bodyPr wrap="square"/>
                    <a:lstStyle/>
                    <a:p>
                      <a:r>
                        <a:rPr sz="1100" b="0">
                          <a:solidFill>
                            <a:srgbClr val="4B4B4B"/>
                          </a:solidFill>
                          <a:latin typeface="Arial"/>
                        </a:rPr>
                        <a:t>Confirm the hand-off from Submitted Policies to Renewal.</a:t>
                      </a:r>
                    </a:p>
                  </a:txBody>
                  <a:tcPr marL="64008" marR="64008" marT="27432" marB="27432" anchor="ctr">
                    <a:solidFill>
                      <a:srgbClr val="E5F5FF"/>
                    </a:solidFill>
                  </a:tcPr>
                </a:tc>
                <a:tc>
                  <a:txBody>
                    <a:bodyPr wrap="square"/>
                    <a:lstStyle/>
                    <a:p>
                      <a:r>
                        <a:rPr sz="1100" b="0">
                          <a:solidFill>
                            <a:srgbClr val="4B4B4B"/>
                          </a:solidFill>
                          <a:latin typeface="Arial"/>
                        </a:rPr>
                        <a:t>DCR-129, 146</a:t>
                      </a:r>
                    </a:p>
                  </a:txBody>
                  <a:tcPr marL="64008" marR="64008" marT="27432" marB="27432" anchor="ctr">
                    <a:solidFill>
                      <a:srgbClr val="E5F5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renewals</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In the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Volume without headcount</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 decision matrix renews clean accounts automatically; people handle exceptions only.</a:t>
            </a:r>
          </a:p>
          <a:p>
            <a:pPr>
              <a:spcAft>
                <a:spcPts val="400"/>
              </a:spcAft>
            </a:pPr>
            <a:r>
              <a:rPr sz="1200" b="1">
                <a:solidFill>
                  <a:srgbClr val="004EA8"/>
                </a:solidFill>
                <a:latin typeface="Arial"/>
              </a:rPr>
              <a:t>For BDOI: </a:t>
            </a:r>
            <a:r>
              <a:rPr sz="1200" b="0">
                <a:solidFill>
                  <a:srgbClr val="4B4B4B"/>
                </a:solidFill>
                <a:latin typeface="Arial"/>
              </a:rPr>
              <a:t>Agree the rules with Marketing so most CBG renewals pass untouched.</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Omnichannel renewal notices</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Retention</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E-mail, SMS, print and portal notices with delivery tracking.</a:t>
            </a:r>
          </a:p>
          <a:p>
            <a:pPr>
              <a:spcAft>
                <a:spcPts val="400"/>
              </a:spcAft>
            </a:pPr>
            <a:r>
              <a:rPr sz="1200" b="1">
                <a:solidFill>
                  <a:srgbClr val="004EA8"/>
                </a:solidFill>
                <a:latin typeface="Arial"/>
              </a:rPr>
              <a:t>For BDOI: </a:t>
            </a:r>
            <a:r>
              <a:rPr sz="1200" b="0">
                <a:solidFill>
                  <a:srgbClr val="4B4B4B"/>
                </a:solidFill>
                <a:latin typeface="Arial"/>
              </a:rPr>
              <a:t>Add SMS and a print batch to the RA.</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Pay-to-renew link</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acceptance</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The RA carries a payment link; payment is the acceptance.</a:t>
            </a:r>
          </a:p>
          <a:p>
            <a:pPr>
              <a:spcAft>
                <a:spcPts val="400"/>
              </a:spcAft>
            </a:pPr>
            <a:r>
              <a:rPr sz="1200" b="1">
                <a:solidFill>
                  <a:srgbClr val="004EA8"/>
                </a:solidFill>
                <a:latin typeface="Arial"/>
              </a:rPr>
              <a:t>For BDOI: </a:t>
            </a:r>
            <a:r>
              <a:rPr sz="1200" b="0">
                <a:solidFill>
                  <a:srgbClr val="4B4B4B"/>
                </a:solidFill>
                <a:latin typeface="Arial"/>
              </a:rPr>
              <a:t>Add a payment reference and link to the RA template.</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Experience-based renewal pricing</a:t>
            </a:r>
          </a:p>
        </p:txBody>
      </p:sp>
      <p:sp>
        <p:nvSpPr>
          <p:cNvPr id="30" name="Rounded Rectangle 29"/>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terms</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Claims and payment history feed the renewal terms and insurer choice.</a:t>
            </a:r>
          </a:p>
          <a:p>
            <a:pPr>
              <a:spcAft>
                <a:spcPts val="400"/>
              </a:spcAft>
            </a:pPr>
            <a:r>
              <a:rPr sz="1200" b="1">
                <a:solidFill>
                  <a:srgbClr val="004EA8"/>
                </a:solidFill>
                <a:latin typeface="Arial"/>
              </a:rPr>
              <a:t>For BDOI: </a:t>
            </a:r>
            <a:r>
              <a:rPr sz="1200" b="0">
                <a:solidFill>
                  <a:srgbClr val="4B4B4B"/>
                </a:solidFill>
                <a:latin typeface="Arial"/>
              </a:rPr>
              <a:t>Show loss experience at sanitation (DCR-150).</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Retention analytics</a:t>
            </a:r>
          </a:p>
        </p:txBody>
      </p:sp>
      <p:sp>
        <p:nvSpPr>
          <p:cNvPr id="36" name="Rounded Rectangle 35"/>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Persistency</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Lapse-risk scores, persistency and lost-business reasons per segment.</a:t>
            </a:r>
          </a:p>
          <a:p>
            <a:pPr>
              <a:spcAft>
                <a:spcPts val="400"/>
              </a:spcAft>
            </a:pPr>
            <a:r>
              <a:rPr sz="1200" b="1">
                <a:solidFill>
                  <a:srgbClr val="004EA8"/>
                </a:solidFill>
                <a:latin typeface="Arial"/>
              </a:rPr>
              <a:t>For BDOI: </a:t>
            </a:r>
            <a:r>
              <a:rPr sz="1200" b="0">
                <a:solidFill>
                  <a:srgbClr val="4B4B4B"/>
                </a:solidFill>
                <a:latin typeface="Arial"/>
              </a:rPr>
              <a:t>Track reasons for non-renewal in the disposition list.</a:t>
            </a:r>
          </a:p>
        </p:txBody>
      </p:sp>
      <p:sp>
        <p:nvSpPr>
          <p:cNvPr id="39" name="Rounded Rectangle 38"/>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Early renewal window</a:t>
            </a:r>
          </a:p>
        </p:txBody>
      </p:sp>
      <p:sp>
        <p:nvSpPr>
          <p:cNvPr id="42" name="Rounded Rectangle 41"/>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43" name="TextBox 42"/>
          <p:cNvSpPr txBox="1"/>
          <p:nvPr/>
        </p:nvSpPr>
        <p:spPr>
          <a:xfrm>
            <a:off x="9837724"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last-minute cases</a:t>
            </a:r>
          </a:p>
        </p:txBody>
      </p:sp>
      <p:sp>
        <p:nvSpPr>
          <p:cNvPr id="44" name="TextBox 43"/>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Terms agreed with insurers before the RMEL so RAs go out on day one.</a:t>
            </a:r>
          </a:p>
          <a:p>
            <a:pPr>
              <a:spcAft>
                <a:spcPts val="400"/>
              </a:spcAft>
            </a:pPr>
            <a:r>
              <a:rPr sz="1200" b="1">
                <a:solidFill>
                  <a:srgbClr val="004EA8"/>
                </a:solidFill>
                <a:latin typeface="Arial"/>
              </a:rPr>
              <a:t>For BDOI: </a:t>
            </a:r>
            <a:r>
              <a:rPr sz="1200" b="0">
                <a:solidFill>
                  <a:srgbClr val="4B4B4B"/>
                </a:solidFill>
                <a:latin typeface="Arial"/>
              </a:rPr>
              <a:t>Negotiate renewal terms per package yearly with TSU.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CBG and Non-CBG Marketing - Submitted Policies</a:t>
            </a:r>
          </a:p>
          <a:p>
            <a:pPr>
              <a:spcAft>
                <a:spcPts val="300"/>
              </a:spcAft>
            </a:pPr>
            <a:r>
              <a:rPr sz="1200" b="0">
                <a:solidFill>
                  <a:srgbClr val="004EA8"/>
                </a:solidFill>
                <a:latin typeface="Arial"/>
              </a:rPr>
              <a:t>•  </a:t>
            </a:r>
            <a:r>
              <a:rPr sz="1200" b="0">
                <a:solidFill>
                  <a:srgbClr val="4B4B4B"/>
                </a:solidFill>
                <a:latin typeface="Arial"/>
              </a:rPr>
              <a:t>Submitted Handler and Submitted Checker (CBG)</a:t>
            </a:r>
          </a:p>
          <a:p>
            <a:pPr>
              <a:spcAft>
                <a:spcPts val="300"/>
              </a:spcAft>
            </a:pPr>
            <a:r>
              <a:rPr sz="1200" b="0">
                <a:solidFill>
                  <a:srgbClr val="004EA8"/>
                </a:solidFill>
                <a:latin typeface="Arial"/>
              </a:rPr>
              <a:t>•  </a:t>
            </a:r>
            <a:r>
              <a:rPr sz="1200" b="0">
                <a:solidFill>
                  <a:srgbClr val="4B4B4B"/>
                </a:solidFill>
                <a:latin typeface="Arial"/>
              </a:rPr>
              <a:t>Sanitation Handler; Team Lead</a:t>
            </a:r>
          </a:p>
          <a:p>
            <a:pPr>
              <a:spcAft>
                <a:spcPts val="300"/>
              </a:spcAft>
            </a:pPr>
            <a:r>
              <a:rPr sz="1200" b="0">
                <a:solidFill>
                  <a:srgbClr val="004EA8"/>
                </a:solidFill>
                <a:latin typeface="Arial"/>
              </a:rPr>
              <a:t>•  </a:t>
            </a:r>
            <a:r>
              <a:rPr sz="1200" b="0">
                <a:solidFill>
                  <a:srgbClr val="4B4B4B"/>
                </a:solidFill>
                <a:latin typeface="Arial"/>
              </a:rPr>
              <a:t>Policy Reviewer (Non-CBG Corporate); Marketing AO; NB AO and TL</a:t>
            </a:r>
          </a:p>
          <a:p>
            <a:pPr>
              <a:spcAft>
                <a:spcPts val="300"/>
              </a:spcAft>
            </a:pPr>
            <a:r>
              <a:rPr sz="1200" b="0">
                <a:solidFill>
                  <a:srgbClr val="004EA8"/>
                </a:solidFill>
                <a:latin typeface="Arial"/>
              </a:rPr>
              <a:t>•  </a:t>
            </a:r>
            <a:r>
              <a:rPr sz="1200" b="0">
                <a:solidFill>
                  <a:srgbClr val="4B4B4B"/>
                </a:solidFill>
                <a:latin typeface="Arial"/>
              </a:rPr>
              <a:t>Admin Team UPP handler (handling fee)</a:t>
            </a:r>
          </a:p>
          <a:p>
            <a:pPr>
              <a:spcAft>
                <a:spcPts val="300"/>
              </a:spcAft>
            </a:pPr>
            <a:r>
              <a:rPr sz="1200" b="0">
                <a:solidFill>
                  <a:srgbClr val="004EA8"/>
                </a:solidFill>
                <a:latin typeface="Arial"/>
              </a:rPr>
              <a:t>•  </a:t>
            </a:r>
            <a:r>
              <a:rPr sz="1200" b="0">
                <a:solidFill>
                  <a:srgbClr val="4B4B4B"/>
                </a:solidFill>
                <a:latin typeface="Arial"/>
              </a:rPr>
              <a:t>Bank units: Home Loan AO, IBG / Leasing, LFS, CIU, LAMD; COG</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63,000</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sanitations a year, growing 25% a year (BRD-12 p.13-14)</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30 days</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to consolidate the submitted masterlist after extraction</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150 days</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before expiry: masterlist to the Sanitation Handler (SP flow)</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3-5 days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for the insurer to accept the 30-day hold cover, else re-assign</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Discovery 24-Sep-2026; process flow walked with Marketing (Submitted Policies)</a:t>
            </a:r>
          </a:p>
          <a:p>
            <a:pPr>
              <a:spcAft>
                <a:spcPts val="400"/>
              </a:spcAft>
            </a:pPr>
            <a:r>
              <a:rPr sz="1100" b="1">
                <a:solidFill>
                  <a:srgbClr val="004EA8"/>
                </a:solidFill>
                <a:latin typeface="Arial"/>
              </a:rPr>
              <a:t>Process owners: </a:t>
            </a:r>
            <a:r>
              <a:rPr sz="1100" b="0">
                <a:solidFill>
                  <a:srgbClr val="4B4B4B"/>
                </a:solidFill>
                <a:latin typeface="Arial"/>
              </a:rPr>
              <a:t>CBG and Non-CBG Marketing process owners (Submitted Policies)</a:t>
            </a:r>
          </a:p>
          <a:p>
            <a:pPr>
              <a:spcAft>
                <a:spcPts val="400"/>
              </a:spcAft>
            </a:pPr>
            <a:r>
              <a:rPr sz="1100" b="0">
                <a:solidFill>
                  <a:srgbClr val="004EA8"/>
                </a:solidFill>
                <a:latin typeface="Arial"/>
              </a:rPr>
              <a:t>•  </a:t>
            </a:r>
            <a:r>
              <a:rPr sz="1100" b="0">
                <a:solidFill>
                  <a:srgbClr val="4B4B4B"/>
                </a:solidFill>
                <a:latin typeface="Arial"/>
              </a:rPr>
              <a:t>High-level Submitted Policies process flow (5 pages: intake, handling fee, three renewal paths)</a:t>
            </a:r>
          </a:p>
          <a:p>
            <a:pPr>
              <a:spcAft>
                <a:spcPts val="400"/>
              </a:spcAft>
            </a:pPr>
            <a:r>
              <a:rPr sz="1100" b="0">
                <a:solidFill>
                  <a:srgbClr val="004EA8"/>
                </a:solidFill>
                <a:latin typeface="Arial"/>
              </a:rPr>
              <a:t>•  </a:t>
            </a:r>
            <a:r>
              <a:rPr sz="1100" b="0">
                <a:solidFill>
                  <a:srgbClr val="4B4B4B"/>
                </a:solidFill>
                <a:latin typeface="Arial"/>
              </a:rPr>
              <a:t>BRD-12 p.4-7 (current and envisioned); BRIDSP-01 to 33</a:t>
            </a:r>
          </a:p>
          <a:p>
            <a:pPr>
              <a:spcAft>
                <a:spcPts val="400"/>
              </a:spcAft>
            </a:pPr>
            <a:r>
              <a:rPr sz="1100" b="0">
                <a:solidFill>
                  <a:srgbClr val="004EA8"/>
                </a:solidFill>
                <a:latin typeface="Arial"/>
              </a:rPr>
              <a:t>•  </a:t>
            </a:r>
            <a:r>
              <a:rPr sz="1100" b="0">
                <a:solidFill>
                  <a:srgbClr val="4B4B4B"/>
                </a:solidFill>
                <a:latin typeface="Arial"/>
              </a:rPr>
              <a:t>Floor-walk note SP-01</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Bank extract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Documents</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Masterlist</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Review</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IAAF</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Loan match</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Expiry</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Conversion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SP-01</a:t>
                      </a:r>
                    </a:p>
                  </a:txBody>
                  <a:tcPr marL="64008" marR="64008" marT="27432" marB="27432" anchor="ctr">
                    <a:solidFill>
                      <a:srgbClr val="FFFFFF"/>
                    </a:solidFill>
                  </a:tcPr>
                </a:tc>
                <a:tc>
                  <a:txBody>
                    <a:bodyPr wrap="square"/>
                    <a:lstStyle/>
                    <a:p>
                      <a:r>
                        <a:rPr sz="1100" b="0">
                          <a:solidFill>
                            <a:srgbClr val="4B4B4B"/>
                          </a:solidFill>
                          <a:latin typeface="Arial"/>
                        </a:rPr>
                        <a:t>Leasing and mortgage</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Leasing and mortgage accounts are "submitted policies"; they are tracked manually, not in a system.</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SP flow p.1</a:t>
                      </a:r>
                    </a:p>
                  </a:txBody>
                  <a:tcPr marL="64008" marR="64008" marT="27432" marB="27432" anchor="ctr">
                    <a:solidFill>
                      <a:srgbClr val="E5F5FF"/>
                    </a:solidFill>
                  </a:tcPr>
                </a:tc>
                <a:tc>
                  <a:txBody>
                    <a:bodyPr wrap="square"/>
                    <a:lstStyle/>
                    <a:p>
                      <a:r>
                        <a:rPr sz="1100" b="0">
                          <a:solidFill>
                            <a:srgbClr val="4B4B4B"/>
                          </a:solidFill>
                          <a:latin typeface="Arial"/>
                        </a:rPr>
                        <a:t>Intake</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Policy details extracted from LFS and CIU and the daily HLS insurance report; documents from the Home Loan AO and IBG / Leasing; validated and consolidated in the Submitted Masterlist on Drive H within 30 days; IAAF (PDF) issued when there are findings.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SP flow p.2</a:t>
                      </a:r>
                    </a:p>
                  </a:txBody>
                  <a:tcPr marL="64008" marR="64008" marT="27432" marB="27432" anchor="ctr">
                    <a:solidFill>
                      <a:srgbClr val="FFFFFF"/>
                    </a:solidFill>
                  </a:tcPr>
                </a:tc>
                <a:tc>
                  <a:txBody>
                    <a:bodyPr wrap="square"/>
                    <a:lstStyle/>
                    <a:p>
                      <a:r>
                        <a:rPr sz="1100" b="0">
                          <a:solidFill>
                            <a:srgbClr val="4B4B4B"/>
                          </a:solidFill>
                          <a:latin typeface="Arial"/>
                        </a:rPr>
                        <a:t>Handling fee (CBG Motor)</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UPP list on SharePoint filtered for handling-fee billing; NB TL assigns to the AO; disposition fed back by e-mail; client IDs saved in a shared folder.</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SP flow p.3</a:t>
                      </a:r>
                    </a:p>
                  </a:txBody>
                  <a:tcPr marL="64008" marR="64008" marT="27432" marB="27432" anchor="ctr">
                    <a:solidFill>
                      <a:srgbClr val="E5F5FF"/>
                    </a:solidFill>
                  </a:tcPr>
                </a:tc>
                <a:tc>
                  <a:txBody>
                    <a:bodyPr wrap="square"/>
                    <a:lstStyle/>
                    <a:p>
                      <a:r>
                        <a:rPr sz="1100" b="0">
                          <a:solidFill>
                            <a:srgbClr val="4B4B4B"/>
                          </a:solidFill>
                          <a:latin typeface="Arial"/>
                        </a:rPr>
                        <a:t>Renewal CBG Motor</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SPI list from Drive H mapped to NB and Renewal databases; matched with LAMD; FFY, BDO / SM employees and No Touch excluded; loan status updated; RA by snail mail at 90 days; NRNS list to COG and to AOs for call-outs.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SP flow p.4</a:t>
                      </a:r>
                    </a:p>
                  </a:txBody>
                  <a:tcPr marL="64008" marR="64008" marT="27432" marB="27432" anchor="ctr">
                    <a:solidFill>
                      <a:srgbClr val="FFFFFF"/>
                    </a:solidFill>
                  </a:tcPr>
                </a:tc>
                <a:tc>
                  <a:txBody>
                    <a:bodyPr wrap="square"/>
                    <a:lstStyle/>
                    <a:p>
                      <a:r>
                        <a:rPr sz="1100" b="0">
                          <a:solidFill>
                            <a:srgbClr val="4B4B4B"/>
                          </a:solidFill>
                          <a:latin typeface="Arial"/>
                        </a:rPr>
                        <a:t>Renewal CBG Fire</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Assign an insurer different from the expiring one; proposal with a 30-day hold cover by e-mail; accepted within 3-5 days or re-assigned.</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SP flow p.5</a:t>
                      </a:r>
                    </a:p>
                  </a:txBody>
                  <a:tcPr marL="64008" marR="64008" marT="27432" marB="27432" anchor="ctr">
                    <a:solidFill>
                      <a:srgbClr val="E5F5FF"/>
                    </a:solidFill>
                  </a:tcPr>
                </a:tc>
                <a:tc>
                  <a:txBody>
                    <a:bodyPr wrap="square"/>
                    <a:lstStyle/>
                    <a:p>
                      <a:r>
                        <a:rPr sz="1100" b="0">
                          <a:solidFill>
                            <a:srgbClr val="4B4B4B"/>
                          </a:solidFill>
                          <a:latin typeface="Arial"/>
                        </a:rPr>
                        <a:t>Renewal Non-CBG Retail</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AO asks the insurer to quote on expiring terms, quotes the employee, prepares the ARF in ISYS; NRNS letter by e-mail if declined.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pic>
        <p:nvPicPr>
          <p:cNvPr id="9" name="Picture 8" descr="brd12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Submitted policies today (BRD-12 p.4-7)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3. Submitted Policies: intake and three renewal paths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graphicFrame>
        <p:nvGraphicFramePr>
          <p:cNvPr id="9" name="Table 8"/>
          <p:cNvGraphicFramePr>
            <a:graphicFrameLocks noGrp="1"/>
          </p:cNvGraphicFramePr>
          <p:nvPr/>
        </p:nvGraphicFramePr>
        <p:xfrm>
          <a:off x="548640" y="1280160"/>
          <a:ext cx="11094413" cy="4023360"/>
        </p:xfrm>
        <a:graphic>
          <a:graphicData uri="http://schemas.openxmlformats.org/drawingml/2006/table">
            <a:tbl>
              <a:tblPr firstRow="1" bandRow="1">
                <a:tableStyleId>{5C22544A-7EE6-4342-B048-85BDC9FD1C3A}</a:tableStyleId>
              </a:tblPr>
              <a:tblGrid>
                <a:gridCol w="1761018"/>
                <a:gridCol w="2289323"/>
                <a:gridCol w="3345934"/>
                <a:gridCol w="1937120"/>
                <a:gridCol w="1761018"/>
              </a:tblGrid>
              <a:tr h="365760">
                <a:tc>
                  <a:txBody>
                    <a:bodyPr wrap="square"/>
                    <a:lstStyle/>
                    <a:p>
                      <a:r>
                        <a:rPr sz="1100" b="1">
                          <a:solidFill>
                            <a:srgbClr val="FFFFFF"/>
                          </a:solidFill>
                          <a:latin typeface="Arial"/>
                        </a:rPr>
                        <a:t>Path</a:t>
                      </a:r>
                    </a:p>
                  </a:txBody>
                  <a:tcPr marL="64008" marR="64008" marT="27432" marB="27432" anchor="ctr">
                    <a:solidFill>
                      <a:srgbClr val="004EA8"/>
                    </a:solidFill>
                  </a:tcPr>
                </a:tc>
                <a:tc>
                  <a:txBody>
                    <a:bodyPr wrap="square"/>
                    <a:lstStyle/>
                    <a:p>
                      <a:r>
                        <a:rPr sz="1100" b="1">
                          <a:solidFill>
                            <a:srgbClr val="FFFFFF"/>
                          </a:solidFill>
                          <a:latin typeface="Arial"/>
                        </a:rPr>
                        <a:t>Source</a:t>
                      </a:r>
                    </a:p>
                  </a:txBody>
                  <a:tcPr marL="64008" marR="64008" marT="27432" marB="27432" anchor="ctr">
                    <a:solidFill>
                      <a:srgbClr val="004EA8"/>
                    </a:solidFill>
                  </a:tcPr>
                </a:tc>
                <a:tc>
                  <a:txBody>
                    <a:bodyPr wrap="square"/>
                    <a:lstStyle/>
                    <a:p>
                      <a:r>
                        <a:rPr sz="1100" b="1">
                          <a:solidFill>
                            <a:srgbClr val="FFFFFF"/>
                          </a:solidFill>
                          <a:latin typeface="Arial"/>
                        </a:rPr>
                        <a:t>What the handler does</a:t>
                      </a:r>
                    </a:p>
                  </a:txBody>
                  <a:tcPr marL="64008" marR="64008" marT="27432" marB="27432" anchor="ctr">
                    <a:solidFill>
                      <a:srgbClr val="004EA8"/>
                    </a:solidFill>
                  </a:tcPr>
                </a:tc>
                <a:tc>
                  <a:txBody>
                    <a:bodyPr wrap="square"/>
                    <a:lstStyle/>
                    <a:p>
                      <a:r>
                        <a:rPr sz="1100" b="1">
                          <a:solidFill>
                            <a:srgbClr val="FFFFFF"/>
                          </a:solidFill>
                          <a:latin typeface="Arial"/>
                        </a:rPr>
                        <a:t>Output</a:t>
                      </a:r>
                    </a:p>
                  </a:txBody>
                  <a:tcPr marL="64008" marR="64008" marT="27432" marB="27432" anchor="ctr">
                    <a:solidFill>
                      <a:srgbClr val="004EA8"/>
                    </a:solidFill>
                  </a:tcPr>
                </a:tc>
                <a:tc>
                  <a:txBody>
                    <a:bodyPr wrap="square"/>
                    <a:lstStyle/>
                    <a:p>
                      <a:r>
                        <a:rPr sz="1100" b="1">
                          <a:solidFill>
                            <a:srgbClr val="FFFFFF"/>
                          </a:solidFill>
                          <a:latin typeface="Arial"/>
                        </a:rPr>
                        <a:t>Channel</a:t>
                      </a:r>
                    </a:p>
                  </a:txBody>
                  <a:tcPr marL="64008" marR="64008" marT="27432" marB="27432" anchor="ctr">
                    <a:solidFill>
                      <a:srgbClr val="004EA8"/>
                    </a:solidFill>
                  </a:tcPr>
                </a:tc>
              </a:tr>
              <a:tr h="731520">
                <a:tc>
                  <a:txBody>
                    <a:bodyPr wrap="square"/>
                    <a:lstStyle/>
                    <a:p>
                      <a:r>
                        <a:rPr sz="1100" b="1">
                          <a:solidFill>
                            <a:srgbClr val="4B4B4B"/>
                          </a:solidFill>
                          <a:latin typeface="Arial"/>
                        </a:rPr>
                        <a:t>Intake (all segments)</a:t>
                      </a:r>
                    </a:p>
                  </a:txBody>
                  <a:tcPr marL="64008" marR="64008" marT="27432" marB="27432" anchor="ctr">
                    <a:solidFill>
                      <a:srgbClr val="FFFFFF"/>
                    </a:solidFill>
                  </a:tcPr>
                </a:tc>
                <a:tc>
                  <a:txBody>
                    <a:bodyPr wrap="square"/>
                    <a:lstStyle/>
                    <a:p>
                      <a:r>
                        <a:rPr sz="1100" b="0">
                          <a:solidFill>
                            <a:srgbClr val="4B4B4B"/>
                          </a:solidFill>
                          <a:latin typeface="Arial"/>
                        </a:rPr>
                        <a:t>LFS, CIU, HLS daily; documents from Home Loan AO and IBG / Leasing</a:t>
                      </a:r>
                    </a:p>
                  </a:txBody>
                  <a:tcPr marL="64008" marR="64008" marT="27432" marB="27432" anchor="ctr">
                    <a:solidFill>
                      <a:srgbClr val="FFFFFF"/>
                    </a:solidFill>
                  </a:tcPr>
                </a:tc>
                <a:tc>
                  <a:txBody>
                    <a:bodyPr wrap="square"/>
                    <a:lstStyle/>
                    <a:p>
                      <a:r>
                        <a:rPr sz="1100" b="0">
                          <a:solidFill>
                            <a:srgbClr val="4B4B4B"/>
                          </a:solidFill>
                          <a:latin typeface="Arial"/>
                        </a:rPr>
                        <a:t>Validate, match, consolidate; review adequacy; checker validates</a:t>
                      </a:r>
                    </a:p>
                  </a:txBody>
                  <a:tcPr marL="64008" marR="64008" marT="27432" marB="27432" anchor="ctr">
                    <a:solidFill>
                      <a:srgbClr val="FFFFFF"/>
                    </a:solidFill>
                  </a:tcPr>
                </a:tc>
                <a:tc>
                  <a:txBody>
                    <a:bodyPr wrap="square"/>
                    <a:lstStyle/>
                    <a:p>
                      <a:r>
                        <a:rPr sz="1100" b="0">
                          <a:solidFill>
                            <a:srgbClr val="4B4B4B"/>
                          </a:solidFill>
                          <a:latin typeface="Arial"/>
                        </a:rPr>
                        <a:t>Masterlist on Drive H; IAAF if findings</a:t>
                      </a:r>
                    </a:p>
                  </a:txBody>
                  <a:tcPr marL="64008" marR="64008" marT="27432" marB="27432" anchor="ctr">
                    <a:solidFill>
                      <a:srgbClr val="FFFFFF"/>
                    </a:solidFill>
                  </a:tcPr>
                </a:tc>
                <a:tc>
                  <a:txBody>
                    <a:bodyPr wrap="square"/>
                    <a:lstStyle/>
                    <a:p>
                      <a:r>
                        <a:rPr sz="1100" b="0">
                          <a:solidFill>
                            <a:srgbClr val="4B4B4B"/>
                          </a:solidFill>
                          <a:latin typeface="Arial"/>
                        </a:rPr>
                        <a:t>E-mail (PDF)</a:t>
                      </a:r>
                    </a:p>
                  </a:txBody>
                  <a:tcPr marL="64008" marR="64008" marT="27432" marB="27432" anchor="ctr">
                    <a:solidFill>
                      <a:srgbClr val="FFFFFF"/>
                    </a:solidFill>
                  </a:tcPr>
                </a:tc>
              </a:tr>
              <a:tr h="731520">
                <a:tc>
                  <a:txBody>
                    <a:bodyPr wrap="square"/>
                    <a:lstStyle/>
                    <a:p>
                      <a:r>
                        <a:rPr sz="1100" b="1">
                          <a:solidFill>
                            <a:srgbClr val="4B4B4B"/>
                          </a:solidFill>
                          <a:latin typeface="Arial"/>
                        </a:rPr>
                        <a:t>Handling fee (CBG Motor)</a:t>
                      </a:r>
                    </a:p>
                  </a:txBody>
                  <a:tcPr marL="64008" marR="64008" marT="27432" marB="27432" anchor="ctr">
                    <a:solidFill>
                      <a:srgbClr val="E5F5FF"/>
                    </a:solidFill>
                  </a:tcPr>
                </a:tc>
                <a:tc>
                  <a:txBody>
                    <a:bodyPr wrap="square"/>
                    <a:lstStyle/>
                    <a:p>
                      <a:r>
                        <a:rPr sz="1100" b="0">
                          <a:solidFill>
                            <a:srgbClr val="4B4B4B"/>
                          </a:solidFill>
                          <a:latin typeface="Arial"/>
                        </a:rPr>
                        <a:t>UPP list on SharePoint</a:t>
                      </a:r>
                    </a:p>
                  </a:txBody>
                  <a:tcPr marL="64008" marR="64008" marT="27432" marB="27432" anchor="ctr">
                    <a:solidFill>
                      <a:srgbClr val="E5F5FF"/>
                    </a:solidFill>
                  </a:tcPr>
                </a:tc>
                <a:tc>
                  <a:txBody>
                    <a:bodyPr wrap="square"/>
                    <a:lstStyle/>
                    <a:p>
                      <a:r>
                        <a:rPr sz="1100" b="0">
                          <a:solidFill>
                            <a:srgbClr val="4B4B4B"/>
                          </a:solidFill>
                          <a:latin typeface="Arial"/>
                        </a:rPr>
                        <a:t>Filter for handling-fee billing; NB TL assigns; AO dispositions</a:t>
                      </a:r>
                    </a:p>
                  </a:txBody>
                  <a:tcPr marL="64008" marR="64008" marT="27432" marB="27432" anchor="ctr">
                    <a:solidFill>
                      <a:srgbClr val="E5F5FF"/>
                    </a:solidFill>
                  </a:tcPr>
                </a:tc>
                <a:tc>
                  <a:txBody>
                    <a:bodyPr wrap="square"/>
                    <a:lstStyle/>
                    <a:p>
                      <a:r>
                        <a:rPr sz="1100" b="0">
                          <a:solidFill>
                            <a:srgbClr val="4B4B4B"/>
                          </a:solidFill>
                          <a:latin typeface="Arial"/>
                        </a:rPr>
                        <a:t>UPP list updated</a:t>
                      </a:r>
                    </a:p>
                  </a:txBody>
                  <a:tcPr marL="64008" marR="64008" marT="27432" marB="27432" anchor="ctr">
                    <a:solidFill>
                      <a:srgbClr val="E5F5FF"/>
                    </a:solidFill>
                  </a:tcPr>
                </a:tc>
                <a:tc>
                  <a:txBody>
                    <a:bodyPr wrap="square"/>
                    <a:lstStyle/>
                    <a:p>
                      <a:r>
                        <a:rPr sz="1100" b="0">
                          <a:solidFill>
                            <a:srgbClr val="4B4B4B"/>
                          </a:solidFill>
                          <a:latin typeface="Arial"/>
                        </a:rPr>
                        <a:t>E-mail, SharePoint</a:t>
                      </a:r>
                    </a:p>
                  </a:txBody>
                  <a:tcPr marL="64008" marR="64008" marT="27432" marB="27432" anchor="ctr">
                    <a:solidFill>
                      <a:srgbClr val="E5F5FF"/>
                    </a:solidFill>
                  </a:tcPr>
                </a:tc>
              </a:tr>
              <a:tr h="731520">
                <a:tc>
                  <a:txBody>
                    <a:bodyPr wrap="square"/>
                    <a:lstStyle/>
                    <a:p>
                      <a:r>
                        <a:rPr sz="1100" b="1">
                          <a:solidFill>
                            <a:srgbClr val="4B4B4B"/>
                          </a:solidFill>
                          <a:latin typeface="Arial"/>
                        </a:rPr>
                        <a:t>Renewal CBG Motor</a:t>
                      </a:r>
                    </a:p>
                  </a:txBody>
                  <a:tcPr marL="64008" marR="64008" marT="27432" marB="27432" anchor="ctr">
                    <a:solidFill>
                      <a:srgbClr val="FFFFFF"/>
                    </a:solidFill>
                  </a:tcPr>
                </a:tc>
                <a:tc>
                  <a:txBody>
                    <a:bodyPr wrap="square"/>
                    <a:lstStyle/>
                    <a:p>
                      <a:r>
                        <a:rPr sz="1100" b="0">
                          <a:solidFill>
                            <a:srgbClr val="4B4B4B"/>
                          </a:solidFill>
                          <a:latin typeface="Arial"/>
                        </a:rPr>
                        <a:t>SPI list on Drive H; LAMD</a:t>
                      </a:r>
                    </a:p>
                  </a:txBody>
                  <a:tcPr marL="64008" marR="64008" marT="27432" marB="27432" anchor="ctr">
                    <a:solidFill>
                      <a:srgbClr val="FFFFFF"/>
                    </a:solidFill>
                  </a:tcPr>
                </a:tc>
                <a:tc>
                  <a:txBody>
                    <a:bodyPr wrap="square"/>
                    <a:lstStyle/>
                    <a:p>
                      <a:r>
                        <a:rPr sz="1100" b="0">
                          <a:solidFill>
                            <a:srgbClr val="4B4B4B"/>
                          </a:solidFill>
                          <a:latin typeface="Arial"/>
                        </a:rPr>
                        <a:t>Map to NB and Renewal data; exclude FFY, employees, No Touch; loan status; vehicle type and insurer</a:t>
                      </a:r>
                    </a:p>
                  </a:txBody>
                  <a:tcPr marL="64008" marR="64008" marT="27432" marB="27432" anchor="ctr">
                    <a:solidFill>
                      <a:srgbClr val="FFFFFF"/>
                    </a:solidFill>
                  </a:tcPr>
                </a:tc>
                <a:tc>
                  <a:txBody>
                    <a:bodyPr wrap="square"/>
                    <a:lstStyle/>
                    <a:p>
                      <a:r>
                        <a:rPr sz="1100" b="0">
                          <a:solidFill>
                            <a:srgbClr val="4B4B4B"/>
                          </a:solidFill>
                          <a:latin typeface="Arial"/>
                        </a:rPr>
                        <a:t>RA text file to COG; NRNS list</a:t>
                      </a:r>
                    </a:p>
                  </a:txBody>
                  <a:tcPr marL="64008" marR="64008" marT="27432" marB="27432" anchor="ctr">
                    <a:solidFill>
                      <a:srgbClr val="FFFFFF"/>
                    </a:solidFill>
                  </a:tcPr>
                </a:tc>
                <a:tc>
                  <a:txBody>
                    <a:bodyPr wrap="square"/>
                    <a:lstStyle/>
                    <a:p>
                      <a:r>
                        <a:rPr sz="1100" b="0">
                          <a:solidFill>
                            <a:srgbClr val="4B4B4B"/>
                          </a:solidFill>
                          <a:latin typeface="Arial"/>
                        </a:rPr>
                        <a:t>Snail mail at 90 days; call-outs</a:t>
                      </a:r>
                    </a:p>
                  </a:txBody>
                  <a:tcPr marL="64008" marR="64008" marT="27432" marB="27432" anchor="ctr">
                    <a:solidFill>
                      <a:srgbClr val="FFFFFF"/>
                    </a:solidFill>
                  </a:tcPr>
                </a:tc>
              </a:tr>
              <a:tr h="731520">
                <a:tc>
                  <a:txBody>
                    <a:bodyPr wrap="square"/>
                    <a:lstStyle/>
                    <a:p>
                      <a:r>
                        <a:rPr sz="1100" b="1">
                          <a:solidFill>
                            <a:srgbClr val="4B4B4B"/>
                          </a:solidFill>
                          <a:latin typeface="Arial"/>
                        </a:rPr>
                        <a:t>Renewal CBG Fire</a:t>
                      </a:r>
                    </a:p>
                  </a:txBody>
                  <a:tcPr marL="64008" marR="64008" marT="27432" marB="27432" anchor="ctr">
                    <a:solidFill>
                      <a:srgbClr val="E5F5FF"/>
                    </a:solidFill>
                  </a:tcPr>
                </a:tc>
                <a:tc>
                  <a:txBody>
                    <a:bodyPr wrap="square"/>
                    <a:lstStyle/>
                    <a:p>
                      <a:r>
                        <a:rPr sz="1100" b="0">
                          <a:solidFill>
                            <a:srgbClr val="4B4B4B"/>
                          </a:solidFill>
                          <a:latin typeface="Arial"/>
                        </a:rPr>
                        <a:t>Expiring list; LAMD</a:t>
                      </a:r>
                    </a:p>
                  </a:txBody>
                  <a:tcPr marL="64008" marR="64008" marT="27432" marB="27432" anchor="ctr">
                    <a:solidFill>
                      <a:srgbClr val="E5F5FF"/>
                    </a:solidFill>
                  </a:tcPr>
                </a:tc>
                <a:tc>
                  <a:txBody>
                    <a:bodyPr wrap="square"/>
                    <a:lstStyle/>
                    <a:p>
                      <a:r>
                        <a:rPr sz="1100" b="0">
                          <a:solidFill>
                            <a:srgbClr val="4B4B4B"/>
                          </a:solidFill>
                          <a:latin typeface="Arial"/>
                        </a:rPr>
                        <a:t>Different insurer from the expiring one; premium; 30-day hold cover request</a:t>
                      </a:r>
                    </a:p>
                  </a:txBody>
                  <a:tcPr marL="64008" marR="64008" marT="27432" marB="27432" anchor="ctr">
                    <a:solidFill>
                      <a:srgbClr val="E5F5FF"/>
                    </a:solidFill>
                  </a:tcPr>
                </a:tc>
                <a:tc>
                  <a:txBody>
                    <a:bodyPr wrap="square"/>
                    <a:lstStyle/>
                    <a:p>
                      <a:r>
                        <a:rPr sz="1100" b="0">
                          <a:solidFill>
                            <a:srgbClr val="4B4B4B"/>
                          </a:solidFill>
                          <a:latin typeface="Arial"/>
                        </a:rPr>
                        <a:t>RA, status to TL</a:t>
                      </a:r>
                    </a:p>
                  </a:txBody>
                  <a:tcPr marL="64008" marR="64008" marT="27432" marB="27432" anchor="ctr">
                    <a:solidFill>
                      <a:srgbClr val="E5F5FF"/>
                    </a:solidFill>
                  </a:tcPr>
                </a:tc>
                <a:tc>
                  <a:txBody>
                    <a:bodyPr wrap="square"/>
                    <a:lstStyle/>
                    <a:p>
                      <a:r>
                        <a:rPr sz="1100" b="0">
                          <a:solidFill>
                            <a:srgbClr val="4B4B4B"/>
                          </a:solidFill>
                          <a:latin typeface="Arial"/>
                        </a:rPr>
                        <a:t>E-mail to insurer; snail mail</a:t>
                      </a:r>
                    </a:p>
                  </a:txBody>
                  <a:tcPr marL="64008" marR="64008" marT="27432" marB="27432" anchor="ctr">
                    <a:solidFill>
                      <a:srgbClr val="E5F5FF"/>
                    </a:solidFill>
                  </a:tcPr>
                </a:tc>
              </a:tr>
              <a:tr h="731520">
                <a:tc>
                  <a:txBody>
                    <a:bodyPr wrap="square"/>
                    <a:lstStyle/>
                    <a:p>
                      <a:r>
                        <a:rPr sz="1100" b="1">
                          <a:solidFill>
                            <a:srgbClr val="4B4B4B"/>
                          </a:solidFill>
                          <a:latin typeface="Arial"/>
                        </a:rPr>
                        <a:t>Renewal Non-CBG Retail</a:t>
                      </a:r>
                    </a:p>
                  </a:txBody>
                  <a:tcPr marL="64008" marR="64008" marT="27432" marB="27432" anchor="ctr">
                    <a:solidFill>
                      <a:srgbClr val="FFFFFF"/>
                    </a:solidFill>
                  </a:tcPr>
                </a:tc>
                <a:tc>
                  <a:txBody>
                    <a:bodyPr wrap="square"/>
                    <a:lstStyle/>
                    <a:p>
                      <a:r>
                        <a:rPr sz="1100" b="0">
                          <a:solidFill>
                            <a:srgbClr val="4B4B4B"/>
                          </a:solidFill>
                          <a:latin typeface="Arial"/>
                        </a:rPr>
                        <a:t>LAMD report</a:t>
                      </a:r>
                    </a:p>
                  </a:txBody>
                  <a:tcPr marL="64008" marR="64008" marT="27432" marB="27432" anchor="ctr">
                    <a:solidFill>
                      <a:srgbClr val="FFFFFF"/>
                    </a:solidFill>
                  </a:tcPr>
                </a:tc>
                <a:tc>
                  <a:txBody>
                    <a:bodyPr wrap="square"/>
                    <a:lstStyle/>
                    <a:p>
                      <a:r>
                        <a:rPr sz="1100" b="0">
                          <a:solidFill>
                            <a:srgbClr val="4B4B4B"/>
                          </a:solidFill>
                          <a:latin typeface="Arial"/>
                        </a:rPr>
                        <a:t>Insurer approval to quote on expiring terms; quotation; ARF in ISYS</a:t>
                      </a:r>
                    </a:p>
                  </a:txBody>
                  <a:tcPr marL="64008" marR="64008" marT="27432" marB="27432" anchor="ctr">
                    <a:solidFill>
                      <a:srgbClr val="FFFFFF"/>
                    </a:solidFill>
                  </a:tcPr>
                </a:tc>
                <a:tc>
                  <a:txBody>
                    <a:bodyPr wrap="square"/>
                    <a:lstStyle/>
                    <a:p>
                      <a:r>
                        <a:rPr sz="1100" b="0">
                          <a:solidFill>
                            <a:srgbClr val="4B4B4B"/>
                          </a:solidFill>
                          <a:latin typeface="Arial"/>
                        </a:rPr>
                        <a:t>Placement file and booking</a:t>
                      </a:r>
                    </a:p>
                  </a:txBody>
                  <a:tcPr marL="64008" marR="64008" marT="27432" marB="27432" anchor="ctr">
                    <a:solidFill>
                      <a:srgbClr val="FFFFFF"/>
                    </a:solidFill>
                  </a:tcPr>
                </a:tc>
                <a:tc>
                  <a:txBody>
                    <a:bodyPr wrap="square"/>
                    <a:lstStyle/>
                    <a:p>
                      <a:r>
                        <a:rPr sz="1100" b="0">
                          <a:solidFill>
                            <a:srgbClr val="4B4B4B"/>
                          </a:solidFill>
                          <a:latin typeface="Arial"/>
                        </a:rPr>
                        <a:t>E-mail; NRNS letter</a:t>
                      </a:r>
                    </a:p>
                  </a:txBody>
                  <a:tcPr marL="64008" marR="64008" marT="27432" marB="27432" anchor="ctr">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Policy details consolidated by hand</a:t>
            </a:r>
          </a:p>
          <a:p>
            <a:pPr>
              <a:spcAft>
                <a:spcPts val="100"/>
              </a:spcAft>
            </a:pPr>
            <a:r>
              <a:rPr sz="1200" b="0">
                <a:solidFill>
                  <a:srgbClr val="4B4B4B"/>
                </a:solidFill>
                <a:latin typeface="Arial"/>
              </a:rPr>
              <a:t>Excel reports and documents per segment; 30 days to consolidate CBG Motor.</a:t>
            </a:r>
          </a:p>
          <a:p>
            <a:pPr>
              <a:spcAft>
                <a:spcPts val="100"/>
              </a:spcAft>
            </a:pPr>
            <a:r>
              <a:rPr sz="1200" b="0">
                <a:solidFill>
                  <a:srgbClr val="0072D8"/>
                </a:solidFill>
                <a:latin typeface="Arial"/>
              </a:rPr>
              <a:t>BRD-12 p.4-5; BRIDSP-01, 02</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Separate masterlists</a:t>
            </a:r>
          </a:p>
          <a:p>
            <a:pPr>
              <a:spcAft>
                <a:spcPts val="100"/>
              </a:spcAft>
            </a:pPr>
            <a:r>
              <a:rPr sz="1200" b="0">
                <a:solidFill>
                  <a:srgbClr val="4B4B4B"/>
                </a:solidFill>
                <a:latin typeface="Arial"/>
              </a:rPr>
              <a:t>One Excel masterlist per segment on Drive H:, with e-mail and SharePoint.</a:t>
            </a:r>
          </a:p>
          <a:p>
            <a:pPr>
              <a:spcAft>
                <a:spcPts val="100"/>
              </a:spcAft>
            </a:pPr>
            <a:r>
              <a:rPr sz="1200" b="0">
                <a:solidFill>
                  <a:srgbClr val="0072D8"/>
                </a:solidFill>
                <a:latin typeface="Arial"/>
              </a:rPr>
              <a:t>BRD-12 p.4-5; BRIDSP-04</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Sanitation and LAMD matching by hand</a:t>
            </a:r>
          </a:p>
          <a:p>
            <a:pPr>
              <a:spcAft>
                <a:spcPts val="100"/>
              </a:spcAft>
            </a:pPr>
            <a:r>
              <a:rPr sz="1200" b="0">
                <a:solidFill>
                  <a:srgbClr val="4B4B4B"/>
                </a:solidFill>
                <a:latin typeface="Arial"/>
              </a:rPr>
              <a:t>Exclusions (FFY, employees, No Touch) applied manually.</a:t>
            </a:r>
          </a:p>
          <a:p>
            <a:pPr>
              <a:spcAft>
                <a:spcPts val="100"/>
              </a:spcAft>
            </a:pPr>
            <a:r>
              <a:rPr sz="1200" b="0">
                <a:solidFill>
                  <a:srgbClr val="0072D8"/>
                </a:solidFill>
                <a:latin typeface="Arial"/>
              </a:rPr>
              <a:t>BRD-12 p.4-7; BRIDSP-08, 09</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Reviews and IAAF on paper</a:t>
            </a:r>
          </a:p>
          <a:p>
            <a:pPr>
              <a:spcAft>
                <a:spcPts val="100"/>
              </a:spcAft>
            </a:pPr>
            <a:r>
              <a:rPr sz="1200" b="0">
                <a:solidFill>
                  <a:srgbClr val="4B4B4B"/>
                </a:solidFill>
                <a:latin typeface="Arial"/>
              </a:rPr>
              <a:t>Adequacy reviews by e-mail; IAAF signed on paper.</a:t>
            </a:r>
          </a:p>
          <a:p>
            <a:pPr>
              <a:spcAft>
                <a:spcPts val="100"/>
              </a:spcAft>
            </a:pPr>
            <a:r>
              <a:rPr sz="1200" b="0">
                <a:solidFill>
                  <a:srgbClr val="0072D8"/>
                </a:solidFill>
                <a:latin typeface="Arial"/>
              </a:rPr>
              <a:t>BRD-12 p.4-5; BRIDSP-05-07</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Limit breaches by e-mail</a:t>
            </a:r>
          </a:p>
          <a:p>
            <a:pPr>
              <a:spcAft>
                <a:spcPts val="100"/>
              </a:spcAft>
            </a:pPr>
            <a:r>
              <a:rPr sz="1200" b="0">
                <a:solidFill>
                  <a:srgbClr val="4B4B4B"/>
                </a:solidFill>
                <a:latin typeface="Arial"/>
              </a:rPr>
              <a:t>Breaches handled with TSU by e-mail.</a:t>
            </a:r>
          </a:p>
          <a:p>
            <a:pPr>
              <a:spcAft>
                <a:spcPts val="100"/>
              </a:spcAft>
            </a:pPr>
            <a:r>
              <a:rPr sz="1200" b="0">
                <a:solidFill>
                  <a:srgbClr val="0072D8"/>
                </a:solidFill>
                <a:latin typeface="Arial"/>
              </a:rPr>
              <a:t>BRD-12 p.4-7; BRIDSP-16-19</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Renewal prepared by hand</a:t>
            </a:r>
          </a:p>
          <a:p>
            <a:pPr>
              <a:spcAft>
                <a:spcPts val="100"/>
              </a:spcAft>
            </a:pPr>
            <a:r>
              <a:rPr sz="1200" b="0">
                <a:solidFill>
                  <a:srgbClr val="4B4B4B"/>
                </a:solidFill>
                <a:latin typeface="Arial"/>
              </a:rPr>
              <a:t>Proposal, 30-day hold cover request and RA text file for COG prepared manually.</a:t>
            </a:r>
          </a:p>
          <a:p>
            <a:pPr>
              <a:spcAft>
                <a:spcPts val="100"/>
              </a:spcAft>
            </a:pPr>
            <a:r>
              <a:rPr sz="1200" b="0">
                <a:solidFill>
                  <a:srgbClr val="0072D8"/>
                </a:solidFill>
                <a:latin typeface="Arial"/>
              </a:rPr>
              <a:t>BRD-12 p.5-7; BRIDSP-22-26</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Handling fee from the UPP list</a:t>
            </a:r>
          </a:p>
          <a:p>
            <a:pPr>
              <a:spcAft>
                <a:spcPts val="100"/>
              </a:spcAft>
            </a:pPr>
            <a:r>
              <a:rPr sz="1200" b="0">
                <a:solidFill>
                  <a:srgbClr val="4B4B4B"/>
                </a:solidFill>
                <a:latin typeface="Arial"/>
              </a:rPr>
              <a:t>Handling-fee payments filtered from the Unapplied Payment List on SharePoint.</a:t>
            </a:r>
          </a:p>
          <a:p>
            <a:pPr>
              <a:spcAft>
                <a:spcPts val="100"/>
              </a:spcAft>
            </a:pPr>
            <a:r>
              <a:rPr sz="1200" b="0">
                <a:solidFill>
                  <a:srgbClr val="0072D8"/>
                </a:solidFill>
                <a:latin typeface="Arial"/>
              </a:rPr>
              <a:t>BRD-12 p.4-7; BRIDSP-31</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Status in the masterlists</a:t>
            </a:r>
          </a:p>
          <a:p>
            <a:pPr>
              <a:spcAft>
                <a:spcPts val="100"/>
              </a:spcAft>
            </a:pPr>
            <a:r>
              <a:rPr sz="1200" b="0">
                <a:solidFill>
                  <a:srgbClr val="4B4B4B"/>
                </a:solidFill>
                <a:latin typeface="Arial"/>
              </a:rPr>
              <a:t>No reports or alerts from live data.</a:t>
            </a:r>
          </a:p>
          <a:p>
            <a:pPr>
              <a:spcAft>
                <a:spcPts val="100"/>
              </a:spcAft>
            </a:pPr>
            <a:r>
              <a:rPr sz="1200" b="0">
                <a:solidFill>
                  <a:srgbClr val="0072D8"/>
                </a:solidFill>
                <a:latin typeface="Arial"/>
              </a:rPr>
              <a:t>BRD-12 p.4-7; BRIDSP-20, 21, 24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pic>
        <p:nvPicPr>
          <p:cNvPr id="9" name="Picture 8" descr="brd12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Submitted Policies in BIBS: workflow SBM_POLICY and the Renewal hand-off (FRS BRD-12 section 2.2; decision D2)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how the BRD answers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Policy details consolidated by hand</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Each source uploaded; fields extracted from the document and confirmed by a user</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Keyed once</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Separate masterlists</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Submitted Masterlist with history and role-based access</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2 s response (p.13-14)</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Sanitation and LAMD matching by hand</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Configurable rules sanitise, match, classify and bucket every policy; fallout reported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63,000 a year by rule</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Reviews and IAAF on paper</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Reviews, IAAF and approval matrix in BIBS, with stamped signatures</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Approval trail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how the BRD answers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Limit breaches by e-mail</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TOR generated, approved by the TSU matrix and handed over to the AO</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Limit check by rule</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Renewal prepared by hand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Expiry scan hands renewable policies to Renewal: account, hold cover, letters</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manual RA file</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Handling fee from the UPP list</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Handling-fee payments tagged automatically by PN or location reference</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Tagged daily</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in the masterlists</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Reports, alerts and notifications from live data</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Live status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gaps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Lead days</a:t>
                      </a:r>
                    </a:p>
                  </a:txBody>
                  <a:tcPr marL="64008" marR="64008" marT="27432" marB="27432" anchor="ctr">
                    <a:solidFill>
                      <a:srgbClr val="FFFFFF"/>
                    </a:solidFill>
                  </a:tcPr>
                </a:tc>
                <a:tc>
                  <a:txBody>
                    <a:bodyPr wrap="square"/>
                    <a:lstStyle/>
                    <a:p>
                      <a:r>
                        <a:rPr sz="1100" b="0">
                          <a:solidFill>
                            <a:srgbClr val="4B4B4B"/>
                          </a:solidFill>
                          <a:latin typeface="Arial"/>
                        </a:rPr>
                        <a:t>Masterlist to sanitation at 150 days; RMEL at 140 days; RA at 90 days.</a:t>
                      </a:r>
                    </a:p>
                  </a:txBody>
                  <a:tcPr marL="64008" marR="64008" marT="27432" marB="27432" anchor="ctr">
                    <a:solidFill>
                      <a:srgbClr val="FFFFFF"/>
                    </a:solidFill>
                  </a:tcPr>
                </a:tc>
                <a:tc>
                  <a:txBody>
                    <a:bodyPr wrap="square"/>
                    <a:lstStyle/>
                    <a:p>
                      <a:r>
                        <a:rPr sz="1100" b="0">
                          <a:solidFill>
                            <a:srgbClr val="4B4B4B"/>
                          </a:solidFill>
                          <a:latin typeface="Arial"/>
                        </a:rPr>
                        <a:t>Hand-off to Renewal; days not stated.</a:t>
                      </a:r>
                    </a:p>
                  </a:txBody>
                  <a:tcPr marL="64008" marR="64008" marT="27432" marB="27432" anchor="ctr">
                    <a:solidFill>
                      <a:srgbClr val="FFFFFF"/>
                    </a:solidFill>
                  </a:tcPr>
                </a:tc>
                <a:tc>
                  <a:txBody>
                    <a:bodyPr wrap="square"/>
                    <a:lstStyle/>
                    <a:p>
                      <a:r>
                        <a:rPr sz="1100" b="0">
                          <a:solidFill>
                            <a:srgbClr val="4B4B4B"/>
                          </a:solidFill>
                          <a:latin typeface="Arial"/>
                        </a:rPr>
                        <a:t>One timeline shared with Renewal (chapter 2).</a:t>
                      </a:r>
                    </a:p>
                  </a:txBody>
                  <a:tcPr marL="64008" marR="64008" marT="27432" marB="27432" anchor="ctr">
                    <a:solidFill>
                      <a:srgbClr val="FFFFFF"/>
                    </a:solidFill>
                  </a:tcPr>
                </a:tc>
                <a:tc>
                  <a:txBody>
                    <a:bodyPr wrap="square"/>
                    <a:lstStyle/>
                    <a:p>
                      <a:r>
                        <a:rPr sz="1100" b="0">
                          <a:solidFill>
                            <a:srgbClr val="4B4B4B"/>
                          </a:solidFill>
                          <a:latin typeface="Arial"/>
                        </a:rPr>
                        <a:t>BRIDSP-23; DCR-129</a:t>
                      </a:r>
                    </a:p>
                  </a:txBody>
                  <a:tcPr marL="64008" marR="64008" marT="27432" marB="27432" anchor="ctr">
                    <a:solidFill>
                      <a:srgbClr val="FFFFFF"/>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Snail-mail RA and reminders</a:t>
                      </a:r>
                    </a:p>
                  </a:txBody>
                  <a:tcPr marL="64008" marR="64008" marT="27432" marB="27432" anchor="ctr">
                    <a:solidFill>
                      <a:srgbClr val="E5F5FF"/>
                    </a:solidFill>
                  </a:tcPr>
                </a:tc>
                <a:tc>
                  <a:txBody>
                    <a:bodyPr wrap="square"/>
                    <a:lstStyle/>
                    <a:p>
                      <a:r>
                        <a:rPr sz="1100" b="0">
                          <a:solidFill>
                            <a:srgbClr val="4B4B4B"/>
                          </a:solidFill>
                          <a:latin typeface="Arial"/>
                        </a:rPr>
                        <a:t>COG prints and mails RA and reminder letters.</a:t>
                      </a:r>
                    </a:p>
                  </a:txBody>
                  <a:tcPr marL="64008" marR="64008" marT="27432" marB="27432" anchor="ctr">
                    <a:solidFill>
                      <a:srgbClr val="E5F5FF"/>
                    </a:solidFill>
                  </a:tcPr>
                </a:tc>
                <a:tc>
                  <a:txBody>
                    <a:bodyPr wrap="square"/>
                    <a:lstStyle/>
                    <a:p>
                      <a:r>
                        <a:rPr sz="1100" b="0">
                          <a:solidFill>
                            <a:srgbClr val="4B4B4B"/>
                          </a:solidFill>
                          <a:latin typeface="Arial"/>
                        </a:rPr>
                        <a:t>Channel open.</a:t>
                      </a:r>
                    </a:p>
                  </a:txBody>
                  <a:tcPr marL="64008" marR="64008" marT="27432" marB="27432" anchor="ctr">
                    <a:solidFill>
                      <a:srgbClr val="E5F5FF"/>
                    </a:solidFill>
                  </a:tcPr>
                </a:tc>
                <a:tc>
                  <a:txBody>
                    <a:bodyPr wrap="square"/>
                    <a:lstStyle/>
                    <a:p>
                      <a:r>
                        <a:rPr sz="1100" b="0">
                          <a:solidFill>
                            <a:srgbClr val="4B4B4B"/>
                          </a:solidFill>
                          <a:latin typeface="Arial"/>
                        </a:rPr>
                        <a:t>Same print channel as Renewal, with tracking.</a:t>
                      </a:r>
                    </a:p>
                  </a:txBody>
                  <a:tcPr marL="64008" marR="64008" marT="27432" marB="27432" anchor="ctr">
                    <a:solidFill>
                      <a:srgbClr val="E5F5FF"/>
                    </a:solidFill>
                  </a:tcPr>
                </a:tc>
                <a:tc>
                  <a:txBody>
                    <a:bodyPr wrap="square"/>
                    <a:lstStyle/>
                    <a:p>
                      <a:r>
                        <a:rPr sz="1100" b="0">
                          <a:solidFill>
                            <a:srgbClr val="4B4B4B"/>
                          </a:solidFill>
                          <a:latin typeface="Arial"/>
                        </a:rPr>
                        <a:t>SQ09</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Handling fee</a:t>
                      </a:r>
                    </a:p>
                  </a:txBody>
                  <a:tcPr marL="64008" marR="64008" marT="27432" marB="27432" anchor="ctr">
                    <a:solidFill>
                      <a:srgbClr val="FFFFFF"/>
                    </a:solidFill>
                  </a:tcPr>
                </a:tc>
                <a:tc>
                  <a:txBody>
                    <a:bodyPr wrap="square"/>
                    <a:lstStyle/>
                    <a:p>
                      <a:r>
                        <a:rPr sz="1100" b="0">
                          <a:solidFill>
                            <a:srgbClr val="4B4B4B"/>
                          </a:solidFill>
                          <a:latin typeface="Arial"/>
                        </a:rPr>
                        <a:t>UPP list on SharePoint; AO disposition by e-mail.</a:t>
                      </a:r>
                    </a:p>
                  </a:txBody>
                  <a:tcPr marL="64008" marR="64008" marT="27432" marB="27432" anchor="ctr">
                    <a:solidFill>
                      <a:srgbClr val="FFFFFF"/>
                    </a:solidFill>
                  </a:tcPr>
                </a:tc>
                <a:tc>
                  <a:txBody>
                    <a:bodyPr wrap="square"/>
                    <a:lstStyle/>
                    <a:p>
                      <a:r>
                        <a:rPr sz="1100" b="0">
                          <a:solidFill>
                            <a:srgbClr val="4B4B4B"/>
                          </a:solidFill>
                          <a:latin typeface="Arial"/>
                        </a:rPr>
                        <a:t>Tagging only; fee undefined.</a:t>
                      </a:r>
                    </a:p>
                  </a:txBody>
                  <a:tcPr marL="64008" marR="64008" marT="27432" marB="27432" anchor="ctr">
                    <a:solidFill>
                      <a:srgbClr val="FFFFFF"/>
                    </a:solidFill>
                  </a:tcPr>
                </a:tc>
                <a:tc>
                  <a:txBody>
                    <a:bodyPr wrap="square"/>
                    <a:lstStyle/>
                    <a:p>
                      <a:r>
                        <a:rPr sz="1100" b="0">
                          <a:solidFill>
                            <a:srgbClr val="4B4B4B"/>
                          </a:solidFill>
                          <a:latin typeface="Arial"/>
                        </a:rPr>
                        <a:t>Define the fee and bill it from the masterlist.</a:t>
                      </a:r>
                    </a:p>
                  </a:txBody>
                  <a:tcPr marL="64008" marR="64008" marT="27432" marB="27432" anchor="ctr">
                    <a:solidFill>
                      <a:srgbClr val="FFFFFF"/>
                    </a:solidFill>
                  </a:tcPr>
                </a:tc>
                <a:tc>
                  <a:txBody>
                    <a:bodyPr wrap="square"/>
                    <a:lstStyle/>
                    <a:p>
                      <a:r>
                        <a:rPr sz="1100" b="0">
                          <a:solidFill>
                            <a:srgbClr val="4B4B4B"/>
                          </a:solidFill>
                          <a:latin typeface="Arial"/>
                        </a:rPr>
                        <a:t>BRIDSP-31; DCR-126</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Two LAMD intakes</a:t>
                      </a:r>
                    </a:p>
                  </a:txBody>
                  <a:tcPr marL="64008" marR="64008" marT="27432" marB="27432" anchor="ctr">
                    <a:solidFill>
                      <a:srgbClr val="E5F5FF"/>
                    </a:solidFill>
                  </a:tcPr>
                </a:tc>
                <a:tc>
                  <a:txBody>
                    <a:bodyPr wrap="square"/>
                    <a:lstStyle/>
                    <a:p>
                      <a:r>
                        <a:rPr sz="1100" b="0">
                          <a:solidFill>
                            <a:srgbClr val="4B4B4B"/>
                          </a:solidFill>
                          <a:latin typeface="Arial"/>
                        </a:rPr>
                        <a:t>LAMD used by Submitted Policies and Renewal.</a:t>
                      </a:r>
                    </a:p>
                  </a:txBody>
                  <a:tcPr marL="64008" marR="64008" marT="27432" marB="27432" anchor="ctr">
                    <a:solidFill>
                      <a:srgbClr val="E5F5FF"/>
                    </a:solidFill>
                  </a:tcPr>
                </a:tc>
                <a:tc>
                  <a:txBody>
                    <a:bodyPr wrap="square"/>
                    <a:lstStyle/>
                    <a:p>
                      <a:r>
                        <a:rPr sz="1100" b="0">
                          <a:solidFill>
                            <a:srgbClr val="4B4B4B"/>
                          </a:solidFill>
                          <a:latin typeface="Arial"/>
                        </a:rPr>
                        <a:t>Two loan-status feeds.</a:t>
                      </a:r>
                    </a:p>
                  </a:txBody>
                  <a:tcPr marL="64008" marR="64008" marT="27432" marB="27432" anchor="ctr">
                    <a:solidFill>
                      <a:srgbClr val="E5F5FF"/>
                    </a:solidFill>
                  </a:tcPr>
                </a:tc>
                <a:tc>
                  <a:txBody>
                    <a:bodyPr wrap="square"/>
                    <a:lstStyle/>
                    <a:p>
                      <a:r>
                        <a:rPr sz="1100" b="0">
                          <a:solidFill>
                            <a:srgbClr val="4B4B4B"/>
                          </a:solidFill>
                          <a:latin typeface="Arial"/>
                        </a:rPr>
                        <a:t>One LAMD intake shared by both.</a:t>
                      </a:r>
                    </a:p>
                  </a:txBody>
                  <a:tcPr marL="64008" marR="64008" marT="27432" marB="27432" anchor="ctr">
                    <a:solidFill>
                      <a:srgbClr val="E5F5FF"/>
                    </a:solidFill>
                  </a:tcPr>
                </a:tc>
                <a:tc>
                  <a:txBody>
                    <a:bodyPr wrap="square"/>
                    <a:lstStyle/>
                    <a:p>
                      <a:r>
                        <a:rPr sz="1100" b="0">
                          <a:solidFill>
                            <a:srgbClr val="4B4B4B"/>
                          </a:solidFill>
                          <a:latin typeface="Arial"/>
                        </a:rPr>
                        <a:t>DCR-146</a:t>
                      </a:r>
                    </a:p>
                  </a:txBody>
                  <a:tcPr marL="64008" marR="64008" marT="27432" marB="27432" anchor="ctr">
                    <a:solidFill>
                      <a:srgbClr val="E5F5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One or many policies per IAAF</a:t>
                      </a:r>
                    </a:p>
                  </a:txBody>
                  <a:tcPr marL="64008" marR="64008" marT="27432" marB="27432" anchor="ctr">
                    <a:solidFill>
                      <a:srgbClr val="FFFFFF"/>
                    </a:solidFill>
                  </a:tcPr>
                </a:tc>
                <a:tc>
                  <a:txBody>
                    <a:bodyPr wrap="square"/>
                    <a:lstStyle/>
                    <a:p>
                      <a:r>
                        <a:rPr sz="1100" b="0">
                          <a:solidFill>
                            <a:srgbClr val="4B4B4B"/>
                          </a:solidFill>
                          <a:latin typeface="Arial"/>
                        </a:rPr>
                        <a:t>An IAAF may cover several policies.</a:t>
                      </a:r>
                    </a:p>
                  </a:txBody>
                  <a:tcPr marL="64008" marR="64008" marT="27432" marB="27432" anchor="ctr">
                    <a:solidFill>
                      <a:srgbClr val="FFFFFF"/>
                    </a:solidFill>
                  </a:tcPr>
                </a:tc>
                <a:tc>
                  <a:txBody>
                    <a:bodyPr wrap="square"/>
                    <a:lstStyle/>
                    <a:p>
                      <a:r>
                        <a:rPr sz="1100" b="0">
                          <a:solidFill>
                            <a:srgbClr val="4B4B4B"/>
                          </a:solidFill>
                          <a:latin typeface="Arial"/>
                        </a:rPr>
                        <a:t>Open.</a:t>
                      </a:r>
                    </a:p>
                  </a:txBody>
                  <a:tcPr marL="64008" marR="64008" marT="27432" marB="27432" anchor="ctr">
                    <a:solidFill>
                      <a:srgbClr val="FFFFFF"/>
                    </a:solidFill>
                  </a:tcPr>
                </a:tc>
                <a:tc>
                  <a:txBody>
                    <a:bodyPr wrap="square"/>
                    <a:lstStyle/>
                    <a:p>
                      <a:r>
                        <a:rPr sz="1100" b="0">
                          <a:solidFill>
                            <a:srgbClr val="4B4B4B"/>
                          </a:solidFill>
                          <a:latin typeface="Arial"/>
                        </a:rPr>
                        <a:t>Allow several policies per IAAF.</a:t>
                      </a:r>
                    </a:p>
                  </a:txBody>
                  <a:tcPr marL="64008" marR="64008" marT="27432" marB="27432" anchor="ctr">
                    <a:solidFill>
                      <a:srgbClr val="FFFFFF"/>
                    </a:solidFill>
                  </a:tcPr>
                </a:tc>
                <a:tc>
                  <a:txBody>
                    <a:bodyPr wrap="square"/>
                    <a:lstStyle/>
                    <a:p>
                      <a:r>
                        <a:rPr sz="1100" b="0">
                          <a:solidFill>
                            <a:srgbClr val="4B4B4B"/>
                          </a:solidFill>
                          <a:latin typeface="Arial"/>
                        </a:rPr>
                        <a:t>DCR-125</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Hold-cover expiry</a:t>
                      </a:r>
                    </a:p>
                  </a:txBody>
                  <a:tcPr marL="64008" marR="64008" marT="27432" marB="27432" anchor="ctr">
                    <a:solidFill>
                      <a:srgbClr val="E5F5FF"/>
                    </a:solidFill>
                  </a:tcPr>
                </a:tc>
                <a:tc>
                  <a:txBody>
                    <a:bodyPr wrap="square"/>
                    <a:lstStyle/>
                    <a:p>
                      <a:r>
                        <a:rPr sz="1100" b="0">
                          <a:solidFill>
                            <a:srgbClr val="4B4B4B"/>
                          </a:solidFill>
                          <a:latin typeface="Arial"/>
                        </a:rPr>
                        <a:t>30-day hold cover; 3-5 days to accept.</a:t>
                      </a:r>
                    </a:p>
                  </a:txBody>
                  <a:tcPr marL="64008" marR="64008" marT="27432" marB="27432" anchor="ctr">
                    <a:solidFill>
                      <a:srgbClr val="E5F5FF"/>
                    </a:solidFill>
                  </a:tcPr>
                </a:tc>
                <a:tc>
                  <a:txBody>
                    <a:bodyPr wrap="square"/>
                    <a:lstStyle/>
                    <a:p>
                      <a:r>
                        <a:rPr sz="1100" b="0">
                          <a:solidFill>
                            <a:srgbClr val="4B4B4B"/>
                          </a:solidFill>
                          <a:latin typeface="Arial"/>
                        </a:rPr>
                        <a:t>Hold cover requested; expiry rule open.</a:t>
                      </a:r>
                    </a:p>
                  </a:txBody>
                  <a:tcPr marL="64008" marR="64008" marT="27432" marB="27432" anchor="ctr">
                    <a:solidFill>
                      <a:srgbClr val="E5F5FF"/>
                    </a:solidFill>
                  </a:tcPr>
                </a:tc>
                <a:tc>
                  <a:txBody>
                    <a:bodyPr wrap="square"/>
                    <a:lstStyle/>
                    <a:p>
                      <a:r>
                        <a:rPr sz="1100" b="0">
                          <a:solidFill>
                            <a:srgbClr val="4B4B4B"/>
                          </a:solidFill>
                          <a:latin typeface="Arial"/>
                        </a:rPr>
                        <a:t>Expiry alert and re-assignment rule.</a:t>
                      </a:r>
                    </a:p>
                  </a:txBody>
                  <a:tcPr marL="64008" marR="64008" marT="27432" marB="27432" anchor="ctr">
                    <a:solidFill>
                      <a:srgbClr val="E5F5FF"/>
                    </a:solidFill>
                  </a:tcPr>
                </a:tc>
                <a:tc>
                  <a:txBody>
                    <a:bodyPr wrap="square"/>
                    <a:lstStyle/>
                    <a:p>
                      <a:r>
                        <a:rPr sz="1100" b="0">
                          <a:solidFill>
                            <a:srgbClr val="4B4B4B"/>
                          </a:solidFill>
                          <a:latin typeface="Arial"/>
                        </a:rPr>
                        <a:t>DCR-155</a:t>
                      </a:r>
                    </a:p>
                  </a:txBody>
                  <a:tcPr marL="64008" marR="64008" marT="27432" marB="27432" anchor="ctr">
                    <a:solidFill>
                      <a:srgbClr val="E5F5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Live bank loan feeds</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masterlists</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Loan, collateral and paid-off status received from the bank systems daily.</a:t>
            </a:r>
          </a:p>
          <a:p>
            <a:pPr>
              <a:spcAft>
                <a:spcPts val="400"/>
              </a:spcAft>
            </a:pPr>
            <a:r>
              <a:rPr sz="1200" b="1">
                <a:solidFill>
                  <a:srgbClr val="004EA8"/>
                </a:solidFill>
                <a:latin typeface="Arial"/>
              </a:rPr>
              <a:t>For BDOI: </a:t>
            </a:r>
            <a:r>
              <a:rPr sz="1200" b="0">
                <a:solidFill>
                  <a:srgbClr val="4B4B4B"/>
                </a:solidFill>
                <a:latin typeface="Arial"/>
              </a:rPr>
              <a:t>Specify LFS, CIU, HLS and LAMD feeds (SQ01).</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Rule-based adequacy check</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review</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Sum insured against loan, mortgagee clause and expiry checked by rule on extracted data.</a:t>
            </a:r>
          </a:p>
          <a:p>
            <a:pPr>
              <a:spcAft>
                <a:spcPts val="400"/>
              </a:spcAft>
            </a:pPr>
            <a:r>
              <a:rPr sz="1200" b="1">
                <a:solidFill>
                  <a:srgbClr val="004EA8"/>
                </a:solidFill>
                <a:latin typeface="Arial"/>
              </a:rPr>
              <a:t>For BDOI: </a:t>
            </a:r>
            <a:r>
              <a:rPr sz="1200" b="0">
                <a:solidFill>
                  <a:srgbClr val="4B4B4B"/>
                </a:solidFill>
                <a:latin typeface="Arial"/>
              </a:rPr>
              <a:t>Start with CBG Motor and Fire.</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Deficiency notices to the bank</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Protects the bank</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Automatic notices and escalation to the bank unit when cover is short or lapsed.</a:t>
            </a:r>
          </a:p>
          <a:p>
            <a:pPr>
              <a:spcAft>
                <a:spcPts val="400"/>
              </a:spcAft>
            </a:pPr>
            <a:r>
              <a:rPr sz="1200" b="1">
                <a:solidFill>
                  <a:srgbClr val="004EA8"/>
                </a:solidFill>
                <a:latin typeface="Arial"/>
              </a:rPr>
              <a:t>For BDOI: </a:t>
            </a:r>
            <a:r>
              <a:rPr sz="1200" b="0">
                <a:solidFill>
                  <a:srgbClr val="4B4B4B"/>
                </a:solidFill>
                <a:latin typeface="Arial"/>
              </a:rPr>
              <a:t>Use the IAAF as the notice, sent from the system.</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Conversion programme</a:t>
            </a:r>
          </a:p>
        </p:txBody>
      </p:sp>
      <p:sp>
        <p:nvSpPr>
          <p:cNvPr id="30" name="Rounded Rectangle 29"/>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New premium</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Submitted policies targeted for conversion with offers at renewal, tracked per segment.</a:t>
            </a:r>
          </a:p>
          <a:p>
            <a:pPr>
              <a:spcAft>
                <a:spcPts val="400"/>
              </a:spcAft>
            </a:pPr>
            <a:r>
              <a:rPr sz="1200" b="1">
                <a:solidFill>
                  <a:srgbClr val="004EA8"/>
                </a:solidFill>
                <a:latin typeface="Arial"/>
              </a:rPr>
              <a:t>For BDOI: </a:t>
            </a:r>
            <a:r>
              <a:rPr sz="1200" b="0">
                <a:solidFill>
                  <a:srgbClr val="4B4B4B"/>
                </a:solidFill>
                <a:latin typeface="Arial"/>
              </a:rPr>
              <a:t>Report conversion rate per segment.</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E-signature on IAAF and TOR</a:t>
            </a:r>
          </a:p>
        </p:txBody>
      </p:sp>
      <p:sp>
        <p:nvSpPr>
          <p:cNvPr id="36" name="Rounded Rectangle 35"/>
          <p:cNvSpPr/>
          <p:nvPr/>
        </p:nvSpPr>
        <p:spPr>
          <a:xfrm>
            <a:off x="4393082" y="4448556"/>
            <a:ext cx="160020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paper</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IAAF and TOR signed electronically.</a:t>
            </a:r>
          </a:p>
          <a:p>
            <a:pPr>
              <a:spcAft>
                <a:spcPts val="400"/>
              </a:spcAft>
            </a:pPr>
            <a:r>
              <a:rPr sz="1200" b="1">
                <a:solidFill>
                  <a:srgbClr val="004EA8"/>
                </a:solidFill>
                <a:latin typeface="Arial"/>
              </a:rPr>
              <a:t>For BDOI: </a:t>
            </a:r>
            <a:r>
              <a:rPr sz="1200" b="0">
                <a:solidFill>
                  <a:srgbClr val="4B4B4B"/>
                </a:solidFill>
                <a:latin typeface="Arial"/>
              </a:rPr>
              <a:t>Decide with Legal and Compliance (CP-01).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Employee Benefits: Marketing, Processing and Collection</a:t>
            </a:r>
          </a:p>
          <a:p>
            <a:pPr>
              <a:spcAft>
                <a:spcPts val="300"/>
              </a:spcAft>
            </a:pPr>
            <a:r>
              <a:rPr sz="1200" b="0">
                <a:solidFill>
                  <a:srgbClr val="004EA8"/>
                </a:solidFill>
                <a:latin typeface="Arial"/>
              </a:rPr>
              <a:t>•  </a:t>
            </a:r>
            <a:r>
              <a:rPr sz="1200" b="0">
                <a:solidFill>
                  <a:srgbClr val="4B4B4B"/>
                </a:solidFill>
                <a:latin typeface="Arial"/>
              </a:rPr>
              <a:t>EB Marketing AO and TL / UH (five EB teams)</a:t>
            </a:r>
          </a:p>
          <a:p>
            <a:pPr>
              <a:spcAft>
                <a:spcPts val="300"/>
              </a:spcAft>
            </a:pPr>
            <a:r>
              <a:rPr sz="1200" b="0">
                <a:solidFill>
                  <a:srgbClr val="004EA8"/>
                </a:solidFill>
                <a:latin typeface="Arial"/>
              </a:rPr>
              <a:t>•  </a:t>
            </a:r>
            <a:r>
              <a:rPr sz="1200" b="0">
                <a:solidFill>
                  <a:srgbClr val="4B4B4B"/>
                </a:solidFill>
                <a:latin typeface="Arial"/>
              </a:rPr>
              <a:t>BDOI Management (approval above the threshold); ISACOM (non-accredited provider)</a:t>
            </a:r>
          </a:p>
          <a:p>
            <a:pPr>
              <a:spcAft>
                <a:spcPts val="300"/>
              </a:spcAft>
            </a:pPr>
            <a:r>
              <a:rPr sz="1200" b="0">
                <a:solidFill>
                  <a:srgbClr val="004EA8"/>
                </a:solidFill>
                <a:latin typeface="Arial"/>
              </a:rPr>
              <a:t>•  </a:t>
            </a:r>
            <a:r>
              <a:rPr sz="1200" b="0">
                <a:solidFill>
                  <a:srgbClr val="4B4B4B"/>
                </a:solidFill>
                <a:latin typeface="Arial"/>
              </a:rPr>
              <a:t>EB Processing and Processing Supervisor; EB Collection</a:t>
            </a:r>
          </a:p>
          <a:p>
            <a:pPr>
              <a:spcAft>
                <a:spcPts val="300"/>
              </a:spcAft>
            </a:pPr>
            <a:r>
              <a:rPr sz="1200" b="0">
                <a:solidFill>
                  <a:srgbClr val="004EA8"/>
                </a:solidFill>
                <a:latin typeface="Arial"/>
              </a:rPr>
              <a:t>•  </a:t>
            </a:r>
            <a:r>
              <a:rPr sz="1200" b="0">
                <a:solidFill>
                  <a:srgbClr val="4B4B4B"/>
                </a:solidFill>
                <a:latin typeface="Arial"/>
              </a:rPr>
              <a:t>Client HR (master list, utilization)</a:t>
            </a:r>
          </a:p>
          <a:p>
            <a:pPr>
              <a:spcAft>
                <a:spcPts val="300"/>
              </a:spcAft>
            </a:pPr>
            <a:r>
              <a:rPr sz="1200" b="0">
                <a:solidFill>
                  <a:srgbClr val="004EA8"/>
                </a:solidFill>
                <a:latin typeface="Arial"/>
              </a:rPr>
              <a:t>•  </a:t>
            </a:r>
            <a:r>
              <a:rPr sz="1200" b="0">
                <a:solidFill>
                  <a:srgbClr val="4B4B4B"/>
                </a:solidFill>
                <a:latin typeface="Arial"/>
              </a:rPr>
              <a:t>Insurers and HMOs (proposals, claims validation)</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50,000+</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members handled today (EB-01)</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4,200</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transactions in 2025, of which 4,150 renewals (Add. p.14)</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135 days</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before expiry: default renewal advice (TAT annex)</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20</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BDOI users: Marketing 13, Processing 4, Collection 3</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23-Sep-2026, 9-10 am, 43F; discovery 21-Sep-2026</a:t>
            </a:r>
          </a:p>
          <a:p>
            <a:pPr>
              <a:spcAft>
                <a:spcPts val="400"/>
              </a:spcAft>
            </a:pPr>
            <a:r>
              <a:rPr sz="1100" b="1">
                <a:solidFill>
                  <a:srgbClr val="004EA8"/>
                </a:solidFill>
                <a:latin typeface="Arial"/>
              </a:rPr>
              <a:t>Process owners: </a:t>
            </a:r>
            <a:r>
              <a:rPr sz="1100" b="0">
                <a:solidFill>
                  <a:srgbClr val="4B4B4B"/>
                </a:solidFill>
                <a:latin typeface="Arial"/>
              </a:rPr>
              <a:t>Marianne Alpapara, Jyneffer Liansing, Edwin Garcia</a:t>
            </a:r>
          </a:p>
          <a:p>
            <a:pPr>
              <a:spcAft>
                <a:spcPts val="400"/>
              </a:spcAft>
            </a:pPr>
            <a:r>
              <a:rPr sz="1100" b="0">
                <a:solidFill>
                  <a:srgbClr val="004EA8"/>
                </a:solidFill>
                <a:latin typeface="Arial"/>
              </a:rPr>
              <a:t>•  </a:t>
            </a:r>
            <a:r>
              <a:rPr sz="1100" b="0">
                <a:solidFill>
                  <a:srgbClr val="4B4B4B"/>
                </a:solidFill>
                <a:latin typeface="Arial"/>
              </a:rPr>
              <a:t>High-level Employee Benefits process flow (new business and renewal)</a:t>
            </a:r>
          </a:p>
          <a:p>
            <a:pPr>
              <a:spcAft>
                <a:spcPts val="400"/>
              </a:spcAft>
            </a:pPr>
            <a:r>
              <a:rPr sz="1100" b="0">
                <a:solidFill>
                  <a:srgbClr val="004EA8"/>
                </a:solidFill>
                <a:latin typeface="Arial"/>
              </a:rPr>
              <a:t>•  </a:t>
            </a:r>
            <a:r>
              <a:rPr sz="1100" b="0">
                <a:solidFill>
                  <a:srgbClr val="4B4B4B"/>
                </a:solidFill>
                <a:latin typeface="Arial"/>
              </a:rPr>
              <a:t>BRD-8 workshop addendum p.3-5 (current and envisioned); BRID-001-030</a:t>
            </a:r>
          </a:p>
          <a:p>
            <a:pPr>
              <a:spcAft>
                <a:spcPts val="400"/>
              </a:spcAft>
            </a:pPr>
            <a:r>
              <a:rPr sz="1100" b="0">
                <a:solidFill>
                  <a:srgbClr val="004EA8"/>
                </a:solidFill>
                <a:latin typeface="Arial"/>
              </a:rPr>
              <a:t>•  </a:t>
            </a:r>
            <a:r>
              <a:rPr sz="1100" b="0">
                <a:solidFill>
                  <a:srgbClr val="4B4B4B"/>
                </a:solidFill>
                <a:latin typeface="Arial"/>
              </a:rPr>
              <a:t>Floor-walk notes EB-01 to EB-03</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Renewal advice</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BOR</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Franchise</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TOR</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Proposals</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Comparative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Client decision</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Placement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EB-01</a:t>
                      </a:r>
                    </a:p>
                  </a:txBody>
                  <a:tcPr marL="64008" marR="64008" marT="27432" marB="27432" anchor="ctr">
                    <a:solidFill>
                      <a:srgbClr val="FFFFFF"/>
                    </a:solidFill>
                  </a:tcPr>
                </a:tc>
                <a:tc>
                  <a:txBody>
                    <a:bodyPr wrap="square"/>
                    <a:lstStyle/>
                    <a:p>
                      <a:r>
                        <a:rPr sz="1100" b="0">
                          <a:solidFill>
                            <a:srgbClr val="4B4B4B"/>
                          </a:solidFill>
                          <a:latin typeface="Arial"/>
                        </a:rPr>
                        <a:t>Quote and placement</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Like non-life: Marketing gets the master list from the customer (headcount only at quote stage), sends it to insurers and negotiates; Processing then gets the employee details and places. More than 50,000 members today.</a:t>
                      </a:r>
                    </a:p>
                  </a:txBody>
                  <a:tcPr marL="64008" marR="64008" marT="27432" marB="27432" anchor="ctr">
                    <a:solidFill>
                      <a:srgbClr val="FFFFFF"/>
                    </a:solidFill>
                  </a:tcPr>
                </a:tc>
                <a:tc>
                  <a:txBody>
                    <a:bodyPr wrap="square"/>
                    <a:lstStyle/>
                    <a:p>
                      <a:r>
                        <a:rPr sz="1100" b="0">
                          <a:solidFill>
                            <a:srgbClr val="4B4B4B"/>
                          </a:solidFill>
                          <a:latin typeface="Arial"/>
                        </a:rPr>
                        <a:t>The system handles large member volumes (50K+).</a:t>
                      </a:r>
                    </a:p>
                  </a:txBody>
                  <a:tcPr marL="64008" marR="64008" marT="27432" marB="27432" anchor="ctr">
                    <a:solidFill>
                      <a:srgbClr val="FFFFFF"/>
                    </a:solidFill>
                  </a:tcPr>
                </a:tc>
              </a:tr>
              <a:tr h="758952">
                <a:tc>
                  <a:txBody>
                    <a:bodyPr wrap="square"/>
                    <a:lstStyle/>
                    <a:p>
                      <a:r>
                        <a:rPr sz="1100" b="1">
                          <a:solidFill>
                            <a:srgbClr val="4B4B4B"/>
                          </a:solidFill>
                          <a:latin typeface="Arial"/>
                        </a:rPr>
                        <a:t>EB-02</a:t>
                      </a:r>
                    </a:p>
                  </a:txBody>
                  <a:tcPr marL="64008" marR="64008" marT="27432" marB="27432" anchor="ctr">
                    <a:solidFill>
                      <a:srgbClr val="E5F5FF"/>
                    </a:solidFill>
                  </a:tcPr>
                </a:tc>
                <a:tc>
                  <a:txBody>
                    <a:bodyPr wrap="square"/>
                    <a:lstStyle/>
                    <a:p>
                      <a:r>
                        <a:rPr sz="1100" b="0">
                          <a:solidFill>
                            <a:srgbClr val="4B4B4B"/>
                          </a:solidFill>
                          <a:latin typeface="Arial"/>
                        </a:rPr>
                        <a:t>EB claims</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Claims are validated by the provider; BDOI only captures the details from the provider.</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EB-03</a:t>
                      </a:r>
                    </a:p>
                  </a:txBody>
                  <a:tcPr marL="64008" marR="64008" marT="27432" marB="27432" anchor="ctr">
                    <a:solidFill>
                      <a:srgbClr val="FFFFFF"/>
                    </a:solidFill>
                  </a:tcPr>
                </a:tc>
                <a:tc>
                  <a:txBody>
                    <a:bodyPr wrap="square"/>
                    <a:lstStyle/>
                    <a:p>
                      <a:r>
                        <a:rPr sz="1100" b="0">
                          <a:solidFill>
                            <a:srgbClr val="4B4B4B"/>
                          </a:solidFill>
                          <a:latin typeface="Arial"/>
                        </a:rPr>
                        <a:t>Broker of record</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The broker of record is kept for corporate EB renewal.</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EB flow</a:t>
                      </a:r>
                    </a:p>
                  </a:txBody>
                  <a:tcPr marL="64008" marR="64008" marT="27432" marB="27432" anchor="ctr">
                    <a:solidFill>
                      <a:srgbClr val="E5F5FF"/>
                    </a:solidFill>
                  </a:tcPr>
                </a:tc>
                <a:tc>
                  <a:txBody>
                    <a:bodyPr wrap="square"/>
                    <a:lstStyle/>
                    <a:p>
                      <a:r>
                        <a:rPr sz="1100" b="0">
                          <a:solidFill>
                            <a:srgbClr val="4B4B4B"/>
                          </a:solidFill>
                          <a:latin typeface="Arial"/>
                        </a:rPr>
                        <a:t>Renewal</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Renewal advice before expiry; BOR, master list, utilization and indicative proposal secured; indicative renewal from the incumbent; client feedback; comparative; approval above the internal threshold; placement after confirmation.</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EB flow</a:t>
                      </a:r>
                    </a:p>
                  </a:txBody>
                  <a:tcPr marL="64008" marR="64008" marT="27432" marB="27432" anchor="ctr">
                    <a:solidFill>
                      <a:srgbClr val="FFFFFF"/>
                    </a:solidFill>
                  </a:tcPr>
                </a:tc>
                <a:tc>
                  <a:txBody>
                    <a:bodyPr wrap="square"/>
                    <a:lstStyle/>
                    <a:p>
                      <a:r>
                        <a:rPr sz="1100" b="0">
                          <a:solidFill>
                            <a:srgbClr val="4B4B4B"/>
                          </a:solidFill>
                          <a:latin typeface="Arial"/>
                        </a:rPr>
                        <a:t>New business</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New client tagged as prospect; BOR to insurers for franchise approval; TOR from existing benefits; TOR, master list and utilization released to the insurers with franchise; ISACOM approval if awarded to a non-accredited provider.</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EB flow</a:t>
                      </a:r>
                    </a:p>
                  </a:txBody>
                  <a:tcPr marL="64008" marR="64008" marT="27432" marB="27432" anchor="ctr">
                    <a:solidFill>
                      <a:srgbClr val="E5F5FF"/>
                    </a:solidFill>
                  </a:tcPr>
                </a:tc>
                <a:tc>
                  <a:txBody>
                    <a:bodyPr wrap="square"/>
                    <a:lstStyle/>
                    <a:p>
                      <a:r>
                        <a:rPr sz="1100" b="0">
                          <a:solidFill>
                            <a:srgbClr val="4B4B4B"/>
                          </a:solidFill>
                          <a:latin typeface="Arial"/>
                        </a:rPr>
                        <a:t>Portals</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Insurer portal for uploads and management; client portal for uploads and policy management.</a:t>
                      </a:r>
                    </a:p>
                  </a:txBody>
                  <a:tcPr marL="64008" marR="64008" marT="27432" marB="27432" anchor="ctr">
                    <a:solidFill>
                      <a:srgbClr val="E5F5FF"/>
                    </a:solidFill>
                  </a:tcPr>
                </a:tc>
                <a:tc>
                  <a:txBody>
                    <a:bodyPr wrap="square"/>
                    <a:lstStyle/>
                    <a:p>
                      <a:r>
                        <a:rPr sz="1100" b="0">
                          <a:solidFill>
                            <a:srgbClr val="4B4B4B"/>
                          </a:solidFill>
                          <a:latin typeface="Arial"/>
                        </a:rPr>
                        <a:t>Portals for insurers and client HR (the drop plan says no portal at go-live).</a:t>
                      </a:r>
                    </a:p>
                  </a:txBody>
                  <a:tcPr marL="64008" marR="64008" marT="27432" marB="27432" anchor="ctr">
                    <a:solidFill>
                      <a:srgbClr val="E5F5FF"/>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pic>
        <p:nvPicPr>
          <p:cNvPr id="9" name="Picture 8" descr="brd08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Employee Benefits today (BRD-8 Add. p.3)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Renewal advices by hand</a:t>
            </a:r>
          </a:p>
          <a:p>
            <a:pPr>
              <a:spcAft>
                <a:spcPts val="100"/>
              </a:spcAft>
            </a:pPr>
            <a:r>
              <a:rPr sz="1200" b="0">
                <a:solidFill>
                  <a:srgbClr val="4B4B4B"/>
                </a:solidFill>
                <a:latin typeface="Arial"/>
              </a:rPr>
              <a:t>Prepared in Word or Excel for each programme.</a:t>
            </a:r>
          </a:p>
          <a:p>
            <a:pPr>
              <a:spcAft>
                <a:spcPts val="100"/>
              </a:spcAft>
            </a:pPr>
            <a:r>
              <a:rPr sz="1200" b="0">
                <a:solidFill>
                  <a:srgbClr val="0072D8"/>
                </a:solidFill>
                <a:latin typeface="Arial"/>
              </a:rPr>
              <a:t>BRD-8 Add. p.3; BRID-001</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document repository</a:t>
            </a:r>
          </a:p>
          <a:p>
            <a:pPr>
              <a:spcAft>
                <a:spcPts val="100"/>
              </a:spcAft>
            </a:pPr>
            <a:r>
              <a:rPr sz="1200" b="0">
                <a:solidFill>
                  <a:srgbClr val="4B4B4B"/>
                </a:solidFill>
                <a:latin typeface="Arial"/>
              </a:rPr>
              <a:t>TOR, master lists, utilization and proposals travel by e-mail.</a:t>
            </a:r>
          </a:p>
          <a:p>
            <a:pPr>
              <a:spcAft>
                <a:spcPts val="100"/>
              </a:spcAft>
            </a:pPr>
            <a:r>
              <a:rPr sz="1200" b="0">
                <a:solidFill>
                  <a:srgbClr val="0072D8"/>
                </a:solidFill>
                <a:latin typeface="Arial"/>
              </a:rPr>
              <a:t>BRD-8 Add. p.3; BRID-002, 007</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Insurers and clients reply by e-mail</a:t>
            </a:r>
          </a:p>
          <a:p>
            <a:pPr>
              <a:spcAft>
                <a:spcPts val="100"/>
              </a:spcAft>
            </a:pPr>
            <a:r>
              <a:rPr sz="1200" b="0">
                <a:solidFill>
                  <a:srgbClr val="4B4B4B"/>
                </a:solidFill>
                <a:latin typeface="Arial"/>
              </a:rPr>
              <a:t>No secure channel and no validation before use.</a:t>
            </a:r>
          </a:p>
          <a:p>
            <a:pPr>
              <a:spcAft>
                <a:spcPts val="100"/>
              </a:spcAft>
            </a:pPr>
            <a:r>
              <a:rPr sz="1200" b="0">
                <a:solidFill>
                  <a:srgbClr val="0072D8"/>
                </a:solidFill>
                <a:latin typeface="Arial"/>
              </a:rPr>
              <a:t>BRD-8 Add. p.3-4; BRID-005</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Comparative compiled by hand</a:t>
            </a:r>
          </a:p>
          <a:p>
            <a:pPr>
              <a:spcAft>
                <a:spcPts val="100"/>
              </a:spcAft>
            </a:pPr>
            <a:r>
              <a:rPr sz="1200" b="0">
                <a:solidFill>
                  <a:srgbClr val="4B4B4B"/>
                </a:solidFill>
                <a:latin typeface="Arial"/>
              </a:rPr>
              <a:t>Proposals are re-keyed into a comparative.</a:t>
            </a:r>
          </a:p>
          <a:p>
            <a:pPr>
              <a:spcAft>
                <a:spcPts val="100"/>
              </a:spcAft>
            </a:pPr>
            <a:r>
              <a:rPr sz="1200" b="0">
                <a:solidFill>
                  <a:srgbClr val="0072D8"/>
                </a:solidFill>
                <a:latin typeface="Arial"/>
              </a:rPr>
              <a:t>BRD-8 Add. p.3; BRID-010</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Placement starts on an e-mail</a:t>
            </a:r>
          </a:p>
          <a:p>
            <a:pPr>
              <a:spcAft>
                <a:spcPts val="100"/>
              </a:spcAft>
            </a:pPr>
            <a:r>
              <a:rPr sz="1200" b="0">
                <a:solidFill>
                  <a:srgbClr val="4B4B4B"/>
                </a:solidFill>
                <a:latin typeface="Arial"/>
              </a:rPr>
              <a:t>Hand-offs between Marketing, Processing and Collection run on e-mail.</a:t>
            </a:r>
          </a:p>
          <a:p>
            <a:pPr>
              <a:spcAft>
                <a:spcPts val="100"/>
              </a:spcAft>
            </a:pPr>
            <a:r>
              <a:rPr sz="1200" b="0">
                <a:solidFill>
                  <a:srgbClr val="0072D8"/>
                </a:solidFill>
                <a:latin typeface="Arial"/>
              </a:rPr>
              <a:t>BRD-8 Add. p.3; BRID-017</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Members and billing in spreadsheets</a:t>
            </a:r>
          </a:p>
          <a:p>
            <a:pPr>
              <a:spcAft>
                <a:spcPts val="100"/>
              </a:spcAft>
            </a:pPr>
            <a:r>
              <a:rPr sz="1200" b="0">
                <a:solidFill>
                  <a:srgbClr val="4B4B4B"/>
                </a:solidFill>
                <a:latin typeface="Arial"/>
              </a:rPr>
              <a:t>Member movements, direct billing, cards and SOAs tracked in Excel.</a:t>
            </a:r>
          </a:p>
          <a:p>
            <a:pPr>
              <a:spcAft>
                <a:spcPts val="100"/>
              </a:spcAft>
            </a:pPr>
            <a:r>
              <a:rPr sz="1200" b="0">
                <a:solidFill>
                  <a:srgbClr val="0072D8"/>
                </a:solidFill>
                <a:latin typeface="Arial"/>
              </a:rPr>
              <a:t>BRD-8 Add. p.3; BRID-013, 021, 030</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Reports by hand</a:t>
            </a:r>
          </a:p>
          <a:p>
            <a:pPr>
              <a:spcAft>
                <a:spcPts val="100"/>
              </a:spcAft>
            </a:pPr>
            <a:r>
              <a:rPr sz="1200" b="0">
                <a:solidFill>
                  <a:srgbClr val="4B4B4B"/>
                </a:solidFill>
                <a:latin typeface="Arial"/>
              </a:rPr>
              <a:t>Production, renewal and TAT reports compiled manually.</a:t>
            </a:r>
          </a:p>
          <a:p>
            <a:pPr>
              <a:spcAft>
                <a:spcPts val="100"/>
              </a:spcAft>
            </a:pPr>
            <a:r>
              <a:rPr sz="1200" b="0">
                <a:solidFill>
                  <a:srgbClr val="0072D8"/>
                </a:solidFill>
                <a:latin typeface="Arial"/>
              </a:rPr>
              <a:t>BRD-8 Add. p.3; BRID-022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pic>
        <p:nvPicPr>
          <p:cNvPr id="9" name="Picture 8" descr="brd08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EB cycle in BIBS: workflow EB_CYCLE and the partner portal (FRS BRD-8 sections 2.2 and 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how the BRD answers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Renewal advices by hand</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Daily job sends the RA 135 days before expiry, with reminders and a feedback request</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About 4,150 renewals a year</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document repository</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Every document registered with cycle, type, process and version; outbound files protected</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repository</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and clients reply by e-mail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Insurers and client HR work in the partner portal; uploads take effect after BDOI validation</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Validation before use</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Comparative compiled by hand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Comparative built from the validated proposals; sign-off and threshold approval in the workflow</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re-keying</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Placement starts on an e-mail</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Client confirmation creates one account per benefit line and notifies Processing</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Hand-off in the system</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Members and billing in spreadsheets</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Member changes, direct billing, contracts, HMO cards and SOAs are tracked items with follow-ups</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Automatic follow-ups</a:t>
            </a:r>
          </a:p>
        </p:txBody>
      </p:sp>
      <p:sp>
        <p:nvSpPr>
          <p:cNvPr id="54" name="Oval 53"/>
          <p:cNvSpPr/>
          <p:nvPr/>
        </p:nvSpPr>
        <p:spPr>
          <a:xfrm>
            <a:off x="548640" y="561702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491625"/>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491625"/>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by hand</a:t>
            </a:r>
          </a:p>
        </p:txBody>
      </p:sp>
      <p:sp>
        <p:nvSpPr>
          <p:cNvPr id="57" name="Right Arrow 56"/>
          <p:cNvSpPr/>
          <p:nvPr/>
        </p:nvSpPr>
        <p:spPr>
          <a:xfrm>
            <a:off x="4462272" y="567189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800600" y="5491625"/>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846320" y="5491625"/>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Production, Renewal, Placement, New Business and TAT reports with a business type filter</a:t>
            </a:r>
          </a:p>
        </p:txBody>
      </p:sp>
      <p:sp>
        <p:nvSpPr>
          <p:cNvPr id="60" name="TextBox 59"/>
          <p:cNvSpPr txBox="1"/>
          <p:nvPr/>
        </p:nvSpPr>
        <p:spPr>
          <a:xfrm>
            <a:off x="9665208" y="5491625"/>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Live reports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gaps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graphicFrame>
        <p:nvGraphicFramePr>
          <p:cNvPr id="9" name="Table 8"/>
          <p:cNvGraphicFramePr>
            <a:graphicFrameLocks noGrp="1"/>
          </p:cNvGraphicFramePr>
          <p:nvPr/>
        </p:nvGraphicFramePr>
        <p:xfrm>
          <a:off x="548640" y="1280160"/>
          <a:ext cx="11094412" cy="4919470"/>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65053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EB claims capture</a:t>
                      </a:r>
                    </a:p>
                  </a:txBody>
                  <a:tcPr marL="64008" marR="64008" marT="27432" marB="27432" anchor="ctr">
                    <a:solidFill>
                      <a:srgbClr val="FFFFFF"/>
                    </a:solidFill>
                  </a:tcPr>
                </a:tc>
                <a:tc>
                  <a:txBody>
                    <a:bodyPr wrap="square"/>
                    <a:lstStyle/>
                    <a:p>
                      <a:r>
                        <a:rPr sz="1100" b="0">
                          <a:solidFill>
                            <a:srgbClr val="4B4B4B"/>
                          </a:solidFill>
                          <a:latin typeface="Arial"/>
                        </a:rPr>
                        <a:t>Provider validates; BDOI captures claim details (EB-02).</a:t>
                      </a:r>
                    </a:p>
                  </a:txBody>
                  <a:tcPr marL="64008" marR="64008" marT="27432" marB="27432" anchor="ctr">
                    <a:solidFill>
                      <a:srgbClr val="FFFFFF"/>
                    </a:solidFill>
                  </a:tcPr>
                </a:tc>
                <a:tc>
                  <a:txBody>
                    <a:bodyPr wrap="square"/>
                    <a:lstStyle/>
                    <a:p>
                      <a:r>
                        <a:rPr sz="1100" b="0">
                          <a:solidFill>
                            <a:srgbClr val="4B4B4B"/>
                          </a:solidFill>
                          <a:latin typeface="Arial"/>
                        </a:rPr>
                        <a:t>No claims row in BRD-8; BRD-7 covers Motor and Non-Motor only.</a:t>
                      </a:r>
                    </a:p>
                  </a:txBody>
                  <a:tcPr marL="64008" marR="64008" marT="27432" marB="27432" anchor="ctr">
                    <a:solidFill>
                      <a:srgbClr val="FFFFFF"/>
                    </a:solidFill>
                  </a:tcPr>
                </a:tc>
                <a:tc>
                  <a:txBody>
                    <a:bodyPr wrap="square"/>
                    <a:lstStyle/>
                    <a:p>
                      <a:r>
                        <a:rPr sz="1100" b="0">
                          <a:solidFill>
                            <a:srgbClr val="4B4B4B"/>
                          </a:solidFill>
                          <a:latin typeface="Arial"/>
                        </a:rPr>
                        <a:t>Capture provider claims and utilization per programme.</a:t>
                      </a:r>
                    </a:p>
                  </a:txBody>
                  <a:tcPr marL="64008" marR="64008" marT="27432" marB="27432" anchor="ctr">
                    <a:solidFill>
                      <a:srgbClr val="FFFFFF"/>
                    </a:solidFill>
                  </a:tcPr>
                </a:tc>
                <a:tc>
                  <a:txBody>
                    <a:bodyPr wrap="square"/>
                    <a:lstStyle/>
                    <a:p>
                      <a:r>
                        <a:rPr sz="1100" b="0">
                          <a:solidFill>
                            <a:srgbClr val="4B4B4B"/>
                          </a:solidFill>
                          <a:latin typeface="Arial"/>
                        </a:rPr>
                        <a:t>EB-02</a:t>
                      </a:r>
                    </a:p>
                  </a:txBody>
                  <a:tcPr marL="64008" marR="64008" marT="27432" marB="27432" anchor="ctr">
                    <a:solidFill>
                      <a:srgbClr val="FFFFFF"/>
                    </a:solidFill>
                  </a:tcPr>
                </a:tc>
              </a:tr>
              <a:tr h="65053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ISACOM approval</a:t>
                      </a:r>
                    </a:p>
                  </a:txBody>
                  <a:tcPr marL="64008" marR="64008" marT="27432" marB="27432" anchor="ctr">
                    <a:solidFill>
                      <a:srgbClr val="E5F5FF"/>
                    </a:solidFill>
                  </a:tcPr>
                </a:tc>
                <a:tc>
                  <a:txBody>
                    <a:bodyPr wrap="square"/>
                    <a:lstStyle/>
                    <a:p>
                      <a:r>
                        <a:rPr sz="1100" b="0">
                          <a:solidFill>
                            <a:srgbClr val="4B4B4B"/>
                          </a:solidFill>
                          <a:latin typeface="Arial"/>
                        </a:rPr>
                        <a:t>Needed when a non-accredited provider wins.</a:t>
                      </a:r>
                    </a:p>
                  </a:txBody>
                  <a:tcPr marL="64008" marR="64008" marT="27432" marB="27432" anchor="ctr">
                    <a:solidFill>
                      <a:srgbClr val="E5F5FF"/>
                    </a:solidFill>
                  </a:tcPr>
                </a:tc>
                <a:tc>
                  <a:txBody>
                    <a:bodyPr wrap="square"/>
                    <a:lstStyle/>
                    <a:p>
                      <a:r>
                        <a:rPr sz="1100" b="0">
                          <a:solidFill>
                            <a:srgbClr val="4B4B4B"/>
                          </a:solidFill>
                          <a:latin typeface="Arial"/>
                        </a:rPr>
                        <a:t>Only in the process flow.</a:t>
                      </a:r>
                    </a:p>
                  </a:txBody>
                  <a:tcPr marL="64008" marR="64008" marT="27432" marB="27432" anchor="ctr">
                    <a:solidFill>
                      <a:srgbClr val="E5F5FF"/>
                    </a:solidFill>
                  </a:tcPr>
                </a:tc>
                <a:tc>
                  <a:txBody>
                    <a:bodyPr wrap="square"/>
                    <a:lstStyle/>
                    <a:p>
                      <a:r>
                        <a:rPr sz="1100" b="0">
                          <a:solidFill>
                            <a:srgbClr val="4B4B4B"/>
                          </a:solidFill>
                          <a:latin typeface="Arial"/>
                        </a:rPr>
                        <a:t>Approval step and document in the EB cycle.</a:t>
                      </a:r>
                    </a:p>
                  </a:txBody>
                  <a:tcPr marL="64008" marR="64008" marT="27432" marB="27432" anchor="ctr">
                    <a:solidFill>
                      <a:srgbClr val="E5F5FF"/>
                    </a:solidFill>
                  </a:tcPr>
                </a:tc>
                <a:tc>
                  <a:txBody>
                    <a:bodyPr wrap="square"/>
                    <a:lstStyle/>
                    <a:p>
                      <a:r>
                        <a:rPr sz="1100" b="0">
                          <a:solidFill>
                            <a:srgbClr val="4B4B4B"/>
                          </a:solidFill>
                          <a:latin typeface="Arial"/>
                        </a:rPr>
                        <a:t>EB flow; DCR-090</a:t>
                      </a:r>
                    </a:p>
                  </a:txBody>
                  <a:tcPr marL="64008" marR="64008" marT="27432" marB="27432" anchor="ctr">
                    <a:solidFill>
                      <a:srgbClr val="E5F5FF"/>
                    </a:solidFill>
                  </a:tcPr>
                </a:tc>
              </a:tr>
              <a:tr h="65053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Member volumes</a:t>
                      </a:r>
                    </a:p>
                  </a:txBody>
                  <a:tcPr marL="64008" marR="64008" marT="27432" marB="27432" anchor="ctr">
                    <a:solidFill>
                      <a:srgbClr val="FFFFFF"/>
                    </a:solidFill>
                  </a:tcPr>
                </a:tc>
                <a:tc>
                  <a:txBody>
                    <a:bodyPr wrap="square"/>
                    <a:lstStyle/>
                    <a:p>
                      <a:r>
                        <a:rPr sz="1100" b="0">
                          <a:solidFill>
                            <a:srgbClr val="4B4B4B"/>
                          </a:solidFill>
                          <a:latin typeface="Arial"/>
                        </a:rPr>
                        <a:t>50,000+ members (EB-01).</a:t>
                      </a:r>
                    </a:p>
                  </a:txBody>
                  <a:tcPr marL="64008" marR="64008" marT="27432" marB="27432" anchor="ctr">
                    <a:solidFill>
                      <a:srgbClr val="FFFFFF"/>
                    </a:solidFill>
                  </a:tcPr>
                </a:tc>
                <a:tc>
                  <a:txBody>
                    <a:bodyPr wrap="square"/>
                    <a:lstStyle/>
                    <a:p>
                      <a:r>
                        <a:rPr sz="1100" b="0">
                          <a:solidFill>
                            <a:srgbClr val="4B4B4B"/>
                          </a:solidFill>
                          <a:latin typeface="Arial"/>
                        </a:rPr>
                        <a:t>NFR counts transactions (4,200 a year), not members.</a:t>
                      </a:r>
                    </a:p>
                  </a:txBody>
                  <a:tcPr marL="64008" marR="64008" marT="27432" marB="27432" anchor="ctr">
                    <a:solidFill>
                      <a:srgbClr val="FFFFFF"/>
                    </a:solidFill>
                  </a:tcPr>
                </a:tc>
                <a:tc>
                  <a:txBody>
                    <a:bodyPr wrap="square"/>
                    <a:lstStyle/>
                    <a:p>
                      <a:r>
                        <a:rPr sz="1100" b="0">
                          <a:solidFill>
                            <a:srgbClr val="4B4B4B"/>
                          </a:solidFill>
                          <a:latin typeface="Arial"/>
                        </a:rPr>
                        <a:t>Size and test member uploads and roster at 50K+.</a:t>
                      </a:r>
                    </a:p>
                  </a:txBody>
                  <a:tcPr marL="64008" marR="64008" marT="27432" marB="27432" anchor="ctr">
                    <a:solidFill>
                      <a:srgbClr val="FFFFFF"/>
                    </a:solidFill>
                  </a:tcPr>
                </a:tc>
                <a:tc>
                  <a:txBody>
                    <a:bodyPr wrap="square"/>
                    <a:lstStyle/>
                    <a:p>
                      <a:r>
                        <a:rPr sz="1100" b="0">
                          <a:solidFill>
                            <a:srgbClr val="4B4B4B"/>
                          </a:solidFill>
                          <a:latin typeface="Arial"/>
                        </a:rPr>
                        <a:t>EB-01; EBQ15</a:t>
                      </a:r>
                    </a:p>
                  </a:txBody>
                  <a:tcPr marL="64008" marR="64008" marT="27432" marB="27432" anchor="ctr">
                    <a:solidFill>
                      <a:srgbClr val="FFFFFF"/>
                    </a:solidFill>
                  </a:tcPr>
                </a:tc>
              </a:tr>
              <a:tr h="65053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Census validation</a:t>
                      </a:r>
                    </a:p>
                  </a:txBody>
                  <a:tcPr marL="64008" marR="64008" marT="27432" marB="27432" anchor="ctr">
                    <a:solidFill>
                      <a:srgbClr val="E5F5FF"/>
                    </a:solidFill>
                  </a:tcPr>
                </a:tc>
                <a:tc>
                  <a:txBody>
                    <a:bodyPr wrap="square"/>
                    <a:lstStyle/>
                    <a:p>
                      <a:r>
                        <a:rPr sz="1100" b="0">
                          <a:solidFill>
                            <a:srgbClr val="4B4B4B"/>
                          </a:solidFill>
                          <a:latin typeface="Arial"/>
                        </a:rPr>
                        <a:t>Master lists by e-mail and Excel.</a:t>
                      </a:r>
                    </a:p>
                  </a:txBody>
                  <a:tcPr marL="64008" marR="64008" marT="27432" marB="27432" anchor="ctr">
                    <a:solidFill>
                      <a:srgbClr val="E5F5FF"/>
                    </a:solidFill>
                  </a:tcPr>
                </a:tc>
                <a:tc>
                  <a:txBody>
                    <a:bodyPr wrap="square"/>
                    <a:lstStyle/>
                    <a:p>
                      <a:r>
                        <a:rPr sz="1100" b="0">
                          <a:solidFill>
                            <a:srgbClr val="4B4B4B"/>
                          </a:solidFill>
                          <a:latin typeface="Arial"/>
                        </a:rPr>
                        <a:t>Upload with AO validation; no data checks.</a:t>
                      </a:r>
                    </a:p>
                  </a:txBody>
                  <a:tcPr marL="64008" marR="64008" marT="27432" marB="27432" anchor="ctr">
                    <a:solidFill>
                      <a:srgbClr val="E5F5FF"/>
                    </a:solidFill>
                  </a:tcPr>
                </a:tc>
                <a:tc>
                  <a:txBody>
                    <a:bodyPr wrap="square"/>
                    <a:lstStyle/>
                    <a:p>
                      <a:r>
                        <a:rPr sz="1100" b="0">
                          <a:solidFill>
                            <a:srgbClr val="4B4B4B"/>
                          </a:solidFill>
                          <a:latin typeface="Arial"/>
                        </a:rPr>
                        <a:t>Checks for duplicates, eligibility and changes since the last list.</a:t>
                      </a:r>
                    </a:p>
                  </a:txBody>
                  <a:tcPr marL="64008" marR="64008" marT="27432" marB="27432" anchor="ctr">
                    <a:solidFill>
                      <a:srgbClr val="E5F5FF"/>
                    </a:solidFill>
                  </a:tcPr>
                </a:tc>
                <a:tc>
                  <a:txBody>
                    <a:bodyPr wrap="square"/>
                    <a:lstStyle/>
                    <a:p>
                      <a:r>
                        <a:rPr sz="1100" b="0">
                          <a:solidFill>
                            <a:srgbClr val="4B4B4B"/>
                          </a:solidFill>
                          <a:latin typeface="Arial"/>
                        </a:rPr>
                        <a:t>BRID-007, 013</a:t>
                      </a:r>
                    </a:p>
                  </a:txBody>
                  <a:tcPr marL="64008" marR="64008" marT="27432" marB="27432" anchor="ctr">
                    <a:solidFill>
                      <a:srgbClr val="E5F5FF"/>
                    </a:solidFill>
                  </a:tcPr>
                </a:tc>
              </a:tr>
              <a:tr h="65053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Portals at go-live</a:t>
                      </a:r>
                    </a:p>
                  </a:txBody>
                  <a:tcPr marL="64008" marR="64008" marT="27432" marB="27432" anchor="ctr">
                    <a:solidFill>
                      <a:srgbClr val="FFFFFF"/>
                    </a:solidFill>
                  </a:tcPr>
                </a:tc>
                <a:tc>
                  <a:txBody>
                    <a:bodyPr wrap="square"/>
                    <a:lstStyle/>
                    <a:p>
                      <a:r>
                        <a:rPr sz="1100" b="0">
                          <a:solidFill>
                            <a:srgbClr val="4B4B4B"/>
                          </a:solidFill>
                          <a:latin typeface="Arial"/>
                        </a:rPr>
                        <a:t>Insurer and client portals in the EB flow.</a:t>
                      </a:r>
                    </a:p>
                  </a:txBody>
                  <a:tcPr marL="64008" marR="64008" marT="27432" marB="27432" anchor="ctr">
                    <a:solidFill>
                      <a:srgbClr val="FFFFFF"/>
                    </a:solidFill>
                  </a:tcPr>
                </a:tc>
                <a:tc>
                  <a:txBody>
                    <a:bodyPr wrap="square"/>
                    <a:lstStyle/>
                    <a:p>
                      <a:r>
                        <a:rPr sz="1100" b="0">
                          <a:solidFill>
                            <a:srgbClr val="4B4B4B"/>
                          </a:solidFill>
                          <a:latin typeface="Arial"/>
                        </a:rPr>
                        <a:t>Portal in BRD-8; drop plan says no portal.</a:t>
                      </a:r>
                    </a:p>
                  </a:txBody>
                  <a:tcPr marL="64008" marR="64008" marT="27432" marB="27432" anchor="ctr">
                    <a:solidFill>
                      <a:srgbClr val="FFFFFF"/>
                    </a:solidFill>
                  </a:tcPr>
                </a:tc>
                <a:tc>
                  <a:txBody>
                    <a:bodyPr wrap="square"/>
                    <a:lstStyle/>
                    <a:p>
                      <a:r>
                        <a:rPr sz="1100" b="0">
                          <a:solidFill>
                            <a:srgbClr val="4B4B4B"/>
                          </a:solidFill>
                          <a:latin typeface="Arial"/>
                        </a:rPr>
                        <a:t>Confirm the portal timing and external-user security.</a:t>
                      </a:r>
                    </a:p>
                  </a:txBody>
                  <a:tcPr marL="64008" marR="64008" marT="27432" marB="27432" anchor="ctr">
                    <a:solidFill>
                      <a:srgbClr val="FFFFFF"/>
                    </a:solidFill>
                  </a:tcPr>
                </a:tc>
                <a:tc>
                  <a:txBody>
                    <a:bodyPr wrap="square"/>
                    <a:lstStyle/>
                    <a:p>
                      <a:r>
                        <a:rPr sz="1100" b="0">
                          <a:solidFill>
                            <a:srgbClr val="4B4B4B"/>
                          </a:solidFill>
                          <a:latin typeface="Arial"/>
                        </a:rPr>
                        <a:t>DCR-211, 096</a:t>
                      </a:r>
                    </a:p>
                  </a:txBody>
                  <a:tcPr marL="64008" marR="64008" marT="27432" marB="27432" anchor="ctr">
                    <a:solidFill>
                      <a:srgbClr val="FFFFFF"/>
                    </a:solidFill>
                  </a:tcPr>
                </a:tc>
              </a:tr>
              <a:tr h="65053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Member data privacy</a:t>
                      </a:r>
                    </a:p>
                  </a:txBody>
                  <a:tcPr marL="64008" marR="64008" marT="27432" marB="27432" anchor="ctr">
                    <a:solidFill>
                      <a:srgbClr val="E5F5FF"/>
                    </a:solidFill>
                  </a:tcPr>
                </a:tc>
                <a:tc>
                  <a:txBody>
                    <a:bodyPr wrap="square"/>
                    <a:lstStyle/>
                    <a:p>
                      <a:r>
                        <a:rPr sz="1100" b="0">
                          <a:solidFill>
                            <a:srgbClr val="4B4B4B"/>
                          </a:solidFill>
                          <a:latin typeface="Arial"/>
                        </a:rPr>
                        <a:t>Employee data travels by e-mail.</a:t>
                      </a:r>
                    </a:p>
                  </a:txBody>
                  <a:tcPr marL="64008" marR="64008" marT="27432" marB="27432" anchor="ctr">
                    <a:solidFill>
                      <a:srgbClr val="E5F5FF"/>
                    </a:solidFill>
                  </a:tcPr>
                </a:tc>
                <a:tc>
                  <a:txBody>
                    <a:bodyPr wrap="square"/>
                    <a:lstStyle/>
                    <a:p>
                      <a:r>
                        <a:rPr sz="1100" b="0">
                          <a:solidFill>
                            <a:srgbClr val="4B4B4B"/>
                          </a:solidFill>
                          <a:latin typeface="Arial"/>
                        </a:rPr>
                        <a:t>Masking and need-to-know rules open.</a:t>
                      </a:r>
                    </a:p>
                  </a:txBody>
                  <a:tcPr marL="64008" marR="64008" marT="27432" marB="27432" anchor="ctr">
                    <a:solidFill>
                      <a:srgbClr val="E5F5FF"/>
                    </a:solidFill>
                  </a:tcPr>
                </a:tc>
                <a:tc>
                  <a:txBody>
                    <a:bodyPr wrap="square"/>
                    <a:lstStyle/>
                    <a:p>
                      <a:r>
                        <a:rPr sz="1100" b="0">
                          <a:solidFill>
                            <a:srgbClr val="4B4B4B"/>
                          </a:solidFill>
                          <a:latin typeface="Arial"/>
                        </a:rPr>
                        <a:t>Data Privacy Act controls on member data.</a:t>
                      </a:r>
                    </a:p>
                  </a:txBody>
                  <a:tcPr marL="64008" marR="64008" marT="27432" marB="27432" anchor="ctr">
                    <a:solidFill>
                      <a:srgbClr val="E5F5FF"/>
                    </a:solidFill>
                  </a:tcPr>
                </a:tc>
                <a:tc>
                  <a:txBody>
                    <a:bodyPr wrap="square"/>
                    <a:lstStyle/>
                    <a:p>
                      <a:r>
                        <a:rPr sz="1100" b="0">
                          <a:solidFill>
                            <a:srgbClr val="4B4B4B"/>
                          </a:solidFill>
                          <a:latin typeface="Arial"/>
                        </a:rPr>
                        <a:t>DCR-094</a:t>
                      </a:r>
                    </a:p>
                  </a:txBody>
                  <a:tcPr marL="64008" marR="64008" marT="27432" marB="27432" anchor="ctr">
                    <a:solidFill>
                      <a:srgbClr val="E5F5FF"/>
                    </a:solidFill>
                  </a:tcPr>
                </a:tc>
              </a:tr>
              <a:tr h="65053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Renewal advice lead days</a:t>
                      </a:r>
                    </a:p>
                  </a:txBody>
                  <a:tcPr marL="64008" marR="64008" marT="27432" marB="27432" anchor="ctr">
                    <a:solidFill>
                      <a:srgbClr val="FFFFFF"/>
                    </a:solidFill>
                  </a:tcPr>
                </a:tc>
                <a:tc>
                  <a:txBody>
                    <a:bodyPr wrap="square"/>
                    <a:lstStyle/>
                    <a:p>
                      <a:r>
                        <a:rPr sz="1100" b="0">
                          <a:solidFill>
                            <a:srgbClr val="4B4B4B"/>
                          </a:solidFill>
                          <a:latin typeface="Arial"/>
                        </a:rPr>
                        <a:t>Advice sent before expiry.</a:t>
                      </a:r>
                    </a:p>
                  </a:txBody>
                  <a:tcPr marL="64008" marR="64008" marT="27432" marB="27432" anchor="ctr">
                    <a:solidFill>
                      <a:srgbClr val="FFFFFF"/>
                    </a:solidFill>
                  </a:tcPr>
                </a:tc>
                <a:tc>
                  <a:txBody>
                    <a:bodyPr wrap="square"/>
                    <a:lstStyle/>
                    <a:p>
                      <a:r>
                        <a:rPr sz="1100" b="0">
                          <a:solidFill>
                            <a:srgbClr val="4B4B4B"/>
                          </a:solidFill>
                          <a:latin typeface="Arial"/>
                        </a:rPr>
                        <a:t>180 or 135 days.</a:t>
                      </a:r>
                    </a:p>
                  </a:txBody>
                  <a:tcPr marL="64008" marR="64008" marT="27432" marB="27432" anchor="ctr">
                    <a:solidFill>
                      <a:srgbClr val="FFFFFF"/>
                    </a:solidFill>
                  </a:tcPr>
                </a:tc>
                <a:tc>
                  <a:txBody>
                    <a:bodyPr wrap="square"/>
                    <a:lstStyle/>
                    <a:p>
                      <a:r>
                        <a:rPr sz="1100" b="0">
                          <a:solidFill>
                            <a:srgbClr val="4B4B4B"/>
                          </a:solidFill>
                          <a:latin typeface="Arial"/>
                        </a:rPr>
                        <a:t>Confirm the default per programme.</a:t>
                      </a:r>
                    </a:p>
                  </a:txBody>
                  <a:tcPr marL="64008" marR="64008" marT="27432" marB="27432" anchor="ctr">
                    <a:solidFill>
                      <a:srgbClr val="FFFFFF"/>
                    </a:solidFill>
                  </a:tcPr>
                </a:tc>
                <a:tc>
                  <a:txBody>
                    <a:bodyPr wrap="square"/>
                    <a:lstStyle/>
                    <a:p>
                      <a:r>
                        <a:rPr sz="1100" b="0">
                          <a:solidFill>
                            <a:srgbClr val="4B4B4B"/>
                          </a:solidFill>
                          <a:latin typeface="Arial"/>
                        </a:rPr>
                        <a:t>DCR-087</a:t>
                      </a:r>
                    </a:p>
                  </a:txBody>
                  <a:tcPr marL="64008" marR="64008" marT="27432" marB="27432" anchor="ctr">
                    <a:solidFill>
                      <a:srgbClr val="FFFFF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HR self-service census</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Clean member data</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Client HR uploads the census; the system checks duplicates, eligibility and changes.</a:t>
            </a:r>
          </a:p>
          <a:p>
            <a:pPr>
              <a:spcAft>
                <a:spcPts val="400"/>
              </a:spcAft>
            </a:pPr>
            <a:r>
              <a:rPr sz="1200" b="1">
                <a:solidFill>
                  <a:srgbClr val="004EA8"/>
                </a:solidFill>
                <a:latin typeface="Arial"/>
              </a:rPr>
              <a:t>For BDOI: </a:t>
            </a:r>
            <a:r>
              <a:rPr sz="1200" b="0">
                <a:solidFill>
                  <a:srgbClr val="4B4B4B"/>
                </a:solidFill>
                <a:latin typeface="Arial"/>
              </a:rPr>
              <a:t>Start with an upload template and checks, portal later.</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Automatic member endorsements</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Accurate billing</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Additions and deletions billed pro rata and reconciled to the insurer invoice.</a:t>
            </a:r>
          </a:p>
          <a:p>
            <a:pPr>
              <a:spcAft>
                <a:spcPts val="400"/>
              </a:spcAft>
            </a:pPr>
            <a:r>
              <a:rPr sz="1200" b="1">
                <a:solidFill>
                  <a:srgbClr val="004EA8"/>
                </a:solidFill>
                <a:latin typeface="Arial"/>
              </a:rPr>
              <a:t>For BDOI: </a:t>
            </a:r>
            <a:r>
              <a:rPr sz="1200" b="0">
                <a:solidFill>
                  <a:srgbClr val="4B4B4B"/>
                </a:solidFill>
                <a:latin typeface="Arial"/>
              </a:rPr>
              <a:t>Use BRID-013 / 025 / 030 as the base.</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Utilization analytics</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renewals</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Claims and utilization per programme drive the renewal negotiation.</a:t>
            </a:r>
          </a:p>
          <a:p>
            <a:pPr>
              <a:spcAft>
                <a:spcPts val="400"/>
              </a:spcAft>
            </a:pPr>
            <a:r>
              <a:rPr sz="1200" b="1">
                <a:solidFill>
                  <a:srgbClr val="004EA8"/>
                </a:solidFill>
                <a:latin typeface="Arial"/>
              </a:rPr>
              <a:t>For BDOI: </a:t>
            </a:r>
            <a:r>
              <a:rPr sz="1200" b="0">
                <a:solidFill>
                  <a:srgbClr val="4B4B4B"/>
                </a:solidFill>
                <a:latin typeface="Arial"/>
              </a:rPr>
              <a:t>Capture provider claims (EB-02).</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Digital member cards</a:t>
            </a:r>
          </a:p>
        </p:txBody>
      </p:sp>
      <p:sp>
        <p:nvSpPr>
          <p:cNvPr id="30" name="Rounded Rectangle 29"/>
          <p:cNvSpPr/>
          <p:nvPr/>
        </p:nvSpPr>
        <p:spPr>
          <a:xfrm>
            <a:off x="640080"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Member experience</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HMO and life cards issued digitally to members.</a:t>
            </a:r>
          </a:p>
          <a:p>
            <a:pPr>
              <a:spcAft>
                <a:spcPts val="400"/>
              </a:spcAft>
            </a:pPr>
            <a:r>
              <a:rPr sz="1200" b="1">
                <a:solidFill>
                  <a:srgbClr val="004EA8"/>
                </a:solidFill>
                <a:latin typeface="Arial"/>
              </a:rPr>
              <a:t>For BDOI: </a:t>
            </a:r>
            <a:r>
              <a:rPr sz="1200" b="0">
                <a:solidFill>
                  <a:srgbClr val="4B4B4B"/>
                </a:solidFill>
                <a:latin typeface="Arial"/>
              </a:rPr>
              <a:t>With the HMOs after go-live.</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Privacy by design</a:t>
            </a:r>
          </a:p>
        </p:txBody>
      </p:sp>
      <p:sp>
        <p:nvSpPr>
          <p:cNvPr id="36" name="Rounded Rectangle 35"/>
          <p:cNvSpPr/>
          <p:nvPr/>
        </p:nvSpPr>
        <p:spPr>
          <a:xfrm>
            <a:off x="4393082" y="4448556"/>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Compliance</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Masking, need-to-know access and retention for member data.</a:t>
            </a:r>
          </a:p>
          <a:p>
            <a:pPr>
              <a:spcAft>
                <a:spcPts val="400"/>
              </a:spcAft>
            </a:pPr>
            <a:r>
              <a:rPr sz="1200" b="1">
                <a:solidFill>
                  <a:srgbClr val="004EA8"/>
                </a:solidFill>
                <a:latin typeface="Arial"/>
              </a:rPr>
              <a:t>For BDOI: </a:t>
            </a:r>
            <a:r>
              <a:rPr sz="1200" b="0">
                <a:solidFill>
                  <a:srgbClr val="4B4B4B"/>
                </a:solidFill>
                <a:latin typeface="Arial"/>
              </a:rPr>
              <a:t>Agree the rules with the DPO (DCR-094).</a:t>
            </a:r>
          </a:p>
        </p:txBody>
      </p:sp>
      <p:sp>
        <p:nvSpPr>
          <p:cNvPr id="39" name="Rounded Rectangle 38"/>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Provider scorecard</a:t>
            </a:r>
          </a:p>
        </p:txBody>
      </p:sp>
      <p:sp>
        <p:nvSpPr>
          <p:cNvPr id="42" name="Rounded Rectangle 41"/>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43" name="TextBox 42"/>
          <p:cNvSpPr txBox="1"/>
          <p:nvPr/>
        </p:nvSpPr>
        <p:spPr>
          <a:xfrm>
            <a:off x="9837724"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advice</a:t>
            </a:r>
          </a:p>
        </p:txBody>
      </p:sp>
      <p:sp>
        <p:nvSpPr>
          <p:cNvPr id="44" name="TextBox 43"/>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Insurer and HMO service levels, network and claims turnaround scored in the comparative.</a:t>
            </a:r>
          </a:p>
          <a:p>
            <a:pPr>
              <a:spcAft>
                <a:spcPts val="400"/>
              </a:spcAft>
            </a:pPr>
            <a:r>
              <a:rPr sz="1200" b="1">
                <a:solidFill>
                  <a:srgbClr val="004EA8"/>
                </a:solidFill>
                <a:latin typeface="Arial"/>
              </a:rPr>
              <a:t>For BDOI: </a:t>
            </a:r>
            <a:r>
              <a:rPr sz="1200" b="0">
                <a:solidFill>
                  <a:srgbClr val="4B4B4B"/>
                </a:solidFill>
                <a:latin typeface="Arial"/>
              </a:rPr>
              <a:t>Add capability scores to the comparative.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B</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Technical: TSU, Product and Reinsurance</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Package and non-package products, insurer terms, and facultative reinsurance</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5.  </a:t>
            </a:r>
            <a:r>
              <a:rPr sz="1500" b="1">
                <a:solidFill>
                  <a:srgbClr val="FFFFFF"/>
                </a:solidFill>
                <a:latin typeface="Arial"/>
              </a:rPr>
              <a:t>Product Maintenance and TSU</a:t>
            </a:r>
            <a:r>
              <a:rPr sz="1500" b="0">
                <a:solidFill>
                  <a:srgbClr val="99C1E7"/>
                </a:solidFill>
                <a:latin typeface="Arial"/>
              </a:rPr>
              <a:t>   BRD-3</a:t>
            </a:r>
          </a:p>
        </p:txBody>
      </p:sp>
      <p:sp>
        <p:nvSpPr>
          <p:cNvPr id="8" name="TextBox 7"/>
          <p:cNvSpPr txBox="1"/>
          <p:nvPr/>
        </p:nvSpPr>
        <p:spPr>
          <a:xfrm>
            <a:off x="548640" y="4361687"/>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6.  </a:t>
            </a:r>
            <a:r>
              <a:rPr sz="1500" b="1">
                <a:solidFill>
                  <a:srgbClr val="FFFFFF"/>
                </a:solidFill>
                <a:latin typeface="Arial"/>
              </a:rPr>
              <a:t>Reinsurance</a:t>
            </a:r>
            <a:r>
              <a:rPr sz="1500" b="0">
                <a:solidFill>
                  <a:srgbClr val="99C1E7"/>
                </a:solidFill>
                <a:latin typeface="Arial"/>
              </a:rPr>
              <a:t>   RI BRD (phase 2)</a:t>
            </a:r>
          </a:p>
        </p:txBody>
      </p:sp>
      <p:sp>
        <p:nvSpPr>
          <p:cNvPr id="9" name="TextBox 8"/>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Business Process Reverse KT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Technical Support Unit (TSU) and Marketing Business Services (MBS)</a:t>
            </a:r>
          </a:p>
          <a:p>
            <a:pPr>
              <a:spcAft>
                <a:spcPts val="300"/>
              </a:spcAft>
            </a:pPr>
            <a:r>
              <a:rPr sz="1200" b="0">
                <a:solidFill>
                  <a:srgbClr val="004EA8"/>
                </a:solidFill>
                <a:latin typeface="Arial"/>
              </a:rPr>
              <a:t>•  </a:t>
            </a:r>
            <a:r>
              <a:rPr sz="1200" b="0">
                <a:solidFill>
                  <a:srgbClr val="4B4B4B"/>
                </a:solidFill>
                <a:latin typeface="Arial"/>
              </a:rPr>
              <a:t>Marketing AO and TL / TH / UH (requesters)</a:t>
            </a:r>
          </a:p>
          <a:p>
            <a:pPr>
              <a:spcAft>
                <a:spcPts val="300"/>
              </a:spcAft>
            </a:pPr>
            <a:r>
              <a:rPr sz="1200" b="0">
                <a:solidFill>
                  <a:srgbClr val="004EA8"/>
                </a:solidFill>
                <a:latin typeface="Arial"/>
              </a:rPr>
              <a:t>•  </a:t>
            </a:r>
            <a:r>
              <a:rPr sz="1200" b="0">
                <a:solidFill>
                  <a:srgbClr val="4B4B4B"/>
                </a:solidFill>
                <a:latin typeface="Arial"/>
              </a:rPr>
              <a:t>TSU Officer (maker), TSU TL, TSU Head</a:t>
            </a:r>
          </a:p>
          <a:p>
            <a:pPr>
              <a:spcAft>
                <a:spcPts val="300"/>
              </a:spcAft>
            </a:pPr>
            <a:r>
              <a:rPr sz="1200" b="0">
                <a:solidFill>
                  <a:srgbClr val="004EA8"/>
                </a:solidFill>
                <a:latin typeface="Arial"/>
              </a:rPr>
              <a:t>•  </a:t>
            </a:r>
            <a:r>
              <a:rPr sz="1200" b="0">
                <a:solidFill>
                  <a:srgbClr val="4B4B4B"/>
                </a:solidFill>
                <a:latin typeface="Arial"/>
              </a:rPr>
              <a:t>Reinsurance team (large or special risks)</a:t>
            </a:r>
          </a:p>
          <a:p>
            <a:pPr>
              <a:spcAft>
                <a:spcPts val="300"/>
              </a:spcAft>
            </a:pPr>
            <a:r>
              <a:rPr sz="1200" b="0">
                <a:solidFill>
                  <a:srgbClr val="004EA8"/>
                </a:solidFill>
                <a:latin typeface="Arial"/>
              </a:rPr>
              <a:t>•  </a:t>
            </a:r>
            <a:r>
              <a:rPr sz="1200" b="0">
                <a:solidFill>
                  <a:srgbClr val="4B4B4B"/>
                </a:solidFill>
                <a:latin typeface="Arial"/>
              </a:rPr>
              <a:t>ManCom (package sign-off); MBS and IT (package set-up)</a:t>
            </a:r>
          </a:p>
          <a:p>
            <a:pPr>
              <a:spcAft>
                <a:spcPts val="300"/>
              </a:spcAft>
            </a:pPr>
            <a:r>
              <a:rPr sz="1200" b="0">
                <a:solidFill>
                  <a:srgbClr val="004EA8"/>
                </a:solidFill>
                <a:latin typeface="Arial"/>
              </a:rPr>
              <a:t>•  </a:t>
            </a:r>
            <a:r>
              <a:rPr sz="1200" b="0">
                <a:solidFill>
                  <a:srgbClr val="4B4B4B"/>
                </a:solidFill>
                <a:latin typeface="Arial"/>
              </a:rPr>
              <a:t>Insurers (terms)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13</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TSU users, all concurrent; MBS 5 (BRD-3 p.33)</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2 types</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package (fixed rates and conditions) and non-package (per deal) (PM-02)</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~55</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to negotiate with (OV-01)</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5 masters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products, packages, LOVs, MIS fields (Day 1 p.9)</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22-Sep-2026, 1-1:30 pm, 44F; discovery 21 and 25-Sep-2026</a:t>
            </a:r>
          </a:p>
          <a:p>
            <a:pPr>
              <a:spcAft>
                <a:spcPts val="400"/>
              </a:spcAft>
            </a:pPr>
            <a:r>
              <a:rPr sz="1100" b="1">
                <a:solidFill>
                  <a:srgbClr val="004EA8"/>
                </a:solidFill>
                <a:latin typeface="Arial"/>
              </a:rPr>
              <a:t>Process owners: </a:t>
            </a:r>
            <a:r>
              <a:rPr sz="1100" b="0">
                <a:solidFill>
                  <a:srgbClr val="4B4B4B"/>
                </a:solidFill>
                <a:latin typeface="Arial"/>
              </a:rPr>
              <a:t>Cherry Ann Manalo, Joy Intia</a:t>
            </a:r>
          </a:p>
          <a:p>
            <a:pPr>
              <a:spcAft>
                <a:spcPts val="400"/>
              </a:spcAft>
            </a:pPr>
            <a:r>
              <a:rPr sz="1100" b="0">
                <a:solidFill>
                  <a:srgbClr val="004EA8"/>
                </a:solidFill>
                <a:latin typeface="Arial"/>
              </a:rPr>
              <a:t>•  </a:t>
            </a:r>
            <a:r>
              <a:rPr sz="1100" b="0">
                <a:solidFill>
                  <a:srgbClr val="4B4B4B"/>
                </a:solidFill>
                <a:latin typeface="Arial"/>
              </a:rPr>
              <a:t>High-level Product Maintenance TSU process flow (package and non-package)</a:t>
            </a:r>
          </a:p>
          <a:p>
            <a:pPr>
              <a:spcAft>
                <a:spcPts val="400"/>
              </a:spcAft>
            </a:pPr>
            <a:r>
              <a:rPr sz="1100" b="0">
                <a:solidFill>
                  <a:srgbClr val="004EA8"/>
                </a:solidFill>
                <a:latin typeface="Arial"/>
              </a:rPr>
              <a:t>•  </a:t>
            </a:r>
            <a:r>
              <a:rPr sz="1100" b="0">
                <a:solidFill>
                  <a:srgbClr val="4B4B4B"/>
                </a:solidFill>
                <a:latin typeface="Arial"/>
              </a:rPr>
              <a:t>BDOI Day 1 overview p.9 (data and reference maintenance)</a:t>
            </a:r>
          </a:p>
          <a:p>
            <a:pPr>
              <a:spcAft>
                <a:spcPts val="400"/>
              </a:spcAft>
            </a:pPr>
            <a:r>
              <a:rPr sz="1100" b="0">
                <a:solidFill>
                  <a:srgbClr val="004EA8"/>
                </a:solidFill>
                <a:latin typeface="Arial"/>
              </a:rPr>
              <a:t>•  </a:t>
            </a:r>
            <a:r>
              <a:rPr sz="1100" b="0">
                <a:solidFill>
                  <a:srgbClr val="4B4B4B"/>
                </a:solidFill>
                <a:latin typeface="Arial"/>
              </a:rPr>
              <a:t>BRD-3 p.12-13; BRPM.001-022; PMADD01-08</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Request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Completeness</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Risk review</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Quotation slip</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Insurers</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Comparative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Sign-off</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Set-up and release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5. Product and TSU: what we heard on the floor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graphicFrame>
        <p:nvGraphicFramePr>
          <p:cNvPr id="9" name="Table 8"/>
          <p:cNvGraphicFramePr>
            <a:graphicFrameLocks noGrp="1"/>
          </p:cNvGraphicFramePr>
          <p:nvPr/>
        </p:nvGraphicFramePr>
        <p:xfrm>
          <a:off x="548640" y="1280160"/>
          <a:ext cx="11094412" cy="365760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PM-01</a:t>
                      </a:r>
                    </a:p>
                  </a:txBody>
                  <a:tcPr marL="64008" marR="64008" marT="27432" marB="27432" anchor="ctr">
                    <a:solidFill>
                      <a:srgbClr val="FFFFFF"/>
                    </a:solidFill>
                  </a:tcPr>
                </a:tc>
                <a:tc>
                  <a:txBody>
                    <a:bodyPr wrap="square"/>
                    <a:lstStyle/>
                    <a:p>
                      <a:r>
                        <a:rPr sz="1100" b="0">
                          <a:solidFill>
                            <a:srgbClr val="4B4B4B"/>
                          </a:solidFill>
                          <a:latin typeface="Arial"/>
                        </a:rPr>
                        <a:t>Package and non-package</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Marketing decides package or non-package from the customer need; BDOI defines the product and the insurer follows.</a:t>
                      </a:r>
                    </a:p>
                  </a:txBody>
                  <a:tcPr marL="64008" marR="64008" marT="27432" marB="27432" anchor="ctr">
                    <a:solidFill>
                      <a:srgbClr val="FFFFFF"/>
                    </a:solidFill>
                  </a:tcPr>
                </a:tc>
                <a:tc>
                  <a:txBody>
                    <a:bodyPr wrap="square"/>
                    <a:lstStyle/>
                    <a:p>
                      <a:r>
                        <a:rPr sz="1100" b="0">
                          <a:solidFill>
                            <a:srgbClr val="4B4B4B"/>
                          </a:solidFill>
                          <a:latin typeface="Arial"/>
                        </a:rPr>
                        <a:t>Product maintenance in the system for both package and non-package.</a:t>
                      </a:r>
                    </a:p>
                  </a:txBody>
                  <a:tcPr marL="64008" marR="64008" marT="27432" marB="27432" anchor="ctr">
                    <a:solidFill>
                      <a:srgbClr val="FFFFFF"/>
                    </a:solidFill>
                  </a:tcPr>
                </a:tc>
              </a:tr>
              <a:tr h="822960">
                <a:tc>
                  <a:txBody>
                    <a:bodyPr wrap="square"/>
                    <a:lstStyle/>
                    <a:p>
                      <a:r>
                        <a:rPr sz="1100" b="1">
                          <a:solidFill>
                            <a:srgbClr val="4B4B4B"/>
                          </a:solidFill>
                          <a:latin typeface="Arial"/>
                        </a:rPr>
                        <a:t>PM-02</a:t>
                      </a:r>
                    </a:p>
                  </a:txBody>
                  <a:tcPr marL="64008" marR="64008" marT="27432" marB="27432" anchor="ctr">
                    <a:solidFill>
                      <a:srgbClr val="E5F5FF"/>
                    </a:solidFill>
                  </a:tcPr>
                </a:tc>
                <a:tc>
                  <a:txBody>
                    <a:bodyPr wrap="square"/>
                    <a:lstStyle/>
                    <a:p>
                      <a:r>
                        <a:rPr sz="1100" b="0">
                          <a:solidFill>
                            <a:srgbClr val="4B4B4B"/>
                          </a:solidFill>
                          <a:latin typeface="Arial"/>
                        </a:rPr>
                        <a:t>Design and rates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Marketing gives the requirement; the product team designs and negotiates with the insurer, incl. incentives for packages; commission rate as agreed by Marketing.</a:t>
                      </a:r>
                    </a:p>
                  </a:txBody>
                  <a:tcPr marL="64008" marR="64008" marT="27432" marB="27432" anchor="ctr">
                    <a:solidFill>
                      <a:srgbClr val="E5F5FF"/>
                    </a:solidFill>
                  </a:tcPr>
                </a:tc>
                <a:tc>
                  <a:txBody>
                    <a:bodyPr wrap="square"/>
                    <a:lstStyle/>
                    <a:p>
                      <a:r>
                        <a:rPr sz="1100" b="0">
                          <a:solidFill>
                            <a:srgbClr val="4B4B4B"/>
                          </a:solidFill>
                          <a:latin typeface="Arial"/>
                        </a:rPr>
                        <a:t>Package = fixed rates and conditions; non-package rates differ per deal.</a:t>
                      </a:r>
                    </a:p>
                  </a:txBody>
                  <a:tcPr marL="64008" marR="64008" marT="27432" marB="27432" anchor="ctr">
                    <a:solidFill>
                      <a:srgbClr val="E5F5FF"/>
                    </a:solidFill>
                  </a:tcPr>
                </a:tc>
              </a:tr>
              <a:tr h="822960">
                <a:tc>
                  <a:txBody>
                    <a:bodyPr wrap="square"/>
                    <a:lstStyle/>
                    <a:p>
                      <a:r>
                        <a:rPr sz="1100" b="1">
                          <a:solidFill>
                            <a:srgbClr val="4B4B4B"/>
                          </a:solidFill>
                          <a:latin typeface="Arial"/>
                        </a:rPr>
                        <a:t>PM-03</a:t>
                      </a:r>
                    </a:p>
                  </a:txBody>
                  <a:tcPr marL="64008" marR="64008" marT="27432" marB="27432" anchor="ctr">
                    <a:solidFill>
                      <a:srgbClr val="FFFFFF"/>
                    </a:solidFill>
                  </a:tcPr>
                </a:tc>
                <a:tc>
                  <a:txBody>
                    <a:bodyPr wrap="square"/>
                    <a:lstStyle/>
                    <a:p>
                      <a:r>
                        <a:rPr sz="1100" b="0">
                          <a:solidFill>
                            <a:srgbClr val="4B4B4B"/>
                          </a:solidFill>
                          <a:latin typeface="Arial"/>
                        </a:rPr>
                        <a:t>Package set-up</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Packages are defined and maintained manually, starting from a customer-specific requirement of Marketing.</a:t>
                      </a:r>
                    </a:p>
                  </a:txBody>
                  <a:tcPr marL="64008" marR="64008" marT="27432" marB="27432" anchor="ctr">
                    <a:solidFill>
                      <a:srgbClr val="FFFFFF"/>
                    </a:solidFill>
                  </a:tcPr>
                </a:tc>
                <a:tc>
                  <a:txBody>
                    <a:bodyPr wrap="square"/>
                    <a:lstStyle/>
                    <a:p>
                      <a:r>
                        <a:rPr sz="1100" b="0">
                          <a:solidFill>
                            <a:srgbClr val="4B4B4B"/>
                          </a:solidFill>
                          <a:latin typeface="Arial"/>
                        </a:rPr>
                        <a:t>Packages defined and maintained in the system.</a:t>
                      </a:r>
                    </a:p>
                  </a:txBody>
                  <a:tcPr marL="64008" marR="64008" marT="27432" marB="27432" anchor="ctr">
                    <a:solidFill>
                      <a:srgbClr val="FFFFFF"/>
                    </a:solidFill>
                  </a:tcPr>
                </a:tc>
              </a:tr>
              <a:tr h="822960">
                <a:tc>
                  <a:txBody>
                    <a:bodyPr wrap="square"/>
                    <a:lstStyle/>
                    <a:p>
                      <a:r>
                        <a:rPr sz="1100" b="1">
                          <a:solidFill>
                            <a:srgbClr val="4B4B4B"/>
                          </a:solidFill>
                          <a:latin typeface="Arial"/>
                        </a:rPr>
                        <a:t>PM-04</a:t>
                      </a:r>
                    </a:p>
                  </a:txBody>
                  <a:tcPr marL="64008" marR="64008" marT="27432" marB="27432" anchor="ctr">
                    <a:solidFill>
                      <a:srgbClr val="E5F5FF"/>
                    </a:solidFill>
                  </a:tcPr>
                </a:tc>
                <a:tc>
                  <a:txBody>
                    <a:bodyPr wrap="square"/>
                    <a:lstStyle/>
                    <a:p>
                      <a:r>
                        <a:rPr sz="1100" b="0">
                          <a:solidFill>
                            <a:srgbClr val="4B4B4B"/>
                          </a:solidFill>
                          <a:latin typeface="Arial"/>
                        </a:rPr>
                        <a:t>Change at renewal</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At renewal a policy can move from package to non-package or back.</a:t>
                      </a:r>
                    </a:p>
                  </a:txBody>
                  <a:tcPr marL="64008" marR="64008" marT="27432" marB="27432" anchor="ctr">
                    <a:solidFill>
                      <a:srgbClr val="E5F5FF"/>
                    </a:solidFill>
                  </a:tcPr>
                </a:tc>
                <a:tc>
                  <a:txBody>
                    <a:bodyPr wrap="square"/>
                    <a:lstStyle/>
                    <a:p>
                      <a:r>
                        <a:rPr sz="1100" b="0">
                          <a:solidFill>
                            <a:srgbClr val="4B4B4B"/>
                          </a:solidFill>
                          <a:latin typeface="Arial"/>
                        </a:rPr>
                        <a:t>Allow the switch at renewal.</a:t>
                      </a:r>
                    </a:p>
                  </a:txBody>
                  <a:tcPr marL="64008" marR="64008" marT="27432" marB="27432" anchor="ctr">
                    <a:solidFill>
                      <a:srgbClr val="E5F5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5. Product and TSU: what we heard on the floor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graphicFrame>
        <p:nvGraphicFramePr>
          <p:cNvPr id="9" name="Table 8"/>
          <p:cNvGraphicFramePr>
            <a:graphicFrameLocks noGrp="1"/>
          </p:cNvGraphicFramePr>
          <p:nvPr/>
        </p:nvGraphicFramePr>
        <p:xfrm>
          <a:off x="548640" y="1280160"/>
          <a:ext cx="11094412" cy="365760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NB-08</a:t>
                      </a:r>
                    </a:p>
                  </a:txBody>
                  <a:tcPr marL="64008" marR="64008" marT="27432" marB="27432" anchor="ctr">
                    <a:solidFill>
                      <a:srgbClr val="FFFFFF"/>
                    </a:solidFill>
                  </a:tcPr>
                </a:tc>
                <a:tc>
                  <a:txBody>
                    <a:bodyPr wrap="square"/>
                    <a:lstStyle/>
                    <a:p>
                      <a:r>
                        <a:rPr sz="1100" b="0">
                          <a:solidFill>
                            <a:srgbClr val="4B4B4B"/>
                          </a:solidFill>
                          <a:latin typeface="Arial"/>
                        </a:rPr>
                        <a:t>TSU step</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Non-package: the request goes to TSU before the quotation; once the customer accepts, to Placement.</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TSU flow</a:t>
                      </a:r>
                    </a:p>
                  </a:txBody>
                  <a:tcPr marL="64008" marR="64008" marT="27432" marB="27432" anchor="ctr">
                    <a:solidFill>
                      <a:srgbClr val="E5F5FF"/>
                    </a:solidFill>
                  </a:tcPr>
                </a:tc>
                <a:tc>
                  <a:txBody>
                    <a:bodyPr wrap="square"/>
                    <a:lstStyle/>
                    <a:p>
                      <a:r>
                        <a:rPr sz="1100" b="0">
                          <a:solidFill>
                            <a:srgbClr val="4B4B4B"/>
                          </a:solidFill>
                          <a:latin typeface="Arial"/>
                        </a:rPr>
                        <a:t>Tracking and evidence</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Request encoded in an Excel monitoring file; acceptance evidence (signed slip, stamped slip or explicit e-mail) checked by hand; placement status tracker kept by hand; comparative table built manually in Excel.</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822960">
                <a:tc>
                  <a:txBody>
                    <a:bodyPr wrap="square"/>
                    <a:lstStyle/>
                    <a:p>
                      <a:r>
                        <a:rPr sz="1100" b="1">
                          <a:solidFill>
                            <a:srgbClr val="4B4B4B"/>
                          </a:solidFill>
                          <a:latin typeface="Arial"/>
                        </a:rPr>
                        <a:t>TSU flow</a:t>
                      </a:r>
                    </a:p>
                  </a:txBody>
                  <a:tcPr marL="64008" marR="64008" marT="27432" marB="27432" anchor="ctr">
                    <a:solidFill>
                      <a:srgbClr val="FFFFFF"/>
                    </a:solidFill>
                  </a:tcPr>
                </a:tc>
                <a:tc>
                  <a:txBody>
                    <a:bodyPr wrap="square"/>
                    <a:lstStyle/>
                    <a:p>
                      <a:r>
                        <a:rPr sz="1100" b="0">
                          <a:solidFill>
                            <a:srgbClr val="4B4B4B"/>
                          </a:solidFill>
                          <a:latin typeface="Arial"/>
                        </a:rPr>
                        <a:t>Reinsurance loop</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Large sum insured, special risks or non-standard cover go to the Reinsurance team; RI comments come back to Marketing, who revises terms or closes the request.</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TSU flow</a:t>
                      </a:r>
                    </a:p>
                  </a:txBody>
                  <a:tcPr marL="64008" marR="64008" marT="27432" marB="27432" anchor="ctr">
                    <a:solidFill>
                      <a:srgbClr val="E5F5FF"/>
                    </a:solidFill>
                  </a:tcPr>
                </a:tc>
                <a:tc>
                  <a:txBody>
                    <a:bodyPr wrap="square"/>
                    <a:lstStyle/>
                    <a:p>
                      <a:r>
                        <a:rPr sz="1100" b="0">
                          <a:solidFill>
                            <a:srgbClr val="4B4B4B"/>
                          </a:solidFill>
                          <a:latin typeface="Arial"/>
                        </a:rPr>
                        <a:t>Set-up dependency</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Package creation needs a maintenance request to MBS / IT; screenshots kept as evidence; TSU validates rates and conditions; release advisory to Marketing, Operations and TSU.</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pic>
        <p:nvPicPr>
          <p:cNvPr id="9" name="Picture 8" descr="brd03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Package set-up today (BRD-3 p.12-13)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5. Product and TSU: the TSU request today, step by step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graphicFrame>
        <p:nvGraphicFramePr>
          <p:cNvPr id="9" name="Table 8"/>
          <p:cNvGraphicFramePr>
            <a:graphicFrameLocks noGrp="1"/>
          </p:cNvGraphicFramePr>
          <p:nvPr/>
        </p:nvGraphicFramePr>
        <p:xfrm>
          <a:off x="548640" y="1280160"/>
          <a:ext cx="11094413" cy="4919472"/>
        </p:xfrm>
        <a:graphic>
          <a:graphicData uri="http://schemas.openxmlformats.org/drawingml/2006/table">
            <a:tbl>
              <a:tblPr firstRow="1" bandRow="1">
                <a:tableStyleId>{5C22544A-7EE6-4342-B048-85BDC9FD1C3A}</a:tableStyleId>
              </a:tblPr>
              <a:tblGrid>
                <a:gridCol w="1789421"/>
                <a:gridCol w="4115670"/>
                <a:gridCol w="3220959"/>
                <a:gridCol w="1968363"/>
              </a:tblGrid>
              <a:tr h="365760">
                <a:tc>
                  <a:txBody>
                    <a:bodyPr wrap="square"/>
                    <a:lstStyle/>
                    <a:p>
                      <a:r>
                        <a:rPr sz="1100" b="1">
                          <a:solidFill>
                            <a:srgbClr val="FFFFFF"/>
                          </a:solidFill>
                          <a:latin typeface="Arial"/>
                        </a:rPr>
                        <a:t>Step</a:t>
                      </a:r>
                    </a:p>
                  </a:txBody>
                  <a:tcPr marL="64008" marR="64008" marT="27432" marB="27432" anchor="ctr">
                    <a:solidFill>
                      <a:srgbClr val="004EA8"/>
                    </a:solidFill>
                  </a:tcPr>
                </a:tc>
                <a:tc>
                  <a:txBody>
                    <a:bodyPr wrap="square"/>
                    <a:lstStyle/>
                    <a:p>
                      <a:r>
                        <a:rPr sz="1100" b="1">
                          <a:solidFill>
                            <a:srgbClr val="FFFFFF"/>
                          </a:solidFill>
                          <a:latin typeface="Arial"/>
                        </a:rPr>
                        <a:t>What TSU does</a:t>
                      </a:r>
                    </a:p>
                  </a:txBody>
                  <a:tcPr marL="64008" marR="64008" marT="27432" marB="27432" anchor="ctr">
                    <a:solidFill>
                      <a:srgbClr val="004EA8"/>
                    </a:solidFill>
                  </a:tcPr>
                </a:tc>
                <a:tc>
                  <a:txBody>
                    <a:bodyPr wrap="square"/>
                    <a:lstStyle/>
                    <a:p>
                      <a:r>
                        <a:rPr sz="1100" b="1">
                          <a:solidFill>
                            <a:srgbClr val="FFFFFF"/>
                          </a:solidFill>
                          <a:latin typeface="Arial"/>
                        </a:rPr>
                        <a:t>Check or decision</a:t>
                      </a:r>
                    </a:p>
                  </a:txBody>
                  <a:tcPr marL="64008" marR="64008" marT="27432" marB="27432" anchor="ctr">
                    <a:solidFill>
                      <a:srgbClr val="004EA8"/>
                    </a:solidFill>
                  </a:tcPr>
                </a:tc>
                <a:tc>
                  <a:txBody>
                    <a:bodyPr wrap="square"/>
                    <a:lstStyle/>
                    <a:p>
                      <a:r>
                        <a:rPr sz="1100" b="1">
                          <a:solidFill>
                            <a:srgbClr val="FFFFFF"/>
                          </a:solidFill>
                          <a:latin typeface="Arial"/>
                        </a:rPr>
                        <a:t>Tool today</a:t>
                      </a:r>
                    </a:p>
                  </a:txBody>
                  <a:tcPr marL="64008" marR="64008" marT="27432" marB="27432" anchor="ctr">
                    <a:solidFill>
                      <a:srgbClr val="004EA8"/>
                    </a:solidFill>
                  </a:tcPr>
                </a:tc>
              </a:tr>
              <a:tr h="569214">
                <a:tc>
                  <a:txBody>
                    <a:bodyPr wrap="square"/>
                    <a:lstStyle/>
                    <a:p>
                      <a:r>
                        <a:rPr sz="1100" b="1">
                          <a:solidFill>
                            <a:srgbClr val="4B4B4B"/>
                          </a:solidFill>
                          <a:latin typeface="Arial"/>
                        </a:rPr>
                        <a:t>1 Request</a:t>
                      </a:r>
                    </a:p>
                  </a:txBody>
                  <a:tcPr marL="64008" marR="64008" marT="27432" marB="27432" anchor="ctr">
                    <a:solidFill>
                      <a:srgbClr val="FFFFFF"/>
                    </a:solidFill>
                  </a:tcPr>
                </a:tc>
                <a:tc>
                  <a:txBody>
                    <a:bodyPr wrap="square"/>
                    <a:lstStyle/>
                    <a:p>
                      <a:r>
                        <a:rPr sz="1100" b="0">
                          <a:solidFill>
                            <a:srgbClr val="4B4B4B"/>
                          </a:solidFill>
                          <a:latin typeface="Arial"/>
                        </a:rPr>
                        <a:t>Receives the PRF (package) or TSU request form (non-package) with client, risk, cover, basis of quotation</a:t>
                      </a:r>
                    </a:p>
                  </a:txBody>
                  <a:tcPr marL="64008" marR="64008" marT="27432" marB="27432" anchor="ctr">
                    <a:solidFill>
                      <a:srgbClr val="FFFFFF"/>
                    </a:solidFill>
                  </a:tcPr>
                </a:tc>
                <a:tc>
                  <a:txBody>
                    <a:bodyPr wrap="square"/>
                    <a:lstStyle/>
                    <a:p>
                      <a:r>
                        <a:rPr sz="1100" b="0">
                          <a:solidFill>
                            <a:srgbClr val="4B4B4B"/>
                          </a:solidFill>
                          <a:latin typeface="Arial"/>
                        </a:rPr>
                        <a:t>Complete, documents attached, no duplicate; else returned "Incomplete submission"</a:t>
                      </a:r>
                    </a:p>
                  </a:txBody>
                  <a:tcPr marL="64008" marR="64008" marT="27432" marB="27432" anchor="ctr">
                    <a:solidFill>
                      <a:srgbClr val="FFFFFF"/>
                    </a:solidFill>
                  </a:tcPr>
                </a:tc>
                <a:tc>
                  <a:txBody>
                    <a:bodyPr wrap="square"/>
                    <a:lstStyle/>
                    <a:p>
                      <a:r>
                        <a:rPr sz="1100" b="0">
                          <a:solidFill>
                            <a:srgbClr val="4B4B4B"/>
                          </a:solidFill>
                          <a:latin typeface="Arial"/>
                        </a:rPr>
                        <a:t>E-mail</a:t>
                      </a:r>
                    </a:p>
                  </a:txBody>
                  <a:tcPr marL="64008" marR="64008" marT="27432" marB="27432" anchor="ctr">
                    <a:solidFill>
                      <a:srgbClr val="FFFFFF"/>
                    </a:solidFill>
                  </a:tcPr>
                </a:tc>
              </a:tr>
              <a:tr h="569214">
                <a:tc>
                  <a:txBody>
                    <a:bodyPr wrap="square"/>
                    <a:lstStyle/>
                    <a:p>
                      <a:r>
                        <a:rPr sz="1100" b="1">
                          <a:solidFill>
                            <a:srgbClr val="4B4B4B"/>
                          </a:solidFill>
                          <a:latin typeface="Arial"/>
                        </a:rPr>
                        <a:t>2 Log</a:t>
                      </a:r>
                    </a:p>
                  </a:txBody>
                  <a:tcPr marL="64008" marR="64008" marT="27432" marB="27432" anchor="ctr">
                    <a:solidFill>
                      <a:srgbClr val="E5F5FF"/>
                    </a:solidFill>
                  </a:tcPr>
                </a:tc>
                <a:tc>
                  <a:txBody>
                    <a:bodyPr wrap="square"/>
                    <a:lstStyle/>
                    <a:p>
                      <a:r>
                        <a:rPr sz="1100" b="0">
                          <a:solidFill>
                            <a:srgbClr val="4B4B4B"/>
                          </a:solidFill>
                          <a:latin typeface="Arial"/>
                        </a:rPr>
                        <a:t>Acknowledges and encodes the request</a:t>
                      </a:r>
                    </a:p>
                  </a:txBody>
                  <a:tcPr marL="64008" marR="64008" marT="27432" marB="27432" anchor="ctr">
                    <a:solidFill>
                      <a:srgbClr val="E5F5FF"/>
                    </a:solidFill>
                  </a:tcPr>
                </a:tc>
                <a:tc>
                  <a:txBody>
                    <a:bodyPr wrap="square"/>
                    <a:lstStyle/>
                    <a:p>
                      <a:r>
                        <a:rPr sz="1100" b="0">
                          <a:solidFill>
                            <a:srgbClr val="4B4B4B"/>
                          </a:solidFill>
                          <a:latin typeface="Arial"/>
                        </a:rPr>
                        <a:t>Request tracker</a:t>
                      </a:r>
                    </a:p>
                  </a:txBody>
                  <a:tcPr marL="64008" marR="64008" marT="27432" marB="27432" anchor="ctr">
                    <a:solidFill>
                      <a:srgbClr val="E5F5FF"/>
                    </a:solidFill>
                  </a:tcPr>
                </a:tc>
                <a:tc>
                  <a:txBody>
                    <a:bodyPr wrap="square"/>
                    <a:lstStyle/>
                    <a:p>
                      <a:r>
                        <a:rPr sz="1100" b="0">
                          <a:solidFill>
                            <a:srgbClr val="4B4B4B"/>
                          </a:solidFill>
                          <a:latin typeface="Arial"/>
                        </a:rPr>
                        <a:t>Excel monitoring file</a:t>
                      </a:r>
                    </a:p>
                  </a:txBody>
                  <a:tcPr marL="64008" marR="64008" marT="27432" marB="27432" anchor="ctr">
                    <a:solidFill>
                      <a:srgbClr val="E5F5FF"/>
                    </a:solidFill>
                  </a:tcPr>
                </a:tc>
              </a:tr>
              <a:tr h="569214">
                <a:tc>
                  <a:txBody>
                    <a:bodyPr wrap="square"/>
                    <a:lstStyle/>
                    <a:p>
                      <a:r>
                        <a:rPr sz="1100" b="1">
                          <a:solidFill>
                            <a:srgbClr val="4B4B4B"/>
                          </a:solidFill>
                          <a:latin typeface="Arial"/>
                        </a:rPr>
                        <a:t>3 Risk review</a:t>
                      </a:r>
                    </a:p>
                  </a:txBody>
                  <a:tcPr marL="64008" marR="64008" marT="27432" marB="27432" anchor="ctr">
                    <a:solidFill>
                      <a:srgbClr val="FFFFFF"/>
                    </a:solidFill>
                  </a:tcPr>
                </a:tc>
                <a:tc>
                  <a:txBody>
                    <a:bodyPr wrap="square"/>
                    <a:lstStyle/>
                    <a:p>
                      <a:r>
                        <a:rPr sz="1100" b="0">
                          <a:solidFill>
                            <a:srgbClr val="4B4B4B"/>
                          </a:solidFill>
                          <a:latin typeface="Arial"/>
                        </a:rPr>
                        <a:t>Validates cover structure, sum insured and limits, policy terms</a:t>
                      </a:r>
                    </a:p>
                  </a:txBody>
                  <a:tcPr marL="64008" marR="64008" marT="27432" marB="27432" anchor="ctr">
                    <a:solidFill>
                      <a:srgbClr val="FFFFFF"/>
                    </a:solidFill>
                  </a:tcPr>
                </a:tc>
                <a:tc>
                  <a:txBody>
                    <a:bodyPr wrap="square"/>
                    <a:lstStyle/>
                    <a:p>
                      <a:r>
                        <a:rPr sz="1100" b="0">
                          <a:solidFill>
                            <a:srgbClr val="4B4B4B"/>
                          </a:solidFill>
                          <a:latin typeface="Arial"/>
                        </a:rPr>
                        <a:t>Needs reinsurance? (large SI, special risk, non-standard cover)</a:t>
                      </a:r>
                    </a:p>
                  </a:txBody>
                  <a:tcPr marL="64008" marR="64008" marT="27432" marB="27432" anchor="ctr">
                    <a:solidFill>
                      <a:srgbClr val="FFFFFF"/>
                    </a:solidFill>
                  </a:tcPr>
                </a:tc>
                <a:tc>
                  <a:txBody>
                    <a:bodyPr wrap="square"/>
                    <a:lstStyle/>
                    <a:p>
                      <a:r>
                        <a:rPr sz="1100" b="0">
                          <a:solidFill>
                            <a:srgbClr val="4B4B4B"/>
                          </a:solidFill>
                          <a:latin typeface="Arial"/>
                        </a:rPr>
                        <a:t>E-mail to RI team</a:t>
                      </a:r>
                    </a:p>
                  </a:txBody>
                  <a:tcPr marL="64008" marR="64008" marT="27432" marB="27432" anchor="ctr">
                    <a:solidFill>
                      <a:srgbClr val="FFFFFF"/>
                    </a:solidFill>
                  </a:tcPr>
                </a:tc>
              </a:tr>
              <a:tr h="569214">
                <a:tc>
                  <a:txBody>
                    <a:bodyPr wrap="square"/>
                    <a:lstStyle/>
                    <a:p>
                      <a:r>
                        <a:rPr sz="1100" b="1">
                          <a:solidFill>
                            <a:srgbClr val="4B4B4B"/>
                          </a:solidFill>
                          <a:latin typeface="Arial"/>
                        </a:rPr>
                        <a:t>4 Quotation slip</a:t>
                      </a:r>
                    </a:p>
                  </a:txBody>
                  <a:tcPr marL="64008" marR="64008" marT="27432" marB="27432" anchor="ctr">
                    <a:solidFill>
                      <a:srgbClr val="E5F5FF"/>
                    </a:solidFill>
                  </a:tcPr>
                </a:tc>
                <a:tc>
                  <a:txBody>
                    <a:bodyPr wrap="square"/>
                    <a:lstStyle/>
                    <a:p>
                      <a:r>
                        <a:rPr sz="1100" b="0">
                          <a:solidFill>
                            <a:srgbClr val="4B4B4B"/>
                          </a:solidFill>
                          <a:latin typeface="Arial"/>
                        </a:rPr>
                        <a:t>Prepares the slip with risk details, terms and pricing; TSU TL approves</a:t>
                      </a:r>
                    </a:p>
                  </a:txBody>
                  <a:tcPr marL="64008" marR="64008" marT="27432" marB="27432" anchor="ctr">
                    <a:solidFill>
                      <a:srgbClr val="E5F5FF"/>
                    </a:solidFill>
                  </a:tcPr>
                </a:tc>
                <a:tc>
                  <a:txBody>
                    <a:bodyPr wrap="square"/>
                    <a:lstStyle/>
                    <a:p>
                      <a:r>
                        <a:rPr sz="1100" b="0">
                          <a:solidFill>
                            <a:srgbClr val="4B4B4B"/>
                          </a:solidFill>
                          <a:latin typeface="Arial"/>
                        </a:rPr>
                        <a:t>TL approval; revise on return</a:t>
                      </a:r>
                    </a:p>
                  </a:txBody>
                  <a:tcPr marL="64008" marR="64008" marT="27432" marB="27432" anchor="ctr">
                    <a:solidFill>
                      <a:srgbClr val="E5F5FF"/>
                    </a:solidFill>
                  </a:tcPr>
                </a:tc>
                <a:tc>
                  <a:txBody>
                    <a:bodyPr wrap="square"/>
                    <a:lstStyle/>
                    <a:p>
                      <a:r>
                        <a:rPr sz="1100" b="0">
                          <a:solidFill>
                            <a:srgbClr val="4B4B4B"/>
                          </a:solidFill>
                          <a:latin typeface="Arial"/>
                        </a:rPr>
                        <a:t>Word / Excel</a:t>
                      </a:r>
                    </a:p>
                  </a:txBody>
                  <a:tcPr marL="64008" marR="64008" marT="27432" marB="27432" anchor="ctr">
                    <a:solidFill>
                      <a:srgbClr val="E5F5FF"/>
                    </a:solidFill>
                  </a:tcPr>
                </a:tc>
              </a:tr>
              <a:tr h="569214">
                <a:tc>
                  <a:txBody>
                    <a:bodyPr wrap="square"/>
                    <a:lstStyle/>
                    <a:p>
                      <a:r>
                        <a:rPr sz="1100" b="1">
                          <a:solidFill>
                            <a:srgbClr val="4B4B4B"/>
                          </a:solidFill>
                          <a:latin typeface="Arial"/>
                        </a:rPr>
                        <a:t>5 Insurers</a:t>
                      </a:r>
                    </a:p>
                  </a:txBody>
                  <a:tcPr marL="64008" marR="64008" marT="27432" marB="27432" anchor="ctr">
                    <a:solidFill>
                      <a:srgbClr val="FFFFFF"/>
                    </a:solidFill>
                  </a:tcPr>
                </a:tc>
                <a:tc>
                  <a:txBody>
                    <a:bodyPr wrap="square"/>
                    <a:lstStyle/>
                    <a:p>
                      <a:r>
                        <a:rPr sz="1100" b="0">
                          <a:solidFill>
                            <a:srgbClr val="4B4B4B"/>
                          </a:solidFill>
                          <a:latin typeface="Arial"/>
                        </a:rPr>
                        <a:t>Sends the slip, follows up, escalates after the SLA; records accepted, declined, conditional</a:t>
                      </a:r>
                    </a:p>
                  </a:txBody>
                  <a:tcPr marL="64008" marR="64008" marT="27432" marB="27432" anchor="ctr">
                    <a:solidFill>
                      <a:srgbClr val="FFFFFF"/>
                    </a:solidFill>
                  </a:tcPr>
                </a:tc>
                <a:tc>
                  <a:txBody>
                    <a:bodyPr wrap="square"/>
                    <a:lstStyle/>
                    <a:p>
                      <a:r>
                        <a:rPr sz="1100" b="0">
                          <a:solidFill>
                            <a:srgbClr val="4B4B4B"/>
                          </a:solidFill>
                          <a:latin typeface="Arial"/>
                        </a:rPr>
                        <a:t>Acceptance evidence: signed or stamped slip, explicit e-mail</a:t>
                      </a:r>
                    </a:p>
                  </a:txBody>
                  <a:tcPr marL="64008" marR="64008" marT="27432" marB="27432" anchor="ctr">
                    <a:solidFill>
                      <a:srgbClr val="FFFFFF"/>
                    </a:solidFill>
                  </a:tcPr>
                </a:tc>
                <a:tc>
                  <a:txBody>
                    <a:bodyPr wrap="square"/>
                    <a:lstStyle/>
                    <a:p>
                      <a:r>
                        <a:rPr sz="1100" b="0">
                          <a:solidFill>
                            <a:srgbClr val="4B4B4B"/>
                          </a:solidFill>
                          <a:latin typeface="Arial"/>
                        </a:rPr>
                        <a:t>E-mail; status tracker</a:t>
                      </a:r>
                    </a:p>
                  </a:txBody>
                  <a:tcPr marL="64008" marR="64008" marT="27432" marB="27432" anchor="ctr">
                    <a:solidFill>
                      <a:srgbClr val="FFFFFF"/>
                    </a:solidFill>
                  </a:tcPr>
                </a:tc>
              </a:tr>
              <a:tr h="569214">
                <a:tc>
                  <a:txBody>
                    <a:bodyPr wrap="square"/>
                    <a:lstStyle/>
                    <a:p>
                      <a:r>
                        <a:rPr sz="1100" b="1">
                          <a:solidFill>
                            <a:srgbClr val="4B4B4B"/>
                          </a:solidFill>
                          <a:latin typeface="Arial"/>
                        </a:rPr>
                        <a:t>6 Comparative</a:t>
                      </a:r>
                    </a:p>
                  </a:txBody>
                  <a:tcPr marL="64008" marR="64008" marT="27432" marB="27432" anchor="ctr">
                    <a:solidFill>
                      <a:srgbClr val="E5F5FF"/>
                    </a:solidFill>
                  </a:tcPr>
                </a:tc>
                <a:tc>
                  <a:txBody>
                    <a:bodyPr wrap="square"/>
                    <a:lstStyle/>
                    <a:p>
                      <a:r>
                        <a:rPr sz="1100" b="0">
                          <a:solidFill>
                            <a:srgbClr val="4B4B4B"/>
                          </a:solidFill>
                          <a:latin typeface="Arial"/>
                        </a:rPr>
                        <a:t>Compiles premium, cover, conditions, exclusions; asks for more quotes if needed</a:t>
                      </a:r>
                    </a:p>
                  </a:txBody>
                  <a:tcPr marL="64008" marR="64008" marT="27432" marB="27432" anchor="ctr">
                    <a:solidFill>
                      <a:srgbClr val="E5F5FF"/>
                    </a:solidFill>
                  </a:tcPr>
                </a:tc>
                <a:tc>
                  <a:txBody>
                    <a:bodyPr wrap="square"/>
                    <a:lstStyle/>
                    <a:p>
                      <a:r>
                        <a:rPr sz="1100" b="0">
                          <a:solidFill>
                            <a:srgbClr val="4B4B4B"/>
                          </a:solidFill>
                          <a:latin typeface="Arial"/>
                        </a:rPr>
                        <a:t>Enough for a recommendation?</a:t>
                      </a:r>
                    </a:p>
                  </a:txBody>
                  <a:tcPr marL="64008" marR="64008" marT="27432" marB="27432" anchor="ctr">
                    <a:solidFill>
                      <a:srgbClr val="E5F5FF"/>
                    </a:solidFill>
                  </a:tcPr>
                </a:tc>
                <a:tc>
                  <a:txBody>
                    <a:bodyPr wrap="square"/>
                    <a:lstStyle/>
                    <a:p>
                      <a:r>
                        <a:rPr sz="1100" b="0">
                          <a:solidFill>
                            <a:srgbClr val="4B4B4B"/>
                          </a:solidFill>
                          <a:latin typeface="Arial"/>
                        </a:rPr>
                        <a:t>Excel</a:t>
                      </a:r>
                    </a:p>
                  </a:txBody>
                  <a:tcPr marL="64008" marR="64008" marT="27432" marB="27432" anchor="ctr">
                    <a:solidFill>
                      <a:srgbClr val="E5F5FF"/>
                    </a:solidFill>
                  </a:tcPr>
                </a:tc>
              </a:tr>
              <a:tr h="569214">
                <a:tc>
                  <a:txBody>
                    <a:bodyPr wrap="square"/>
                    <a:lstStyle/>
                    <a:p>
                      <a:r>
                        <a:rPr sz="1100" b="1">
                          <a:solidFill>
                            <a:srgbClr val="4B4B4B"/>
                          </a:solidFill>
                          <a:latin typeface="Arial"/>
                        </a:rPr>
                        <a:t>7 Proposal</a:t>
                      </a:r>
                    </a:p>
                  </a:txBody>
                  <a:tcPr marL="64008" marR="64008" marT="27432" marB="27432" anchor="ctr">
                    <a:solidFill>
                      <a:srgbClr val="FFFFFF"/>
                    </a:solidFill>
                  </a:tcPr>
                </a:tc>
                <a:tc>
                  <a:txBody>
                    <a:bodyPr wrap="square"/>
                    <a:lstStyle/>
                    <a:p>
                      <a:r>
                        <a:rPr sz="1100" b="0">
                          <a:solidFill>
                            <a:srgbClr val="4B4B4B"/>
                          </a:solidFill>
                          <a:latin typeface="Arial"/>
                        </a:rPr>
                        <a:t>Sign-off sheet; ManCom (package) or TL / Head (non-package); proposal slip to Marketing</a:t>
                      </a:r>
                    </a:p>
                  </a:txBody>
                  <a:tcPr marL="64008" marR="64008" marT="27432" marB="27432" anchor="ctr">
                    <a:solidFill>
                      <a:srgbClr val="FFFFFF"/>
                    </a:solidFill>
                  </a:tcPr>
                </a:tc>
                <a:tc>
                  <a:txBody>
                    <a:bodyPr wrap="square"/>
                    <a:lstStyle/>
                    <a:p>
                      <a:r>
                        <a:rPr sz="1100" b="0">
                          <a:solidFill>
                            <a:srgbClr val="4B4B4B"/>
                          </a:solidFill>
                          <a:latin typeface="Arial"/>
                        </a:rPr>
                        <a:t>Approved; Marketing sends to the client</a:t>
                      </a:r>
                    </a:p>
                  </a:txBody>
                  <a:tcPr marL="64008" marR="64008" marT="27432" marB="27432" anchor="ctr">
                    <a:solidFill>
                      <a:srgbClr val="FFFFFF"/>
                    </a:solidFill>
                  </a:tcPr>
                </a:tc>
                <a:tc>
                  <a:txBody>
                    <a:bodyPr wrap="square"/>
                    <a:lstStyle/>
                    <a:p>
                      <a:r>
                        <a:rPr sz="1100" b="0">
                          <a:solidFill>
                            <a:srgbClr val="4B4B4B"/>
                          </a:solidFill>
                          <a:latin typeface="Arial"/>
                        </a:rPr>
                        <a:t>Paper signatures</a:t>
                      </a:r>
                    </a:p>
                  </a:txBody>
                  <a:tcPr marL="64008" marR="64008" marT="27432" marB="27432" anchor="ctr">
                    <a:solidFill>
                      <a:srgbClr val="FFFFFF"/>
                    </a:solidFill>
                  </a:tcPr>
                </a:tc>
              </a:tr>
              <a:tr h="569214">
                <a:tc>
                  <a:txBody>
                    <a:bodyPr wrap="square"/>
                    <a:lstStyle/>
                    <a:p>
                      <a:r>
                        <a:rPr sz="1100" b="1">
                          <a:solidFill>
                            <a:srgbClr val="4B4B4B"/>
                          </a:solidFill>
                          <a:latin typeface="Arial"/>
                        </a:rPr>
                        <a:t>8 Set-up and release</a:t>
                      </a:r>
                    </a:p>
                  </a:txBody>
                  <a:tcPr marL="64008" marR="64008" marT="27432" marB="27432" anchor="ctr">
                    <a:solidFill>
                      <a:srgbClr val="E5F5FF"/>
                    </a:solidFill>
                  </a:tcPr>
                </a:tc>
                <a:tc>
                  <a:txBody>
                    <a:bodyPr wrap="square"/>
                    <a:lstStyle/>
                    <a:p>
                      <a:r>
                        <a:rPr sz="1100" b="0">
                          <a:solidFill>
                            <a:srgbClr val="4B4B4B"/>
                          </a:solidFill>
                          <a:latin typeface="Arial"/>
                        </a:rPr>
                        <a:t>Maintenance request to MBS / IT; validates rates, conditions, set-up; release advisory</a:t>
                      </a:r>
                    </a:p>
                  </a:txBody>
                  <a:tcPr marL="64008" marR="64008" marT="27432" marB="27432" anchor="ctr">
                    <a:solidFill>
                      <a:srgbClr val="E5F5FF"/>
                    </a:solidFill>
                  </a:tcPr>
                </a:tc>
                <a:tc>
                  <a:txBody>
                    <a:bodyPr wrap="square"/>
                    <a:lstStyle/>
                    <a:p>
                      <a:r>
                        <a:rPr sz="1100" b="0">
                          <a:solidFill>
                            <a:srgbClr val="4B4B4B"/>
                          </a:solidFill>
                          <a:latin typeface="Arial"/>
                        </a:rPr>
                        <a:t>Set-up correct?</a:t>
                      </a:r>
                    </a:p>
                  </a:txBody>
                  <a:tcPr marL="64008" marR="64008" marT="27432" marB="27432" anchor="ctr">
                    <a:solidFill>
                      <a:srgbClr val="E5F5FF"/>
                    </a:solidFill>
                  </a:tcPr>
                </a:tc>
                <a:tc>
                  <a:txBody>
                    <a:bodyPr wrap="square"/>
                    <a:lstStyle/>
                    <a:p>
                      <a:r>
                        <a:rPr sz="1100" b="0">
                          <a:solidFill>
                            <a:srgbClr val="4B4B4B"/>
                          </a:solidFill>
                          <a:latin typeface="Arial"/>
                        </a:rPr>
                        <a:t>MBS / IT; screenshots</a:t>
                      </a:r>
                    </a:p>
                  </a:txBody>
                  <a:tcPr marL="64008" marR="64008" marT="27432" marB="27432" anchor="ctr">
                    <a:solidFill>
                      <a:srgbClr val="E5F5FF"/>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by e-mail</a:t>
            </a:r>
          </a:p>
          <a:p>
            <a:pPr>
              <a:spcAft>
                <a:spcPts val="100"/>
              </a:spcAft>
            </a:pPr>
            <a:r>
              <a:rPr sz="1200" b="0">
                <a:solidFill>
                  <a:srgbClr val="4B4B4B"/>
                </a:solidFill>
                <a:latin typeface="Arial"/>
              </a:rPr>
              <a:t>Marketing requests placements by e-mail using a TSU request form.</a:t>
            </a:r>
          </a:p>
          <a:p>
            <a:pPr>
              <a:spcAft>
                <a:spcPts val="100"/>
              </a:spcAft>
            </a:pPr>
            <a:r>
              <a:rPr sz="1200" b="0">
                <a:solidFill>
                  <a:srgbClr val="0072D8"/>
                </a:solidFill>
                <a:latin typeface="Arial"/>
              </a:rPr>
              <a:t>BRD-3 p.12; BRPM.008</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Quotation slips by e-mail</a:t>
            </a:r>
          </a:p>
          <a:p>
            <a:pPr>
              <a:spcAft>
                <a:spcPts val="100"/>
              </a:spcAft>
            </a:pPr>
            <a:r>
              <a:rPr sz="1200" b="0">
                <a:solidFill>
                  <a:srgbClr val="4B4B4B"/>
                </a:solidFill>
                <a:latin typeface="Arial"/>
              </a:rPr>
              <a:t>TSU prepares and e-mails the slips; no log of what was sent.</a:t>
            </a:r>
          </a:p>
          <a:p>
            <a:pPr>
              <a:spcAft>
                <a:spcPts val="100"/>
              </a:spcAft>
            </a:pPr>
            <a:r>
              <a:rPr sz="1200" b="0">
                <a:solidFill>
                  <a:srgbClr val="0072D8"/>
                </a:solidFill>
                <a:latin typeface="Arial"/>
              </a:rPr>
              <a:t>BRD-3 p.12; BRPM.010</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 replies in mailboxes</a:t>
            </a:r>
          </a:p>
          <a:p>
            <a:pPr>
              <a:spcAft>
                <a:spcPts val="100"/>
              </a:spcAft>
            </a:pPr>
            <a:r>
              <a:rPr sz="1200" b="0">
                <a:solidFill>
                  <a:srgbClr val="4B4B4B"/>
                </a:solidFill>
                <a:latin typeface="Arial"/>
              </a:rPr>
              <a:t>Signed slips and approved terms arrive by e-mail.</a:t>
            </a:r>
          </a:p>
          <a:p>
            <a:pPr>
              <a:spcAft>
                <a:spcPts val="100"/>
              </a:spcAft>
            </a:pPr>
            <a:r>
              <a:rPr sz="1200" b="0">
                <a:solidFill>
                  <a:srgbClr val="0072D8"/>
                </a:solidFill>
                <a:latin typeface="Arial"/>
              </a:rPr>
              <a:t>BRD-3 p.12; BRPM.012</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Comparative in Excel</a:t>
            </a:r>
          </a:p>
          <a:p>
            <a:pPr>
              <a:spcAft>
                <a:spcPts val="100"/>
              </a:spcAft>
            </a:pPr>
            <a:r>
              <a:rPr sz="1200" b="0">
                <a:solidFill>
                  <a:srgbClr val="4B4B4B"/>
                </a:solidFill>
                <a:latin typeface="Arial"/>
              </a:rPr>
              <a:t>Compiled by hand and shared by e-mail.</a:t>
            </a:r>
          </a:p>
          <a:p>
            <a:pPr>
              <a:spcAft>
                <a:spcPts val="100"/>
              </a:spcAft>
            </a:pPr>
            <a:r>
              <a:rPr sz="1200" b="0">
                <a:solidFill>
                  <a:srgbClr val="0072D8"/>
                </a:solidFill>
                <a:latin typeface="Arial"/>
              </a:rPr>
              <a:t>BRD-3 p.12; BRPM.014; PMADD03</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sign-off and advisory</a:t>
            </a:r>
          </a:p>
          <a:p>
            <a:pPr>
              <a:spcAft>
                <a:spcPts val="100"/>
              </a:spcAft>
            </a:pPr>
            <a:r>
              <a:rPr sz="1200" b="0">
                <a:solidFill>
                  <a:srgbClr val="4B4B4B"/>
                </a:solidFill>
                <a:latin typeface="Arial"/>
              </a:rPr>
              <a:t>ManCom sign-off and the advisory are prepared outside a system.</a:t>
            </a:r>
          </a:p>
          <a:p>
            <a:pPr>
              <a:spcAft>
                <a:spcPts val="100"/>
              </a:spcAft>
            </a:pPr>
            <a:r>
              <a:rPr sz="1200" b="0">
                <a:solidFill>
                  <a:srgbClr val="0072D8"/>
                </a:solidFill>
                <a:latin typeface="Arial"/>
              </a:rPr>
              <a:t>BRD-3 p.12-13; BRPM.015, 016</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Documents without a password</a:t>
            </a:r>
          </a:p>
          <a:p>
            <a:pPr>
              <a:spcAft>
                <a:spcPts val="100"/>
              </a:spcAft>
            </a:pPr>
            <a:r>
              <a:rPr sz="1200" b="0">
                <a:solidFill>
                  <a:srgbClr val="4B4B4B"/>
                </a:solidFill>
                <a:latin typeface="Arial"/>
              </a:rPr>
              <a:t>Shared documents have no password protection.</a:t>
            </a:r>
          </a:p>
          <a:p>
            <a:pPr>
              <a:spcAft>
                <a:spcPts val="100"/>
              </a:spcAft>
            </a:pPr>
            <a:r>
              <a:rPr sz="1200" b="0">
                <a:solidFill>
                  <a:srgbClr val="0072D8"/>
                </a:solidFill>
                <a:latin typeface="Arial"/>
              </a:rPr>
              <a:t>BRD-3 p.13</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Expiry in spreadsheets</a:t>
            </a:r>
          </a:p>
          <a:p>
            <a:pPr>
              <a:spcAft>
                <a:spcPts val="100"/>
              </a:spcAft>
            </a:pPr>
            <a:r>
              <a:rPr sz="1200" b="0">
                <a:solidFill>
                  <a:srgbClr val="4B4B4B"/>
                </a:solidFill>
                <a:latin typeface="Arial"/>
              </a:rPr>
              <a:t>Package expiry is monitored in spreadsheets or calendars.</a:t>
            </a:r>
          </a:p>
          <a:p>
            <a:pPr>
              <a:spcAft>
                <a:spcPts val="100"/>
              </a:spcAft>
            </a:pPr>
            <a:r>
              <a:rPr sz="1200" b="0">
                <a:solidFill>
                  <a:srgbClr val="0072D8"/>
                </a:solidFill>
                <a:latin typeface="Arial"/>
              </a:rPr>
              <a:t>BRD-3 p.13; BRPM.017</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History in e-mail threads</a:t>
            </a:r>
          </a:p>
          <a:p>
            <a:pPr>
              <a:spcAft>
                <a:spcPts val="100"/>
              </a:spcAft>
            </a:pPr>
            <a:r>
              <a:rPr sz="1200" b="0">
                <a:solidFill>
                  <a:srgbClr val="4B4B4B"/>
                </a:solidFill>
                <a:latin typeface="Arial"/>
              </a:rPr>
              <a:t>Changes, approvals and documents are tracked in e-mail and files.</a:t>
            </a:r>
          </a:p>
          <a:p>
            <a:pPr>
              <a:spcAft>
                <a:spcPts val="100"/>
              </a:spcAft>
            </a:pPr>
            <a:r>
              <a:rPr sz="1200" b="0">
                <a:solidFill>
                  <a:srgbClr val="0072D8"/>
                </a:solidFill>
                <a:latin typeface="Arial"/>
              </a:rPr>
              <a:t>BRD-3 p.13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pic>
        <p:nvPicPr>
          <p:cNvPr id="9" name="Picture 8" descr="brd03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Package lifecycle in BIBS: workflow PM_PACKAGE_REQUEST (FRS BRD-3 sections 2.2 and 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how the BRD answers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by e-mail</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Package Request Form logged in BIBS, numbered PKR-yyyy-n and tracked by stage</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Stage and SLA per request</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 slips by e-mail</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Quotation slips prepared, approved and e-mailed per insurer, protected and logged</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Send log per slip</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replies in mailboxes</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TSU keys in each response with its outcome; every change is kept</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Rounds recorded</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Comparative in Excel</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comparative master per package; client views derived from it</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Excel re-compile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how the BRD answers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sign-off and advisory</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ManCom signs off in BIBS; the advisory is drafted on release</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Sign-off before release</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Documents without a password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Documents leave password protected; password in a separate e-mail</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Every document protected</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Expiry in spreadsheets</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Daily job raises expiry alerts and can draft the renewal request</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expiry missed</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History in e-mail threads</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Every action in the request history and the audit trail</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Full history per package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gaps in the BRD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graphicFrame>
        <p:nvGraphicFramePr>
          <p:cNvPr id="9" name="Table 8"/>
          <p:cNvGraphicFramePr>
            <a:graphicFrameLocks noGrp="1"/>
          </p:cNvGraphicFramePr>
          <p:nvPr/>
        </p:nvGraphicFramePr>
        <p:xfrm>
          <a:off x="548640" y="1280160"/>
          <a:ext cx="11094412" cy="3657600"/>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82296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Non-package product maintenance</a:t>
                      </a:r>
                    </a:p>
                  </a:txBody>
                  <a:tcPr marL="64008" marR="64008" marT="27432" marB="27432" anchor="ctr">
                    <a:solidFill>
                      <a:srgbClr val="FFFFFF"/>
                    </a:solidFill>
                  </a:tcPr>
                </a:tc>
                <a:tc>
                  <a:txBody>
                    <a:bodyPr wrap="square"/>
                    <a:lstStyle/>
                    <a:p>
                      <a:r>
                        <a:rPr sz="1100" b="0">
                          <a:solidFill>
                            <a:srgbClr val="4B4B4B"/>
                          </a:solidFill>
                          <a:latin typeface="Arial"/>
                        </a:rPr>
                        <a:t>Both types to be maintained in the system (PM-01).</a:t>
                      </a:r>
                    </a:p>
                  </a:txBody>
                  <a:tcPr marL="64008" marR="64008" marT="27432" marB="27432" anchor="ctr">
                    <a:solidFill>
                      <a:srgbClr val="FFFFFF"/>
                    </a:solidFill>
                  </a:tcPr>
                </a:tc>
                <a:tc>
                  <a:txBody>
                    <a:bodyPr wrap="square"/>
                    <a:lstStyle/>
                    <a:p>
                      <a:r>
                        <a:rPr sz="1100" b="0">
                          <a:solidFill>
                            <a:srgbClr val="4B4B4B"/>
                          </a:solidFill>
                          <a:latin typeface="Arial"/>
                        </a:rPr>
                        <a:t>BRD-3 covers packages; non-package "if and when added".</a:t>
                      </a:r>
                    </a:p>
                  </a:txBody>
                  <a:tcPr marL="64008" marR="64008" marT="27432" marB="27432" anchor="ctr">
                    <a:solidFill>
                      <a:srgbClr val="FFFFFF"/>
                    </a:solidFill>
                  </a:tcPr>
                </a:tc>
                <a:tc>
                  <a:txBody>
                    <a:bodyPr wrap="square"/>
                    <a:lstStyle/>
                    <a:p>
                      <a:r>
                        <a:rPr sz="1100" b="0">
                          <a:solidFill>
                            <a:srgbClr val="4B4B4B"/>
                          </a:solidFill>
                          <a:latin typeface="Arial"/>
                        </a:rPr>
                        <a:t>Bring non-package product and TOR templates into scope.</a:t>
                      </a:r>
                    </a:p>
                  </a:txBody>
                  <a:tcPr marL="64008" marR="64008" marT="27432" marB="27432" anchor="ctr">
                    <a:solidFill>
                      <a:srgbClr val="FFFFFF"/>
                    </a:solidFill>
                  </a:tcPr>
                </a:tc>
                <a:tc>
                  <a:txBody>
                    <a:bodyPr wrap="square"/>
                    <a:lstStyle/>
                    <a:p>
                      <a:r>
                        <a:rPr sz="1100" b="0">
                          <a:solidFill>
                            <a:srgbClr val="4B4B4B"/>
                          </a:solidFill>
                          <a:latin typeface="Arial"/>
                        </a:rPr>
                        <a:t>PM-01; DCR-036</a:t>
                      </a:r>
                    </a:p>
                  </a:txBody>
                  <a:tcPr marL="64008" marR="64008" marT="27432" marB="27432" anchor="ctr">
                    <a:solidFill>
                      <a:srgbClr val="FFFFFF"/>
                    </a:solidFill>
                  </a:tcPr>
                </a:tc>
              </a:tr>
              <a:tr h="82296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Reinsurance referral</a:t>
                      </a:r>
                    </a:p>
                  </a:txBody>
                  <a:tcPr marL="64008" marR="64008" marT="27432" marB="27432" anchor="ctr">
                    <a:solidFill>
                      <a:srgbClr val="E5F5FF"/>
                    </a:solidFill>
                  </a:tcPr>
                </a:tc>
                <a:tc>
                  <a:txBody>
                    <a:bodyPr wrap="square"/>
                    <a:lstStyle/>
                    <a:p>
                      <a:r>
                        <a:rPr sz="1100" b="0">
                          <a:solidFill>
                            <a:srgbClr val="4B4B4B"/>
                          </a:solidFill>
                          <a:latin typeface="Arial"/>
                        </a:rPr>
                        <a:t>Large or special risks go to the RI team and back.</a:t>
                      </a:r>
                    </a:p>
                  </a:txBody>
                  <a:tcPr marL="64008" marR="64008" marT="27432" marB="27432" anchor="ctr">
                    <a:solidFill>
                      <a:srgbClr val="E5F5FF"/>
                    </a:solidFill>
                  </a:tcPr>
                </a:tc>
                <a:tc>
                  <a:txBody>
                    <a:bodyPr wrap="square"/>
                    <a:lstStyle/>
                    <a:p>
                      <a:r>
                        <a:rPr sz="1100" b="0">
                          <a:solidFill>
                            <a:srgbClr val="4B4B4B"/>
                          </a:solidFill>
                          <a:latin typeface="Arial"/>
                        </a:rPr>
                        <a:t>No RI referral in BRD-1 or BRD-3; RI is phase 2.</a:t>
                      </a:r>
                    </a:p>
                  </a:txBody>
                  <a:tcPr marL="64008" marR="64008" marT="27432" marB="27432" anchor="ctr">
                    <a:solidFill>
                      <a:srgbClr val="E5F5FF"/>
                    </a:solidFill>
                  </a:tcPr>
                </a:tc>
                <a:tc>
                  <a:txBody>
                    <a:bodyPr wrap="square"/>
                    <a:lstStyle/>
                    <a:p>
                      <a:r>
                        <a:rPr sz="1100" b="0">
                          <a:solidFill>
                            <a:srgbClr val="4B4B4B"/>
                          </a:solidFill>
                          <a:latin typeface="Arial"/>
                        </a:rPr>
                        <a:t>Referral trigger and RI status on the TSU request (see chapter 6).</a:t>
                      </a:r>
                    </a:p>
                  </a:txBody>
                  <a:tcPr marL="64008" marR="64008" marT="27432" marB="27432" anchor="ctr">
                    <a:solidFill>
                      <a:srgbClr val="E5F5FF"/>
                    </a:solidFill>
                  </a:tcPr>
                </a:tc>
                <a:tc>
                  <a:txBody>
                    <a:bodyPr wrap="square"/>
                    <a:lstStyle/>
                    <a:p>
                      <a:r>
                        <a:rPr sz="1100" b="0">
                          <a:solidFill>
                            <a:srgbClr val="4B4B4B"/>
                          </a:solidFill>
                          <a:latin typeface="Arial"/>
                        </a:rPr>
                        <a:t>TSU flow; A3</a:t>
                      </a:r>
                    </a:p>
                  </a:txBody>
                  <a:tcPr marL="64008" marR="64008" marT="27432" marB="27432" anchor="ctr">
                    <a:solidFill>
                      <a:srgbClr val="E5F5FF"/>
                    </a:solidFill>
                  </a:tcPr>
                </a:tc>
              </a:tr>
              <a:tr h="82296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Acceptance evidence</a:t>
                      </a:r>
                    </a:p>
                  </a:txBody>
                  <a:tcPr marL="64008" marR="64008" marT="27432" marB="27432" anchor="ctr">
                    <a:solidFill>
                      <a:srgbClr val="FFFFFF"/>
                    </a:solidFill>
                  </a:tcPr>
                </a:tc>
                <a:tc>
                  <a:txBody>
                    <a:bodyPr wrap="square"/>
                    <a:lstStyle/>
                    <a:p>
                      <a:r>
                        <a:rPr sz="1100" b="0">
                          <a:solidFill>
                            <a:srgbClr val="4B4B4B"/>
                          </a:solidFill>
                          <a:latin typeface="Arial"/>
                        </a:rPr>
                        <a:t>Signed slip, stamped slip or explicit e-mail.</a:t>
                      </a:r>
                    </a:p>
                  </a:txBody>
                  <a:tcPr marL="64008" marR="64008" marT="27432" marB="27432" anchor="ctr">
                    <a:solidFill>
                      <a:srgbClr val="FFFFFF"/>
                    </a:solidFill>
                  </a:tcPr>
                </a:tc>
                <a:tc>
                  <a:txBody>
                    <a:bodyPr wrap="square"/>
                    <a:lstStyle/>
                    <a:p>
                      <a:r>
                        <a:rPr sz="1100" b="0">
                          <a:solidFill>
                            <a:srgbClr val="4B4B4B"/>
                          </a:solidFill>
                          <a:latin typeface="Arial"/>
                        </a:rPr>
                        <a:t>Insurer response recorded; evidence type not gated.</a:t>
                      </a:r>
                    </a:p>
                  </a:txBody>
                  <a:tcPr marL="64008" marR="64008" marT="27432" marB="27432" anchor="ctr">
                    <a:solidFill>
                      <a:srgbClr val="FFFFFF"/>
                    </a:solidFill>
                  </a:tcPr>
                </a:tc>
                <a:tc>
                  <a:txBody>
                    <a:bodyPr wrap="square"/>
                    <a:lstStyle/>
                    <a:p>
                      <a:r>
                        <a:rPr sz="1100" b="0">
                          <a:solidFill>
                            <a:srgbClr val="4B4B4B"/>
                          </a:solidFill>
                          <a:latin typeface="Arial"/>
                        </a:rPr>
                        <a:t>Require the evidence document before placement.</a:t>
                      </a:r>
                    </a:p>
                  </a:txBody>
                  <a:tcPr marL="64008" marR="64008" marT="27432" marB="27432" anchor="ctr">
                    <a:solidFill>
                      <a:srgbClr val="FFFFFF"/>
                    </a:solidFill>
                  </a:tcPr>
                </a:tc>
                <a:tc>
                  <a:txBody>
                    <a:bodyPr wrap="square"/>
                    <a:lstStyle/>
                    <a:p>
                      <a:r>
                        <a:rPr sz="1100" b="0">
                          <a:solidFill>
                            <a:srgbClr val="4B4B4B"/>
                          </a:solidFill>
                          <a:latin typeface="Arial"/>
                        </a:rPr>
                        <a:t>BRPM.013</a:t>
                      </a:r>
                    </a:p>
                  </a:txBody>
                  <a:tcPr marL="64008" marR="64008" marT="27432" marB="27432" anchor="ctr">
                    <a:solidFill>
                      <a:srgbClr val="FFFFFF"/>
                    </a:solidFill>
                  </a:tcPr>
                </a:tc>
              </a:tr>
              <a:tr h="82296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SLA values</a:t>
                      </a:r>
                    </a:p>
                  </a:txBody>
                  <a:tcPr marL="64008" marR="64008" marT="27432" marB="27432" anchor="ctr">
                    <a:solidFill>
                      <a:srgbClr val="E5F5FF"/>
                    </a:solidFill>
                  </a:tcPr>
                </a:tc>
                <a:tc>
                  <a:txBody>
                    <a:bodyPr wrap="square"/>
                    <a:lstStyle/>
                    <a:p>
                      <a:r>
                        <a:rPr sz="1100" b="0">
                          <a:solidFill>
                            <a:srgbClr val="4B4B4B"/>
                          </a:solidFill>
                          <a:latin typeface="Arial"/>
                        </a:rPr>
                        <a:t>Follow-up and escalation after SLA breach.</a:t>
                      </a:r>
                    </a:p>
                  </a:txBody>
                  <a:tcPr marL="64008" marR="64008" marT="27432" marB="27432" anchor="ctr">
                    <a:solidFill>
                      <a:srgbClr val="E5F5FF"/>
                    </a:solidFill>
                  </a:tcPr>
                </a:tc>
                <a:tc>
                  <a:txBody>
                    <a:bodyPr wrap="square"/>
                    <a:lstStyle/>
                    <a:p>
                      <a:r>
                        <a:rPr sz="1100" b="0">
                          <a:solidFill>
                            <a:srgbClr val="4B4B4B"/>
                          </a:solidFill>
                          <a:latin typeface="Arial"/>
                        </a:rPr>
                        <a:t>SLA tracking; values open.</a:t>
                      </a:r>
                    </a:p>
                  </a:txBody>
                  <a:tcPr marL="64008" marR="64008" marT="27432" marB="27432" anchor="ctr">
                    <a:solidFill>
                      <a:srgbClr val="E5F5FF"/>
                    </a:solidFill>
                  </a:tcPr>
                </a:tc>
                <a:tc>
                  <a:txBody>
                    <a:bodyPr wrap="square"/>
                    <a:lstStyle/>
                    <a:p>
                      <a:r>
                        <a:rPr sz="1100" b="0">
                          <a:solidFill>
                            <a:srgbClr val="4B4B4B"/>
                          </a:solidFill>
                          <a:latin typeface="Arial"/>
                        </a:rPr>
                        <a:t>Set SLA per request type and complexity.</a:t>
                      </a:r>
                    </a:p>
                  </a:txBody>
                  <a:tcPr marL="64008" marR="64008" marT="27432" marB="27432" anchor="ctr">
                    <a:solidFill>
                      <a:srgbClr val="E5F5FF"/>
                    </a:solidFill>
                  </a:tcPr>
                </a:tc>
                <a:tc>
                  <a:txBody>
                    <a:bodyPr wrap="square"/>
                    <a:lstStyle/>
                    <a:p>
                      <a:r>
                        <a:rPr sz="1100" b="0">
                          <a:solidFill>
                            <a:srgbClr val="4B4B4B"/>
                          </a:solidFill>
                          <a:latin typeface="Arial"/>
                        </a:rPr>
                        <a:t>PQ08; NB-07</a:t>
                      </a:r>
                    </a:p>
                  </a:txBody>
                  <a:tcPr marL="64008" marR="64008" marT="27432" marB="27432" anchor="ctr">
                    <a:solidFill>
                      <a:srgbClr val="E5F5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gaps in the BRD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graphicFrame>
        <p:nvGraphicFramePr>
          <p:cNvPr id="9" name="Table 8"/>
          <p:cNvGraphicFramePr>
            <a:graphicFrameLocks noGrp="1"/>
          </p:cNvGraphicFramePr>
          <p:nvPr/>
        </p:nvGraphicFramePr>
        <p:xfrm>
          <a:off x="548640" y="1280160"/>
          <a:ext cx="11094412" cy="3657600"/>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82296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Rate formulas without IT</a:t>
                      </a:r>
                    </a:p>
                  </a:txBody>
                  <a:tcPr marL="64008" marR="64008" marT="27432" marB="27432" anchor="ctr">
                    <a:solidFill>
                      <a:srgbClr val="FFFFFF"/>
                    </a:solidFill>
                  </a:tcPr>
                </a:tc>
                <a:tc>
                  <a:txBody>
                    <a:bodyPr wrap="square"/>
                    <a:lstStyle/>
                    <a:p>
                      <a:r>
                        <a:rPr sz="1100" b="0">
                          <a:solidFill>
                            <a:srgbClr val="4B4B4B"/>
                          </a:solidFill>
                          <a:latin typeface="Arial"/>
                        </a:rPr>
                        <a:t>Package set-up needs MBS / IT.</a:t>
                      </a:r>
                    </a:p>
                  </a:txBody>
                  <a:tcPr marL="64008" marR="64008" marT="27432" marB="27432" anchor="ctr">
                    <a:solidFill>
                      <a:srgbClr val="FFFFFF"/>
                    </a:solidFill>
                  </a:tcPr>
                </a:tc>
                <a:tc>
                  <a:txBody>
                    <a:bodyPr wrap="square"/>
                    <a:lstStyle/>
                    <a:p>
                      <a:r>
                        <a:rPr sz="1100" b="0">
                          <a:solidFill>
                            <a:srgbClr val="4B4B4B"/>
                          </a:solidFill>
                          <a:latin typeface="Arial"/>
                        </a:rPr>
                        <a:t>Scheme versions; new formulas still need IT.</a:t>
                      </a:r>
                    </a:p>
                  </a:txBody>
                  <a:tcPr marL="64008" marR="64008" marT="27432" marB="27432" anchor="ctr">
                    <a:solidFill>
                      <a:srgbClr val="FFFFFF"/>
                    </a:solidFill>
                  </a:tcPr>
                </a:tc>
                <a:tc>
                  <a:txBody>
                    <a:bodyPr wrap="square"/>
                    <a:lstStyle/>
                    <a:p>
                      <a:r>
                        <a:rPr sz="1100" b="0">
                          <a:solidFill>
                            <a:srgbClr val="4B4B4B"/>
                          </a:solidFill>
                          <a:latin typeface="Arial"/>
                        </a:rPr>
                        <a:t>Rating rules maintained by the business with approval.</a:t>
                      </a:r>
                    </a:p>
                  </a:txBody>
                  <a:tcPr marL="64008" marR="64008" marT="27432" marB="27432" anchor="ctr">
                    <a:solidFill>
                      <a:srgbClr val="FFFFFF"/>
                    </a:solidFill>
                  </a:tcPr>
                </a:tc>
                <a:tc>
                  <a:txBody>
                    <a:bodyPr wrap="square"/>
                    <a:lstStyle/>
                    <a:p>
                      <a:r>
                        <a:rPr sz="1100" b="0">
                          <a:solidFill>
                            <a:srgbClr val="4B4B4B"/>
                          </a:solidFill>
                          <a:latin typeface="Arial"/>
                        </a:rPr>
                        <a:t>PQ12</a:t>
                      </a:r>
                    </a:p>
                  </a:txBody>
                  <a:tcPr marL="64008" marR="64008" marT="27432" marB="27432" anchor="ctr">
                    <a:solidFill>
                      <a:srgbClr val="FFFFFF"/>
                    </a:solidFill>
                  </a:tcPr>
                </a:tc>
              </a:tr>
              <a:tr h="82296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Package switch at renewal</a:t>
                      </a:r>
                    </a:p>
                  </a:txBody>
                  <a:tcPr marL="64008" marR="64008" marT="27432" marB="27432" anchor="ctr">
                    <a:solidFill>
                      <a:srgbClr val="E5F5FF"/>
                    </a:solidFill>
                  </a:tcPr>
                </a:tc>
                <a:tc>
                  <a:txBody>
                    <a:bodyPr wrap="square"/>
                    <a:lstStyle/>
                    <a:p>
                      <a:r>
                        <a:rPr sz="1100" b="0">
                          <a:solidFill>
                            <a:srgbClr val="4B4B4B"/>
                          </a:solidFill>
                          <a:latin typeface="Arial"/>
                        </a:rPr>
                        <a:t>Package to non-package or back (PM-04).</a:t>
                      </a:r>
                    </a:p>
                  </a:txBody>
                  <a:tcPr marL="64008" marR="64008" marT="27432" marB="27432" anchor="ctr">
                    <a:solidFill>
                      <a:srgbClr val="E5F5FF"/>
                    </a:solidFill>
                  </a:tcPr>
                </a:tc>
                <a:tc>
                  <a:txBody>
                    <a:bodyPr wrap="square"/>
                    <a:lstStyle/>
                    <a:p>
                      <a:r>
                        <a:rPr sz="1100" b="0">
                          <a:solidFill>
                            <a:srgbClr val="4B4B4B"/>
                          </a:solidFill>
                          <a:latin typeface="Arial"/>
                        </a:rPr>
                        <a:t>No explicit rule.</a:t>
                      </a:r>
                    </a:p>
                  </a:txBody>
                  <a:tcPr marL="64008" marR="64008" marT="27432" marB="27432" anchor="ctr">
                    <a:solidFill>
                      <a:srgbClr val="E5F5FF"/>
                    </a:solidFill>
                  </a:tcPr>
                </a:tc>
                <a:tc>
                  <a:txBody>
                    <a:bodyPr wrap="square"/>
                    <a:lstStyle/>
                    <a:p>
                      <a:r>
                        <a:rPr sz="1100" b="0">
                          <a:solidFill>
                            <a:srgbClr val="4B4B4B"/>
                          </a:solidFill>
                          <a:latin typeface="Arial"/>
                        </a:rPr>
                        <a:t>Switch rule with product versions.</a:t>
                      </a:r>
                    </a:p>
                  </a:txBody>
                  <a:tcPr marL="64008" marR="64008" marT="27432" marB="27432" anchor="ctr">
                    <a:solidFill>
                      <a:srgbClr val="E5F5FF"/>
                    </a:solidFill>
                  </a:tcPr>
                </a:tc>
                <a:tc>
                  <a:txBody>
                    <a:bodyPr wrap="square"/>
                    <a:lstStyle/>
                    <a:p>
                      <a:r>
                        <a:rPr sz="1100" b="0">
                          <a:solidFill>
                            <a:srgbClr val="4B4B4B"/>
                          </a:solidFill>
                          <a:latin typeface="Arial"/>
                        </a:rPr>
                        <a:t>PM-04; PQ11</a:t>
                      </a:r>
                    </a:p>
                  </a:txBody>
                  <a:tcPr marL="64008" marR="64008" marT="27432" marB="27432" anchor="ctr">
                    <a:solidFill>
                      <a:srgbClr val="E5F5FF"/>
                    </a:solidFill>
                  </a:tcPr>
                </a:tc>
              </a:tr>
              <a:tr h="82296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Excess commission and incentives</a:t>
                      </a:r>
                    </a:p>
                  </a:txBody>
                  <a:tcPr marL="64008" marR="64008" marT="27432" marB="27432" anchor="ctr">
                    <a:solidFill>
                      <a:srgbClr val="FFFFFF"/>
                    </a:solidFill>
                  </a:tcPr>
                </a:tc>
                <a:tc>
                  <a:txBody>
                    <a:bodyPr wrap="square"/>
                    <a:lstStyle/>
                    <a:p>
                      <a:r>
                        <a:rPr sz="1100" b="0">
                          <a:solidFill>
                            <a:srgbClr val="4B4B4B"/>
                          </a:solidFill>
                          <a:latin typeface="Arial"/>
                        </a:rPr>
                        <a:t>Incentives negotiated per package.</a:t>
                      </a:r>
                    </a:p>
                  </a:txBody>
                  <a:tcPr marL="64008" marR="64008" marT="27432" marB="27432" anchor="ctr">
                    <a:solidFill>
                      <a:srgbClr val="FFFFFF"/>
                    </a:solidFill>
                  </a:tcPr>
                </a:tc>
                <a:tc>
                  <a:txBody>
                    <a:bodyPr wrap="square"/>
                    <a:lstStyle/>
                    <a:p>
                      <a:r>
                        <a:rPr sz="1100" b="0">
                          <a:solidFill>
                            <a:srgbClr val="4B4B4B"/>
                          </a:solidFill>
                          <a:latin typeface="Arial"/>
                        </a:rPr>
                        <a:t>CPC2 undefined.</a:t>
                      </a:r>
                    </a:p>
                  </a:txBody>
                  <a:tcPr marL="64008" marR="64008" marT="27432" marB="27432" anchor="ctr">
                    <a:solidFill>
                      <a:srgbClr val="FFFFFF"/>
                    </a:solidFill>
                  </a:tcPr>
                </a:tc>
                <a:tc>
                  <a:txBody>
                    <a:bodyPr wrap="square"/>
                    <a:lstStyle/>
                    <a:p>
                      <a:r>
                        <a:rPr sz="1100" b="0">
                          <a:solidFill>
                            <a:srgbClr val="4B4B4B"/>
                          </a:solidFill>
                          <a:latin typeface="Arial"/>
                        </a:rPr>
                        <a:t>Define incentive types, rates and bases.</a:t>
                      </a:r>
                    </a:p>
                  </a:txBody>
                  <a:tcPr marL="64008" marR="64008" marT="27432" marB="27432" anchor="ctr">
                    <a:solidFill>
                      <a:srgbClr val="FFFFFF"/>
                    </a:solidFill>
                  </a:tcPr>
                </a:tc>
                <a:tc>
                  <a:txBody>
                    <a:bodyPr wrap="square"/>
                    <a:lstStyle/>
                    <a:p>
                      <a:r>
                        <a:rPr sz="1100" b="0">
                          <a:solidFill>
                            <a:srgbClr val="4B4B4B"/>
                          </a:solidFill>
                          <a:latin typeface="Arial"/>
                        </a:rPr>
                        <a:t>PM-02; DCR-037</a:t>
                      </a:r>
                    </a:p>
                  </a:txBody>
                  <a:tcPr marL="64008" marR="64008" marT="27432" marB="27432" anchor="ctr">
                    <a:solidFill>
                      <a:srgbClr val="FFFFFF"/>
                    </a:solidFill>
                  </a:tcPr>
                </a:tc>
              </a:tr>
              <a:tr h="82296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ManCom signature</a:t>
                      </a:r>
                    </a:p>
                  </a:txBody>
                  <a:tcPr marL="64008" marR="64008" marT="27432" marB="27432" anchor="ctr">
                    <a:solidFill>
                      <a:srgbClr val="E5F5FF"/>
                    </a:solidFill>
                  </a:tcPr>
                </a:tc>
                <a:tc>
                  <a:txBody>
                    <a:bodyPr wrap="square"/>
                    <a:lstStyle/>
                    <a:p>
                      <a:r>
                        <a:rPr sz="1100" b="0">
                          <a:solidFill>
                            <a:srgbClr val="4B4B4B"/>
                          </a:solidFill>
                          <a:latin typeface="Arial"/>
                        </a:rPr>
                        <a:t>Paper sign-off sheet.</a:t>
                      </a:r>
                    </a:p>
                  </a:txBody>
                  <a:tcPr marL="64008" marR="64008" marT="27432" marB="27432" anchor="ctr">
                    <a:solidFill>
                      <a:srgbClr val="E5F5FF"/>
                    </a:solidFill>
                  </a:tcPr>
                </a:tc>
                <a:tc>
                  <a:txBody>
                    <a:bodyPr wrap="square"/>
                    <a:lstStyle/>
                    <a:p>
                      <a:r>
                        <a:rPr sz="1100" b="0">
                          <a:solidFill>
                            <a:srgbClr val="4B4B4B"/>
                          </a:solidFill>
                          <a:latin typeface="Arial"/>
                        </a:rPr>
                        <a:t>Physical signatures.</a:t>
                      </a:r>
                    </a:p>
                  </a:txBody>
                  <a:tcPr marL="64008" marR="64008" marT="27432" marB="27432" anchor="ctr">
                    <a:solidFill>
                      <a:srgbClr val="E5F5FF"/>
                    </a:solidFill>
                  </a:tcPr>
                </a:tc>
                <a:tc>
                  <a:txBody>
                    <a:bodyPr wrap="square"/>
                    <a:lstStyle/>
                    <a:p>
                      <a:r>
                        <a:rPr sz="1100" b="0">
                          <a:solidFill>
                            <a:srgbClr val="4B4B4B"/>
                          </a:solidFill>
                          <a:latin typeface="Arial"/>
                        </a:rPr>
                        <a:t>E-sign-off in the workflow (CP-01).</a:t>
                      </a:r>
                    </a:p>
                  </a:txBody>
                  <a:tcPr marL="64008" marR="64008" marT="27432" marB="27432" anchor="ctr">
                    <a:solidFill>
                      <a:srgbClr val="E5F5FF"/>
                    </a:solidFill>
                  </a:tcPr>
                </a:tc>
                <a:tc>
                  <a:txBody>
                    <a:bodyPr wrap="square"/>
                    <a:lstStyle/>
                    <a:p>
                      <a:r>
                        <a:rPr sz="1100" b="0">
                          <a:solidFill>
                            <a:srgbClr val="4B4B4B"/>
                          </a:solidFill>
                          <a:latin typeface="Arial"/>
                        </a:rPr>
                        <a:t>PQ07</a:t>
                      </a:r>
                    </a:p>
                  </a:txBody>
                  <a:tcPr marL="64008" marR="64008" marT="27432" marB="27432" anchor="ctr">
                    <a:solidFill>
                      <a:srgbClr val="E5F5FF"/>
                    </a:solidFill>
                  </a:tcPr>
                </a:tc>
              </a:tr>
            </a:tbl>
          </a:graphicData>
        </a:graphic>
      </p:graphicFrame>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Business-maintained rating rules</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Speed to market</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Rates, factors and formulas maintained by TSU with approval and versions, without IT.</a:t>
            </a:r>
          </a:p>
          <a:p>
            <a:pPr>
              <a:spcAft>
                <a:spcPts val="400"/>
              </a:spcAft>
            </a:pPr>
            <a:r>
              <a:rPr sz="1200" b="1">
                <a:solidFill>
                  <a:srgbClr val="004EA8"/>
                </a:solidFill>
                <a:latin typeface="Arial"/>
              </a:rPr>
              <a:t>For BDOI: </a:t>
            </a:r>
            <a:r>
              <a:rPr sz="1200" b="0">
                <a:solidFill>
                  <a:srgbClr val="4B4B4B"/>
                </a:solidFill>
                <a:latin typeface="Arial"/>
              </a:rPr>
              <a:t>A rules screen with test premiums before release.</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Insurer appetite and capacity register</a:t>
            </a:r>
          </a:p>
        </p:txBody>
      </p:sp>
      <p:sp>
        <p:nvSpPr>
          <p:cNvPr id="18" name="Rounded Rectangle 17"/>
          <p:cNvSpPr/>
          <p:nvPr/>
        </p:nvSpPr>
        <p:spPr>
          <a:xfrm>
            <a:off x="4393082" y="1920240"/>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placement</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Per insurer: lines, limits, appetite, accreditation, commission, remittance terms.</a:t>
            </a:r>
          </a:p>
          <a:p>
            <a:pPr>
              <a:spcAft>
                <a:spcPts val="400"/>
              </a:spcAft>
            </a:pPr>
            <a:r>
              <a:rPr sz="1200" b="1">
                <a:solidFill>
                  <a:srgbClr val="004EA8"/>
                </a:solidFill>
                <a:latin typeface="Arial"/>
              </a:rPr>
              <a:t>For BDOI: </a:t>
            </a:r>
            <a:r>
              <a:rPr sz="1200" b="0">
                <a:solidFill>
                  <a:srgbClr val="4B4B4B"/>
                </a:solidFill>
                <a:latin typeface="Arial"/>
              </a:rPr>
              <a:t>Build on the insurer records of Day 1 p.9.</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Test premiums before release</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wrong rates</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Automatic test cases run on every package before it goes live.</a:t>
            </a:r>
          </a:p>
          <a:p>
            <a:pPr>
              <a:spcAft>
                <a:spcPts val="400"/>
              </a:spcAft>
            </a:pPr>
            <a:r>
              <a:rPr sz="1200" b="1">
                <a:solidFill>
                  <a:srgbClr val="004EA8"/>
                </a:solidFill>
                <a:latin typeface="Arial"/>
              </a:rPr>
              <a:t>For BDOI: </a:t>
            </a:r>
            <a:r>
              <a:rPr sz="1200" b="0">
                <a:solidFill>
                  <a:srgbClr val="4B4B4B"/>
                </a:solidFill>
                <a:latin typeface="Arial"/>
              </a:rPr>
              <a:t>Turn the validation checkpoint into test cases.</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Package performance analytics</a:t>
            </a:r>
          </a:p>
        </p:txBody>
      </p:sp>
      <p:sp>
        <p:nvSpPr>
          <p:cNvPr id="30" name="Rounded Rectangle 29"/>
          <p:cNvSpPr/>
          <p:nvPr/>
        </p:nvSpPr>
        <p:spPr>
          <a:xfrm>
            <a:off x="640080"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products</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Take-up, loss ratio and retention per package reviewed yearly.</a:t>
            </a:r>
          </a:p>
          <a:p>
            <a:pPr>
              <a:spcAft>
                <a:spcPts val="400"/>
              </a:spcAft>
            </a:pPr>
            <a:r>
              <a:rPr sz="1200" b="1">
                <a:solidFill>
                  <a:srgbClr val="004EA8"/>
                </a:solidFill>
                <a:latin typeface="Arial"/>
              </a:rPr>
              <a:t>For BDOI: </a:t>
            </a:r>
            <a:r>
              <a:rPr sz="1200" b="0">
                <a:solidFill>
                  <a:srgbClr val="4B4B4B"/>
                </a:solidFill>
                <a:latin typeface="Arial"/>
              </a:rPr>
              <a:t>Report per package from booking and claims data.</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E-sign-off</a:t>
            </a:r>
          </a:p>
        </p:txBody>
      </p:sp>
      <p:sp>
        <p:nvSpPr>
          <p:cNvPr id="36" name="Rounded Rectangle 35"/>
          <p:cNvSpPr/>
          <p:nvPr/>
        </p:nvSpPr>
        <p:spPr>
          <a:xfrm>
            <a:off x="4393082" y="4448556"/>
            <a:ext cx="160020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paper</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ManCom sign-off and slips signed electronically.</a:t>
            </a:r>
          </a:p>
          <a:p>
            <a:pPr>
              <a:spcAft>
                <a:spcPts val="400"/>
              </a:spcAft>
            </a:pPr>
            <a:r>
              <a:rPr sz="1200" b="1">
                <a:solidFill>
                  <a:srgbClr val="004EA8"/>
                </a:solidFill>
                <a:latin typeface="Arial"/>
              </a:rPr>
              <a:t>For BDOI: </a:t>
            </a:r>
            <a:r>
              <a:rPr sz="1200" b="0">
                <a:solidFill>
                  <a:srgbClr val="4B4B4B"/>
                </a:solidFill>
                <a:latin typeface="Arial"/>
              </a:rPr>
              <a:t>With the e-signature decision (CP-01).</a:t>
            </a:r>
          </a:p>
        </p:txBody>
      </p:sp>
      <p:sp>
        <p:nvSpPr>
          <p:cNvPr id="39" name="Rounded Rectangle 38"/>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product catalogue</a:t>
            </a:r>
          </a:p>
        </p:txBody>
      </p:sp>
      <p:sp>
        <p:nvSpPr>
          <p:cNvPr id="42" name="Rounded Rectangle 41"/>
          <p:cNvSpPr/>
          <p:nvPr/>
        </p:nvSpPr>
        <p:spPr>
          <a:xfrm>
            <a:off x="8146084"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43" name="TextBox 42"/>
          <p:cNvSpPr txBox="1"/>
          <p:nvPr/>
        </p:nvSpPr>
        <p:spPr>
          <a:xfrm>
            <a:off x="9837724"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One source of truth</a:t>
            </a:r>
          </a:p>
        </p:txBody>
      </p:sp>
      <p:sp>
        <p:nvSpPr>
          <p:cNvPr id="44" name="TextBox 43"/>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Package and non-package products, TOR and documents in one catalogue used by every module.</a:t>
            </a:r>
          </a:p>
          <a:p>
            <a:pPr>
              <a:spcAft>
                <a:spcPts val="400"/>
              </a:spcAft>
            </a:pPr>
            <a:r>
              <a:rPr sz="1200" b="1">
                <a:solidFill>
                  <a:srgbClr val="004EA8"/>
                </a:solidFill>
                <a:latin typeface="Arial"/>
              </a:rPr>
              <a:t>For BDOI: </a:t>
            </a:r>
            <a:r>
              <a:rPr sz="1200" b="0">
                <a:solidFill>
                  <a:srgbClr val="4B4B4B"/>
                </a:solidFill>
                <a:latin typeface="Arial"/>
              </a:rPr>
              <a:t>Extend BRD-3 to non-package (PM-01).</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Reinsurance: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BDOI Reinsurance (RI Team Head, RI Officers), with TSU, Claims and Comptrollership</a:t>
            </a:r>
          </a:p>
          <a:p>
            <a:pPr>
              <a:spcAft>
                <a:spcPts val="300"/>
              </a:spcAft>
            </a:pPr>
            <a:r>
              <a:rPr sz="1200" b="0">
                <a:solidFill>
                  <a:srgbClr val="004EA8"/>
                </a:solidFill>
                <a:latin typeface="Arial"/>
              </a:rPr>
              <a:t>•  </a:t>
            </a:r>
            <a:r>
              <a:rPr sz="1200" b="0">
                <a:solidFill>
                  <a:srgbClr val="4B4B4B"/>
                </a:solidFill>
                <a:latin typeface="Arial"/>
              </a:rPr>
              <a:t>RI Unit Head, RI Team Head, RI Officer</a:t>
            </a:r>
          </a:p>
          <a:p>
            <a:pPr>
              <a:spcAft>
                <a:spcPts val="300"/>
              </a:spcAft>
            </a:pPr>
            <a:r>
              <a:rPr sz="1200" b="0">
                <a:solidFill>
                  <a:srgbClr val="004EA8"/>
                </a:solidFill>
                <a:latin typeface="Arial"/>
              </a:rPr>
              <a:t>•  </a:t>
            </a:r>
            <a:r>
              <a:rPr sz="1200" b="0">
                <a:solidFill>
                  <a:srgbClr val="4B4B4B"/>
                </a:solidFill>
                <a:latin typeface="Arial"/>
              </a:rPr>
              <a:t>BDOI TSU (requests facultative placement); Claims Handler (RI claims)</a:t>
            </a:r>
          </a:p>
          <a:p>
            <a:pPr>
              <a:spcAft>
                <a:spcPts val="300"/>
              </a:spcAft>
            </a:pPr>
            <a:r>
              <a:rPr sz="1200" b="0">
                <a:solidFill>
                  <a:srgbClr val="004EA8"/>
                </a:solidFill>
                <a:latin typeface="Arial"/>
              </a:rPr>
              <a:t>•  </a:t>
            </a:r>
            <a:r>
              <a:rPr sz="1200" b="0">
                <a:solidFill>
                  <a:srgbClr val="4B4B4B"/>
                </a:solidFill>
                <a:latin typeface="Arial"/>
              </a:rPr>
              <a:t>Commission Receivable Unit; Cashiering and Remittance</a:t>
            </a:r>
          </a:p>
          <a:p>
            <a:pPr>
              <a:spcAft>
                <a:spcPts val="300"/>
              </a:spcAft>
            </a:pPr>
            <a:r>
              <a:rPr sz="1200" b="0">
                <a:solidFill>
                  <a:srgbClr val="004EA8"/>
                </a:solidFill>
                <a:latin typeface="Arial"/>
              </a:rPr>
              <a:t>•  </a:t>
            </a:r>
            <a:r>
              <a:rPr sz="1200" b="0">
                <a:solidFill>
                  <a:srgbClr val="4B4B4B"/>
                </a:solidFill>
                <a:latin typeface="Arial"/>
              </a:rPr>
              <a:t>Comptrollership (RI entries)</a:t>
            </a:r>
          </a:p>
          <a:p>
            <a:pPr>
              <a:spcAft>
                <a:spcPts val="300"/>
              </a:spcAft>
            </a:pPr>
            <a:r>
              <a:rPr sz="1200" b="0">
                <a:solidFill>
                  <a:srgbClr val="004EA8"/>
                </a:solidFill>
                <a:latin typeface="Arial"/>
              </a:rPr>
              <a:t>•  </a:t>
            </a:r>
            <a:r>
              <a:rPr sz="1200" b="0">
                <a:solidFill>
                  <a:srgbClr val="4B4B4B"/>
                </a:solidFill>
                <a:latin typeface="Arial"/>
              </a:rPr>
              <a:t>Cedants, reinsurers and partner RI brokers (external)</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24 h</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to acknowledge a facultative placement request (RI flow)</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3 days</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working days to prepare the facultative slip (RI flow)</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48 / 72 h</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to share loss reports / invoice reinsurers for their share of a claim</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106</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requirements in the RI BRD, phase 2 (FRID-001 to 106)</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Process flow confirmed by the RI and Claims heads (Feb 2026); not walked in Sep-2026</a:t>
            </a:r>
          </a:p>
          <a:p>
            <a:pPr>
              <a:spcAft>
                <a:spcPts val="400"/>
              </a:spcAft>
            </a:pPr>
            <a:r>
              <a:rPr sz="1100" b="1">
                <a:solidFill>
                  <a:srgbClr val="004EA8"/>
                </a:solidFill>
                <a:latin typeface="Arial"/>
              </a:rPr>
              <a:t>Process owners: </a:t>
            </a:r>
            <a:r>
              <a:rPr sz="1100" b="0">
                <a:solidFill>
                  <a:srgbClr val="4B4B4B"/>
                </a:solidFill>
                <a:latin typeface="Arial"/>
              </a:rPr>
              <a:t>Alvin B. Pila (RI Team Head), Allan I. Villas (Claims)</a:t>
            </a:r>
          </a:p>
          <a:p>
            <a:pPr>
              <a:spcAft>
                <a:spcPts val="400"/>
              </a:spcAft>
            </a:pPr>
            <a:r>
              <a:rPr sz="1100" b="0">
                <a:solidFill>
                  <a:srgbClr val="004EA8"/>
                </a:solidFill>
                <a:latin typeface="Arial"/>
              </a:rPr>
              <a:t>•  </a:t>
            </a:r>
            <a:r>
              <a:rPr sz="1100" b="0">
                <a:solidFill>
                  <a:srgbClr val="4B4B4B"/>
                </a:solidFill>
                <a:latin typeface="Arial"/>
              </a:rPr>
              <a:t>High-level Reinsurance process flow (4 pages: placement, RI commission collections, RI claims, RI settlement)</a:t>
            </a:r>
          </a:p>
          <a:p>
            <a:pPr>
              <a:spcAft>
                <a:spcPts val="400"/>
              </a:spcAft>
            </a:pPr>
            <a:r>
              <a:rPr sz="1100" b="0">
                <a:solidFill>
                  <a:srgbClr val="004EA8"/>
                </a:solidFill>
                <a:latin typeface="Arial"/>
              </a:rPr>
              <a:t>•  </a:t>
            </a:r>
            <a:r>
              <a:rPr sz="1100" b="0">
                <a:solidFill>
                  <a:srgbClr val="4B4B4B"/>
                </a:solidFill>
                <a:latin typeface="Arial"/>
              </a:rPr>
              <a:t>ReInsurance BRD v1, 11-Mar-2025 (phase 2); BDOI answer A3</a:t>
            </a:r>
          </a:p>
          <a:p>
            <a:pPr>
              <a:spcAft>
                <a:spcPts val="400"/>
              </a:spcAft>
            </a:pPr>
            <a:r>
              <a:rPr sz="1100" b="0">
                <a:solidFill>
                  <a:srgbClr val="004EA8"/>
                </a:solidFill>
                <a:latin typeface="Arial"/>
              </a:rPr>
              <a:t>•  </a:t>
            </a:r>
            <a:r>
              <a:rPr sz="1100" b="0">
                <a:solidFill>
                  <a:srgbClr val="4B4B4B"/>
                </a:solidFill>
                <a:latin typeface="Arial"/>
              </a:rPr>
              <a:t>Umbrella BRD capability 15; Report List #112-115</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Request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Acknowledge</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Slip</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Market</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Closing</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Debit note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Collections</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Claims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Reinsurance: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RI flow p.4</a:t>
                      </a:r>
                    </a:p>
                  </a:txBody>
                  <a:tcPr marL="64008" marR="64008" marT="27432" marB="27432" anchor="ctr">
                    <a:solidFill>
                      <a:srgbClr val="FFFFFF"/>
                    </a:solidFill>
                  </a:tcPr>
                </a:tc>
                <a:tc>
                  <a:txBody>
                    <a:bodyPr wrap="square"/>
                    <a:lstStyle/>
                    <a:p>
                      <a:r>
                        <a:rPr sz="1100" b="0">
                          <a:solidFill>
                            <a:srgbClr val="4B4B4B"/>
                          </a:solidFill>
                          <a:latin typeface="Arial"/>
                        </a:rPr>
                        <a:t>Facultative placement</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TSU sends the request; RI acknowledges within 24 hours, reviews and prepares the facultative slip within 3 working days, approaches reinsurers or RI brokers, negotiates and informs TSU in writing.</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RI flow p.4</a:t>
                      </a:r>
                    </a:p>
                  </a:txBody>
                  <a:tcPr marL="64008" marR="64008" marT="27432" marB="27432" anchor="ctr">
                    <a:solidFill>
                      <a:srgbClr val="E5F5FF"/>
                    </a:solidFill>
                  </a:tcPr>
                </a:tc>
                <a:tc>
                  <a:txBody>
                    <a:bodyPr wrap="square"/>
                    <a:lstStyle/>
                    <a:p>
                      <a:r>
                        <a:rPr sz="1100" b="0">
                          <a:solidFill>
                            <a:srgbClr val="4B4B4B"/>
                          </a:solidFill>
                          <a:latin typeface="Arial"/>
                        </a:rPr>
                        <a:t>Closing</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RI checks special conditions, warranties and subjectivities, the share placed, sends the closings and the debit note to the cedant and secures the signed placement slip from the reinsurers.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RI flow p.1</a:t>
                      </a:r>
                    </a:p>
                  </a:txBody>
                  <a:tcPr marL="64008" marR="64008" marT="27432" marB="27432" anchor="ctr">
                    <a:solidFill>
                      <a:srgbClr val="FFFFFF"/>
                    </a:solidFill>
                  </a:tcPr>
                </a:tc>
                <a:tc>
                  <a:txBody>
                    <a:bodyPr wrap="square"/>
                    <a:lstStyle/>
                    <a:p>
                      <a:r>
                        <a:rPr sz="1100" b="0">
                          <a:solidFill>
                            <a:srgbClr val="4B4B4B"/>
                          </a:solidFill>
                          <a:latin typeface="Arial"/>
                        </a:rPr>
                        <a:t>RI commission</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A monitoring sheet of premium payment schedules and expected RI premium and commission dates is shared with the Commission Receivable Unit; reminders and extensions handled by hand.</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RI flow p.4</a:t>
                      </a:r>
                    </a:p>
                  </a:txBody>
                  <a:tcPr marL="64008" marR="64008" marT="27432" marB="27432" anchor="ctr">
                    <a:solidFill>
                      <a:srgbClr val="E5F5FF"/>
                    </a:solidFill>
                  </a:tcPr>
                </a:tc>
                <a:tc>
                  <a:txBody>
                    <a:bodyPr wrap="square"/>
                    <a:lstStyle/>
                    <a:p>
                      <a:r>
                        <a:rPr sz="1100" b="0">
                          <a:solidFill>
                            <a:srgbClr val="4B4B4B"/>
                          </a:solidFill>
                          <a:latin typeface="Arial"/>
                        </a:rPr>
                        <a:t>RI claims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Preliminary loss advice within 5 days; RCRF not later than the next working day; loss adjuster reports to all reinsurers within 48 hours; lead reinsurer agrees the adjuster.</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RI flow p.4</a:t>
                      </a:r>
                    </a:p>
                  </a:txBody>
                  <a:tcPr marL="64008" marR="64008" marT="27432" marB="27432" anchor="ctr">
                    <a:solidFill>
                      <a:srgbClr val="FFFFFF"/>
                    </a:solidFill>
                  </a:tcPr>
                </a:tc>
                <a:tc>
                  <a:txBody>
                    <a:bodyPr wrap="square"/>
                    <a:lstStyle/>
                    <a:p>
                      <a:r>
                        <a:rPr sz="1100" b="0">
                          <a:solidFill>
                            <a:srgbClr val="4B4B4B"/>
                          </a:solidFill>
                          <a:latin typeface="Arial"/>
                        </a:rPr>
                        <a:t>Settlement</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Acknowledge the statement of claim or cash call within 48 hours; invoice the reinsurer panel within 72 hours; collect within 10 days; remit to the reinsured within 5 days.</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A3; DCR-210</a:t>
                      </a:r>
                    </a:p>
                  </a:txBody>
                  <a:tcPr marL="64008" marR="64008" marT="27432" marB="27432" anchor="ctr">
                    <a:solidFill>
                      <a:srgbClr val="E5F5FF"/>
                    </a:solidFill>
                  </a:tcPr>
                </a:tc>
                <a:tc>
                  <a:txBody>
                    <a:bodyPr wrap="square"/>
                    <a:lstStyle/>
                    <a:p>
                      <a:r>
                        <a:rPr sz="1100" b="0">
                          <a:solidFill>
                            <a:srgbClr val="4B4B4B"/>
                          </a:solidFill>
                          <a:latin typeface="Arial"/>
                        </a:rPr>
                        <a:t>Scope</a:t>
                      </a:r>
                    </a:p>
                  </a:txBody>
                  <a:tcPr marL="64008" marR="64008" marT="27432" marB="27432" anchor="ctr">
                    <a:solidFill>
                      <a:srgbClr val="E5F5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Reinsurance module in phase 2; Remittance handles "reinsurance transactions" in Drop 1.</a:t>
                      </a:r>
                    </a:p>
                  </a:txBody>
                  <a:tcPr marL="64008" marR="64008" marT="27432" marB="27432" anchor="ctr">
                    <a:solidFill>
                      <a:srgbClr val="E5F5FF"/>
                    </a:solidFill>
                  </a:tcPr>
                </a:tc>
                <a:tc>
                  <a:txBody>
                    <a:bodyPr wrap="square"/>
                    <a:lstStyle/>
                    <a:p>
                      <a:r>
                        <a:rPr sz="1100" b="0">
                          <a:solidFill>
                            <a:srgbClr val="4B4B4B"/>
                          </a:solidFill>
                          <a:latin typeface="Arial"/>
                        </a:rPr>
                        <a:t>Which RI transactions and entries are in Drop 1.</a:t>
                      </a:r>
                    </a:p>
                  </a:txBody>
                  <a:tcPr marL="64008" marR="64008" marT="27432" marB="27432" anchor="ctr">
                    <a:solidFill>
                      <a:srgbClr val="E5F5FF"/>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Reinsurance: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pic>
        <p:nvPicPr>
          <p:cNvPr id="9" name="Picture 8" descr="ri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Reinsurance today (Reinsurance process flow: placement, commission collections, claims, settlement)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Reinsurance: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by e-mail</a:t>
            </a:r>
          </a:p>
          <a:p>
            <a:pPr>
              <a:spcAft>
                <a:spcPts val="100"/>
              </a:spcAft>
            </a:pPr>
            <a:r>
              <a:rPr sz="1200" b="0">
                <a:solidFill>
                  <a:srgbClr val="4B4B4B"/>
                </a:solidFill>
                <a:latin typeface="Arial"/>
              </a:rPr>
              <a:t>TSU requests and underwriting information arrive by e-mail.</a:t>
            </a:r>
          </a:p>
          <a:p>
            <a:pPr>
              <a:spcAft>
                <a:spcPts val="100"/>
              </a:spcAft>
            </a:pPr>
            <a:r>
              <a:rPr sz="1200" b="0">
                <a:solidFill>
                  <a:srgbClr val="0072D8"/>
                </a:solidFill>
                <a:latin typeface="Arial"/>
              </a:rPr>
              <a:t>RI flow p.4</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TATs tracked by memory</a:t>
            </a:r>
          </a:p>
          <a:p>
            <a:pPr>
              <a:spcAft>
                <a:spcPts val="100"/>
              </a:spcAft>
            </a:pPr>
            <a:r>
              <a:rPr sz="1200" b="0">
                <a:solidFill>
                  <a:srgbClr val="4B4B4B"/>
                </a:solidFill>
                <a:latin typeface="Arial"/>
              </a:rPr>
              <a:t>24-hour acknowledgement and 3-day slip are not measured.</a:t>
            </a:r>
          </a:p>
          <a:p>
            <a:pPr>
              <a:spcAft>
                <a:spcPts val="100"/>
              </a:spcAft>
            </a:pPr>
            <a:r>
              <a:rPr sz="1200" b="0">
                <a:solidFill>
                  <a:srgbClr val="0072D8"/>
                </a:solidFill>
                <a:latin typeface="Arial"/>
              </a:rPr>
              <a:t>RI flow p.4</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Market approached by e-mail</a:t>
            </a:r>
          </a:p>
          <a:p>
            <a:pPr>
              <a:spcAft>
                <a:spcPts val="100"/>
              </a:spcAft>
            </a:pPr>
            <a:r>
              <a:rPr sz="1200" b="0">
                <a:solidFill>
                  <a:srgbClr val="4B4B4B"/>
                </a:solidFill>
                <a:latin typeface="Arial"/>
              </a:rPr>
              <a:t>Slips, shares and terms negotiated in e-mail threads.</a:t>
            </a:r>
          </a:p>
          <a:p>
            <a:pPr>
              <a:spcAft>
                <a:spcPts val="100"/>
              </a:spcAft>
            </a:pPr>
            <a:r>
              <a:rPr sz="1200" b="0">
                <a:solidFill>
                  <a:srgbClr val="0072D8"/>
                </a:solidFill>
                <a:latin typeface="Arial"/>
              </a:rPr>
              <a:t>RI flow p.4</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Closings and debit notes by hand</a:t>
            </a:r>
          </a:p>
          <a:p>
            <a:pPr>
              <a:spcAft>
                <a:spcPts val="100"/>
              </a:spcAft>
            </a:pPr>
            <a:r>
              <a:rPr sz="1200" b="0">
                <a:solidFill>
                  <a:srgbClr val="4B4B4B"/>
                </a:solidFill>
                <a:latin typeface="Arial"/>
              </a:rPr>
              <a:t>Word documents; signed slips chased by e-mail.</a:t>
            </a:r>
          </a:p>
          <a:p>
            <a:pPr>
              <a:spcAft>
                <a:spcPts val="100"/>
              </a:spcAft>
            </a:pPr>
            <a:r>
              <a:rPr sz="1200" b="0">
                <a:solidFill>
                  <a:srgbClr val="0072D8"/>
                </a:solidFill>
                <a:latin typeface="Arial"/>
              </a:rPr>
              <a:t>RI flow p.4</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Monitoring sheet in Excel</a:t>
            </a:r>
          </a:p>
          <a:p>
            <a:pPr>
              <a:spcAft>
                <a:spcPts val="100"/>
              </a:spcAft>
            </a:pPr>
            <a:r>
              <a:rPr sz="1200" b="0">
                <a:solidFill>
                  <a:srgbClr val="4B4B4B"/>
                </a:solidFill>
                <a:latin typeface="Arial"/>
              </a:rPr>
              <a:t>Payment schedules and warranties on a shared spreadsheet.</a:t>
            </a:r>
          </a:p>
          <a:p>
            <a:pPr>
              <a:spcAft>
                <a:spcPts val="100"/>
              </a:spcAft>
            </a:pPr>
            <a:r>
              <a:rPr sz="1200" b="0">
                <a:solidFill>
                  <a:srgbClr val="0072D8"/>
                </a:solidFill>
                <a:latin typeface="Arial"/>
              </a:rPr>
              <a:t>RI flow p.1</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RI commission chased by hand</a:t>
            </a:r>
          </a:p>
          <a:p>
            <a:pPr>
              <a:spcAft>
                <a:spcPts val="100"/>
              </a:spcAft>
            </a:pPr>
            <a:r>
              <a:rPr sz="1200" b="0">
                <a:solidFill>
                  <a:srgbClr val="4B4B4B"/>
                </a:solidFill>
                <a:latin typeface="Arial"/>
              </a:rPr>
              <a:t>Commission Receivable and RI follow up reinsurers and brokers.</a:t>
            </a:r>
          </a:p>
          <a:p>
            <a:pPr>
              <a:spcAft>
                <a:spcPts val="100"/>
              </a:spcAft>
            </a:pPr>
            <a:r>
              <a:rPr sz="1200" b="0">
                <a:solidFill>
                  <a:srgbClr val="0072D8"/>
                </a:solidFill>
                <a:latin typeface="Arial"/>
              </a:rPr>
              <a:t>RI flow p.1</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Claim deadlines not tracked</a:t>
            </a:r>
          </a:p>
          <a:p>
            <a:pPr>
              <a:spcAft>
                <a:spcPts val="100"/>
              </a:spcAft>
            </a:pPr>
            <a:r>
              <a:rPr sz="1200" b="0">
                <a:solidFill>
                  <a:srgbClr val="4B4B4B"/>
                </a:solidFill>
                <a:latin typeface="Arial"/>
              </a:rPr>
              <a:t>5-day PLA, next-day RCRF, 48-hour report sharing kept by hand.</a:t>
            </a:r>
          </a:p>
          <a:p>
            <a:pPr>
              <a:spcAft>
                <a:spcPts val="100"/>
              </a:spcAft>
            </a:pPr>
            <a:r>
              <a:rPr sz="1200" b="0">
                <a:solidFill>
                  <a:srgbClr val="0072D8"/>
                </a:solidFill>
                <a:latin typeface="Arial"/>
              </a:rPr>
              <a:t>RI flow p.4</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Cash calls and settlement by hand</a:t>
            </a:r>
          </a:p>
          <a:p>
            <a:pPr>
              <a:spcAft>
                <a:spcPts val="100"/>
              </a:spcAft>
            </a:pPr>
            <a:r>
              <a:rPr sz="1200" b="0">
                <a:solidFill>
                  <a:srgbClr val="4B4B4B"/>
                </a:solidFill>
                <a:latin typeface="Arial"/>
              </a:rPr>
              <a:t>72-hour invoice, 10-day collection, 5-day remittance.</a:t>
            </a:r>
          </a:p>
          <a:p>
            <a:pPr>
              <a:spcAft>
                <a:spcPts val="100"/>
              </a:spcAft>
            </a:pPr>
            <a:r>
              <a:rPr sz="1200" b="0">
                <a:solidFill>
                  <a:srgbClr val="0072D8"/>
                </a:solidFill>
                <a:latin typeface="Arial"/>
              </a:rPr>
              <a:t>RI flow p.4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Reinsurance: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pic>
        <p:nvPicPr>
          <p:cNvPr id="9" name="Picture 8" descr="ri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Reinsurance To-Be in the RI BRD (phase 2): FRID-001 to 106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Reinsurance: how the BRD answers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by e-mail</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TSU creates the placement request; it flows to RI with the slip data (FRID-001-007)</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e-mail intake</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TATs tracked by memory</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Status changes and turnaround times logged (FRID-098); no SLA clock</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Partly: see gaps</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Market approached by e-mail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Reinsurers and brokers as contacts with shares; slips sent and answers captured (FRID-008-016)</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Communication log</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Closings and debit notes by hand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Revisions logged; signed slip to Operations; booking and entries generated (FRID-020-032)</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Entries generated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Reinsurance: how the BRD answers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Monitoring sheet in Excel</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Instalment and due-date reminders scheduled (FRID-049-054)</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sheet</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 commission chased by hand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Premium applied and matched; proof of remittance; commission scenarios (FRID-039-048)</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Tracked per account</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 deadlines not tracked</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Loss reserve per reinsurer; PLA, RCRF and FLA generated and sent (FRID-101-105)</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Templates, log</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Cash calls and settlement by hand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Cash calls, debit notes, proceeds capture and net settlement (FRID-058-094, 106)</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Entry on receipt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Reinsurance: gaps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graphicFrame>
        <p:nvGraphicFramePr>
          <p:cNvPr id="9" name="Table 8"/>
          <p:cNvGraphicFramePr>
            <a:graphicFrameLocks noGrp="1"/>
          </p:cNvGraphicFramePr>
          <p:nvPr/>
        </p:nvGraphicFramePr>
        <p:xfrm>
          <a:off x="548640" y="1280160"/>
          <a:ext cx="11094412" cy="4919470"/>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65053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RI transactions in Drop 1</a:t>
                      </a:r>
                    </a:p>
                  </a:txBody>
                  <a:tcPr marL="64008" marR="64008" marT="27432" marB="27432" anchor="ctr">
                    <a:solidFill>
                      <a:srgbClr val="FFFFFF"/>
                    </a:solidFill>
                  </a:tcPr>
                </a:tc>
                <a:tc>
                  <a:txBody>
                    <a:bodyPr wrap="square"/>
                    <a:lstStyle/>
                    <a:p>
                      <a:r>
                        <a:rPr sz="1100" b="0">
                          <a:solidFill>
                            <a:srgbClr val="4B4B4B"/>
                          </a:solidFill>
                          <a:latin typeface="Arial"/>
                        </a:rPr>
                        <a:t>Remittance handles RI transactions today.</a:t>
                      </a:r>
                    </a:p>
                  </a:txBody>
                  <a:tcPr marL="64008" marR="64008" marT="27432" marB="27432" anchor="ctr">
                    <a:solidFill>
                      <a:srgbClr val="FFFFFF"/>
                    </a:solidFill>
                  </a:tcPr>
                </a:tc>
                <a:tc>
                  <a:txBody>
                    <a:bodyPr wrap="square"/>
                    <a:lstStyle/>
                    <a:p>
                      <a:r>
                        <a:rPr sz="1100" b="0">
                          <a:solidFill>
                            <a:srgbClr val="4B4B4B"/>
                          </a:solidFill>
                          <a:latin typeface="Arial"/>
                        </a:rPr>
                        <a:t>Which transactions and entries is undefined.</a:t>
                      </a:r>
                    </a:p>
                  </a:txBody>
                  <a:tcPr marL="64008" marR="64008" marT="27432" marB="27432" anchor="ctr">
                    <a:solidFill>
                      <a:srgbClr val="FFFFFF"/>
                    </a:solidFill>
                  </a:tcPr>
                </a:tc>
                <a:tc>
                  <a:txBody>
                    <a:bodyPr wrap="square"/>
                    <a:lstStyle/>
                    <a:p>
                      <a:r>
                        <a:rPr sz="1100" b="0">
                          <a:solidFill>
                            <a:srgbClr val="4B4B4B"/>
                          </a:solidFill>
                          <a:latin typeface="Arial"/>
                        </a:rPr>
                        <a:t>List the RI transactions Remittance must support at go-live.</a:t>
                      </a:r>
                    </a:p>
                  </a:txBody>
                  <a:tcPr marL="64008" marR="64008" marT="27432" marB="27432" anchor="ctr">
                    <a:solidFill>
                      <a:srgbClr val="FFFFFF"/>
                    </a:solidFill>
                  </a:tcPr>
                </a:tc>
                <a:tc>
                  <a:txBody>
                    <a:bodyPr wrap="square"/>
                    <a:lstStyle/>
                    <a:p>
                      <a:r>
                        <a:rPr sz="1100" b="0">
                          <a:solidFill>
                            <a:srgbClr val="4B4B4B"/>
                          </a:solidFill>
                          <a:latin typeface="Arial"/>
                        </a:rPr>
                        <a:t>DCR-210; A3</a:t>
                      </a:r>
                    </a:p>
                  </a:txBody>
                  <a:tcPr marL="64008" marR="64008" marT="27432" marB="27432" anchor="ctr">
                    <a:solidFill>
                      <a:srgbClr val="FFFFFF"/>
                    </a:solidFill>
                  </a:tcPr>
                </a:tc>
              </a:tr>
              <a:tr h="65053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TSU referral in phase 1</a:t>
                      </a:r>
                    </a:p>
                  </a:txBody>
                  <a:tcPr marL="64008" marR="64008" marT="27432" marB="27432" anchor="ctr">
                    <a:solidFill>
                      <a:srgbClr val="E5F5FF"/>
                    </a:solidFill>
                  </a:tcPr>
                </a:tc>
                <a:tc>
                  <a:txBody>
                    <a:bodyPr wrap="square"/>
                    <a:lstStyle/>
                    <a:p>
                      <a:r>
                        <a:rPr sz="1100" b="0">
                          <a:solidFill>
                            <a:srgbClr val="4B4B4B"/>
                          </a:solidFill>
                          <a:latin typeface="Arial"/>
                        </a:rPr>
                        <a:t>Large or special risks go from TSU to RI.</a:t>
                      </a:r>
                    </a:p>
                  </a:txBody>
                  <a:tcPr marL="64008" marR="64008" marT="27432" marB="27432" anchor="ctr">
                    <a:solidFill>
                      <a:srgbClr val="E5F5FF"/>
                    </a:solidFill>
                  </a:tcPr>
                </a:tc>
                <a:tc>
                  <a:txBody>
                    <a:bodyPr wrap="square"/>
                    <a:lstStyle/>
                    <a:p>
                      <a:r>
                        <a:rPr sz="1100" b="0">
                          <a:solidFill>
                            <a:srgbClr val="4B4B4B"/>
                          </a:solidFill>
                          <a:latin typeface="Arial"/>
                        </a:rPr>
                        <a:t>No referral in BRD-1 or BRD-3.</a:t>
                      </a:r>
                    </a:p>
                  </a:txBody>
                  <a:tcPr marL="64008" marR="64008" marT="27432" marB="27432" anchor="ctr">
                    <a:solidFill>
                      <a:srgbClr val="E5F5FF"/>
                    </a:solidFill>
                  </a:tcPr>
                </a:tc>
                <a:tc>
                  <a:txBody>
                    <a:bodyPr wrap="square"/>
                    <a:lstStyle/>
                    <a:p>
                      <a:r>
                        <a:rPr sz="1100" b="0">
                          <a:solidFill>
                            <a:srgbClr val="4B4B4B"/>
                          </a:solidFill>
                          <a:latin typeface="Arial"/>
                        </a:rPr>
                        <a:t>A referral status on the TSU request until the module arrives.</a:t>
                      </a:r>
                    </a:p>
                  </a:txBody>
                  <a:tcPr marL="64008" marR="64008" marT="27432" marB="27432" anchor="ctr">
                    <a:solidFill>
                      <a:srgbClr val="E5F5FF"/>
                    </a:solidFill>
                  </a:tcPr>
                </a:tc>
                <a:tc>
                  <a:txBody>
                    <a:bodyPr wrap="square"/>
                    <a:lstStyle/>
                    <a:p>
                      <a:r>
                        <a:rPr sz="1100" b="0">
                          <a:solidFill>
                            <a:srgbClr val="4B4B4B"/>
                          </a:solidFill>
                          <a:latin typeface="Arial"/>
                        </a:rPr>
                        <a:t>TSU flow</a:t>
                      </a:r>
                    </a:p>
                  </a:txBody>
                  <a:tcPr marL="64008" marR="64008" marT="27432" marB="27432" anchor="ctr">
                    <a:solidFill>
                      <a:srgbClr val="E5F5FF"/>
                    </a:solidFill>
                  </a:tcPr>
                </a:tc>
              </a:tr>
              <a:tr h="65053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Turnaround clocks</a:t>
                      </a:r>
                    </a:p>
                  </a:txBody>
                  <a:tcPr marL="64008" marR="64008" marT="27432" marB="27432" anchor="ctr">
                    <a:solidFill>
                      <a:srgbClr val="FFFFFF"/>
                    </a:solidFill>
                  </a:tcPr>
                </a:tc>
                <a:tc>
                  <a:txBody>
                    <a:bodyPr wrap="square"/>
                    <a:lstStyle/>
                    <a:p>
                      <a:r>
                        <a:rPr sz="1100" b="0">
                          <a:solidFill>
                            <a:srgbClr val="4B4B4B"/>
                          </a:solidFill>
                          <a:latin typeface="Arial"/>
                        </a:rPr>
                        <a:t>24 h, 3 days, 48 h, 72 h, 10 days, 5 days.</a:t>
                      </a:r>
                    </a:p>
                  </a:txBody>
                  <a:tcPr marL="64008" marR="64008" marT="27432" marB="27432" anchor="ctr">
                    <a:solidFill>
                      <a:srgbClr val="FFFFFF"/>
                    </a:solidFill>
                  </a:tcPr>
                </a:tc>
                <a:tc>
                  <a:txBody>
                    <a:bodyPr wrap="square"/>
                    <a:lstStyle/>
                    <a:p>
                      <a:r>
                        <a:rPr sz="1100" b="0">
                          <a:solidFill>
                            <a:srgbClr val="4B4B4B"/>
                          </a:solidFill>
                          <a:latin typeface="Arial"/>
                        </a:rPr>
                        <a:t>Turnaround logged, no SLA clocks or alerts.</a:t>
                      </a:r>
                    </a:p>
                  </a:txBody>
                  <a:tcPr marL="64008" marR="64008" marT="27432" marB="27432" anchor="ctr">
                    <a:solidFill>
                      <a:srgbClr val="FFFFFF"/>
                    </a:solidFill>
                  </a:tcPr>
                </a:tc>
                <a:tc>
                  <a:txBody>
                    <a:bodyPr wrap="square"/>
                    <a:lstStyle/>
                    <a:p>
                      <a:r>
                        <a:rPr sz="1100" b="0">
                          <a:solidFill>
                            <a:srgbClr val="4B4B4B"/>
                          </a:solidFill>
                          <a:latin typeface="Arial"/>
                        </a:rPr>
                        <a:t>SLA clocks with alerts on each deadline.</a:t>
                      </a:r>
                    </a:p>
                  </a:txBody>
                  <a:tcPr marL="64008" marR="64008" marT="27432" marB="27432" anchor="ctr">
                    <a:solidFill>
                      <a:srgbClr val="FFFFFF"/>
                    </a:solidFill>
                  </a:tcPr>
                </a:tc>
                <a:tc>
                  <a:txBody>
                    <a:bodyPr wrap="square"/>
                    <a:lstStyle/>
                    <a:p>
                      <a:r>
                        <a:rPr sz="1100" b="0">
                          <a:solidFill>
                            <a:srgbClr val="4B4B4B"/>
                          </a:solidFill>
                          <a:latin typeface="Arial"/>
                        </a:rPr>
                        <a:t>RI flow; FRID-098</a:t>
                      </a:r>
                    </a:p>
                  </a:txBody>
                  <a:tcPr marL="64008" marR="64008" marT="27432" marB="27432" anchor="ctr">
                    <a:solidFill>
                      <a:srgbClr val="FFFFFF"/>
                    </a:solidFill>
                  </a:tcPr>
                </a:tc>
              </a:tr>
              <a:tr h="65053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RI commission follow-up</a:t>
                      </a:r>
                    </a:p>
                  </a:txBody>
                  <a:tcPr marL="64008" marR="64008" marT="27432" marB="27432" anchor="ctr">
                    <a:solidFill>
                      <a:srgbClr val="E5F5FF"/>
                    </a:solidFill>
                  </a:tcPr>
                </a:tc>
                <a:tc>
                  <a:txBody>
                    <a:bodyPr wrap="square"/>
                    <a:lstStyle/>
                    <a:p>
                      <a:r>
                        <a:rPr sz="1100" b="0">
                          <a:solidFill>
                            <a:srgbClr val="4B4B4B"/>
                          </a:solidFill>
                          <a:latin typeface="Arial"/>
                        </a:rPr>
                        <a:t>Monitoring sheet with the Commission Receivable Unit.</a:t>
                      </a:r>
                    </a:p>
                  </a:txBody>
                  <a:tcPr marL="64008" marR="64008" marT="27432" marB="27432" anchor="ctr">
                    <a:solidFill>
                      <a:srgbClr val="E5F5FF"/>
                    </a:solidFill>
                  </a:tcPr>
                </a:tc>
                <a:tc>
                  <a:txBody>
                    <a:bodyPr wrap="square"/>
                    <a:lstStyle/>
                    <a:p>
                      <a:r>
                        <a:rPr sz="1100" b="0">
                          <a:solidFill>
                            <a:srgbClr val="4B4B4B"/>
                          </a:solidFill>
                          <a:latin typeface="Arial"/>
                        </a:rPr>
                        <a:t>Commission scenarios; follow-up owner not stated.</a:t>
                      </a:r>
                    </a:p>
                  </a:txBody>
                  <a:tcPr marL="64008" marR="64008" marT="27432" marB="27432" anchor="ctr">
                    <a:solidFill>
                      <a:srgbClr val="E5F5FF"/>
                    </a:solidFill>
                  </a:tcPr>
                </a:tc>
                <a:tc>
                  <a:txBody>
                    <a:bodyPr wrap="square"/>
                    <a:lstStyle/>
                    <a:p>
                      <a:r>
                        <a:rPr sz="1100" b="0">
                          <a:solidFill>
                            <a:srgbClr val="4B4B4B"/>
                          </a:solidFill>
                          <a:latin typeface="Arial"/>
                        </a:rPr>
                        <a:t>RI commission receivable on the same worklist as direct commission.</a:t>
                      </a:r>
                    </a:p>
                  </a:txBody>
                  <a:tcPr marL="64008" marR="64008" marT="27432" marB="27432" anchor="ctr">
                    <a:solidFill>
                      <a:srgbClr val="E5F5FF"/>
                    </a:solidFill>
                  </a:tcPr>
                </a:tc>
                <a:tc>
                  <a:txBody>
                    <a:bodyPr wrap="square"/>
                    <a:lstStyle/>
                    <a:p>
                      <a:r>
                        <a:rPr sz="1100" b="0">
                          <a:solidFill>
                            <a:srgbClr val="4B4B4B"/>
                          </a:solidFill>
                          <a:latin typeface="Arial"/>
                        </a:rPr>
                        <a:t>RI flow p.1; FRID-042</a:t>
                      </a:r>
                    </a:p>
                  </a:txBody>
                  <a:tcPr marL="64008" marR="64008" marT="27432" marB="27432" anchor="ctr">
                    <a:solidFill>
                      <a:srgbClr val="E5F5FF"/>
                    </a:solidFill>
                  </a:tcPr>
                </a:tc>
              </a:tr>
              <a:tr h="65053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Warranty breaches and extensions</a:t>
                      </a:r>
                    </a:p>
                  </a:txBody>
                  <a:tcPr marL="64008" marR="64008" marT="27432" marB="27432" anchor="ctr">
                    <a:solidFill>
                      <a:srgbClr val="FFFFFF"/>
                    </a:solidFill>
                  </a:tcPr>
                </a:tc>
                <a:tc>
                  <a:txBody>
                    <a:bodyPr wrap="square"/>
                    <a:lstStyle/>
                    <a:p>
                      <a:r>
                        <a:rPr sz="1100" b="0">
                          <a:solidFill>
                            <a:srgbClr val="4B4B4B"/>
                          </a:solidFill>
                          <a:latin typeface="Arial"/>
                        </a:rPr>
                        <a:t>Extensions escalated to the RI Unit Head.</a:t>
                      </a:r>
                    </a:p>
                  </a:txBody>
                  <a:tcPr marL="64008" marR="64008" marT="27432" marB="27432" anchor="ctr">
                    <a:solidFill>
                      <a:srgbClr val="FFFFFF"/>
                    </a:solidFill>
                  </a:tcPr>
                </a:tc>
                <a:tc>
                  <a:txBody>
                    <a:bodyPr wrap="square"/>
                    <a:lstStyle/>
                    <a:p>
                      <a:r>
                        <a:rPr sz="1100" b="0">
                          <a:solidFill>
                            <a:srgbClr val="4B4B4B"/>
                          </a:solidFill>
                          <a:latin typeface="Arial"/>
                        </a:rPr>
                        <a:t>Reminders only.</a:t>
                      </a:r>
                    </a:p>
                  </a:txBody>
                  <a:tcPr marL="64008" marR="64008" marT="27432" marB="27432" anchor="ctr">
                    <a:solidFill>
                      <a:srgbClr val="FFFFFF"/>
                    </a:solidFill>
                  </a:tcPr>
                </a:tc>
                <a:tc>
                  <a:txBody>
                    <a:bodyPr wrap="square"/>
                    <a:lstStyle/>
                    <a:p>
                      <a:r>
                        <a:rPr sz="1100" b="0">
                          <a:solidFill>
                            <a:srgbClr val="4B4B4B"/>
                          </a:solidFill>
                          <a:latin typeface="Arial"/>
                        </a:rPr>
                        <a:t>Warranty breach alert and an extension approval.</a:t>
                      </a:r>
                    </a:p>
                  </a:txBody>
                  <a:tcPr marL="64008" marR="64008" marT="27432" marB="27432" anchor="ctr">
                    <a:solidFill>
                      <a:srgbClr val="FFFFFF"/>
                    </a:solidFill>
                  </a:tcPr>
                </a:tc>
                <a:tc>
                  <a:txBody>
                    <a:bodyPr wrap="square"/>
                    <a:lstStyle/>
                    <a:p>
                      <a:r>
                        <a:rPr sz="1100" b="0">
                          <a:solidFill>
                            <a:srgbClr val="4B4B4B"/>
                          </a:solidFill>
                          <a:latin typeface="Arial"/>
                        </a:rPr>
                        <a:t>RI flow p.1</a:t>
                      </a:r>
                    </a:p>
                  </a:txBody>
                  <a:tcPr marL="64008" marR="64008" marT="27432" marB="27432" anchor="ctr">
                    <a:solidFill>
                      <a:srgbClr val="FFFFFF"/>
                    </a:solidFill>
                  </a:tcPr>
                </a:tc>
              </a:tr>
              <a:tr h="65053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Reinsurer security</a:t>
                      </a:r>
                    </a:p>
                  </a:txBody>
                  <a:tcPr marL="64008" marR="64008" marT="27432" marB="27432" anchor="ctr">
                    <a:solidFill>
                      <a:srgbClr val="E5F5FF"/>
                    </a:solidFill>
                  </a:tcPr>
                </a:tc>
                <a:tc>
                  <a:txBody>
                    <a:bodyPr wrap="square"/>
                    <a:lstStyle/>
                    <a:p>
                      <a:r>
                        <a:rPr sz="1100" b="0">
                          <a:solidFill>
                            <a:srgbClr val="4B4B4B"/>
                          </a:solidFill>
                          <a:latin typeface="Arial"/>
                        </a:rPr>
                        <a:t>Reinsurers chosen per slip.</a:t>
                      </a:r>
                    </a:p>
                  </a:txBody>
                  <a:tcPr marL="64008" marR="64008" marT="27432" marB="27432" anchor="ctr">
                    <a:solidFill>
                      <a:srgbClr val="E5F5FF"/>
                    </a:solidFill>
                  </a:tcPr>
                </a:tc>
                <a:tc>
                  <a:txBody>
                    <a:bodyPr wrap="square"/>
                    <a:lstStyle/>
                    <a:p>
                      <a:r>
                        <a:rPr sz="1100" b="0">
                          <a:solidFill>
                            <a:srgbClr val="4B4B4B"/>
                          </a:solidFill>
                          <a:latin typeface="Arial"/>
                        </a:rPr>
                        <a:t>Contacts and shares only.</a:t>
                      </a:r>
                    </a:p>
                  </a:txBody>
                  <a:tcPr marL="64008" marR="64008" marT="27432" marB="27432" anchor="ctr">
                    <a:solidFill>
                      <a:srgbClr val="E5F5FF"/>
                    </a:solidFill>
                  </a:tcPr>
                </a:tc>
                <a:tc>
                  <a:txBody>
                    <a:bodyPr wrap="square"/>
                    <a:lstStyle/>
                    <a:p>
                      <a:r>
                        <a:rPr sz="1100" b="0">
                          <a:solidFill>
                            <a:srgbClr val="4B4B4B"/>
                          </a:solidFill>
                          <a:latin typeface="Arial"/>
                        </a:rPr>
                        <a:t>Reinsurer register with rating and accreditation.</a:t>
                      </a:r>
                    </a:p>
                  </a:txBody>
                  <a:tcPr marL="64008" marR="64008" marT="27432" marB="27432" anchor="ctr">
                    <a:solidFill>
                      <a:srgbClr val="E5F5FF"/>
                    </a:solidFill>
                  </a:tcPr>
                </a:tc>
                <a:tc>
                  <a:txBody>
                    <a:bodyPr wrap="square"/>
                    <a:lstStyle/>
                    <a:p>
                      <a:r>
                        <a:rPr sz="1100" b="0">
                          <a:solidFill>
                            <a:srgbClr val="4B4B4B"/>
                          </a:solidFill>
                          <a:latin typeface="Arial"/>
                        </a:rPr>
                        <a:t>CORE-15</a:t>
                      </a:r>
                    </a:p>
                  </a:txBody>
                  <a:tcPr marL="64008" marR="64008" marT="27432" marB="27432" anchor="ctr">
                    <a:solidFill>
                      <a:srgbClr val="E5F5FF"/>
                    </a:solidFill>
                  </a:tcPr>
                </a:tc>
              </a:tr>
              <a:tr h="65053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RI reports</a:t>
                      </a:r>
                    </a:p>
                  </a:txBody>
                  <a:tcPr marL="64008" marR="64008" marT="27432" marB="27432" anchor="ctr">
                    <a:solidFill>
                      <a:srgbClr val="FFFFFF"/>
                    </a:solidFill>
                  </a:tcPr>
                </a:tc>
                <a:tc>
                  <a:txBody>
                    <a:bodyPr wrap="square"/>
                    <a:lstStyle/>
                    <a:p>
                      <a:r>
                        <a:rPr sz="1100" b="0">
                          <a:solidFill>
                            <a:srgbClr val="4B4B4B"/>
                          </a:solidFill>
                          <a:latin typeface="Arial"/>
                        </a:rPr>
                        <a:t>Four RI reports in the Report List.</a:t>
                      </a:r>
                    </a:p>
                  </a:txBody>
                  <a:tcPr marL="64008" marR="64008" marT="27432" marB="27432" anchor="ctr">
                    <a:solidFill>
                      <a:srgbClr val="FFFFFF"/>
                    </a:solidFill>
                  </a:tcPr>
                </a:tc>
                <a:tc>
                  <a:txBody>
                    <a:bodyPr wrap="square"/>
                    <a:lstStyle/>
                    <a:p>
                      <a:r>
                        <a:rPr sz="1100" b="0">
                          <a:solidFill>
                            <a:srgbClr val="4B4B4B"/>
                          </a:solidFill>
                          <a:latin typeface="Arial"/>
                        </a:rPr>
                        <a:t>Generic reporting (FRID-095).</a:t>
                      </a:r>
                    </a:p>
                  </a:txBody>
                  <a:tcPr marL="64008" marR="64008" marT="27432" marB="27432" anchor="ctr">
                    <a:solidFill>
                      <a:srgbClr val="FFFFFF"/>
                    </a:solidFill>
                  </a:tcPr>
                </a:tc>
                <a:tc>
                  <a:txBody>
                    <a:bodyPr wrap="square"/>
                    <a:lstStyle/>
                    <a:p>
                      <a:r>
                        <a:rPr sz="1100" b="0">
                          <a:solidFill>
                            <a:srgbClr val="4B4B4B"/>
                          </a:solidFill>
                          <a:latin typeface="Arial"/>
                        </a:rPr>
                        <a:t>Specify the four reports (#112-115).</a:t>
                      </a:r>
                    </a:p>
                  </a:txBody>
                  <a:tcPr marL="64008" marR="64008" marT="27432" marB="27432" anchor="ctr">
                    <a:solidFill>
                      <a:srgbClr val="FFFFFF"/>
                    </a:solidFill>
                  </a:tcPr>
                </a:tc>
                <a:tc>
                  <a:txBody>
                    <a:bodyPr wrap="square"/>
                    <a:lstStyle/>
                    <a:p>
                      <a:r>
                        <a:rPr sz="1100" b="0">
                          <a:solidFill>
                            <a:srgbClr val="4B4B4B"/>
                          </a:solidFill>
                          <a:latin typeface="Arial"/>
                        </a:rPr>
                        <a:t>Report List #112-115</a:t>
                      </a:r>
                    </a:p>
                  </a:txBody>
                  <a:tcPr marL="64008" marR="64008" marT="27432" marB="27432" anchor="ctr">
                    <a:solidFill>
                      <a:srgbClr val="FFFFFF"/>
                    </a:solidFill>
                  </a:tcPr>
                </a:tc>
              </a:tr>
            </a:tbl>
          </a:graphicData>
        </a:graphic>
      </p:graphicFrame>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Reinsurance: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Structured RI placement</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Control of shares</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Lines, shares, signing-down and the order placed held per slip; the total always adds to 100%.</a:t>
            </a:r>
          </a:p>
          <a:p>
            <a:pPr>
              <a:spcAft>
                <a:spcPts val="400"/>
              </a:spcAft>
            </a:pPr>
            <a:r>
              <a:rPr sz="1200" b="1">
                <a:solidFill>
                  <a:srgbClr val="004EA8"/>
                </a:solidFill>
                <a:latin typeface="Arial"/>
              </a:rPr>
              <a:t>For BDOI: </a:t>
            </a:r>
            <a:r>
              <a:rPr sz="1200" b="0">
                <a:solidFill>
                  <a:srgbClr val="4B4B4B"/>
                </a:solidFill>
                <a:latin typeface="Arial"/>
              </a:rPr>
              <a:t>Specify share and signing rules in the phase-2 design.</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Reinsurer security register</a:t>
            </a:r>
          </a:p>
        </p:txBody>
      </p:sp>
      <p:sp>
        <p:nvSpPr>
          <p:cNvPr id="18" name="Rounded Rectangle 17"/>
          <p:cNvSpPr/>
          <p:nvPr/>
        </p:nvSpPr>
        <p:spPr>
          <a:xfrm>
            <a:off x="4393082" y="1920240"/>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Counterparty risk</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Rating, Insurance Commission accreditation and limits per reinsurer, checked at placement.</a:t>
            </a:r>
          </a:p>
          <a:p>
            <a:pPr>
              <a:spcAft>
                <a:spcPts val="400"/>
              </a:spcAft>
            </a:pPr>
            <a:r>
              <a:rPr sz="1200" b="1">
                <a:solidFill>
                  <a:srgbClr val="004EA8"/>
                </a:solidFill>
                <a:latin typeface="Arial"/>
              </a:rPr>
              <a:t>For BDOI: </a:t>
            </a:r>
            <a:r>
              <a:rPr sz="1200" b="0">
                <a:solidFill>
                  <a:srgbClr val="4B4B4B"/>
                </a:solidFill>
                <a:latin typeface="Arial"/>
              </a:rPr>
              <a:t>Add to the insurer register.</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Bordereaux automation</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Less re-keying</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Premium and claims bordereaux generated and reconciled per reinsurer.</a:t>
            </a:r>
          </a:p>
          <a:p>
            <a:pPr>
              <a:spcAft>
                <a:spcPts val="400"/>
              </a:spcAft>
            </a:pPr>
            <a:r>
              <a:rPr sz="1200" b="1">
                <a:solidFill>
                  <a:srgbClr val="004EA8"/>
                </a:solidFill>
                <a:latin typeface="Arial"/>
              </a:rPr>
              <a:t>For BDOI: </a:t>
            </a:r>
            <a:r>
              <a:rPr sz="1200" b="0">
                <a:solidFill>
                  <a:srgbClr val="4B4B4B"/>
                </a:solidFill>
                <a:latin typeface="Arial"/>
              </a:rPr>
              <a:t>Extend the SOA to bordereaux.</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SLA tracker for claims and cash calls</a:t>
            </a:r>
          </a:p>
        </p:txBody>
      </p:sp>
      <p:sp>
        <p:nvSpPr>
          <p:cNvPr id="30" name="Rounded Rectangle 29"/>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recoveries</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Clocks on PLA, reports, invoices, collection and remittance, with escalation.</a:t>
            </a:r>
          </a:p>
          <a:p>
            <a:pPr>
              <a:spcAft>
                <a:spcPts val="400"/>
              </a:spcAft>
            </a:pPr>
            <a:r>
              <a:rPr sz="1200" b="1">
                <a:solidFill>
                  <a:srgbClr val="004EA8"/>
                </a:solidFill>
                <a:latin typeface="Arial"/>
              </a:rPr>
              <a:t>For BDOI: </a:t>
            </a:r>
            <a:r>
              <a:rPr sz="1200" b="0">
                <a:solidFill>
                  <a:srgbClr val="4B4B4B"/>
                </a:solidFill>
                <a:latin typeface="Arial"/>
              </a:rPr>
              <a:t>Use the TATs of the flow as the SLA values.</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Payment warranty monitor</a:t>
            </a:r>
          </a:p>
        </p:txBody>
      </p:sp>
      <p:sp>
        <p:nvSpPr>
          <p:cNvPr id="36" name="Rounded Rectangle 35"/>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Avoids cover disputes</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Premium payment warranties tracked with alerts before breach.</a:t>
            </a:r>
          </a:p>
          <a:p>
            <a:pPr>
              <a:spcAft>
                <a:spcPts val="400"/>
              </a:spcAft>
            </a:pPr>
            <a:r>
              <a:rPr sz="1200" b="1">
                <a:solidFill>
                  <a:srgbClr val="004EA8"/>
                </a:solidFill>
                <a:latin typeface="Arial"/>
              </a:rPr>
              <a:t>For BDOI: </a:t>
            </a:r>
            <a:r>
              <a:rPr sz="1200" b="0">
                <a:solidFill>
                  <a:srgbClr val="4B4B4B"/>
                </a:solidFill>
                <a:latin typeface="Arial"/>
              </a:rPr>
              <a:t>Build on FRID-049-054.</a:t>
            </a:r>
          </a:p>
        </p:txBody>
      </p:sp>
      <p:sp>
        <p:nvSpPr>
          <p:cNvPr id="39" name="Rounded Rectangle 38"/>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Net settlement with reinsurers</a:t>
            </a:r>
          </a:p>
        </p:txBody>
      </p:sp>
      <p:sp>
        <p:nvSpPr>
          <p:cNvPr id="42" name="Rounded Rectangle 41"/>
          <p:cNvSpPr/>
          <p:nvPr/>
        </p:nvSpPr>
        <p:spPr>
          <a:xfrm>
            <a:off x="8146084"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In the BRD</a:t>
            </a:r>
          </a:p>
        </p:txBody>
      </p:sp>
      <p:sp>
        <p:nvSpPr>
          <p:cNvPr id="43" name="TextBox 42"/>
          <p:cNvSpPr txBox="1"/>
          <p:nvPr/>
        </p:nvSpPr>
        <p:spPr>
          <a:xfrm>
            <a:off x="9837724"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payments</a:t>
            </a:r>
          </a:p>
        </p:txBody>
      </p:sp>
      <p:sp>
        <p:nvSpPr>
          <p:cNvPr id="44" name="TextBox 43"/>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Premium, commission and claims netted per reinsurer and period.</a:t>
            </a:r>
          </a:p>
          <a:p>
            <a:pPr>
              <a:spcAft>
                <a:spcPts val="400"/>
              </a:spcAft>
            </a:pPr>
            <a:r>
              <a:rPr sz="1200" b="1">
                <a:solidFill>
                  <a:srgbClr val="004EA8"/>
                </a:solidFill>
                <a:latin typeface="Arial"/>
              </a:rPr>
              <a:t>For BDOI: </a:t>
            </a:r>
            <a:r>
              <a:rPr sz="1200" b="0">
                <a:solidFill>
                  <a:srgbClr val="4B4B4B"/>
                </a:solidFill>
                <a:latin typeface="Arial"/>
              </a:rPr>
              <a:t>Agree netting rules with Comptrollership (FRID-106).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C</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Operations</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The money after booking: cashiering, remittance, adjustments, commission, reconciliation, collections</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7.  </a:t>
            </a:r>
            <a:r>
              <a:rPr sz="1500" b="1">
                <a:solidFill>
                  <a:srgbClr val="FFFFFF"/>
                </a:solidFill>
                <a:latin typeface="Arial"/>
              </a:rPr>
              <a:t>Operations</a:t>
            </a:r>
            <a:r>
              <a:rPr sz="1500" b="0">
                <a:solidFill>
                  <a:srgbClr val="99C1E7"/>
                </a:solidFill>
                <a:latin typeface="Arial"/>
              </a:rPr>
              <a:t>   BRD-2</a:t>
            </a:r>
          </a:p>
        </p:txBody>
      </p:sp>
      <p:sp>
        <p:nvSpPr>
          <p:cNvPr id="8" name="TextBox 7"/>
          <p:cNvSpPr txBox="1"/>
          <p:nvPr/>
        </p:nvSpPr>
        <p:spPr>
          <a:xfrm>
            <a:off x="548640" y="4361687"/>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8.  </a:t>
            </a:r>
            <a:r>
              <a:rPr sz="1500" b="1">
                <a:solidFill>
                  <a:srgbClr val="FFFFFF"/>
                </a:solidFill>
                <a:latin typeface="Arial"/>
              </a:rPr>
              <a:t>Collections</a:t>
            </a:r>
            <a:r>
              <a:rPr sz="1500" b="0">
                <a:solidFill>
                  <a:srgbClr val="99C1E7"/>
                </a:solidFill>
                <a:latin typeface="Arial"/>
              </a:rPr>
              <a:t>   BRD-4</a:t>
            </a:r>
          </a:p>
        </p:txBody>
      </p:sp>
      <p:sp>
        <p:nvSpPr>
          <p:cNvPr id="9" name="TextBox 8"/>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Business Process Reverse KT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Operations (Financial Transactions and Processing)</a:t>
            </a:r>
          </a:p>
          <a:p>
            <a:pPr>
              <a:spcAft>
                <a:spcPts val="300"/>
              </a:spcAft>
            </a:pPr>
            <a:r>
              <a:rPr sz="1200" b="0">
                <a:solidFill>
                  <a:srgbClr val="004EA8"/>
                </a:solidFill>
                <a:latin typeface="Arial"/>
              </a:rPr>
              <a:t>•  </a:t>
            </a:r>
            <a:r>
              <a:rPr sz="1200" b="0">
                <a:solidFill>
                  <a:srgbClr val="4B4B4B"/>
                </a:solidFill>
                <a:latin typeface="Arial"/>
              </a:rPr>
              <a:t>Cashiers at head office (11) and branches (5); Cashiering TL / TH</a:t>
            </a:r>
          </a:p>
          <a:p>
            <a:pPr>
              <a:spcAft>
                <a:spcPts val="300"/>
              </a:spcAft>
            </a:pPr>
            <a:r>
              <a:rPr sz="1200" b="0">
                <a:solidFill>
                  <a:srgbClr val="004EA8"/>
                </a:solidFill>
                <a:latin typeface="Arial"/>
              </a:rPr>
              <a:t>•  </a:t>
            </a:r>
            <a:r>
              <a:rPr sz="1200" b="0">
                <a:solidFill>
                  <a:srgbClr val="4B4B4B"/>
                </a:solidFill>
                <a:latin typeface="Arial"/>
              </a:rPr>
              <a:t>Remittance Processor (4) and TL / TH</a:t>
            </a:r>
          </a:p>
          <a:p>
            <a:pPr>
              <a:spcAft>
                <a:spcPts val="300"/>
              </a:spcAft>
            </a:pPr>
            <a:r>
              <a:rPr sz="1200" b="0">
                <a:solidFill>
                  <a:srgbClr val="004EA8"/>
                </a:solidFill>
                <a:latin typeface="Arial"/>
              </a:rPr>
              <a:t>•  </a:t>
            </a:r>
            <a:r>
              <a:rPr sz="1200" b="0">
                <a:solidFill>
                  <a:srgbClr val="4B4B4B"/>
                </a:solidFill>
                <a:latin typeface="Arial"/>
              </a:rPr>
              <a:t>Adjustment / Collateral Release Processor (6) and TL / TH (checker-poster)</a:t>
            </a:r>
          </a:p>
          <a:p>
            <a:pPr>
              <a:spcAft>
                <a:spcPts val="300"/>
              </a:spcAft>
            </a:pPr>
            <a:r>
              <a:rPr sz="1200" b="0">
                <a:solidFill>
                  <a:srgbClr val="004EA8"/>
                </a:solidFill>
                <a:latin typeface="Arial"/>
              </a:rPr>
              <a:t>•  </a:t>
            </a:r>
            <a:r>
              <a:rPr sz="1200" b="0">
                <a:solidFill>
                  <a:srgbClr val="4B4B4B"/>
                </a:solidFill>
                <a:latin typeface="Arial"/>
              </a:rPr>
              <a:t>Production Reconciliation Handler (4); CRU (Commission Receivable Unit)</a:t>
            </a:r>
          </a:p>
          <a:p>
            <a:pPr>
              <a:spcAft>
                <a:spcPts val="300"/>
              </a:spcAft>
            </a:pPr>
            <a:r>
              <a:rPr sz="1200" b="0">
                <a:solidFill>
                  <a:srgbClr val="004EA8"/>
                </a:solidFill>
                <a:latin typeface="Arial"/>
              </a:rPr>
              <a:t>•  </a:t>
            </a:r>
            <a:r>
              <a:rPr sz="1200" b="0">
                <a:solidFill>
                  <a:srgbClr val="4B4B4B"/>
                </a:solidFill>
                <a:latin typeface="Arial"/>
              </a:rPr>
              <a:t>IT (monthly extracts, reversal files, Autopay)</a:t>
            </a:r>
          </a:p>
          <a:p>
            <a:pPr>
              <a:spcAft>
                <a:spcPts val="300"/>
              </a:spcAft>
            </a:pPr>
            <a:r>
              <a:rPr sz="1200" b="0">
                <a:solidFill>
                  <a:srgbClr val="004EA8"/>
                </a:solidFill>
                <a:latin typeface="Arial"/>
              </a:rPr>
              <a:t>•  </a:t>
            </a:r>
            <a:r>
              <a:rPr sz="1200" b="0">
                <a:solidFill>
                  <a:srgbClr val="4B4B4B"/>
                </a:solidFill>
                <a:latin typeface="Arial"/>
              </a:rPr>
              <a:t>Marketing, Comptrollership, Disbursement (hand-offs)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~55</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partners, each settled and reconciled separately (OV-01)</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20-30K</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production lines per insurer a month to reconcile (Day 1 p.24)</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~2,000</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records in one bulk payment file (CA-05)</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4 days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check hold before a payment is applied (Cashiering flow)</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23-Sep-2026, 1:00-5:00 pm, 44F; discovery 21 and 23-Sep-2026</a:t>
            </a:r>
          </a:p>
          <a:p>
            <a:pPr>
              <a:spcAft>
                <a:spcPts val="400"/>
              </a:spcAft>
            </a:pPr>
            <a:r>
              <a:rPr sz="1100" b="1">
                <a:solidFill>
                  <a:srgbClr val="004EA8"/>
                </a:solidFill>
                <a:latin typeface="Arial"/>
              </a:rPr>
              <a:t>Process owners: </a:t>
            </a:r>
            <a:r>
              <a:rPr sz="1100" b="0">
                <a:solidFill>
                  <a:srgbClr val="4B4B4B"/>
                </a:solidFill>
                <a:latin typeface="Arial"/>
              </a:rPr>
              <a:t>Perjelyn Joy Gutierrez, Shirley Catapang, Ronna Marie Go, Aimee Medina, Renque Galos, Carolyn Pasia Baloto, Joy Ebuenga, Mark Andrew Francisco</a:t>
            </a:r>
          </a:p>
          <a:p>
            <a:pPr>
              <a:spcAft>
                <a:spcPts val="400"/>
              </a:spcAft>
            </a:pPr>
            <a:r>
              <a:rPr sz="1100" b="0">
                <a:solidFill>
                  <a:srgbClr val="004EA8"/>
                </a:solidFill>
                <a:latin typeface="Arial"/>
              </a:rPr>
              <a:t>•  </a:t>
            </a:r>
            <a:r>
              <a:rPr sz="1100" b="0">
                <a:solidFill>
                  <a:srgbClr val="4B4B4B"/>
                </a:solidFill>
                <a:latin typeface="Arial"/>
              </a:rPr>
              <a:t>High-level Operations process flow (Cashiering, Remittance, Adjustment, Commission receivables, Production recon, DPPR / PR2307 reversal, Invoicing)</a:t>
            </a:r>
          </a:p>
          <a:p>
            <a:pPr>
              <a:spcAft>
                <a:spcPts val="400"/>
              </a:spcAft>
            </a:pPr>
            <a:r>
              <a:rPr sz="1100" b="0">
                <a:solidFill>
                  <a:srgbClr val="004EA8"/>
                </a:solidFill>
                <a:latin typeface="Arial"/>
              </a:rPr>
              <a:t>•  </a:t>
            </a:r>
            <a:r>
              <a:rPr sz="1100" b="0">
                <a:solidFill>
                  <a:srgbClr val="4B4B4B"/>
                </a:solidFill>
                <a:latin typeface="Arial"/>
              </a:rPr>
              <a:t>BDOI Day 1 overview p.20-25</a:t>
            </a:r>
          </a:p>
          <a:p>
            <a:pPr>
              <a:spcAft>
                <a:spcPts val="400"/>
              </a:spcAft>
            </a:pPr>
            <a:r>
              <a:rPr sz="1100" b="0">
                <a:solidFill>
                  <a:srgbClr val="004EA8"/>
                </a:solidFill>
                <a:latin typeface="Arial"/>
              </a:rPr>
              <a:t>•  </a:t>
            </a:r>
            <a:r>
              <a:rPr sz="1100" b="0">
                <a:solidFill>
                  <a:srgbClr val="4B4B4B"/>
                </a:solidFill>
                <a:latin typeface="Arial"/>
              </a:rPr>
              <a:t>BRD-2 p.10-13; CSHID, RMTID, PRCID, ADJID, CMRID, MKTID, DBMID</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Payment files</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Checks</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Split and apply</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Receipts</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Remittance</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Disbursement</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Insurer OR</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Reconciliation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what we heard on the floor (1/3)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graphicFrame>
        <p:nvGraphicFramePr>
          <p:cNvPr id="9" name="Table 8"/>
          <p:cNvGraphicFramePr>
            <a:graphicFrameLocks noGrp="1"/>
          </p:cNvGraphicFramePr>
          <p:nvPr/>
        </p:nvGraphicFramePr>
        <p:xfrm>
          <a:off x="548640" y="1280160"/>
          <a:ext cx="11094412" cy="448056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OV-03</a:t>
                      </a:r>
                    </a:p>
                  </a:txBody>
                  <a:tcPr marL="64008" marR="64008" marT="27432" marB="27432" anchor="ctr">
                    <a:solidFill>
                      <a:srgbClr val="FFFFFF"/>
                    </a:solidFill>
                  </a:tcPr>
                </a:tc>
                <a:tc>
                  <a:txBody>
                    <a:bodyPr wrap="square"/>
                    <a:lstStyle/>
                    <a:p>
                      <a:r>
                        <a:rPr sz="1100" b="0">
                          <a:solidFill>
                            <a:srgbClr val="4B4B4B"/>
                          </a:solidFill>
                          <a:latin typeface="Arial"/>
                        </a:rPr>
                        <a:t>Three references</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One transaction carries three numbers: ISYS invoice no., QPS reference and EBIX reference, plus the payment reference. QPS holds all three.</a:t>
                      </a:r>
                    </a:p>
                  </a:txBody>
                  <a:tcPr marL="64008" marR="64008" marT="27432" marB="27432" anchor="ctr">
                    <a:solidFill>
                      <a:srgbClr val="FFFFFF"/>
                    </a:solidFill>
                  </a:tcPr>
                </a:tc>
                <a:tc>
                  <a:txBody>
                    <a:bodyPr wrap="square"/>
                    <a:lstStyle/>
                    <a:p>
                      <a:r>
                        <a:rPr sz="1100" b="0">
                          <a:solidFill>
                            <a:srgbClr val="4B4B4B"/>
                          </a:solidFill>
                          <a:latin typeface="Arial"/>
                        </a:rPr>
                        <a:t>One reference across the lifecycle (to confirm).</a:t>
                      </a:r>
                    </a:p>
                  </a:txBody>
                  <a:tcPr marL="64008" marR="64008" marT="27432" marB="27432" anchor="ctr">
                    <a:solidFill>
                      <a:srgbClr val="FFFFFF"/>
                    </a:solidFill>
                  </a:tcPr>
                </a:tc>
              </a:tr>
              <a:tr h="822960">
                <a:tc>
                  <a:txBody>
                    <a:bodyPr wrap="square"/>
                    <a:lstStyle/>
                    <a:p>
                      <a:r>
                        <a:rPr sz="1100" b="1">
                          <a:solidFill>
                            <a:srgbClr val="4B4B4B"/>
                          </a:solidFill>
                          <a:latin typeface="Arial"/>
                        </a:rPr>
                        <a:t>CA-01</a:t>
                      </a:r>
                    </a:p>
                  </a:txBody>
                  <a:tcPr marL="64008" marR="64008" marT="27432" marB="27432" anchor="ctr">
                    <a:solidFill>
                      <a:srgbClr val="E5F5FF"/>
                    </a:solidFill>
                  </a:tcPr>
                </a:tc>
                <a:tc>
                  <a:txBody>
                    <a:bodyPr wrap="square"/>
                    <a:lstStyle/>
                    <a:p>
                      <a:r>
                        <a:rPr sz="1100" b="0">
                          <a:solidFill>
                            <a:srgbClr val="4B4B4B"/>
                          </a:solidFill>
                          <a:latin typeface="Arial"/>
                        </a:rPr>
                        <a:t>Receipts</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The client pays against the ISYS invoice number; QPS has the insurer reference and EBIX its own. Receipts are created by hand.</a:t>
                      </a:r>
                    </a:p>
                  </a:txBody>
                  <a:tcPr marL="64008" marR="64008" marT="27432" marB="27432" anchor="ctr">
                    <a:solidFill>
                      <a:srgbClr val="E5F5FF"/>
                    </a:solidFill>
                  </a:tcPr>
                </a:tc>
                <a:tc>
                  <a:txBody>
                    <a:bodyPr wrap="square"/>
                    <a:lstStyle/>
                    <a:p>
                      <a:r>
                        <a:rPr sz="1100" b="0">
                          <a:solidFill>
                            <a:srgbClr val="4B4B4B"/>
                          </a:solidFill>
                          <a:latin typeface="Arial"/>
                        </a:rPr>
                        <a:t>Receipts generated by the system.</a:t>
                      </a:r>
                    </a:p>
                  </a:txBody>
                  <a:tcPr marL="64008" marR="64008" marT="27432" marB="27432" anchor="ctr">
                    <a:solidFill>
                      <a:srgbClr val="E5F5FF"/>
                    </a:solidFill>
                  </a:tcPr>
                </a:tc>
              </a:tr>
              <a:tr h="822960">
                <a:tc>
                  <a:txBody>
                    <a:bodyPr wrap="square"/>
                    <a:lstStyle/>
                    <a:p>
                      <a:r>
                        <a:rPr sz="1100" b="1">
                          <a:solidFill>
                            <a:srgbClr val="4B4B4B"/>
                          </a:solidFill>
                          <a:latin typeface="Arial"/>
                        </a:rPr>
                        <a:t>CA-02</a:t>
                      </a:r>
                    </a:p>
                  </a:txBody>
                  <a:tcPr marL="64008" marR="64008" marT="27432" marB="27432" anchor="ctr">
                    <a:solidFill>
                      <a:srgbClr val="FFFFFF"/>
                    </a:solidFill>
                  </a:tcPr>
                </a:tc>
                <a:tc>
                  <a:txBody>
                    <a:bodyPr wrap="square"/>
                    <a:lstStyle/>
                    <a:p>
                      <a:r>
                        <a:rPr sz="1100" b="0">
                          <a:solidFill>
                            <a:srgbClr val="4B4B4B"/>
                          </a:solidFill>
                          <a:latin typeface="Arial"/>
                        </a:rPr>
                        <a:t>Threshold account</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Amounts below PHP 0.99 go to a separate adjustment (threshold) account, e.g. the .99 of 8,787.99.</a:t>
                      </a:r>
                    </a:p>
                  </a:txBody>
                  <a:tcPr marL="64008" marR="64008" marT="27432" marB="27432" anchor="ctr">
                    <a:solidFill>
                      <a:srgbClr val="FFFFFF"/>
                    </a:solidFill>
                  </a:tcPr>
                </a:tc>
                <a:tc>
                  <a:txBody>
                    <a:bodyPr wrap="square"/>
                    <a:lstStyle/>
                    <a:p>
                      <a:r>
                        <a:rPr sz="1100" b="0">
                          <a:solidFill>
                            <a:srgbClr val="4B4B4B"/>
                          </a:solidFill>
                          <a:latin typeface="Arial"/>
                        </a:rPr>
                        <a:t>Threshold and variance handling configurable.</a:t>
                      </a:r>
                    </a:p>
                  </a:txBody>
                  <a:tcPr marL="64008" marR="64008" marT="27432" marB="27432" anchor="ctr">
                    <a:solidFill>
                      <a:srgbClr val="FFFFFF"/>
                    </a:solidFill>
                  </a:tcPr>
                </a:tc>
              </a:tr>
              <a:tr h="822960">
                <a:tc>
                  <a:txBody>
                    <a:bodyPr wrap="square"/>
                    <a:lstStyle/>
                    <a:p>
                      <a:r>
                        <a:rPr sz="1100" b="1">
                          <a:solidFill>
                            <a:srgbClr val="4B4B4B"/>
                          </a:solidFill>
                          <a:latin typeface="Arial"/>
                        </a:rPr>
                        <a:t>CA-03</a:t>
                      </a:r>
                    </a:p>
                  </a:txBody>
                  <a:tcPr marL="64008" marR="64008" marT="27432" marB="27432" anchor="ctr">
                    <a:solidFill>
                      <a:srgbClr val="E5F5FF"/>
                    </a:solidFill>
                  </a:tcPr>
                </a:tc>
                <a:tc>
                  <a:txBody>
                    <a:bodyPr wrap="square"/>
                    <a:lstStyle/>
                    <a:p>
                      <a:r>
                        <a:rPr sz="1100" b="0">
                          <a:solidFill>
                            <a:srgbClr val="4B4B4B"/>
                          </a:solidFill>
                          <a:latin typeface="Arial"/>
                        </a:rPr>
                        <a:t>Direct pay</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A direct-pay policy is tagged, so only commission entries exist. If the insured still pays BDOI, no accounting entry is created.</a:t>
                      </a:r>
                    </a:p>
                  </a:txBody>
                  <a:tcPr marL="64008" marR="64008" marT="27432" marB="27432" anchor="ctr">
                    <a:solidFill>
                      <a:srgbClr val="E5F5FF"/>
                    </a:solidFill>
                  </a:tcPr>
                </a:tc>
                <a:tc>
                  <a:txBody>
                    <a:bodyPr wrap="square"/>
                    <a:lstStyle/>
                    <a:p>
                      <a:r>
                        <a:rPr sz="1100" b="0">
                          <a:solidFill>
                            <a:srgbClr val="4B4B4B"/>
                          </a:solidFill>
                          <a:latin typeface="Arial"/>
                        </a:rPr>
                        <a:t>A solution, e.g. allow the direct-pay tag to be changed.</a:t>
                      </a:r>
                    </a:p>
                  </a:txBody>
                  <a:tcPr marL="64008" marR="64008" marT="27432" marB="27432" anchor="ctr">
                    <a:solidFill>
                      <a:srgbClr val="E5F5FF"/>
                    </a:solidFill>
                  </a:tcPr>
                </a:tc>
              </a:tr>
              <a:tr h="822960">
                <a:tc>
                  <a:txBody>
                    <a:bodyPr wrap="square"/>
                    <a:lstStyle/>
                    <a:p>
                      <a:r>
                        <a:rPr sz="1100" b="1">
                          <a:solidFill>
                            <a:srgbClr val="4B4B4B"/>
                          </a:solidFill>
                          <a:latin typeface="Arial"/>
                        </a:rPr>
                        <a:t>CA-04</a:t>
                      </a:r>
                    </a:p>
                  </a:txBody>
                  <a:tcPr marL="64008" marR="64008" marT="27432" marB="27432" anchor="ctr">
                    <a:solidFill>
                      <a:srgbClr val="FFFFFF"/>
                    </a:solidFill>
                  </a:tcPr>
                </a:tc>
                <a:tc>
                  <a:txBody>
                    <a:bodyPr wrap="square"/>
                    <a:lstStyle/>
                    <a:p>
                      <a:r>
                        <a:rPr sz="1100" b="0">
                          <a:solidFill>
                            <a:srgbClr val="4B4B4B"/>
                          </a:solidFill>
                          <a:latin typeface="Arial"/>
                        </a:rPr>
                        <a:t>Receipt types</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Two receipts: AR to the client for premium, OR to the insurer for commission.</a:t>
                      </a:r>
                    </a:p>
                  </a:txBody>
                  <a:tcPr marL="64008" marR="64008" marT="27432" marB="27432" anchor="ctr">
                    <a:solidFill>
                      <a:srgbClr val="FFFFFF"/>
                    </a:solidFill>
                  </a:tcPr>
                </a:tc>
                <a:tc>
                  <a:txBody>
                    <a:bodyPr wrap="square"/>
                    <a:lstStyle/>
                    <a:p>
                      <a:r>
                        <a:rPr sz="1100" b="0">
                          <a:solidFill>
                            <a:srgbClr val="4B4B4B"/>
                          </a:solidFill>
                          <a:latin typeface="Arial"/>
                        </a:rPr>
                        <a:t>Both AR and OR generated from the system.</a:t>
                      </a:r>
                    </a:p>
                  </a:txBody>
                  <a:tcPr marL="64008" marR="64008" marT="27432" marB="27432" anchor="ctr">
                    <a:solidFill>
                      <a:srgbClr val="FFFFFF"/>
                    </a:solidFill>
                  </a:tcPr>
                </a:tc>
              </a:tr>
            </a:tbl>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what we heard on the floor (2/3)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graphicFrame>
        <p:nvGraphicFramePr>
          <p:cNvPr id="9" name="Table 8"/>
          <p:cNvGraphicFramePr>
            <a:graphicFrameLocks noGrp="1"/>
          </p:cNvGraphicFramePr>
          <p:nvPr/>
        </p:nvGraphicFramePr>
        <p:xfrm>
          <a:off x="548640" y="1280160"/>
          <a:ext cx="11094412" cy="448056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CA-05</a:t>
                      </a:r>
                    </a:p>
                  </a:txBody>
                  <a:tcPr marL="64008" marR="64008" marT="27432" marB="27432" anchor="ctr">
                    <a:solidFill>
                      <a:srgbClr val="FFFFFF"/>
                    </a:solidFill>
                  </a:tcPr>
                </a:tc>
                <a:tc>
                  <a:txBody>
                    <a:bodyPr wrap="square"/>
                    <a:lstStyle/>
                    <a:p>
                      <a:r>
                        <a:rPr sz="1100" b="0">
                          <a:solidFill>
                            <a:srgbClr val="4B4B4B"/>
                          </a:solidFill>
                          <a:latin typeface="Arial"/>
                        </a:rPr>
                        <a:t>Bulk payment</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Bulk payment files of about 2,000 records.</a:t>
                      </a:r>
                    </a:p>
                  </a:txBody>
                  <a:tcPr marL="64008" marR="64008" marT="27432" marB="27432" anchor="ctr">
                    <a:solidFill>
                      <a:srgbClr val="FFFFFF"/>
                    </a:solidFill>
                  </a:tcPr>
                </a:tc>
                <a:tc>
                  <a:txBody>
                    <a:bodyPr wrap="square"/>
                    <a:lstStyle/>
                    <a:p>
                      <a:r>
                        <a:rPr sz="1100" b="0">
                          <a:solidFill>
                            <a:srgbClr val="4B4B4B"/>
                          </a:solidFill>
                          <a:latin typeface="Arial"/>
                        </a:rPr>
                        <a:t>Walk through bulk payment on the floor (open point).</a:t>
                      </a:r>
                    </a:p>
                  </a:txBody>
                  <a:tcPr marL="64008" marR="64008" marT="27432" marB="27432" anchor="ctr">
                    <a:solidFill>
                      <a:srgbClr val="FFFFFF"/>
                    </a:solidFill>
                  </a:tcPr>
                </a:tc>
              </a:tr>
              <a:tr h="822960">
                <a:tc>
                  <a:txBody>
                    <a:bodyPr wrap="square"/>
                    <a:lstStyle/>
                    <a:p>
                      <a:r>
                        <a:rPr sz="1100" b="1">
                          <a:solidFill>
                            <a:srgbClr val="4B4B4B"/>
                          </a:solidFill>
                          <a:latin typeface="Arial"/>
                        </a:rPr>
                        <a:t>Day 1 p.20</a:t>
                      </a:r>
                    </a:p>
                  </a:txBody>
                  <a:tcPr marL="64008" marR="64008" marT="27432" marB="27432" anchor="ctr">
                    <a:solidFill>
                      <a:srgbClr val="E5F5FF"/>
                    </a:solidFill>
                  </a:tcPr>
                </a:tc>
                <a:tc>
                  <a:txBody>
                    <a:bodyPr wrap="square"/>
                    <a:lstStyle/>
                    <a:p>
                      <a:r>
                        <a:rPr sz="1100" b="0">
                          <a:solidFill>
                            <a:srgbClr val="4B4B4B"/>
                          </a:solidFill>
                          <a:latin typeface="Arial"/>
                        </a:rPr>
                        <a:t>Payment files</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Bills Payment, CLPC, PMS, Trade, Direct Credit and FS04 files; 4-day check hold, bounced-check list, QPS / EBIX reference and zero-PR checks; exact, excess or actual-payment files; Autopay; unapplied report.</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822960">
                <a:tc>
                  <a:txBody>
                    <a:bodyPr wrap="square"/>
                    <a:lstStyle/>
                    <a:p>
                      <a:r>
                        <a:rPr sz="1100" b="1">
                          <a:solidFill>
                            <a:srgbClr val="4B4B4B"/>
                          </a:solidFill>
                          <a:latin typeface="Arial"/>
                        </a:rPr>
                        <a:t>Day 1 p.21</a:t>
                      </a:r>
                    </a:p>
                  </a:txBody>
                  <a:tcPr marL="64008" marR="64008" marT="27432" marB="27432" anchor="ctr">
                    <a:solidFill>
                      <a:srgbClr val="FFFFFF"/>
                    </a:solidFill>
                  </a:tcPr>
                </a:tc>
                <a:tc>
                  <a:txBody>
                    <a:bodyPr wrap="square"/>
                    <a:lstStyle/>
                    <a:p>
                      <a:r>
                        <a:rPr sz="1100" b="0">
                          <a:solidFill>
                            <a:srgbClr val="4B4B4B"/>
                          </a:solidFill>
                          <a:latin typeface="Arial"/>
                        </a:rPr>
                        <a:t>Remittance</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Weekly EBIX extract of applied payments (Monday to Friday); DPPR reversal, endorsement / knock-off and invalid accounts removed; settlement approved on an MS Teams list; signed copy kept for audit; Disbursement posts.</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EN-01</a:t>
                      </a:r>
                    </a:p>
                  </a:txBody>
                  <a:tcPr marL="64008" marR="64008" marT="27432" marB="27432" anchor="ctr">
                    <a:solidFill>
                      <a:srgbClr val="E5F5FF"/>
                    </a:solidFill>
                  </a:tcPr>
                </a:tc>
                <a:tc>
                  <a:txBody>
                    <a:bodyPr wrap="square"/>
                    <a:lstStyle/>
                    <a:p>
                      <a:r>
                        <a:rPr sz="1100" b="0">
                          <a:solidFill>
                            <a:srgbClr val="4B4B4B"/>
                          </a:solidFill>
                          <a:latin typeface="Arial"/>
                        </a:rPr>
                        <a:t>Endorsement</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Marketing e-mails the request with documents; Operations validates, keys it in the EBIX endorsement module; TL / TH checker-poster; posting one by one; entries flow to Comptrollership.</a:t>
                      </a:r>
                    </a:p>
                  </a:txBody>
                  <a:tcPr marL="64008" marR="64008" marT="27432" marB="27432" anchor="ctr">
                    <a:solidFill>
                      <a:srgbClr val="E5F5FF"/>
                    </a:solidFill>
                  </a:tcPr>
                </a:tc>
                <a:tc>
                  <a:txBody>
                    <a:bodyPr wrap="square"/>
                    <a:lstStyle/>
                    <a:p>
                      <a:r>
                        <a:rPr sz="1100" b="0">
                          <a:solidFill>
                            <a:srgbClr val="4B4B4B"/>
                          </a:solidFill>
                          <a:latin typeface="Arial"/>
                        </a:rPr>
                        <a:t>Endorsement computes the premium from the adjustment, like New Business, not just captures it.</a:t>
                      </a:r>
                    </a:p>
                  </a:txBody>
                  <a:tcPr marL="64008" marR="64008" marT="27432" marB="27432" anchor="ctr">
                    <a:solidFill>
                      <a:srgbClr val="E5F5FF"/>
                    </a:solidFill>
                  </a:tcPr>
                </a:tc>
              </a:tr>
              <a:tr h="822960">
                <a:tc>
                  <a:txBody>
                    <a:bodyPr wrap="square"/>
                    <a:lstStyle/>
                    <a:p>
                      <a:r>
                        <a:rPr sz="1100" b="1">
                          <a:solidFill>
                            <a:srgbClr val="4B4B4B"/>
                          </a:solidFill>
                          <a:latin typeface="Arial"/>
                        </a:rPr>
                        <a:t>EN-02</a:t>
                      </a:r>
                    </a:p>
                  </a:txBody>
                  <a:tcPr marL="64008" marR="64008" marT="27432" marB="27432" anchor="ctr">
                    <a:solidFill>
                      <a:srgbClr val="FFFFFF"/>
                    </a:solidFill>
                  </a:tcPr>
                </a:tc>
                <a:tc>
                  <a:txBody>
                    <a:bodyPr wrap="square"/>
                    <a:lstStyle/>
                    <a:p>
                      <a:r>
                        <a:rPr sz="1100" b="0">
                          <a:solidFill>
                            <a:srgbClr val="4B4B4B"/>
                          </a:solidFill>
                          <a:latin typeface="Arial"/>
                        </a:rPr>
                        <a:t>Cancellation</a:t>
                      </a:r>
                    </a:p>
                  </a:txBody>
                  <a:tcPr marL="64008" marR="64008" marT="27432" marB="27432" anchor="ctr">
                    <a:solidFill>
                      <a:srgbClr val="FFFF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Cancellation with refund of premium including applicable tax.</a:t>
                      </a:r>
                    </a:p>
                  </a:txBody>
                  <a:tcPr marL="64008" marR="64008" marT="27432" marB="27432" anchor="ctr">
                    <a:solidFill>
                      <a:srgbClr val="FFFFFF"/>
                    </a:solidFill>
                  </a:tcPr>
                </a:tc>
                <a:tc>
                  <a:txBody>
                    <a:bodyPr wrap="square"/>
                    <a:lstStyle/>
                    <a:p>
                      <a:r>
                        <a:rPr sz="1100" b="0">
                          <a:solidFill>
                            <a:srgbClr val="4B4B4B"/>
                          </a:solidFill>
                          <a:latin typeface="Arial"/>
                        </a:rPr>
                        <a:t>Tax treatment on refund to confirm (FRS).</a:t>
                      </a:r>
                    </a:p>
                  </a:txBody>
                  <a:tcPr marL="64008" marR="64008" marT="27432" marB="27432" anchor="ctr">
                    <a:solidFill>
                      <a:srgbClr val="FFFFFF"/>
                    </a:solidFill>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what we heard on the floor (3/3)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graphicFrame>
        <p:nvGraphicFramePr>
          <p:cNvPr id="9" name="Table 8"/>
          <p:cNvGraphicFramePr>
            <a:graphicFrameLocks noGrp="1"/>
          </p:cNvGraphicFramePr>
          <p:nvPr/>
        </p:nvGraphicFramePr>
        <p:xfrm>
          <a:off x="548640" y="1280160"/>
          <a:ext cx="11094412" cy="448056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CM-01</a:t>
                      </a:r>
                    </a:p>
                  </a:txBody>
                  <a:tcPr marL="64008" marR="64008" marT="27432" marB="27432" anchor="ctr">
                    <a:solidFill>
                      <a:srgbClr val="FFFFFF"/>
                    </a:solidFill>
                  </a:tcPr>
                </a:tc>
                <a:tc>
                  <a:txBody>
                    <a:bodyPr wrap="square"/>
                    <a:lstStyle/>
                    <a:p>
                      <a:r>
                        <a:rPr sz="1100" b="0">
                          <a:solidFill>
                            <a:srgbClr val="4B4B4B"/>
                          </a:solidFill>
                          <a:latin typeface="Arial"/>
                        </a:rPr>
                        <a:t>Commission trigger</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Commission is confirmed from premium collected (Collections) and only after the full premium is collected, also for instalment and multi-year policies.</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CM-02</a:t>
                      </a:r>
                    </a:p>
                  </a:txBody>
                  <a:tcPr marL="64008" marR="64008" marT="27432" marB="27432" anchor="ctr">
                    <a:solidFill>
                      <a:srgbClr val="E5F5FF"/>
                    </a:solidFill>
                  </a:tcPr>
                </a:tc>
                <a:tc>
                  <a:txBody>
                    <a:bodyPr wrap="square"/>
                    <a:lstStyle/>
                    <a:p>
                      <a:r>
                        <a:rPr sz="1100" b="0">
                          <a:solidFill>
                            <a:srgbClr val="4B4B4B"/>
                          </a:solidFill>
                          <a:latin typeface="Arial"/>
                        </a:rPr>
                        <a:t>Co-insurance</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Co-insurance: commission can be processed when one insurer has paid. Direct policy: partial commission payment is not accepted.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822960">
                <a:tc>
                  <a:txBody>
                    <a:bodyPr wrap="square"/>
                    <a:lstStyle/>
                    <a:p>
                      <a:r>
                        <a:rPr sz="1100" b="1">
                          <a:solidFill>
                            <a:srgbClr val="4B4B4B"/>
                          </a:solidFill>
                          <a:latin typeface="Arial"/>
                        </a:rPr>
                        <a:t>CM-03</a:t>
                      </a:r>
                    </a:p>
                  </a:txBody>
                  <a:tcPr marL="64008" marR="64008" marT="27432" marB="27432" anchor="ctr">
                    <a:solidFill>
                      <a:srgbClr val="FFFFFF"/>
                    </a:solidFill>
                  </a:tcPr>
                </a:tc>
                <a:tc>
                  <a:txBody>
                    <a:bodyPr wrap="square"/>
                    <a:lstStyle/>
                    <a:p>
                      <a:r>
                        <a:rPr sz="1100" b="0">
                          <a:solidFill>
                            <a:srgbClr val="4B4B4B"/>
                          </a:solidFill>
                          <a:latin typeface="Arial"/>
                        </a:rPr>
                        <a:t>Excess commission</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Excess commission is computed differently for Motor and Fire and kept in the incentive module.</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IC-01</a:t>
                      </a:r>
                    </a:p>
                  </a:txBody>
                  <a:tcPr marL="64008" marR="64008" marT="27432" marB="27432" anchor="ctr">
                    <a:solidFill>
                      <a:srgbClr val="E5F5FF"/>
                    </a:solidFill>
                  </a:tcPr>
                </a:tc>
                <a:tc>
                  <a:txBody>
                    <a:bodyPr wrap="square"/>
                    <a:lstStyle/>
                    <a:p>
                      <a:r>
                        <a:rPr sz="1100" b="0">
                          <a:solidFill>
                            <a:srgbClr val="4B4B4B"/>
                          </a:solidFill>
                          <a:latin typeface="Arial"/>
                        </a:rPr>
                        <a:t>Early-remittance incentive</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Insurers pay an incentive for early remittance, only on premium sold within credit terms. Rates agreed with each insurer; posted to Other Income (IC-02).</a:t>
                      </a:r>
                    </a:p>
                  </a:txBody>
                  <a:tcPr marL="64008" marR="64008" marT="27432" marB="27432" anchor="ctr">
                    <a:solidFill>
                      <a:srgbClr val="E5F5FF"/>
                    </a:solidFill>
                  </a:tcPr>
                </a:tc>
                <a:tc>
                  <a:txBody>
                    <a:bodyPr wrap="square"/>
                    <a:lstStyle/>
                    <a:p>
                      <a:r>
                        <a:rPr sz="1100" b="0">
                          <a:solidFill>
                            <a:srgbClr val="4B4B4B"/>
                          </a:solidFill>
                          <a:latin typeface="Arial"/>
                        </a:rPr>
                        <a:t>Incentive by insurer to walk through (open point).</a:t>
                      </a:r>
                    </a:p>
                  </a:txBody>
                  <a:tcPr marL="64008" marR="64008" marT="27432" marB="27432" anchor="ctr">
                    <a:solidFill>
                      <a:srgbClr val="E5F5FF"/>
                    </a:solidFill>
                  </a:tcPr>
                </a:tc>
              </a:tr>
              <a:tr h="822960">
                <a:tc>
                  <a:txBody>
                    <a:bodyPr wrap="square"/>
                    <a:lstStyle/>
                    <a:p>
                      <a:r>
                        <a:rPr sz="1100" b="1">
                          <a:solidFill>
                            <a:srgbClr val="4B4B4B"/>
                          </a:solidFill>
                          <a:latin typeface="Arial"/>
                        </a:rPr>
                        <a:t>Day 1 p.23-24</a:t>
                      </a:r>
                    </a:p>
                  </a:txBody>
                  <a:tcPr marL="64008" marR="64008" marT="27432" marB="27432" anchor="ctr">
                    <a:solidFill>
                      <a:srgbClr val="FFFFFF"/>
                    </a:solidFill>
                  </a:tcPr>
                </a:tc>
                <a:tc>
                  <a:txBody>
                    <a:bodyPr wrap="square"/>
                    <a:lstStyle/>
                    <a:p>
                      <a:r>
                        <a:rPr sz="1100" b="0">
                          <a:solidFill>
                            <a:srgbClr val="4B4B4B"/>
                          </a:solidFill>
                          <a:latin typeface="Arial"/>
                        </a:rPr>
                        <a:t>DP commission, reversal</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DP lists per unit in a shared folder, consolidated in Excel, billed by e-mail; production recon of 20-30K lines per insurer; DPPR / PR2307 reversal through SharePoint, Teams, IT extract and VLOOKUP, with a 0.01-0.99 variance.</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bl>
          </a:graphicData>
        </a:graphic>
      </p:graphicFrame>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As-Is process (1/3)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pic>
        <p:nvPicPr>
          <p:cNvPr id="9" name="Picture 8" descr="brd02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Cashiering and Remittance today (Operations process flow; Day 1 p.20-21; CA-01 to CA-05)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As-Is process (2/3)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pic>
        <p:nvPicPr>
          <p:cNvPr id="9" name="Picture 8" descr="brd02_asis_2.png"/>
          <p:cNvPicPr>
            <a:picLocks noChangeAspect="1"/>
          </p:cNvPicPr>
          <p:nvPr/>
        </p:nvPicPr>
        <p:blipFill>
          <a:blip r:embed="rId3"/>
          <a:stretch>
            <a:fillRect/>
          </a:stretch>
        </p:blipFill>
        <p:spPr>
          <a:xfrm>
            <a:off x="646584" y="1243584"/>
            <a:ext cx="10898527"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Commission receivables (direct payment), Adjustment and policy-fee invoicing today (Operations process flow; Day 1 p.22-23, 25; EN-01)</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As-Is process (3/3)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pic>
        <p:nvPicPr>
          <p:cNvPr id="9" name="Picture 8" descr="brd02_asis_3.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Production reconciliation and DPPR / PR2307 reversal today (Operations process flow; Day 1 p.24)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seven sub-processes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graphicFrame>
        <p:nvGraphicFramePr>
          <p:cNvPr id="9" name="Table 8"/>
          <p:cNvGraphicFramePr>
            <a:graphicFrameLocks noGrp="1"/>
          </p:cNvGraphicFramePr>
          <p:nvPr/>
        </p:nvGraphicFramePr>
        <p:xfrm>
          <a:off x="548640" y="1280160"/>
          <a:ext cx="11094412" cy="4919470"/>
        </p:xfrm>
        <a:graphic>
          <a:graphicData uri="http://schemas.openxmlformats.org/drawingml/2006/table">
            <a:tbl>
              <a:tblPr firstRow="1" bandRow="1">
                <a:tableStyleId>{5C22544A-7EE6-4342-B048-85BDC9FD1C3A}</a:tableStyleId>
              </a:tblPr>
              <a:tblGrid>
                <a:gridCol w="1560152"/>
                <a:gridCol w="1646827"/>
                <a:gridCol w="3467004"/>
                <a:gridCol w="1473476"/>
                <a:gridCol w="1646827"/>
                <a:gridCol w="1300126"/>
              </a:tblGrid>
              <a:tr h="365760">
                <a:tc>
                  <a:txBody>
                    <a:bodyPr wrap="square"/>
                    <a:lstStyle/>
                    <a:p>
                      <a:r>
                        <a:rPr sz="1100" b="1">
                          <a:solidFill>
                            <a:srgbClr val="FFFFFF"/>
                          </a:solidFill>
                          <a:latin typeface="Arial"/>
                        </a:rPr>
                        <a:t>Sub-process</a:t>
                      </a:r>
                    </a:p>
                  </a:txBody>
                  <a:tcPr marL="64008" marR="64008" marT="27432" marB="27432" anchor="ctr">
                    <a:solidFill>
                      <a:srgbClr val="004EA8"/>
                    </a:solidFill>
                  </a:tcPr>
                </a:tc>
                <a:tc>
                  <a:txBody>
                    <a:bodyPr wrap="square"/>
                    <a:lstStyle/>
                    <a:p>
                      <a:r>
                        <a:rPr sz="1100" b="1">
                          <a:solidFill>
                            <a:srgbClr val="FFFFFF"/>
                          </a:solidFill>
                          <a:latin typeface="Arial"/>
                        </a:rPr>
                        <a:t>Trigger and frequency</a:t>
                      </a:r>
                    </a:p>
                  </a:txBody>
                  <a:tcPr marL="64008" marR="64008" marT="27432" marB="27432" anchor="ctr">
                    <a:solidFill>
                      <a:srgbClr val="004EA8"/>
                    </a:solidFill>
                  </a:tcPr>
                </a:tc>
                <a:tc>
                  <a:txBody>
                    <a:bodyPr wrap="square"/>
                    <a:lstStyle/>
                    <a:p>
                      <a:r>
                        <a:rPr sz="1100" b="1">
                          <a:solidFill>
                            <a:srgbClr val="FFFFFF"/>
                          </a:solidFill>
                          <a:latin typeface="Arial"/>
                        </a:rPr>
                        <a:t>What happens today</a:t>
                      </a:r>
                    </a:p>
                  </a:txBody>
                  <a:tcPr marL="64008" marR="64008" marT="27432" marB="27432" anchor="ctr">
                    <a:solidFill>
                      <a:srgbClr val="004EA8"/>
                    </a:solidFill>
                  </a:tcPr>
                </a:tc>
                <a:tc>
                  <a:txBody>
                    <a:bodyPr wrap="square"/>
                    <a:lstStyle/>
                    <a:p>
                      <a:r>
                        <a:rPr sz="1100" b="1">
                          <a:solidFill>
                            <a:srgbClr val="FFFFFF"/>
                          </a:solidFill>
                          <a:latin typeface="Arial"/>
                        </a:rPr>
                        <a:t>Tools</a:t>
                      </a:r>
                    </a:p>
                  </a:txBody>
                  <a:tcPr marL="64008" marR="64008" marT="27432" marB="27432" anchor="ctr">
                    <a:solidFill>
                      <a:srgbClr val="004EA8"/>
                    </a:solidFill>
                  </a:tcPr>
                </a:tc>
                <a:tc>
                  <a:txBody>
                    <a:bodyPr wrap="square"/>
                    <a:lstStyle/>
                    <a:p>
                      <a:r>
                        <a:rPr sz="1100" b="1">
                          <a:solidFill>
                            <a:srgbClr val="FFFFFF"/>
                          </a:solidFill>
                          <a:latin typeface="Arial"/>
                        </a:rPr>
                        <a:t>Volume, rule</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r>
              <a:tr h="650530">
                <a:tc>
                  <a:txBody>
                    <a:bodyPr wrap="square"/>
                    <a:lstStyle/>
                    <a:p>
                      <a:r>
                        <a:rPr sz="1100" b="1">
                          <a:solidFill>
                            <a:srgbClr val="4B4B4B"/>
                          </a:solidFill>
                          <a:latin typeface="Arial"/>
                        </a:rPr>
                        <a:t>Cashiering</a:t>
                      </a:r>
                    </a:p>
                  </a:txBody>
                  <a:tcPr marL="64008" marR="64008" marT="27432" marB="27432" anchor="ctr">
                    <a:solidFill>
                      <a:srgbClr val="FFFFFF"/>
                    </a:solidFill>
                  </a:tcPr>
                </a:tc>
                <a:tc>
                  <a:txBody>
                    <a:bodyPr wrap="square"/>
                    <a:lstStyle/>
                    <a:p>
                      <a:r>
                        <a:rPr sz="1100" b="0">
                          <a:solidFill>
                            <a:srgbClr val="4B4B4B"/>
                          </a:solidFill>
                          <a:latin typeface="Arial"/>
                        </a:rPr>
                        <a:t>Daily payment files; counter</a:t>
                      </a:r>
                    </a:p>
                  </a:txBody>
                  <a:tcPr marL="64008" marR="64008" marT="27432" marB="27432" anchor="ctr">
                    <a:solidFill>
                      <a:srgbClr val="FFFFFF"/>
                    </a:solidFill>
                  </a:tcPr>
                </a:tc>
                <a:tc>
                  <a:txBody>
                    <a:bodyPr wrap="square"/>
                    <a:lstStyle/>
                    <a:p>
                      <a:r>
                        <a:rPr sz="1100" b="0">
                          <a:solidFill>
                            <a:srgbClr val="4B4B4B"/>
                          </a:solidFill>
                          <a:latin typeface="Arial"/>
                        </a:rPr>
                        <a:t>Checks, split files, upload or Autopay, receipts, unapplied report</a:t>
                      </a:r>
                    </a:p>
                  </a:txBody>
                  <a:tcPr marL="64008" marR="64008" marT="27432" marB="27432" anchor="ctr">
                    <a:solidFill>
                      <a:srgbClr val="FFFFFF"/>
                    </a:solidFill>
                  </a:tcPr>
                </a:tc>
                <a:tc>
                  <a:txBody>
                    <a:bodyPr wrap="square"/>
                    <a:lstStyle/>
                    <a:p>
                      <a:r>
                        <a:rPr sz="1100" b="0">
                          <a:solidFill>
                            <a:srgbClr val="4B4B4B"/>
                          </a:solidFill>
                          <a:latin typeface="Arial"/>
                        </a:rPr>
                        <a:t>EBIX, QPS, ISYS, Excel</a:t>
                      </a:r>
                    </a:p>
                  </a:txBody>
                  <a:tcPr marL="64008" marR="64008" marT="27432" marB="27432" anchor="ctr">
                    <a:solidFill>
                      <a:srgbClr val="FFFFFF"/>
                    </a:solidFill>
                  </a:tcPr>
                </a:tc>
                <a:tc>
                  <a:txBody>
                    <a:bodyPr wrap="square"/>
                    <a:lstStyle/>
                    <a:p>
                      <a:r>
                        <a:rPr sz="1100" b="0">
                          <a:solidFill>
                            <a:srgbClr val="4B4B4B"/>
                          </a:solidFill>
                          <a:latin typeface="Arial"/>
                        </a:rPr>
                        <a:t>~2,000 rows a file; 4-day hold; 0.99 threshold</a:t>
                      </a:r>
                    </a:p>
                  </a:txBody>
                  <a:tcPr marL="64008" marR="64008" marT="27432" marB="27432" anchor="ctr">
                    <a:solidFill>
                      <a:srgbClr val="FFFFFF"/>
                    </a:solidFill>
                  </a:tcPr>
                </a:tc>
                <a:tc>
                  <a:txBody>
                    <a:bodyPr wrap="square"/>
                    <a:lstStyle/>
                    <a:p>
                      <a:r>
                        <a:rPr sz="1100" b="0">
                          <a:solidFill>
                            <a:srgbClr val="4B4B4B"/>
                          </a:solidFill>
                          <a:latin typeface="Arial"/>
                        </a:rPr>
                        <a:t>Cashiering TL / TH</a:t>
                      </a:r>
                    </a:p>
                  </a:txBody>
                  <a:tcPr marL="64008" marR="64008" marT="27432" marB="27432" anchor="ctr">
                    <a:solidFill>
                      <a:srgbClr val="FFFFFF"/>
                    </a:solidFill>
                  </a:tcPr>
                </a:tc>
              </a:tr>
              <a:tr h="650530">
                <a:tc>
                  <a:txBody>
                    <a:bodyPr wrap="square"/>
                    <a:lstStyle/>
                    <a:p>
                      <a:r>
                        <a:rPr sz="1100" b="1">
                          <a:solidFill>
                            <a:srgbClr val="4B4B4B"/>
                          </a:solidFill>
                          <a:latin typeface="Arial"/>
                        </a:rPr>
                        <a:t>Remittance</a:t>
                      </a:r>
                    </a:p>
                  </a:txBody>
                  <a:tcPr marL="64008" marR="64008" marT="27432" marB="27432" anchor="ctr">
                    <a:solidFill>
                      <a:srgbClr val="E5F5FF"/>
                    </a:solidFill>
                  </a:tcPr>
                </a:tc>
                <a:tc>
                  <a:txBody>
                    <a:bodyPr wrap="square"/>
                    <a:lstStyle/>
                    <a:p>
                      <a:r>
                        <a:rPr sz="1100" b="0">
                          <a:solidFill>
                            <a:srgbClr val="4B4B4B"/>
                          </a:solidFill>
                          <a:latin typeface="Arial"/>
                        </a:rPr>
                        <a:t>Weekly (Monday to Friday)</a:t>
                      </a:r>
                    </a:p>
                  </a:txBody>
                  <a:tcPr marL="64008" marR="64008" marT="27432" marB="27432" anchor="ctr">
                    <a:solidFill>
                      <a:srgbClr val="E5F5FF"/>
                    </a:solidFill>
                  </a:tcPr>
                </a:tc>
                <a:tc>
                  <a:txBody>
                    <a:bodyPr wrap="square"/>
                    <a:lstStyle/>
                    <a:p>
                      <a:r>
                        <a:rPr sz="1100" b="0">
                          <a:solidFill>
                            <a:srgbClr val="4B4B4B"/>
                          </a:solidFill>
                          <a:latin typeface="Arial"/>
                        </a:rPr>
                        <a:t>Extract applied payments, sanitise, settlement list, approval, hand-off</a:t>
                      </a:r>
                    </a:p>
                  </a:txBody>
                  <a:tcPr marL="64008" marR="64008" marT="27432" marB="27432" anchor="ctr">
                    <a:solidFill>
                      <a:srgbClr val="E5F5FF"/>
                    </a:solidFill>
                  </a:tcPr>
                </a:tc>
                <a:tc>
                  <a:txBody>
                    <a:bodyPr wrap="square"/>
                    <a:lstStyle/>
                    <a:p>
                      <a:r>
                        <a:rPr sz="1100" b="0">
                          <a:solidFill>
                            <a:srgbClr val="4B4B4B"/>
                          </a:solidFill>
                          <a:latin typeface="Arial"/>
                        </a:rPr>
                        <a:t>EBIX, Excel, Teams</a:t>
                      </a:r>
                    </a:p>
                  </a:txBody>
                  <a:tcPr marL="64008" marR="64008" marT="27432" marB="27432" anchor="ctr">
                    <a:solidFill>
                      <a:srgbClr val="E5F5FF"/>
                    </a:solidFill>
                  </a:tcPr>
                </a:tc>
                <a:tc>
                  <a:txBody>
                    <a:bodyPr wrap="square"/>
                    <a:lstStyle/>
                    <a:p>
                      <a:r>
                        <a:rPr sz="1100" b="0">
                          <a:solidFill>
                            <a:srgbClr val="4B4B4B"/>
                          </a:solidFill>
                          <a:latin typeface="Arial"/>
                        </a:rPr>
                        <a:t>Per insurer; signed copy for audit</a:t>
                      </a:r>
                    </a:p>
                  </a:txBody>
                  <a:tcPr marL="64008" marR="64008" marT="27432" marB="27432" anchor="ctr">
                    <a:solidFill>
                      <a:srgbClr val="E5F5FF"/>
                    </a:solidFill>
                  </a:tcPr>
                </a:tc>
                <a:tc>
                  <a:txBody>
                    <a:bodyPr wrap="square"/>
                    <a:lstStyle/>
                    <a:p>
                      <a:r>
                        <a:rPr sz="1100" b="0">
                          <a:solidFill>
                            <a:srgbClr val="4B4B4B"/>
                          </a:solidFill>
                          <a:latin typeface="Arial"/>
                        </a:rPr>
                        <a:t>Remittance TL / TH</a:t>
                      </a:r>
                    </a:p>
                  </a:txBody>
                  <a:tcPr marL="64008" marR="64008" marT="27432" marB="27432" anchor="ctr">
                    <a:solidFill>
                      <a:srgbClr val="E5F5FF"/>
                    </a:solidFill>
                  </a:tcPr>
                </a:tc>
              </a:tr>
              <a:tr h="650530">
                <a:tc>
                  <a:txBody>
                    <a:bodyPr wrap="square"/>
                    <a:lstStyle/>
                    <a:p>
                      <a:r>
                        <a:rPr sz="1100" b="1">
                          <a:solidFill>
                            <a:srgbClr val="4B4B4B"/>
                          </a:solidFill>
                          <a:latin typeface="Arial"/>
                        </a:rPr>
                        <a:t>Adjustment, cancellation</a:t>
                      </a:r>
                    </a:p>
                  </a:txBody>
                  <a:tcPr marL="64008" marR="64008" marT="27432" marB="27432" anchor="ctr">
                    <a:solidFill>
                      <a:srgbClr val="FFFFFF"/>
                    </a:solidFill>
                  </a:tcPr>
                </a:tc>
                <a:tc>
                  <a:txBody>
                    <a:bodyPr wrap="square"/>
                    <a:lstStyle/>
                    <a:p>
                      <a:r>
                        <a:rPr sz="1100" b="0">
                          <a:solidFill>
                            <a:srgbClr val="4B4B4B"/>
                          </a:solidFill>
                          <a:latin typeface="Arial"/>
                        </a:rPr>
                        <a:t>Marketing e-mail</a:t>
                      </a:r>
                    </a:p>
                  </a:txBody>
                  <a:tcPr marL="64008" marR="64008" marT="27432" marB="27432" anchor="ctr">
                    <a:solidFill>
                      <a:srgbClr val="FFFFFF"/>
                    </a:solidFill>
                  </a:tcPr>
                </a:tc>
                <a:tc>
                  <a:txBody>
                    <a:bodyPr wrap="square"/>
                    <a:lstStyle/>
                    <a:p>
                      <a:r>
                        <a:rPr sz="1100" b="0">
                          <a:solidFill>
                            <a:srgbClr val="4B4B4B"/>
                          </a:solidFill>
                          <a:latin typeface="Arial"/>
                        </a:rPr>
                        <a:t>Validate documents, key in EBIX endorsement module, checker-poster</a:t>
                      </a:r>
                    </a:p>
                  </a:txBody>
                  <a:tcPr marL="64008" marR="64008" marT="27432" marB="27432" anchor="ctr">
                    <a:solidFill>
                      <a:srgbClr val="FFFFFF"/>
                    </a:solidFill>
                  </a:tcPr>
                </a:tc>
                <a:tc>
                  <a:txBody>
                    <a:bodyPr wrap="square"/>
                    <a:lstStyle/>
                    <a:p>
                      <a:r>
                        <a:rPr sz="1100" b="0">
                          <a:solidFill>
                            <a:srgbClr val="4B4B4B"/>
                          </a:solidFill>
                          <a:latin typeface="Arial"/>
                        </a:rPr>
                        <a:t>EBIX, e-mail</a:t>
                      </a:r>
                    </a:p>
                  </a:txBody>
                  <a:tcPr marL="64008" marR="64008" marT="27432" marB="27432" anchor="ctr">
                    <a:solidFill>
                      <a:srgbClr val="FFFFFF"/>
                    </a:solidFill>
                  </a:tcPr>
                </a:tc>
                <a:tc>
                  <a:txBody>
                    <a:bodyPr wrap="square"/>
                    <a:lstStyle/>
                    <a:p>
                      <a:r>
                        <a:rPr sz="1100" b="0">
                          <a:solidFill>
                            <a:srgbClr val="4B4B4B"/>
                          </a:solidFill>
                          <a:latin typeface="Arial"/>
                        </a:rPr>
                        <a:t>Posted one by one; refund with tax</a:t>
                      </a:r>
                    </a:p>
                  </a:txBody>
                  <a:tcPr marL="64008" marR="64008" marT="27432" marB="27432" anchor="ctr">
                    <a:solidFill>
                      <a:srgbClr val="FFFFFF"/>
                    </a:solidFill>
                  </a:tcPr>
                </a:tc>
                <a:tc>
                  <a:txBody>
                    <a:bodyPr wrap="square"/>
                    <a:lstStyle/>
                    <a:p>
                      <a:r>
                        <a:rPr sz="1100" b="0">
                          <a:solidFill>
                            <a:srgbClr val="4B4B4B"/>
                          </a:solidFill>
                          <a:latin typeface="Arial"/>
                        </a:rPr>
                        <a:t>Adjustment TL / TH</a:t>
                      </a:r>
                    </a:p>
                  </a:txBody>
                  <a:tcPr marL="64008" marR="64008" marT="27432" marB="27432" anchor="ctr">
                    <a:solidFill>
                      <a:srgbClr val="FFFFFF"/>
                    </a:solidFill>
                  </a:tcPr>
                </a:tc>
              </a:tr>
              <a:tr h="650530">
                <a:tc>
                  <a:txBody>
                    <a:bodyPr wrap="square"/>
                    <a:lstStyle/>
                    <a:p>
                      <a:r>
                        <a:rPr sz="1100" b="1">
                          <a:solidFill>
                            <a:srgbClr val="4B4B4B"/>
                          </a:solidFill>
                          <a:latin typeface="Arial"/>
                        </a:rPr>
                        <a:t>Commission receivables (DP)</a:t>
                      </a:r>
                    </a:p>
                  </a:txBody>
                  <a:tcPr marL="64008" marR="64008" marT="27432" marB="27432" anchor="ctr">
                    <a:solidFill>
                      <a:srgbClr val="E5F5FF"/>
                    </a:solidFill>
                  </a:tcPr>
                </a:tc>
                <a:tc>
                  <a:txBody>
                    <a:bodyPr wrap="square"/>
                    <a:lstStyle/>
                    <a:p>
                      <a:r>
                        <a:rPr sz="1100" b="0">
                          <a:solidFill>
                            <a:srgbClr val="4B4B4B"/>
                          </a:solidFill>
                          <a:latin typeface="Arial"/>
                        </a:rPr>
                        <a:t>Monthly DP lists</a:t>
                      </a:r>
                    </a:p>
                  </a:txBody>
                  <a:tcPr marL="64008" marR="64008" marT="27432" marB="27432" anchor="ctr">
                    <a:solidFill>
                      <a:srgbClr val="E5F5FF"/>
                    </a:solidFill>
                  </a:tcPr>
                </a:tc>
                <a:tc>
                  <a:txBody>
                    <a:bodyPr wrap="square"/>
                    <a:lstStyle/>
                    <a:p>
                      <a:r>
                        <a:rPr sz="1100" b="0">
                          <a:solidFill>
                            <a:srgbClr val="4B4B4B"/>
                          </a:solidFill>
                          <a:latin typeface="Arial"/>
                        </a:rPr>
                        <a:t>Consolidate, validate, bill per insurer, follow up, OR, DP reversal</a:t>
                      </a:r>
                    </a:p>
                  </a:txBody>
                  <a:tcPr marL="64008" marR="64008" marT="27432" marB="27432" anchor="ctr">
                    <a:solidFill>
                      <a:srgbClr val="E5F5FF"/>
                    </a:solidFill>
                  </a:tcPr>
                </a:tc>
                <a:tc>
                  <a:txBody>
                    <a:bodyPr wrap="square"/>
                    <a:lstStyle/>
                    <a:p>
                      <a:r>
                        <a:rPr sz="1100" b="0">
                          <a:solidFill>
                            <a:srgbClr val="4B4B4B"/>
                          </a:solidFill>
                          <a:latin typeface="Arial"/>
                        </a:rPr>
                        <a:t>Excel, e-mail, phone</a:t>
                      </a:r>
                    </a:p>
                  </a:txBody>
                  <a:tcPr marL="64008" marR="64008" marT="27432" marB="27432" anchor="ctr">
                    <a:solidFill>
                      <a:srgbClr val="E5F5FF"/>
                    </a:solidFill>
                  </a:tcPr>
                </a:tc>
                <a:tc>
                  <a:txBody>
                    <a:bodyPr wrap="square"/>
                    <a:lstStyle/>
                    <a:p>
                      <a:r>
                        <a:rPr sz="1100" b="0">
                          <a:solidFill>
                            <a:srgbClr val="4B4B4B"/>
                          </a:solidFill>
                          <a:latin typeface="Arial"/>
                        </a:rPr>
                        <a:t>Full premium first; no partial for direct</a:t>
                      </a:r>
                    </a:p>
                  </a:txBody>
                  <a:tcPr marL="64008" marR="64008" marT="27432" marB="27432" anchor="ctr">
                    <a:solidFill>
                      <a:srgbClr val="E5F5FF"/>
                    </a:solidFill>
                  </a:tcPr>
                </a:tc>
                <a:tc>
                  <a:txBody>
                    <a:bodyPr wrap="square"/>
                    <a:lstStyle/>
                    <a:p>
                      <a:r>
                        <a:rPr sz="1100" b="0">
                          <a:solidFill>
                            <a:srgbClr val="4B4B4B"/>
                          </a:solidFill>
                          <a:latin typeface="Arial"/>
                        </a:rPr>
                        <a:t>CRU</a:t>
                      </a:r>
                    </a:p>
                  </a:txBody>
                  <a:tcPr marL="64008" marR="64008" marT="27432" marB="27432" anchor="ctr">
                    <a:solidFill>
                      <a:srgbClr val="E5F5FF"/>
                    </a:solidFill>
                  </a:tcPr>
                </a:tc>
              </a:tr>
              <a:tr h="650530">
                <a:tc>
                  <a:txBody>
                    <a:bodyPr wrap="square"/>
                    <a:lstStyle/>
                    <a:p>
                      <a:r>
                        <a:rPr sz="1100" b="1">
                          <a:solidFill>
                            <a:srgbClr val="4B4B4B"/>
                          </a:solidFill>
                          <a:latin typeface="Arial"/>
                        </a:rPr>
                        <a:t>Production reconciliation</a:t>
                      </a:r>
                    </a:p>
                  </a:txBody>
                  <a:tcPr marL="64008" marR="64008" marT="27432" marB="27432" anchor="ctr">
                    <a:solidFill>
                      <a:srgbClr val="FFFFFF"/>
                    </a:solidFill>
                  </a:tcPr>
                </a:tc>
                <a:tc>
                  <a:txBody>
                    <a:bodyPr wrap="square"/>
                    <a:lstStyle/>
                    <a:p>
                      <a:r>
                        <a:rPr sz="1100" b="0">
                          <a:solidFill>
                            <a:srgbClr val="4B4B4B"/>
                          </a:solidFill>
                          <a:latin typeface="Arial"/>
                        </a:rPr>
                        <a:t>Monthly, first week</a:t>
                      </a:r>
                    </a:p>
                  </a:txBody>
                  <a:tcPr marL="64008" marR="64008" marT="27432" marB="27432" anchor="ctr">
                    <a:solidFill>
                      <a:srgbClr val="FFFFFF"/>
                    </a:solidFill>
                  </a:tcPr>
                </a:tc>
                <a:tc>
                  <a:txBody>
                    <a:bodyPr wrap="square"/>
                    <a:lstStyle/>
                    <a:p>
                      <a:r>
                        <a:rPr sz="1100" b="0">
                          <a:solidFill>
                            <a:srgbClr val="4B4B4B"/>
                          </a:solidFill>
                          <a:latin typeface="Arial"/>
                        </a:rPr>
                        <a:t>IT extract, per-insurer files, insurer feedback, classification, unbooked follow-up</a:t>
                      </a:r>
                    </a:p>
                  </a:txBody>
                  <a:tcPr marL="64008" marR="64008" marT="27432" marB="27432" anchor="ctr">
                    <a:solidFill>
                      <a:srgbClr val="FFFFFF"/>
                    </a:solidFill>
                  </a:tcPr>
                </a:tc>
                <a:tc>
                  <a:txBody>
                    <a:bodyPr wrap="square"/>
                    <a:lstStyle/>
                    <a:p>
                      <a:r>
                        <a:rPr sz="1100" b="0">
                          <a:solidFill>
                            <a:srgbClr val="4B4B4B"/>
                          </a:solidFill>
                          <a:latin typeface="Arial"/>
                        </a:rPr>
                        <a:t>Excel, e-mail</a:t>
                      </a:r>
                    </a:p>
                  </a:txBody>
                  <a:tcPr marL="64008" marR="64008" marT="27432" marB="27432" anchor="ctr">
                    <a:solidFill>
                      <a:srgbClr val="FFFFFF"/>
                    </a:solidFill>
                  </a:tcPr>
                </a:tc>
                <a:tc>
                  <a:txBody>
                    <a:bodyPr wrap="square"/>
                    <a:lstStyle/>
                    <a:p>
                      <a:r>
                        <a:rPr sz="1100" b="0">
                          <a:solidFill>
                            <a:srgbClr val="4B4B4B"/>
                          </a:solidFill>
                          <a:latin typeface="Arial"/>
                        </a:rPr>
                        <a:t>20-30K lines per insurer</a:t>
                      </a:r>
                    </a:p>
                  </a:txBody>
                  <a:tcPr marL="64008" marR="64008" marT="27432" marB="27432" anchor="ctr">
                    <a:solidFill>
                      <a:srgbClr val="FFFFFF"/>
                    </a:solidFill>
                  </a:tcPr>
                </a:tc>
                <a:tc>
                  <a:txBody>
                    <a:bodyPr wrap="square"/>
                    <a:lstStyle/>
                    <a:p>
                      <a:r>
                        <a:rPr sz="1100" b="0">
                          <a:solidFill>
                            <a:srgbClr val="4B4B4B"/>
                          </a:solidFill>
                          <a:latin typeface="Arial"/>
                        </a:rPr>
                        <a:t>Recon handler</a:t>
                      </a:r>
                    </a:p>
                  </a:txBody>
                  <a:tcPr marL="64008" marR="64008" marT="27432" marB="27432" anchor="ctr">
                    <a:solidFill>
                      <a:srgbClr val="FFFFFF"/>
                    </a:solidFill>
                  </a:tcPr>
                </a:tc>
              </a:tr>
              <a:tr h="650530">
                <a:tc>
                  <a:txBody>
                    <a:bodyPr wrap="square"/>
                    <a:lstStyle/>
                    <a:p>
                      <a:r>
                        <a:rPr sz="1100" b="1">
                          <a:solidFill>
                            <a:srgbClr val="4B4B4B"/>
                          </a:solidFill>
                          <a:latin typeface="Arial"/>
                        </a:rPr>
                        <a:t>DPPR / PR2307 reversal</a:t>
                      </a:r>
                    </a:p>
                  </a:txBody>
                  <a:tcPr marL="64008" marR="64008" marT="27432" marB="27432" anchor="ctr">
                    <a:solidFill>
                      <a:srgbClr val="E5F5FF"/>
                    </a:solidFill>
                  </a:tcPr>
                </a:tc>
                <a:tc>
                  <a:txBody>
                    <a:bodyPr wrap="square"/>
                    <a:lstStyle/>
                    <a:p>
                      <a:r>
                        <a:rPr sz="1100" b="0">
                          <a:solidFill>
                            <a:srgbClr val="4B4B4B"/>
                          </a:solidFill>
                          <a:latin typeface="Arial"/>
                        </a:rPr>
                        <a:t>On CRU list</a:t>
                      </a:r>
                    </a:p>
                  </a:txBody>
                  <a:tcPr marL="64008" marR="64008" marT="27432" marB="27432" anchor="ctr">
                    <a:solidFill>
                      <a:srgbClr val="E5F5FF"/>
                    </a:solidFill>
                  </a:tcPr>
                </a:tc>
                <a:tc>
                  <a:txBody>
                    <a:bodyPr wrap="square"/>
                    <a:lstStyle/>
                    <a:p>
                      <a:r>
                        <a:rPr sz="1100" b="0">
                          <a:solidFill>
                            <a:srgbClr val="4B4B4B"/>
                          </a:solidFill>
                          <a:latin typeface="Arial"/>
                        </a:rPr>
                        <a:t>SharePoint list, IT extract, VLOOKUP, SL reversal, knock-off, zero workfile</a:t>
                      </a:r>
                    </a:p>
                  </a:txBody>
                  <a:tcPr marL="64008" marR="64008" marT="27432" marB="27432" anchor="ctr">
                    <a:solidFill>
                      <a:srgbClr val="E5F5FF"/>
                    </a:solidFill>
                  </a:tcPr>
                </a:tc>
                <a:tc>
                  <a:txBody>
                    <a:bodyPr wrap="square"/>
                    <a:lstStyle/>
                    <a:p>
                      <a:r>
                        <a:rPr sz="1100" b="0">
                          <a:solidFill>
                            <a:srgbClr val="4B4B4B"/>
                          </a:solidFill>
                          <a:latin typeface="Arial"/>
                        </a:rPr>
                        <a:t>EBIX, SharePoint, Teams</a:t>
                      </a:r>
                    </a:p>
                  </a:txBody>
                  <a:tcPr marL="64008" marR="64008" marT="27432" marB="27432" anchor="ctr">
                    <a:solidFill>
                      <a:srgbClr val="E5F5FF"/>
                    </a:solidFill>
                  </a:tcPr>
                </a:tc>
                <a:tc>
                  <a:txBody>
                    <a:bodyPr wrap="square"/>
                    <a:lstStyle/>
                    <a:p>
                      <a:r>
                        <a:rPr sz="1100" b="0">
                          <a:solidFill>
                            <a:srgbClr val="4B4B4B"/>
                          </a:solidFill>
                          <a:latin typeface="Arial"/>
                        </a:rPr>
                        <a:t>Variance 0.01-0.99</a:t>
                      </a:r>
                    </a:p>
                  </a:txBody>
                  <a:tcPr marL="64008" marR="64008" marT="27432" marB="27432" anchor="ctr">
                    <a:solidFill>
                      <a:srgbClr val="E5F5FF"/>
                    </a:solidFill>
                  </a:tcPr>
                </a:tc>
                <a:tc>
                  <a:txBody>
                    <a:bodyPr wrap="square"/>
                    <a:lstStyle/>
                    <a:p>
                      <a:r>
                        <a:rPr sz="1100" b="0">
                          <a:solidFill>
                            <a:srgbClr val="4B4B4B"/>
                          </a:solidFill>
                          <a:latin typeface="Arial"/>
                        </a:rPr>
                        <a:t>CRU, Cashiering</a:t>
                      </a:r>
                    </a:p>
                  </a:txBody>
                  <a:tcPr marL="64008" marR="64008" marT="27432" marB="27432" anchor="ctr">
                    <a:solidFill>
                      <a:srgbClr val="E5F5FF"/>
                    </a:solidFill>
                  </a:tcPr>
                </a:tc>
              </a:tr>
              <a:tr h="650530">
                <a:tc>
                  <a:txBody>
                    <a:bodyPr wrap="square"/>
                    <a:lstStyle/>
                    <a:p>
                      <a:r>
                        <a:rPr sz="1100" b="1">
                          <a:solidFill>
                            <a:srgbClr val="4B4B4B"/>
                          </a:solidFill>
                          <a:latin typeface="Arial"/>
                        </a:rPr>
                        <a:t>Policy-fee invoicing</a:t>
                      </a:r>
                    </a:p>
                  </a:txBody>
                  <a:tcPr marL="64008" marR="64008" marT="27432" marB="27432" anchor="ctr">
                    <a:solidFill>
                      <a:srgbClr val="FFFFFF"/>
                    </a:solidFill>
                  </a:tcPr>
                </a:tc>
                <a:tc>
                  <a:txBody>
                    <a:bodyPr wrap="square"/>
                    <a:lstStyle/>
                    <a:p>
                      <a:r>
                        <a:rPr sz="1100" b="0">
                          <a:solidFill>
                            <a:srgbClr val="4B4B4B"/>
                          </a:solidFill>
                          <a:latin typeface="Arial"/>
                        </a:rPr>
                        <a:t>Requestor schedule</a:t>
                      </a:r>
                    </a:p>
                  </a:txBody>
                  <a:tcPr marL="64008" marR="64008" marT="27432" marB="27432" anchor="ctr">
                    <a:solidFill>
                      <a:srgbClr val="FFFFFF"/>
                    </a:solidFill>
                  </a:tcPr>
                </a:tc>
                <a:tc>
                  <a:txBody>
                    <a:bodyPr wrap="square"/>
                    <a:lstStyle/>
                    <a:p>
                      <a:r>
                        <a:rPr sz="1100" b="0">
                          <a:solidFill>
                            <a:srgbClr val="4B4B4B"/>
                          </a:solidFill>
                          <a:latin typeface="Arial"/>
                        </a:rPr>
                        <a:t>Key client, risk code, date, amount, branch, allocation; preview; send</a:t>
                      </a:r>
                    </a:p>
                  </a:txBody>
                  <a:tcPr marL="64008" marR="64008" marT="27432" marB="27432" anchor="ctr">
                    <a:solidFill>
                      <a:srgbClr val="FFFFFF"/>
                    </a:solidFill>
                  </a:tcPr>
                </a:tc>
                <a:tc>
                  <a:txBody>
                    <a:bodyPr wrap="square"/>
                    <a:lstStyle/>
                    <a:p>
                      <a:r>
                        <a:rPr sz="1100" b="0">
                          <a:solidFill>
                            <a:srgbClr val="4B4B4B"/>
                          </a:solidFill>
                          <a:latin typeface="Arial"/>
                        </a:rPr>
                        <a:t>EBIX report menu</a:t>
                      </a:r>
                    </a:p>
                  </a:txBody>
                  <a:tcPr marL="64008" marR="64008" marT="27432" marB="27432" anchor="ctr">
                    <a:solidFill>
                      <a:srgbClr val="FFFFFF"/>
                    </a:solidFill>
                  </a:tcPr>
                </a:tc>
                <a:tc>
                  <a:txBody>
                    <a:bodyPr wrap="square"/>
                    <a:lstStyle/>
                    <a:p>
                      <a:r>
                        <a:rPr sz="1100" b="0">
                          <a:solidFill>
                            <a:srgbClr val="4B4B4B"/>
                          </a:solidFill>
                          <a:latin typeface="Arial"/>
                        </a:rPr>
                        <a:t>Status must read Invoiced</a:t>
                      </a:r>
                    </a:p>
                  </a:txBody>
                  <a:tcPr marL="64008" marR="64008" marT="27432" marB="27432" anchor="ctr">
                    <a:solidFill>
                      <a:srgbClr val="FFFFFF"/>
                    </a:solidFill>
                  </a:tcPr>
                </a:tc>
                <a:tc>
                  <a:txBody>
                    <a:bodyPr wrap="square"/>
                    <a:lstStyle/>
                    <a:p>
                      <a:r>
                        <a:rPr sz="1100" b="0">
                          <a:solidFill>
                            <a:srgbClr val="4B4B4B"/>
                          </a:solidFill>
                          <a:latin typeface="Arial"/>
                        </a:rPr>
                        <a:t>Operations</a:t>
                      </a:r>
                    </a:p>
                  </a:txBody>
                  <a:tcPr marL="64008" marR="64008" marT="27432" marB="27432" anchor="ctr">
                    <a:solidFill>
                      <a:srgbClr val="FFFFFF"/>
                    </a:solidFill>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Intake checks by hand</a:t>
            </a:r>
          </a:p>
          <a:p>
            <a:pPr>
              <a:spcAft>
                <a:spcPts val="100"/>
              </a:spcAft>
            </a:pPr>
            <a:r>
              <a:rPr sz="1200" b="0">
                <a:solidFill>
                  <a:srgbClr val="4B4B4B"/>
                </a:solidFill>
                <a:latin typeface="Arial"/>
              </a:rPr>
              <a:t>4-day check hold, bounced-check list and exclusion list are checked before each payment is applied.</a:t>
            </a:r>
          </a:p>
          <a:p>
            <a:pPr>
              <a:spcAft>
                <a:spcPts val="100"/>
              </a:spcAft>
            </a:pPr>
            <a:r>
              <a:rPr sz="1200" b="0">
                <a:solidFill>
                  <a:srgbClr val="0072D8"/>
                </a:solidFill>
                <a:latin typeface="Arial"/>
              </a:rPr>
              <a:t>Operations flow (Cashiering); Day 1 p.20</a:t>
            </a:r>
          </a:p>
        </p:txBody>
      </p:sp>
      <p:sp>
        <p:nvSpPr>
          <p:cNvPr id="11" name="Oval 10"/>
          <p:cNvSpPr/>
          <p:nvPr/>
        </p:nvSpPr>
        <p:spPr>
          <a:xfrm>
            <a:off x="548640"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Three references per transaction</a:t>
            </a:r>
          </a:p>
          <a:p>
            <a:pPr>
              <a:spcAft>
                <a:spcPts val="100"/>
              </a:spcAft>
            </a:pPr>
            <a:r>
              <a:rPr sz="1200" b="0">
                <a:solidFill>
                  <a:srgbClr val="4B4B4B"/>
                </a:solidFill>
                <a:latin typeface="Arial"/>
              </a:rPr>
              <a:t>ISYS invoice no., QPS reference, EBIX reference and payment reference; tracing is slow.</a:t>
            </a:r>
          </a:p>
          <a:p>
            <a:pPr>
              <a:spcAft>
                <a:spcPts val="100"/>
              </a:spcAft>
            </a:pPr>
            <a:r>
              <a:rPr sz="1200" b="0">
                <a:solidFill>
                  <a:srgbClr val="0072D8"/>
                </a:solidFill>
                <a:latin typeface="Arial"/>
              </a:rPr>
              <a:t>OV-03, CA-01</a:t>
            </a:r>
          </a:p>
        </p:txBody>
      </p:sp>
      <p:sp>
        <p:nvSpPr>
          <p:cNvPr id="13" name="Oval 12"/>
          <p:cNvSpPr/>
          <p:nvPr/>
        </p:nvSpPr>
        <p:spPr>
          <a:xfrm>
            <a:off x="548640"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Payment files split in Excel</a:t>
            </a:r>
          </a:p>
          <a:p>
            <a:pPr>
              <a:spcAft>
                <a:spcPts val="100"/>
              </a:spcAft>
            </a:pPr>
            <a:r>
              <a:rPr sz="1200" b="0">
                <a:solidFill>
                  <a:srgbClr val="4B4B4B"/>
                </a:solidFill>
                <a:latin typeface="Arial"/>
              </a:rPr>
              <a:t>Zero-PR tagging and exact, excess and actual-payment files are built by hand.</a:t>
            </a:r>
          </a:p>
          <a:p>
            <a:pPr>
              <a:spcAft>
                <a:spcPts val="100"/>
              </a:spcAft>
            </a:pPr>
            <a:r>
              <a:rPr sz="1200" b="0">
                <a:solidFill>
                  <a:srgbClr val="0072D8"/>
                </a:solidFill>
                <a:latin typeface="Arial"/>
              </a:rPr>
              <a:t>Operations flow (Cashiering)</a:t>
            </a:r>
          </a:p>
        </p:txBody>
      </p:sp>
      <p:sp>
        <p:nvSpPr>
          <p:cNvPr id="15" name="Oval 14"/>
          <p:cNvSpPr/>
          <p:nvPr/>
        </p:nvSpPr>
        <p:spPr>
          <a:xfrm>
            <a:off x="548640"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receipts and unapplied</a:t>
            </a:r>
          </a:p>
          <a:p>
            <a:pPr>
              <a:spcAft>
                <a:spcPts val="100"/>
              </a:spcAft>
            </a:pPr>
            <a:r>
              <a:rPr sz="1200" b="0">
                <a:solidFill>
                  <a:srgbClr val="4B4B4B"/>
                </a:solidFill>
                <a:latin typeface="Arial"/>
              </a:rPr>
              <a:t>AR and OR are prepared by hand; unapplied items are followed offline.</a:t>
            </a:r>
          </a:p>
          <a:p>
            <a:pPr>
              <a:spcAft>
                <a:spcPts val="100"/>
              </a:spcAft>
            </a:pPr>
            <a:r>
              <a:rPr sz="1200" b="0">
                <a:solidFill>
                  <a:srgbClr val="0072D8"/>
                </a:solidFill>
                <a:latin typeface="Arial"/>
              </a:rPr>
              <a:t>CA-01, CA-04; BRD-2 p.11</a:t>
            </a:r>
          </a:p>
        </p:txBody>
      </p:sp>
      <p:sp>
        <p:nvSpPr>
          <p:cNvPr id="17" name="Oval 16"/>
          <p:cNvSpPr/>
          <p:nvPr/>
        </p:nvSpPr>
        <p:spPr>
          <a:xfrm>
            <a:off x="548640"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Direct-pay money without entries</a:t>
            </a:r>
          </a:p>
          <a:p>
            <a:pPr>
              <a:spcAft>
                <a:spcPts val="100"/>
              </a:spcAft>
            </a:pPr>
            <a:r>
              <a:rPr sz="1200" b="0">
                <a:solidFill>
                  <a:srgbClr val="4B4B4B"/>
                </a:solidFill>
                <a:latin typeface="Arial"/>
              </a:rPr>
              <a:t>A client payment on a DP-tagged policy creates no premium entry.</a:t>
            </a:r>
          </a:p>
          <a:p>
            <a:pPr>
              <a:spcAft>
                <a:spcPts val="100"/>
              </a:spcAft>
            </a:pPr>
            <a:r>
              <a:rPr sz="1200" b="0">
                <a:solidFill>
                  <a:srgbClr val="0072D8"/>
                </a:solidFill>
                <a:latin typeface="Arial"/>
              </a:rPr>
              <a:t>CA-03</a:t>
            </a:r>
          </a:p>
        </p:txBody>
      </p:sp>
      <p:sp>
        <p:nvSpPr>
          <p:cNvPr id="19" name="Oval 18"/>
          <p:cNvSpPr/>
          <p:nvPr/>
        </p:nvSpPr>
        <p:spPr>
          <a:xfrm>
            <a:off x="548640"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1024128"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Remittance sanitised by hand</a:t>
            </a:r>
          </a:p>
          <a:p>
            <a:pPr>
              <a:spcAft>
                <a:spcPts val="100"/>
              </a:spcAft>
            </a:pPr>
            <a:r>
              <a:rPr sz="1200" b="0">
                <a:solidFill>
                  <a:srgbClr val="4B4B4B"/>
                </a:solidFill>
                <a:latin typeface="Arial"/>
              </a:rPr>
              <a:t>Weekly EBIX extract cleaned of reversals, knock-offs and invalid accounts in Excel.</a:t>
            </a:r>
          </a:p>
          <a:p>
            <a:pPr>
              <a:spcAft>
                <a:spcPts val="100"/>
              </a:spcAft>
            </a:pPr>
            <a:r>
              <a:rPr sz="1200" b="0">
                <a:solidFill>
                  <a:srgbClr val="0072D8"/>
                </a:solidFill>
                <a:latin typeface="Arial"/>
              </a:rPr>
              <a:t>Day 1 p.21; BRD-2 p.11</a:t>
            </a:r>
          </a:p>
        </p:txBody>
      </p:sp>
      <p:sp>
        <p:nvSpPr>
          <p:cNvPr id="21" name="Oval 20"/>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Approval on Teams, signed paper copy</a:t>
            </a:r>
          </a:p>
          <a:p>
            <a:pPr>
              <a:spcAft>
                <a:spcPts val="100"/>
              </a:spcAft>
            </a:pPr>
            <a:r>
              <a:rPr sz="1200" b="0">
                <a:solidFill>
                  <a:srgbClr val="4B4B4B"/>
                </a:solidFill>
                <a:latin typeface="Arial"/>
              </a:rPr>
              <a:t>The settlement list is approved on an MS Teams list; a signed copy is kept for audit.</a:t>
            </a:r>
          </a:p>
          <a:p>
            <a:pPr>
              <a:spcAft>
                <a:spcPts val="100"/>
              </a:spcAft>
            </a:pPr>
            <a:r>
              <a:rPr sz="1200" b="0">
                <a:solidFill>
                  <a:srgbClr val="0072D8"/>
                </a:solidFill>
                <a:latin typeface="Arial"/>
              </a:rPr>
              <a:t>Day 1 p.21</a:t>
            </a:r>
          </a:p>
        </p:txBody>
      </p:sp>
      <p:sp>
        <p:nvSpPr>
          <p:cNvPr id="23" name="Oval 22"/>
          <p:cNvSpPr/>
          <p:nvPr/>
        </p:nvSpPr>
        <p:spPr>
          <a:xfrm>
            <a:off x="6233007"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DP commission billed from Excel</a:t>
            </a:r>
          </a:p>
          <a:p>
            <a:pPr>
              <a:spcAft>
                <a:spcPts val="100"/>
              </a:spcAft>
            </a:pPr>
            <a:r>
              <a:rPr sz="1200" b="0">
                <a:solidFill>
                  <a:srgbClr val="4B4B4B"/>
                </a:solidFill>
                <a:latin typeface="Arial"/>
              </a:rPr>
              <a:t>Unit lists consolidated by hand, billed by e-mail, chased by phone and chat.</a:t>
            </a:r>
          </a:p>
          <a:p>
            <a:pPr>
              <a:spcAft>
                <a:spcPts val="100"/>
              </a:spcAft>
            </a:pPr>
            <a:r>
              <a:rPr sz="1200" b="0">
                <a:solidFill>
                  <a:srgbClr val="0072D8"/>
                </a:solidFill>
                <a:latin typeface="Arial"/>
              </a:rPr>
              <a:t>Day 1 p.23; BRD-2 p.11</a:t>
            </a:r>
          </a:p>
        </p:txBody>
      </p:sp>
      <p:sp>
        <p:nvSpPr>
          <p:cNvPr id="25" name="Oval 24"/>
          <p:cNvSpPr/>
          <p:nvPr/>
        </p:nvSpPr>
        <p:spPr>
          <a:xfrm>
            <a:off x="6233007"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 reconciliation in Excel</a:t>
            </a:r>
          </a:p>
          <a:p>
            <a:pPr>
              <a:spcAft>
                <a:spcPts val="100"/>
              </a:spcAft>
            </a:pPr>
            <a:r>
              <a:rPr sz="1200" b="0">
                <a:solidFill>
                  <a:srgbClr val="4B4B4B"/>
                </a:solidFill>
                <a:latin typeface="Arial"/>
              </a:rPr>
              <a:t>20-30K lines per insurer a month, password e-mails, manual classification.</a:t>
            </a:r>
          </a:p>
          <a:p>
            <a:pPr>
              <a:spcAft>
                <a:spcPts val="100"/>
              </a:spcAft>
            </a:pPr>
            <a:r>
              <a:rPr sz="1200" b="0">
                <a:solidFill>
                  <a:srgbClr val="0072D8"/>
                </a:solidFill>
                <a:latin typeface="Arial"/>
              </a:rPr>
              <a:t>Day 1 p.24; BRD-2 p.11</a:t>
            </a:r>
          </a:p>
        </p:txBody>
      </p:sp>
      <p:sp>
        <p:nvSpPr>
          <p:cNvPr id="27" name="Oval 26"/>
          <p:cNvSpPr/>
          <p:nvPr/>
        </p:nvSpPr>
        <p:spPr>
          <a:xfrm>
            <a:off x="6233007"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10</a:t>
            </a:r>
          </a:p>
        </p:txBody>
      </p:sp>
      <p:sp>
        <p:nvSpPr>
          <p:cNvPr id="28" name="TextBox 27"/>
          <p:cNvSpPr txBox="1"/>
          <p:nvPr/>
        </p:nvSpPr>
        <p:spPr>
          <a:xfrm>
            <a:off x="6708495"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Reversals through IT and VLOOKUP</a:t>
            </a:r>
          </a:p>
          <a:p>
            <a:pPr>
              <a:spcAft>
                <a:spcPts val="100"/>
              </a:spcAft>
            </a:pPr>
            <a:r>
              <a:rPr sz="1200" b="0">
                <a:solidFill>
                  <a:srgbClr val="4B4B4B"/>
                </a:solidFill>
                <a:latin typeface="Arial"/>
              </a:rPr>
              <a:t>SharePoint and Teams hand-offs, IT extract, manual SL journals, zero-value workfile.</a:t>
            </a:r>
          </a:p>
          <a:p>
            <a:pPr>
              <a:spcAft>
                <a:spcPts val="100"/>
              </a:spcAft>
            </a:pPr>
            <a:r>
              <a:rPr sz="1200" b="0">
                <a:solidFill>
                  <a:srgbClr val="0072D8"/>
                </a:solidFill>
                <a:latin typeface="Arial"/>
              </a:rPr>
              <a:t>Day 1 p.24; TX-02</a:t>
            </a:r>
          </a:p>
        </p:txBody>
      </p:sp>
      <p:sp>
        <p:nvSpPr>
          <p:cNvPr id="29" name="Oval 28"/>
          <p:cNvSpPr/>
          <p:nvPr/>
        </p:nvSpPr>
        <p:spPr>
          <a:xfrm>
            <a:off x="6233007"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11</a:t>
            </a:r>
          </a:p>
        </p:txBody>
      </p:sp>
      <p:sp>
        <p:nvSpPr>
          <p:cNvPr id="30" name="TextBox 29"/>
          <p:cNvSpPr txBox="1"/>
          <p:nvPr/>
        </p:nvSpPr>
        <p:spPr>
          <a:xfrm>
            <a:off x="6708495"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Endorsements by e-mail and keyed</a:t>
            </a:r>
          </a:p>
          <a:p>
            <a:pPr>
              <a:spcAft>
                <a:spcPts val="100"/>
              </a:spcAft>
            </a:pPr>
            <a:r>
              <a:rPr sz="1200" b="0">
                <a:solidFill>
                  <a:srgbClr val="4B4B4B"/>
                </a:solidFill>
                <a:latin typeface="Arial"/>
              </a:rPr>
              <a:t>Requests arrive by e-mail; premium is computed outside; posting one by one.</a:t>
            </a:r>
          </a:p>
          <a:p>
            <a:pPr>
              <a:spcAft>
                <a:spcPts val="100"/>
              </a:spcAft>
            </a:pPr>
            <a:r>
              <a:rPr sz="1200" b="0">
                <a:solidFill>
                  <a:srgbClr val="0072D8"/>
                </a:solidFill>
                <a:latin typeface="Arial"/>
              </a:rPr>
              <a:t>EN-01; BRD-2 p.11</a:t>
            </a:r>
          </a:p>
        </p:txBody>
      </p:sp>
      <p:sp>
        <p:nvSpPr>
          <p:cNvPr id="31" name="Oval 30"/>
          <p:cNvSpPr/>
          <p:nvPr/>
        </p:nvSpPr>
        <p:spPr>
          <a:xfrm>
            <a:off x="6233007"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12</a:t>
            </a:r>
          </a:p>
        </p:txBody>
      </p:sp>
      <p:sp>
        <p:nvSpPr>
          <p:cNvPr id="32" name="TextBox 31"/>
          <p:cNvSpPr txBox="1"/>
          <p:nvPr/>
        </p:nvSpPr>
        <p:spPr>
          <a:xfrm>
            <a:off x="6708495"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Invoices keyed, reports from IT</a:t>
            </a:r>
          </a:p>
          <a:p>
            <a:pPr>
              <a:spcAft>
                <a:spcPts val="100"/>
              </a:spcAft>
            </a:pPr>
            <a:r>
              <a:rPr sz="1200" b="0">
                <a:solidFill>
                  <a:srgbClr val="4B4B4B"/>
                </a:solidFill>
                <a:latin typeface="Arial"/>
              </a:rPr>
              <a:t>Policy-fee invoices keyed in a report menu; reports need IT.</a:t>
            </a:r>
          </a:p>
          <a:p>
            <a:pPr>
              <a:spcAft>
                <a:spcPts val="100"/>
              </a:spcAft>
            </a:pPr>
            <a:r>
              <a:rPr sz="1200" b="0">
                <a:solidFill>
                  <a:srgbClr val="0072D8"/>
                </a:solidFill>
                <a:latin typeface="Arial"/>
              </a:rPr>
              <a:t>Day 1 p.25; RP-01; BRD-2 p.11</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pic>
        <p:nvPicPr>
          <p:cNvPr id="9" name="Picture 8" descr="brd02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Life of a booked invoice in BIBS: Cashiering, Remittance, Reconciliation, Adjustment, Commission (FRS BRD-2 section 2.2)</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how the BRD answers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Intake checks by hand</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Clearing period and bounced-check status checked by the system at acceptance; holds carry a reason</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Checks at entry</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Three references per transaction</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The booked invoice carries one ARN and invoice number; legacy references kept for search</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number to trace</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files split in Excel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Payment matched to the invoice and applied by component; excess goes to unapplied automatically</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split files</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receipts and unapplied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AR and OR from controlled series per branch; unapplied workbench with disposition and approval</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Receipts generated</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Direct-pay money without entries</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DP tag set at quotation and reversed on confirmed collection (MKTID.011-012); a payment on a DP invoice needs a rule (see gaps)</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Partly answered</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Remittance sanitised by hand</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Scheduled extraction of paid, cleared and eligible premium into batches per insurer</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manual extract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how the BRD answers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Approval on Teams, signed paper copy</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Batch approval in the workflow by a TL / TH who is not the maker; audit trail kept</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Four eyes, no paper</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DP commission billed from Excel</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DP lists uploaded, validated, billed per insurer with a 10-working-day SLA; OR on collection</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Tracked to closure</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reconciliation in Excel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Register sent to the insurer; feedback uploaded and matched within tolerance; unbooked followed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Matching automated</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10</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Reversals through IT and VLOOKUP</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PR2307 tagging and reversal entries generated from the invoice (CSHID.026-027)</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IT extract</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11</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Endorsements by e-mail and keyed</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Endorsement request in the system, premium recomputed per insurer, approved, posted in batches</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Computed, not keyed</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12</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Invoices keyed, reports from IT</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Service invoice from the Other Income screen; users run reports and exports themselves</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Self-service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gaps in the BRD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Payment on a direct-pay invoice</a:t>
                      </a:r>
                    </a:p>
                  </a:txBody>
                  <a:tcPr marL="64008" marR="64008" marT="27432" marB="27432" anchor="ctr">
                    <a:solidFill>
                      <a:srgbClr val="FFFFFF"/>
                    </a:solidFill>
                  </a:tcPr>
                </a:tc>
                <a:tc>
                  <a:txBody>
                    <a:bodyPr wrap="square"/>
                    <a:lstStyle/>
                    <a:p>
                      <a:r>
                        <a:rPr sz="1100" b="0">
                          <a:solidFill>
                            <a:srgbClr val="4B4B4B"/>
                          </a:solidFill>
                          <a:latin typeface="Arial"/>
                        </a:rPr>
                        <a:t>The client still pays BDOI; no entry is created (CA-03).</a:t>
                      </a:r>
                    </a:p>
                  </a:txBody>
                  <a:tcPr marL="64008" marR="64008" marT="27432" marB="27432" anchor="ctr">
                    <a:solidFill>
                      <a:srgbClr val="FFFFFF"/>
                    </a:solidFill>
                  </a:tcPr>
                </a:tc>
                <a:tc>
                  <a:txBody>
                    <a:bodyPr wrap="square"/>
                    <a:lstStyle/>
                    <a:p>
                      <a:r>
                        <a:rPr sz="1100" b="0">
                          <a:solidFill>
                            <a:srgbClr val="4B4B4B"/>
                          </a:solidFill>
                          <a:latin typeface="Arial"/>
                        </a:rPr>
                        <a:t>DP tag at quotation (MKTID.011); no rule for cash received on a DP invoice.</a:t>
                      </a:r>
                    </a:p>
                  </a:txBody>
                  <a:tcPr marL="64008" marR="64008" marT="27432" marB="27432" anchor="ctr">
                    <a:solidFill>
                      <a:srgbClr val="FFFFFF"/>
                    </a:solidFill>
                  </a:tcPr>
                </a:tc>
                <a:tc>
                  <a:txBody>
                    <a:bodyPr wrap="square"/>
                    <a:lstStyle/>
                    <a:p>
                      <a:r>
                        <a:rPr sz="1100" b="0">
                          <a:solidFill>
                            <a:srgbClr val="4B4B4B"/>
                          </a:solidFill>
                          <a:latin typeface="Arial"/>
                        </a:rPr>
                        <a:t>Alert at acceptance, park in unapplied with a DP flag, re-tag with approval, define the entries. Raise a High DCR.</a:t>
                      </a:r>
                    </a:p>
                  </a:txBody>
                  <a:tcPr marL="64008" marR="64008" marT="27432" marB="27432" anchor="ctr">
                    <a:solidFill>
                      <a:srgbClr val="FFFFFF"/>
                    </a:solidFill>
                  </a:tcPr>
                </a:tc>
                <a:tc>
                  <a:txBody>
                    <a:bodyPr wrap="square"/>
                    <a:lstStyle/>
                    <a:p>
                      <a:r>
                        <a:rPr sz="1100" b="0">
                          <a:solidFill>
                            <a:srgbClr val="4B4B4B"/>
                          </a:solidFill>
                          <a:latin typeface="Arial"/>
                        </a:rPr>
                        <a:t>CA-03</a:t>
                      </a:r>
                    </a:p>
                  </a:txBody>
                  <a:tcPr marL="64008" marR="64008" marT="27432" marB="27432" anchor="ctr">
                    <a:solidFill>
                      <a:srgbClr val="FFFFFF"/>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Exclusion and bounced-check lists</a:t>
                      </a:r>
                    </a:p>
                  </a:txBody>
                  <a:tcPr marL="64008" marR="64008" marT="27432" marB="27432" anchor="ctr">
                    <a:solidFill>
                      <a:srgbClr val="E5F5FF"/>
                    </a:solidFill>
                  </a:tcPr>
                </a:tc>
                <a:tc>
                  <a:txBody>
                    <a:bodyPr wrap="square"/>
                    <a:lstStyle/>
                    <a:p>
                      <a:r>
                        <a:rPr sz="1100" b="0">
                          <a:solidFill>
                            <a:srgbClr val="4B4B4B"/>
                          </a:solidFill>
                          <a:latin typeface="Arial"/>
                        </a:rPr>
                        <a:t>Checked by hand at intake; tagged "Processed: Exclusion - reason".</a:t>
                      </a:r>
                    </a:p>
                  </a:txBody>
                  <a:tcPr marL="64008" marR="64008" marT="27432" marB="27432" anchor="ctr">
                    <a:solidFill>
                      <a:srgbClr val="E5F5FF"/>
                    </a:solidFill>
                  </a:tcPr>
                </a:tc>
                <a:tc>
                  <a:txBody>
                    <a:bodyPr wrap="square"/>
                    <a:lstStyle/>
                    <a:p>
                      <a:r>
                        <a:rPr sz="1100" b="0">
                          <a:solidFill>
                            <a:srgbClr val="4B4B4B"/>
                          </a:solidFill>
                          <a:latin typeface="Arial"/>
                        </a:rPr>
                        <a:t>Bounced check is a cancel reason only (CSHID.003); exclusion applies to remittance.</a:t>
                      </a:r>
                    </a:p>
                  </a:txBody>
                  <a:tcPr marL="64008" marR="64008" marT="27432" marB="27432" anchor="ctr">
                    <a:solidFill>
                      <a:srgbClr val="E5F5FF"/>
                    </a:solidFill>
                  </a:tcPr>
                </a:tc>
                <a:tc>
                  <a:txBody>
                    <a:bodyPr wrap="square"/>
                    <a:lstStyle/>
                    <a:p>
                      <a:r>
                        <a:rPr sz="1100" b="0">
                          <a:solidFill>
                            <a:srgbClr val="4B4B4B"/>
                          </a:solidFill>
                          <a:latin typeface="Arial"/>
                        </a:rPr>
                        <a:t>Maintained lists with reason codes, checked at acceptance; payor flag "cash only".</a:t>
                      </a:r>
                    </a:p>
                  </a:txBody>
                  <a:tcPr marL="64008" marR="64008" marT="27432" marB="27432" anchor="ctr">
                    <a:solidFill>
                      <a:srgbClr val="E5F5FF"/>
                    </a:solidFill>
                  </a:tcPr>
                </a:tc>
                <a:tc>
                  <a:txBody>
                    <a:bodyPr wrap="square"/>
                    <a:lstStyle/>
                    <a:p>
                      <a:r>
                        <a:rPr sz="1100" b="0">
                          <a:solidFill>
                            <a:srgbClr val="4B4B4B"/>
                          </a:solidFill>
                          <a:latin typeface="Arial"/>
                        </a:rPr>
                        <a:t>Day 1 p.20</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Check hold</a:t>
                      </a:r>
                    </a:p>
                  </a:txBody>
                  <a:tcPr marL="64008" marR="64008" marT="27432" marB="27432" anchor="ctr">
                    <a:solidFill>
                      <a:srgbClr val="FFFFFF"/>
                    </a:solidFill>
                  </a:tcPr>
                </a:tc>
                <a:tc>
                  <a:txBody>
                    <a:bodyPr wrap="square"/>
                    <a:lstStyle/>
                    <a:p>
                      <a:r>
                        <a:rPr sz="1100" b="0">
                          <a:solidFill>
                            <a:srgbClr val="4B4B4B"/>
                          </a:solidFill>
                          <a:latin typeface="Arial"/>
                        </a:rPr>
                        <a:t>4 days at Cashiering before application.</a:t>
                      </a:r>
                    </a:p>
                  </a:txBody>
                  <a:tcPr marL="64008" marR="64008" marT="27432" marB="27432" anchor="ctr">
                    <a:solidFill>
                      <a:srgbClr val="FFFFFF"/>
                    </a:solidFill>
                  </a:tcPr>
                </a:tc>
                <a:tc>
                  <a:txBody>
                    <a:bodyPr wrap="square"/>
                    <a:lstStyle/>
                    <a:p>
                      <a:r>
                        <a:rPr sz="1100" b="0">
                          <a:solidFill>
                            <a:srgbClr val="4B4B4B"/>
                          </a:solidFill>
                          <a:latin typeface="Arial"/>
                        </a:rPr>
                        <a:t>3 banking days at remittance (RMTID.017).</a:t>
                      </a:r>
                    </a:p>
                  </a:txBody>
                  <a:tcPr marL="64008" marR="64008" marT="27432" marB="27432" anchor="ctr">
                    <a:solidFill>
                      <a:srgbClr val="FFFFFF"/>
                    </a:solidFill>
                  </a:tcPr>
                </a:tc>
                <a:tc>
                  <a:txBody>
                    <a:bodyPr wrap="square"/>
                    <a:lstStyle/>
                    <a:p>
                      <a:r>
                        <a:rPr sz="1100" b="0">
                          <a:solidFill>
                            <a:srgbClr val="4B4B4B"/>
                          </a:solidFill>
                          <a:latin typeface="Arial"/>
                        </a:rPr>
                        <a:t>One clearing rule per instrument, configurable; confirm where it applies.</a:t>
                      </a:r>
                    </a:p>
                  </a:txBody>
                  <a:tcPr marL="64008" marR="64008" marT="27432" marB="27432" anchor="ctr">
                    <a:solidFill>
                      <a:srgbClr val="FFFFFF"/>
                    </a:solidFill>
                  </a:tcPr>
                </a:tc>
                <a:tc>
                  <a:txBody>
                    <a:bodyPr wrap="square"/>
                    <a:lstStyle/>
                    <a:p>
                      <a:r>
                        <a:rPr sz="1100" b="0">
                          <a:solidFill>
                            <a:srgbClr val="4B4B4B"/>
                          </a:solidFill>
                          <a:latin typeface="Arial"/>
                        </a:rPr>
                        <a:t>OQ20; RMTID.017</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Tolerances and threshold account</a:t>
                      </a:r>
                    </a:p>
                  </a:txBody>
                  <a:tcPr marL="64008" marR="64008" marT="27432" marB="27432" anchor="ctr">
                    <a:solidFill>
                      <a:srgbClr val="E5F5FF"/>
                    </a:solidFill>
                  </a:tcPr>
                </a:tc>
                <a:tc>
                  <a:txBody>
                    <a:bodyPr wrap="square"/>
                    <a:lstStyle/>
                    <a:p>
                      <a:r>
                        <a:rPr sz="1100" b="0">
                          <a:solidFill>
                            <a:srgbClr val="4B4B4B"/>
                          </a:solidFill>
                          <a:latin typeface="Arial"/>
                        </a:rPr>
                        <a:t>0.99 threshold account; 0.01-0.99 reversal variance.</a:t>
                      </a:r>
                    </a:p>
                  </a:txBody>
                  <a:tcPr marL="64008" marR="64008" marT="27432" marB="27432" anchor="ctr">
                    <a:solidFill>
                      <a:srgbClr val="E5F5FF"/>
                    </a:solidFill>
                  </a:tcPr>
                </a:tc>
                <a:tc>
                  <a:txBody>
                    <a:bodyPr wrap="square"/>
                    <a:lstStyle/>
                    <a:p>
                      <a:r>
                        <a:rPr sz="1100" b="0">
                          <a:solidFill>
                            <a:srgbClr val="4B4B4B"/>
                          </a:solidFill>
                          <a:latin typeface="Arial"/>
                        </a:rPr>
                        <a:t>Three other values: 10.00, 1.00, 10-100 (DCR-014).</a:t>
                      </a:r>
                    </a:p>
                  </a:txBody>
                  <a:tcPr marL="64008" marR="64008" marT="27432" marB="27432" anchor="ctr">
                    <a:solidFill>
                      <a:srgbClr val="E5F5FF"/>
                    </a:solidFill>
                  </a:tcPr>
                </a:tc>
                <a:tc>
                  <a:txBody>
                    <a:bodyPr wrap="square"/>
                    <a:lstStyle/>
                    <a:p>
                      <a:r>
                        <a:rPr sz="1100" b="0">
                          <a:solidFill>
                            <a:srgbClr val="4B4B4B"/>
                          </a:solidFill>
                          <a:latin typeface="Arial"/>
                        </a:rPr>
                        <a:t>One tolerance matrix by component, band and approver, with its GL account.</a:t>
                      </a:r>
                    </a:p>
                  </a:txBody>
                  <a:tcPr marL="64008" marR="64008" marT="27432" marB="27432" anchor="ctr">
                    <a:solidFill>
                      <a:srgbClr val="E5F5FF"/>
                    </a:solidFill>
                  </a:tcPr>
                </a:tc>
                <a:tc>
                  <a:txBody>
                    <a:bodyPr wrap="square"/>
                    <a:lstStyle/>
                    <a:p>
                      <a:r>
                        <a:rPr sz="1100" b="0">
                          <a:solidFill>
                            <a:srgbClr val="4B4B4B"/>
                          </a:solidFill>
                          <a:latin typeface="Arial"/>
                        </a:rPr>
                        <a:t>CA-02; DCR-014; OQ11</a:t>
                      </a:r>
                    </a:p>
                  </a:txBody>
                  <a:tcPr marL="64008" marR="64008" marT="27432" marB="27432" anchor="ctr">
                    <a:solidFill>
                      <a:srgbClr val="E5F5FF"/>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Volumes</a:t>
                      </a:r>
                    </a:p>
                  </a:txBody>
                  <a:tcPr marL="64008" marR="64008" marT="27432" marB="27432" anchor="ctr">
                    <a:solidFill>
                      <a:srgbClr val="FFFFFF"/>
                    </a:solidFill>
                  </a:tcPr>
                </a:tc>
                <a:tc>
                  <a:txBody>
                    <a:bodyPr wrap="square"/>
                    <a:lstStyle/>
                    <a:p>
                      <a:r>
                        <a:rPr sz="1100" b="0">
                          <a:solidFill>
                            <a:srgbClr val="4B4B4B"/>
                          </a:solidFill>
                          <a:latin typeface="Arial"/>
                        </a:rPr>
                        <a:t>20-30K lines per insurer a month; ~2,000-row payment files.</a:t>
                      </a:r>
                    </a:p>
                  </a:txBody>
                  <a:tcPr marL="64008" marR="64008" marT="27432" marB="27432" anchor="ctr">
                    <a:solidFill>
                      <a:srgbClr val="FFFFFF"/>
                    </a:solidFill>
                  </a:tcPr>
                </a:tc>
                <a:tc>
                  <a:txBody>
                    <a:bodyPr wrap="square"/>
                    <a:lstStyle/>
                    <a:p>
                      <a:r>
                        <a:rPr sz="1100" b="0">
                          <a:solidFill>
                            <a:srgbClr val="4B4B4B"/>
                          </a:solidFill>
                          <a:latin typeface="Arial"/>
                        </a:rPr>
                        <a:t>Operations NFR volumes are blank.</a:t>
                      </a:r>
                    </a:p>
                  </a:txBody>
                  <a:tcPr marL="64008" marR="64008" marT="27432" marB="27432" anchor="ctr">
                    <a:solidFill>
                      <a:srgbClr val="FFFFFF"/>
                    </a:solidFill>
                  </a:tcPr>
                </a:tc>
                <a:tc>
                  <a:txBody>
                    <a:bodyPr wrap="square"/>
                    <a:lstStyle/>
                    <a:p>
                      <a:r>
                        <a:rPr sz="1100" b="0">
                          <a:solidFill>
                            <a:srgbClr val="4B4B4B"/>
                          </a:solidFill>
                          <a:latin typeface="Arial"/>
                        </a:rPr>
                        <a:t>Add volume NFRs and test them in the performance test.</a:t>
                      </a:r>
                    </a:p>
                  </a:txBody>
                  <a:tcPr marL="64008" marR="64008" marT="27432" marB="27432" anchor="ctr">
                    <a:solidFill>
                      <a:srgbClr val="FFFFFF"/>
                    </a:solidFill>
                  </a:tcPr>
                </a:tc>
                <a:tc>
                  <a:txBody>
                    <a:bodyPr wrap="square"/>
                    <a:lstStyle/>
                    <a:p>
                      <a:r>
                        <a:rPr sz="1100" b="0">
                          <a:solidFill>
                            <a:srgbClr val="4B4B4B"/>
                          </a:solidFill>
                          <a:latin typeface="Arial"/>
                        </a:rPr>
                        <a:t>CA-05; DCR-025</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Commission recognition</a:t>
                      </a:r>
                    </a:p>
                  </a:txBody>
                  <a:tcPr marL="64008" marR="64008" marT="27432" marB="27432" anchor="ctr">
                    <a:solidFill>
                      <a:srgbClr val="E5F5FF"/>
                    </a:solidFill>
                  </a:tcPr>
                </a:tc>
                <a:tc>
                  <a:txBody>
                    <a:bodyPr wrap="square"/>
                    <a:lstStyle/>
                    <a:p>
                      <a:r>
                        <a:rPr sz="1100" b="0">
                          <a:solidFill>
                            <a:srgbClr val="4B4B4B"/>
                          </a:solidFill>
                          <a:latin typeface="Arial"/>
                        </a:rPr>
                        <a:t>Only after full premium; co-insurance per insurer; no partial for direct.</a:t>
                      </a:r>
                    </a:p>
                  </a:txBody>
                  <a:tcPr marL="64008" marR="64008" marT="27432" marB="27432" anchor="ctr">
                    <a:solidFill>
                      <a:srgbClr val="E5F5FF"/>
                    </a:solidFill>
                  </a:tcPr>
                </a:tc>
                <a:tc>
                  <a:txBody>
                    <a:bodyPr wrap="square"/>
                    <a:lstStyle/>
                    <a:p>
                      <a:r>
                        <a:rPr sz="1100" b="0">
                          <a:solidFill>
                            <a:srgbClr val="4B4B4B"/>
                          </a:solidFill>
                          <a:latin typeface="Arial"/>
                        </a:rPr>
                        <a:t>Realised on application (CSHID.014); rule for regular commission open.</a:t>
                      </a:r>
                    </a:p>
                  </a:txBody>
                  <a:tcPr marL="64008" marR="64008" marT="27432" marB="27432" anchor="ctr">
                    <a:solidFill>
                      <a:srgbClr val="E5F5FF"/>
                    </a:solidFill>
                  </a:tcPr>
                </a:tc>
                <a:tc>
                  <a:txBody>
                    <a:bodyPr wrap="square"/>
                    <a:lstStyle/>
                    <a:p>
                      <a:r>
                        <a:rPr sz="1100" b="0">
                          <a:solidFill>
                            <a:srgbClr val="4B4B4B"/>
                          </a:solidFill>
                          <a:latin typeface="Arial"/>
                        </a:rPr>
                        <a:t>State the rule per case; align with PFRS 15 (see best practice).</a:t>
                      </a:r>
                    </a:p>
                  </a:txBody>
                  <a:tcPr marL="64008" marR="64008" marT="27432" marB="27432" anchor="ctr">
                    <a:solidFill>
                      <a:srgbClr val="E5F5FF"/>
                    </a:solidFill>
                  </a:tcPr>
                </a:tc>
                <a:tc>
                  <a:txBody>
                    <a:bodyPr wrap="square"/>
                    <a:lstStyle/>
                    <a:p>
                      <a:r>
                        <a:rPr sz="1100" b="0">
                          <a:solidFill>
                            <a:srgbClr val="4B4B4B"/>
                          </a:solidFill>
                          <a:latin typeface="Arial"/>
                        </a:rPr>
                        <a:t>CM-01, CM-02; OQ07</a:t>
                      </a:r>
                    </a:p>
                  </a:txBody>
                  <a:tcPr marL="64008" marR="64008" marT="27432" marB="27432" anchor="ctr">
                    <a:solidFill>
                      <a:srgbClr val="E5F5FF"/>
                    </a:solidFill>
                  </a:tcPr>
                </a:tc>
              </a:tr>
            </a:tbl>
          </a:graphicData>
        </a:graphic>
      </p:graphicFrame>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gaps in the BRD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Early-remittance incentive</a:t>
                      </a:r>
                    </a:p>
                  </a:txBody>
                  <a:tcPr marL="64008" marR="64008" marT="27432" marB="27432" anchor="ctr">
                    <a:solidFill>
                      <a:srgbClr val="FFFFFF"/>
                    </a:solidFill>
                  </a:tcPr>
                </a:tc>
                <a:tc>
                  <a:txBody>
                    <a:bodyPr wrap="square"/>
                    <a:lstStyle/>
                    <a:p>
                      <a:r>
                        <a:rPr sz="1100" b="0">
                          <a:solidFill>
                            <a:srgbClr val="4B4B4B"/>
                          </a:solidFill>
                          <a:latin typeface="Arial"/>
                        </a:rPr>
                        <a:t>Only on premium sold within credit terms; rates per insurer.</a:t>
                      </a:r>
                    </a:p>
                  </a:txBody>
                  <a:tcPr marL="64008" marR="64008" marT="27432" marB="27432" anchor="ctr">
                    <a:solidFill>
                      <a:srgbClr val="FFFFFF"/>
                    </a:solidFill>
                  </a:tcPr>
                </a:tc>
                <a:tc>
                  <a:txBody>
                    <a:bodyPr wrap="square"/>
                    <a:lstStyle/>
                    <a:p>
                      <a:r>
                        <a:rPr sz="1100" b="0">
                          <a:solidFill>
                            <a:srgbClr val="4B4B4B"/>
                          </a:solidFill>
                          <a:latin typeface="Arial"/>
                        </a:rPr>
                        <a:t>Two definitions (RMTID.023, PRCID.028); no credit-term condition.</a:t>
                      </a:r>
                    </a:p>
                  </a:txBody>
                  <a:tcPr marL="64008" marR="64008" marT="27432" marB="27432" anchor="ctr">
                    <a:solidFill>
                      <a:srgbClr val="FFFFFF"/>
                    </a:solidFill>
                  </a:tcPr>
                </a:tc>
                <a:tc>
                  <a:txBody>
                    <a:bodyPr wrap="square"/>
                    <a:lstStyle/>
                    <a:p>
                      <a:r>
                        <a:rPr sz="1100" b="0">
                          <a:solidFill>
                            <a:srgbClr val="4B4B4B"/>
                          </a:solidFill>
                          <a:latin typeface="Arial"/>
                        </a:rPr>
                        <a:t>One incentive programme per insurer with its condition and rate table.</a:t>
                      </a:r>
                    </a:p>
                  </a:txBody>
                  <a:tcPr marL="64008" marR="64008" marT="27432" marB="27432" anchor="ctr">
                    <a:solidFill>
                      <a:srgbClr val="FFFFFF"/>
                    </a:solidFill>
                  </a:tcPr>
                </a:tc>
                <a:tc>
                  <a:txBody>
                    <a:bodyPr wrap="square"/>
                    <a:lstStyle/>
                    <a:p>
                      <a:r>
                        <a:rPr sz="1100" b="0">
                          <a:solidFill>
                            <a:srgbClr val="4B4B4B"/>
                          </a:solidFill>
                          <a:latin typeface="Arial"/>
                        </a:rPr>
                        <a:t>IC-01, IC-02; DCR-013</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Remittance approval</a:t>
                      </a:r>
                    </a:p>
                  </a:txBody>
                  <a:tcPr marL="64008" marR="64008" marT="27432" marB="27432" anchor="ctr">
                    <a:solidFill>
                      <a:srgbClr val="E5F5FF"/>
                    </a:solidFill>
                  </a:tcPr>
                </a:tc>
                <a:tc>
                  <a:txBody>
                    <a:bodyPr wrap="square"/>
                    <a:lstStyle/>
                    <a:p>
                      <a:r>
                        <a:rPr sz="1100" b="0">
                          <a:solidFill>
                            <a:srgbClr val="4B4B4B"/>
                          </a:solidFill>
                          <a:latin typeface="Arial"/>
                        </a:rPr>
                        <a:t>Teams list and signed copy.</a:t>
                      </a:r>
                    </a:p>
                  </a:txBody>
                  <a:tcPr marL="64008" marR="64008" marT="27432" marB="27432" anchor="ctr">
                    <a:solidFill>
                      <a:srgbClr val="E5F5FF"/>
                    </a:solidFill>
                  </a:tcPr>
                </a:tc>
                <a:tc>
                  <a:txBody>
                    <a:bodyPr wrap="square"/>
                    <a:lstStyle/>
                    <a:p>
                      <a:r>
                        <a:rPr sz="1100" b="0">
                          <a:solidFill>
                            <a:srgbClr val="4B4B4B"/>
                          </a:solidFill>
                          <a:latin typeface="Arial"/>
                        </a:rPr>
                        <a:t>Workflow approval; approver not named.</a:t>
                      </a:r>
                    </a:p>
                  </a:txBody>
                  <a:tcPr marL="64008" marR="64008" marT="27432" marB="27432" anchor="ctr">
                    <a:solidFill>
                      <a:srgbClr val="E5F5FF"/>
                    </a:solidFill>
                  </a:tcPr>
                </a:tc>
                <a:tc>
                  <a:txBody>
                    <a:bodyPr wrap="square"/>
                    <a:lstStyle/>
                    <a:p>
                      <a:r>
                        <a:rPr sz="1100" b="0">
                          <a:solidFill>
                            <a:srgbClr val="4B4B4B"/>
                          </a:solidFill>
                          <a:latin typeface="Arial"/>
                        </a:rPr>
                        <a:t>Name the approver per insurer or amount; the e-approval replaces the paper copy.</a:t>
                      </a:r>
                    </a:p>
                  </a:txBody>
                  <a:tcPr marL="64008" marR="64008" marT="27432" marB="27432" anchor="ctr">
                    <a:solidFill>
                      <a:srgbClr val="E5F5FF"/>
                    </a:solidFill>
                  </a:tcPr>
                </a:tc>
                <a:tc>
                  <a:txBody>
                    <a:bodyPr wrap="square"/>
                    <a:lstStyle/>
                    <a:p>
                      <a:r>
                        <a:rPr sz="1100" b="0">
                          <a:solidFill>
                            <a:srgbClr val="4B4B4B"/>
                          </a:solidFill>
                          <a:latin typeface="Arial"/>
                        </a:rPr>
                        <a:t>OQ21; CP-01</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Knock-off entries</a:t>
                      </a:r>
                    </a:p>
                  </a:txBody>
                  <a:tcPr marL="64008" marR="64008" marT="27432" marB="27432" anchor="ctr">
                    <a:solidFill>
                      <a:srgbClr val="FFFFFF"/>
                    </a:solidFill>
                  </a:tcPr>
                </a:tc>
                <a:tc>
                  <a:txBody>
                    <a:bodyPr wrap="square"/>
                    <a:lstStyle/>
                    <a:p>
                      <a:r>
                        <a:rPr sz="1100" b="0">
                          <a:solidFill>
                            <a:srgbClr val="4B4B4B"/>
                          </a:solidFill>
                          <a:latin typeface="Arial"/>
                        </a:rPr>
                        <a:t>Dr Commission Receivable / Cr Insurer; zero-value workfile to Disbursement.</a:t>
                      </a:r>
                    </a:p>
                  </a:txBody>
                  <a:tcPr marL="64008" marR="64008" marT="27432" marB="27432" anchor="ctr">
                    <a:solidFill>
                      <a:srgbClr val="FFFFFF"/>
                    </a:solidFill>
                  </a:tcPr>
                </a:tc>
                <a:tc>
                  <a:txBody>
                    <a:bodyPr wrap="square"/>
                    <a:lstStyle/>
                    <a:p>
                      <a:r>
                        <a:rPr sz="1100" b="0">
                          <a:solidFill>
                            <a:srgbClr val="4B4B4B"/>
                          </a:solidFill>
                          <a:latin typeface="Arial"/>
                        </a:rPr>
                        <a:t>Reversal entries partly given; knock-off not stated.</a:t>
                      </a:r>
                    </a:p>
                  </a:txBody>
                  <a:tcPr marL="64008" marR="64008" marT="27432" marB="27432" anchor="ctr">
                    <a:solidFill>
                      <a:srgbClr val="FFFFFF"/>
                    </a:solidFill>
                  </a:tcPr>
                </a:tc>
                <a:tc>
                  <a:txBody>
                    <a:bodyPr wrap="square"/>
                    <a:lstStyle/>
                    <a:p>
                      <a:r>
                        <a:rPr sz="1100" b="0">
                          <a:solidFill>
                            <a:srgbClr val="4B4B4B"/>
                          </a:solidFill>
                          <a:latin typeface="Arial"/>
                        </a:rPr>
                        <a:t>Define the entries; netting removes the zero cheque.</a:t>
                      </a:r>
                    </a:p>
                  </a:txBody>
                  <a:tcPr marL="64008" marR="64008" marT="27432" marB="27432" anchor="ctr">
                    <a:solidFill>
                      <a:srgbClr val="FFFFFF"/>
                    </a:solidFill>
                  </a:tcPr>
                </a:tc>
                <a:tc>
                  <a:txBody>
                    <a:bodyPr wrap="square"/>
                    <a:lstStyle/>
                    <a:p>
                      <a:r>
                        <a:rPr sz="1100" b="0">
                          <a:solidFill>
                            <a:srgbClr val="4B4B4B"/>
                          </a:solidFill>
                          <a:latin typeface="Arial"/>
                        </a:rPr>
                        <a:t>OQ07; DCR-028</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Policy-fee invoice</a:t>
                      </a:r>
                    </a:p>
                  </a:txBody>
                  <a:tcPr marL="64008" marR="64008" marT="27432" marB="27432" anchor="ctr">
                    <a:solidFill>
                      <a:srgbClr val="E5F5FF"/>
                    </a:solidFill>
                  </a:tcPr>
                </a:tc>
                <a:tc>
                  <a:txBody>
                    <a:bodyPr wrap="square"/>
                    <a:lstStyle/>
                    <a:p>
                      <a:r>
                        <a:rPr sz="1100" b="0">
                          <a:solidFill>
                            <a:srgbClr val="4B4B4B"/>
                          </a:solidFill>
                          <a:latin typeface="Arial"/>
                        </a:rPr>
                        <a:t>Allocation by branch and department (100%); amounts from a requestor schedule.</a:t>
                      </a:r>
                    </a:p>
                  </a:txBody>
                  <a:tcPr marL="64008" marR="64008" marT="27432" marB="27432" anchor="ctr">
                    <a:solidFill>
                      <a:srgbClr val="E5F5FF"/>
                    </a:solidFill>
                  </a:tcPr>
                </a:tc>
                <a:tc>
                  <a:txBody>
                    <a:bodyPr wrap="square"/>
                    <a:lstStyle/>
                    <a:p>
                      <a:r>
                        <a:rPr sz="1100" b="0">
                          <a:solidFill>
                            <a:srgbClr val="4B4B4B"/>
                          </a:solidFill>
                          <a:latin typeface="Arial"/>
                        </a:rPr>
                        <a:t>Manual service invoice (CORE-08.22); split allocation not stated.</a:t>
                      </a:r>
                    </a:p>
                  </a:txBody>
                  <a:tcPr marL="64008" marR="64008" marT="27432" marB="27432" anchor="ctr">
                    <a:solidFill>
                      <a:srgbClr val="E5F5FF"/>
                    </a:solidFill>
                  </a:tcPr>
                </a:tc>
                <a:tc>
                  <a:txBody>
                    <a:bodyPr wrap="square"/>
                    <a:lstStyle/>
                    <a:p>
                      <a:r>
                        <a:rPr sz="1100" b="0">
                          <a:solidFill>
                            <a:srgbClr val="4B4B4B"/>
                          </a:solidFill>
                          <a:latin typeface="Arial"/>
                        </a:rPr>
                        <a:t>Allow split allocation and a schedule upload.</a:t>
                      </a:r>
                    </a:p>
                  </a:txBody>
                  <a:tcPr marL="64008" marR="64008" marT="27432" marB="27432" anchor="ctr">
                    <a:solidFill>
                      <a:srgbClr val="E5F5FF"/>
                    </a:solidFill>
                  </a:tcPr>
                </a:tc>
                <a:tc>
                  <a:txBody>
                    <a:bodyPr wrap="square"/>
                    <a:lstStyle/>
                    <a:p>
                      <a:r>
                        <a:rPr sz="1100" b="0">
                          <a:solidFill>
                            <a:srgbClr val="4B4B4B"/>
                          </a:solidFill>
                          <a:latin typeface="Arial"/>
                        </a:rPr>
                        <a:t>Day 1 p.25</a:t>
                      </a:r>
                    </a:p>
                  </a:txBody>
                  <a:tcPr marL="64008" marR="64008" marT="27432" marB="27432" anchor="ctr">
                    <a:solidFill>
                      <a:srgbClr val="E5F5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Excess commission</a:t>
                      </a:r>
                    </a:p>
                  </a:txBody>
                  <a:tcPr marL="64008" marR="64008" marT="27432" marB="27432" anchor="ctr">
                    <a:solidFill>
                      <a:srgbClr val="FFFFFF"/>
                    </a:solidFill>
                  </a:tcPr>
                </a:tc>
                <a:tc>
                  <a:txBody>
                    <a:bodyPr wrap="square"/>
                    <a:lstStyle/>
                    <a:p>
                      <a:r>
                        <a:rPr sz="1100" b="0">
                          <a:solidFill>
                            <a:srgbClr val="4B4B4B"/>
                          </a:solidFill>
                          <a:latin typeface="Arial"/>
                        </a:rPr>
                        <a:t>Motor and Fire computed differently, in the incentive module.</a:t>
                      </a:r>
                    </a:p>
                  </a:txBody>
                  <a:tcPr marL="64008" marR="64008" marT="27432" marB="27432" anchor="ctr">
                    <a:solidFill>
                      <a:srgbClr val="FFFFFF"/>
                    </a:solidFill>
                  </a:tcPr>
                </a:tc>
                <a:tc>
                  <a:txBody>
                    <a:bodyPr wrap="square"/>
                    <a:lstStyle/>
                    <a:p>
                      <a:r>
                        <a:rPr sz="1100" b="0">
                          <a:solidFill>
                            <a:srgbClr val="4B4B4B"/>
                          </a:solidFill>
                          <a:latin typeface="Arial"/>
                        </a:rPr>
                        <a:t>CPC2 package incentive (Add.2 p.8-9).</a:t>
                      </a:r>
                    </a:p>
                  </a:txBody>
                  <a:tcPr marL="64008" marR="64008" marT="27432" marB="27432" anchor="ctr">
                    <a:solidFill>
                      <a:srgbClr val="FFFFFF"/>
                    </a:solidFill>
                  </a:tcPr>
                </a:tc>
                <a:tc>
                  <a:txBody>
                    <a:bodyPr wrap="square"/>
                    <a:lstStyle/>
                    <a:p>
                      <a:r>
                        <a:rPr sz="1100" b="0">
                          <a:solidFill>
                            <a:srgbClr val="4B4B4B"/>
                          </a:solidFill>
                          <a:latin typeface="Arial"/>
                        </a:rPr>
                        <a:t>Confirm that excess commission is CPC2 and give rate and base.</a:t>
                      </a:r>
                    </a:p>
                  </a:txBody>
                  <a:tcPr marL="64008" marR="64008" marT="27432" marB="27432" anchor="ctr">
                    <a:solidFill>
                      <a:srgbClr val="FFFFFF"/>
                    </a:solidFill>
                  </a:tcPr>
                </a:tc>
                <a:tc>
                  <a:txBody>
                    <a:bodyPr wrap="square"/>
                    <a:lstStyle/>
                    <a:p>
                      <a:r>
                        <a:rPr sz="1100" b="0">
                          <a:solidFill>
                            <a:srgbClr val="4B4B4B"/>
                          </a:solidFill>
                          <a:latin typeface="Arial"/>
                        </a:rPr>
                        <a:t>CM-03; DCR-037</a:t>
                      </a:r>
                    </a:p>
                  </a:txBody>
                  <a:tcPr marL="64008" marR="64008" marT="27432" marB="27432" anchor="ctr">
                    <a:solidFill>
                      <a:srgbClr val="FFFF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One lifecycle reference</a:t>
                      </a:r>
                    </a:p>
                  </a:txBody>
                  <a:tcPr marL="64008" marR="64008" marT="27432" marB="27432" anchor="ctr">
                    <a:solidFill>
                      <a:srgbClr val="E5F5FF"/>
                    </a:solidFill>
                  </a:tcPr>
                </a:tc>
                <a:tc>
                  <a:txBody>
                    <a:bodyPr wrap="square"/>
                    <a:lstStyle/>
                    <a:p>
                      <a:r>
                        <a:rPr sz="1100" b="0">
                          <a:solidFill>
                            <a:srgbClr val="4B4B4B"/>
                          </a:solidFill>
                          <a:latin typeface="Arial"/>
                        </a:rPr>
                        <a:t>Three system references per transaction.</a:t>
                      </a:r>
                    </a:p>
                  </a:txBody>
                  <a:tcPr marL="64008" marR="64008" marT="27432" marB="27432" anchor="ctr">
                    <a:solidFill>
                      <a:srgbClr val="E5F5FF"/>
                    </a:solidFill>
                  </a:tcPr>
                </a:tc>
                <a:tc>
                  <a:txBody>
                    <a:bodyPr wrap="square"/>
                    <a:lstStyle/>
                    <a:p>
                      <a:r>
                        <a:rPr sz="1100" b="0">
                          <a:solidFill>
                            <a:srgbClr val="4B4B4B"/>
                          </a:solidFill>
                          <a:latin typeface="Arial"/>
                        </a:rPr>
                        <a:t>ARN and invoice ledger; legacy references kept.</a:t>
                      </a:r>
                    </a:p>
                  </a:txBody>
                  <a:tcPr marL="64008" marR="64008" marT="27432" marB="27432" anchor="ctr">
                    <a:solidFill>
                      <a:srgbClr val="E5F5FF"/>
                    </a:solidFill>
                  </a:tcPr>
                </a:tc>
                <a:tc>
                  <a:txBody>
                    <a:bodyPr wrap="square"/>
                    <a:lstStyle/>
                    <a:p>
                      <a:r>
                        <a:rPr sz="1100" b="0">
                          <a:solidFill>
                            <a:srgbClr val="4B4B4B"/>
                          </a:solidFill>
                          <a:latin typeface="Arial"/>
                        </a:rPr>
                        <a:t>Confirm one reference from quotation to remittance, printed on every document.</a:t>
                      </a:r>
                    </a:p>
                  </a:txBody>
                  <a:tcPr marL="64008" marR="64008" marT="27432" marB="27432" anchor="ctr">
                    <a:solidFill>
                      <a:srgbClr val="E5F5FF"/>
                    </a:solidFill>
                  </a:tcPr>
                </a:tc>
                <a:tc>
                  <a:txBody>
                    <a:bodyPr wrap="square"/>
                    <a:lstStyle/>
                    <a:p>
                      <a:r>
                        <a:rPr sz="1100" b="0">
                          <a:solidFill>
                            <a:srgbClr val="4B4B4B"/>
                          </a:solidFill>
                          <a:latin typeface="Arial"/>
                        </a:rPr>
                        <a:t>OV-03; AQ29</a:t>
                      </a:r>
                    </a:p>
                  </a:txBody>
                  <a:tcPr marL="64008" marR="64008" marT="27432" marB="27432" anchor="ctr">
                    <a:solidFill>
                      <a:srgbClr val="E5F5FF"/>
                    </a:solidFill>
                  </a:tcPr>
                </a:tc>
              </a:tr>
            </a:tbl>
          </a:graphicData>
        </a:graphic>
      </p:graphicFrame>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best practice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Unique payment reference</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Auto cash application</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 check-digit reference or virtual account per client or invoice, printed on invoices and SOAs and carried in bank files.</a:t>
            </a:r>
          </a:p>
          <a:p>
            <a:pPr>
              <a:spcAft>
                <a:spcPts val="400"/>
              </a:spcAft>
            </a:pPr>
            <a:r>
              <a:rPr sz="1200" b="1">
                <a:solidFill>
                  <a:srgbClr val="004EA8"/>
                </a:solidFill>
                <a:latin typeface="Arial"/>
              </a:rPr>
              <a:t>For BDOI: </a:t>
            </a:r>
            <a:r>
              <a:rPr sz="1200" b="0">
                <a:solidFill>
                  <a:srgbClr val="4B4B4B"/>
                </a:solidFill>
                <a:latin typeface="Arial"/>
              </a:rPr>
              <a:t>Generate it at booking and ask the bank channels to carry it (OBPCS, direct credit).</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Automated cash application</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manual matches</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Rule and fuzzy matching (payor name, amount tolerance, many-to-one) with confidence scores; the system learns from manual matches.</a:t>
            </a:r>
          </a:p>
          <a:p>
            <a:pPr>
              <a:spcAft>
                <a:spcPts val="400"/>
              </a:spcAft>
            </a:pPr>
            <a:r>
              <a:rPr sz="1200" b="1">
                <a:solidFill>
                  <a:srgbClr val="004EA8"/>
                </a:solidFill>
                <a:latin typeface="Arial"/>
              </a:rPr>
              <a:t>For BDOI: </a:t>
            </a:r>
            <a:r>
              <a:rPr sz="1200" b="0">
                <a:solidFill>
                  <a:srgbClr val="4B4B4B"/>
                </a:solidFill>
                <a:latin typeface="Arial"/>
              </a:rPr>
              <a:t>Extend exact matching with scored suggestions on the unapplied workbench.</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Bank host-to-host collections</a:t>
            </a:r>
          </a:p>
        </p:txBody>
      </p:sp>
      <p:sp>
        <p:nvSpPr>
          <p:cNvPr id="24" name="Rounded Rectangle 23"/>
          <p:cNvSpPr/>
          <p:nvPr/>
        </p:nvSpPr>
        <p:spPr>
          <a:xfrm>
            <a:off x="8146084" y="1920240"/>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Same-day cash visibility</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Collections through bank APIs, InstaPay / PESONet and QR Ph with intraday notices instead of text files run by IT.</a:t>
            </a:r>
          </a:p>
          <a:p>
            <a:pPr>
              <a:spcAft>
                <a:spcPts val="400"/>
              </a:spcAft>
            </a:pPr>
            <a:r>
              <a:rPr sz="1200" b="1">
                <a:solidFill>
                  <a:srgbClr val="004EA8"/>
                </a:solidFill>
                <a:latin typeface="Arial"/>
              </a:rPr>
              <a:t>For BDOI: </a:t>
            </a:r>
            <a:r>
              <a:rPr sz="1200" b="0">
                <a:solidFill>
                  <a:srgbClr val="4B4B4B"/>
                </a:solidFill>
                <a:latin typeface="Arial"/>
              </a:rPr>
              <a:t>Plan with BDO IT after go-live (CMS / BOB, OBPCS).</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Premium trust account discipline</a:t>
            </a:r>
          </a:p>
        </p:txBody>
      </p:sp>
      <p:sp>
        <p:nvSpPr>
          <p:cNvPr id="30" name="Rounded Rectangle 29"/>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Control</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Premium held in trust for insurers is reconciled daily: bank, unapplied plus amounts due to insurers, and the sub-ledger.</a:t>
            </a:r>
          </a:p>
          <a:p>
            <a:pPr>
              <a:spcAft>
                <a:spcPts val="400"/>
              </a:spcAft>
            </a:pPr>
            <a:r>
              <a:rPr sz="1200" b="1">
                <a:solidFill>
                  <a:srgbClr val="004EA8"/>
                </a:solidFill>
                <a:latin typeface="Arial"/>
              </a:rPr>
              <a:t>For BDOI: </a:t>
            </a:r>
            <a:r>
              <a:rPr sz="1200" b="0">
                <a:solidFill>
                  <a:srgbClr val="4B4B4B"/>
                </a:solidFill>
                <a:latin typeface="Arial"/>
              </a:rPr>
              <a:t>Add a daily three-way reconciliation report; confirm the Insurance Commission rules with Compliance.</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tolerance and write-off matrix</a:t>
            </a:r>
          </a:p>
        </p:txBody>
      </p:sp>
      <p:sp>
        <p:nvSpPr>
          <p:cNvPr id="36" name="Rounded Rectangle 35"/>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Consistency</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Tolerances by component, amount band and approver in one table, each with its GL account.</a:t>
            </a:r>
          </a:p>
          <a:p>
            <a:pPr>
              <a:spcAft>
                <a:spcPts val="400"/>
              </a:spcAft>
            </a:pPr>
            <a:r>
              <a:rPr sz="1200" b="1">
                <a:solidFill>
                  <a:srgbClr val="004EA8"/>
                </a:solidFill>
                <a:latin typeface="Arial"/>
              </a:rPr>
              <a:t>For BDOI: </a:t>
            </a:r>
            <a:r>
              <a:rPr sz="1200" b="0">
                <a:solidFill>
                  <a:srgbClr val="4B4B4B"/>
                </a:solidFill>
                <a:latin typeface="Arial"/>
              </a:rPr>
              <a:t>Replace the four values seen today (DCR-014).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Operations: best practice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Remittance calendar per insurer</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Incentive capture</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Remittance dates per insurer, an automatic remittance advice and the insurer OR returned electronically.</a:t>
            </a:r>
          </a:p>
          <a:p>
            <a:pPr>
              <a:spcAft>
                <a:spcPts val="400"/>
              </a:spcAft>
            </a:pPr>
            <a:r>
              <a:rPr sz="1200" b="1">
                <a:solidFill>
                  <a:srgbClr val="004EA8"/>
                </a:solidFill>
                <a:latin typeface="Arial"/>
              </a:rPr>
              <a:t>For BDOI: </a:t>
            </a:r>
            <a:r>
              <a:rPr sz="1200" b="0">
                <a:solidFill>
                  <a:srgbClr val="4B4B4B"/>
                </a:solidFill>
                <a:latin typeface="Arial"/>
              </a:rPr>
              <a:t>Use the calendar to meet the early-remittance window and earn the incentive.</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Insurer statement reconciliation</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disputes</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Insurer statements of account and commission statements matched automatically, differences routed to owners.</a:t>
            </a:r>
          </a:p>
          <a:p>
            <a:pPr>
              <a:spcAft>
                <a:spcPts val="400"/>
              </a:spcAft>
            </a:pPr>
            <a:r>
              <a:rPr sz="1200" b="1">
                <a:solidFill>
                  <a:srgbClr val="004EA8"/>
                </a:solidFill>
                <a:latin typeface="Arial"/>
              </a:rPr>
              <a:t>For BDOI: </a:t>
            </a:r>
            <a:r>
              <a:rPr sz="1200" b="0">
                <a:solidFill>
                  <a:srgbClr val="4B4B4B"/>
                </a:solidFill>
                <a:latin typeface="Arial"/>
              </a:rPr>
              <a:t>Extend production matching to commission statements.</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Commission recognition under PFRS 15</a:t>
            </a:r>
          </a:p>
        </p:txBody>
      </p:sp>
      <p:sp>
        <p:nvSpPr>
          <p:cNvPr id="24" name="Rounded Rectangle 23"/>
          <p:cNvSpPr/>
          <p:nvPr/>
        </p:nvSpPr>
        <p:spPr>
          <a:xfrm>
            <a:off x="8146084" y="1920240"/>
            <a:ext cx="160020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Accurate income</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Commission recognised when the placement is done, with a provision for cancellations; collection tracked separately.</a:t>
            </a:r>
          </a:p>
          <a:p>
            <a:pPr>
              <a:spcAft>
                <a:spcPts val="400"/>
              </a:spcAft>
            </a:pPr>
            <a:r>
              <a:rPr sz="1200" b="1">
                <a:solidFill>
                  <a:srgbClr val="004EA8"/>
                </a:solidFill>
                <a:latin typeface="Arial"/>
              </a:rPr>
              <a:t>For BDOI: </a:t>
            </a:r>
            <a:r>
              <a:rPr sz="1200" b="0">
                <a:solidFill>
                  <a:srgbClr val="4B4B4B"/>
                </a:solidFill>
                <a:latin typeface="Arial"/>
              </a:rPr>
              <a:t>Agree the policy with Comptrollership and the auditors.</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Incentive accruals</a:t>
            </a:r>
          </a:p>
        </p:txBody>
      </p:sp>
      <p:sp>
        <p:nvSpPr>
          <p:cNvPr id="30" name="Rounded Rectangle 29"/>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Income visibility</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Contingent and incentive commission estimated and accrued monthly, trued up when the insurer pays.</a:t>
            </a:r>
          </a:p>
          <a:p>
            <a:pPr>
              <a:spcAft>
                <a:spcPts val="400"/>
              </a:spcAft>
            </a:pPr>
            <a:r>
              <a:rPr sz="1200" b="1">
                <a:solidFill>
                  <a:srgbClr val="004EA8"/>
                </a:solidFill>
                <a:latin typeface="Arial"/>
              </a:rPr>
              <a:t>For BDOI: </a:t>
            </a:r>
            <a:r>
              <a:rPr sz="1200" b="0">
                <a:solidFill>
                  <a:srgbClr val="4B4B4B"/>
                </a:solidFill>
                <a:latin typeface="Arial"/>
              </a:rPr>
              <a:t>Add a monthly accrual to the incentive schemes.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Collections: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Operations - Collections, with Marketing collection staff</a:t>
            </a:r>
          </a:p>
          <a:p>
            <a:pPr>
              <a:spcAft>
                <a:spcPts val="300"/>
              </a:spcAft>
            </a:pPr>
            <a:r>
              <a:rPr sz="1200" b="0">
                <a:solidFill>
                  <a:srgbClr val="004EA8"/>
                </a:solidFill>
                <a:latin typeface="Arial"/>
              </a:rPr>
              <a:t>•  </a:t>
            </a:r>
            <a:r>
              <a:rPr sz="1200" b="0">
                <a:solidFill>
                  <a:srgbClr val="4B4B4B"/>
                </a:solidFill>
                <a:latin typeface="Arial"/>
              </a:rPr>
              <a:t>Collection Handler; Marketing AO and Marketing Handler</a:t>
            </a:r>
          </a:p>
          <a:p>
            <a:pPr>
              <a:spcAft>
                <a:spcPts val="300"/>
              </a:spcAft>
            </a:pPr>
            <a:r>
              <a:rPr sz="1200" b="0">
                <a:solidFill>
                  <a:srgbClr val="004EA8"/>
                </a:solidFill>
                <a:latin typeface="Arial"/>
              </a:rPr>
              <a:t>•  </a:t>
            </a:r>
            <a:r>
              <a:rPr sz="1200" b="0">
                <a:solidFill>
                  <a:srgbClr val="4B4B4B"/>
                </a:solidFill>
                <a:latin typeface="Arial"/>
              </a:rPr>
              <a:t>Team Lead, Unit Head, Section Heads (Corporate, Retail)</a:t>
            </a:r>
          </a:p>
          <a:p>
            <a:pPr>
              <a:spcAft>
                <a:spcPts val="300"/>
              </a:spcAft>
            </a:pPr>
            <a:r>
              <a:rPr sz="1200" b="0">
                <a:solidFill>
                  <a:srgbClr val="004EA8"/>
                </a:solidFill>
                <a:latin typeface="Arial"/>
              </a:rPr>
              <a:t>•  </a:t>
            </a:r>
            <a:r>
              <a:rPr sz="1200" b="0">
                <a:solidFill>
                  <a:srgbClr val="4B4B4B"/>
                </a:solidFill>
                <a:latin typeface="Arial"/>
              </a:rPr>
              <a:t>Unapplied Payment Handler</a:t>
            </a:r>
          </a:p>
          <a:p>
            <a:pPr>
              <a:spcAft>
                <a:spcPts val="300"/>
              </a:spcAft>
            </a:pPr>
            <a:r>
              <a:rPr sz="1200" b="0">
                <a:solidFill>
                  <a:srgbClr val="004EA8"/>
                </a:solidFill>
                <a:latin typeface="Arial"/>
              </a:rPr>
              <a:t>•  </a:t>
            </a:r>
            <a:r>
              <a:rPr sz="1200" b="0">
                <a:solidFill>
                  <a:srgbClr val="4B4B4B"/>
                </a:solidFill>
                <a:latin typeface="Arial"/>
              </a:rPr>
              <a:t>Cashiering and Commission (act on dispositions)</a:t>
            </a:r>
          </a:p>
          <a:p>
            <a:pPr>
              <a:spcAft>
                <a:spcPts val="300"/>
              </a:spcAft>
            </a:pPr>
            <a:r>
              <a:rPr sz="1200" b="0">
                <a:solidFill>
                  <a:srgbClr val="004EA8"/>
                </a:solidFill>
                <a:latin typeface="Arial"/>
              </a:rPr>
              <a:t>•  </a:t>
            </a:r>
            <a:r>
              <a:rPr sz="1200" b="0">
                <a:solidFill>
                  <a:srgbClr val="4B4B4B"/>
                </a:solidFill>
                <a:latin typeface="Arial"/>
              </a:rPr>
              <a:t>Insurers (credit term extension)</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10-15 days</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first collection follow-up after booking (Day 1 p.19)</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60 days</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to secure the client's payment commitment (Day 1 p.19)</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1,200</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dispositions and 1,200 autopay records a day (BRD-4 NFR)</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3 routes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deposit, bills payment, direct payment to the insurer</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22-Sep-2026, 3:30-5:00 pm, 43F and 44F; discovery 21 and 24-Sep-2026</a:t>
            </a:r>
          </a:p>
          <a:p>
            <a:pPr>
              <a:spcAft>
                <a:spcPts val="400"/>
              </a:spcAft>
            </a:pPr>
            <a:r>
              <a:rPr sz="1100" b="1">
                <a:solidFill>
                  <a:srgbClr val="004EA8"/>
                </a:solidFill>
                <a:latin typeface="Arial"/>
              </a:rPr>
              <a:t>Process owners: </a:t>
            </a:r>
            <a:r>
              <a:rPr sz="1100" b="0">
                <a:solidFill>
                  <a:srgbClr val="4B4B4B"/>
                </a:solidFill>
                <a:latin typeface="Arial"/>
              </a:rPr>
              <a:t>Sheryne Hernaez, Pia Pinili</a:t>
            </a:r>
          </a:p>
          <a:p>
            <a:pPr>
              <a:spcAft>
                <a:spcPts val="400"/>
              </a:spcAft>
            </a:pPr>
            <a:r>
              <a:rPr sz="1100" b="0">
                <a:solidFill>
                  <a:srgbClr val="004EA8"/>
                </a:solidFill>
                <a:latin typeface="Arial"/>
              </a:rPr>
              <a:t>•  </a:t>
            </a:r>
            <a:r>
              <a:rPr sz="1100" b="0">
                <a:solidFill>
                  <a:srgbClr val="4B4B4B"/>
                </a:solidFill>
                <a:latin typeface="Arial"/>
              </a:rPr>
              <a:t>High-level Marketing Collections process flow (current end-to-end manual flow)</a:t>
            </a:r>
          </a:p>
          <a:p>
            <a:pPr>
              <a:spcAft>
                <a:spcPts val="400"/>
              </a:spcAft>
            </a:pPr>
            <a:r>
              <a:rPr sz="1100" b="0">
                <a:solidFill>
                  <a:srgbClr val="004EA8"/>
                </a:solidFill>
                <a:latin typeface="Arial"/>
              </a:rPr>
              <a:t>•  </a:t>
            </a:r>
            <a:r>
              <a:rPr sz="1100" b="0">
                <a:solidFill>
                  <a:srgbClr val="4B4B4B"/>
                </a:solidFill>
                <a:latin typeface="Arial"/>
              </a:rPr>
              <a:t>BDOI Day 1 overview p.19</a:t>
            </a:r>
          </a:p>
          <a:p>
            <a:pPr>
              <a:spcAft>
                <a:spcPts val="400"/>
              </a:spcAft>
            </a:pPr>
            <a:r>
              <a:rPr sz="1100" b="0">
                <a:solidFill>
                  <a:srgbClr val="004EA8"/>
                </a:solidFill>
                <a:latin typeface="Arial"/>
              </a:rPr>
              <a:t>•  </a:t>
            </a:r>
            <a:r>
              <a:rPr sz="1100" b="0">
                <a:solidFill>
                  <a:srgbClr val="4B4B4B"/>
                </a:solidFill>
                <a:latin typeface="Arial"/>
              </a:rPr>
              <a:t>BRD-4 (CMS BRD) p.40-41; BRCLXN.001-064</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Booking</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 list</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Diary</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Follow-up</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Commitment</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CTE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Disposition</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Payment check</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Collections: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CO-01</a:t>
                      </a:r>
                    </a:p>
                  </a:txBody>
                  <a:tcPr marL="64008" marR="64008" marT="27432" marB="27432" anchor="ctr">
                    <a:solidFill>
                      <a:srgbClr val="FFFFFF"/>
                    </a:solidFill>
                  </a:tcPr>
                </a:tc>
                <a:tc>
                  <a:txBody>
                    <a:bodyPr wrap="square"/>
                    <a:lstStyle/>
                    <a:p>
                      <a:r>
                        <a:rPr sz="1100" b="0">
                          <a:solidFill>
                            <a:srgbClr val="4B4B4B"/>
                          </a:solidFill>
                          <a:latin typeface="Arial"/>
                        </a:rPr>
                        <a:t>Outstanding per client</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Collection information is captured in a separate system; the outstanding amount per customer is not shown properly.</a:t>
                      </a:r>
                    </a:p>
                  </a:txBody>
                  <a:tcPr marL="64008" marR="64008" marT="27432" marB="27432" anchor="ctr">
                    <a:solidFill>
                      <a:srgbClr val="FFFFFF"/>
                    </a:solidFill>
                  </a:tcPr>
                </a:tc>
                <a:tc>
                  <a:txBody>
                    <a:bodyPr wrap="square"/>
                    <a:lstStyle/>
                    <a:p>
                      <a:r>
                        <a:rPr sz="1100" b="0">
                          <a:solidFill>
                            <a:srgbClr val="4B4B4B"/>
                          </a:solidFill>
                          <a:latin typeface="Arial"/>
                        </a:rPr>
                        <a:t>The correct outstanding amount per customer.</a:t>
                      </a:r>
                    </a:p>
                  </a:txBody>
                  <a:tcPr marL="64008" marR="64008" marT="27432" marB="27432" anchor="ctr">
                    <a:solidFill>
                      <a:srgbClr val="FFFFFF"/>
                    </a:solidFill>
                  </a:tcPr>
                </a:tc>
              </a:tr>
              <a:tr h="758952">
                <a:tc>
                  <a:txBody>
                    <a:bodyPr wrap="square"/>
                    <a:lstStyle/>
                    <a:p>
                      <a:r>
                        <a:rPr sz="1100" b="1">
                          <a:solidFill>
                            <a:srgbClr val="4B4B4B"/>
                          </a:solidFill>
                          <a:latin typeface="Arial"/>
                        </a:rPr>
                        <a:t>CO-02</a:t>
                      </a:r>
                    </a:p>
                  </a:txBody>
                  <a:tcPr marL="64008" marR="64008" marT="27432" marB="27432" anchor="ctr">
                    <a:solidFill>
                      <a:srgbClr val="E5F5FF"/>
                    </a:solidFill>
                  </a:tcPr>
                </a:tc>
                <a:tc>
                  <a:txBody>
                    <a:bodyPr wrap="square"/>
                    <a:lstStyle/>
                    <a:p>
                      <a:r>
                        <a:rPr sz="1100" b="0">
                          <a:solidFill>
                            <a:srgbClr val="4B4B4B"/>
                          </a:solidFill>
                          <a:latin typeface="Arial"/>
                        </a:rPr>
                        <a:t>ICS status and ageing</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ICS (Internal Collection System) tracks premium and commission collection; data flows from EBIX; the handler updates the contact status. After collection the status stays on the last action and ageing keeps running.</a:t>
                      </a:r>
                    </a:p>
                  </a:txBody>
                  <a:tcPr marL="64008" marR="64008" marT="27432" marB="27432" anchor="ctr">
                    <a:solidFill>
                      <a:srgbClr val="E5F5FF"/>
                    </a:solidFill>
                  </a:tcPr>
                </a:tc>
                <a:tc>
                  <a:txBody>
                    <a:bodyPr wrap="square"/>
                    <a:lstStyle/>
                    <a:p>
                      <a:r>
                        <a:rPr sz="1100" b="0">
                          <a:solidFill>
                            <a:srgbClr val="4B4B4B"/>
                          </a:solidFill>
                          <a:latin typeface="Arial"/>
                        </a:rPr>
                        <a:t>Status closes on payment; ageing stops.</a:t>
                      </a:r>
                    </a:p>
                  </a:txBody>
                  <a:tcPr marL="64008" marR="64008" marT="27432" marB="27432" anchor="ctr">
                    <a:solidFill>
                      <a:srgbClr val="E5F5FF"/>
                    </a:solidFill>
                  </a:tcPr>
                </a:tc>
              </a:tr>
              <a:tr h="758952">
                <a:tc>
                  <a:txBody>
                    <a:bodyPr wrap="square"/>
                    <a:lstStyle/>
                    <a:p>
                      <a:r>
                        <a:rPr sz="1100" b="1">
                          <a:solidFill>
                            <a:srgbClr val="4B4B4B"/>
                          </a:solidFill>
                          <a:latin typeface="Arial"/>
                        </a:rPr>
                        <a:t>CO-03</a:t>
                      </a:r>
                    </a:p>
                  </a:txBody>
                  <a:tcPr marL="64008" marR="64008" marT="27432" marB="27432" anchor="ctr">
                    <a:solidFill>
                      <a:srgbClr val="FFFFFF"/>
                    </a:solidFill>
                  </a:tcPr>
                </a:tc>
                <a:tc>
                  <a:txBody>
                    <a:bodyPr wrap="square"/>
                    <a:lstStyle/>
                    <a:p>
                      <a:r>
                        <a:rPr sz="1100" b="0">
                          <a:solidFill>
                            <a:srgbClr val="4B4B4B"/>
                          </a:solidFill>
                          <a:latin typeface="Arial"/>
                        </a:rPr>
                        <a:t>Credit policy</a:t>
                      </a:r>
                    </a:p>
                  </a:txBody>
                  <a:tcPr marL="64008" marR="64008" marT="27432" marB="27432" anchor="ctr">
                    <a:solidFill>
                      <a:srgbClr val="FFFF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Credit policy to be defined.</a:t>
                      </a:r>
                    </a:p>
                  </a:txBody>
                  <a:tcPr marL="64008" marR="64008" marT="27432" marB="27432" anchor="ctr">
                    <a:solidFill>
                      <a:srgbClr val="FFFFFF"/>
                    </a:solidFill>
                  </a:tcPr>
                </a:tc>
                <a:tc>
                  <a:txBody>
                    <a:bodyPr wrap="square"/>
                    <a:lstStyle/>
                    <a:p>
                      <a:r>
                        <a:rPr sz="1100" b="0">
                          <a:solidFill>
                            <a:srgbClr val="4B4B4B"/>
                          </a:solidFill>
                          <a:latin typeface="Arial"/>
                        </a:rPr>
                        <a:t>BDOI to confirm the credit policy.</a:t>
                      </a:r>
                    </a:p>
                  </a:txBody>
                  <a:tcPr marL="64008" marR="64008" marT="27432" marB="27432" anchor="ctr">
                    <a:solidFill>
                      <a:srgbClr val="FFFFFF"/>
                    </a:solidFill>
                  </a:tcPr>
                </a:tc>
              </a:tr>
              <a:tr h="758952">
                <a:tc>
                  <a:txBody>
                    <a:bodyPr wrap="square"/>
                    <a:lstStyle/>
                    <a:p>
                      <a:r>
                        <a:rPr sz="1100" b="1">
                          <a:solidFill>
                            <a:srgbClr val="4B4B4B"/>
                          </a:solidFill>
                          <a:latin typeface="Arial"/>
                        </a:rPr>
                        <a:t>Day 1 p.19</a:t>
                      </a:r>
                    </a:p>
                  </a:txBody>
                  <a:tcPr marL="64008" marR="64008" marT="27432" marB="27432" anchor="ctr">
                    <a:solidFill>
                      <a:srgbClr val="E5F5FF"/>
                    </a:solidFill>
                  </a:tcPr>
                </a:tc>
                <a:tc>
                  <a:txBody>
                    <a:bodyPr wrap="square"/>
                    <a:lstStyle/>
                    <a:p>
                      <a:r>
                        <a:rPr sz="1100" b="0">
                          <a:solidFill>
                            <a:srgbClr val="4B4B4B"/>
                          </a:solidFill>
                          <a:latin typeface="Arial"/>
                        </a:rPr>
                        <a:t>Follow-up rules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Newly booked and unpaid: collect within 10-15 days from booking; secure a payment commitment within 60 days; payment by deposit, bills payment or direct payment.</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Day 1 p.19</a:t>
                      </a:r>
                    </a:p>
                  </a:txBody>
                  <a:tcPr marL="64008" marR="64008" marT="27432" marB="27432" anchor="ctr">
                    <a:solidFill>
                      <a:srgbClr val="FFFFFF"/>
                    </a:solidFill>
                  </a:tcPr>
                </a:tc>
                <a:tc>
                  <a:txBody>
                    <a:bodyPr wrap="square"/>
                    <a:lstStyle/>
                    <a:p>
                      <a:r>
                        <a:rPr sz="1100" b="0">
                          <a:solidFill>
                            <a:srgbClr val="4B4B4B"/>
                          </a:solidFill>
                          <a:latin typeface="Arial"/>
                        </a:rPr>
                        <a:t>Friction named by BDOI</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Manual diary and status updates; e-mail-based CTE coordination; several payment-validation sources; follow-up that depends on the handler.</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Collections flow</a:t>
                      </a:r>
                    </a:p>
                  </a:txBody>
                  <a:tcPr marL="64008" marR="64008" marT="27432" marB="27432" anchor="ctr">
                    <a:solidFill>
                      <a:srgbClr val="E5F5FF"/>
                    </a:solidFill>
                  </a:tcPr>
                </a:tc>
                <a:tc>
                  <a:txBody>
                    <a:bodyPr wrap="square"/>
                    <a:lstStyle/>
                    <a:p>
                      <a:r>
                        <a:rPr sz="1100" b="0">
                          <a:solidFill>
                            <a:srgbClr val="4B4B4B"/>
                          </a:solidFill>
                          <a:latin typeface="Arial"/>
                        </a:rPr>
                        <a:t>Payment check</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Deposit: check with Cashiering. Bills payment: look in the Unapplied screen. Direct payment: check with the insurer. Then proceed to Cashiering.</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Collections: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pic>
        <p:nvPicPr>
          <p:cNvPr id="9" name="Picture 8" descr="brd04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Premium receivable follow-up today (Marketing Collections process flow; BRD-4 p.40-41; CO-01 to CO-03)</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Collections: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PR list and diary in two systems</a:t>
            </a:r>
          </a:p>
          <a:p>
            <a:pPr>
              <a:spcAft>
                <a:spcPts val="100"/>
              </a:spcAft>
            </a:pPr>
            <a:r>
              <a:rPr sz="1200" b="0">
                <a:solidFill>
                  <a:srgbClr val="4B4B4B"/>
                </a:solidFill>
                <a:latin typeface="Arial"/>
              </a:rPr>
              <a:t>The handler takes the EBIX list and checks the ISYS Marketing Diary per account.</a:t>
            </a:r>
          </a:p>
          <a:p>
            <a:pPr>
              <a:spcAft>
                <a:spcPts val="100"/>
              </a:spcAft>
            </a:pPr>
            <a:r>
              <a:rPr sz="1200" b="0">
                <a:solidFill>
                  <a:srgbClr val="0072D8"/>
                </a:solidFill>
                <a:latin typeface="Arial"/>
              </a:rPr>
              <a:t>BRD-4 p.40-41, steps 1-2</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Follow-up by hand</a:t>
            </a:r>
          </a:p>
          <a:p>
            <a:pPr>
              <a:spcAft>
                <a:spcPts val="100"/>
              </a:spcAft>
            </a:pPr>
            <a:r>
              <a:rPr sz="1200" b="0">
                <a:solidFill>
                  <a:srgbClr val="4B4B4B"/>
                </a:solidFill>
                <a:latin typeface="Arial"/>
              </a:rPr>
              <a:t>New bookings within 10-15 days, commitment within 60 days, tracked by the handler.</a:t>
            </a:r>
          </a:p>
          <a:p>
            <a:pPr>
              <a:spcAft>
                <a:spcPts val="100"/>
              </a:spcAft>
            </a:pPr>
            <a:r>
              <a:rPr sz="1200" b="0">
                <a:solidFill>
                  <a:srgbClr val="0072D8"/>
                </a:solidFill>
                <a:latin typeface="Arial"/>
              </a:rPr>
              <a:t>BRD-4 p.40-41; Day 1 p.19</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CTE and escalation by e-mail</a:t>
            </a:r>
          </a:p>
          <a:p>
            <a:pPr>
              <a:spcAft>
                <a:spcPts val="100"/>
              </a:spcAft>
            </a:pPr>
            <a:r>
              <a:rPr sz="1200" b="0">
                <a:solidFill>
                  <a:srgbClr val="4B4B4B"/>
                </a:solidFill>
                <a:latin typeface="Arial"/>
              </a:rPr>
              <a:t>The AO asks the insurer for a credit term extension and escalates to the Unit Head.</a:t>
            </a:r>
          </a:p>
          <a:p>
            <a:pPr>
              <a:spcAft>
                <a:spcPts val="100"/>
              </a:spcAft>
            </a:pPr>
            <a:r>
              <a:rPr sz="1200" b="0">
                <a:solidFill>
                  <a:srgbClr val="0072D8"/>
                </a:solidFill>
                <a:latin typeface="Arial"/>
              </a:rPr>
              <a:t>BRD-4 p.40-41; Day 1 p.19</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Dispositions kept by hand</a:t>
            </a:r>
          </a:p>
          <a:p>
            <a:pPr>
              <a:spcAft>
                <a:spcPts val="100"/>
              </a:spcAft>
            </a:pPr>
            <a:r>
              <a:rPr sz="1200" b="0">
                <a:solidFill>
                  <a:srgbClr val="4B4B4B"/>
                </a:solidFill>
                <a:latin typeface="Arial"/>
              </a:rPr>
              <a:t>Day-60 disposition, category A / B / C and remarks are updated manually.</a:t>
            </a:r>
          </a:p>
          <a:p>
            <a:pPr>
              <a:spcAft>
                <a:spcPts val="100"/>
              </a:spcAft>
            </a:pPr>
            <a:r>
              <a:rPr sz="1200" b="0">
                <a:solidFill>
                  <a:srgbClr val="0072D8"/>
                </a:solidFill>
                <a:latin typeface="Arial"/>
              </a:rPr>
              <a:t>BRD-4 p.40-41, steps 6-7</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Payment status by channel</a:t>
            </a:r>
          </a:p>
          <a:p>
            <a:pPr>
              <a:spcAft>
                <a:spcPts val="100"/>
              </a:spcAft>
            </a:pPr>
            <a:r>
              <a:rPr sz="1200" b="0">
                <a:solidFill>
                  <a:srgbClr val="4B4B4B"/>
                </a:solidFill>
                <a:latin typeface="Arial"/>
              </a:rPr>
              <a:t>Deposit with Cashiering, bills payment on the Unapplied screen, direct payment with the insurer.</a:t>
            </a:r>
          </a:p>
          <a:p>
            <a:pPr>
              <a:spcAft>
                <a:spcPts val="100"/>
              </a:spcAft>
            </a:pPr>
            <a:r>
              <a:rPr sz="1200" b="0">
                <a:solidFill>
                  <a:srgbClr val="0072D8"/>
                </a:solidFill>
                <a:latin typeface="Arial"/>
              </a:rPr>
              <a:t>BRD-4 p.40-41; Collections flow</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2307 tagging handed over</a:t>
            </a:r>
          </a:p>
          <a:p>
            <a:pPr>
              <a:spcAft>
                <a:spcPts val="100"/>
              </a:spcAft>
            </a:pPr>
            <a:r>
              <a:rPr sz="1200" b="0">
                <a:solidFill>
                  <a:srgbClr val="4B4B4B"/>
                </a:solidFill>
                <a:latin typeface="Arial"/>
              </a:rPr>
              <a:t>A net-of-CWT payment stays a Marketing action until the BIR 2307 is collected.</a:t>
            </a:r>
          </a:p>
          <a:p>
            <a:pPr>
              <a:spcAft>
                <a:spcPts val="100"/>
              </a:spcAft>
            </a:pPr>
            <a:r>
              <a:rPr sz="1200" b="0">
                <a:solidFill>
                  <a:srgbClr val="0072D8"/>
                </a:solidFill>
                <a:latin typeface="Arial"/>
              </a:rPr>
              <a:t>BRD-4 p.40-41, step 9</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DP report extracted monthly</a:t>
            </a:r>
          </a:p>
          <a:p>
            <a:pPr>
              <a:spcAft>
                <a:spcPts val="100"/>
              </a:spcAft>
            </a:pPr>
            <a:r>
              <a:rPr sz="1200" b="0">
                <a:solidFill>
                  <a:srgbClr val="4B4B4B"/>
                </a:solidFill>
                <a:latin typeface="Arial"/>
              </a:rPr>
              <a:t>Operations extracts the Direct Payment report as the basis for PR reversal.</a:t>
            </a:r>
          </a:p>
          <a:p>
            <a:pPr>
              <a:spcAft>
                <a:spcPts val="100"/>
              </a:spcAft>
            </a:pPr>
            <a:r>
              <a:rPr sz="1200" b="0">
                <a:solidFill>
                  <a:srgbClr val="0072D8"/>
                </a:solidFill>
                <a:latin typeface="Arial"/>
              </a:rPr>
              <a:t>BRD-4 p.40-41, step 10</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Side tasks by e-mail</a:t>
            </a:r>
          </a:p>
          <a:p>
            <a:pPr>
              <a:spcAft>
                <a:spcPts val="100"/>
              </a:spcAft>
            </a:pPr>
            <a:r>
              <a:rPr sz="1200" b="0">
                <a:solidFill>
                  <a:srgbClr val="4B4B4B"/>
                </a:solidFill>
                <a:latin typeface="Arial"/>
              </a:rPr>
              <a:t>Cheque pick-up requests and 2307 certificates received by e-mail.</a:t>
            </a:r>
          </a:p>
          <a:p>
            <a:pPr>
              <a:spcAft>
                <a:spcPts val="100"/>
              </a:spcAft>
            </a:pPr>
            <a:r>
              <a:rPr sz="1200" b="0">
                <a:solidFill>
                  <a:srgbClr val="0072D8"/>
                </a:solidFill>
                <a:latin typeface="Arial"/>
              </a:rPr>
              <a:t>BRD-4 p.40</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ICS status and ageing wrong</a:t>
            </a:r>
          </a:p>
          <a:p>
            <a:pPr>
              <a:spcAft>
                <a:spcPts val="100"/>
              </a:spcAft>
            </a:pPr>
            <a:r>
              <a:rPr sz="1200" b="0">
                <a:solidFill>
                  <a:srgbClr val="4B4B4B"/>
                </a:solidFill>
                <a:latin typeface="Arial"/>
              </a:rPr>
              <a:t>Status stays on the last action and ageing runs after payment; balance per client unreliable.</a:t>
            </a:r>
          </a:p>
          <a:p>
            <a:pPr>
              <a:spcAft>
                <a:spcPts val="100"/>
              </a:spcAft>
            </a:pPr>
            <a:r>
              <a:rPr sz="1200" b="0">
                <a:solidFill>
                  <a:srgbClr val="0072D8"/>
                </a:solidFill>
                <a:latin typeface="Arial"/>
              </a:rPr>
              <a:t>CO-01, CO-02</a:t>
            </a:r>
          </a:p>
        </p:txBody>
      </p:sp>
      <p:sp>
        <p:nvSpPr>
          <p:cNvPr id="27" name="Oval 26"/>
          <p:cNvSpPr/>
          <p:nvPr/>
        </p:nvSpPr>
        <p:spPr>
          <a:xfrm>
            <a:off x="6233007"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10</a:t>
            </a:r>
          </a:p>
        </p:txBody>
      </p:sp>
      <p:sp>
        <p:nvSpPr>
          <p:cNvPr id="28" name="TextBox 27"/>
          <p:cNvSpPr txBox="1"/>
          <p:nvPr/>
        </p:nvSpPr>
        <p:spPr>
          <a:xfrm>
            <a:off x="6708495"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written credit policy</a:t>
            </a:r>
          </a:p>
          <a:p>
            <a:pPr>
              <a:spcAft>
                <a:spcPts val="100"/>
              </a:spcAft>
            </a:pPr>
            <a:r>
              <a:rPr sz="1200" b="0">
                <a:solidFill>
                  <a:srgbClr val="4B4B4B"/>
                </a:solidFill>
                <a:latin typeface="Arial"/>
              </a:rPr>
              <a:t>Credit terms, CTE and cancellation for non-payment are decided case by case.</a:t>
            </a:r>
          </a:p>
          <a:p>
            <a:pPr>
              <a:spcAft>
                <a:spcPts val="100"/>
              </a:spcAft>
            </a:pPr>
            <a:r>
              <a:rPr sz="1200" b="0">
                <a:solidFill>
                  <a:srgbClr val="0072D8"/>
                </a:solidFill>
                <a:latin typeface="Arial"/>
              </a:rPr>
              <a:t>CO-03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Collections: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pic>
        <p:nvPicPr>
          <p:cNvPr id="9" name="Picture 8" descr="brd04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Collections in BIBS: worklist, promises, escalation (workflow CLX_ESCALATION) and hand-offs (design COLLECTIONS_DESIGN)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Collections: how the BRD answers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 list and diary in two systems</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worklist read from the invoice ledger, with the Marketing Diary in view on the item</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Refreshed nightly</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Follow-up by hand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Efforts, promises per instalment and reminders recorded on the collection item</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History kept per item</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CTE and escalation by e-mail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Escalation rules by ageing, commitments and broken promises; manual escalation, also in bulk</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TL / UH queue by rule</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Dispositions kept by hand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Disposition from a list of values with category A / B / C; append-only history</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Audit per field</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status by channel</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Payment status, balances and co-insurance shares read from the invoice ledger</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Same-day balance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Collections: how the BRD answers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2307 tagging handed over</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"PR 2307 for reversal" goes to the Cashiering 2307 intake as an in-app request</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e-mail hand-off</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DP report extracted monthly</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DP-for-reversal file on the first working day; the same list goes to Commission</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Ready on day 1</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Side tasks by e-mail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Cheque pick-up request placed on the Cashiering queue from the item</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Request tracked</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ICS status and ageing wrong</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Item closes as completed when the balance reaches zero or the threshold; ageing stops; balance summed per client (BRCLXN.003, 008, 022)</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Accurate ageing</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10</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written credit policy</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Configurable escalation days only (BRCLXN.049); the credit policy itself is not in the BRD</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Gap: see next slide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Collections: gaps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Credit policy</a:t>
                      </a:r>
                    </a:p>
                  </a:txBody>
                  <a:tcPr marL="64008" marR="64008" marT="27432" marB="27432" anchor="ctr">
                    <a:solidFill>
                      <a:srgbClr val="FFFFFF"/>
                    </a:solidFill>
                  </a:tcPr>
                </a:tc>
                <a:tc>
                  <a:txBody>
                    <a:bodyPr wrap="square"/>
                    <a:lstStyle/>
                    <a:p>
                      <a:r>
                        <a:rPr sz="1100" b="0">
                          <a:solidFill>
                            <a:srgbClr val="4B4B4B"/>
                          </a:solidFill>
                          <a:latin typeface="Arial"/>
                        </a:rPr>
                        <a:t>Credit terms, CTE and non-payment decided case by case (CO-03).</a:t>
                      </a:r>
                    </a:p>
                  </a:txBody>
                  <a:tcPr marL="64008" marR="64008" marT="27432" marB="27432" anchor="ctr">
                    <a:solidFill>
                      <a:srgbClr val="FFFFFF"/>
                    </a:solidFill>
                  </a:tcPr>
                </a:tc>
                <a:tc>
                  <a:txBody>
                    <a:bodyPr wrap="square"/>
                    <a:lstStyle/>
                    <a:p>
                      <a:r>
                        <a:rPr sz="1100" b="0">
                          <a:solidFill>
                            <a:srgbClr val="4B4B4B"/>
                          </a:solidFill>
                          <a:latin typeface="Arial"/>
                        </a:rPr>
                        <a:t>Credit term is only a diary field; escalation days configurable.</a:t>
                      </a:r>
                    </a:p>
                  </a:txBody>
                  <a:tcPr marL="64008" marR="64008" marT="27432" marB="27432" anchor="ctr">
                    <a:solidFill>
                      <a:srgbClr val="FFFFFF"/>
                    </a:solidFill>
                  </a:tcPr>
                </a:tc>
                <a:tc>
                  <a:txBody>
                    <a:bodyPr wrap="square"/>
                    <a:lstStyle/>
                    <a:p>
                      <a:r>
                        <a:rPr sz="1100" b="0">
                          <a:solidFill>
                            <a:srgbClr val="4B4B4B"/>
                          </a:solidFill>
                          <a:latin typeface="Arial"/>
                        </a:rPr>
                        <a:t>Write the policy: terms per segment and product, CTE approval with the insurer, cancellation request at day N (Insurance Code s.77).</a:t>
                      </a:r>
                    </a:p>
                  </a:txBody>
                  <a:tcPr marL="64008" marR="64008" marT="27432" marB="27432" anchor="ctr">
                    <a:solidFill>
                      <a:srgbClr val="FFFFFF"/>
                    </a:solidFill>
                  </a:tcPr>
                </a:tc>
                <a:tc>
                  <a:txBody>
                    <a:bodyPr wrap="square"/>
                    <a:lstStyle/>
                    <a:p>
                      <a:r>
                        <a:rPr sz="1100" b="0">
                          <a:solidFill>
                            <a:srgbClr val="4B4B4B"/>
                          </a:solidFill>
                          <a:latin typeface="Arial"/>
                        </a:rPr>
                        <a:t>CO-03; CQ20</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10-15 and 60-day rules</a:t>
                      </a:r>
                    </a:p>
                  </a:txBody>
                  <a:tcPr marL="64008" marR="64008" marT="27432" marB="27432" anchor="ctr">
                    <a:solidFill>
                      <a:srgbClr val="E5F5FF"/>
                    </a:solidFill>
                  </a:tcPr>
                </a:tc>
                <a:tc>
                  <a:txBody>
                    <a:bodyPr wrap="square"/>
                    <a:lstStyle/>
                    <a:p>
                      <a:r>
                        <a:rPr sz="1100" b="0">
                          <a:solidFill>
                            <a:srgbClr val="4B4B4B"/>
                          </a:solidFill>
                          <a:latin typeface="Arial"/>
                        </a:rPr>
                        <a:t>Stated on the floor as the working rules.</a:t>
                      </a:r>
                    </a:p>
                  </a:txBody>
                  <a:tcPr marL="64008" marR="64008" marT="27432" marB="27432" anchor="ctr">
                    <a:solidFill>
                      <a:srgbClr val="E5F5FF"/>
                    </a:solidFill>
                  </a:tcPr>
                </a:tc>
                <a:tc>
                  <a:txBody>
                    <a:bodyPr wrap="square"/>
                    <a:lstStyle/>
                    <a:p>
                      <a:r>
                        <a:rPr sz="1100" b="0">
                          <a:solidFill>
                            <a:srgbClr val="4B4B4B"/>
                          </a:solidFill>
                          <a:latin typeface="Arial"/>
                        </a:rPr>
                        <a:t>Described as today's process; defaults of the escalation rule open.</a:t>
                      </a:r>
                    </a:p>
                  </a:txBody>
                  <a:tcPr marL="64008" marR="64008" marT="27432" marB="27432" anchor="ctr">
                    <a:solidFill>
                      <a:srgbClr val="E5F5FF"/>
                    </a:solidFill>
                  </a:tcPr>
                </a:tc>
                <a:tc>
                  <a:txBody>
                    <a:bodyPr wrap="square"/>
                    <a:lstStyle/>
                    <a:p>
                      <a:r>
                        <a:rPr sz="1100" b="0">
                          <a:solidFill>
                            <a:srgbClr val="4B4B4B"/>
                          </a:solidFill>
                          <a:latin typeface="Arial"/>
                        </a:rPr>
                        <a:t>Set them as the default rule values, per segment.</a:t>
                      </a:r>
                    </a:p>
                  </a:txBody>
                  <a:tcPr marL="64008" marR="64008" marT="27432" marB="27432" anchor="ctr">
                    <a:solidFill>
                      <a:srgbClr val="E5F5FF"/>
                    </a:solidFill>
                  </a:tcPr>
                </a:tc>
                <a:tc>
                  <a:txBody>
                    <a:bodyPr wrap="square"/>
                    <a:lstStyle/>
                    <a:p>
                      <a:r>
                        <a:rPr sz="1100" b="0">
                          <a:solidFill>
                            <a:srgbClr val="4B4B4B"/>
                          </a:solidFill>
                          <a:latin typeface="Arial"/>
                        </a:rPr>
                        <a:t>Day 1 p.19; CQ14</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CTE with the insurer</a:t>
                      </a:r>
                    </a:p>
                  </a:txBody>
                  <a:tcPr marL="64008" marR="64008" marT="27432" marB="27432" anchor="ctr">
                    <a:solidFill>
                      <a:srgbClr val="FFFFFF"/>
                    </a:solidFill>
                  </a:tcPr>
                </a:tc>
                <a:tc>
                  <a:txBody>
                    <a:bodyPr wrap="square"/>
                    <a:lstStyle/>
                    <a:p>
                      <a:r>
                        <a:rPr sz="1100" b="0">
                          <a:solidFill>
                            <a:srgbClr val="4B4B4B"/>
                          </a:solidFill>
                          <a:latin typeface="Arial"/>
                        </a:rPr>
                        <a:t>Requested and approved by e-mail.</a:t>
                      </a:r>
                    </a:p>
                  </a:txBody>
                  <a:tcPr marL="64008" marR="64008" marT="27432" marB="27432" anchor="ctr">
                    <a:solidFill>
                      <a:srgbClr val="FFFFFF"/>
                    </a:solidFill>
                  </a:tcPr>
                </a:tc>
                <a:tc>
                  <a:txBody>
                    <a:bodyPr wrap="square"/>
                    <a:lstStyle/>
                    <a:p>
                      <a:r>
                        <a:rPr sz="1100" b="0">
                          <a:solidFill>
                            <a:srgbClr val="4B4B4B"/>
                          </a:solidFill>
                          <a:latin typeface="Arial"/>
                        </a:rPr>
                        <a:t>CTE is an effort code; no request or approval record.</a:t>
                      </a:r>
                    </a:p>
                  </a:txBody>
                  <a:tcPr marL="64008" marR="64008" marT="27432" marB="27432" anchor="ctr">
                    <a:solidFill>
                      <a:srgbClr val="FFFFFF"/>
                    </a:solidFill>
                  </a:tcPr>
                </a:tc>
                <a:tc>
                  <a:txBody>
                    <a:bodyPr wrap="square"/>
                    <a:lstStyle/>
                    <a:p>
                      <a:r>
                        <a:rPr sz="1100" b="0">
                          <a:solidFill>
                            <a:srgbClr val="4B4B4B"/>
                          </a:solidFill>
                          <a:latin typeface="Arial"/>
                        </a:rPr>
                        <a:t>A CTE request with the insurer's answer and new due date on the item.</a:t>
                      </a:r>
                    </a:p>
                  </a:txBody>
                  <a:tcPr marL="64008" marR="64008" marT="27432" marB="27432" anchor="ctr">
                    <a:solidFill>
                      <a:srgbClr val="FFFFFF"/>
                    </a:solidFill>
                  </a:tcPr>
                </a:tc>
                <a:tc>
                  <a:txBody>
                    <a:bodyPr wrap="square"/>
                    <a:lstStyle/>
                    <a:p>
                      <a:r>
                        <a:rPr sz="1100" b="0">
                          <a:solidFill>
                            <a:srgbClr val="4B4B4B"/>
                          </a:solidFill>
                          <a:latin typeface="Arial"/>
                        </a:rPr>
                        <a:t>Collections flow; CQ20</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Day-60 outcome</a:t>
                      </a:r>
                    </a:p>
                  </a:txBody>
                  <a:tcPr marL="64008" marR="64008" marT="27432" marB="27432" anchor="ctr">
                    <a:solidFill>
                      <a:srgbClr val="E5F5FF"/>
                    </a:solidFill>
                  </a:tcPr>
                </a:tc>
                <a:tc>
                  <a:txBody>
                    <a:bodyPr wrap="square"/>
                    <a:lstStyle/>
                    <a:p>
                      <a:r>
                        <a:rPr sz="1100" b="0">
                          <a:solidFill>
                            <a:srgbClr val="4B4B4B"/>
                          </a:solidFill>
                          <a:latin typeface="Arial"/>
                        </a:rPr>
                        <a:t>Cancel, coordinate or refer to the bank AO.</a:t>
                      </a:r>
                    </a:p>
                  </a:txBody>
                  <a:tcPr marL="64008" marR="64008" marT="27432" marB="27432" anchor="ctr">
                    <a:solidFill>
                      <a:srgbClr val="E5F5FF"/>
                    </a:solidFill>
                  </a:tcPr>
                </a:tc>
                <a:tc>
                  <a:txBody>
                    <a:bodyPr wrap="square"/>
                    <a:lstStyle/>
                    <a:p>
                      <a:r>
                        <a:rPr sz="1100" b="0">
                          <a:solidFill>
                            <a:srgbClr val="4B4B4B"/>
                          </a:solidFill>
                          <a:latin typeface="Arial"/>
                        </a:rPr>
                        <a:t>Disposition list; no hand-off to Adjustment.</a:t>
                      </a:r>
                    </a:p>
                  </a:txBody>
                  <a:tcPr marL="64008" marR="64008" marT="27432" marB="27432" anchor="ctr">
                    <a:solidFill>
                      <a:srgbClr val="E5F5FF"/>
                    </a:solidFill>
                  </a:tcPr>
                </a:tc>
                <a:tc>
                  <a:txBody>
                    <a:bodyPr wrap="square"/>
                    <a:lstStyle/>
                    <a:p>
                      <a:r>
                        <a:rPr sz="1100" b="0">
                          <a:solidFill>
                            <a:srgbClr val="4B4B4B"/>
                          </a:solidFill>
                          <a:latin typeface="Arial"/>
                        </a:rPr>
                        <a:t>Raise the cancellation request from the collection item.</a:t>
                      </a:r>
                    </a:p>
                  </a:txBody>
                  <a:tcPr marL="64008" marR="64008" marT="27432" marB="27432" anchor="ctr">
                    <a:solidFill>
                      <a:srgbClr val="E5F5FF"/>
                    </a:solidFill>
                  </a:tcPr>
                </a:tc>
                <a:tc>
                  <a:txBody>
                    <a:bodyPr wrap="square"/>
                    <a:lstStyle/>
                    <a:p>
                      <a:r>
                        <a:rPr sz="1100" b="0">
                          <a:solidFill>
                            <a:srgbClr val="4B4B4B"/>
                          </a:solidFill>
                          <a:latin typeface="Arial"/>
                        </a:rPr>
                        <a:t>BRCLXN.016</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Marketing Diary</a:t>
                      </a:r>
                    </a:p>
                  </a:txBody>
                  <a:tcPr marL="64008" marR="64008" marT="27432" marB="27432" anchor="ctr">
                    <a:solidFill>
                      <a:srgbClr val="FFFFFF"/>
                    </a:solidFill>
                  </a:tcPr>
                </a:tc>
                <a:tc>
                  <a:txBody>
                    <a:bodyPr wrap="square"/>
                    <a:lstStyle/>
                    <a:p>
                      <a:r>
                        <a:rPr sz="1100" b="0">
                          <a:solidFill>
                            <a:srgbClr val="4B4B4B"/>
                          </a:solidFill>
                          <a:latin typeface="Arial"/>
                        </a:rPr>
                        <a:t>Kept in ISYS by the AO.</a:t>
                      </a:r>
                    </a:p>
                  </a:txBody>
                  <a:tcPr marL="64008" marR="64008" marT="27432" marB="27432" anchor="ctr">
                    <a:solidFill>
                      <a:srgbClr val="FFFFFF"/>
                    </a:solidFill>
                  </a:tcPr>
                </a:tc>
                <a:tc>
                  <a:txBody>
                    <a:bodyPr wrap="square"/>
                    <a:lstStyle/>
                    <a:p>
                      <a:r>
                        <a:rPr sz="1100" b="0">
                          <a:solidFill>
                            <a:srgbClr val="4B4B4B"/>
                          </a:solidFill>
                          <a:latin typeface="Arial"/>
                        </a:rPr>
                        <a:t>Diary shown on the item; in BIBS or interfaced is undecided.</a:t>
                      </a:r>
                    </a:p>
                  </a:txBody>
                  <a:tcPr marL="64008" marR="64008" marT="27432" marB="27432" anchor="ctr">
                    <a:solidFill>
                      <a:srgbClr val="FFFFFF"/>
                    </a:solidFill>
                  </a:tcPr>
                </a:tc>
                <a:tc>
                  <a:txBody>
                    <a:bodyPr wrap="square"/>
                    <a:lstStyle/>
                    <a:p>
                      <a:r>
                        <a:rPr sz="1100" b="0">
                          <a:solidFill>
                            <a:srgbClr val="4B4B4B"/>
                          </a:solidFill>
                          <a:latin typeface="Arial"/>
                        </a:rPr>
                        <a:t>Keep the diary in BIBS so AO and handler share one record.</a:t>
                      </a:r>
                    </a:p>
                  </a:txBody>
                  <a:tcPr marL="64008" marR="64008" marT="27432" marB="27432" anchor="ctr">
                    <a:solidFill>
                      <a:srgbClr val="FFFFFF"/>
                    </a:solidFill>
                  </a:tcPr>
                </a:tc>
                <a:tc>
                  <a:txBody>
                    <a:bodyPr wrap="square"/>
                    <a:lstStyle/>
                    <a:p>
                      <a:r>
                        <a:rPr sz="1100" b="0">
                          <a:solidFill>
                            <a:srgbClr val="4B4B4B"/>
                          </a:solidFill>
                          <a:latin typeface="Arial"/>
                        </a:rPr>
                        <a:t>CQ20</a:t>
                      </a:r>
                    </a:p>
                  </a:txBody>
                  <a:tcPr marL="64008" marR="64008" marT="27432" marB="27432" anchor="ctr">
                    <a:solidFill>
                      <a:srgbClr val="FFFF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Commission tracked in ICS</a:t>
                      </a:r>
                    </a:p>
                  </a:txBody>
                  <a:tcPr marL="64008" marR="64008" marT="27432" marB="27432" anchor="ctr">
                    <a:solidFill>
                      <a:srgbClr val="E5F5FF"/>
                    </a:solidFill>
                  </a:tcPr>
                </a:tc>
                <a:tc>
                  <a:txBody>
                    <a:bodyPr wrap="square"/>
                    <a:lstStyle/>
                    <a:p>
                      <a:r>
                        <a:rPr sz="1100" b="0">
                          <a:solidFill>
                            <a:srgbClr val="4B4B4B"/>
                          </a:solidFill>
                          <a:latin typeface="Arial"/>
                        </a:rPr>
                        <a:t>ICS also tracks commission collection.</a:t>
                      </a:r>
                    </a:p>
                  </a:txBody>
                  <a:tcPr marL="64008" marR="64008" marT="27432" marB="27432" anchor="ctr">
                    <a:solidFill>
                      <a:srgbClr val="E5F5FF"/>
                    </a:solidFill>
                  </a:tcPr>
                </a:tc>
                <a:tc>
                  <a:txBody>
                    <a:bodyPr wrap="square"/>
                    <a:lstStyle/>
                    <a:p>
                      <a:r>
                        <a:rPr sz="1100" b="0">
                          <a:solidFill>
                            <a:srgbClr val="4B4B4B"/>
                          </a:solidFill>
                          <a:latin typeface="Arial"/>
                        </a:rPr>
                        <a:t>Commission follow-up sits with CRU (CMRID); BRCLXN.061-064 only in the draft.</a:t>
                      </a:r>
                    </a:p>
                  </a:txBody>
                  <a:tcPr marL="64008" marR="64008" marT="27432" marB="27432" anchor="ctr">
                    <a:solidFill>
                      <a:srgbClr val="E5F5FF"/>
                    </a:solidFill>
                  </a:tcPr>
                </a:tc>
                <a:tc>
                  <a:txBody>
                    <a:bodyPr wrap="square"/>
                    <a:lstStyle/>
                    <a:p>
                      <a:r>
                        <a:rPr sz="1100" b="0">
                          <a:solidFill>
                            <a:srgbClr val="4B4B4B"/>
                          </a:solidFill>
                          <a:latin typeface="Arial"/>
                        </a:rPr>
                        <a:t>Confirm the owner of commission follow-up.</a:t>
                      </a:r>
                    </a:p>
                  </a:txBody>
                  <a:tcPr marL="64008" marR="64008" marT="27432" marB="27432" anchor="ctr">
                    <a:solidFill>
                      <a:srgbClr val="E5F5FF"/>
                    </a:solidFill>
                  </a:tcPr>
                </a:tc>
                <a:tc>
                  <a:txBody>
                    <a:bodyPr wrap="square"/>
                    <a:lstStyle/>
                    <a:p>
                      <a:r>
                        <a:rPr sz="1100" b="0">
                          <a:solidFill>
                            <a:srgbClr val="4B4B4B"/>
                          </a:solidFill>
                          <a:latin typeface="Arial"/>
                        </a:rPr>
                        <a:t>CO-02; DCR-039</a:t>
                      </a:r>
                    </a:p>
                  </a:txBody>
                  <a:tcPr marL="64008" marR="64008" marT="27432" marB="27432" anchor="ctr">
                    <a:solidFill>
                      <a:srgbClr val="E5F5FF"/>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Collections: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Segmented dunning strategies</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cash</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Pre-due and overdue reminders by SMS and e-mail, with a strategy per segment and risk.</a:t>
            </a:r>
          </a:p>
          <a:p>
            <a:pPr>
              <a:spcAft>
                <a:spcPts val="400"/>
              </a:spcAft>
            </a:pPr>
            <a:r>
              <a:rPr sz="1200" b="1">
                <a:solidFill>
                  <a:srgbClr val="004EA8"/>
                </a:solidFill>
                <a:latin typeface="Arial"/>
              </a:rPr>
              <a:t>For BDOI: </a:t>
            </a:r>
            <a:r>
              <a:rPr sz="1200" b="0">
                <a:solidFill>
                  <a:srgbClr val="4B4B4B"/>
                </a:solidFill>
                <a:latin typeface="Arial"/>
              </a:rPr>
              <a:t>Add client-facing reminders to the escalation rules.</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Written credit policy in the system</a:t>
            </a:r>
          </a:p>
        </p:txBody>
      </p:sp>
      <p:sp>
        <p:nvSpPr>
          <p:cNvPr id="18" name="Rounded Rectangle 17"/>
          <p:cNvSpPr/>
          <p:nvPr/>
        </p:nvSpPr>
        <p:spPr>
          <a:xfrm>
            <a:off x="4393082" y="1920240"/>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Compliance</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Credit terms per segment and product, CTE workflow with the insurer, automatic cancellation request at day N.</a:t>
            </a:r>
          </a:p>
          <a:p>
            <a:pPr>
              <a:spcAft>
                <a:spcPts val="400"/>
              </a:spcAft>
            </a:pPr>
            <a:r>
              <a:rPr sz="1200" b="1">
                <a:solidFill>
                  <a:srgbClr val="004EA8"/>
                </a:solidFill>
                <a:latin typeface="Arial"/>
              </a:rPr>
              <a:t>For BDOI: </a:t>
            </a:r>
            <a:r>
              <a:rPr sz="1200" b="0">
                <a:solidFill>
                  <a:srgbClr val="4B4B4B"/>
                </a:solidFill>
                <a:latin typeface="Arial"/>
              </a:rPr>
              <a:t>Approve the policy, then configure it (CO-03).</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Pay-by-link, QR Ph, e-wallets</a:t>
            </a:r>
          </a:p>
        </p:txBody>
      </p:sp>
      <p:sp>
        <p:nvSpPr>
          <p:cNvPr id="24" name="Rounded Rectangle 23"/>
          <p:cNvSpPr/>
          <p:nvPr/>
        </p:nvSpPr>
        <p:spPr>
          <a:xfrm>
            <a:off x="8146084" y="1920240"/>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Convenience</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Payment links in reminders and SOAs, applied straight through.</a:t>
            </a:r>
          </a:p>
          <a:p>
            <a:pPr>
              <a:spcAft>
                <a:spcPts val="400"/>
              </a:spcAft>
            </a:pPr>
            <a:r>
              <a:rPr sz="1200" b="1">
                <a:solidFill>
                  <a:srgbClr val="004EA8"/>
                </a:solidFill>
                <a:latin typeface="Arial"/>
              </a:rPr>
              <a:t>For BDOI: </a:t>
            </a:r>
            <a:r>
              <a:rPr sz="1200" b="0">
                <a:solidFill>
                  <a:srgbClr val="4B4B4B"/>
                </a:solidFill>
                <a:latin typeface="Arial"/>
              </a:rPr>
              <a:t>Add after go-live with the bank channels.</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Collection KPIs</a:t>
            </a:r>
          </a:p>
        </p:txBody>
      </p:sp>
      <p:sp>
        <p:nvSpPr>
          <p:cNvPr id="30" name="Rounded Rectangle 29"/>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Visibility</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Days sales outstanding, collection effectiveness, promises kept, roll rates; prioritise by likelihood to pay.</a:t>
            </a:r>
          </a:p>
          <a:p>
            <a:pPr>
              <a:spcAft>
                <a:spcPts val="400"/>
              </a:spcAft>
            </a:pPr>
            <a:r>
              <a:rPr sz="1200" b="1">
                <a:solidFill>
                  <a:srgbClr val="004EA8"/>
                </a:solidFill>
                <a:latin typeface="Arial"/>
              </a:rPr>
              <a:t>For BDOI: </a:t>
            </a:r>
            <a:r>
              <a:rPr sz="1200" b="0">
                <a:solidFill>
                  <a:srgbClr val="4B4B4B"/>
                </a:solidFill>
                <a:latin typeface="Arial"/>
              </a:rPr>
              <a:t>Build a Collections dashboard on the worklist.</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Client self-service statement</a:t>
            </a:r>
          </a:p>
        </p:txBody>
      </p:sp>
      <p:sp>
        <p:nvSpPr>
          <p:cNvPr id="36" name="Rounded Rectangle 35"/>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calls</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Clients see their statement and payment history online or through the contact centre.</a:t>
            </a:r>
          </a:p>
          <a:p>
            <a:pPr>
              <a:spcAft>
                <a:spcPts val="400"/>
              </a:spcAft>
            </a:pPr>
            <a:r>
              <a:rPr sz="1200" b="1">
                <a:solidFill>
                  <a:srgbClr val="004EA8"/>
                </a:solidFill>
                <a:latin typeface="Arial"/>
              </a:rPr>
              <a:t>For BDOI: </a:t>
            </a:r>
            <a:r>
              <a:rPr sz="1200" b="0">
                <a:solidFill>
                  <a:srgbClr val="4B4B4B"/>
                </a:solidFill>
                <a:latin typeface="Arial"/>
              </a:rPr>
              <a:t>Start with the SOA through the contact centre (BRCLXN.058).</a:t>
            </a:r>
          </a:p>
        </p:txBody>
      </p:sp>
      <p:sp>
        <p:nvSpPr>
          <p:cNvPr id="39" name="Rounded Rectangle 38"/>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Promise-to-pay discipline</a:t>
            </a:r>
          </a:p>
        </p:txBody>
      </p:sp>
      <p:sp>
        <p:nvSpPr>
          <p:cNvPr id="42" name="Rounded Rectangle 41"/>
          <p:cNvSpPr/>
          <p:nvPr/>
        </p:nvSpPr>
        <p:spPr>
          <a:xfrm>
            <a:off x="8146084"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In the BRD</a:t>
            </a:r>
          </a:p>
        </p:txBody>
      </p:sp>
      <p:sp>
        <p:nvSpPr>
          <p:cNvPr id="43" name="TextBox 42"/>
          <p:cNvSpPr txBox="1"/>
          <p:nvPr/>
        </p:nvSpPr>
        <p:spPr>
          <a:xfrm>
            <a:off x="9837724"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Accountability</a:t>
            </a:r>
          </a:p>
        </p:txBody>
      </p:sp>
      <p:sp>
        <p:nvSpPr>
          <p:cNvPr id="44" name="TextBox 43"/>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Promises per instalment with reminders and broken-promise escalation.</a:t>
            </a:r>
          </a:p>
          <a:p>
            <a:pPr>
              <a:spcAft>
                <a:spcPts val="400"/>
              </a:spcAft>
            </a:pPr>
            <a:r>
              <a:rPr sz="1200" b="1">
                <a:solidFill>
                  <a:srgbClr val="004EA8"/>
                </a:solidFill>
                <a:latin typeface="Arial"/>
              </a:rPr>
              <a:t>For BDOI: </a:t>
            </a:r>
            <a:r>
              <a:rPr sz="1200" b="0">
                <a:solidFill>
                  <a:srgbClr val="4B4B4B"/>
                </a:solidFill>
                <a:latin typeface="Arial"/>
              </a:rPr>
              <a:t>Agree the escalation days per segment.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D</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Comptrollership</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Accounting (FRBS), Disbursement, ACSL, refunds, tax and BIR</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9.  </a:t>
            </a:r>
            <a:r>
              <a:rPr sz="1500" b="1">
                <a:solidFill>
                  <a:srgbClr val="FFFFFF"/>
                </a:solidFill>
                <a:latin typeface="Arial"/>
              </a:rPr>
              <a:t>Accounting, Disbursement and ACSL</a:t>
            </a:r>
            <a:r>
              <a:rPr sz="1500" b="0">
                <a:solidFill>
                  <a:srgbClr val="99C1E7"/>
                </a:solidFill>
                <a:latin typeface="Arial"/>
              </a:rPr>
              <a:t>   BRD-5</a:t>
            </a:r>
          </a:p>
        </p:txBody>
      </p:sp>
      <p:sp>
        <p:nvSpPr>
          <p:cNvPr id="8" name="TextBox 7"/>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Business Process Reverse KT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Comptrollership: FRBS (GL team), Disbursement, ACSL</a:t>
            </a:r>
          </a:p>
          <a:p>
            <a:pPr>
              <a:spcAft>
                <a:spcPts val="300"/>
              </a:spcAft>
            </a:pPr>
            <a:r>
              <a:rPr sz="1200" b="0">
                <a:solidFill>
                  <a:srgbClr val="004EA8"/>
                </a:solidFill>
                <a:latin typeface="Arial"/>
              </a:rPr>
              <a:t>•  </a:t>
            </a:r>
            <a:r>
              <a:rPr sz="1200" b="0">
                <a:solidFill>
                  <a:srgbClr val="4B4B4B"/>
                </a:solidFill>
                <a:latin typeface="Arial"/>
              </a:rPr>
              <a:t>FRBS Accounting Assistant, TL, TH (GL set-up, journals, reconciliation, close)</a:t>
            </a:r>
          </a:p>
          <a:p>
            <a:pPr>
              <a:spcAft>
                <a:spcPts val="300"/>
              </a:spcAft>
            </a:pPr>
            <a:r>
              <a:rPr sz="1200" b="0">
                <a:solidFill>
                  <a:srgbClr val="004EA8"/>
                </a:solidFill>
                <a:latin typeface="Arial"/>
              </a:rPr>
              <a:t>•  </a:t>
            </a:r>
            <a:r>
              <a:rPr sz="1200" b="0">
                <a:solidFill>
                  <a:srgbClr val="4B4B4B"/>
                </a:solidFill>
                <a:latin typeface="Arial"/>
              </a:rPr>
              <a:t>Disbursement Processor (DPO), TL (DTL), Section Head (DSH), Unit Head (DUH)</a:t>
            </a:r>
          </a:p>
          <a:p>
            <a:pPr>
              <a:spcAft>
                <a:spcPts val="300"/>
              </a:spcAft>
            </a:pPr>
            <a:r>
              <a:rPr sz="1200" b="0">
                <a:solidFill>
                  <a:srgbClr val="004EA8"/>
                </a:solidFill>
                <a:latin typeface="Arial"/>
              </a:rPr>
              <a:t>•  </a:t>
            </a:r>
            <a:r>
              <a:rPr sz="1200" b="0">
                <a:solidFill>
                  <a:srgbClr val="4B4B4B"/>
                </a:solidFill>
                <a:latin typeface="Arial"/>
              </a:rPr>
              <a:t>ACSL Accounting Processor and AP TL; FRBS approver</a:t>
            </a:r>
          </a:p>
          <a:p>
            <a:pPr>
              <a:spcAft>
                <a:spcPts val="300"/>
              </a:spcAft>
            </a:pPr>
            <a:r>
              <a:rPr sz="1200" b="0">
                <a:solidFill>
                  <a:srgbClr val="004EA8"/>
                </a:solidFill>
                <a:latin typeface="Arial"/>
              </a:rPr>
              <a:t>•  </a:t>
            </a:r>
            <a:r>
              <a:rPr sz="1200" b="0">
                <a:solidFill>
                  <a:srgbClr val="4B4B4B"/>
                </a:solidFill>
                <a:latin typeface="Arial"/>
              </a:rPr>
              <a:t>Marketing AO, Marketing Admin, UPP and Marketing Support (refund requests)</a:t>
            </a:r>
          </a:p>
          <a:p>
            <a:pPr>
              <a:spcAft>
                <a:spcPts val="300"/>
              </a:spcAft>
            </a:pPr>
            <a:r>
              <a:rPr sz="1200" b="0">
                <a:solidFill>
                  <a:srgbClr val="004EA8"/>
                </a:solidFill>
                <a:latin typeface="Arial"/>
              </a:rPr>
              <a:t>•  </a:t>
            </a:r>
            <a:r>
              <a:rPr sz="1200" b="0">
                <a:solidFill>
                  <a:srgbClr val="4B4B4B"/>
                </a:solidFill>
                <a:latin typeface="Arial"/>
              </a:rPr>
              <a:t>MBS, UPP handler (payee upkeep); IT Operations; BDO TPD and branches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3 levels</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of signed approval: DTL, DSH, DUH (DS-01)</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5</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refund approval chains, one per segment (Refund Request flow)</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8</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branches to tag with profit and cost centres (FN-01)</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15% / 2%</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withholding tax on commission / on suppliers (TX-01, TX-03)</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23-Sep-2026, 10:00 am-12:00 nn, 44F; discovery 21 and 23-Sep-2026</a:t>
            </a:r>
          </a:p>
          <a:p>
            <a:pPr>
              <a:spcAft>
                <a:spcPts val="400"/>
              </a:spcAft>
            </a:pPr>
            <a:r>
              <a:rPr sz="1100" b="1">
                <a:solidFill>
                  <a:srgbClr val="004EA8"/>
                </a:solidFill>
                <a:latin typeface="Arial"/>
              </a:rPr>
              <a:t>Process owners: </a:t>
            </a:r>
            <a:r>
              <a:rPr sz="1100" b="0">
                <a:solidFill>
                  <a:srgbClr val="4B4B4B"/>
                </a:solidFill>
                <a:latin typeface="Arial"/>
              </a:rPr>
              <a:t>Rodrigo Dela Cruz, Cherry Francisco, Lineth Santos, Guada Jane Pelo (Disbursement), Iris Marquez, Fatima Joy Aguas and 5 more (floor-walk coverage slide)</a:t>
            </a:r>
          </a:p>
          <a:p>
            <a:pPr>
              <a:spcAft>
                <a:spcPts val="400"/>
              </a:spcAft>
            </a:pPr>
            <a:r>
              <a:rPr sz="1100" b="0">
                <a:solidFill>
                  <a:srgbClr val="004EA8"/>
                </a:solidFill>
                <a:latin typeface="Arial"/>
              </a:rPr>
              <a:t>•  </a:t>
            </a:r>
            <a:r>
              <a:rPr sz="1100" b="0">
                <a:solidFill>
                  <a:srgbClr val="4B4B4B"/>
                </a:solidFill>
                <a:latin typeface="Arial"/>
              </a:rPr>
              <a:t>High-level flows: Disbursement (in-system, online banking, outside the system, government), Refund Request (five segments), FRBS GL, ACSL</a:t>
            </a:r>
          </a:p>
          <a:p>
            <a:pPr>
              <a:spcAft>
                <a:spcPts val="400"/>
              </a:spcAft>
            </a:pPr>
            <a:r>
              <a:rPr sz="1100" b="0">
                <a:solidFill>
                  <a:srgbClr val="004EA8"/>
                </a:solidFill>
                <a:latin typeface="Arial"/>
              </a:rPr>
              <a:t>•  </a:t>
            </a:r>
            <a:r>
              <a:rPr sz="1100" b="0">
                <a:solidFill>
                  <a:srgbClr val="4B4B4B"/>
                </a:solidFill>
                <a:latin typeface="Arial"/>
              </a:rPr>
              <a:t>BDOI Day 1 overview p.26-27</a:t>
            </a:r>
          </a:p>
          <a:p>
            <a:pPr>
              <a:spcAft>
                <a:spcPts val="400"/>
              </a:spcAft>
            </a:pPr>
            <a:r>
              <a:rPr sz="1100" b="0">
                <a:solidFill>
                  <a:srgbClr val="004EA8"/>
                </a:solidFill>
                <a:latin typeface="Arial"/>
              </a:rPr>
              <a:t>•  </a:t>
            </a:r>
            <a:r>
              <a:rPr sz="1100" b="0">
                <a:solidFill>
                  <a:srgbClr val="4B4B4B"/>
                </a:solidFill>
                <a:latin typeface="Arial"/>
              </a:rPr>
              <a:t>BRD-5 p.44-48; DIS, MKT, FRBS, ACSL requirement families</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Request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Payee</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Voucher</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Approvals</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Payment</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GL entry</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Reconciliation</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Close and report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what we heard on the floor (1/3)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DS-01</a:t>
                      </a:r>
                    </a:p>
                  </a:txBody>
                  <a:tcPr marL="64008" marR="64008" marT="27432" marB="27432" anchor="ctr">
                    <a:solidFill>
                      <a:srgbClr val="FFFFFF"/>
                    </a:solidFill>
                  </a:tcPr>
                </a:tc>
                <a:tc>
                  <a:txBody>
                    <a:bodyPr wrap="square"/>
                    <a:lstStyle/>
                    <a:p>
                      <a:r>
                        <a:rPr sz="1100" b="0">
                          <a:solidFill>
                            <a:srgbClr val="4B4B4B"/>
                          </a:solidFill>
                          <a:latin typeface="Arial"/>
                        </a:rPr>
                        <a:t>Approval</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Multi-level approval with maker and checker.</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DS-02</a:t>
                      </a:r>
                    </a:p>
                  </a:txBody>
                  <a:tcPr marL="64008" marR="64008" marT="27432" marB="27432" anchor="ctr">
                    <a:solidFill>
                      <a:srgbClr val="E5F5FF"/>
                    </a:solidFill>
                  </a:tcPr>
                </a:tc>
                <a:tc>
                  <a:txBody>
                    <a:bodyPr wrap="square"/>
                    <a:lstStyle/>
                    <a:p>
                      <a:r>
                        <a:rPr sz="1100" b="0">
                          <a:solidFill>
                            <a:srgbClr val="4B4B4B"/>
                          </a:solidFill>
                          <a:latin typeface="Arial"/>
                        </a:rPr>
                        <a:t>Settlement types</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Remittance and settlement cover insurer payments, customer payments and sundry creditors; client premium refunds are also settled here.</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DS-03</a:t>
                      </a:r>
                    </a:p>
                  </a:txBody>
                  <a:tcPr marL="64008" marR="64008" marT="27432" marB="27432" anchor="ctr">
                    <a:solidFill>
                      <a:srgbClr val="FFFFFF"/>
                    </a:solidFill>
                  </a:tcPr>
                </a:tc>
                <a:tc>
                  <a:txBody>
                    <a:bodyPr wrap="square"/>
                    <a:lstStyle/>
                    <a:p>
                      <a:r>
                        <a:rPr sz="1100" b="0">
                          <a:solidFill>
                            <a:srgbClr val="4B4B4B"/>
                          </a:solidFill>
                          <a:latin typeface="Arial"/>
                        </a:rPr>
                        <a:t>Working file</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For individual companies a working file is prepared and sent to the Disbursement team.</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DS-04</a:t>
                      </a:r>
                    </a:p>
                  </a:txBody>
                  <a:tcPr marL="64008" marR="64008" marT="27432" marB="27432" anchor="ctr">
                    <a:solidFill>
                      <a:srgbClr val="E5F5FF"/>
                    </a:solidFill>
                  </a:tcPr>
                </a:tc>
                <a:tc>
                  <a:txBody>
                    <a:bodyPr wrap="square"/>
                    <a:lstStyle/>
                    <a:p>
                      <a:r>
                        <a:rPr sz="1100" b="0">
                          <a:solidFill>
                            <a:srgbClr val="4B4B4B"/>
                          </a:solidFill>
                          <a:latin typeface="Arial"/>
                        </a:rPr>
                        <a:t>Payment mode</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Remittance is always processed in batch. The mode of payment is captured outside the system, as most modes are not in the system.</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DS-05</a:t>
                      </a:r>
                    </a:p>
                  </a:txBody>
                  <a:tcPr marL="64008" marR="64008" marT="27432" marB="27432" anchor="ctr">
                    <a:solidFill>
                      <a:srgbClr val="FFFFFF"/>
                    </a:solidFill>
                  </a:tcPr>
                </a:tc>
                <a:tc>
                  <a:txBody>
                    <a:bodyPr wrap="square"/>
                    <a:lstStyle/>
                    <a:p>
                      <a:r>
                        <a:rPr sz="1100" b="0">
                          <a:solidFill>
                            <a:srgbClr val="4B4B4B"/>
                          </a:solidFill>
                          <a:latin typeface="Arial"/>
                        </a:rPr>
                        <a:t>Entries</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Remittance entries pass through intermediate accounts.</a:t>
                      </a:r>
                    </a:p>
                  </a:txBody>
                  <a:tcPr marL="64008" marR="64008" marT="27432" marB="27432" anchor="ctr">
                    <a:solidFill>
                      <a:srgbClr val="FFFFFF"/>
                    </a:solidFill>
                  </a:tcPr>
                </a:tc>
                <a:tc>
                  <a:txBody>
                    <a:bodyPr wrap="square"/>
                    <a:lstStyle/>
                    <a:p>
                      <a:r>
                        <a:rPr sz="1100" b="0">
                          <a:solidFill>
                            <a:srgbClr val="4B4B4B"/>
                          </a:solidFill>
                          <a:latin typeface="Arial"/>
                        </a:rPr>
                        <a:t>Debit Cash in Bank and credit the insurance company directly.</a:t>
                      </a:r>
                    </a:p>
                  </a:txBody>
                  <a:tcPr marL="64008" marR="64008" marT="27432" marB="27432" anchor="ctr">
                    <a:solidFill>
                      <a:srgbClr val="FFFFFF"/>
                    </a:solidFill>
                  </a:tcPr>
                </a:tc>
              </a:tr>
              <a:tr h="758952">
                <a:tc>
                  <a:txBody>
                    <a:bodyPr wrap="square"/>
                    <a:lstStyle/>
                    <a:p>
                      <a:r>
                        <a:rPr sz="1100" b="1">
                          <a:solidFill>
                            <a:srgbClr val="4B4B4B"/>
                          </a:solidFill>
                          <a:latin typeface="Arial"/>
                        </a:rPr>
                        <a:t>TX-01</a:t>
                      </a:r>
                    </a:p>
                  </a:txBody>
                  <a:tcPr marL="64008" marR="64008" marT="27432" marB="27432" anchor="ctr">
                    <a:solidFill>
                      <a:srgbClr val="E5F5FF"/>
                    </a:solidFill>
                  </a:tcPr>
                </a:tc>
                <a:tc>
                  <a:txBody>
                    <a:bodyPr wrap="square"/>
                    <a:lstStyle/>
                    <a:p>
                      <a:r>
                        <a:rPr sz="1100" b="0">
                          <a:solidFill>
                            <a:srgbClr val="4B4B4B"/>
                          </a:solidFill>
                          <a:latin typeface="Arial"/>
                        </a:rPr>
                        <a:t>WHT on commission</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WHT on commission is 15% during remittance processing.</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what we heard on the floor (2/3)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TX-03</a:t>
                      </a:r>
                    </a:p>
                  </a:txBody>
                  <a:tcPr marL="64008" marR="64008" marT="27432" marB="27432" anchor="ctr">
                    <a:solidFill>
                      <a:srgbClr val="FFFFFF"/>
                    </a:solidFill>
                  </a:tcPr>
                </a:tc>
                <a:tc>
                  <a:txBody>
                    <a:bodyPr wrap="square"/>
                    <a:lstStyle/>
                    <a:p>
                      <a:r>
                        <a:rPr sz="1100" b="0">
                          <a:solidFill>
                            <a:srgbClr val="4B4B4B"/>
                          </a:solidFill>
                          <a:latin typeface="Arial"/>
                        </a:rPr>
                        <a:t>WHT certificate</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Certificates prepared outside the system.</a:t>
                      </a:r>
                    </a:p>
                  </a:txBody>
                  <a:tcPr marL="64008" marR="64008" marT="27432" marB="27432" anchor="ctr">
                    <a:solidFill>
                      <a:srgbClr val="FFFFFF"/>
                    </a:solidFill>
                  </a:tcPr>
                </a:tc>
                <a:tc>
                  <a:txBody>
                    <a:bodyPr wrap="square"/>
                    <a:lstStyle/>
                    <a:p>
                      <a:r>
                        <a:rPr sz="1100" b="0">
                          <a:solidFill>
                            <a:srgbClr val="4B4B4B"/>
                          </a:solidFill>
                          <a:latin typeface="Arial"/>
                        </a:rPr>
                        <a:t>2% WHT certificate (BIR 2307) generated for suppliers.</a:t>
                      </a:r>
                    </a:p>
                  </a:txBody>
                  <a:tcPr marL="64008" marR="64008" marT="27432" marB="27432" anchor="ctr">
                    <a:solidFill>
                      <a:srgbClr val="FFFFFF"/>
                    </a:solidFill>
                  </a:tcPr>
                </a:tc>
              </a:tr>
              <a:tr h="758952">
                <a:tc>
                  <a:txBody>
                    <a:bodyPr wrap="square"/>
                    <a:lstStyle/>
                    <a:p>
                      <a:r>
                        <a:rPr sz="1100" b="1">
                          <a:solidFill>
                            <a:srgbClr val="4B4B4B"/>
                          </a:solidFill>
                          <a:latin typeface="Arial"/>
                        </a:rPr>
                        <a:t>TX-04</a:t>
                      </a:r>
                    </a:p>
                  </a:txBody>
                  <a:tcPr marL="64008" marR="64008" marT="27432" marB="27432" anchor="ctr">
                    <a:solidFill>
                      <a:srgbClr val="E5F5FF"/>
                    </a:solidFill>
                  </a:tcPr>
                </a:tc>
                <a:tc>
                  <a:txBody>
                    <a:bodyPr wrap="square"/>
                    <a:lstStyle/>
                    <a:p>
                      <a:r>
                        <a:rPr sz="1100" b="0">
                          <a:solidFill>
                            <a:srgbClr val="4B4B4B"/>
                          </a:solidFill>
                          <a:latin typeface="Arial"/>
                        </a:rPr>
                        <a:t>BIR reports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Monthly, from the trial balance and sub-ledger; WHT based on disbursements; the tax code changes by supplier.</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TX-05</a:t>
                      </a:r>
                    </a:p>
                  </a:txBody>
                  <a:tcPr marL="64008" marR="64008" marT="27432" marB="27432" anchor="ctr">
                    <a:solidFill>
                      <a:srgbClr val="FFFFFF"/>
                    </a:solidFill>
                  </a:tcPr>
                </a:tc>
                <a:tc>
                  <a:txBody>
                    <a:bodyPr wrap="square"/>
                    <a:lstStyle/>
                    <a:p>
                      <a:r>
                        <a:rPr sz="1100" b="0">
                          <a:solidFill>
                            <a:srgbClr val="4B4B4B"/>
                          </a:solidFill>
                          <a:latin typeface="Arial"/>
                        </a:rPr>
                        <a:t>VAT</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Input VAT quarterly from the sub-ledger; output VAT the same.</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RC-01</a:t>
                      </a:r>
                    </a:p>
                  </a:txBody>
                  <a:tcPr marL="64008" marR="64008" marT="27432" marB="27432" anchor="ctr">
                    <a:solidFill>
                      <a:srgbClr val="E5F5FF"/>
                    </a:solidFill>
                  </a:tcPr>
                </a:tc>
                <a:tc>
                  <a:txBody>
                    <a:bodyPr wrap="square"/>
                    <a:lstStyle/>
                    <a:p>
                      <a:r>
                        <a:rPr sz="1100" b="0">
                          <a:solidFill>
                            <a:srgbClr val="4B4B4B"/>
                          </a:solidFill>
                          <a:latin typeface="Arial"/>
                        </a:rPr>
                        <a:t>Reconciliation</a:t>
                      </a:r>
                    </a:p>
                  </a:txBody>
                  <a:tcPr marL="64008" marR="64008" marT="27432" marB="27432" anchor="ctr">
                    <a:solidFill>
                      <a:srgbClr val="E5F5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Bank reconciliation and insurer reconciliation (premium and commission).</a:t>
                      </a:r>
                    </a:p>
                  </a:txBody>
                  <a:tcPr marL="64008" marR="64008" marT="27432" marB="27432" anchor="ctr">
                    <a:solidFill>
                      <a:srgbClr val="E5F5FF"/>
                    </a:solidFill>
                  </a:tcPr>
                </a:tc>
                <a:tc>
                  <a:txBody>
                    <a:bodyPr wrap="square"/>
                    <a:lstStyle/>
                    <a:p>
                      <a:r>
                        <a:rPr sz="1100" b="0">
                          <a:solidFill>
                            <a:srgbClr val="4B4B4B"/>
                          </a:solidFill>
                          <a:latin typeface="Arial"/>
                        </a:rPr>
                        <a:t>Detail during the floor walk.</a:t>
                      </a:r>
                    </a:p>
                  </a:txBody>
                  <a:tcPr marL="64008" marR="64008" marT="27432" marB="27432" anchor="ctr">
                    <a:solidFill>
                      <a:srgbClr val="E5F5FF"/>
                    </a:solidFill>
                  </a:tcPr>
                </a:tc>
              </a:tr>
              <a:tr h="758952">
                <a:tc>
                  <a:txBody>
                    <a:bodyPr wrap="square"/>
                    <a:lstStyle/>
                    <a:p>
                      <a:r>
                        <a:rPr sz="1100" b="1">
                          <a:solidFill>
                            <a:srgbClr val="4B4B4B"/>
                          </a:solidFill>
                          <a:latin typeface="Arial"/>
                        </a:rPr>
                        <a:t>RC-02</a:t>
                      </a:r>
                    </a:p>
                  </a:txBody>
                  <a:tcPr marL="64008" marR="64008" marT="27432" marB="27432" anchor="ctr">
                    <a:solidFill>
                      <a:srgbClr val="FFFFFF"/>
                    </a:solidFill>
                  </a:tcPr>
                </a:tc>
                <a:tc>
                  <a:txBody>
                    <a:bodyPr wrap="square"/>
                    <a:lstStyle/>
                    <a:p>
                      <a:r>
                        <a:rPr sz="1100" b="0">
                          <a:solidFill>
                            <a:srgbClr val="4B4B4B"/>
                          </a:solidFill>
                          <a:latin typeface="Arial"/>
                        </a:rPr>
                        <a:t>Insurer reconciliation</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Done on statements of account.</a:t>
                      </a:r>
                    </a:p>
                  </a:txBody>
                  <a:tcPr marL="64008" marR="64008" marT="27432" marB="27432" anchor="ctr">
                    <a:solidFill>
                      <a:srgbClr val="FFFFFF"/>
                    </a:solidFill>
                  </a:tcPr>
                </a:tc>
                <a:tc>
                  <a:txBody>
                    <a:bodyPr wrap="square"/>
                    <a:lstStyle/>
                    <a:p>
                      <a:r>
                        <a:rPr sz="1100" b="0">
                          <a:solidFill>
                            <a:srgbClr val="4B4B4B"/>
                          </a:solidFill>
                          <a:latin typeface="Arial"/>
                        </a:rPr>
                        <a:t>Insurer reconciliation account-wise.</a:t>
                      </a:r>
                    </a:p>
                  </a:txBody>
                  <a:tcPr marL="64008" marR="64008" marT="27432" marB="27432" anchor="ctr">
                    <a:solidFill>
                      <a:srgbClr val="FFFFFF"/>
                    </a:solidFill>
                  </a:tcPr>
                </a:tc>
              </a:tr>
              <a:tr h="758952">
                <a:tc>
                  <a:txBody>
                    <a:bodyPr wrap="square"/>
                    <a:lstStyle/>
                    <a:p>
                      <a:r>
                        <a:rPr sz="1100" b="1">
                          <a:solidFill>
                            <a:srgbClr val="4B4B4B"/>
                          </a:solidFill>
                          <a:latin typeface="Arial"/>
                        </a:rPr>
                        <a:t>FN-01</a:t>
                      </a:r>
                    </a:p>
                  </a:txBody>
                  <a:tcPr marL="64008" marR="64008" marT="27432" marB="27432" anchor="ctr">
                    <a:solidFill>
                      <a:srgbClr val="E5F5FF"/>
                    </a:solidFill>
                  </a:tcPr>
                </a:tc>
                <a:tc>
                  <a:txBody>
                    <a:bodyPr wrap="square"/>
                    <a:lstStyle/>
                    <a:p>
                      <a:r>
                        <a:rPr sz="1100" b="0">
                          <a:solidFill>
                            <a:srgbClr val="4B4B4B"/>
                          </a:solidFill>
                          <a:latin typeface="Arial"/>
                        </a:rPr>
                        <a:t>Branches</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BDOI has 8 branches.</a:t>
                      </a:r>
                    </a:p>
                  </a:txBody>
                  <a:tcPr marL="64008" marR="64008" marT="27432" marB="27432" anchor="ctr">
                    <a:solidFill>
                      <a:srgbClr val="E5F5FF"/>
                    </a:solidFill>
                  </a:tcPr>
                </a:tc>
                <a:tc>
                  <a:txBody>
                    <a:bodyPr wrap="square"/>
                    <a:lstStyle/>
                    <a:p>
                      <a:r>
                        <a:rPr sz="1100" b="0">
                          <a:solidFill>
                            <a:srgbClr val="4B4B4B"/>
                          </a:solidFill>
                          <a:latin typeface="Arial"/>
                        </a:rPr>
                        <a:t>Profit centre and cost centre tagged and mapped.</a:t>
                      </a:r>
                    </a:p>
                  </a:txBody>
                  <a:tcPr marL="64008" marR="64008" marT="27432" marB="27432" anchor="ctr">
                    <a:solidFill>
                      <a:srgbClr val="E5F5FF"/>
                    </a:solidFill>
                  </a:tcPr>
                </a:tc>
              </a:tr>
            </a:tbl>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what we heard on the floor (3/3)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graphicFrame>
        <p:nvGraphicFramePr>
          <p:cNvPr id="9" name="Table 8"/>
          <p:cNvGraphicFramePr>
            <a:graphicFrameLocks noGrp="1"/>
          </p:cNvGraphicFramePr>
          <p:nvPr/>
        </p:nvGraphicFramePr>
        <p:xfrm>
          <a:off x="548640" y="1280160"/>
          <a:ext cx="11094412" cy="365760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RP-01</a:t>
                      </a:r>
                    </a:p>
                  </a:txBody>
                  <a:tcPr marL="64008" marR="64008" marT="27432" marB="27432" anchor="ctr">
                    <a:solidFill>
                      <a:srgbClr val="FFFFFF"/>
                    </a:solidFill>
                  </a:tcPr>
                </a:tc>
                <a:tc>
                  <a:txBody>
                    <a:bodyPr wrap="square"/>
                    <a:lstStyle/>
                    <a:p>
                      <a:r>
                        <a:rPr sz="1100" b="0">
                          <a:solidFill>
                            <a:srgbClr val="4B4B4B"/>
                          </a:solidFill>
                          <a:latin typeface="Arial"/>
                        </a:rPr>
                        <a:t>Reports</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Reports are made by hand: data pulled from several systems and consolidated, with IT help.</a:t>
                      </a:r>
                    </a:p>
                  </a:txBody>
                  <a:tcPr marL="64008" marR="64008" marT="27432" marB="27432" anchor="ctr">
                    <a:solidFill>
                      <a:srgbClr val="FFFFFF"/>
                    </a:solidFill>
                  </a:tcPr>
                </a:tc>
                <a:tc>
                  <a:txBody>
                    <a:bodyPr wrap="square"/>
                    <a:lstStyle/>
                    <a:p>
                      <a:r>
                        <a:rPr sz="1100" b="0">
                          <a:solidFill>
                            <a:srgbClr val="4B4B4B"/>
                          </a:solidFill>
                          <a:latin typeface="Arial"/>
                        </a:rPr>
                        <a:t>Business units run reports themselves.</a:t>
                      </a:r>
                    </a:p>
                  </a:txBody>
                  <a:tcPr marL="64008" marR="64008" marT="27432" marB="27432" anchor="ctr">
                    <a:solidFill>
                      <a:srgbClr val="FFFFFF"/>
                    </a:solidFill>
                  </a:tcPr>
                </a:tc>
              </a:tr>
              <a:tr h="822960">
                <a:tc>
                  <a:txBody>
                    <a:bodyPr wrap="square"/>
                    <a:lstStyle/>
                    <a:p>
                      <a:r>
                        <a:rPr sz="1100" b="1">
                          <a:solidFill>
                            <a:srgbClr val="4B4B4B"/>
                          </a:solidFill>
                          <a:latin typeface="Arial"/>
                        </a:rPr>
                        <a:t>OI-01</a:t>
                      </a:r>
                    </a:p>
                  </a:txBody>
                  <a:tcPr marL="64008" marR="64008" marT="27432" marB="27432" anchor="ctr">
                    <a:solidFill>
                      <a:srgbClr val="E5F5FF"/>
                    </a:solidFill>
                  </a:tcPr>
                </a:tc>
                <a:tc>
                  <a:txBody>
                    <a:bodyPr wrap="square"/>
                    <a:lstStyle/>
                    <a:p>
                      <a:r>
                        <a:rPr sz="1100" b="0">
                          <a:solidFill>
                            <a:srgbClr val="4B4B4B"/>
                          </a:solidFill>
                          <a:latin typeface="Arial"/>
                        </a:rPr>
                        <a:t>Other income</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Other income recorded outside a standard invoice.</a:t>
                      </a:r>
                    </a:p>
                  </a:txBody>
                  <a:tcPr marL="64008" marR="64008" marT="27432" marB="27432" anchor="ctr">
                    <a:solidFill>
                      <a:srgbClr val="E5F5FF"/>
                    </a:solidFill>
                  </a:tcPr>
                </a:tc>
                <a:tc>
                  <a:txBody>
                    <a:bodyPr wrap="square"/>
                    <a:lstStyle/>
                    <a:p>
                      <a:r>
                        <a:rPr sz="1100" b="0">
                          <a:solidFill>
                            <a:srgbClr val="4B4B4B"/>
                          </a:solidFill>
                          <a:latin typeface="Arial"/>
                        </a:rPr>
                        <a:t>Other income registered through invoicing.</a:t>
                      </a:r>
                    </a:p>
                  </a:txBody>
                  <a:tcPr marL="64008" marR="64008" marT="27432" marB="27432" anchor="ctr">
                    <a:solidFill>
                      <a:srgbClr val="E5F5FF"/>
                    </a:solidFill>
                  </a:tcPr>
                </a:tc>
              </a:tr>
              <a:tr h="822960">
                <a:tc>
                  <a:txBody>
                    <a:bodyPr wrap="square"/>
                    <a:lstStyle/>
                    <a:p>
                      <a:r>
                        <a:rPr sz="1100" b="1">
                          <a:solidFill>
                            <a:srgbClr val="4B4B4B"/>
                          </a:solidFill>
                          <a:latin typeface="Arial"/>
                        </a:rPr>
                        <a:t>OI-02</a:t>
                      </a:r>
                    </a:p>
                  </a:txBody>
                  <a:tcPr marL="64008" marR="64008" marT="27432" marB="27432" anchor="ctr">
                    <a:solidFill>
                      <a:srgbClr val="FFFFFF"/>
                    </a:solidFill>
                  </a:tcPr>
                </a:tc>
                <a:tc>
                  <a:txBody>
                    <a:bodyPr wrap="square"/>
                    <a:lstStyle/>
                    <a:p>
                      <a:r>
                        <a:rPr sz="1100" b="0">
                          <a:solidFill>
                            <a:srgbClr val="4B4B4B"/>
                          </a:solidFill>
                          <a:latin typeface="Arial"/>
                        </a:rPr>
                        <a:t>Service fee</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 service invoice records other income; WHT rate differs by income type; VAT applies; OR issued after.</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OI-03</a:t>
                      </a:r>
                    </a:p>
                  </a:txBody>
                  <a:tcPr marL="64008" marR="64008" marT="27432" marB="27432" anchor="ctr">
                    <a:solidFill>
                      <a:srgbClr val="E5F5FF"/>
                    </a:solidFill>
                  </a:tcPr>
                </a:tc>
                <a:tc>
                  <a:txBody>
                    <a:bodyPr wrap="square"/>
                    <a:lstStyle/>
                    <a:p>
                      <a:r>
                        <a:rPr sz="1100" b="0">
                          <a:solidFill>
                            <a:srgbClr val="4B4B4B"/>
                          </a:solidFill>
                          <a:latin typeface="Arial"/>
                        </a:rPr>
                        <a:t>Referral fee</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Referral is treated as a service fee, credited from an Excel list.</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As-Is process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pic>
        <p:nvPicPr>
          <p:cNvPr id="9" name="Picture 8" descr="brd05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Refunds and Disbursement today (Refund Request and Disbursement process flows; Day 1 p.27; DS-01 to DS-05)</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As-Is process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pic>
        <p:nvPicPr>
          <p:cNvPr id="9" name="Picture 8" descr="brd05_asis_2.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General ledger, close and ACSL today (FRBS Accounting and ACSL process flows; Day 1 p.26)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9. Accounting: refund chains and payment routes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graphicFrame>
        <p:nvGraphicFramePr>
          <p:cNvPr id="9" name="Table 8"/>
          <p:cNvGraphicFramePr>
            <a:graphicFrameLocks noGrp="1"/>
          </p:cNvGraphicFramePr>
          <p:nvPr/>
        </p:nvGraphicFramePr>
        <p:xfrm>
          <a:off x="548640" y="1280160"/>
          <a:ext cx="11094413" cy="4023360"/>
        </p:xfrm>
        <a:graphic>
          <a:graphicData uri="http://schemas.openxmlformats.org/drawingml/2006/table">
            <a:tbl>
              <a:tblPr firstRow="1" bandRow="1">
                <a:tableStyleId>{5C22544A-7EE6-4342-B048-85BDC9FD1C3A}</a:tableStyleId>
              </a:tblPr>
              <a:tblGrid>
                <a:gridCol w="1921867"/>
                <a:gridCol w="2446012"/>
                <a:gridCol w="2970158"/>
                <a:gridCol w="1834509"/>
                <a:gridCol w="1921867"/>
              </a:tblGrid>
              <a:tr h="365760">
                <a:tc>
                  <a:txBody>
                    <a:bodyPr wrap="square"/>
                    <a:lstStyle/>
                    <a:p>
                      <a:r>
                        <a:rPr sz="1100" b="1">
                          <a:solidFill>
                            <a:srgbClr val="FFFFFF"/>
                          </a:solidFill>
                          <a:latin typeface="Arial"/>
                        </a:rPr>
                        <a:t>Route or segment</a:t>
                      </a:r>
                    </a:p>
                  </a:txBody>
                  <a:tcPr marL="64008" marR="64008" marT="27432" marB="27432" anchor="ctr">
                    <a:solidFill>
                      <a:srgbClr val="004EA8"/>
                    </a:solidFill>
                  </a:tcPr>
                </a:tc>
                <a:tc>
                  <a:txBody>
                    <a:bodyPr wrap="square"/>
                    <a:lstStyle/>
                    <a:p>
                      <a:r>
                        <a:rPr sz="1100" b="1">
                          <a:solidFill>
                            <a:srgbClr val="FFFFFF"/>
                          </a:solidFill>
                          <a:latin typeface="Arial"/>
                        </a:rPr>
                        <a:t>Starts with</a:t>
                      </a:r>
                    </a:p>
                  </a:txBody>
                  <a:tcPr marL="64008" marR="64008" marT="27432" marB="27432" anchor="ctr">
                    <a:solidFill>
                      <a:srgbClr val="004EA8"/>
                    </a:solidFill>
                  </a:tcPr>
                </a:tc>
                <a:tc>
                  <a:txBody>
                    <a:bodyPr wrap="square"/>
                    <a:lstStyle/>
                    <a:p>
                      <a:r>
                        <a:rPr sz="1100" b="1">
                          <a:solidFill>
                            <a:srgbClr val="FFFFFF"/>
                          </a:solidFill>
                          <a:latin typeface="Arial"/>
                        </a:rPr>
                        <a:t>Approvals today</a:t>
                      </a:r>
                    </a:p>
                  </a:txBody>
                  <a:tcPr marL="64008" marR="64008" marT="27432" marB="27432" anchor="ctr">
                    <a:solidFill>
                      <a:srgbClr val="004EA8"/>
                    </a:solidFill>
                  </a:tcPr>
                </a:tc>
                <a:tc>
                  <a:txBody>
                    <a:bodyPr wrap="square"/>
                    <a:lstStyle/>
                    <a:p>
                      <a:r>
                        <a:rPr sz="1100" b="1">
                          <a:solidFill>
                            <a:srgbClr val="FFFFFF"/>
                          </a:solidFill>
                          <a:latin typeface="Arial"/>
                        </a:rPr>
                        <a:t>Keyed or executed by</a:t>
                      </a:r>
                    </a:p>
                  </a:txBody>
                  <a:tcPr marL="64008" marR="64008" marT="27432" marB="27432" anchor="ctr">
                    <a:solidFill>
                      <a:srgbClr val="004EA8"/>
                    </a:solidFill>
                  </a:tcPr>
                </a:tc>
                <a:tc>
                  <a:txBody>
                    <a:bodyPr wrap="square"/>
                    <a:lstStyle/>
                    <a:p>
                      <a:r>
                        <a:rPr sz="1100" b="1">
                          <a:solidFill>
                            <a:srgbClr val="FFFFFF"/>
                          </a:solidFill>
                          <a:latin typeface="Arial"/>
                        </a:rPr>
                        <a:t>Hand-off</a:t>
                      </a:r>
                    </a:p>
                  </a:txBody>
                  <a:tcPr marL="64008" marR="64008" marT="27432" marB="27432" anchor="ctr">
                    <a:solidFill>
                      <a:srgbClr val="004EA8"/>
                    </a:solidFill>
                  </a:tcPr>
                </a:tc>
              </a:tr>
              <a:tr h="731520">
                <a:tc>
                  <a:txBody>
                    <a:bodyPr wrap="square"/>
                    <a:lstStyle/>
                    <a:p>
                      <a:r>
                        <a:rPr sz="1100" b="1">
                          <a:solidFill>
                            <a:srgbClr val="4B4B4B"/>
                          </a:solidFill>
                          <a:latin typeface="Arial"/>
                        </a:rPr>
                        <a:t>Refund: Non-CBG Retail</a:t>
                      </a:r>
                    </a:p>
                  </a:txBody>
                  <a:tcPr marL="64008" marR="64008" marT="27432" marB="27432" anchor="ctr">
                    <a:solidFill>
                      <a:srgbClr val="FFFFFF"/>
                    </a:solidFill>
                  </a:tcPr>
                </a:tc>
                <a:tc>
                  <a:txBody>
                    <a:bodyPr wrap="square"/>
                    <a:lstStyle/>
                    <a:p>
                      <a:r>
                        <a:rPr sz="1100" b="0">
                          <a:solidFill>
                            <a:srgbClr val="4B4B4B"/>
                          </a:solidFill>
                          <a:latin typeface="Arial"/>
                        </a:rPr>
                        <a:t>AO fills the RRF</a:t>
                      </a:r>
                    </a:p>
                  </a:txBody>
                  <a:tcPr marL="64008" marR="64008" marT="27432" marB="27432" anchor="ctr">
                    <a:solidFill>
                      <a:srgbClr val="FFFFFF"/>
                    </a:solidFill>
                  </a:tcPr>
                </a:tc>
                <a:tc>
                  <a:txBody>
                    <a:bodyPr wrap="square"/>
                    <a:lstStyle/>
                    <a:p>
                      <a:r>
                        <a:rPr sz="1100" b="0">
                          <a:solidFill>
                            <a:srgbClr val="4B4B4B"/>
                          </a:solidFill>
                          <a:latin typeface="Arial"/>
                        </a:rPr>
                        <a:t>MTL, TH, then MAD TL and Marketing UH</a:t>
                      </a:r>
                    </a:p>
                  </a:txBody>
                  <a:tcPr marL="64008" marR="64008" marT="27432" marB="27432" anchor="ctr">
                    <a:solidFill>
                      <a:srgbClr val="FFFFFF"/>
                    </a:solidFill>
                  </a:tcPr>
                </a:tc>
                <a:tc>
                  <a:txBody>
                    <a:bodyPr wrap="square"/>
                    <a:lstStyle/>
                    <a:p>
                      <a:r>
                        <a:rPr sz="1100" b="0">
                          <a:solidFill>
                            <a:srgbClr val="4B4B4B"/>
                          </a:solidFill>
                          <a:latin typeface="Arial"/>
                        </a:rPr>
                        <a:t>Marketing Admin (Excel, EBIX)</a:t>
                      </a:r>
                    </a:p>
                  </a:txBody>
                  <a:tcPr marL="64008" marR="64008" marT="27432" marB="27432" anchor="ctr">
                    <a:solidFill>
                      <a:srgbClr val="FFFFFF"/>
                    </a:solidFill>
                  </a:tcPr>
                </a:tc>
                <a:tc>
                  <a:txBody>
                    <a:bodyPr wrap="square"/>
                    <a:lstStyle/>
                    <a:p>
                      <a:r>
                        <a:rPr sz="1100" b="0">
                          <a:solidFill>
                            <a:srgbClr val="4B4B4B"/>
                          </a:solidFill>
                          <a:latin typeface="Arial"/>
                        </a:rPr>
                        <a:t>MAD TL to Disbursement</a:t>
                      </a:r>
                    </a:p>
                  </a:txBody>
                  <a:tcPr marL="64008" marR="64008" marT="27432" marB="27432" anchor="ctr">
                    <a:solidFill>
                      <a:srgbClr val="FFFFFF"/>
                    </a:solidFill>
                  </a:tcPr>
                </a:tc>
              </a:tr>
              <a:tr h="731520">
                <a:tc>
                  <a:txBody>
                    <a:bodyPr wrap="square"/>
                    <a:lstStyle/>
                    <a:p>
                      <a:r>
                        <a:rPr sz="1100" b="1">
                          <a:solidFill>
                            <a:srgbClr val="4B4B4B"/>
                          </a:solidFill>
                          <a:latin typeface="Arial"/>
                        </a:rPr>
                        <a:t>Refund: Non-CBG Corporate</a:t>
                      </a:r>
                    </a:p>
                  </a:txBody>
                  <a:tcPr marL="64008" marR="64008" marT="27432" marB="27432" anchor="ctr">
                    <a:solidFill>
                      <a:srgbClr val="E5F5FF"/>
                    </a:solidFill>
                  </a:tcPr>
                </a:tc>
                <a:tc>
                  <a:txBody>
                    <a:bodyPr wrap="square"/>
                    <a:lstStyle/>
                    <a:p>
                      <a:r>
                        <a:rPr sz="1100" b="0">
                          <a:solidFill>
                            <a:srgbClr val="4B4B4B"/>
                          </a:solidFill>
                          <a:latin typeface="Arial"/>
                        </a:rPr>
                        <a:t>AO fills the RRF</a:t>
                      </a:r>
                    </a:p>
                  </a:txBody>
                  <a:tcPr marL="64008" marR="64008" marT="27432" marB="27432" anchor="ctr">
                    <a:solidFill>
                      <a:srgbClr val="E5F5FF"/>
                    </a:solidFill>
                  </a:tcPr>
                </a:tc>
                <a:tc>
                  <a:txBody>
                    <a:bodyPr wrap="square"/>
                    <a:lstStyle/>
                    <a:p>
                      <a:r>
                        <a:rPr sz="1100" b="0">
                          <a:solidFill>
                            <a:srgbClr val="4B4B4B"/>
                          </a:solidFill>
                          <a:latin typeface="Arial"/>
                        </a:rPr>
                        <a:t>MAD review, MAD TL, Marketing UH</a:t>
                      </a:r>
                    </a:p>
                  </a:txBody>
                  <a:tcPr marL="64008" marR="64008" marT="27432" marB="27432" anchor="ctr">
                    <a:solidFill>
                      <a:srgbClr val="E5F5FF"/>
                    </a:solidFill>
                  </a:tcPr>
                </a:tc>
                <a:tc>
                  <a:txBody>
                    <a:bodyPr wrap="square"/>
                    <a:lstStyle/>
                    <a:p>
                      <a:r>
                        <a:rPr sz="1100" b="0">
                          <a:solidFill>
                            <a:srgbClr val="4B4B4B"/>
                          </a:solidFill>
                          <a:latin typeface="Arial"/>
                        </a:rPr>
                        <a:t>Marketing Admin</a:t>
                      </a:r>
                    </a:p>
                  </a:txBody>
                  <a:tcPr marL="64008" marR="64008" marT="27432" marB="27432" anchor="ctr">
                    <a:solidFill>
                      <a:srgbClr val="E5F5FF"/>
                    </a:solidFill>
                  </a:tcPr>
                </a:tc>
                <a:tc>
                  <a:txBody>
                    <a:bodyPr wrap="square"/>
                    <a:lstStyle/>
                    <a:p>
                      <a:r>
                        <a:rPr sz="1100" b="0">
                          <a:solidFill>
                            <a:srgbClr val="4B4B4B"/>
                          </a:solidFill>
                          <a:latin typeface="Arial"/>
                        </a:rPr>
                        <a:t>MAD TL to Disbursement</a:t>
                      </a:r>
                    </a:p>
                  </a:txBody>
                  <a:tcPr marL="64008" marR="64008" marT="27432" marB="27432" anchor="ctr">
                    <a:solidFill>
                      <a:srgbClr val="E5F5FF"/>
                    </a:solidFill>
                  </a:tcPr>
                </a:tc>
              </a:tr>
              <a:tr h="731520">
                <a:tc>
                  <a:txBody>
                    <a:bodyPr wrap="square"/>
                    <a:lstStyle/>
                    <a:p>
                      <a:r>
                        <a:rPr sz="1100" b="1">
                          <a:solidFill>
                            <a:srgbClr val="4B4B4B"/>
                          </a:solidFill>
                          <a:latin typeface="Arial"/>
                        </a:rPr>
                        <a:t>Refund: CBG Motor</a:t>
                      </a:r>
                    </a:p>
                  </a:txBody>
                  <a:tcPr marL="64008" marR="64008" marT="27432" marB="27432" anchor="ctr">
                    <a:solidFill>
                      <a:srgbClr val="FFFFFF"/>
                    </a:solidFill>
                  </a:tcPr>
                </a:tc>
                <a:tc>
                  <a:txBody>
                    <a:bodyPr wrap="square"/>
                    <a:lstStyle/>
                    <a:p>
                      <a:r>
                        <a:rPr sz="1100" b="0">
                          <a:solidFill>
                            <a:srgbClr val="4B4B4B"/>
                          </a:solidFill>
                          <a:latin typeface="Arial"/>
                        </a:rPr>
                        <a:t>AO instructs the UPP AO; bank confirms account name</a:t>
                      </a:r>
                    </a:p>
                  </a:txBody>
                  <a:tcPr marL="64008" marR="64008" marT="27432" marB="27432" anchor="ctr">
                    <a:solidFill>
                      <a:srgbClr val="FFFFFF"/>
                    </a:solidFill>
                  </a:tcPr>
                </a:tc>
                <a:tc>
                  <a:txBody>
                    <a:bodyPr wrap="square"/>
                    <a:lstStyle/>
                    <a:p>
                      <a:r>
                        <a:rPr sz="1100" b="0">
                          <a:solidFill>
                            <a:srgbClr val="4B4B4B"/>
                          </a:solidFill>
                          <a:latin typeface="Arial"/>
                        </a:rPr>
                        <a:t>Approver 1, Approver 2, UH</a:t>
                      </a:r>
                    </a:p>
                  </a:txBody>
                  <a:tcPr marL="64008" marR="64008" marT="27432" marB="27432" anchor="ctr">
                    <a:solidFill>
                      <a:srgbClr val="FFFFFF"/>
                    </a:solidFill>
                  </a:tcPr>
                </a:tc>
                <a:tc>
                  <a:txBody>
                    <a:bodyPr wrap="square"/>
                    <a:lstStyle/>
                    <a:p>
                      <a:r>
                        <a:rPr sz="1100" b="0">
                          <a:solidFill>
                            <a:srgbClr val="4B4B4B"/>
                          </a:solidFill>
                          <a:latin typeface="Arial"/>
                        </a:rPr>
                        <a:t>Approver 2 keys in EBIX</a:t>
                      </a:r>
                    </a:p>
                  </a:txBody>
                  <a:tcPr marL="64008" marR="64008" marT="27432" marB="27432" anchor="ctr">
                    <a:solidFill>
                      <a:srgbClr val="FFFFFF"/>
                    </a:solidFill>
                  </a:tcPr>
                </a:tc>
                <a:tc>
                  <a:txBody>
                    <a:bodyPr wrap="square"/>
                    <a:lstStyle/>
                    <a:p>
                      <a:r>
                        <a:rPr sz="1100" b="0">
                          <a:solidFill>
                            <a:srgbClr val="4B4B4B"/>
                          </a:solidFill>
                          <a:latin typeface="Arial"/>
                        </a:rPr>
                        <a:t>UPP AO to Disbursement</a:t>
                      </a:r>
                    </a:p>
                  </a:txBody>
                  <a:tcPr marL="64008" marR="64008" marT="27432" marB="27432" anchor="ctr">
                    <a:solidFill>
                      <a:srgbClr val="FFFFFF"/>
                    </a:solidFill>
                  </a:tcPr>
                </a:tc>
              </a:tr>
              <a:tr h="731520">
                <a:tc>
                  <a:txBody>
                    <a:bodyPr wrap="square"/>
                    <a:lstStyle/>
                    <a:p>
                      <a:r>
                        <a:rPr sz="1100" b="1">
                          <a:solidFill>
                            <a:srgbClr val="4B4B4B"/>
                          </a:solidFill>
                          <a:latin typeface="Arial"/>
                        </a:rPr>
                        <a:t>Refund: CBG Fire</a:t>
                      </a:r>
                    </a:p>
                  </a:txBody>
                  <a:tcPr marL="64008" marR="64008" marT="27432" marB="27432" anchor="ctr">
                    <a:solidFill>
                      <a:srgbClr val="E5F5FF"/>
                    </a:solidFill>
                  </a:tcPr>
                </a:tc>
                <a:tc>
                  <a:txBody>
                    <a:bodyPr wrap="square"/>
                    <a:lstStyle/>
                    <a:p>
                      <a:r>
                        <a:rPr sz="1100" b="0">
                          <a:solidFill>
                            <a:srgbClr val="4B4B4B"/>
                          </a:solidFill>
                          <a:latin typeface="Arial"/>
                        </a:rPr>
                        <a:t>AO instructs Marketing Support</a:t>
                      </a:r>
                    </a:p>
                  </a:txBody>
                  <a:tcPr marL="64008" marR="64008" marT="27432" marB="27432" anchor="ctr">
                    <a:solidFill>
                      <a:srgbClr val="E5F5FF"/>
                    </a:solidFill>
                  </a:tcPr>
                </a:tc>
                <a:tc>
                  <a:txBody>
                    <a:bodyPr wrap="square"/>
                    <a:lstStyle/>
                    <a:p>
                      <a:r>
                        <a:rPr sz="1100" b="0">
                          <a:solidFill>
                            <a:srgbClr val="4B4B4B"/>
                          </a:solidFill>
                          <a:latin typeface="Arial"/>
                        </a:rPr>
                        <a:t>MS TL, UH</a:t>
                      </a:r>
                    </a:p>
                  </a:txBody>
                  <a:tcPr marL="64008" marR="64008" marT="27432" marB="27432" anchor="ctr">
                    <a:solidFill>
                      <a:srgbClr val="E5F5FF"/>
                    </a:solidFill>
                  </a:tcPr>
                </a:tc>
                <a:tc>
                  <a:txBody>
                    <a:bodyPr wrap="square"/>
                    <a:lstStyle/>
                    <a:p>
                      <a:r>
                        <a:rPr sz="1100" b="0">
                          <a:solidFill>
                            <a:srgbClr val="4B4B4B"/>
                          </a:solidFill>
                          <a:latin typeface="Arial"/>
                        </a:rPr>
                        <a:t>MS TL keys CA / SA</a:t>
                      </a:r>
                    </a:p>
                  </a:txBody>
                  <a:tcPr marL="64008" marR="64008" marT="27432" marB="27432" anchor="ctr">
                    <a:solidFill>
                      <a:srgbClr val="E5F5FF"/>
                    </a:solidFill>
                  </a:tcPr>
                </a:tc>
                <a:tc>
                  <a:txBody>
                    <a:bodyPr wrap="square"/>
                    <a:lstStyle/>
                    <a:p>
                      <a:r>
                        <a:rPr sz="1100" b="0">
                          <a:solidFill>
                            <a:srgbClr val="4B4B4B"/>
                          </a:solidFill>
                          <a:latin typeface="Arial"/>
                        </a:rPr>
                        <a:t>Paper and scanned copy</a:t>
                      </a:r>
                    </a:p>
                  </a:txBody>
                  <a:tcPr marL="64008" marR="64008" marT="27432" marB="27432" anchor="ctr">
                    <a:solidFill>
                      <a:srgbClr val="E5F5FF"/>
                    </a:solidFill>
                  </a:tcPr>
                </a:tc>
              </a:tr>
              <a:tr h="731520">
                <a:tc>
                  <a:txBody>
                    <a:bodyPr wrap="square"/>
                    <a:lstStyle/>
                    <a:p>
                      <a:r>
                        <a:rPr sz="1100" b="1">
                          <a:solidFill>
                            <a:srgbClr val="4B4B4B"/>
                          </a:solidFill>
                          <a:latin typeface="Arial"/>
                        </a:rPr>
                        <a:t>Refund: Non-CBG Branches</a:t>
                      </a:r>
                    </a:p>
                  </a:txBody>
                  <a:tcPr marL="64008" marR="64008" marT="27432" marB="27432" anchor="ctr">
                    <a:solidFill>
                      <a:srgbClr val="FFFFFF"/>
                    </a:solidFill>
                  </a:tcPr>
                </a:tc>
                <a:tc>
                  <a:txBody>
                    <a:bodyPr wrap="square"/>
                    <a:lstStyle/>
                    <a:p>
                      <a:r>
                        <a:rPr sz="1100" b="0">
                          <a:solidFill>
                            <a:srgbClr val="4B4B4B"/>
                          </a:solidFill>
                          <a:latin typeface="Arial"/>
                        </a:rPr>
                        <a:t>AO fills the RRF</a:t>
                      </a:r>
                    </a:p>
                  </a:txBody>
                  <a:tcPr marL="64008" marR="64008" marT="27432" marB="27432" anchor="ctr">
                    <a:solidFill>
                      <a:srgbClr val="FFFFFF"/>
                    </a:solidFill>
                  </a:tcPr>
                </a:tc>
                <a:tc>
                  <a:txBody>
                    <a:bodyPr wrap="square"/>
                    <a:lstStyle/>
                    <a:p>
                      <a:r>
                        <a:rPr sz="1100" b="0">
                          <a:solidFill>
                            <a:srgbClr val="4B4B4B"/>
                          </a:solidFill>
                          <a:latin typeface="Arial"/>
                        </a:rPr>
                        <a:t>MTL, UH, then Collections TL and UH</a:t>
                      </a:r>
                    </a:p>
                  </a:txBody>
                  <a:tcPr marL="64008" marR="64008" marT="27432" marB="27432" anchor="ctr">
                    <a:solidFill>
                      <a:srgbClr val="FFFFFF"/>
                    </a:solidFill>
                  </a:tcPr>
                </a:tc>
                <a:tc>
                  <a:txBody>
                    <a:bodyPr wrap="square"/>
                    <a:lstStyle/>
                    <a:p>
                      <a:r>
                        <a:rPr sz="1100" b="0">
                          <a:solidFill>
                            <a:srgbClr val="4B4B4B"/>
                          </a:solidFill>
                          <a:latin typeface="Arial"/>
                        </a:rPr>
                        <a:t>Collections Processor</a:t>
                      </a:r>
                    </a:p>
                  </a:txBody>
                  <a:tcPr marL="64008" marR="64008" marT="27432" marB="27432" anchor="ctr">
                    <a:solidFill>
                      <a:srgbClr val="FFFFFF"/>
                    </a:solidFill>
                  </a:tcPr>
                </a:tc>
                <a:tc>
                  <a:txBody>
                    <a:bodyPr wrap="square"/>
                    <a:lstStyle/>
                    <a:p>
                      <a:r>
                        <a:rPr sz="1100" b="0">
                          <a:solidFill>
                            <a:srgbClr val="4B4B4B"/>
                          </a:solidFill>
                          <a:latin typeface="Arial"/>
                        </a:rPr>
                        <a:t>CP to Disbursement</a:t>
                      </a:r>
                    </a:p>
                  </a:txBody>
                  <a:tcPr marL="64008" marR="64008" marT="27432" marB="27432" anchor="ctr">
                    <a:solidFill>
                      <a:srgbClr val="FFFFFF"/>
                    </a:solidFill>
                  </a:tcPr>
                </a:tc>
              </a:tr>
            </a:tbl>
          </a:graphicData>
        </a:graphic>
      </p:graphicFrame>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9. Accounting: refund chains and payment routes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graphicFrame>
        <p:nvGraphicFramePr>
          <p:cNvPr id="9" name="Table 8"/>
          <p:cNvGraphicFramePr>
            <a:graphicFrameLocks noGrp="1"/>
          </p:cNvGraphicFramePr>
          <p:nvPr/>
        </p:nvGraphicFramePr>
        <p:xfrm>
          <a:off x="548640" y="1280160"/>
          <a:ext cx="11094413" cy="3291840"/>
        </p:xfrm>
        <a:graphic>
          <a:graphicData uri="http://schemas.openxmlformats.org/drawingml/2006/table">
            <a:tbl>
              <a:tblPr firstRow="1" bandRow="1">
                <a:tableStyleId>{5C22544A-7EE6-4342-B048-85BDC9FD1C3A}</a:tableStyleId>
              </a:tblPr>
              <a:tblGrid>
                <a:gridCol w="1921867"/>
                <a:gridCol w="2446012"/>
                <a:gridCol w="2970158"/>
                <a:gridCol w="1834509"/>
                <a:gridCol w="1921867"/>
              </a:tblGrid>
              <a:tr h="365760">
                <a:tc>
                  <a:txBody>
                    <a:bodyPr wrap="square"/>
                    <a:lstStyle/>
                    <a:p>
                      <a:r>
                        <a:rPr sz="1100" b="1">
                          <a:solidFill>
                            <a:srgbClr val="FFFFFF"/>
                          </a:solidFill>
                          <a:latin typeface="Arial"/>
                        </a:rPr>
                        <a:t>Route or segment</a:t>
                      </a:r>
                    </a:p>
                  </a:txBody>
                  <a:tcPr marL="64008" marR="64008" marT="27432" marB="27432" anchor="ctr">
                    <a:solidFill>
                      <a:srgbClr val="004EA8"/>
                    </a:solidFill>
                  </a:tcPr>
                </a:tc>
                <a:tc>
                  <a:txBody>
                    <a:bodyPr wrap="square"/>
                    <a:lstStyle/>
                    <a:p>
                      <a:r>
                        <a:rPr sz="1100" b="1">
                          <a:solidFill>
                            <a:srgbClr val="FFFFFF"/>
                          </a:solidFill>
                          <a:latin typeface="Arial"/>
                        </a:rPr>
                        <a:t>Starts with</a:t>
                      </a:r>
                    </a:p>
                  </a:txBody>
                  <a:tcPr marL="64008" marR="64008" marT="27432" marB="27432" anchor="ctr">
                    <a:solidFill>
                      <a:srgbClr val="004EA8"/>
                    </a:solidFill>
                  </a:tcPr>
                </a:tc>
                <a:tc>
                  <a:txBody>
                    <a:bodyPr wrap="square"/>
                    <a:lstStyle/>
                    <a:p>
                      <a:r>
                        <a:rPr sz="1100" b="1">
                          <a:solidFill>
                            <a:srgbClr val="FFFFFF"/>
                          </a:solidFill>
                          <a:latin typeface="Arial"/>
                        </a:rPr>
                        <a:t>Approvals today</a:t>
                      </a:r>
                    </a:p>
                  </a:txBody>
                  <a:tcPr marL="64008" marR="64008" marT="27432" marB="27432" anchor="ctr">
                    <a:solidFill>
                      <a:srgbClr val="004EA8"/>
                    </a:solidFill>
                  </a:tcPr>
                </a:tc>
                <a:tc>
                  <a:txBody>
                    <a:bodyPr wrap="square"/>
                    <a:lstStyle/>
                    <a:p>
                      <a:r>
                        <a:rPr sz="1100" b="1">
                          <a:solidFill>
                            <a:srgbClr val="FFFFFF"/>
                          </a:solidFill>
                          <a:latin typeface="Arial"/>
                        </a:rPr>
                        <a:t>Keyed or executed by</a:t>
                      </a:r>
                    </a:p>
                  </a:txBody>
                  <a:tcPr marL="64008" marR="64008" marT="27432" marB="27432" anchor="ctr">
                    <a:solidFill>
                      <a:srgbClr val="004EA8"/>
                    </a:solidFill>
                  </a:tcPr>
                </a:tc>
                <a:tc>
                  <a:txBody>
                    <a:bodyPr wrap="square"/>
                    <a:lstStyle/>
                    <a:p>
                      <a:r>
                        <a:rPr sz="1100" b="1">
                          <a:solidFill>
                            <a:srgbClr val="FFFFFF"/>
                          </a:solidFill>
                          <a:latin typeface="Arial"/>
                        </a:rPr>
                        <a:t>Hand-off</a:t>
                      </a:r>
                    </a:p>
                  </a:txBody>
                  <a:tcPr marL="64008" marR="64008" marT="27432" marB="27432" anchor="ctr">
                    <a:solidFill>
                      <a:srgbClr val="004EA8"/>
                    </a:solidFill>
                  </a:tcPr>
                </a:tc>
              </a:tr>
              <a:tr h="731520">
                <a:tc>
                  <a:txBody>
                    <a:bodyPr wrap="square"/>
                    <a:lstStyle/>
                    <a:p>
                      <a:r>
                        <a:rPr sz="1100" b="1">
                          <a:solidFill>
                            <a:srgbClr val="4B4B4B"/>
                          </a:solidFill>
                          <a:latin typeface="Arial"/>
                        </a:rPr>
                        <a:t>Pay: in the system</a:t>
                      </a:r>
                    </a:p>
                  </a:txBody>
                  <a:tcPr marL="64008" marR="64008" marT="27432" marB="27432" anchor="ctr">
                    <a:solidFill>
                      <a:srgbClr val="FFFFFF"/>
                    </a:solidFill>
                  </a:tcPr>
                </a:tc>
                <a:tc>
                  <a:txBody>
                    <a:bodyPr wrap="square"/>
                    <a:lstStyle/>
                    <a:p>
                      <a:r>
                        <a:rPr sz="1100" b="0">
                          <a:solidFill>
                            <a:srgbClr val="4B4B4B"/>
                          </a:solidFill>
                          <a:latin typeface="Arial"/>
                        </a:rPr>
                        <a:t>EBIX flow-in (remittance, refunds)</a:t>
                      </a:r>
                    </a:p>
                  </a:txBody>
                  <a:tcPr marL="64008" marR="64008" marT="27432" marB="27432" anchor="ctr">
                    <a:solidFill>
                      <a:srgbClr val="FFFFFF"/>
                    </a:solidFill>
                  </a:tcPr>
                </a:tc>
                <a:tc>
                  <a:txBody>
                    <a:bodyPr wrap="square"/>
                    <a:lstStyle/>
                    <a:p>
                      <a:r>
                        <a:rPr sz="1100" b="0">
                          <a:solidFill>
                            <a:srgbClr val="4B4B4B"/>
                          </a:solidFill>
                          <a:latin typeface="Arial"/>
                        </a:rPr>
                        <a:t>DSH approves and posts; DTL runs end of day</a:t>
                      </a:r>
                    </a:p>
                  </a:txBody>
                  <a:tcPr marL="64008" marR="64008" marT="27432" marB="27432" anchor="ctr">
                    <a:solidFill>
                      <a:srgbClr val="FFFFFF"/>
                    </a:solidFill>
                  </a:tcPr>
                </a:tc>
                <a:tc>
                  <a:txBody>
                    <a:bodyPr wrap="square"/>
                    <a:lstStyle/>
                    <a:p>
                      <a:r>
                        <a:rPr sz="1100" b="0">
                          <a:solidFill>
                            <a:srgbClr val="4B4B4B"/>
                          </a:solidFill>
                          <a:latin typeface="Arial"/>
                        </a:rPr>
                        <a:t>IT batch EBIX to QPS; WinSCP to TPD</a:t>
                      </a:r>
                    </a:p>
                  </a:txBody>
                  <a:tcPr marL="64008" marR="64008" marT="27432" marB="27432" anchor="ctr">
                    <a:solidFill>
                      <a:srgbClr val="FFFFFF"/>
                    </a:solidFill>
                  </a:tcPr>
                </a:tc>
                <a:tc>
                  <a:txBody>
                    <a:bodyPr wrap="square"/>
                    <a:lstStyle/>
                    <a:p>
                      <a:r>
                        <a:rPr sz="1100" b="0">
                          <a:solidFill>
                            <a:srgbClr val="4B4B4B"/>
                          </a:solidFill>
                          <a:latin typeface="Arial"/>
                        </a:rPr>
                        <a:t>TPD returns processed list</a:t>
                      </a:r>
                    </a:p>
                  </a:txBody>
                  <a:tcPr marL="64008" marR="64008" marT="27432" marB="27432" anchor="ctr">
                    <a:solidFill>
                      <a:srgbClr val="FFFFFF"/>
                    </a:solidFill>
                  </a:tcPr>
                </a:tc>
              </a:tr>
              <a:tr h="731520">
                <a:tc>
                  <a:txBody>
                    <a:bodyPr wrap="square"/>
                    <a:lstStyle/>
                    <a:p>
                      <a:r>
                        <a:rPr sz="1100" b="1">
                          <a:solidFill>
                            <a:srgbClr val="4B4B4B"/>
                          </a:solidFill>
                          <a:latin typeface="Arial"/>
                        </a:rPr>
                        <a:t>Pay: online banking</a:t>
                      </a:r>
                    </a:p>
                  </a:txBody>
                  <a:tcPr marL="64008" marR="64008" marT="27432" marB="27432" anchor="ctr">
                    <a:solidFill>
                      <a:srgbClr val="E5F5FF"/>
                    </a:solidFill>
                  </a:tcPr>
                </a:tc>
                <a:tc>
                  <a:txBody>
                    <a:bodyPr wrap="square"/>
                    <a:lstStyle/>
                    <a:p>
                      <a:r>
                        <a:rPr sz="1100" b="0">
                          <a:solidFill>
                            <a:srgbClr val="4B4B4B"/>
                          </a:solidFill>
                          <a:latin typeface="Arial"/>
                        </a:rPr>
                        <a:t>Hard-copy request</a:t>
                      </a:r>
                    </a:p>
                  </a:txBody>
                  <a:tcPr marL="64008" marR="64008" marT="27432" marB="27432" anchor="ctr">
                    <a:solidFill>
                      <a:srgbClr val="E5F5FF"/>
                    </a:solidFill>
                  </a:tcPr>
                </a:tc>
                <a:tc>
                  <a:txBody>
                    <a:bodyPr wrap="square"/>
                    <a:lstStyle/>
                    <a:p>
                      <a:r>
                        <a:rPr sz="1100" b="0">
                          <a:solidFill>
                            <a:srgbClr val="4B4B4B"/>
                          </a:solidFill>
                          <a:latin typeface="Arial"/>
                        </a:rPr>
                        <a:t>DTL, second DTL verifier, DSH, DUH; two online authorisations</a:t>
                      </a:r>
                    </a:p>
                  </a:txBody>
                  <a:tcPr marL="64008" marR="64008" marT="27432" marB="27432" anchor="ctr">
                    <a:solidFill>
                      <a:srgbClr val="E5F5FF"/>
                    </a:solidFill>
                  </a:tcPr>
                </a:tc>
                <a:tc>
                  <a:txBody>
                    <a:bodyPr wrap="square"/>
                    <a:lstStyle/>
                    <a:p>
                      <a:r>
                        <a:rPr sz="1100" b="0">
                          <a:solidFill>
                            <a:srgbClr val="4B4B4B"/>
                          </a:solidFill>
                          <a:latin typeface="Arial"/>
                        </a:rPr>
                        <a:t>DTL in online banking</a:t>
                      </a:r>
                    </a:p>
                  </a:txBody>
                  <a:tcPr marL="64008" marR="64008" marT="27432" marB="27432" anchor="ctr">
                    <a:solidFill>
                      <a:srgbClr val="E5F5FF"/>
                    </a:solidFill>
                  </a:tcPr>
                </a:tc>
                <a:tc>
                  <a:txBody>
                    <a:bodyPr wrap="square"/>
                    <a:lstStyle/>
                    <a:p>
                      <a:r>
                        <a:rPr sz="1100" b="0">
                          <a:solidFill>
                            <a:srgbClr val="4B4B4B"/>
                          </a:solidFill>
                          <a:latin typeface="Arial"/>
                        </a:rPr>
                        <a:t>Signed documents to FRBS</a:t>
                      </a:r>
                    </a:p>
                  </a:txBody>
                  <a:tcPr marL="64008" marR="64008" marT="27432" marB="27432" anchor="ctr">
                    <a:solidFill>
                      <a:srgbClr val="E5F5FF"/>
                    </a:solidFill>
                  </a:tcPr>
                </a:tc>
              </a:tr>
              <a:tr h="731520">
                <a:tc>
                  <a:txBody>
                    <a:bodyPr wrap="square"/>
                    <a:lstStyle/>
                    <a:p>
                      <a:r>
                        <a:rPr sz="1100" b="1">
                          <a:solidFill>
                            <a:srgbClr val="4B4B4B"/>
                          </a:solidFill>
                          <a:latin typeface="Arial"/>
                        </a:rPr>
                        <a:t>Pay: outside the system</a:t>
                      </a:r>
                    </a:p>
                  </a:txBody>
                  <a:tcPr marL="64008" marR="64008" marT="27432" marB="27432" anchor="ctr">
                    <a:solidFill>
                      <a:srgbClr val="FFFFFF"/>
                    </a:solidFill>
                  </a:tcPr>
                </a:tc>
                <a:tc>
                  <a:txBody>
                    <a:bodyPr wrap="square"/>
                    <a:lstStyle/>
                    <a:p>
                      <a:r>
                        <a:rPr sz="1100" b="0">
                          <a:solidFill>
                            <a:srgbClr val="4B4B4B"/>
                          </a:solidFill>
                          <a:latin typeface="Arial"/>
                        </a:rPr>
                        <a:t>Hard-copy request</a:t>
                      </a:r>
                    </a:p>
                  </a:txBody>
                  <a:tcPr marL="64008" marR="64008" marT="27432" marB="27432" anchor="ctr">
                    <a:solidFill>
                      <a:srgbClr val="FFFFFF"/>
                    </a:solidFill>
                  </a:tcPr>
                </a:tc>
                <a:tc>
                  <a:txBody>
                    <a:bodyPr wrap="square"/>
                    <a:lstStyle/>
                    <a:p>
                      <a:r>
                        <a:rPr sz="1100" b="0">
                          <a:solidFill>
                            <a:srgbClr val="4B4B4B"/>
                          </a:solidFill>
                          <a:latin typeface="Arial"/>
                        </a:rPr>
                        <a:t>DTL, DSH, DUH</a:t>
                      </a:r>
                    </a:p>
                  </a:txBody>
                  <a:tcPr marL="64008" marR="64008" marT="27432" marB="27432" anchor="ctr">
                    <a:solidFill>
                      <a:srgbClr val="FFFFFF"/>
                    </a:solidFill>
                  </a:tcPr>
                </a:tc>
                <a:tc>
                  <a:txBody>
                    <a:bodyPr wrap="square"/>
                    <a:lstStyle/>
                    <a:p>
                      <a:r>
                        <a:rPr sz="1100" b="0">
                          <a:solidFill>
                            <a:srgbClr val="4B4B4B"/>
                          </a:solidFill>
                          <a:latin typeface="Arial"/>
                        </a:rPr>
                        <a:t>DPO: CT, ATD, MC, DD, TT forms at a BDO branch</a:t>
                      </a:r>
                    </a:p>
                  </a:txBody>
                  <a:tcPr marL="64008" marR="64008" marT="27432" marB="27432" anchor="ctr">
                    <a:solidFill>
                      <a:srgbClr val="FFFFFF"/>
                    </a:solidFill>
                  </a:tcPr>
                </a:tc>
                <a:tc>
                  <a:txBody>
                    <a:bodyPr wrap="square"/>
                    <a:lstStyle/>
                    <a:p>
                      <a:r>
                        <a:rPr sz="1100" b="0">
                          <a:solidFill>
                            <a:srgbClr val="4B4B4B"/>
                          </a:solidFill>
                          <a:latin typeface="Arial"/>
                        </a:rPr>
                        <a:t>Bank confirmation e-mail</a:t>
                      </a:r>
                    </a:p>
                  </a:txBody>
                  <a:tcPr marL="64008" marR="64008" marT="27432" marB="27432" anchor="ctr">
                    <a:solidFill>
                      <a:srgbClr val="FFFFFF"/>
                    </a:solidFill>
                  </a:tcPr>
                </a:tc>
              </a:tr>
              <a:tr h="731520">
                <a:tc>
                  <a:txBody>
                    <a:bodyPr wrap="square"/>
                    <a:lstStyle/>
                    <a:p>
                      <a:r>
                        <a:rPr sz="1100" b="1">
                          <a:solidFill>
                            <a:srgbClr val="4B4B4B"/>
                          </a:solidFill>
                          <a:latin typeface="Arial"/>
                        </a:rPr>
                        <a:t>Pay: government</a:t>
                      </a:r>
                    </a:p>
                  </a:txBody>
                  <a:tcPr marL="64008" marR="64008" marT="27432" marB="27432" anchor="ctr">
                    <a:solidFill>
                      <a:srgbClr val="E5F5FF"/>
                    </a:solidFill>
                  </a:tcPr>
                </a:tc>
                <a:tc>
                  <a:txBody>
                    <a:bodyPr wrap="square"/>
                    <a:lstStyle/>
                    <a:p>
                      <a:r>
                        <a:rPr sz="1100" b="0">
                          <a:solidFill>
                            <a:srgbClr val="4B4B4B"/>
                          </a:solidFill>
                          <a:latin typeface="Arial"/>
                        </a:rPr>
                        <a:t>Tax and contribution due dates</a:t>
                      </a:r>
                    </a:p>
                  </a:txBody>
                  <a:tcPr marL="64008" marR="64008" marT="27432" marB="27432" anchor="ctr">
                    <a:solidFill>
                      <a:srgbClr val="E5F5FF"/>
                    </a:solidFill>
                  </a:tcPr>
                </a:tc>
                <a:tc>
                  <a:txBody>
                    <a:bodyPr wrap="square"/>
                    <a:lstStyle/>
                    <a:p>
                      <a:r>
                        <a:rPr sz="1100" b="0">
                          <a:solidFill>
                            <a:srgbClr val="4B4B4B"/>
                          </a:solidFill>
                          <a:latin typeface="Arial"/>
                        </a:rPr>
                        <a:t>DTL maker, DSH, DUH</a:t>
                      </a:r>
                    </a:p>
                  </a:txBody>
                  <a:tcPr marL="64008" marR="64008" marT="27432" marB="27432" anchor="ctr">
                    <a:solidFill>
                      <a:srgbClr val="E5F5FF"/>
                    </a:solidFill>
                  </a:tcPr>
                </a:tc>
                <a:tc>
                  <a:txBody>
                    <a:bodyPr wrap="square"/>
                    <a:lstStyle/>
                    <a:p>
                      <a:r>
                        <a:rPr sz="1100" b="0">
                          <a:solidFill>
                            <a:srgbClr val="4B4B4B"/>
                          </a:solidFill>
                          <a:latin typeface="Arial"/>
                        </a:rPr>
                        <a:t>FRBS SH in EFPS; BancNet for SSS, Pag-IBIG, PhilHealth</a:t>
                      </a:r>
                    </a:p>
                  </a:txBody>
                  <a:tcPr marL="64008" marR="64008" marT="27432" marB="27432" anchor="ctr">
                    <a:solidFill>
                      <a:srgbClr val="E5F5FF"/>
                    </a:solidFill>
                  </a:tcPr>
                </a:tc>
                <a:tc>
                  <a:txBody>
                    <a:bodyPr wrap="square"/>
                    <a:lstStyle/>
                    <a:p>
                      <a:r>
                        <a:rPr sz="1100" b="0">
                          <a:solidFill>
                            <a:srgbClr val="4B4B4B"/>
                          </a:solidFill>
                          <a:latin typeface="Arial"/>
                        </a:rPr>
                        <a:t>24-hour posting; website check</a:t>
                      </a:r>
                    </a:p>
                  </a:txBody>
                  <a:tcPr marL="64008" marR="64008" marT="27432" marB="27432" anchor="ctr">
                    <a:solidFill>
                      <a:srgbClr val="E5F5FF"/>
                    </a:solidFill>
                  </a:tcPr>
                </a:tc>
              </a:tr>
            </a:tbl>
          </a:graphicData>
        </a:graphic>
      </p:graphicFrame>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Refunds on paper, five chains</a:t>
            </a:r>
          </a:p>
          <a:p>
            <a:pPr>
              <a:spcAft>
                <a:spcPts val="100"/>
              </a:spcAft>
            </a:pPr>
            <a:r>
              <a:rPr sz="1200" b="0">
                <a:solidFill>
                  <a:srgbClr val="4B4B4B"/>
                </a:solidFill>
                <a:latin typeface="Arial"/>
              </a:rPr>
              <a:t>RRF signed by 4-6 people; Excel template; CA / SA re-keyed in EBIX.</a:t>
            </a:r>
          </a:p>
          <a:p>
            <a:pPr>
              <a:spcAft>
                <a:spcPts val="100"/>
              </a:spcAft>
            </a:pPr>
            <a:r>
              <a:rPr sz="1200" b="0">
                <a:solidFill>
                  <a:srgbClr val="0072D8"/>
                </a:solidFill>
                <a:latin typeface="Arial"/>
              </a:rPr>
              <a:t>Refund Request flow; BRD-5 p.45</a:t>
            </a:r>
          </a:p>
        </p:txBody>
      </p:sp>
      <p:sp>
        <p:nvSpPr>
          <p:cNvPr id="11" name="Oval 10"/>
          <p:cNvSpPr/>
          <p:nvPr/>
        </p:nvSpPr>
        <p:spPr>
          <a:xfrm>
            <a:off x="548640"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by e-mail and paper</a:t>
            </a:r>
          </a:p>
          <a:p>
            <a:pPr>
              <a:spcAft>
                <a:spcPts val="100"/>
              </a:spcAft>
            </a:pPr>
            <a:r>
              <a:rPr sz="1200" b="0">
                <a:solidFill>
                  <a:srgbClr val="4B4B4B"/>
                </a:solidFill>
                <a:latin typeface="Arial"/>
              </a:rPr>
              <a:t>Disbursement receives EBIX flow-in, e-mails and hard copies.</a:t>
            </a:r>
          </a:p>
          <a:p>
            <a:pPr>
              <a:spcAft>
                <a:spcPts val="100"/>
              </a:spcAft>
            </a:pPr>
            <a:r>
              <a:rPr sz="1200" b="0">
                <a:solidFill>
                  <a:srgbClr val="0072D8"/>
                </a:solidFill>
                <a:latin typeface="Arial"/>
              </a:rPr>
              <a:t>Disbursement flow; Day 1 p.27</a:t>
            </a:r>
          </a:p>
        </p:txBody>
      </p:sp>
      <p:sp>
        <p:nvSpPr>
          <p:cNvPr id="13" name="Oval 12"/>
          <p:cNvSpPr/>
          <p:nvPr/>
        </p:nvSpPr>
        <p:spPr>
          <a:xfrm>
            <a:off x="548640"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Payees kept in three places</a:t>
            </a:r>
          </a:p>
          <a:p>
            <a:pPr>
              <a:spcAft>
                <a:spcPts val="100"/>
              </a:spcAft>
            </a:pPr>
            <a:r>
              <a:rPr sz="1200" b="0">
                <a:solidFill>
                  <a:srgbClr val="4B4B4B"/>
                </a:solidFill>
                <a:latin typeface="Arial"/>
              </a:rPr>
              <a:t>MBS (insurers), UPP handler (clients), DTL (sundry) keep payee details.</a:t>
            </a:r>
          </a:p>
          <a:p>
            <a:pPr>
              <a:spcAft>
                <a:spcPts val="100"/>
              </a:spcAft>
            </a:pPr>
            <a:r>
              <a:rPr sz="1200" b="0">
                <a:solidFill>
                  <a:srgbClr val="0072D8"/>
                </a:solidFill>
                <a:latin typeface="Arial"/>
              </a:rPr>
              <a:t>Disbursement flow</a:t>
            </a:r>
          </a:p>
        </p:txBody>
      </p:sp>
      <p:sp>
        <p:nvSpPr>
          <p:cNvPr id="15" name="Oval 14"/>
          <p:cNvSpPr/>
          <p:nvPr/>
        </p:nvSpPr>
        <p:spPr>
          <a:xfrm>
            <a:off x="548640"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Three levels of wet signature</a:t>
            </a:r>
          </a:p>
          <a:p>
            <a:pPr>
              <a:spcAft>
                <a:spcPts val="100"/>
              </a:spcAft>
            </a:pPr>
            <a:r>
              <a:rPr sz="1200" b="0">
                <a:solidFill>
                  <a:srgbClr val="4B4B4B"/>
                </a:solidFill>
                <a:latin typeface="Arial"/>
              </a:rPr>
              <a:t>DTL, DSH and DUH sign; online banking adds a second DTL.</a:t>
            </a:r>
          </a:p>
          <a:p>
            <a:pPr>
              <a:spcAft>
                <a:spcPts val="100"/>
              </a:spcAft>
            </a:pPr>
            <a:r>
              <a:rPr sz="1200" b="0">
                <a:solidFill>
                  <a:srgbClr val="0072D8"/>
                </a:solidFill>
                <a:latin typeface="Arial"/>
              </a:rPr>
              <a:t>DS-01; Disbursement flow</a:t>
            </a:r>
          </a:p>
        </p:txBody>
      </p:sp>
      <p:sp>
        <p:nvSpPr>
          <p:cNvPr id="17" name="Oval 16"/>
          <p:cNvSpPr/>
          <p:nvPr/>
        </p:nvSpPr>
        <p:spPr>
          <a:xfrm>
            <a:off x="548640"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File chain through IT and QPS</a:t>
            </a:r>
          </a:p>
          <a:p>
            <a:pPr>
              <a:spcAft>
                <a:spcPts val="100"/>
              </a:spcAft>
            </a:pPr>
            <a:r>
              <a:rPr sz="1200" b="0">
                <a:solidFill>
                  <a:srgbClr val="4B4B4B"/>
                </a:solidFill>
                <a:latin typeface="Arial"/>
              </a:rPr>
              <a:t>EBIX to QPS batch, credit file by WinSCP to TPD, checks printed in QPS.</a:t>
            </a:r>
          </a:p>
          <a:p>
            <a:pPr>
              <a:spcAft>
                <a:spcPts val="100"/>
              </a:spcAft>
            </a:pPr>
            <a:r>
              <a:rPr sz="1200" b="0">
                <a:solidFill>
                  <a:srgbClr val="0072D8"/>
                </a:solidFill>
                <a:latin typeface="Arial"/>
              </a:rPr>
              <a:t>Disbursement flow; DS-04</a:t>
            </a:r>
          </a:p>
        </p:txBody>
      </p:sp>
      <p:sp>
        <p:nvSpPr>
          <p:cNvPr id="19" name="Oval 18"/>
          <p:cNvSpPr/>
          <p:nvPr/>
        </p:nvSpPr>
        <p:spPr>
          <a:xfrm>
            <a:off x="548640"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1024128"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Payment modes outside the system</a:t>
            </a:r>
          </a:p>
          <a:p>
            <a:pPr>
              <a:spcAft>
                <a:spcPts val="100"/>
              </a:spcAft>
            </a:pPr>
            <a:r>
              <a:rPr sz="1200" b="0">
                <a:solidFill>
                  <a:srgbClr val="4B4B4B"/>
                </a:solidFill>
                <a:latin typeface="Arial"/>
              </a:rPr>
              <a:t>Credit tickets, ATD, MC, DD and TT are bank forms at a branch.</a:t>
            </a:r>
          </a:p>
          <a:p>
            <a:pPr>
              <a:spcAft>
                <a:spcPts val="100"/>
              </a:spcAft>
            </a:pPr>
            <a:r>
              <a:rPr sz="1200" b="0">
                <a:solidFill>
                  <a:srgbClr val="0072D8"/>
                </a:solidFill>
                <a:latin typeface="Arial"/>
              </a:rPr>
              <a:t>DS-04; BRD-5 p.45</a:t>
            </a:r>
          </a:p>
        </p:txBody>
      </p:sp>
      <p:sp>
        <p:nvSpPr>
          <p:cNvPr id="21" name="Oval 20"/>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GL entries by another unit</a:t>
            </a:r>
          </a:p>
          <a:p>
            <a:pPr>
              <a:spcAft>
                <a:spcPts val="100"/>
              </a:spcAft>
            </a:pPr>
            <a:r>
              <a:rPr sz="1200" b="0">
                <a:solidFill>
                  <a:srgbClr val="4B4B4B"/>
                </a:solidFill>
                <a:latin typeface="Arial"/>
              </a:rPr>
              <a:t>Signed documents go to FRBS, who enters the GL entry.</a:t>
            </a:r>
          </a:p>
          <a:p>
            <a:pPr>
              <a:spcAft>
                <a:spcPts val="100"/>
              </a:spcAft>
            </a:pPr>
            <a:r>
              <a:rPr sz="1200" b="0">
                <a:solidFill>
                  <a:srgbClr val="0072D8"/>
                </a:solidFill>
                <a:latin typeface="Arial"/>
              </a:rPr>
              <a:t>Disbursement flow; BRD-5 p.45</a:t>
            </a:r>
          </a:p>
        </p:txBody>
      </p:sp>
      <p:sp>
        <p:nvSpPr>
          <p:cNvPr id="23" name="Oval 22"/>
          <p:cNvSpPr/>
          <p:nvPr/>
        </p:nvSpPr>
        <p:spPr>
          <a:xfrm>
            <a:off x="6233007"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Government payments by hand</a:t>
            </a:r>
          </a:p>
          <a:p>
            <a:pPr>
              <a:spcAft>
                <a:spcPts val="100"/>
              </a:spcAft>
            </a:pPr>
            <a:r>
              <a:rPr sz="1200" b="0">
                <a:solidFill>
                  <a:srgbClr val="4B4B4B"/>
                </a:solidFill>
                <a:latin typeface="Arial"/>
              </a:rPr>
              <a:t>EFPS filing and BancNet payments with a 24-hour posting; websites watched.</a:t>
            </a:r>
          </a:p>
          <a:p>
            <a:pPr>
              <a:spcAft>
                <a:spcPts val="100"/>
              </a:spcAft>
            </a:pPr>
            <a:r>
              <a:rPr sz="1200" b="0">
                <a:solidFill>
                  <a:srgbClr val="0072D8"/>
                </a:solidFill>
                <a:latin typeface="Arial"/>
              </a:rPr>
              <a:t>Disbursement flow (government)</a:t>
            </a:r>
          </a:p>
        </p:txBody>
      </p:sp>
      <p:sp>
        <p:nvSpPr>
          <p:cNvPr id="25" name="Oval 24"/>
          <p:cNvSpPr/>
          <p:nvPr/>
        </p:nvSpPr>
        <p:spPr>
          <a:xfrm>
            <a:off x="6233007"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Reports prepared by IT</a:t>
            </a:r>
          </a:p>
          <a:p>
            <a:pPr>
              <a:spcAft>
                <a:spcPts val="100"/>
              </a:spcAft>
            </a:pPr>
            <a:r>
              <a:rPr sz="1200" b="0">
                <a:solidFill>
                  <a:srgbClr val="4B4B4B"/>
                </a:solidFill>
                <a:latin typeface="Arial"/>
              </a:rPr>
              <a:t>IT saves reports in a shared folder; business cannot run them.</a:t>
            </a:r>
          </a:p>
          <a:p>
            <a:pPr>
              <a:spcAft>
                <a:spcPts val="100"/>
              </a:spcAft>
            </a:pPr>
            <a:r>
              <a:rPr sz="1200" b="0">
                <a:solidFill>
                  <a:srgbClr val="0072D8"/>
                </a:solidFill>
                <a:latin typeface="Arial"/>
              </a:rPr>
              <a:t>FRBS flow; RP-01</a:t>
            </a:r>
          </a:p>
        </p:txBody>
      </p:sp>
      <p:sp>
        <p:nvSpPr>
          <p:cNvPr id="27" name="Oval 26"/>
          <p:cNvSpPr/>
          <p:nvPr/>
        </p:nvSpPr>
        <p:spPr>
          <a:xfrm>
            <a:off x="6233007"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10</a:t>
            </a:r>
          </a:p>
        </p:txBody>
      </p:sp>
      <p:sp>
        <p:nvSpPr>
          <p:cNvPr id="28" name="TextBox 27"/>
          <p:cNvSpPr txBox="1"/>
          <p:nvPr/>
        </p:nvSpPr>
        <p:spPr>
          <a:xfrm>
            <a:off x="6708495"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Reconciliation and journals by hand</a:t>
            </a:r>
          </a:p>
          <a:p>
            <a:pPr>
              <a:spcAft>
                <a:spcPts val="100"/>
              </a:spcAft>
            </a:pPr>
            <a:r>
              <a:rPr sz="1200" b="0">
                <a:solidFill>
                  <a:srgbClr val="4B4B4B"/>
                </a:solidFill>
                <a:latin typeface="Arial"/>
              </a:rPr>
              <a:t>Bank and insurer reconciliation and manual journals in Excel.</a:t>
            </a:r>
          </a:p>
          <a:p>
            <a:pPr>
              <a:spcAft>
                <a:spcPts val="100"/>
              </a:spcAft>
            </a:pPr>
            <a:r>
              <a:rPr sz="1200" b="0">
                <a:solidFill>
                  <a:srgbClr val="0072D8"/>
                </a:solidFill>
                <a:latin typeface="Arial"/>
              </a:rPr>
              <a:t>FRBS flow; RC-01</a:t>
            </a:r>
          </a:p>
        </p:txBody>
      </p:sp>
      <p:sp>
        <p:nvSpPr>
          <p:cNvPr id="29" name="Oval 28"/>
          <p:cNvSpPr/>
          <p:nvPr/>
        </p:nvSpPr>
        <p:spPr>
          <a:xfrm>
            <a:off x="6233007"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11</a:t>
            </a:r>
          </a:p>
        </p:txBody>
      </p:sp>
      <p:sp>
        <p:nvSpPr>
          <p:cNvPr id="30" name="TextBox 29"/>
          <p:cNvSpPr txBox="1"/>
          <p:nvPr/>
        </p:nvSpPr>
        <p:spPr>
          <a:xfrm>
            <a:off x="6708495"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needed to close</a:t>
            </a:r>
          </a:p>
          <a:p>
            <a:pPr>
              <a:spcAft>
                <a:spcPts val="100"/>
              </a:spcAft>
            </a:pPr>
            <a:r>
              <a:rPr sz="1200" b="0">
                <a:solidFill>
                  <a:srgbClr val="4B4B4B"/>
                </a:solidFill>
                <a:latin typeface="Arial"/>
              </a:rPr>
              <a:t>IT runs end-of-day, month and year and closes broking transactions.</a:t>
            </a:r>
          </a:p>
          <a:p>
            <a:pPr>
              <a:spcAft>
                <a:spcPts val="100"/>
              </a:spcAft>
            </a:pPr>
            <a:r>
              <a:rPr sz="1200" b="0">
                <a:solidFill>
                  <a:srgbClr val="0072D8"/>
                </a:solidFill>
                <a:latin typeface="Arial"/>
              </a:rPr>
              <a:t>FRBS flow; BRD-5 p.45</a:t>
            </a:r>
          </a:p>
        </p:txBody>
      </p:sp>
      <p:sp>
        <p:nvSpPr>
          <p:cNvPr id="31" name="Oval 30"/>
          <p:cNvSpPr/>
          <p:nvPr/>
        </p:nvSpPr>
        <p:spPr>
          <a:xfrm>
            <a:off x="6233007"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12</a:t>
            </a:r>
          </a:p>
        </p:txBody>
      </p:sp>
      <p:sp>
        <p:nvSpPr>
          <p:cNvPr id="32" name="TextBox 31"/>
          <p:cNvSpPr txBox="1"/>
          <p:nvPr/>
        </p:nvSpPr>
        <p:spPr>
          <a:xfrm>
            <a:off x="6708495"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Abnormal balances found by reading</a:t>
            </a:r>
          </a:p>
          <a:p>
            <a:pPr>
              <a:spcAft>
                <a:spcPts val="100"/>
              </a:spcAft>
            </a:pPr>
            <a:r>
              <a:rPr sz="1200" b="0">
                <a:solidFill>
                  <a:srgbClr val="4B4B4B"/>
                </a:solidFill>
                <a:latin typeface="Arial"/>
              </a:rPr>
              <a:t>ACSL scans IT reports; adjustments printed for review.</a:t>
            </a:r>
          </a:p>
          <a:p>
            <a:pPr>
              <a:spcAft>
                <a:spcPts val="100"/>
              </a:spcAft>
            </a:pPr>
            <a:r>
              <a:rPr sz="1200" b="0">
                <a:solidFill>
                  <a:srgbClr val="0072D8"/>
                </a:solidFill>
                <a:latin typeface="Arial"/>
              </a:rPr>
              <a:t>ACSL flow</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pic>
        <p:nvPicPr>
          <p:cNvPr id="9" name="Picture 8" descr="brd05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Disbursement, accounting and ACSL in BIBS (design ACCOUNTING_DISBURSEMENT_DESIGN; BRD-5 p.46-48)</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how the BRD answers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Refunds on paper, five chains</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RRF and RFP in the system with documents; approval routes them to Disbursement</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paper hand-over</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by e-mail and paper</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Requests from other modules, uploads and encoding in one intake</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request queue</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Payees kept in three places</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consolidated payee master for every mode (DIS 2.2.0-2.2.8)</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Payee kept once</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Three levels of wet signature</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Voucher and proforma entry by the system; verifier and approvers decide in the workflow</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E-approval</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File chain through IT and QPS</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Credit file and check printing from the same system; credited file uploaded back</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QPS step</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modes outside the system</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Seven payment modes with instrument life cycles and bank forms generated</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Mode recorded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how the BRD answers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GL entries by another unit</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Approval posts the entry to the GL and sub-ledger; unbalanced entries refused</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Entry at approval</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Government payments by hand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Payment to government is a disbursement class only; filing and confirmation not specified</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Gap: see next slides</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prepared by IT</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Users run input and output reports on demand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IT request</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10</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Reconciliation and journals by hand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Bank file matched on check number and amount; insurer statements reconciled per invoice</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Matching automated</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11</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needed to close</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Broking books close by a scheduled job; FRBS closes the period</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IT in the close</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12</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Abnormal balances found by reading</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Ageing with SL-GL difference; corrections through create, review, approve, post</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Posting on approval</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gaps in the BRD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Government remittances</a:t>
                      </a:r>
                    </a:p>
                  </a:txBody>
                  <a:tcPr marL="64008" marR="64008" marT="27432" marB="27432" anchor="ctr">
                    <a:solidFill>
                      <a:srgbClr val="FFFFFF"/>
                    </a:solidFill>
                  </a:tcPr>
                </a:tc>
                <a:tc>
                  <a:txBody>
                    <a:bodyPr wrap="square"/>
                    <a:lstStyle/>
                    <a:p>
                      <a:r>
                        <a:rPr sz="1100" b="0">
                          <a:solidFill>
                            <a:srgbClr val="4B4B4B"/>
                          </a:solidFill>
                          <a:latin typeface="Arial"/>
                        </a:rPr>
                        <a:t>EFPS for BIR; BancNet for SSS, Pag-IBIG, PhilHealth; 24-hour posting; websites watched.</a:t>
                      </a:r>
                    </a:p>
                  </a:txBody>
                  <a:tcPr marL="64008" marR="64008" marT="27432" marB="27432" anchor="ctr">
                    <a:solidFill>
                      <a:srgbClr val="FFFFFF"/>
                    </a:solidFill>
                  </a:tcPr>
                </a:tc>
                <a:tc>
                  <a:txBody>
                    <a:bodyPr wrap="square"/>
                    <a:lstStyle/>
                    <a:p>
                      <a:r>
                        <a:rPr sz="1100" b="0">
                          <a:solidFill>
                            <a:srgbClr val="4B4B4B"/>
                          </a:solidFill>
                          <a:latin typeface="Arial"/>
                        </a:rPr>
                        <a:t>A disbursement class only (DIS 3.25.1).</a:t>
                      </a:r>
                    </a:p>
                  </a:txBody>
                  <a:tcPr marL="64008" marR="64008" marT="27432" marB="27432" anchor="ctr">
                    <a:solidFill>
                      <a:srgbClr val="FFFFFF"/>
                    </a:solidFill>
                  </a:tcPr>
                </a:tc>
                <a:tc>
                  <a:txBody>
                    <a:bodyPr wrap="square"/>
                    <a:lstStyle/>
                    <a:p>
                      <a:r>
                        <a:rPr sz="1100" b="0">
                          <a:solidFill>
                            <a:srgbClr val="4B4B4B"/>
                          </a:solidFill>
                          <a:latin typeface="Arial"/>
                        </a:rPr>
                        <a:t>Tax and contribution calendar, filing reference and payment confirmation captured on the voucher.</a:t>
                      </a:r>
                    </a:p>
                  </a:txBody>
                  <a:tcPr marL="64008" marR="64008" marT="27432" marB="27432" anchor="ctr">
                    <a:solidFill>
                      <a:srgbClr val="FFFFFF"/>
                    </a:solidFill>
                  </a:tcPr>
                </a:tc>
                <a:tc>
                  <a:txBody>
                    <a:bodyPr wrap="square"/>
                    <a:lstStyle/>
                    <a:p>
                      <a:r>
                        <a:rPr sz="1100" b="0">
                          <a:solidFill>
                            <a:srgbClr val="4B4B4B"/>
                          </a:solidFill>
                          <a:latin typeface="Arial"/>
                        </a:rPr>
                        <a:t>Disbursement flow</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Delegation of authority</a:t>
                      </a:r>
                    </a:p>
                  </a:txBody>
                  <a:tcPr marL="64008" marR="64008" marT="27432" marB="27432" anchor="ctr">
                    <a:solidFill>
                      <a:srgbClr val="E5F5FF"/>
                    </a:solidFill>
                  </a:tcPr>
                </a:tc>
                <a:tc>
                  <a:txBody>
                    <a:bodyPr wrap="square"/>
                    <a:lstStyle/>
                    <a:p>
                      <a:r>
                        <a:rPr sz="1100" b="0">
                          <a:solidFill>
                            <a:srgbClr val="4B4B4B"/>
                          </a:solidFill>
                          <a:latin typeface="Arial"/>
                        </a:rPr>
                        <a:t>DTL, DSH, DUH; second DTL for online banking.</a:t>
                      </a:r>
                    </a:p>
                  </a:txBody>
                  <a:tcPr marL="64008" marR="64008" marT="27432" marB="27432" anchor="ctr">
                    <a:solidFill>
                      <a:srgbClr val="E5F5FF"/>
                    </a:solidFill>
                  </a:tcPr>
                </a:tc>
                <a:tc>
                  <a:txBody>
                    <a:bodyPr wrap="square"/>
                    <a:lstStyle/>
                    <a:p>
                      <a:r>
                        <a:rPr sz="1100" b="0">
                          <a:solidFill>
                            <a:srgbClr val="4B4B4B"/>
                          </a:solidFill>
                          <a:latin typeface="Arial"/>
                        </a:rPr>
                        <a:t>Single approver (DIS 2.19) or verifier plus two for funding.</a:t>
                      </a:r>
                    </a:p>
                  </a:txBody>
                  <a:tcPr marL="64008" marR="64008" marT="27432" marB="27432" anchor="ctr">
                    <a:solidFill>
                      <a:srgbClr val="E5F5FF"/>
                    </a:solidFill>
                  </a:tcPr>
                </a:tc>
                <a:tc>
                  <a:txBody>
                    <a:bodyPr wrap="square"/>
                    <a:lstStyle/>
                    <a:p>
                      <a:r>
                        <a:rPr sz="1100" b="0">
                          <a:solidFill>
                            <a:srgbClr val="4B4B4B"/>
                          </a:solidFill>
                          <a:latin typeface="Arial"/>
                        </a:rPr>
                        <a:t>Approval matrix by amount and payment type, all in the workflow.</a:t>
                      </a:r>
                    </a:p>
                  </a:txBody>
                  <a:tcPr marL="64008" marR="64008" marT="27432" marB="27432" anchor="ctr">
                    <a:solidFill>
                      <a:srgbClr val="E5F5FF"/>
                    </a:solidFill>
                  </a:tcPr>
                </a:tc>
                <a:tc>
                  <a:txBody>
                    <a:bodyPr wrap="square"/>
                    <a:lstStyle/>
                    <a:p>
                      <a:r>
                        <a:rPr sz="1100" b="0">
                          <a:solidFill>
                            <a:srgbClr val="4B4B4B"/>
                          </a:solidFill>
                          <a:latin typeface="Arial"/>
                        </a:rPr>
                        <a:t>DS-01; AQ28</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Refund routing per segment</a:t>
                      </a:r>
                    </a:p>
                  </a:txBody>
                  <a:tcPr marL="64008" marR="64008" marT="27432" marB="27432" anchor="ctr">
                    <a:solidFill>
                      <a:srgbClr val="FFFFFF"/>
                    </a:solidFill>
                  </a:tcPr>
                </a:tc>
                <a:tc>
                  <a:txBody>
                    <a:bodyPr wrap="square"/>
                    <a:lstStyle/>
                    <a:p>
                      <a:r>
                        <a:rPr sz="1100" b="0">
                          <a:solidFill>
                            <a:srgbClr val="4B4B4B"/>
                          </a:solidFill>
                          <a:latin typeface="Arial"/>
                        </a:rPr>
                        <a:t>Five chains of 3-6 approvers.</a:t>
                      </a:r>
                    </a:p>
                  </a:txBody>
                  <a:tcPr marL="64008" marR="64008" marT="27432" marB="27432" anchor="ctr">
                    <a:solidFill>
                      <a:srgbClr val="FFFFFF"/>
                    </a:solidFill>
                  </a:tcPr>
                </a:tc>
                <a:tc>
                  <a:txBody>
                    <a:bodyPr wrap="square"/>
                    <a:lstStyle/>
                    <a:p>
                      <a:r>
                        <a:rPr sz="1100" b="0">
                          <a:solidFill>
                            <a:srgbClr val="4B4B4B"/>
                          </a:solidFill>
                          <a:latin typeface="Arial"/>
                        </a:rPr>
                        <a:t>Refund approval generic (MKT 1.14-1.16).</a:t>
                      </a:r>
                    </a:p>
                  </a:txBody>
                  <a:tcPr marL="64008" marR="64008" marT="27432" marB="27432" anchor="ctr">
                    <a:solidFill>
                      <a:srgbClr val="FFFFFF"/>
                    </a:solidFill>
                  </a:tcPr>
                </a:tc>
                <a:tc>
                  <a:txBody>
                    <a:bodyPr wrap="square"/>
                    <a:lstStyle/>
                    <a:p>
                      <a:r>
                        <a:rPr sz="1100" b="0">
                          <a:solidFill>
                            <a:srgbClr val="4B4B4B"/>
                          </a:solidFill>
                          <a:latin typeface="Arial"/>
                        </a:rPr>
                        <a:t>Configure routing by segment; aim for two levels.</a:t>
                      </a:r>
                    </a:p>
                  </a:txBody>
                  <a:tcPr marL="64008" marR="64008" marT="27432" marB="27432" anchor="ctr">
                    <a:solidFill>
                      <a:srgbClr val="FFFFFF"/>
                    </a:solidFill>
                  </a:tcPr>
                </a:tc>
                <a:tc>
                  <a:txBody>
                    <a:bodyPr wrap="square"/>
                    <a:lstStyle/>
                    <a:p>
                      <a:r>
                        <a:rPr sz="1100" b="0">
                          <a:solidFill>
                            <a:srgbClr val="4B4B4B"/>
                          </a:solidFill>
                          <a:latin typeface="Arial"/>
                        </a:rPr>
                        <a:t>Refund flow; AQ18</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Payee bank details</a:t>
                      </a:r>
                    </a:p>
                  </a:txBody>
                  <a:tcPr marL="64008" marR="64008" marT="27432" marB="27432" anchor="ctr">
                    <a:solidFill>
                      <a:srgbClr val="E5F5FF"/>
                    </a:solidFill>
                  </a:tcPr>
                </a:tc>
                <a:tc>
                  <a:txBody>
                    <a:bodyPr wrap="square"/>
                    <a:lstStyle/>
                    <a:p>
                      <a:r>
                        <a:rPr sz="1100" b="0">
                          <a:solidFill>
                            <a:srgbClr val="4B4B4B"/>
                          </a:solidFill>
                          <a:latin typeface="Arial"/>
                        </a:rPr>
                        <a:t>Bank confirms the account name; same name as depositor?</a:t>
                      </a:r>
                    </a:p>
                  </a:txBody>
                  <a:tcPr marL="64008" marR="64008" marT="27432" marB="27432" anchor="ctr">
                    <a:solidFill>
                      <a:srgbClr val="E5F5FF"/>
                    </a:solidFill>
                  </a:tcPr>
                </a:tc>
                <a:tc>
                  <a:txBody>
                    <a:bodyPr wrap="square"/>
                    <a:lstStyle/>
                    <a:p>
                      <a:r>
                        <a:rPr sz="1100" b="0">
                          <a:solidFill>
                            <a:srgbClr val="4B4B4B"/>
                          </a:solidFill>
                          <a:latin typeface="Arial"/>
                        </a:rPr>
                        <a:t>Duplicate check only; validation open.</a:t>
                      </a:r>
                    </a:p>
                  </a:txBody>
                  <a:tcPr marL="64008" marR="64008" marT="27432" marB="27432" anchor="ctr">
                    <a:solidFill>
                      <a:srgbClr val="E5F5FF"/>
                    </a:solidFill>
                  </a:tcPr>
                </a:tc>
                <a:tc>
                  <a:txBody>
                    <a:bodyPr wrap="square"/>
                    <a:lstStyle/>
                    <a:p>
                      <a:r>
                        <a:rPr sz="1100" b="0">
                          <a:solidFill>
                            <a:srgbClr val="4B4B4B"/>
                          </a:solidFill>
                          <a:latin typeface="Arial"/>
                        </a:rPr>
                        <a:t>Name match, dual control on bank-detail changes.</a:t>
                      </a:r>
                    </a:p>
                  </a:txBody>
                  <a:tcPr marL="64008" marR="64008" marT="27432" marB="27432" anchor="ctr">
                    <a:solidFill>
                      <a:srgbClr val="E5F5FF"/>
                    </a:solidFill>
                  </a:tcPr>
                </a:tc>
                <a:tc>
                  <a:txBody>
                    <a:bodyPr wrap="square"/>
                    <a:lstStyle/>
                    <a:p>
                      <a:r>
                        <a:rPr sz="1100" b="0">
                          <a:solidFill>
                            <a:srgbClr val="4B4B4B"/>
                          </a:solidFill>
                          <a:latin typeface="Arial"/>
                        </a:rPr>
                        <a:t>AQ11, AQ19</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WHT rate on commission</a:t>
                      </a:r>
                    </a:p>
                  </a:txBody>
                  <a:tcPr marL="64008" marR="64008" marT="27432" marB="27432" anchor="ctr">
                    <a:solidFill>
                      <a:srgbClr val="FFFFFF"/>
                    </a:solidFill>
                  </a:tcPr>
                </a:tc>
                <a:tc>
                  <a:txBody>
                    <a:bodyPr wrap="square"/>
                    <a:lstStyle/>
                    <a:p>
                      <a:r>
                        <a:rPr sz="1100" b="0">
                          <a:solidFill>
                            <a:srgbClr val="4B4B4B"/>
                          </a:solidFill>
                          <a:latin typeface="Arial"/>
                        </a:rPr>
                        <a:t>15% at remittance.</a:t>
                      </a:r>
                    </a:p>
                  </a:txBody>
                  <a:tcPr marL="64008" marR="64008" marT="27432" marB="27432" anchor="ctr">
                    <a:solidFill>
                      <a:srgbClr val="FFFFFF"/>
                    </a:solidFill>
                  </a:tcPr>
                </a:tc>
                <a:tc>
                  <a:txBody>
                    <a:bodyPr wrap="square"/>
                    <a:lstStyle/>
                    <a:p>
                      <a:r>
                        <a:rPr sz="1100" b="0">
                          <a:solidFill>
                            <a:srgbClr val="4B4B4B"/>
                          </a:solidFill>
                          <a:latin typeface="Arial"/>
                        </a:rPr>
                        <a:t>WTAX column; rate not stated.</a:t>
                      </a:r>
                    </a:p>
                  </a:txBody>
                  <a:tcPr marL="64008" marR="64008" marT="27432" marB="27432" anchor="ctr">
                    <a:solidFill>
                      <a:srgbClr val="FFFFFF"/>
                    </a:solidFill>
                  </a:tcPr>
                </a:tc>
                <a:tc>
                  <a:txBody>
                    <a:bodyPr wrap="square"/>
                    <a:lstStyle/>
                    <a:p>
                      <a:r>
                        <a:rPr sz="1100" b="0">
                          <a:solidFill>
                            <a:srgbClr val="4B4B4B"/>
                          </a:solidFill>
                          <a:latin typeface="Arial"/>
                        </a:rPr>
                        <a:t>Tax table by payee class (ATC) and rate.</a:t>
                      </a:r>
                    </a:p>
                  </a:txBody>
                  <a:tcPr marL="64008" marR="64008" marT="27432" marB="27432" anchor="ctr">
                    <a:solidFill>
                      <a:srgbClr val="FFFFFF"/>
                    </a:solidFill>
                  </a:tcPr>
                </a:tc>
                <a:tc>
                  <a:txBody>
                    <a:bodyPr wrap="square"/>
                    <a:lstStyle/>
                    <a:p>
                      <a:r>
                        <a:rPr sz="1100" b="0">
                          <a:solidFill>
                            <a:srgbClr val="4B4B4B"/>
                          </a:solidFill>
                          <a:latin typeface="Arial"/>
                        </a:rPr>
                        <a:t>TX-01</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Tax by income type</a:t>
                      </a:r>
                    </a:p>
                  </a:txBody>
                  <a:tcPr marL="64008" marR="64008" marT="27432" marB="27432" anchor="ctr">
                    <a:solidFill>
                      <a:srgbClr val="E5F5FF"/>
                    </a:solidFill>
                  </a:tcPr>
                </a:tc>
                <a:tc>
                  <a:txBody>
                    <a:bodyPr wrap="square"/>
                    <a:lstStyle/>
                    <a:p>
                      <a:r>
                        <a:rPr sz="1100" b="0">
                          <a:solidFill>
                            <a:srgbClr val="4B4B4B"/>
                          </a:solidFill>
                          <a:latin typeface="Arial"/>
                        </a:rPr>
                        <a:t>WHT differs by income type; VAT applies.</a:t>
                      </a:r>
                    </a:p>
                  </a:txBody>
                  <a:tcPr marL="64008" marR="64008" marT="27432" marB="27432" anchor="ctr">
                    <a:solidFill>
                      <a:srgbClr val="E5F5FF"/>
                    </a:solidFill>
                  </a:tcPr>
                </a:tc>
                <a:tc>
                  <a:txBody>
                    <a:bodyPr wrap="square"/>
                    <a:lstStyle/>
                    <a:p>
                      <a:r>
                        <a:rPr sz="1100" b="0">
                          <a:solidFill>
                            <a:srgbClr val="4B4B4B"/>
                          </a:solidFill>
                          <a:latin typeface="Arial"/>
                        </a:rPr>
                        <a:t>OR types with VAT and WTAX; no matrix.</a:t>
                      </a:r>
                    </a:p>
                  </a:txBody>
                  <a:tcPr marL="64008" marR="64008" marT="27432" marB="27432" anchor="ctr">
                    <a:solidFill>
                      <a:srgbClr val="E5F5FF"/>
                    </a:solidFill>
                  </a:tcPr>
                </a:tc>
                <a:tc>
                  <a:txBody>
                    <a:bodyPr wrap="square"/>
                    <a:lstStyle/>
                    <a:p>
                      <a:r>
                        <a:rPr sz="1100" b="0">
                          <a:solidFill>
                            <a:srgbClr val="4B4B4B"/>
                          </a:solidFill>
                          <a:latin typeface="Arial"/>
                        </a:rPr>
                        <a:t>Income-type matrix (ATC, WHT, VAT) driving the service invoice.</a:t>
                      </a:r>
                    </a:p>
                  </a:txBody>
                  <a:tcPr marL="64008" marR="64008" marT="27432" marB="27432" anchor="ctr">
                    <a:solidFill>
                      <a:srgbClr val="E5F5FF"/>
                    </a:solidFill>
                  </a:tcPr>
                </a:tc>
                <a:tc>
                  <a:txBody>
                    <a:bodyPr wrap="square"/>
                    <a:lstStyle/>
                    <a:p>
                      <a:r>
                        <a:rPr sz="1100" b="0">
                          <a:solidFill>
                            <a:srgbClr val="4B4B4B"/>
                          </a:solidFill>
                          <a:latin typeface="Arial"/>
                        </a:rPr>
                        <a:t>OI-02</a:t>
                      </a:r>
                    </a:p>
                  </a:txBody>
                  <a:tcPr marL="64008" marR="64008" marT="27432" marB="27432" anchor="ctr">
                    <a:solidFill>
                      <a:srgbClr val="E5F5FF"/>
                    </a:solidFill>
                  </a:tcPr>
                </a:tc>
              </a:tr>
            </a:tbl>
          </a:graphicData>
        </a:graphic>
      </p:graphicFrame>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gaps in the BRD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Referral fees</a:t>
                      </a:r>
                    </a:p>
                  </a:txBody>
                  <a:tcPr marL="64008" marR="64008" marT="27432" marB="27432" anchor="ctr">
                    <a:solidFill>
                      <a:srgbClr val="FFFFFF"/>
                    </a:solidFill>
                  </a:tcPr>
                </a:tc>
                <a:tc>
                  <a:txBody>
                    <a:bodyPr wrap="square"/>
                    <a:lstStyle/>
                    <a:p>
                      <a:r>
                        <a:rPr sz="1100" b="0">
                          <a:solidFill>
                            <a:srgbClr val="4B4B4B"/>
                          </a:solidFill>
                          <a:latin typeface="Arial"/>
                        </a:rPr>
                        <a:t>Credited from an Excel list.</a:t>
                      </a:r>
                    </a:p>
                  </a:txBody>
                  <a:tcPr marL="64008" marR="64008" marT="27432" marB="27432" anchor="ctr">
                    <a:solidFill>
                      <a:srgbClr val="FFFFFF"/>
                    </a:solidFill>
                  </a:tcPr>
                </a:tc>
                <a:tc>
                  <a:txBody>
                    <a:bodyPr wrap="square"/>
                    <a:lstStyle/>
                    <a:p>
                      <a:r>
                        <a:rPr sz="1100" b="0">
                          <a:solidFill>
                            <a:srgbClr val="4B4B4B"/>
                          </a:solidFill>
                          <a:latin typeface="Arial"/>
                        </a:rPr>
                        <a:t>Service-fee monitoring (FRBS 2.10); no referrer master.</a:t>
                      </a:r>
                    </a:p>
                  </a:txBody>
                  <a:tcPr marL="64008" marR="64008" marT="27432" marB="27432" anchor="ctr">
                    <a:solidFill>
                      <a:srgbClr val="FFFFFF"/>
                    </a:solidFill>
                  </a:tcPr>
                </a:tc>
                <a:tc>
                  <a:txBody>
                    <a:bodyPr wrap="square"/>
                    <a:lstStyle/>
                    <a:p>
                      <a:r>
                        <a:rPr sz="1100" b="0">
                          <a:solidFill>
                            <a:srgbClr val="4B4B4B"/>
                          </a:solidFill>
                          <a:latin typeface="Arial"/>
                        </a:rPr>
                        <a:t>Referrer master, computation, payout and 2307.</a:t>
                      </a:r>
                    </a:p>
                  </a:txBody>
                  <a:tcPr marL="64008" marR="64008" marT="27432" marB="27432" anchor="ctr">
                    <a:solidFill>
                      <a:srgbClr val="FFFFFF"/>
                    </a:solidFill>
                  </a:tcPr>
                </a:tc>
                <a:tc>
                  <a:txBody>
                    <a:bodyPr wrap="square"/>
                    <a:lstStyle/>
                    <a:p>
                      <a:r>
                        <a:rPr sz="1100" b="0">
                          <a:solidFill>
                            <a:srgbClr val="4B4B4B"/>
                          </a:solidFill>
                          <a:latin typeface="Arial"/>
                        </a:rPr>
                        <a:t>OI-03; AQ20</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Profit and cost centres</a:t>
                      </a:r>
                    </a:p>
                  </a:txBody>
                  <a:tcPr marL="64008" marR="64008" marT="27432" marB="27432" anchor="ctr">
                    <a:solidFill>
                      <a:srgbClr val="E5F5FF"/>
                    </a:solidFill>
                  </a:tcPr>
                </a:tc>
                <a:tc>
                  <a:txBody>
                    <a:bodyPr wrap="square"/>
                    <a:lstStyle/>
                    <a:p>
                      <a:r>
                        <a:rPr sz="1100" b="0">
                          <a:solidFill>
                            <a:srgbClr val="4B4B4B"/>
                          </a:solidFill>
                          <a:latin typeface="Arial"/>
                        </a:rPr>
                        <a:t>8 branches to map.</a:t>
                      </a:r>
                    </a:p>
                  </a:txBody>
                  <a:tcPr marL="64008" marR="64008" marT="27432" marB="27432" anchor="ctr">
                    <a:solidFill>
                      <a:srgbClr val="E5F5FF"/>
                    </a:solidFill>
                  </a:tcPr>
                </a:tc>
                <a:tc>
                  <a:txBody>
                    <a:bodyPr wrap="square"/>
                    <a:lstStyle/>
                    <a:p>
                      <a:r>
                        <a:rPr sz="1100" b="0">
                          <a:solidFill>
                            <a:srgbClr val="4B4B4B"/>
                          </a:solidFill>
                          <a:latin typeface="Arial"/>
                        </a:rPr>
                        <a:t>Cost-centre rules (FRBS 3.1.1); profit centre has no BRD.</a:t>
                      </a:r>
                    </a:p>
                  </a:txBody>
                  <a:tcPr marL="64008" marR="64008" marT="27432" marB="27432" anchor="ctr">
                    <a:solidFill>
                      <a:srgbClr val="E5F5FF"/>
                    </a:solidFill>
                  </a:tcPr>
                </a:tc>
                <a:tc>
                  <a:txBody>
                    <a:bodyPr wrap="square"/>
                    <a:lstStyle/>
                    <a:p>
                      <a:r>
                        <a:rPr sz="1100" b="0">
                          <a:solidFill>
                            <a:srgbClr val="4B4B4B"/>
                          </a:solidFill>
                          <a:latin typeface="Arial"/>
                        </a:rPr>
                        <a:t>Profit and cost centre on every entry, mapped per branch.</a:t>
                      </a:r>
                    </a:p>
                  </a:txBody>
                  <a:tcPr marL="64008" marR="64008" marT="27432" marB="27432" anchor="ctr">
                    <a:solidFill>
                      <a:srgbClr val="E5F5FF"/>
                    </a:solidFill>
                  </a:tcPr>
                </a:tc>
                <a:tc>
                  <a:txBody>
                    <a:bodyPr wrap="square"/>
                    <a:lstStyle/>
                    <a:p>
                      <a:r>
                        <a:rPr sz="1100" b="0">
                          <a:solidFill>
                            <a:srgbClr val="4B4B4B"/>
                          </a:solidFill>
                          <a:latin typeface="Arial"/>
                        </a:rPr>
                        <a:t>FN-01; AQ26</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Remittance entries</a:t>
                      </a:r>
                    </a:p>
                  </a:txBody>
                  <a:tcPr marL="64008" marR="64008" marT="27432" marB="27432" anchor="ctr">
                    <a:solidFill>
                      <a:srgbClr val="FFFFFF"/>
                    </a:solidFill>
                  </a:tcPr>
                </a:tc>
                <a:tc>
                  <a:txBody>
                    <a:bodyPr wrap="square"/>
                    <a:lstStyle/>
                    <a:p>
                      <a:r>
                        <a:rPr sz="1100" b="0">
                          <a:solidFill>
                            <a:srgbClr val="4B4B4B"/>
                          </a:solidFill>
                          <a:latin typeface="Arial"/>
                        </a:rPr>
                        <a:t>Want Dr Cash in Bank / Cr Insurer directly.</a:t>
                      </a:r>
                    </a:p>
                  </a:txBody>
                  <a:tcPr marL="64008" marR="64008" marT="27432" marB="27432" anchor="ctr">
                    <a:solidFill>
                      <a:srgbClr val="FFFFFF"/>
                    </a:solidFill>
                  </a:tcPr>
                </a:tc>
                <a:tc>
                  <a:txBody>
                    <a:bodyPr wrap="square"/>
                    <a:lstStyle/>
                    <a:p>
                      <a:r>
                        <a:rPr sz="1100" b="0">
                          <a:solidFill>
                            <a:srgbClr val="4B4B4B"/>
                          </a:solidFill>
                          <a:latin typeface="Arial"/>
                        </a:rPr>
                        <a:t>Entries per voucher type not given.</a:t>
                      </a:r>
                    </a:p>
                  </a:txBody>
                  <a:tcPr marL="64008" marR="64008" marT="27432" marB="27432" anchor="ctr">
                    <a:solidFill>
                      <a:srgbClr val="FFFFFF"/>
                    </a:solidFill>
                  </a:tcPr>
                </a:tc>
                <a:tc>
                  <a:txBody>
                    <a:bodyPr wrap="square"/>
                    <a:lstStyle/>
                    <a:p>
                      <a:r>
                        <a:rPr sz="1100" b="0">
                          <a:solidFill>
                            <a:srgbClr val="4B4B4B"/>
                          </a:solidFill>
                          <a:latin typeface="Arial"/>
                        </a:rPr>
                        <a:t>Give the entries per voucher type.</a:t>
                      </a:r>
                    </a:p>
                  </a:txBody>
                  <a:tcPr marL="64008" marR="64008" marT="27432" marB="27432" anchor="ctr">
                    <a:solidFill>
                      <a:srgbClr val="FFFFFF"/>
                    </a:solidFill>
                  </a:tcPr>
                </a:tc>
                <a:tc>
                  <a:txBody>
                    <a:bodyPr wrap="square"/>
                    <a:lstStyle/>
                    <a:p>
                      <a:r>
                        <a:rPr sz="1100" b="0">
                          <a:solidFill>
                            <a:srgbClr val="4B4B4B"/>
                          </a:solidFill>
                          <a:latin typeface="Arial"/>
                        </a:rPr>
                        <a:t>DS-05; AQ02</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Abnormal balances</a:t>
                      </a:r>
                    </a:p>
                  </a:txBody>
                  <a:tcPr marL="64008" marR="64008" marT="27432" marB="27432" anchor="ctr">
                    <a:solidFill>
                      <a:srgbClr val="E5F5FF"/>
                    </a:solidFill>
                  </a:tcPr>
                </a:tc>
                <a:tc>
                  <a:txBody>
                    <a:bodyPr wrap="square"/>
                    <a:lstStyle/>
                    <a:p>
                      <a:r>
                        <a:rPr sz="1100" b="0">
                          <a:solidFill>
                            <a:srgbClr val="4B4B4B"/>
                          </a:solidFill>
                          <a:latin typeface="Arial"/>
                        </a:rPr>
                        <a:t>Found by reading IT reports.</a:t>
                      </a:r>
                    </a:p>
                  </a:txBody>
                  <a:tcPr marL="64008" marR="64008" marT="27432" marB="27432" anchor="ctr">
                    <a:solidFill>
                      <a:srgbClr val="E5F5FF"/>
                    </a:solidFill>
                  </a:tcPr>
                </a:tc>
                <a:tc>
                  <a:txBody>
                    <a:bodyPr wrap="square"/>
                    <a:lstStyle/>
                    <a:p>
                      <a:r>
                        <a:rPr sz="1100" b="0">
                          <a:solidFill>
                            <a:srgbClr val="4B4B4B"/>
                          </a:solidFill>
                          <a:latin typeface="Arial"/>
                        </a:rPr>
                        <a:t>Ageing with SL-GL difference only.</a:t>
                      </a:r>
                    </a:p>
                  </a:txBody>
                  <a:tcPr marL="64008" marR="64008" marT="27432" marB="27432" anchor="ctr">
                    <a:solidFill>
                      <a:srgbClr val="E5F5FF"/>
                    </a:solidFill>
                  </a:tcPr>
                </a:tc>
                <a:tc>
                  <a:txBody>
                    <a:bodyPr wrap="square"/>
                    <a:lstStyle/>
                    <a:p>
                      <a:r>
                        <a:rPr sz="1100" b="0">
                          <a:solidFill>
                            <a:srgbClr val="4B4B4B"/>
                          </a:solidFill>
                          <a:latin typeface="Arial"/>
                        </a:rPr>
                        <a:t>Rule-based exception queue for ACSL.</a:t>
                      </a:r>
                    </a:p>
                  </a:txBody>
                  <a:tcPr marL="64008" marR="64008" marT="27432" marB="27432" anchor="ctr">
                    <a:solidFill>
                      <a:srgbClr val="E5F5FF"/>
                    </a:solidFill>
                  </a:tcPr>
                </a:tc>
                <a:tc>
                  <a:txBody>
                    <a:bodyPr wrap="square"/>
                    <a:lstStyle/>
                    <a:p>
                      <a:r>
                        <a:rPr sz="1100" b="0">
                          <a:solidFill>
                            <a:srgbClr val="4B4B4B"/>
                          </a:solidFill>
                          <a:latin typeface="Arial"/>
                        </a:rPr>
                        <a:t>ACSL flow; AQ30</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Self-service reports</a:t>
                      </a:r>
                    </a:p>
                  </a:txBody>
                  <a:tcPr marL="64008" marR="64008" marT="27432" marB="27432" anchor="ctr">
                    <a:solidFill>
                      <a:srgbClr val="FFFFFF"/>
                    </a:solidFill>
                  </a:tcPr>
                </a:tc>
                <a:tc>
                  <a:txBody>
                    <a:bodyPr wrap="square"/>
                    <a:lstStyle/>
                    <a:p>
                      <a:r>
                        <a:rPr sz="1100" b="0">
                          <a:solidFill>
                            <a:srgbClr val="4B4B4B"/>
                          </a:solidFill>
                          <a:latin typeface="Arial"/>
                        </a:rPr>
                        <a:t>Reports need IT (RP-01).</a:t>
                      </a:r>
                    </a:p>
                  </a:txBody>
                  <a:tcPr marL="64008" marR="64008" marT="27432" marB="27432" anchor="ctr">
                    <a:solidFill>
                      <a:srgbClr val="FFFFFF"/>
                    </a:solidFill>
                  </a:tcPr>
                </a:tc>
                <a:tc>
                  <a:txBody>
                    <a:bodyPr wrap="square"/>
                    <a:lstStyle/>
                    <a:p>
                      <a:r>
                        <a:rPr sz="1100" b="0">
                          <a:solidFill>
                            <a:srgbClr val="4B4B4B"/>
                          </a:solidFill>
                          <a:latin typeface="Arial"/>
                        </a:rPr>
                        <a:t>Standard reports on demand; ad-hoc builder parked.</a:t>
                      </a:r>
                    </a:p>
                  </a:txBody>
                  <a:tcPr marL="64008" marR="64008" marT="27432" marB="27432" anchor="ctr">
                    <a:solidFill>
                      <a:srgbClr val="FFFFFF"/>
                    </a:solidFill>
                  </a:tcPr>
                </a:tc>
                <a:tc>
                  <a:txBody>
                    <a:bodyPr wrap="square"/>
                    <a:lstStyle/>
                    <a:p>
                      <a:r>
                        <a:rPr sz="1100" b="0">
                          <a:solidFill>
                            <a:srgbClr val="4B4B4B"/>
                          </a:solidFill>
                          <a:latin typeface="Arial"/>
                        </a:rPr>
                        <a:t>Governed report builder after go-live.</a:t>
                      </a:r>
                    </a:p>
                  </a:txBody>
                  <a:tcPr marL="64008" marR="64008" marT="27432" marB="27432" anchor="ctr">
                    <a:solidFill>
                      <a:srgbClr val="FFFFFF"/>
                    </a:solidFill>
                  </a:tcPr>
                </a:tc>
                <a:tc>
                  <a:txBody>
                    <a:bodyPr wrap="square"/>
                    <a:lstStyle/>
                    <a:p>
                      <a:r>
                        <a:rPr sz="1100" b="0">
                          <a:solidFill>
                            <a:srgbClr val="4B4B4B"/>
                          </a:solidFill>
                          <a:latin typeface="Arial"/>
                        </a:rPr>
                        <a:t>RP-01; CRQ11</a:t>
                      </a:r>
                    </a:p>
                  </a:txBody>
                  <a:tcPr marL="64008" marR="64008" marT="27432" marB="27432" anchor="ctr">
                    <a:solidFill>
                      <a:srgbClr val="FFFF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BIR books and VAT return</a:t>
                      </a:r>
                    </a:p>
                  </a:txBody>
                  <a:tcPr marL="64008" marR="64008" marT="27432" marB="27432" anchor="ctr">
                    <a:solidFill>
                      <a:srgbClr val="E5F5FF"/>
                    </a:solidFill>
                  </a:tcPr>
                </a:tc>
                <a:tc>
                  <a:txBody>
                    <a:bodyPr wrap="square"/>
                    <a:lstStyle/>
                    <a:p>
                      <a:r>
                        <a:rPr sz="1100" b="0">
                          <a:solidFill>
                            <a:srgbClr val="4B4B4B"/>
                          </a:solidFill>
                          <a:latin typeface="Arial"/>
                        </a:rPr>
                        <a:t>Monthly BIR reports; VAT quarterly.</a:t>
                      </a:r>
                    </a:p>
                  </a:txBody>
                  <a:tcPr marL="64008" marR="64008" marT="27432" marB="27432" anchor="ctr">
                    <a:solidFill>
                      <a:srgbClr val="E5F5FF"/>
                    </a:solidFill>
                  </a:tcPr>
                </a:tc>
                <a:tc>
                  <a:txBody>
                    <a:bodyPr wrap="square"/>
                    <a:lstStyle/>
                    <a:p>
                      <a:r>
                        <a:rPr sz="1100" b="0">
                          <a:solidFill>
                            <a:srgbClr val="4B4B4B"/>
                          </a:solidFill>
                          <a:latin typeface="Arial"/>
                        </a:rPr>
                        <a:t>Books format open; monthly VAT return still listed.</a:t>
                      </a:r>
                    </a:p>
                  </a:txBody>
                  <a:tcPr marL="64008" marR="64008" marT="27432" marB="27432" anchor="ctr">
                    <a:solidFill>
                      <a:srgbClr val="E5F5FF"/>
                    </a:solidFill>
                  </a:tcPr>
                </a:tc>
                <a:tc>
                  <a:txBody>
                    <a:bodyPr wrap="square"/>
                    <a:lstStyle/>
                    <a:p>
                      <a:r>
                        <a:rPr sz="1100" b="0">
                          <a:solidFill>
                            <a:srgbClr val="4B4B4B"/>
                          </a:solidFill>
                          <a:latin typeface="Arial"/>
                        </a:rPr>
                        <a:t>Confirm CAS format and drop the monthly VAT return.</a:t>
                      </a:r>
                    </a:p>
                  </a:txBody>
                  <a:tcPr marL="64008" marR="64008" marT="27432" marB="27432" anchor="ctr">
                    <a:solidFill>
                      <a:srgbClr val="E5F5FF"/>
                    </a:solidFill>
                  </a:tcPr>
                </a:tc>
                <a:tc>
                  <a:txBody>
                    <a:bodyPr wrap="square"/>
                    <a:lstStyle/>
                    <a:p>
                      <a:r>
                        <a:rPr sz="1100" b="0">
                          <a:solidFill>
                            <a:srgbClr val="4B4B4B"/>
                          </a:solidFill>
                          <a:latin typeface="Arial"/>
                        </a:rPr>
                        <a:t>TX-04, TX-05; AQ07; DCR-055</a:t>
                      </a:r>
                    </a:p>
                  </a:txBody>
                  <a:tcPr marL="64008" marR="64008" marT="27432" marB="27432" anchor="ctr">
                    <a:solidFill>
                      <a:srgbClr val="E5F5FF"/>
                    </a:solidFill>
                  </a:tcPr>
                </a:tc>
              </a:tr>
            </a:tbl>
          </a:graphicData>
        </a:graphic>
      </p:graphicFrame>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best practice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Payment hub with the bank</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file hand-offs</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Host-to-host payments for credit to account, MC, TT and online banking, with digital signing and status back.</a:t>
            </a:r>
          </a:p>
          <a:p>
            <a:pPr>
              <a:spcAft>
                <a:spcPts val="400"/>
              </a:spcAft>
            </a:pPr>
            <a:r>
              <a:rPr sz="1200" b="1">
                <a:solidFill>
                  <a:srgbClr val="004EA8"/>
                </a:solidFill>
                <a:latin typeface="Arial"/>
              </a:rPr>
              <a:t>For BDOI: </a:t>
            </a:r>
            <a:r>
              <a:rPr sz="1200" b="0">
                <a:solidFill>
                  <a:srgbClr val="4B4B4B"/>
                </a:solidFill>
                <a:latin typeface="Arial"/>
              </a:rPr>
              <a:t>Replace WinSCP and branch forms with BDO host-to-host (CMS / New BOB).</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Delegation of authority in the workflow</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approval</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Approval limits by amount and type, e-approval, no wet signatures.</a:t>
            </a:r>
          </a:p>
          <a:p>
            <a:pPr>
              <a:spcAft>
                <a:spcPts val="400"/>
              </a:spcAft>
            </a:pPr>
            <a:r>
              <a:rPr sz="1200" b="1">
                <a:solidFill>
                  <a:srgbClr val="004EA8"/>
                </a:solidFill>
                <a:latin typeface="Arial"/>
              </a:rPr>
              <a:t>For BDOI: </a:t>
            </a:r>
            <a:r>
              <a:rPr sz="1200" b="0">
                <a:solidFill>
                  <a:srgbClr val="4B4B4B"/>
                </a:solidFill>
                <a:latin typeface="Arial"/>
              </a:rPr>
              <a:t>Approve a DOA matrix; the audit trail replaces the signed copy.</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Payee account validation</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Fraud control</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Name match, test credit and dual control on bank-detail changes.</a:t>
            </a:r>
          </a:p>
          <a:p>
            <a:pPr>
              <a:spcAft>
                <a:spcPts val="400"/>
              </a:spcAft>
            </a:pPr>
            <a:r>
              <a:rPr sz="1200" b="1">
                <a:solidFill>
                  <a:srgbClr val="004EA8"/>
                </a:solidFill>
                <a:latin typeface="Arial"/>
              </a:rPr>
              <a:t>For BDOI: </a:t>
            </a:r>
            <a:r>
              <a:rPr sz="1200" b="0">
                <a:solidFill>
                  <a:srgbClr val="4B4B4B"/>
                </a:solidFill>
                <a:latin typeface="Arial"/>
              </a:rPr>
              <a:t>Apply to refunds and new payees.</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Government payments calendar</a:t>
            </a:r>
          </a:p>
        </p:txBody>
      </p:sp>
      <p:sp>
        <p:nvSpPr>
          <p:cNvPr id="30" name="Rounded Rectangle 29"/>
          <p:cNvSpPr/>
          <p:nvPr/>
        </p:nvSpPr>
        <p:spPr>
          <a:xfrm>
            <a:off x="640080" y="4448556"/>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penalties</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Due dates, filing and payment through eFPS / eGov, confirmation captured.</a:t>
            </a:r>
          </a:p>
          <a:p>
            <a:pPr>
              <a:spcAft>
                <a:spcPts val="400"/>
              </a:spcAft>
            </a:pPr>
            <a:r>
              <a:rPr sz="1200" b="1">
                <a:solidFill>
                  <a:srgbClr val="004EA8"/>
                </a:solidFill>
                <a:latin typeface="Arial"/>
              </a:rPr>
              <a:t>For BDOI: </a:t>
            </a:r>
            <a:r>
              <a:rPr sz="1200" b="0">
                <a:solidFill>
                  <a:srgbClr val="4B4B4B"/>
                </a:solidFill>
                <a:latin typeface="Arial"/>
              </a:rPr>
              <a:t>Add a calendar and confirmation to Disbursement.</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refunds</a:t>
            </a:r>
          </a:p>
        </p:txBody>
      </p:sp>
      <p:sp>
        <p:nvSpPr>
          <p:cNvPr id="36" name="Rounded Rectangle 35"/>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Client experience</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Refund computed from the cancellation or excess and paid to a validated account.</a:t>
            </a:r>
          </a:p>
          <a:p>
            <a:pPr>
              <a:spcAft>
                <a:spcPts val="400"/>
              </a:spcAft>
            </a:pPr>
            <a:r>
              <a:rPr sz="1200" b="1">
                <a:solidFill>
                  <a:srgbClr val="004EA8"/>
                </a:solidFill>
                <a:latin typeface="Arial"/>
              </a:rPr>
              <a:t>For BDOI: </a:t>
            </a:r>
            <a:r>
              <a:rPr sz="1200" b="0">
                <a:solidFill>
                  <a:srgbClr val="4B4B4B"/>
                </a:solidFill>
                <a:latin typeface="Arial"/>
              </a:rPr>
              <a:t>Link cancellation, refund request and payment.</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Accounting: best practice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Continuous close</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Shorter close</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Daily SL-GL reconciliation, close calendar and checklist, variance analysis.</a:t>
            </a:r>
          </a:p>
          <a:p>
            <a:pPr>
              <a:spcAft>
                <a:spcPts val="400"/>
              </a:spcAft>
            </a:pPr>
            <a:r>
              <a:rPr sz="1200" b="1">
                <a:solidFill>
                  <a:srgbClr val="004EA8"/>
                </a:solidFill>
                <a:latin typeface="Arial"/>
              </a:rPr>
              <a:t>For BDOI: </a:t>
            </a:r>
            <a:r>
              <a:rPr sz="1200" b="0">
                <a:solidFill>
                  <a:srgbClr val="4B4B4B"/>
                </a:solidFill>
                <a:latin typeface="Arial"/>
              </a:rPr>
              <a:t>Add a close checklist and daily reconciliation report.</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Automated tax certificates</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Compliance</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2307 for every payee and a register of certificates received, reconciled to SAWT.</a:t>
            </a:r>
          </a:p>
          <a:p>
            <a:pPr>
              <a:spcAft>
                <a:spcPts val="400"/>
              </a:spcAft>
            </a:pPr>
            <a:r>
              <a:rPr sz="1200" b="1">
                <a:solidFill>
                  <a:srgbClr val="004EA8"/>
                </a:solidFill>
                <a:latin typeface="Arial"/>
              </a:rPr>
              <a:t>For BDOI: </a:t>
            </a:r>
            <a:r>
              <a:rPr sz="1200" b="0">
                <a:solidFill>
                  <a:srgbClr val="4B4B4B"/>
                </a:solidFill>
                <a:latin typeface="Arial"/>
              </a:rPr>
              <a:t>Extend 2307 generation to all payees.</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BIR e-invoicing readiness</a:t>
            </a:r>
          </a:p>
        </p:txBody>
      </p:sp>
      <p:sp>
        <p:nvSpPr>
          <p:cNvPr id="24" name="Rounded Rectangle 23"/>
          <p:cNvSpPr/>
          <p:nvPr/>
        </p:nvSpPr>
        <p:spPr>
          <a:xfrm>
            <a:off x="8146084" y="1920240"/>
            <a:ext cx="160020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Compliance</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CAS-registered books and electronic invoicing (EIS) when it applies.</a:t>
            </a:r>
          </a:p>
          <a:p>
            <a:pPr>
              <a:spcAft>
                <a:spcPts val="400"/>
              </a:spcAft>
            </a:pPr>
            <a:r>
              <a:rPr sz="1200" b="1">
                <a:solidFill>
                  <a:srgbClr val="004EA8"/>
                </a:solidFill>
                <a:latin typeface="Arial"/>
              </a:rPr>
              <a:t>For BDOI: </a:t>
            </a:r>
            <a:r>
              <a:rPr sz="1200" b="0">
                <a:solidFill>
                  <a:srgbClr val="4B4B4B"/>
                </a:solidFill>
                <a:latin typeface="Arial"/>
              </a:rPr>
              <a:t>Confirm applicability with Tax and plan the format.</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Multi-dimensional chart of accounts</a:t>
            </a:r>
          </a:p>
        </p:txBody>
      </p:sp>
      <p:sp>
        <p:nvSpPr>
          <p:cNvPr id="30" name="Rounded Rectangle 29"/>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Profitability view</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Branch, profit centre, cost centre, product, insurer and segment on every entry.</a:t>
            </a:r>
          </a:p>
          <a:p>
            <a:pPr>
              <a:spcAft>
                <a:spcPts val="400"/>
              </a:spcAft>
            </a:pPr>
            <a:r>
              <a:rPr sz="1200" b="1">
                <a:solidFill>
                  <a:srgbClr val="004EA8"/>
                </a:solidFill>
                <a:latin typeface="Arial"/>
              </a:rPr>
              <a:t>For BDOI: </a:t>
            </a:r>
            <a:r>
              <a:rPr sz="1200" b="0">
                <a:solidFill>
                  <a:srgbClr val="4B4B4B"/>
                </a:solidFill>
                <a:latin typeface="Arial"/>
              </a:rPr>
              <a:t>Map the 8 branches and centres before go-live.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E</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Claims and Customer Service</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Serving the client after the sale: claims, the contact centre and case management</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10.  </a:t>
            </a:r>
            <a:r>
              <a:rPr sz="1500" b="1">
                <a:solidFill>
                  <a:srgbClr val="FFFFFF"/>
                </a:solidFill>
                <a:latin typeface="Arial"/>
              </a:rPr>
              <a:t>Claims</a:t>
            </a:r>
            <a:r>
              <a:rPr sz="1500" b="0">
                <a:solidFill>
                  <a:srgbClr val="99C1E7"/>
                </a:solidFill>
                <a:latin typeface="Arial"/>
              </a:rPr>
              <a:t>   BRD-7</a:t>
            </a:r>
          </a:p>
        </p:txBody>
      </p:sp>
      <p:sp>
        <p:nvSpPr>
          <p:cNvPr id="8" name="TextBox 7"/>
          <p:cNvSpPr txBox="1"/>
          <p:nvPr/>
        </p:nvSpPr>
        <p:spPr>
          <a:xfrm>
            <a:off x="548640" y="4361687"/>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11.  </a:t>
            </a:r>
            <a:r>
              <a:rPr sz="1500" b="1">
                <a:solidFill>
                  <a:srgbClr val="FFFFFF"/>
                </a:solidFill>
                <a:latin typeface="Arial"/>
              </a:rPr>
              <a:t>Customer Servicing and Case Management</a:t>
            </a:r>
            <a:r>
              <a:rPr sz="1500" b="0">
                <a:solidFill>
                  <a:srgbClr val="99C1E7"/>
                </a:solidFill>
                <a:latin typeface="Arial"/>
              </a:rPr>
              <a:t>   BRD-9</a:t>
            </a:r>
          </a:p>
        </p:txBody>
      </p:sp>
      <p:sp>
        <p:nvSpPr>
          <p:cNvPr id="9" name="TextBox 8"/>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Business Process Reverse KT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Claims: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Claims and Risk Management</a:t>
            </a:r>
          </a:p>
          <a:p>
            <a:pPr>
              <a:spcAft>
                <a:spcPts val="300"/>
              </a:spcAft>
            </a:pPr>
            <a:r>
              <a:rPr sz="1200" b="0">
                <a:solidFill>
                  <a:srgbClr val="004EA8"/>
                </a:solidFill>
                <a:latin typeface="Arial"/>
              </a:rPr>
              <a:t>•  </a:t>
            </a:r>
            <a:r>
              <a:rPr sz="1200" b="0">
                <a:solidFill>
                  <a:srgbClr val="4B4B4B"/>
                </a:solidFill>
                <a:latin typeface="Arial"/>
              </a:rPr>
              <a:t>Claims Officer / Claim Handler (Motor and Non-Motor teams)</a:t>
            </a:r>
          </a:p>
          <a:p>
            <a:pPr>
              <a:spcAft>
                <a:spcPts val="300"/>
              </a:spcAft>
            </a:pPr>
            <a:r>
              <a:rPr sz="1200" b="0">
                <a:solidFill>
                  <a:srgbClr val="004EA8"/>
                </a:solidFill>
                <a:latin typeface="Arial"/>
              </a:rPr>
              <a:t>•  </a:t>
            </a:r>
            <a:r>
              <a:rPr sz="1200" b="0">
                <a:solidFill>
                  <a:srgbClr val="4B4B4B"/>
                </a:solidFill>
                <a:latin typeface="Arial"/>
              </a:rPr>
              <a:t>Team Lead, Team Head, Unit Head</a:t>
            </a:r>
          </a:p>
          <a:p>
            <a:pPr>
              <a:spcAft>
                <a:spcPts val="300"/>
              </a:spcAft>
            </a:pPr>
            <a:r>
              <a:rPr sz="1200" b="0">
                <a:solidFill>
                  <a:srgbClr val="004EA8"/>
                </a:solidFill>
                <a:latin typeface="Arial"/>
              </a:rPr>
              <a:t>•  </a:t>
            </a:r>
            <a:r>
              <a:rPr sz="1200" b="0">
                <a:solidFill>
                  <a:srgbClr val="4B4B4B"/>
                </a:solidFill>
                <a:latin typeface="Arial"/>
              </a:rPr>
              <a:t>Marketing AO and branch (notice of loss)</a:t>
            </a:r>
          </a:p>
          <a:p>
            <a:pPr>
              <a:spcAft>
                <a:spcPts val="300"/>
              </a:spcAft>
            </a:pPr>
            <a:r>
              <a:rPr sz="1200" b="0">
                <a:solidFill>
                  <a:srgbClr val="004EA8"/>
                </a:solidFill>
                <a:latin typeface="Arial"/>
              </a:rPr>
              <a:t>•  </a:t>
            </a:r>
            <a:r>
              <a:rPr sz="1200" b="0">
                <a:solidFill>
                  <a:srgbClr val="4B4B4B"/>
                </a:solidFill>
                <a:latin typeface="Arial"/>
              </a:rPr>
              <a:t>Assured, CASA / dealer, adjuster</a:t>
            </a:r>
          </a:p>
          <a:p>
            <a:pPr>
              <a:spcAft>
                <a:spcPts val="300"/>
              </a:spcAft>
            </a:pPr>
            <a:r>
              <a:rPr sz="1200" b="0">
                <a:solidFill>
                  <a:srgbClr val="004EA8"/>
                </a:solidFill>
                <a:latin typeface="Arial"/>
              </a:rPr>
              <a:t>•  </a:t>
            </a:r>
            <a:r>
              <a:rPr sz="1200" b="0">
                <a:solidFill>
                  <a:srgbClr val="4B4B4B"/>
                </a:solidFill>
                <a:latin typeface="Arial"/>
              </a:rPr>
              <a:t>Insurers (evaluation, offer, LOA or cheque)</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55</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claims booked a day; growth 10% a year (BRD-7 p.32-41)</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1,096</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and settlement updates a day</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37</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Claims users: 28 head office, 9 branches</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2 paths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Motor (LOA to a repair shop, or cash) and Non-Motor (adjuster, offer)</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22-Sep-2026, 5-6 pm, 44F; discovery 21-Sep-2026</a:t>
            </a:r>
          </a:p>
          <a:p>
            <a:pPr>
              <a:spcAft>
                <a:spcPts val="400"/>
              </a:spcAft>
            </a:pPr>
            <a:r>
              <a:rPr sz="1100" b="1">
                <a:solidFill>
                  <a:srgbClr val="004EA8"/>
                </a:solidFill>
                <a:latin typeface="Arial"/>
              </a:rPr>
              <a:t>Process owners: </a:t>
            </a:r>
            <a:r>
              <a:rPr sz="1100" b="0">
                <a:solidFill>
                  <a:srgbClr val="4B4B4B"/>
                </a:solidFill>
                <a:latin typeface="Arial"/>
              </a:rPr>
              <a:t>Elmar O. Alvarez Jr., Richard Castanares</a:t>
            </a:r>
          </a:p>
          <a:p>
            <a:pPr>
              <a:spcAft>
                <a:spcPts val="400"/>
              </a:spcAft>
            </a:pPr>
            <a:r>
              <a:rPr sz="1100" b="0">
                <a:solidFill>
                  <a:srgbClr val="004EA8"/>
                </a:solidFill>
                <a:latin typeface="Arial"/>
              </a:rPr>
              <a:t>•  </a:t>
            </a:r>
            <a:r>
              <a:rPr sz="1100" b="0">
                <a:solidFill>
                  <a:srgbClr val="4B4B4B"/>
                </a:solidFill>
                <a:latin typeface="Arial"/>
              </a:rPr>
              <a:t>High-level Claims process flow (Motor and Non-Motor swimlanes)</a:t>
            </a:r>
          </a:p>
          <a:p>
            <a:pPr>
              <a:spcAft>
                <a:spcPts val="400"/>
              </a:spcAft>
            </a:pPr>
            <a:r>
              <a:rPr sz="1100" b="0">
                <a:solidFill>
                  <a:srgbClr val="004EA8"/>
                </a:solidFill>
                <a:latin typeface="Arial"/>
              </a:rPr>
              <a:t>•  </a:t>
            </a:r>
            <a:r>
              <a:rPr sz="1100" b="0">
                <a:solidFill>
                  <a:srgbClr val="4B4B4B"/>
                </a:solidFill>
                <a:latin typeface="Arial"/>
              </a:rPr>
              <a:t>BDOI Day 1 overview p.8 and p.14</a:t>
            </a:r>
          </a:p>
          <a:p>
            <a:pPr>
              <a:spcAft>
                <a:spcPts val="400"/>
              </a:spcAft>
            </a:pPr>
            <a:r>
              <a:rPr sz="1100" b="0">
                <a:solidFill>
                  <a:srgbClr val="004EA8"/>
                </a:solidFill>
                <a:latin typeface="Arial"/>
              </a:rPr>
              <a:t>•  </a:t>
            </a:r>
            <a:r>
              <a:rPr sz="1100" b="0">
                <a:solidFill>
                  <a:srgbClr val="4B4B4B"/>
                </a:solidFill>
                <a:latin typeface="Arial"/>
              </a:rPr>
              <a:t>BRD-7 p.23-27; BRCLM.001-043</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Notice</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Documents</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Loss advice</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Evaluation</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Offer</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Acceptance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Settlement</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Closure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Claims: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CL-01</a:t>
                      </a:r>
                    </a:p>
                  </a:txBody>
                  <a:tcPr marL="64008" marR="64008" marT="27432" marB="27432" anchor="ctr">
                    <a:solidFill>
                      <a:srgbClr val="FFFFFF"/>
                    </a:solidFill>
                  </a:tcPr>
                </a:tc>
                <a:tc>
                  <a:txBody>
                    <a:bodyPr wrap="square"/>
                    <a:lstStyle/>
                    <a:p>
                      <a:r>
                        <a:rPr sz="1100" b="0">
                          <a:solidFill>
                            <a:srgbClr val="4B4B4B"/>
                          </a:solidFill>
                          <a:latin typeface="Arial"/>
                        </a:rPr>
                        <a:t>Claims handling</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Claims are handled outside the system and manually.</a:t>
                      </a:r>
                    </a:p>
                  </a:txBody>
                  <a:tcPr marL="64008" marR="64008" marT="27432" marB="27432" anchor="ctr">
                    <a:solidFill>
                      <a:srgbClr val="FFFFFF"/>
                    </a:solidFill>
                  </a:tcPr>
                </a:tc>
                <a:tc>
                  <a:txBody>
                    <a:bodyPr wrap="square"/>
                    <a:lstStyle/>
                    <a:p>
                      <a:r>
                        <a:rPr sz="1100" b="0">
                          <a:solidFill>
                            <a:srgbClr val="4B4B4B"/>
                          </a:solidFill>
                          <a:latin typeface="Arial"/>
                        </a:rPr>
                        <a:t>Major pain point: claims in the system.</a:t>
                      </a:r>
                    </a:p>
                  </a:txBody>
                  <a:tcPr marL="64008" marR="64008" marT="27432" marB="27432" anchor="ctr">
                    <a:solidFill>
                      <a:srgbClr val="FFFFFF"/>
                    </a:solidFill>
                  </a:tcPr>
                </a:tc>
              </a:tr>
              <a:tr h="758952">
                <a:tc>
                  <a:txBody>
                    <a:bodyPr wrap="square"/>
                    <a:lstStyle/>
                    <a:p>
                      <a:r>
                        <a:rPr sz="1100" b="1">
                          <a:solidFill>
                            <a:srgbClr val="4B4B4B"/>
                          </a:solidFill>
                          <a:latin typeface="Arial"/>
                        </a:rPr>
                        <a:t>Day 1 p.8</a:t>
                      </a:r>
                    </a:p>
                  </a:txBody>
                  <a:tcPr marL="64008" marR="64008" marT="27432" marB="27432" anchor="ctr">
                    <a:solidFill>
                      <a:srgbClr val="E5F5FF"/>
                    </a:solidFill>
                  </a:tcPr>
                </a:tc>
                <a:tc>
                  <a:txBody>
                    <a:bodyPr wrap="square"/>
                    <a:lstStyle/>
                    <a:p>
                      <a:r>
                        <a:rPr sz="1100" b="0">
                          <a:solidFill>
                            <a:srgbClr val="4B4B4B"/>
                          </a:solidFill>
                          <a:latin typeface="Arial"/>
                        </a:rPr>
                        <a:t>What BDOI needs to see</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How a claim links to the policy; required documents and status values; who can update, review or approve; how customer communication is recorded.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Claims flow</a:t>
                      </a:r>
                    </a:p>
                  </a:txBody>
                  <a:tcPr marL="64008" marR="64008" marT="27432" marB="27432" anchor="ctr">
                    <a:solidFill>
                      <a:srgbClr val="FFFFFF"/>
                    </a:solidFill>
                  </a:tcPr>
                </a:tc>
                <a:tc>
                  <a:txBody>
                    <a:bodyPr wrap="square"/>
                    <a:lstStyle/>
                    <a:p>
                      <a:r>
                        <a:rPr sz="1100" b="0">
                          <a:solidFill>
                            <a:srgbClr val="4B4B4B"/>
                          </a:solidFill>
                          <a:latin typeface="Arial"/>
                        </a:rPr>
                        <a:t>Motor</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Client, AO or branch sends the notice and PLA; handler completes the documents and sends them to the insurer; insurer issues an LOA to the preferred CASA / dealer or evaluates a cash offer; assured signs; repair monitored offline; claim tagged settled.</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Claims flow</a:t>
                      </a:r>
                    </a:p>
                  </a:txBody>
                  <a:tcPr marL="64008" marR="64008" marT="27432" marB="27432" anchor="ctr">
                    <a:solidFill>
                      <a:srgbClr val="E5F5FF"/>
                    </a:solidFill>
                  </a:tcPr>
                </a:tc>
                <a:tc>
                  <a:txBody>
                    <a:bodyPr wrap="square"/>
                    <a:lstStyle/>
                    <a:p>
                      <a:r>
                        <a:rPr sz="1100" b="0">
                          <a:solidFill>
                            <a:srgbClr val="4B4B4B"/>
                          </a:solidFill>
                          <a:latin typeface="Arial"/>
                        </a:rPr>
                        <a:t>Non-Motor</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Claims reporting form (CRF); formal loss advice to the insurer; initial assessment; adjuster inspection when needed; evaluation; offer reviewed and sent to the insured; accept, or contest and re-evaluate; payment; claim closed.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Day 1 p.14</a:t>
                      </a:r>
                    </a:p>
                  </a:txBody>
                  <a:tcPr marL="64008" marR="64008" marT="27432" marB="27432" anchor="ctr">
                    <a:solidFill>
                      <a:srgbClr val="FFFFFF"/>
                    </a:solidFill>
                  </a:tcPr>
                </a:tc>
                <a:tc>
                  <a:txBody>
                    <a:bodyPr wrap="square"/>
                    <a:lstStyle/>
                    <a:p>
                      <a:r>
                        <a:rPr sz="1100" b="0">
                          <a:solidFill>
                            <a:srgbClr val="4B4B4B"/>
                          </a:solidFill>
                          <a:latin typeface="Arial"/>
                        </a:rPr>
                        <a:t>Servicing path</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Receive the claim from the client; submit documents to the insurer; inform the client of settlement or declination.</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EB-02</a:t>
                      </a:r>
                    </a:p>
                  </a:txBody>
                  <a:tcPr marL="64008" marR="64008" marT="27432" marB="27432" anchor="ctr">
                    <a:solidFill>
                      <a:srgbClr val="E5F5FF"/>
                    </a:solidFill>
                  </a:tcPr>
                </a:tc>
                <a:tc>
                  <a:txBody>
                    <a:bodyPr wrap="square"/>
                    <a:lstStyle/>
                    <a:p>
                      <a:r>
                        <a:rPr sz="1100" b="0">
                          <a:solidFill>
                            <a:srgbClr val="4B4B4B"/>
                          </a:solidFill>
                          <a:latin typeface="Arial"/>
                        </a:rPr>
                        <a:t>EB claims</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Employee Benefits claims are validated by the provider; BDOI captures the details (see chapter 4).</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Claims: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pic>
        <p:nvPicPr>
          <p:cNvPr id="9" name="Picture 8" descr="brd07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Claims today (BRD-7 p.24-26)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Claims: Motor and Non-Motor paths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graphicFrame>
        <p:nvGraphicFramePr>
          <p:cNvPr id="9" name="Table 8"/>
          <p:cNvGraphicFramePr>
            <a:graphicFrameLocks noGrp="1"/>
          </p:cNvGraphicFramePr>
          <p:nvPr/>
        </p:nvGraphicFramePr>
        <p:xfrm>
          <a:off x="548640" y="1280160"/>
          <a:ext cx="11094413" cy="4919470"/>
        </p:xfrm>
        <a:graphic>
          <a:graphicData uri="http://schemas.openxmlformats.org/drawingml/2006/table">
            <a:tbl>
              <a:tblPr firstRow="1" bandRow="1">
                <a:tableStyleId>{5C22544A-7EE6-4342-B048-85BDC9FD1C3A}</a:tableStyleId>
              </a:tblPr>
              <a:tblGrid>
                <a:gridCol w="1789421"/>
                <a:gridCol w="4652496"/>
                <a:gridCol w="4652496"/>
              </a:tblGrid>
              <a:tr h="365760">
                <a:tc>
                  <a:txBody>
                    <a:bodyPr wrap="square"/>
                    <a:lstStyle/>
                    <a:p>
                      <a:r>
                        <a:rPr sz="1100" b="1">
                          <a:solidFill>
                            <a:srgbClr val="FFFFFF"/>
                          </a:solidFill>
                          <a:latin typeface="Arial"/>
                        </a:rPr>
                        <a:t>Step</a:t>
                      </a:r>
                    </a:p>
                  </a:txBody>
                  <a:tcPr marL="64008" marR="64008" marT="27432" marB="27432" anchor="ctr">
                    <a:solidFill>
                      <a:srgbClr val="004EA8"/>
                    </a:solidFill>
                  </a:tcPr>
                </a:tc>
                <a:tc>
                  <a:txBody>
                    <a:bodyPr wrap="square"/>
                    <a:lstStyle/>
                    <a:p>
                      <a:r>
                        <a:rPr sz="1100" b="1">
                          <a:solidFill>
                            <a:srgbClr val="FFFFFF"/>
                          </a:solidFill>
                          <a:latin typeface="Arial"/>
                        </a:rPr>
                        <a:t>Motor</a:t>
                      </a:r>
                    </a:p>
                  </a:txBody>
                  <a:tcPr marL="64008" marR="64008" marT="27432" marB="27432" anchor="ctr">
                    <a:solidFill>
                      <a:srgbClr val="004EA8"/>
                    </a:solidFill>
                  </a:tcPr>
                </a:tc>
                <a:tc>
                  <a:txBody>
                    <a:bodyPr wrap="square"/>
                    <a:lstStyle/>
                    <a:p>
                      <a:r>
                        <a:rPr sz="1100" b="1">
                          <a:solidFill>
                            <a:srgbClr val="FFFFFF"/>
                          </a:solidFill>
                          <a:latin typeface="Arial"/>
                        </a:rPr>
                        <a:t>Non-Motor</a:t>
                      </a:r>
                    </a:p>
                  </a:txBody>
                  <a:tcPr marL="64008" marR="64008" marT="27432" marB="27432" anchor="ctr">
                    <a:solidFill>
                      <a:srgbClr val="004EA8"/>
                    </a:solidFill>
                  </a:tcPr>
                </a:tc>
              </a:tr>
              <a:tr h="650530">
                <a:tc>
                  <a:txBody>
                    <a:bodyPr wrap="square"/>
                    <a:lstStyle/>
                    <a:p>
                      <a:r>
                        <a:rPr sz="1100" b="1">
                          <a:solidFill>
                            <a:srgbClr val="4B4B4B"/>
                          </a:solidFill>
                          <a:latin typeface="Arial"/>
                        </a:rPr>
                        <a:t>Notice</a:t>
                      </a:r>
                    </a:p>
                  </a:txBody>
                  <a:tcPr marL="64008" marR="64008" marT="27432" marB="27432" anchor="ctr">
                    <a:solidFill>
                      <a:srgbClr val="FFFFFF"/>
                    </a:solidFill>
                  </a:tcPr>
                </a:tc>
                <a:tc>
                  <a:txBody>
                    <a:bodyPr wrap="square"/>
                    <a:lstStyle/>
                    <a:p>
                      <a:r>
                        <a:rPr sz="1100" b="0">
                          <a:solidFill>
                            <a:srgbClr val="4B4B4B"/>
                          </a:solidFill>
                          <a:latin typeface="Arial"/>
                        </a:rPr>
                        <a:t>Client, AO or branch sends the notice and a preliminary loss advice (PLA)</a:t>
                      </a:r>
                    </a:p>
                  </a:txBody>
                  <a:tcPr marL="64008" marR="64008" marT="27432" marB="27432" anchor="ctr">
                    <a:solidFill>
                      <a:srgbClr val="FFFFFF"/>
                    </a:solidFill>
                  </a:tcPr>
                </a:tc>
                <a:tc>
                  <a:txBody>
                    <a:bodyPr wrap="square"/>
                    <a:lstStyle/>
                    <a:p>
                      <a:r>
                        <a:rPr sz="1100" b="0">
                          <a:solidFill>
                            <a:srgbClr val="4B4B4B"/>
                          </a:solidFill>
                          <a:latin typeface="Arial"/>
                        </a:rPr>
                        <a:t>Client sends the notice; Claims completes the claims reporting form (CRF) with the client</a:t>
                      </a:r>
                    </a:p>
                  </a:txBody>
                  <a:tcPr marL="64008" marR="64008" marT="27432" marB="27432" anchor="ctr">
                    <a:solidFill>
                      <a:srgbClr val="FFFFFF"/>
                    </a:solidFill>
                  </a:tcPr>
                </a:tc>
              </a:tr>
              <a:tr h="650530">
                <a:tc>
                  <a:txBody>
                    <a:bodyPr wrap="square"/>
                    <a:lstStyle/>
                    <a:p>
                      <a:r>
                        <a:rPr sz="1100" b="1">
                          <a:solidFill>
                            <a:srgbClr val="4B4B4B"/>
                          </a:solidFill>
                          <a:latin typeface="Arial"/>
                        </a:rPr>
                        <a:t>Documents</a:t>
                      </a:r>
                    </a:p>
                  </a:txBody>
                  <a:tcPr marL="64008" marR="64008" marT="27432" marB="27432" anchor="ctr">
                    <a:solidFill>
                      <a:srgbClr val="E5F5FF"/>
                    </a:solidFill>
                  </a:tcPr>
                </a:tc>
                <a:tc>
                  <a:txBody>
                    <a:bodyPr wrap="square"/>
                    <a:lstStyle/>
                    <a:p>
                      <a:r>
                        <a:rPr sz="1100" b="0">
                          <a:solidFill>
                            <a:srgbClr val="4B4B4B"/>
                          </a:solidFill>
                          <a:latin typeface="Arial"/>
                        </a:rPr>
                        <a:t>Handler coordinates the documents with the client until complete</a:t>
                      </a:r>
                    </a:p>
                  </a:txBody>
                  <a:tcPr marL="64008" marR="64008" marT="27432" marB="27432" anchor="ctr">
                    <a:solidFill>
                      <a:srgbClr val="E5F5FF"/>
                    </a:solidFill>
                  </a:tcPr>
                </a:tc>
                <a:tc>
                  <a:txBody>
                    <a:bodyPr wrap="square"/>
                    <a:lstStyle/>
                    <a:p>
                      <a:r>
                        <a:rPr sz="1100" b="0">
                          <a:solidFill>
                            <a:srgbClr val="4B4B4B"/>
                          </a:solidFill>
                          <a:latin typeface="Arial"/>
                        </a:rPr>
                        <a:t>Handler checks completeness; asks the client for missing documents</a:t>
                      </a:r>
                    </a:p>
                  </a:txBody>
                  <a:tcPr marL="64008" marR="64008" marT="27432" marB="27432" anchor="ctr">
                    <a:solidFill>
                      <a:srgbClr val="E5F5FF"/>
                    </a:solidFill>
                  </a:tcPr>
                </a:tc>
              </a:tr>
              <a:tr h="650530">
                <a:tc>
                  <a:txBody>
                    <a:bodyPr wrap="square"/>
                    <a:lstStyle/>
                    <a:p>
                      <a:r>
                        <a:rPr sz="1100" b="1">
                          <a:solidFill>
                            <a:srgbClr val="4B4B4B"/>
                          </a:solidFill>
                          <a:latin typeface="Arial"/>
                        </a:rPr>
                        <a:t>To the insurer</a:t>
                      </a:r>
                    </a:p>
                  </a:txBody>
                  <a:tcPr marL="64008" marR="64008" marT="27432" marB="27432" anchor="ctr">
                    <a:solidFill>
                      <a:srgbClr val="FFFFFF"/>
                    </a:solidFill>
                  </a:tcPr>
                </a:tc>
                <a:tc>
                  <a:txBody>
                    <a:bodyPr wrap="square"/>
                    <a:lstStyle/>
                    <a:p>
                      <a:r>
                        <a:rPr sz="1100" b="0">
                          <a:solidFill>
                            <a:srgbClr val="4B4B4B"/>
                          </a:solidFill>
                          <a:latin typeface="Arial"/>
                        </a:rPr>
                        <a:t>Documents and PLA sent to the insurer</a:t>
                      </a:r>
                    </a:p>
                  </a:txBody>
                  <a:tcPr marL="64008" marR="64008" marT="27432" marB="27432" anchor="ctr">
                    <a:solidFill>
                      <a:srgbClr val="FFFFFF"/>
                    </a:solidFill>
                  </a:tcPr>
                </a:tc>
                <a:tc>
                  <a:txBody>
                    <a:bodyPr wrap="square"/>
                    <a:lstStyle/>
                    <a:p>
                      <a:r>
                        <a:rPr sz="1100" b="0">
                          <a:solidFill>
                            <a:srgbClr val="4B4B4B"/>
                          </a:solidFill>
                          <a:latin typeface="Arial"/>
                        </a:rPr>
                        <a:t>Formal loss advice (FLA) sent; insurer makes an initial assessment</a:t>
                      </a:r>
                    </a:p>
                  </a:txBody>
                  <a:tcPr marL="64008" marR="64008" marT="27432" marB="27432" anchor="ctr">
                    <a:solidFill>
                      <a:srgbClr val="FFFFFF"/>
                    </a:solidFill>
                  </a:tcPr>
                </a:tc>
              </a:tr>
              <a:tr h="650530">
                <a:tc>
                  <a:txBody>
                    <a:bodyPr wrap="square"/>
                    <a:lstStyle/>
                    <a:p>
                      <a:r>
                        <a:rPr sz="1100" b="1">
                          <a:solidFill>
                            <a:srgbClr val="4B4B4B"/>
                          </a:solidFill>
                          <a:latin typeface="Arial"/>
                        </a:rPr>
                        <a:t>Evaluation</a:t>
                      </a:r>
                    </a:p>
                  </a:txBody>
                  <a:tcPr marL="64008" marR="64008" marT="27432" marB="27432" anchor="ctr">
                    <a:solidFill>
                      <a:srgbClr val="E5F5FF"/>
                    </a:solidFill>
                  </a:tcPr>
                </a:tc>
                <a:tc>
                  <a:txBody>
                    <a:bodyPr wrap="square"/>
                    <a:lstStyle/>
                    <a:p>
                      <a:r>
                        <a:rPr sz="1100" b="0">
                          <a:solidFill>
                            <a:srgbClr val="4B4B4B"/>
                          </a:solidFill>
                          <a:latin typeface="Arial"/>
                        </a:rPr>
                        <a:t>Insurer reviews; issues or concerns go back to the handler</a:t>
                      </a:r>
                    </a:p>
                  </a:txBody>
                  <a:tcPr marL="64008" marR="64008" marT="27432" marB="27432" anchor="ctr">
                    <a:solidFill>
                      <a:srgbClr val="E5F5FF"/>
                    </a:solidFill>
                  </a:tcPr>
                </a:tc>
                <a:tc>
                  <a:txBody>
                    <a:bodyPr wrap="square"/>
                    <a:lstStyle/>
                    <a:p>
                      <a:r>
                        <a:rPr sz="1100" b="0">
                          <a:solidFill>
                            <a:srgbClr val="4B4B4B"/>
                          </a:solidFill>
                          <a:latin typeface="Arial"/>
                        </a:rPr>
                        <a:t>Adjuster appointed when needed; inspection arranged with BDOI</a:t>
                      </a:r>
                    </a:p>
                  </a:txBody>
                  <a:tcPr marL="64008" marR="64008" marT="27432" marB="27432" anchor="ctr">
                    <a:solidFill>
                      <a:srgbClr val="E5F5FF"/>
                    </a:solidFill>
                  </a:tcPr>
                </a:tc>
              </a:tr>
              <a:tr h="650530">
                <a:tc>
                  <a:txBody>
                    <a:bodyPr wrap="square"/>
                    <a:lstStyle/>
                    <a:p>
                      <a:r>
                        <a:rPr sz="1100" b="1">
                          <a:solidFill>
                            <a:srgbClr val="4B4B4B"/>
                          </a:solidFill>
                          <a:latin typeface="Arial"/>
                        </a:rPr>
                        <a:t>Offer</a:t>
                      </a:r>
                    </a:p>
                  </a:txBody>
                  <a:tcPr marL="64008" marR="64008" marT="27432" marB="27432" anchor="ctr">
                    <a:solidFill>
                      <a:srgbClr val="FFFFFF"/>
                    </a:solidFill>
                  </a:tcPr>
                </a:tc>
                <a:tc>
                  <a:txBody>
                    <a:bodyPr wrap="square"/>
                    <a:lstStyle/>
                    <a:p>
                      <a:r>
                        <a:rPr sz="1100" b="0">
                          <a:solidFill>
                            <a:srgbClr val="4B4B4B"/>
                          </a:solidFill>
                          <a:latin typeface="Arial"/>
                        </a:rPr>
                        <a:t>LOA to the preferred CASA / dealer, or a cash offer after evaluation</a:t>
                      </a:r>
                    </a:p>
                  </a:txBody>
                  <a:tcPr marL="64008" marR="64008" marT="27432" marB="27432" anchor="ctr">
                    <a:solidFill>
                      <a:srgbClr val="FFFFFF"/>
                    </a:solidFill>
                  </a:tcPr>
                </a:tc>
                <a:tc>
                  <a:txBody>
                    <a:bodyPr wrap="square"/>
                    <a:lstStyle/>
                    <a:p>
                      <a:r>
                        <a:rPr sz="1100" b="0">
                          <a:solidFill>
                            <a:srgbClr val="4B4B4B"/>
                          </a:solidFill>
                          <a:latin typeface="Arial"/>
                        </a:rPr>
                        <a:t>Offer reviewed by Claims and sent to the insured</a:t>
                      </a:r>
                    </a:p>
                  </a:txBody>
                  <a:tcPr marL="64008" marR="64008" marT="27432" marB="27432" anchor="ctr">
                    <a:solidFill>
                      <a:srgbClr val="FFFFFF"/>
                    </a:solidFill>
                  </a:tcPr>
                </a:tc>
              </a:tr>
              <a:tr h="650530">
                <a:tc>
                  <a:txBody>
                    <a:bodyPr wrap="square"/>
                    <a:lstStyle/>
                    <a:p>
                      <a:r>
                        <a:rPr sz="1100" b="1">
                          <a:solidFill>
                            <a:srgbClr val="4B4B4B"/>
                          </a:solidFill>
                          <a:latin typeface="Arial"/>
                        </a:rPr>
                        <a:t>Decision</a:t>
                      </a:r>
                    </a:p>
                  </a:txBody>
                  <a:tcPr marL="64008" marR="64008" marT="27432" marB="27432" anchor="ctr">
                    <a:solidFill>
                      <a:srgbClr val="E5F5FF"/>
                    </a:solidFill>
                  </a:tcPr>
                </a:tc>
                <a:tc>
                  <a:txBody>
                    <a:bodyPr wrap="square"/>
                    <a:lstStyle/>
                    <a:p>
                      <a:r>
                        <a:rPr sz="1100" b="0">
                          <a:solidFill>
                            <a:srgbClr val="4B4B4B"/>
                          </a:solidFill>
                          <a:latin typeface="Arial"/>
                        </a:rPr>
                        <a:t>Assured signs the offer; CASA / dealer repairs</a:t>
                      </a:r>
                    </a:p>
                  </a:txBody>
                  <a:tcPr marL="64008" marR="64008" marT="27432" marB="27432" anchor="ctr">
                    <a:solidFill>
                      <a:srgbClr val="E5F5FF"/>
                    </a:solidFill>
                  </a:tcPr>
                </a:tc>
                <a:tc>
                  <a:txBody>
                    <a:bodyPr wrap="square"/>
                    <a:lstStyle/>
                    <a:p>
                      <a:r>
                        <a:rPr sz="1100" b="0">
                          <a:solidFill>
                            <a:srgbClr val="4B4B4B"/>
                          </a:solidFill>
                          <a:latin typeface="Arial"/>
                        </a:rPr>
                        <a:t>Accepts, or contests; insurer re-evaluates or keeps its position</a:t>
                      </a:r>
                    </a:p>
                  </a:txBody>
                  <a:tcPr marL="64008" marR="64008" marT="27432" marB="27432" anchor="ctr">
                    <a:solidFill>
                      <a:srgbClr val="E5F5FF"/>
                    </a:solidFill>
                  </a:tcPr>
                </a:tc>
              </a:tr>
              <a:tr h="650530">
                <a:tc>
                  <a:txBody>
                    <a:bodyPr wrap="square"/>
                    <a:lstStyle/>
                    <a:p>
                      <a:r>
                        <a:rPr sz="1100" b="1">
                          <a:solidFill>
                            <a:srgbClr val="4B4B4B"/>
                          </a:solidFill>
                          <a:latin typeface="Arial"/>
                        </a:rPr>
                        <a:t>Close</a:t>
                      </a:r>
                    </a:p>
                  </a:txBody>
                  <a:tcPr marL="64008" marR="64008" marT="27432" marB="27432" anchor="ctr">
                    <a:solidFill>
                      <a:srgbClr val="FFFFFF"/>
                    </a:solidFill>
                  </a:tcPr>
                </a:tc>
                <a:tc>
                  <a:txBody>
                    <a:bodyPr wrap="square"/>
                    <a:lstStyle/>
                    <a:p>
                      <a:r>
                        <a:rPr sz="1100" b="0">
                          <a:solidFill>
                            <a:srgbClr val="4B4B4B"/>
                          </a:solidFill>
                          <a:latin typeface="Arial"/>
                        </a:rPr>
                        <a:t>Repair monitored offline; claim tagged settled / closed</a:t>
                      </a:r>
                    </a:p>
                  </a:txBody>
                  <a:tcPr marL="64008" marR="64008" marT="27432" marB="27432" anchor="ctr">
                    <a:solidFill>
                      <a:srgbClr val="FFFFFF"/>
                    </a:solidFill>
                  </a:tcPr>
                </a:tc>
                <a:tc>
                  <a:txBody>
                    <a:bodyPr wrap="square"/>
                    <a:lstStyle/>
                    <a:p>
                      <a:r>
                        <a:rPr sz="1100" b="0">
                          <a:solidFill>
                            <a:srgbClr val="4B4B4B"/>
                          </a:solidFill>
                          <a:latin typeface="Arial"/>
                        </a:rPr>
                        <a:t>Signed offer; payment; property damage claim closed</a:t>
                      </a:r>
                    </a:p>
                  </a:txBody>
                  <a:tcPr marL="64008" marR="64008" marT="27432" marB="27432" anchor="ctr">
                    <a:solidFill>
                      <a:srgbClr val="FFFFFF"/>
                    </a:solidFill>
                  </a:tcPr>
                </a:tc>
              </a:tr>
            </a:tbl>
          </a:graphicData>
        </a:graphic>
      </p:graphicFrame>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Claims: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Notice prepared by hand</a:t>
            </a:r>
          </a:p>
          <a:p>
            <a:pPr>
              <a:spcAft>
                <a:spcPts val="100"/>
              </a:spcAft>
            </a:pPr>
            <a:r>
              <a:rPr sz="1200" b="0">
                <a:solidFill>
                  <a:srgbClr val="4B4B4B"/>
                </a:solidFill>
                <a:latin typeface="Arial"/>
              </a:rPr>
              <a:t>PLA or CRF prepared by Marketing from an e-mail or a call.</a:t>
            </a:r>
          </a:p>
          <a:p>
            <a:pPr>
              <a:spcAft>
                <a:spcPts val="100"/>
              </a:spcAft>
            </a:pPr>
            <a:r>
              <a:rPr sz="1200" b="0">
                <a:solidFill>
                  <a:srgbClr val="0072D8"/>
                </a:solidFill>
                <a:latin typeface="Arial"/>
              </a:rPr>
              <a:t>BRD-7 p.24-25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Policy details re-keyed</a:t>
            </a:r>
          </a:p>
          <a:p>
            <a:pPr>
              <a:spcAft>
                <a:spcPts val="100"/>
              </a:spcAft>
            </a:pPr>
            <a:r>
              <a:rPr sz="1200" b="0">
                <a:solidFill>
                  <a:srgbClr val="4B4B4B"/>
                </a:solidFill>
                <a:latin typeface="Arial"/>
              </a:rPr>
              <a:t>Policy details are looked up in EBIX and keyed again.</a:t>
            </a:r>
          </a:p>
          <a:p>
            <a:pPr>
              <a:spcAft>
                <a:spcPts val="100"/>
              </a:spcAft>
            </a:pPr>
            <a:r>
              <a:rPr sz="1200" b="0">
                <a:solidFill>
                  <a:srgbClr val="0072D8"/>
                </a:solidFill>
                <a:latin typeface="Arial"/>
              </a:rPr>
              <a:t>BRD-7 p.24-25; BRCLM.003, 004</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Premium checked by hand</a:t>
            </a:r>
          </a:p>
          <a:p>
            <a:pPr>
              <a:spcAft>
                <a:spcPts val="100"/>
              </a:spcAft>
            </a:pPr>
            <a:r>
              <a:rPr sz="1200" b="0">
                <a:solidFill>
                  <a:srgbClr val="4B4B4B"/>
                </a:solidFill>
                <a:latin typeface="Arial"/>
              </a:rPr>
              <a:t>Nothing stops a claim on an unpaid invoice.</a:t>
            </a:r>
          </a:p>
          <a:p>
            <a:pPr>
              <a:spcAft>
                <a:spcPts val="100"/>
              </a:spcAft>
            </a:pPr>
            <a:r>
              <a:rPr sz="1200" b="0">
                <a:solidFill>
                  <a:srgbClr val="0072D8"/>
                </a:solidFill>
                <a:latin typeface="Arial"/>
              </a:rPr>
              <a:t>BRD-7 p.23; BRCLM.001</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Loss advice from a mailbox</a:t>
            </a:r>
          </a:p>
          <a:p>
            <a:pPr>
              <a:spcAft>
                <a:spcPts val="100"/>
              </a:spcAft>
            </a:pPr>
            <a:r>
              <a:rPr sz="1200" b="0">
                <a:solidFill>
                  <a:srgbClr val="4B4B4B"/>
                </a:solidFill>
                <a:latin typeface="Arial"/>
              </a:rPr>
              <a:t>No send log; insurer claim numbers kept outside a system.</a:t>
            </a:r>
          </a:p>
          <a:p>
            <a:pPr>
              <a:spcAft>
                <a:spcPts val="100"/>
              </a:spcAft>
            </a:pPr>
            <a:r>
              <a:rPr sz="1200" b="0">
                <a:solidFill>
                  <a:srgbClr val="0072D8"/>
                </a:solidFill>
                <a:latin typeface="Arial"/>
              </a:rPr>
              <a:t>BRD-7 p.24-25; BRCLM.041, 043</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Status in spreadsheets</a:t>
            </a:r>
          </a:p>
          <a:p>
            <a:pPr>
              <a:spcAft>
                <a:spcPts val="100"/>
              </a:spcAft>
            </a:pPr>
            <a:r>
              <a:rPr sz="1200" b="0">
                <a:solidFill>
                  <a:srgbClr val="4B4B4B"/>
                </a:solidFill>
                <a:latin typeface="Arial"/>
              </a:rPr>
              <a:t>Status, adjuster, reserve and follow-up dates tracked in Excel.</a:t>
            </a:r>
          </a:p>
          <a:p>
            <a:pPr>
              <a:spcAft>
                <a:spcPts val="100"/>
              </a:spcAft>
            </a:pPr>
            <a:r>
              <a:rPr sz="1200" b="0">
                <a:solidFill>
                  <a:srgbClr val="0072D8"/>
                </a:solidFill>
                <a:latin typeface="Arial"/>
              </a:rPr>
              <a:t>BRD-7 p.23, 27; BRCLM.010-024</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Informal closure</a:t>
            </a:r>
          </a:p>
          <a:p>
            <a:pPr>
              <a:spcAft>
                <a:spcPts val="100"/>
              </a:spcAft>
            </a:pPr>
            <a:r>
              <a:rPr sz="1200" b="0">
                <a:solidFill>
                  <a:srgbClr val="4B4B4B"/>
                </a:solidFill>
                <a:latin typeface="Arial"/>
              </a:rPr>
              <a:t>No distinction between temporary and permanent closure.</a:t>
            </a:r>
          </a:p>
          <a:p>
            <a:pPr>
              <a:spcAft>
                <a:spcPts val="100"/>
              </a:spcAft>
            </a:pPr>
            <a:r>
              <a:rPr sz="1200" b="0">
                <a:solidFill>
                  <a:srgbClr val="0072D8"/>
                </a:solidFill>
                <a:latin typeface="Arial"/>
              </a:rPr>
              <a:t>BRD-7 p.27-28; BRCLM.005, 035</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Reports from ISYS</a:t>
            </a:r>
          </a:p>
          <a:p>
            <a:pPr>
              <a:spcAft>
                <a:spcPts val="100"/>
              </a:spcAft>
            </a:pPr>
            <a:r>
              <a:rPr sz="1200" b="0">
                <a:solidFill>
                  <a:srgbClr val="4B4B4B"/>
                </a:solidFill>
                <a:latin typeface="Arial"/>
              </a:rPr>
              <a:t>Claims reports are extracted from ISYS.</a:t>
            </a:r>
          </a:p>
          <a:p>
            <a:pPr>
              <a:spcAft>
                <a:spcPts val="100"/>
              </a:spcAft>
            </a:pPr>
            <a:r>
              <a:rPr sz="1200" b="0">
                <a:solidFill>
                  <a:srgbClr val="0072D8"/>
                </a:solidFill>
                <a:latin typeface="Arial"/>
              </a:rPr>
              <a:t>BRD-7 p.39-42; Report List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Claims: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pic>
        <p:nvPicPr>
          <p:cNvPr id="9" name="Picture 8" descr="brd07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Claim lifecycle in BIBS: workflow BCL_CLAIM (FRS BRD-7 sections 2.2 and 5)</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Claims: how the BRD answers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Notice prepared by hand</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Claim recorded on the cover in BIBS with the PLA / CRF data; number BCL-yyyy-nnnnnn</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55 claims a day</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Policy details re-keyed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Cover, policy, version, locations, unit and branch read from the account, read-only</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re-keying</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Premium checked by hand</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Invoice ledger read; authorization code disabled while premium is unpaid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Check in 5 s</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Loss advice from a mailbox</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Loss advice generated and e-mailed per insurer; insurer claim numbers recorded</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Send log</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in spreadsheets</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Status within the role / unit matrix, adjuster, reserve, follow-up and diary on the claim</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1,096 updates a day</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Informal closure</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Temporary and permanent closure; permanent needs a settlement type and a TL / TH</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Four-eyes closure</a:t>
            </a:r>
          </a:p>
        </p:txBody>
      </p:sp>
      <p:sp>
        <p:nvSpPr>
          <p:cNvPr id="54" name="Oval 53"/>
          <p:cNvSpPr/>
          <p:nvPr/>
        </p:nvSpPr>
        <p:spPr>
          <a:xfrm>
            <a:off x="548640" y="561702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491625"/>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491625"/>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from ISYS</a:t>
            </a:r>
          </a:p>
        </p:txBody>
      </p:sp>
      <p:sp>
        <p:nvSpPr>
          <p:cNvPr id="57" name="Right Arrow 56"/>
          <p:cNvSpPr/>
          <p:nvPr/>
        </p:nvSpPr>
        <p:spPr>
          <a:xfrm>
            <a:off x="4462272" y="567189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800600" y="5491625"/>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846320" y="5491625"/>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Ageing, outstanding, settled, loss experience and loss ratio reports in BIBS, to Excel</a:t>
            </a:r>
          </a:p>
        </p:txBody>
      </p:sp>
      <p:sp>
        <p:nvSpPr>
          <p:cNvPr id="60" name="TextBox 59"/>
          <p:cNvSpPr txBox="1"/>
          <p:nvPr/>
        </p:nvSpPr>
        <p:spPr>
          <a:xfrm>
            <a:off x="9665208" y="5491625"/>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ISYS extract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Claims: gaps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Offer and contest loop</a:t>
                      </a:r>
                    </a:p>
                  </a:txBody>
                  <a:tcPr marL="64008" marR="64008" marT="27432" marB="27432" anchor="ctr">
                    <a:solidFill>
                      <a:srgbClr val="FFFFFF"/>
                    </a:solidFill>
                  </a:tcPr>
                </a:tc>
                <a:tc>
                  <a:txBody>
                    <a:bodyPr wrap="square"/>
                    <a:lstStyle/>
                    <a:p>
                      <a:r>
                        <a:rPr sz="1100" b="0">
                          <a:solidFill>
                            <a:srgbClr val="4B4B4B"/>
                          </a:solidFill>
                          <a:latin typeface="Arial"/>
                        </a:rPr>
                        <a:t>Offer reviewed, sent, accepted or contested, re-evaluated.</a:t>
                      </a:r>
                    </a:p>
                  </a:txBody>
                  <a:tcPr marL="64008" marR="64008" marT="27432" marB="27432" anchor="ctr">
                    <a:solidFill>
                      <a:srgbClr val="FFFFFF"/>
                    </a:solidFill>
                  </a:tcPr>
                </a:tc>
                <a:tc>
                  <a:txBody>
                    <a:bodyPr wrap="square"/>
                    <a:lstStyle/>
                    <a:p>
                      <a:r>
                        <a:rPr sz="1100" b="0">
                          <a:solidFill>
                            <a:srgbClr val="4B4B4B"/>
                          </a:solidFill>
                          <a:latin typeface="Arial"/>
                        </a:rPr>
                        <a:t>Status values only; no offer record.</a:t>
                      </a:r>
                    </a:p>
                  </a:txBody>
                  <a:tcPr marL="64008" marR="64008" marT="27432" marB="27432" anchor="ctr">
                    <a:solidFill>
                      <a:srgbClr val="FFFFFF"/>
                    </a:solidFill>
                  </a:tcPr>
                </a:tc>
                <a:tc>
                  <a:txBody>
                    <a:bodyPr wrap="square"/>
                    <a:lstStyle/>
                    <a:p>
                      <a:r>
                        <a:rPr sz="1100" b="0">
                          <a:solidFill>
                            <a:srgbClr val="4B4B4B"/>
                          </a:solidFill>
                          <a:latin typeface="Arial"/>
                        </a:rPr>
                        <a:t>Offer record with versions, acceptance and contest reason.</a:t>
                      </a:r>
                    </a:p>
                  </a:txBody>
                  <a:tcPr marL="64008" marR="64008" marT="27432" marB="27432" anchor="ctr">
                    <a:solidFill>
                      <a:srgbClr val="FFFFFF"/>
                    </a:solidFill>
                  </a:tcPr>
                </a:tc>
                <a:tc>
                  <a:txBody>
                    <a:bodyPr wrap="square"/>
                    <a:lstStyle/>
                    <a:p>
                      <a:r>
                        <a:rPr sz="1100" b="0">
                          <a:solidFill>
                            <a:srgbClr val="4B4B4B"/>
                          </a:solidFill>
                          <a:latin typeface="Arial"/>
                        </a:rPr>
                        <a:t>Claims flow</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Repair monitoring after the LOA</a:t>
                      </a:r>
                    </a:p>
                  </a:txBody>
                  <a:tcPr marL="64008" marR="64008" marT="27432" marB="27432" anchor="ctr">
                    <a:solidFill>
                      <a:srgbClr val="E5F5FF"/>
                    </a:solidFill>
                  </a:tcPr>
                </a:tc>
                <a:tc>
                  <a:txBody>
                    <a:bodyPr wrap="square"/>
                    <a:lstStyle/>
                    <a:p>
                      <a:r>
                        <a:rPr sz="1100" b="0">
                          <a:solidFill>
                            <a:srgbClr val="4B4B4B"/>
                          </a:solidFill>
                          <a:latin typeface="Arial"/>
                        </a:rPr>
                        <a:t>Repair tracked offline until completion.</a:t>
                      </a:r>
                    </a:p>
                  </a:txBody>
                  <a:tcPr marL="64008" marR="64008" marT="27432" marB="27432" anchor="ctr">
                    <a:solidFill>
                      <a:srgbClr val="E5F5FF"/>
                    </a:solidFill>
                  </a:tcPr>
                </a:tc>
                <a:tc>
                  <a:txBody>
                    <a:bodyPr wrap="square"/>
                    <a:lstStyle/>
                    <a:p>
                      <a:r>
                        <a:rPr sz="1100" b="0">
                          <a:solidFill>
                            <a:srgbClr val="4B4B4B"/>
                          </a:solidFill>
                          <a:latin typeface="Arial"/>
                        </a:rPr>
                        <a:t>LOA statuses; no repair milestones.</a:t>
                      </a:r>
                    </a:p>
                  </a:txBody>
                  <a:tcPr marL="64008" marR="64008" marT="27432" marB="27432" anchor="ctr">
                    <a:solidFill>
                      <a:srgbClr val="E5F5FF"/>
                    </a:solidFill>
                  </a:tcPr>
                </a:tc>
                <a:tc>
                  <a:txBody>
                    <a:bodyPr wrap="square"/>
                    <a:lstStyle/>
                    <a:p>
                      <a:r>
                        <a:rPr sz="1100" b="0">
                          <a:solidFill>
                            <a:srgbClr val="4B4B4B"/>
                          </a:solidFill>
                          <a:latin typeface="Arial"/>
                        </a:rPr>
                        <a:t>Repair milestones and dealer updates until the car is released.</a:t>
                      </a:r>
                    </a:p>
                  </a:txBody>
                  <a:tcPr marL="64008" marR="64008" marT="27432" marB="27432" anchor="ctr">
                    <a:solidFill>
                      <a:srgbClr val="E5F5FF"/>
                    </a:solidFill>
                  </a:tcPr>
                </a:tc>
                <a:tc>
                  <a:txBody>
                    <a:bodyPr wrap="square"/>
                    <a:lstStyle/>
                    <a:p>
                      <a:r>
                        <a:rPr sz="1100" b="0">
                          <a:solidFill>
                            <a:srgbClr val="4B4B4B"/>
                          </a:solidFill>
                          <a:latin typeface="Arial"/>
                        </a:rPr>
                        <a:t>CLQ05</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Document checklist</a:t>
                      </a:r>
                    </a:p>
                  </a:txBody>
                  <a:tcPr marL="64008" marR="64008" marT="27432" marB="27432" anchor="ctr">
                    <a:solidFill>
                      <a:srgbClr val="FFFFFF"/>
                    </a:solidFill>
                  </a:tcPr>
                </a:tc>
                <a:tc>
                  <a:txBody>
                    <a:bodyPr wrap="square"/>
                    <a:lstStyle/>
                    <a:p>
                      <a:r>
                        <a:rPr sz="1100" b="0">
                          <a:solidFill>
                            <a:srgbClr val="4B4B4B"/>
                          </a:solidFill>
                          <a:latin typeface="Arial"/>
                        </a:rPr>
                        <a:t>Documents chased until complete.</a:t>
                      </a:r>
                    </a:p>
                  </a:txBody>
                  <a:tcPr marL="64008" marR="64008" marT="27432" marB="27432" anchor="ctr">
                    <a:solidFill>
                      <a:srgbClr val="FFFFFF"/>
                    </a:solidFill>
                  </a:tcPr>
                </a:tc>
                <a:tc>
                  <a:txBody>
                    <a:bodyPr wrap="square"/>
                    <a:lstStyle/>
                    <a:p>
                      <a:r>
                        <a:rPr sz="1100" b="0">
                          <a:solidFill>
                            <a:srgbClr val="4B4B4B"/>
                          </a:solidFill>
                          <a:latin typeface="Arial"/>
                        </a:rPr>
                        <a:t>Diary and statuses; no checklist per claim type.</a:t>
                      </a:r>
                    </a:p>
                  </a:txBody>
                  <a:tcPr marL="64008" marR="64008" marT="27432" marB="27432" anchor="ctr">
                    <a:solidFill>
                      <a:srgbClr val="FFFFFF"/>
                    </a:solidFill>
                  </a:tcPr>
                </a:tc>
                <a:tc>
                  <a:txBody>
                    <a:bodyPr wrap="square"/>
                    <a:lstStyle/>
                    <a:p>
                      <a:r>
                        <a:rPr sz="1100" b="0">
                          <a:solidFill>
                            <a:srgbClr val="4B4B4B"/>
                          </a:solidFill>
                          <a:latin typeface="Arial"/>
                        </a:rPr>
                        <a:t>Checklist per line and cause of loss with reminders.</a:t>
                      </a:r>
                    </a:p>
                  </a:txBody>
                  <a:tcPr marL="64008" marR="64008" marT="27432" marB="27432" anchor="ctr">
                    <a:solidFill>
                      <a:srgbClr val="FFFFFF"/>
                    </a:solidFill>
                  </a:tcPr>
                </a:tc>
                <a:tc>
                  <a:txBody>
                    <a:bodyPr wrap="square"/>
                    <a:lstStyle/>
                    <a:p>
                      <a:r>
                        <a:rPr sz="1100" b="0">
                          <a:solidFill>
                            <a:srgbClr val="4B4B4B"/>
                          </a:solidFill>
                          <a:latin typeface="Arial"/>
                        </a:rPr>
                        <a:t>CLQ26</a:t>
                      </a:r>
                    </a:p>
                  </a:txBody>
                  <a:tcPr marL="64008" marR="64008" marT="27432" marB="27432" anchor="ctr">
                    <a:solidFill>
                      <a:srgbClr val="FFFFFF"/>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Digital notice of loss</a:t>
                      </a:r>
                    </a:p>
                  </a:txBody>
                  <a:tcPr marL="64008" marR="64008" marT="27432" marB="27432" anchor="ctr">
                    <a:solidFill>
                      <a:srgbClr val="E5F5FF"/>
                    </a:solidFill>
                  </a:tcPr>
                </a:tc>
                <a:tc>
                  <a:txBody>
                    <a:bodyPr wrap="square"/>
                    <a:lstStyle/>
                    <a:p>
                      <a:r>
                        <a:rPr sz="1100" b="0">
                          <a:solidFill>
                            <a:srgbClr val="4B4B4B"/>
                          </a:solidFill>
                          <a:latin typeface="Arial"/>
                        </a:rPr>
                        <a:t>Notice by e-mail or call; PLA or CRF prepared by hand.</a:t>
                      </a:r>
                    </a:p>
                  </a:txBody>
                  <a:tcPr marL="64008" marR="64008" marT="27432" marB="27432" anchor="ctr">
                    <a:solidFill>
                      <a:srgbClr val="E5F5FF"/>
                    </a:solidFill>
                  </a:tcPr>
                </a:tc>
                <a:tc>
                  <a:txBody>
                    <a:bodyPr wrap="square"/>
                    <a:lstStyle/>
                    <a:p>
                      <a:r>
                        <a:rPr sz="1100" b="0">
                          <a:solidFill>
                            <a:srgbClr val="4B4B4B"/>
                          </a:solidFill>
                          <a:latin typeface="Arial"/>
                        </a:rPr>
                        <a:t>Claim record from PLA / CRF data; no client channel.</a:t>
                      </a:r>
                    </a:p>
                  </a:txBody>
                  <a:tcPr marL="64008" marR="64008" marT="27432" marB="27432" anchor="ctr">
                    <a:solidFill>
                      <a:srgbClr val="E5F5FF"/>
                    </a:solidFill>
                  </a:tcPr>
                </a:tc>
                <a:tc>
                  <a:txBody>
                    <a:bodyPr wrap="square"/>
                    <a:lstStyle/>
                    <a:p>
                      <a:r>
                        <a:rPr sz="1100" b="0">
                          <a:solidFill>
                            <a:srgbClr val="4B4B4B"/>
                          </a:solidFill>
                          <a:latin typeface="Arial"/>
                        </a:rPr>
                        <a:t>Notice through the contact centre or a web form with photos.</a:t>
                      </a:r>
                    </a:p>
                  </a:txBody>
                  <a:tcPr marL="64008" marR="64008" marT="27432" marB="27432" anchor="ctr">
                    <a:solidFill>
                      <a:srgbClr val="E5F5FF"/>
                    </a:solidFill>
                  </a:tcPr>
                </a:tc>
                <a:tc>
                  <a:txBody>
                    <a:bodyPr wrap="square"/>
                    <a:lstStyle/>
                    <a:p>
                      <a:r>
                        <a:rPr sz="1100" b="0">
                          <a:solidFill>
                            <a:srgbClr val="4B4B4B"/>
                          </a:solidFill>
                          <a:latin typeface="Arial"/>
                        </a:rPr>
                        <a:t>CLQ23</a:t>
                      </a:r>
                    </a:p>
                  </a:txBody>
                  <a:tcPr marL="64008" marR="64008" marT="27432" marB="27432" anchor="ctr">
                    <a:solidFill>
                      <a:srgbClr val="E5F5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Money through BDOI</a:t>
                      </a:r>
                    </a:p>
                  </a:txBody>
                  <a:tcPr marL="64008" marR="64008" marT="27432" marB="27432" anchor="ctr">
                    <a:solidFill>
                      <a:srgbClr val="FFFFFF"/>
                    </a:solidFill>
                  </a:tcPr>
                </a:tc>
                <a:tc>
                  <a:txBody>
                    <a:bodyPr wrap="square"/>
                    <a:lstStyle/>
                    <a:p>
                      <a:r>
                        <a:rPr sz="1100" b="0">
                          <a:solidFill>
                            <a:srgbClr val="4B4B4B"/>
                          </a:solidFill>
                          <a:latin typeface="Arial"/>
                        </a:rPr>
                        <a:t>Cheque payable to the assured; cash settlement.</a:t>
                      </a:r>
                    </a:p>
                  </a:txBody>
                  <a:tcPr marL="64008" marR="64008" marT="27432" marB="27432" anchor="ctr">
                    <a:solidFill>
                      <a:srgbClr val="FFFFFF"/>
                    </a:solidFill>
                  </a:tcPr>
                </a:tc>
                <a:tc>
                  <a:txBody>
                    <a:bodyPr wrap="square"/>
                    <a:lstStyle/>
                    <a:p>
                      <a:r>
                        <a:rPr sz="1100" b="0">
                          <a:solidFill>
                            <a:srgbClr val="4B4B4B"/>
                          </a:solidFill>
                          <a:latin typeface="Arial"/>
                        </a:rPr>
                        <a:t>Open whether proceeds pass through BDOI.</a:t>
                      </a:r>
                    </a:p>
                  </a:txBody>
                  <a:tcPr marL="64008" marR="64008" marT="27432" marB="27432" anchor="ctr">
                    <a:solidFill>
                      <a:srgbClr val="FFFFFF"/>
                    </a:solidFill>
                  </a:tcPr>
                </a:tc>
                <a:tc>
                  <a:txBody>
                    <a:bodyPr wrap="square"/>
                    <a:lstStyle/>
                    <a:p>
                      <a:r>
                        <a:rPr sz="1100" b="0">
                          <a:solidFill>
                            <a:srgbClr val="4B4B4B"/>
                          </a:solidFill>
                          <a:latin typeface="Arial"/>
                        </a:rPr>
                        <a:t>Confirm per line; if yes, route through Disbursement.</a:t>
                      </a:r>
                    </a:p>
                  </a:txBody>
                  <a:tcPr marL="64008" marR="64008" marT="27432" marB="27432" anchor="ctr">
                    <a:solidFill>
                      <a:srgbClr val="FFFFFF"/>
                    </a:solidFill>
                  </a:tcPr>
                </a:tc>
                <a:tc>
                  <a:txBody>
                    <a:bodyPr wrap="square"/>
                    <a:lstStyle/>
                    <a:p>
                      <a:r>
                        <a:rPr sz="1100" b="0">
                          <a:solidFill>
                            <a:srgbClr val="4B4B4B"/>
                          </a:solidFill>
                          <a:latin typeface="Arial"/>
                        </a:rPr>
                        <a:t>DCR-086</a:t>
                      </a:r>
                    </a:p>
                  </a:txBody>
                  <a:tcPr marL="64008" marR="64008" marT="27432" marB="27432" anchor="ctr">
                    <a:solidFill>
                      <a:srgbClr val="FFFF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Authorization code</a:t>
                      </a:r>
                    </a:p>
                  </a:txBody>
                  <a:tcPr marL="64008" marR="64008" marT="27432" marB="27432" anchor="ctr">
                    <a:solidFill>
                      <a:srgbClr val="E5F5FF"/>
                    </a:solidFill>
                  </a:tcPr>
                </a:tc>
                <a:tc>
                  <a:txBody>
                    <a:bodyPr wrap="square"/>
                    <a:lstStyle/>
                    <a:p>
                      <a:r>
                        <a:rPr sz="1100" b="0">
                          <a:solidFill>
                            <a:srgbClr val="4B4B4B"/>
                          </a:solidFill>
                          <a:latin typeface="Arial"/>
                        </a:rPr>
                        <a:t>Premium checked before filing.</a:t>
                      </a:r>
                    </a:p>
                  </a:txBody>
                  <a:tcPr marL="64008" marR="64008" marT="27432" marB="27432" anchor="ctr">
                    <a:solidFill>
                      <a:srgbClr val="E5F5FF"/>
                    </a:solidFill>
                  </a:tcPr>
                </a:tc>
                <a:tc>
                  <a:txBody>
                    <a:bodyPr wrap="square"/>
                    <a:lstStyle/>
                    <a:p>
                      <a:r>
                        <a:rPr sz="1100" b="0">
                          <a:solidFill>
                            <a:srgbClr val="4B4B4B"/>
                          </a:solidFill>
                          <a:latin typeface="Arial"/>
                        </a:rPr>
                        <a:t>Code disabled while premium unpaid; code undefined.</a:t>
                      </a:r>
                    </a:p>
                  </a:txBody>
                  <a:tcPr marL="64008" marR="64008" marT="27432" marB="27432" anchor="ctr">
                    <a:solidFill>
                      <a:srgbClr val="E5F5FF"/>
                    </a:solidFill>
                  </a:tcPr>
                </a:tc>
                <a:tc>
                  <a:txBody>
                    <a:bodyPr wrap="square"/>
                    <a:lstStyle/>
                    <a:p>
                      <a:r>
                        <a:rPr sz="1100" b="0">
                          <a:solidFill>
                            <a:srgbClr val="4B4B4B"/>
                          </a:solidFill>
                          <a:latin typeface="Arial"/>
                        </a:rPr>
                        <a:t>Define the code and who can override.</a:t>
                      </a:r>
                    </a:p>
                  </a:txBody>
                  <a:tcPr marL="64008" marR="64008" marT="27432" marB="27432" anchor="ctr">
                    <a:solidFill>
                      <a:srgbClr val="E5F5FF"/>
                    </a:solidFill>
                  </a:tcPr>
                </a:tc>
                <a:tc>
                  <a:txBody>
                    <a:bodyPr wrap="square"/>
                    <a:lstStyle/>
                    <a:p>
                      <a:r>
                        <a:rPr sz="1100" b="0">
                          <a:solidFill>
                            <a:srgbClr val="4B4B4B"/>
                          </a:solidFill>
                          <a:latin typeface="Arial"/>
                        </a:rPr>
                        <a:t>DCR-085</a:t>
                      </a:r>
                    </a:p>
                  </a:txBody>
                  <a:tcPr marL="64008" marR="64008" marT="27432" marB="27432" anchor="ctr">
                    <a:solidFill>
                      <a:srgbClr val="E5F5FF"/>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Claims: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Digital first notice of loss</a:t>
            </a:r>
          </a:p>
        </p:txBody>
      </p:sp>
      <p:sp>
        <p:nvSpPr>
          <p:cNvPr id="12" name="Rounded Rectangle 11"/>
          <p:cNvSpPr/>
          <p:nvPr/>
        </p:nvSpPr>
        <p:spPr>
          <a:xfrm>
            <a:off x="640080" y="1920240"/>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start</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Notice by web, app or contact centre with photos and automatic policy lookup.</a:t>
            </a:r>
          </a:p>
          <a:p>
            <a:pPr>
              <a:spcAft>
                <a:spcPts val="400"/>
              </a:spcAft>
            </a:pPr>
            <a:r>
              <a:rPr sz="1200" b="1">
                <a:solidFill>
                  <a:srgbClr val="004EA8"/>
                </a:solidFill>
                <a:latin typeface="Arial"/>
              </a:rPr>
              <a:t>For BDOI: </a:t>
            </a:r>
            <a:r>
              <a:rPr sz="1200" b="0">
                <a:solidFill>
                  <a:srgbClr val="4B4B4B"/>
                </a:solidFill>
                <a:latin typeface="Arial"/>
              </a:rPr>
              <a:t>Start with a contact-centre form that creates the claim.</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Client status updates</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follow-up calls</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Automatic SMS or e-mail at each status change.</a:t>
            </a:r>
          </a:p>
          <a:p>
            <a:pPr>
              <a:spcAft>
                <a:spcPts val="400"/>
              </a:spcAft>
            </a:pPr>
            <a:r>
              <a:rPr sz="1200" b="1">
                <a:solidFill>
                  <a:srgbClr val="004EA8"/>
                </a:solidFill>
                <a:latin typeface="Arial"/>
              </a:rPr>
              <a:t>For BDOI: </a:t>
            </a:r>
            <a:r>
              <a:rPr sz="1200" b="0">
                <a:solidFill>
                  <a:srgbClr val="4B4B4B"/>
                </a:solidFill>
                <a:latin typeface="Arial"/>
              </a:rPr>
              <a:t>Send notices on the key statuses.</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Insurer SLA scorecards</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insurer choice</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Days from notice to offer and offer to payment, per insurer and line.</a:t>
            </a:r>
          </a:p>
          <a:p>
            <a:pPr>
              <a:spcAft>
                <a:spcPts val="400"/>
              </a:spcAft>
            </a:pPr>
            <a:r>
              <a:rPr sz="1200" b="1">
                <a:solidFill>
                  <a:srgbClr val="004EA8"/>
                </a:solidFill>
                <a:latin typeface="Arial"/>
              </a:rPr>
              <a:t>For BDOI: </a:t>
            </a:r>
            <a:r>
              <a:rPr sz="1200" b="0">
                <a:solidFill>
                  <a:srgbClr val="4B4B4B"/>
                </a:solidFill>
                <a:latin typeface="Arial"/>
              </a:rPr>
              <a:t>Build from the ageing reports.</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Repair network integration</a:t>
            </a:r>
          </a:p>
        </p:txBody>
      </p:sp>
      <p:sp>
        <p:nvSpPr>
          <p:cNvPr id="30" name="Rounded Rectangle 29"/>
          <p:cNvSpPr/>
          <p:nvPr/>
        </p:nvSpPr>
        <p:spPr>
          <a:xfrm>
            <a:off x="640080"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Shorter repair time</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LOA and repair status exchanged with accredited shops and dealers.</a:t>
            </a:r>
          </a:p>
          <a:p>
            <a:pPr>
              <a:spcAft>
                <a:spcPts val="400"/>
              </a:spcAft>
            </a:pPr>
            <a:r>
              <a:rPr sz="1200" b="1">
                <a:solidFill>
                  <a:srgbClr val="004EA8"/>
                </a:solidFill>
                <a:latin typeface="Arial"/>
              </a:rPr>
              <a:t>For BDOI: </a:t>
            </a:r>
            <a:r>
              <a:rPr sz="1200" b="0">
                <a:solidFill>
                  <a:srgbClr val="4B4B4B"/>
                </a:solidFill>
                <a:latin typeface="Arial"/>
              </a:rPr>
              <a:t>After go-live with the main dealers.</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Document checklist with chasing</a:t>
            </a:r>
          </a:p>
        </p:txBody>
      </p:sp>
      <p:sp>
        <p:nvSpPr>
          <p:cNvPr id="36" name="Rounded Rectangle 35"/>
          <p:cNvSpPr/>
          <p:nvPr/>
        </p:nvSpPr>
        <p:spPr>
          <a:xfrm>
            <a:off x="4393082" y="4448556"/>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Complete files first time</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Checklist per claim type and automatic reminders to the client.</a:t>
            </a:r>
          </a:p>
          <a:p>
            <a:pPr>
              <a:spcAft>
                <a:spcPts val="400"/>
              </a:spcAft>
            </a:pPr>
            <a:r>
              <a:rPr sz="1200" b="1">
                <a:solidFill>
                  <a:srgbClr val="004EA8"/>
                </a:solidFill>
                <a:latin typeface="Arial"/>
              </a:rPr>
              <a:t>For BDOI: </a:t>
            </a:r>
            <a:r>
              <a:rPr sz="1200" b="0">
                <a:solidFill>
                  <a:srgbClr val="4B4B4B"/>
                </a:solidFill>
                <a:latin typeface="Arial"/>
              </a:rPr>
              <a:t>Define the checklists with the Claims team.</a:t>
            </a:r>
          </a:p>
        </p:txBody>
      </p:sp>
      <p:sp>
        <p:nvSpPr>
          <p:cNvPr id="39" name="Rounded Rectangle 38"/>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Claims analytics for renewals</a:t>
            </a:r>
          </a:p>
        </p:txBody>
      </p:sp>
      <p:sp>
        <p:nvSpPr>
          <p:cNvPr id="42" name="Rounded Rectangle 41"/>
          <p:cNvSpPr/>
          <p:nvPr/>
        </p:nvSpPr>
        <p:spPr>
          <a:xfrm>
            <a:off x="8146084"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43" name="TextBox 42"/>
          <p:cNvSpPr txBox="1"/>
          <p:nvPr/>
        </p:nvSpPr>
        <p:spPr>
          <a:xfrm>
            <a:off x="9837724"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terms</a:t>
            </a:r>
          </a:p>
        </p:txBody>
      </p:sp>
      <p:sp>
        <p:nvSpPr>
          <p:cNvPr id="44" name="TextBox 43"/>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Loss ratio and claims-prone locations feed renewals and risk advice.</a:t>
            </a:r>
          </a:p>
          <a:p>
            <a:pPr>
              <a:spcAft>
                <a:spcPts val="400"/>
              </a:spcAft>
            </a:pPr>
            <a:r>
              <a:rPr sz="1200" b="1">
                <a:solidFill>
                  <a:srgbClr val="004EA8"/>
                </a:solidFill>
                <a:latin typeface="Arial"/>
              </a:rPr>
              <a:t>For BDOI: </a:t>
            </a:r>
            <a:r>
              <a:rPr sz="1200" b="0">
                <a:solidFill>
                  <a:srgbClr val="4B4B4B"/>
                </a:solidFill>
                <a:latin typeface="Arial"/>
              </a:rPr>
              <a:t>Share loss experience with Renewal and TSU.</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Customer Servicing: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Contact Center Management / Alternative Distribution</a:t>
            </a:r>
          </a:p>
          <a:p>
            <a:pPr>
              <a:spcAft>
                <a:spcPts val="300"/>
              </a:spcAft>
            </a:pPr>
            <a:r>
              <a:rPr sz="1200" b="0">
                <a:solidFill>
                  <a:srgbClr val="004EA8"/>
                </a:solidFill>
                <a:latin typeface="Arial"/>
              </a:rPr>
              <a:t>•  </a:t>
            </a:r>
            <a:r>
              <a:rPr sz="1200" b="0">
                <a:solidFill>
                  <a:srgbClr val="4B4B4B"/>
                </a:solidFill>
                <a:latin typeface="Arial"/>
              </a:rPr>
              <a:t>BDO Insure contact centre agent (CSR)</a:t>
            </a:r>
          </a:p>
          <a:p>
            <a:pPr>
              <a:spcAft>
                <a:spcPts val="300"/>
              </a:spcAft>
            </a:pPr>
            <a:r>
              <a:rPr sz="1200" b="0">
                <a:solidFill>
                  <a:srgbClr val="004EA8"/>
                </a:solidFill>
                <a:latin typeface="Arial"/>
              </a:rPr>
              <a:t>•  </a:t>
            </a:r>
            <a:r>
              <a:rPr sz="1200" b="0">
                <a:solidFill>
                  <a:srgbClr val="4B4B4B"/>
                </a:solidFill>
                <a:latin typeface="Arial"/>
              </a:rPr>
              <a:t>Contact centre supervisor; BDO contact centre (BDO CCC) personnel</a:t>
            </a:r>
          </a:p>
          <a:p>
            <a:pPr>
              <a:spcAft>
                <a:spcPts val="300"/>
              </a:spcAft>
            </a:pPr>
            <a:r>
              <a:rPr sz="1200" b="0">
                <a:solidFill>
                  <a:srgbClr val="004EA8"/>
                </a:solidFill>
                <a:latin typeface="Arial"/>
              </a:rPr>
              <a:t>•  </a:t>
            </a:r>
            <a:r>
              <a:rPr sz="1200" b="0">
                <a:solidFill>
                  <a:srgbClr val="4B4B4B"/>
                </a:solidFill>
                <a:latin typeface="Arial"/>
              </a:rPr>
              <a:t>Fulfilment units: the Marketing unit that manages the account</a:t>
            </a:r>
          </a:p>
          <a:p>
            <a:pPr>
              <a:spcAft>
                <a:spcPts val="300"/>
              </a:spcAft>
            </a:pPr>
            <a:r>
              <a:rPr sz="1200" b="0">
                <a:solidFill>
                  <a:srgbClr val="004EA8"/>
                </a:solidFill>
                <a:latin typeface="Arial"/>
              </a:rPr>
              <a:t>•  </a:t>
            </a:r>
            <a:r>
              <a:rPr sz="1200" b="0">
                <a:solidFill>
                  <a:srgbClr val="4B4B4B"/>
                </a:solidFill>
                <a:latin typeface="Arial"/>
              </a:rPr>
              <a:t>Contact centre management, leads and heads; System Administrator</a:t>
            </a:r>
          </a:p>
          <a:p>
            <a:pPr>
              <a:spcAft>
                <a:spcPts val="300"/>
              </a:spcAft>
            </a:pPr>
            <a:r>
              <a:rPr sz="1200" b="0">
                <a:solidFill>
                  <a:srgbClr val="004EA8"/>
                </a:solidFill>
                <a:latin typeface="Arial"/>
              </a:rPr>
              <a:t>•  </a:t>
            </a:r>
            <a:r>
              <a:rPr sz="1200" b="0">
                <a:solidFill>
                  <a:srgbClr val="4B4B4B"/>
                </a:solidFill>
                <a:latin typeface="Arial"/>
              </a:rPr>
              <a:t>Callers (clients)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144,400</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access, retrieval and search transactions a year (BRD-9 p.13-14)</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24</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concurrent agents, supervisors and personnel</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2</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contact centres involved: BDO Insure and BDO CCC (XQ02)</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&lt; 3 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retrieval, update and search; 5 s documents</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Process flows walked with the contact centre owners; not a September floor-walk slot</a:t>
            </a:r>
          </a:p>
          <a:p>
            <a:pPr>
              <a:spcAft>
                <a:spcPts val="400"/>
              </a:spcAft>
            </a:pPr>
            <a:r>
              <a:rPr sz="1100" b="1">
                <a:solidFill>
                  <a:srgbClr val="004EA8"/>
                </a:solidFill>
                <a:latin typeface="Arial"/>
              </a:rPr>
              <a:t>Process owners: </a:t>
            </a:r>
            <a:r>
              <a:rPr sz="1100" b="0">
                <a:solidFill>
                  <a:srgbClr val="4B4B4B"/>
                </a:solidFill>
                <a:latin typeface="Arial"/>
              </a:rPr>
              <a:t>Contact Center Management (BDO Insure)</a:t>
            </a:r>
          </a:p>
          <a:p>
            <a:pPr>
              <a:spcAft>
                <a:spcPts val="400"/>
              </a:spcAft>
            </a:pPr>
            <a:r>
              <a:rPr sz="1100" b="0">
                <a:solidFill>
                  <a:srgbClr val="004EA8"/>
                </a:solidFill>
                <a:latin typeface="Arial"/>
              </a:rPr>
              <a:t>•  </a:t>
            </a:r>
            <a:r>
              <a:rPr sz="1100" b="0">
                <a:solidFill>
                  <a:srgbClr val="4B4B4B"/>
                </a:solidFill>
                <a:latin typeface="Arial"/>
              </a:rPr>
              <a:t>High-level Customer Servicing Facility process flow</a:t>
            </a:r>
          </a:p>
          <a:p>
            <a:pPr>
              <a:spcAft>
                <a:spcPts val="400"/>
              </a:spcAft>
            </a:pPr>
            <a:r>
              <a:rPr sz="1100" b="0">
                <a:solidFill>
                  <a:srgbClr val="004EA8"/>
                </a:solidFill>
                <a:latin typeface="Arial"/>
              </a:rPr>
              <a:t>•  </a:t>
            </a:r>
            <a:r>
              <a:rPr sz="1100" b="0">
                <a:solidFill>
                  <a:srgbClr val="4B4B4B"/>
                </a:solidFill>
                <a:latin typeface="Arial"/>
              </a:rPr>
              <a:t>BDOI Case Management To-Be process flow, 15-Jul-2026</a:t>
            </a:r>
          </a:p>
          <a:p>
            <a:pPr>
              <a:spcAft>
                <a:spcPts val="400"/>
              </a:spcAft>
            </a:pPr>
            <a:r>
              <a:rPr sz="1100" b="0">
                <a:solidFill>
                  <a:srgbClr val="004EA8"/>
                </a:solidFill>
                <a:latin typeface="Arial"/>
              </a:rPr>
              <a:t>•  </a:t>
            </a:r>
            <a:r>
              <a:rPr sz="1100" b="0">
                <a:solidFill>
                  <a:srgbClr val="4B4B4B"/>
                </a:solidFill>
                <a:latin typeface="Arial"/>
              </a:rPr>
              <a:t>BRD-9 p.3-5; e-mail clarification p.17; BRCSF-001-011</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Contact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Identify</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Search</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View</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Verify</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Update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Resend or refer</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Close</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Customer Servicing: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CSF flow</a:t>
                      </a:r>
                    </a:p>
                  </a:txBody>
                  <a:tcPr marL="64008" marR="64008" marT="27432" marB="27432" anchor="ctr">
                    <a:solidFill>
                      <a:srgbClr val="FFFFFF"/>
                    </a:solidFill>
                  </a:tcPr>
                </a:tc>
                <a:tc>
                  <a:txBody>
                    <a:bodyPr wrap="square"/>
                    <a:lstStyle/>
                    <a:p>
                      <a:r>
                        <a:rPr sz="1100" b="0">
                          <a:solidFill>
                            <a:srgbClr val="4B4B4B"/>
                          </a:solidFill>
                          <a:latin typeface="Arial"/>
                        </a:rPr>
                        <a:t>Search</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Account inquiry by invoice number, PN number, last, first or full name (CBG); client inquiry by name for Non-CBG; open the account from the invoice or client code; view contact and insurance details.</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CSF flow</a:t>
                      </a:r>
                    </a:p>
                  </a:txBody>
                  <a:tcPr marL="64008" marR="64008" marT="27432" marB="27432" anchor="ctr">
                    <a:solidFill>
                      <a:srgbClr val="E5F5FF"/>
                    </a:solidFill>
                  </a:tcPr>
                </a:tc>
                <a:tc>
                  <a:txBody>
                    <a:bodyPr wrap="square"/>
                    <a:lstStyle/>
                    <a:p>
                      <a:r>
                        <a:rPr sz="1100" b="0">
                          <a:solidFill>
                            <a:srgbClr val="4B4B4B"/>
                          </a:solidFill>
                          <a:latin typeface="Arial"/>
                        </a:rPr>
                        <a:t>Contact update</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When contact details change, the agent updates them and the system migration updates the source databases (QPS, EBIX).</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Case To-Be</a:t>
                      </a:r>
                    </a:p>
                  </a:txBody>
                  <a:tcPr marL="64008" marR="64008" marT="27432" marB="27432" anchor="ctr">
                    <a:solidFill>
                      <a:srgbClr val="FFFFFF"/>
                    </a:solidFill>
                  </a:tcPr>
                </a:tc>
                <a:tc>
                  <a:txBody>
                    <a:bodyPr wrap="square"/>
                    <a:lstStyle/>
                    <a:p>
                      <a:r>
                        <a:rPr sz="1100" b="0">
                          <a:solidFill>
                            <a:srgbClr val="4B4B4B"/>
                          </a:solidFill>
                          <a:latin typeface="Arial"/>
                        </a:rPr>
                        <a:t>Case logging</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Agent identifies the client and the concern; logs every concern in CLS by typing it in; general inquiries answered from CC Nav and closed.</a:t>
                      </a:r>
                    </a:p>
                  </a:txBody>
                  <a:tcPr marL="64008" marR="64008" marT="27432" marB="27432" anchor="ctr">
                    <a:solidFill>
                      <a:srgbClr val="FFFFFF"/>
                    </a:solidFill>
                  </a:tcPr>
                </a:tc>
                <a:tc>
                  <a:txBody>
                    <a:bodyPr wrap="square"/>
                    <a:lstStyle/>
                    <a:p>
                      <a:r>
                        <a:rPr sz="1100" b="0">
                          <a:solidFill>
                            <a:srgbClr val="4B4B4B"/>
                          </a:solidFill>
                          <a:latin typeface="Arial"/>
                        </a:rPr>
                        <a:t>Client details filled in automatically in the case form.</a:t>
                      </a:r>
                    </a:p>
                  </a:txBody>
                  <a:tcPr marL="64008" marR="64008" marT="27432" marB="27432" anchor="ctr">
                    <a:solidFill>
                      <a:srgbClr val="FFFFFF"/>
                    </a:solidFill>
                  </a:tcPr>
                </a:tc>
              </a:tr>
              <a:tr h="758952">
                <a:tc>
                  <a:txBody>
                    <a:bodyPr wrap="square"/>
                    <a:lstStyle/>
                    <a:p>
                      <a:r>
                        <a:rPr sz="1100" b="1">
                          <a:solidFill>
                            <a:srgbClr val="4B4B4B"/>
                          </a:solidFill>
                          <a:latin typeface="Arial"/>
                        </a:rPr>
                        <a:t>Case To-Be</a:t>
                      </a:r>
                    </a:p>
                  </a:txBody>
                  <a:tcPr marL="64008" marR="64008" marT="27432" marB="27432" anchor="ctr">
                    <a:solidFill>
                      <a:srgbClr val="E5F5FF"/>
                    </a:solidFill>
                  </a:tcPr>
                </a:tc>
                <a:tc>
                  <a:txBody>
                    <a:bodyPr wrap="square"/>
                    <a:lstStyle/>
                    <a:p>
                      <a:r>
                        <a:rPr sz="1100" b="0">
                          <a:solidFill>
                            <a:srgbClr val="4B4B4B"/>
                          </a:solidFill>
                          <a:latin typeface="Arial"/>
                        </a:rPr>
                        <a:t>Positive identification</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Positive identification (PID) of the client before any account transaction; failed PID closes the case.</a:t>
                      </a:r>
                    </a:p>
                  </a:txBody>
                  <a:tcPr marL="64008" marR="64008" marT="27432" marB="27432" anchor="ctr">
                    <a:solidFill>
                      <a:srgbClr val="E5F5FF"/>
                    </a:solidFill>
                  </a:tcPr>
                </a:tc>
                <a:tc>
                  <a:txBody>
                    <a:bodyPr wrap="square"/>
                    <a:lstStyle/>
                    <a:p>
                      <a:r>
                        <a:rPr sz="1100" b="0">
                          <a:solidFill>
                            <a:srgbClr val="4B4B4B"/>
                          </a:solidFill>
                          <a:latin typeface="Arial"/>
                        </a:rPr>
                        <a:t>PID as a step of the case.</a:t>
                      </a:r>
                    </a:p>
                  </a:txBody>
                  <a:tcPr marL="64008" marR="64008" marT="27432" marB="27432" anchor="ctr">
                    <a:solidFill>
                      <a:srgbClr val="E5F5FF"/>
                    </a:solidFill>
                  </a:tcPr>
                </a:tc>
              </a:tr>
              <a:tr h="758952">
                <a:tc>
                  <a:txBody>
                    <a:bodyPr wrap="square"/>
                    <a:lstStyle/>
                    <a:p>
                      <a:r>
                        <a:rPr sz="1100" b="1">
                          <a:solidFill>
                            <a:srgbClr val="4B4B4B"/>
                          </a:solidFill>
                          <a:latin typeface="Arial"/>
                        </a:rPr>
                        <a:t>Case To-Be</a:t>
                      </a:r>
                    </a:p>
                  </a:txBody>
                  <a:tcPr marL="64008" marR="64008" marT="27432" marB="27432" anchor="ctr">
                    <a:solidFill>
                      <a:srgbClr val="FFFFFF"/>
                    </a:solidFill>
                  </a:tcPr>
                </a:tc>
                <a:tc>
                  <a:txBody>
                    <a:bodyPr wrap="square"/>
                    <a:lstStyle/>
                    <a:p>
                      <a:r>
                        <a:rPr sz="1100" b="0">
                          <a:solidFill>
                            <a:srgbClr val="4B4B4B"/>
                          </a:solidFill>
                          <a:latin typeface="Arial"/>
                        </a:rPr>
                        <a:t>Referral and TAT</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Concerns not solved at the first contact are referred to the fulfilment unit by e-mail and a CLS prompt.</a:t>
                      </a:r>
                    </a:p>
                  </a:txBody>
                  <a:tcPr marL="64008" marR="64008" marT="27432" marB="27432" anchor="ctr">
                    <a:solidFill>
                      <a:srgbClr val="FFFFFF"/>
                    </a:solidFill>
                  </a:tcPr>
                </a:tc>
                <a:tc>
                  <a:txBody>
                    <a:bodyPr wrap="square"/>
                    <a:lstStyle/>
                    <a:p>
                      <a:r>
                        <a:rPr sz="1100" b="0">
                          <a:solidFill>
                            <a:srgbClr val="4B4B4B"/>
                          </a:solidFill>
                          <a:latin typeface="Arial"/>
                        </a:rPr>
                        <a:t>Cases routed automatically to the Marketing unit of the account; open cases within or past TAT visible; invalid returns re-logged by BDO CCC.</a:t>
                      </a:r>
                    </a:p>
                  </a:txBody>
                  <a:tcPr marL="64008" marR="64008" marT="27432" marB="27432" anchor="ctr">
                    <a:solidFill>
                      <a:srgbClr val="FFFFFF"/>
                    </a:solidFill>
                  </a:tcPr>
                </a:tc>
              </a:tr>
              <a:tr h="758952">
                <a:tc>
                  <a:txBody>
                    <a:bodyPr wrap="square"/>
                    <a:lstStyle/>
                    <a:p>
                      <a:r>
                        <a:rPr sz="1100" b="1">
                          <a:solidFill>
                            <a:srgbClr val="4B4B4B"/>
                          </a:solidFill>
                          <a:latin typeface="Arial"/>
                        </a:rPr>
                        <a:t>NB and RN flows</a:t>
                      </a:r>
                    </a:p>
                  </a:txBody>
                  <a:tcPr marL="64008" marR="64008" marT="27432" marB="27432" anchor="ctr">
                    <a:solidFill>
                      <a:srgbClr val="E5F5FF"/>
                    </a:solidFill>
                  </a:tcPr>
                </a:tc>
                <a:tc>
                  <a:txBody>
                    <a:bodyPr wrap="square"/>
                    <a:lstStyle/>
                    <a:p>
                      <a:r>
                        <a:rPr sz="1100" b="0">
                          <a:solidFill>
                            <a:srgbClr val="4B4B4B"/>
                          </a:solidFill>
                          <a:latin typeface="Arial"/>
                        </a:rPr>
                        <a:t>E-policy after fall-out</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After an SFTP fall-out Marketing fixes the e-policy and the BDOI contact centre sends it to the client.</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Customer Servicing: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pic>
        <p:nvPicPr>
          <p:cNvPr id="9" name="Picture 8" descr="brd09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Contact centre servicing today (BRD-9 p.4)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11. Customer Servicing: BDOI's case-management To-Be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graphicFrame>
        <p:nvGraphicFramePr>
          <p:cNvPr id="9" name="Table 8"/>
          <p:cNvGraphicFramePr>
            <a:graphicFrameLocks noGrp="1"/>
          </p:cNvGraphicFramePr>
          <p:nvPr/>
        </p:nvGraphicFramePr>
        <p:xfrm>
          <a:off x="548640" y="1280160"/>
          <a:ext cx="11094413" cy="4919470"/>
        </p:xfrm>
        <a:graphic>
          <a:graphicData uri="http://schemas.openxmlformats.org/drawingml/2006/table">
            <a:tbl>
              <a:tblPr firstRow="1" bandRow="1">
                <a:tableStyleId>{5C22544A-7EE6-4342-B048-85BDC9FD1C3A}</a:tableStyleId>
              </a:tblPr>
              <a:tblGrid>
                <a:gridCol w="1968363"/>
                <a:gridCol w="6799802"/>
                <a:gridCol w="2326248"/>
              </a:tblGrid>
              <a:tr h="365760">
                <a:tc>
                  <a:txBody>
                    <a:bodyPr wrap="square"/>
                    <a:lstStyle/>
                    <a:p>
                      <a:r>
                        <a:rPr sz="1100" b="1">
                          <a:solidFill>
                            <a:srgbClr val="FFFFFF"/>
                          </a:solidFill>
                          <a:latin typeface="Arial"/>
                        </a:rPr>
                        <a:t>Step</a:t>
                      </a:r>
                    </a:p>
                  </a:txBody>
                  <a:tcPr marL="64008" marR="64008" marT="27432" marB="27432" anchor="ctr">
                    <a:solidFill>
                      <a:srgbClr val="004EA8"/>
                    </a:solidFill>
                  </a:tcPr>
                </a:tc>
                <a:tc>
                  <a:txBody>
                    <a:bodyPr wrap="square"/>
                    <a:lstStyle/>
                    <a:p>
                      <a:r>
                        <a:rPr sz="1100" b="1">
                          <a:solidFill>
                            <a:srgbClr val="FFFFFF"/>
                          </a:solidFill>
                          <a:latin typeface="Arial"/>
                        </a:rPr>
                        <a:t>What happens</a:t>
                      </a:r>
                    </a:p>
                  </a:txBody>
                  <a:tcPr marL="64008" marR="64008" marT="27432" marB="27432" anchor="ctr">
                    <a:solidFill>
                      <a:srgbClr val="004EA8"/>
                    </a:solidFill>
                  </a:tcPr>
                </a:tc>
                <a:tc>
                  <a:txBody>
                    <a:bodyPr wrap="square"/>
                    <a:lstStyle/>
                    <a:p>
                      <a:r>
                        <a:rPr sz="1100" b="1">
                          <a:solidFill>
                            <a:srgbClr val="FFFFFF"/>
                          </a:solidFill>
                          <a:latin typeface="Arial"/>
                        </a:rPr>
                        <a:t>Who</a:t>
                      </a:r>
                    </a:p>
                  </a:txBody>
                  <a:tcPr marL="64008" marR="64008" marT="27432" marB="27432" anchor="ctr">
                    <a:solidFill>
                      <a:srgbClr val="004EA8"/>
                    </a:solidFill>
                  </a:tcPr>
                </a:tc>
              </a:tr>
              <a:tr h="650530">
                <a:tc>
                  <a:txBody>
                    <a:bodyPr wrap="square"/>
                    <a:lstStyle/>
                    <a:p>
                      <a:r>
                        <a:rPr sz="1100" b="1">
                          <a:solidFill>
                            <a:srgbClr val="4B4B4B"/>
                          </a:solidFill>
                          <a:latin typeface="Arial"/>
                        </a:rPr>
                        <a:t>1 Contact</a:t>
                      </a:r>
                    </a:p>
                  </a:txBody>
                  <a:tcPr marL="64008" marR="64008" marT="27432" marB="27432" anchor="ctr">
                    <a:solidFill>
                      <a:srgbClr val="FFFFFF"/>
                    </a:solidFill>
                  </a:tcPr>
                </a:tc>
                <a:tc>
                  <a:txBody>
                    <a:bodyPr wrap="square"/>
                    <a:lstStyle/>
                    <a:p>
                      <a:r>
                        <a:rPr sz="1100" b="0">
                          <a:solidFill>
                            <a:srgbClr val="4B4B4B"/>
                          </a:solidFill>
                          <a:latin typeface="Arial"/>
                        </a:rPr>
                        <a:t>Customer contacts the BDO Insure contact centre by phone, e-mail, web or digital channel</a:t>
                      </a:r>
                    </a:p>
                  </a:txBody>
                  <a:tcPr marL="64008" marR="64008" marT="27432" marB="27432" anchor="ctr">
                    <a:solidFill>
                      <a:srgbClr val="FFFFFF"/>
                    </a:solidFill>
                  </a:tcPr>
                </a:tc>
                <a:tc>
                  <a:txBody>
                    <a:bodyPr wrap="square"/>
                    <a:lstStyle/>
                    <a:p>
                      <a:r>
                        <a:rPr sz="1100" b="0">
                          <a:solidFill>
                            <a:srgbClr val="4B4B4B"/>
                          </a:solidFill>
                          <a:latin typeface="Arial"/>
                        </a:rPr>
                        <a:t>Customer</a:t>
                      </a:r>
                    </a:p>
                  </a:txBody>
                  <a:tcPr marL="64008" marR="64008" marT="27432" marB="27432" anchor="ctr">
                    <a:solidFill>
                      <a:srgbClr val="FFFFFF"/>
                    </a:solidFill>
                  </a:tcPr>
                </a:tc>
              </a:tr>
              <a:tr h="650530">
                <a:tc>
                  <a:txBody>
                    <a:bodyPr wrap="square"/>
                    <a:lstStyle/>
                    <a:p>
                      <a:r>
                        <a:rPr sz="1100" b="1">
                          <a:solidFill>
                            <a:srgbClr val="4B4B4B"/>
                          </a:solidFill>
                          <a:latin typeface="Arial"/>
                        </a:rPr>
                        <a:t>2 Identify</a:t>
                      </a:r>
                    </a:p>
                  </a:txBody>
                  <a:tcPr marL="64008" marR="64008" marT="27432" marB="27432" anchor="ctr">
                    <a:solidFill>
                      <a:srgbClr val="E5F5FF"/>
                    </a:solidFill>
                  </a:tcPr>
                </a:tc>
                <a:tc>
                  <a:txBody>
                    <a:bodyPr wrap="square"/>
                    <a:lstStyle/>
                    <a:p>
                      <a:r>
                        <a:rPr sz="1100" b="0">
                          <a:solidFill>
                            <a:srgbClr val="4B4B4B"/>
                          </a:solidFill>
                          <a:latin typeface="Arial"/>
                        </a:rPr>
                        <a:t>Agent identifies the client and whether the concern is account-related or a general inquiry</a:t>
                      </a:r>
                    </a:p>
                  </a:txBody>
                  <a:tcPr marL="64008" marR="64008" marT="27432" marB="27432" anchor="ctr">
                    <a:solidFill>
                      <a:srgbClr val="E5F5FF"/>
                    </a:solidFill>
                  </a:tcPr>
                </a:tc>
                <a:tc>
                  <a:txBody>
                    <a:bodyPr wrap="square"/>
                    <a:lstStyle/>
                    <a:p>
                      <a:r>
                        <a:rPr sz="1100" b="0">
                          <a:solidFill>
                            <a:srgbClr val="4B4B4B"/>
                          </a:solidFill>
                          <a:latin typeface="Arial"/>
                        </a:rPr>
                        <a:t>BDO Insure agent</a:t>
                      </a:r>
                    </a:p>
                  </a:txBody>
                  <a:tcPr marL="64008" marR="64008" marT="27432" marB="27432" anchor="ctr">
                    <a:solidFill>
                      <a:srgbClr val="E5F5FF"/>
                    </a:solidFill>
                  </a:tcPr>
                </a:tc>
              </a:tr>
              <a:tr h="650530">
                <a:tc>
                  <a:txBody>
                    <a:bodyPr wrap="square"/>
                    <a:lstStyle/>
                    <a:p>
                      <a:r>
                        <a:rPr sz="1100" b="1">
                          <a:solidFill>
                            <a:srgbClr val="4B4B4B"/>
                          </a:solidFill>
                          <a:latin typeface="Arial"/>
                        </a:rPr>
                        <a:t>3 General inquiry</a:t>
                      </a:r>
                    </a:p>
                  </a:txBody>
                  <a:tcPr marL="64008" marR="64008" marT="27432" marB="27432" anchor="ctr">
                    <a:solidFill>
                      <a:srgbClr val="FFFFFF"/>
                    </a:solidFill>
                  </a:tcPr>
                </a:tc>
                <a:tc>
                  <a:txBody>
                    <a:bodyPr wrap="square"/>
                    <a:lstStyle/>
                    <a:p>
                      <a:r>
                        <a:rPr sz="1100" b="0">
                          <a:solidFill>
                            <a:srgbClr val="4B4B4B"/>
                          </a:solidFill>
                          <a:latin typeface="Arial"/>
                        </a:rPr>
                        <a:t>Answered from CC Nav; concern logged and closed</a:t>
                      </a:r>
                    </a:p>
                  </a:txBody>
                  <a:tcPr marL="64008" marR="64008" marT="27432" marB="27432" anchor="ctr">
                    <a:solidFill>
                      <a:srgbClr val="FFFFFF"/>
                    </a:solidFill>
                  </a:tcPr>
                </a:tc>
                <a:tc>
                  <a:txBody>
                    <a:bodyPr wrap="square"/>
                    <a:lstStyle/>
                    <a:p>
                      <a:r>
                        <a:rPr sz="1100" b="0">
                          <a:solidFill>
                            <a:srgbClr val="4B4B4B"/>
                          </a:solidFill>
                          <a:latin typeface="Arial"/>
                        </a:rPr>
                        <a:t>BDO Insure agent</a:t>
                      </a:r>
                    </a:p>
                  </a:txBody>
                  <a:tcPr marL="64008" marR="64008" marT="27432" marB="27432" anchor="ctr">
                    <a:solidFill>
                      <a:srgbClr val="FFFFFF"/>
                    </a:solidFill>
                  </a:tcPr>
                </a:tc>
              </a:tr>
              <a:tr h="650530">
                <a:tc>
                  <a:txBody>
                    <a:bodyPr wrap="square"/>
                    <a:lstStyle/>
                    <a:p>
                      <a:r>
                        <a:rPr sz="1100" b="1">
                          <a:solidFill>
                            <a:srgbClr val="4B4B4B"/>
                          </a:solidFill>
                          <a:latin typeface="Arial"/>
                        </a:rPr>
                        <a:t>4 PID</a:t>
                      </a:r>
                    </a:p>
                  </a:txBody>
                  <a:tcPr marL="64008" marR="64008" marT="27432" marB="27432" anchor="ctr">
                    <a:solidFill>
                      <a:srgbClr val="E5F5FF"/>
                    </a:solidFill>
                  </a:tcPr>
                </a:tc>
                <a:tc>
                  <a:txBody>
                    <a:bodyPr wrap="square"/>
                    <a:lstStyle/>
                    <a:p>
                      <a:r>
                        <a:rPr sz="1100" b="0">
                          <a:solidFill>
                            <a:srgbClr val="4B4B4B"/>
                          </a:solidFill>
                          <a:latin typeface="Arial"/>
                        </a:rPr>
                        <a:t>Existing client: positive identification; failed PID ends the transaction and the case is logged and closed</a:t>
                      </a:r>
                    </a:p>
                  </a:txBody>
                  <a:tcPr marL="64008" marR="64008" marT="27432" marB="27432" anchor="ctr">
                    <a:solidFill>
                      <a:srgbClr val="E5F5FF"/>
                    </a:solidFill>
                  </a:tcPr>
                </a:tc>
                <a:tc>
                  <a:txBody>
                    <a:bodyPr wrap="square"/>
                    <a:lstStyle/>
                    <a:p>
                      <a:r>
                        <a:rPr sz="1100" b="0">
                          <a:solidFill>
                            <a:srgbClr val="4B4B4B"/>
                          </a:solidFill>
                          <a:latin typeface="Arial"/>
                        </a:rPr>
                        <a:t>BDO Insure agent</a:t>
                      </a:r>
                    </a:p>
                  </a:txBody>
                  <a:tcPr marL="64008" marR="64008" marT="27432" marB="27432" anchor="ctr">
                    <a:solidFill>
                      <a:srgbClr val="E5F5FF"/>
                    </a:solidFill>
                  </a:tcPr>
                </a:tc>
              </a:tr>
              <a:tr h="650530">
                <a:tc>
                  <a:txBody>
                    <a:bodyPr wrap="square"/>
                    <a:lstStyle/>
                    <a:p>
                      <a:r>
                        <a:rPr sz="1100" b="1">
                          <a:solidFill>
                            <a:srgbClr val="4B4B4B"/>
                          </a:solidFill>
                          <a:latin typeface="Arial"/>
                        </a:rPr>
                        <a:t>5 First-contact fix</a:t>
                      </a:r>
                    </a:p>
                  </a:txBody>
                  <a:tcPr marL="64008" marR="64008" marT="27432" marB="27432" anchor="ctr">
                    <a:solidFill>
                      <a:srgbClr val="FFFFFF"/>
                    </a:solidFill>
                  </a:tcPr>
                </a:tc>
                <a:tc>
                  <a:txBody>
                    <a:bodyPr wrap="square"/>
                    <a:lstStyle/>
                    <a:p>
                      <a:r>
                        <a:rPr sz="1100" b="0">
                          <a:solidFill>
                            <a:srgbClr val="4B4B4B"/>
                          </a:solidFill>
                          <a:latin typeface="Arial"/>
                        </a:rPr>
                        <a:t>Solved at the point of contact: request fulfilled; case logged with client details filled in automatically; closed</a:t>
                      </a:r>
                    </a:p>
                  </a:txBody>
                  <a:tcPr marL="64008" marR="64008" marT="27432" marB="27432" anchor="ctr">
                    <a:solidFill>
                      <a:srgbClr val="FFFFFF"/>
                    </a:solidFill>
                  </a:tcPr>
                </a:tc>
                <a:tc>
                  <a:txBody>
                    <a:bodyPr wrap="square"/>
                    <a:lstStyle/>
                    <a:p>
                      <a:r>
                        <a:rPr sz="1100" b="0">
                          <a:solidFill>
                            <a:srgbClr val="4B4B4B"/>
                          </a:solidFill>
                          <a:latin typeface="Arial"/>
                        </a:rPr>
                        <a:t>BDO Insure agent</a:t>
                      </a:r>
                    </a:p>
                  </a:txBody>
                  <a:tcPr marL="64008" marR="64008" marT="27432" marB="27432" anchor="ctr">
                    <a:solidFill>
                      <a:srgbClr val="FFFFFF"/>
                    </a:solidFill>
                  </a:tcPr>
                </a:tc>
              </a:tr>
              <a:tr h="650530">
                <a:tc>
                  <a:txBody>
                    <a:bodyPr wrap="square"/>
                    <a:lstStyle/>
                    <a:p>
                      <a:r>
                        <a:rPr sz="1100" b="1">
                          <a:solidFill>
                            <a:srgbClr val="4B4B4B"/>
                          </a:solidFill>
                          <a:latin typeface="Arial"/>
                        </a:rPr>
                        <a:t>6 Referral</a:t>
                      </a:r>
                    </a:p>
                  </a:txBody>
                  <a:tcPr marL="64008" marR="64008" marT="27432" marB="27432" anchor="ctr">
                    <a:solidFill>
                      <a:srgbClr val="E5F5FF"/>
                    </a:solidFill>
                  </a:tcPr>
                </a:tc>
                <a:tc>
                  <a:txBody>
                    <a:bodyPr wrap="square"/>
                    <a:lstStyle/>
                    <a:p>
                      <a:r>
                        <a:rPr sz="1100" b="0">
                          <a:solidFill>
                            <a:srgbClr val="4B4B4B"/>
                          </a:solidFill>
                          <a:latin typeface="Arial"/>
                        </a:rPr>
                        <a:t>Not solvable at first contact: case routed automatically to the Marketing unit of the account; unit notified</a:t>
                      </a:r>
                    </a:p>
                  </a:txBody>
                  <a:tcPr marL="64008" marR="64008" marT="27432" marB="27432" anchor="ctr">
                    <a:solidFill>
                      <a:srgbClr val="E5F5FF"/>
                    </a:solidFill>
                  </a:tcPr>
                </a:tc>
                <a:tc>
                  <a:txBody>
                    <a:bodyPr wrap="square"/>
                    <a:lstStyle/>
                    <a:p>
                      <a:r>
                        <a:rPr sz="1100" b="0">
                          <a:solidFill>
                            <a:srgbClr val="4B4B4B"/>
                          </a:solidFill>
                          <a:latin typeface="Arial"/>
                        </a:rPr>
                        <a:t>Agent, system</a:t>
                      </a:r>
                    </a:p>
                  </a:txBody>
                  <a:tcPr marL="64008" marR="64008" marT="27432" marB="27432" anchor="ctr">
                    <a:solidFill>
                      <a:srgbClr val="E5F5FF"/>
                    </a:solidFill>
                  </a:tcPr>
                </a:tc>
              </a:tr>
              <a:tr h="650530">
                <a:tc>
                  <a:txBody>
                    <a:bodyPr wrap="square"/>
                    <a:lstStyle/>
                    <a:p>
                      <a:r>
                        <a:rPr sz="1100" b="1">
                          <a:solidFill>
                            <a:srgbClr val="4B4B4B"/>
                          </a:solidFill>
                          <a:latin typeface="Arial"/>
                        </a:rPr>
                        <a:t>7 Resolve or return</a:t>
                      </a:r>
                    </a:p>
                  </a:txBody>
                  <a:tcPr marL="64008" marR="64008" marT="27432" marB="27432" anchor="ctr">
                    <a:solidFill>
                      <a:srgbClr val="FFFFFF"/>
                    </a:solidFill>
                  </a:tcPr>
                </a:tc>
                <a:tc>
                  <a:txBody>
                    <a:bodyPr wrap="square"/>
                    <a:lstStyle/>
                    <a:p>
                      <a:r>
                        <a:rPr sz="1100" b="0">
                          <a:solidFill>
                            <a:srgbClr val="4B4B4B"/>
                          </a:solidFill>
                          <a:latin typeface="Arial"/>
                        </a:rPr>
                        <a:t>Fulfilment unit filters open cases within or past TAT, resolves and closes, or returns an erroneous case; BDO CCC re-logs valid returns</a:t>
                      </a:r>
                    </a:p>
                  </a:txBody>
                  <a:tcPr marL="64008" marR="64008" marT="27432" marB="27432" anchor="ctr">
                    <a:solidFill>
                      <a:srgbClr val="FFFFFF"/>
                    </a:solidFill>
                  </a:tcPr>
                </a:tc>
                <a:tc>
                  <a:txBody>
                    <a:bodyPr wrap="square"/>
                    <a:lstStyle/>
                    <a:p>
                      <a:r>
                        <a:rPr sz="1100" b="0">
                          <a:solidFill>
                            <a:srgbClr val="4B4B4B"/>
                          </a:solidFill>
                          <a:latin typeface="Arial"/>
                        </a:rPr>
                        <a:t>Fulfilment unit, BDO CCC</a:t>
                      </a:r>
                    </a:p>
                  </a:txBody>
                  <a:tcPr marL="64008" marR="64008" marT="27432" marB="27432" anchor="ctr">
                    <a:solidFill>
                      <a:srgbClr val="FFFFFF"/>
                    </a:solidFill>
                  </a:tcPr>
                </a:tc>
              </a:tr>
            </a:tbl>
          </a:graphicData>
        </a:graphic>
      </p:graphicFrame>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Customer Servicing: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Full details for CBG accounts only</a:t>
            </a:r>
          </a:p>
          <a:p>
            <a:pPr>
              <a:spcAft>
                <a:spcPts val="100"/>
              </a:spcAft>
            </a:pPr>
            <a:r>
              <a:rPr sz="1200" b="0">
                <a:solidFill>
                  <a:srgbClr val="4B4B4B"/>
                </a:solidFill>
                <a:latin typeface="Arial"/>
              </a:rPr>
              <a:t>Non-CBG accounts show contact details, account number and expiry date only.</a:t>
            </a:r>
          </a:p>
          <a:p>
            <a:pPr>
              <a:spcAft>
                <a:spcPts val="100"/>
              </a:spcAft>
            </a:pPr>
            <a:r>
              <a:rPr sz="1200" b="0">
                <a:solidFill>
                  <a:srgbClr val="0072D8"/>
                </a:solidFill>
                <a:latin typeface="Arial"/>
              </a:rPr>
              <a:t>BRD-9 p.4; BRCSF-002, 005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Limited search keys</a:t>
            </a:r>
          </a:p>
          <a:p>
            <a:pPr>
              <a:spcAft>
                <a:spcPts val="100"/>
              </a:spcAft>
            </a:pPr>
            <a:r>
              <a:rPr sz="1200" b="0">
                <a:solidFill>
                  <a:srgbClr val="4B4B4B"/>
                </a:solidFill>
                <a:latin typeface="Arial"/>
              </a:rPr>
              <a:t>Agents cannot search by every key the caller gives.</a:t>
            </a:r>
          </a:p>
          <a:p>
            <a:pPr>
              <a:spcAft>
                <a:spcPts val="100"/>
              </a:spcAft>
            </a:pPr>
            <a:r>
              <a:rPr sz="1200" b="0">
                <a:solidFill>
                  <a:srgbClr val="0072D8"/>
                </a:solidFill>
                <a:latin typeface="Arial"/>
              </a:rPr>
              <a:t>BRD-9 p.17 (e-mail); BRCSF-003</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role-based access</a:t>
            </a:r>
          </a:p>
          <a:p>
            <a:pPr>
              <a:spcAft>
                <a:spcPts val="100"/>
              </a:spcAft>
            </a:pPr>
            <a:r>
              <a:rPr sz="1200" b="0">
                <a:solidFill>
                  <a:srgbClr val="4B4B4B"/>
                </a:solidFill>
                <a:latin typeface="Arial"/>
              </a:rPr>
              <a:t>Agents, supervisors and management have the same rights.</a:t>
            </a:r>
          </a:p>
          <a:p>
            <a:pPr>
              <a:spcAft>
                <a:spcPts val="100"/>
              </a:spcAft>
            </a:pPr>
            <a:r>
              <a:rPr sz="1200" b="0">
                <a:solidFill>
                  <a:srgbClr val="0072D8"/>
                </a:solidFill>
                <a:latin typeface="Arial"/>
              </a:rPr>
              <a:t>BRD-9 p.4</a:t>
            </a:r>
          </a:p>
        </p:txBody>
      </p:sp>
      <p:sp>
        <p:nvSpPr>
          <p:cNvPr id="15" name="Oval 14"/>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Updates written in QPS or EBIX</a:t>
            </a:r>
          </a:p>
          <a:p>
            <a:pPr>
              <a:spcAft>
                <a:spcPts val="100"/>
              </a:spcAft>
            </a:pPr>
            <a:r>
              <a:rPr sz="1200" b="0">
                <a:solidFill>
                  <a:srgbClr val="4B4B4B"/>
                </a:solidFill>
                <a:latin typeface="Arial"/>
              </a:rPr>
              <a:t>Contact details are changed in the legacy systems.</a:t>
            </a:r>
          </a:p>
          <a:p>
            <a:pPr>
              <a:spcAft>
                <a:spcPts val="100"/>
              </a:spcAft>
            </a:pPr>
            <a:r>
              <a:rPr sz="1200" b="0">
                <a:solidFill>
                  <a:srgbClr val="0072D8"/>
                </a:solidFill>
                <a:latin typeface="Arial"/>
              </a:rPr>
              <a:t>BRD-9 p.3-5; BRCSF-004</a:t>
            </a:r>
          </a:p>
        </p:txBody>
      </p:sp>
      <p:sp>
        <p:nvSpPr>
          <p:cNvPr id="17" name="Oval 16"/>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Resends outside the tool</a:t>
            </a:r>
          </a:p>
          <a:p>
            <a:pPr>
              <a:spcAft>
                <a:spcPts val="100"/>
              </a:spcAft>
            </a:pPr>
            <a:r>
              <a:rPr sz="1200" b="0">
                <a:solidFill>
                  <a:srgbClr val="4B4B4B"/>
                </a:solidFill>
                <a:latin typeface="Arial"/>
              </a:rPr>
              <a:t>RA and e-policy resends are handled by other units.</a:t>
            </a:r>
          </a:p>
          <a:p>
            <a:pPr>
              <a:spcAft>
                <a:spcPts val="100"/>
              </a:spcAft>
            </a:pPr>
            <a:r>
              <a:rPr sz="1200" b="0">
                <a:solidFill>
                  <a:srgbClr val="0072D8"/>
                </a:solidFill>
                <a:latin typeface="Arial"/>
              </a:rPr>
              <a:t>BRD-9 p.17 (e-mail item 9); BRCSF-006</a:t>
            </a:r>
          </a:p>
        </p:txBody>
      </p:sp>
      <p:sp>
        <p:nvSpPr>
          <p:cNvPr id="19" name="Oval 18"/>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audit report; ageing servers</a:t>
            </a:r>
          </a:p>
          <a:p>
            <a:pPr>
              <a:spcAft>
                <a:spcPts val="100"/>
              </a:spcAft>
            </a:pPr>
            <a:r>
              <a:rPr sz="1200" b="0">
                <a:solidFill>
                  <a:srgbClr val="4B4B4B"/>
                </a:solidFill>
                <a:latin typeface="Arial"/>
              </a:rPr>
              <a:t>Management has no audit trail of agent actions; servers at end of life.</a:t>
            </a:r>
          </a:p>
          <a:p>
            <a:pPr>
              <a:spcAft>
                <a:spcPts val="100"/>
              </a:spcAft>
            </a:pPr>
            <a:r>
              <a:rPr sz="1200" b="0">
                <a:solidFill>
                  <a:srgbClr val="0072D8"/>
                </a:solidFill>
                <a:latin typeface="Arial"/>
              </a:rPr>
              <a:t>BRD-9 p.4; BRCSF-010, 011</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Customer Servicing: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pic>
        <p:nvPicPr>
          <p:cNvPr id="9" name="Picture 8" descr="brd09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Servicing contact in BIBS: no approval workflow, every action immediate and logged (FRS BRD-9 section 2.2)</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Customer Servicing: how the BRD answers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Full details for CBG accounts only</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Every account of the client, CBG and non-CBG, with status and payments</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All segments</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Limited search keys</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search box for name, client ID, account number, PN number and application number</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&lt; 3 s search</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role-based access</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Agent, supervisor and management roles with separate rights to update, resend and upload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Role-based access</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Updates written in QPS or EBIX</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Update made once in the BIBS client master after verifying the caller; write-back seam for QPS / EBIX</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Verification before change</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Resends outside the tool</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Agent views, downloads and resends the RA and e-policy to the registered e-mail, protected</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Resend in one call</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audit report; ageing servers</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Every change and agent action logged; audit trail in PDF or Excel</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Full audit trail</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Customer Servicing: gaps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Case management</a:t>
                      </a:r>
                    </a:p>
                  </a:txBody>
                  <a:tcPr marL="64008" marR="64008" marT="27432" marB="27432" anchor="ctr">
                    <a:solidFill>
                      <a:srgbClr val="FFFFFF"/>
                    </a:solidFill>
                  </a:tcPr>
                </a:tc>
                <a:tc>
                  <a:txBody>
                    <a:bodyPr wrap="square"/>
                    <a:lstStyle/>
                    <a:p>
                      <a:r>
                        <a:rPr sz="1100" b="0">
                          <a:solidFill>
                            <a:srgbClr val="4B4B4B"/>
                          </a:solidFill>
                          <a:latin typeface="Arial"/>
                        </a:rPr>
                        <a:t>Every contact logged by hand in CLS; BDOI's To-Be wants cases in the system.</a:t>
                      </a:r>
                    </a:p>
                  </a:txBody>
                  <a:tcPr marL="64008" marR="64008" marT="27432" marB="27432" anchor="ctr">
                    <a:solidFill>
                      <a:srgbClr val="FFFFFF"/>
                    </a:solidFill>
                  </a:tcPr>
                </a:tc>
                <a:tc>
                  <a:txBody>
                    <a:bodyPr wrap="square"/>
                    <a:lstStyle/>
                    <a:p>
                      <a:r>
                        <a:rPr sz="1100" b="0">
                          <a:solidFill>
                            <a:srgbClr val="4B4B4B"/>
                          </a:solidFill>
                          <a:latin typeface="Arial"/>
                        </a:rPr>
                        <a:t>Case logging out of BRD-9 (CSF-EM10); umbrella BRD wants it.</a:t>
                      </a:r>
                    </a:p>
                  </a:txBody>
                  <a:tcPr marL="64008" marR="64008" marT="27432" marB="27432" anchor="ctr">
                    <a:solidFill>
                      <a:srgbClr val="FFFFFF"/>
                    </a:solidFill>
                  </a:tcPr>
                </a:tc>
                <a:tc>
                  <a:txBody>
                    <a:bodyPr wrap="square"/>
                    <a:lstStyle/>
                    <a:p>
                      <a:r>
                        <a:rPr sz="1100" b="0">
                          <a:solidFill>
                            <a:srgbClr val="4B4B4B"/>
                          </a:solidFill>
                          <a:latin typeface="Arial"/>
                        </a:rPr>
                        <a:t>Bring BDOI's 15-Jul To-Be into scope as a change request.</a:t>
                      </a:r>
                    </a:p>
                  </a:txBody>
                  <a:tcPr marL="64008" marR="64008" marT="27432" marB="27432" anchor="ctr">
                    <a:solidFill>
                      <a:srgbClr val="FFFFFF"/>
                    </a:solidFill>
                  </a:tcPr>
                </a:tc>
                <a:tc>
                  <a:txBody>
                    <a:bodyPr wrap="square"/>
                    <a:lstStyle/>
                    <a:p>
                      <a:r>
                        <a:rPr sz="1100" b="0">
                          <a:solidFill>
                            <a:srgbClr val="4B4B4B"/>
                          </a:solidFill>
                          <a:latin typeface="Arial"/>
                        </a:rPr>
                        <a:t>DCR-163; CRQ04</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Positive identification</a:t>
                      </a:r>
                    </a:p>
                  </a:txBody>
                  <a:tcPr marL="64008" marR="64008" marT="27432" marB="27432" anchor="ctr">
                    <a:solidFill>
                      <a:srgbClr val="E5F5FF"/>
                    </a:solidFill>
                  </a:tcPr>
                </a:tc>
                <a:tc>
                  <a:txBody>
                    <a:bodyPr wrap="square"/>
                    <a:lstStyle/>
                    <a:p>
                      <a:r>
                        <a:rPr sz="1100" b="0">
                          <a:solidFill>
                            <a:srgbClr val="4B4B4B"/>
                          </a:solidFill>
                          <a:latin typeface="Arial"/>
                        </a:rPr>
                        <a:t>PID before any account transaction.</a:t>
                      </a:r>
                    </a:p>
                  </a:txBody>
                  <a:tcPr marL="64008" marR="64008" marT="27432" marB="27432" anchor="ctr">
                    <a:solidFill>
                      <a:srgbClr val="E5F5FF"/>
                    </a:solidFill>
                  </a:tcPr>
                </a:tc>
                <a:tc>
                  <a:txBody>
                    <a:bodyPr wrap="square"/>
                    <a:lstStyle/>
                    <a:p>
                      <a:r>
                        <a:rPr sz="1100" b="0">
                          <a:solidFill>
                            <a:srgbClr val="4B4B4B"/>
                          </a:solidFill>
                          <a:latin typeface="Arial"/>
                        </a:rPr>
                        <a:t>Caller verification topic only.</a:t>
                      </a:r>
                    </a:p>
                  </a:txBody>
                  <a:tcPr marL="64008" marR="64008" marT="27432" marB="27432" anchor="ctr">
                    <a:solidFill>
                      <a:srgbClr val="E5F5FF"/>
                    </a:solidFill>
                  </a:tcPr>
                </a:tc>
                <a:tc>
                  <a:txBody>
                    <a:bodyPr wrap="square"/>
                    <a:lstStyle/>
                    <a:p>
                      <a:r>
                        <a:rPr sz="1100" b="0">
                          <a:solidFill>
                            <a:srgbClr val="4B4B4B"/>
                          </a:solidFill>
                          <a:latin typeface="Arial"/>
                        </a:rPr>
                        <a:t>PID questions and result recorded on the case.</a:t>
                      </a:r>
                    </a:p>
                  </a:txBody>
                  <a:tcPr marL="64008" marR="64008" marT="27432" marB="27432" anchor="ctr">
                    <a:solidFill>
                      <a:srgbClr val="E5F5FF"/>
                    </a:solidFill>
                  </a:tcPr>
                </a:tc>
                <a:tc>
                  <a:txBody>
                    <a:bodyPr wrap="square"/>
                    <a:lstStyle/>
                    <a:p>
                      <a:r>
                        <a:rPr sz="1100" b="0">
                          <a:solidFill>
                            <a:srgbClr val="4B4B4B"/>
                          </a:solidFill>
                          <a:latin typeface="Arial"/>
                        </a:rPr>
                        <a:t>CSQ03</a:t>
                      </a:r>
                    </a:p>
                  </a:txBody>
                  <a:tcPr marL="64008" marR="64008" marT="27432" marB="27432" anchor="ctr">
                    <a:solidFill>
                      <a:srgbClr val="E5F5FF"/>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Referral routing and TAT</a:t>
                      </a:r>
                    </a:p>
                  </a:txBody>
                  <a:tcPr marL="64008" marR="64008" marT="27432" marB="27432" anchor="ctr">
                    <a:solidFill>
                      <a:srgbClr val="FFFFFF"/>
                    </a:solidFill>
                  </a:tcPr>
                </a:tc>
                <a:tc>
                  <a:txBody>
                    <a:bodyPr wrap="square"/>
                    <a:lstStyle/>
                    <a:p>
                      <a:r>
                        <a:rPr sz="1100" b="0">
                          <a:solidFill>
                            <a:srgbClr val="4B4B4B"/>
                          </a:solidFill>
                          <a:latin typeface="Arial"/>
                        </a:rPr>
                        <a:t>Referral by e-mail; no TAT view.</a:t>
                      </a:r>
                    </a:p>
                  </a:txBody>
                  <a:tcPr marL="64008" marR="64008" marT="27432" marB="27432" anchor="ctr">
                    <a:solidFill>
                      <a:srgbClr val="FFFFFF"/>
                    </a:solidFill>
                  </a:tcPr>
                </a:tc>
                <a:tc>
                  <a:txBody>
                    <a:bodyPr wrap="square"/>
                    <a:lstStyle/>
                    <a:p>
                      <a:r>
                        <a:rPr sz="1100" b="0">
                          <a:solidFill>
                            <a:srgbClr val="4B4B4B"/>
                          </a:solidFill>
                          <a:latin typeface="Arial"/>
                        </a:rPr>
                        <a:t>Not specified.</a:t>
                      </a:r>
                    </a:p>
                  </a:txBody>
                  <a:tcPr marL="64008" marR="64008" marT="27432" marB="27432" anchor="ctr">
                    <a:solidFill>
                      <a:srgbClr val="FFFFFF"/>
                    </a:solidFill>
                  </a:tcPr>
                </a:tc>
                <a:tc>
                  <a:txBody>
                    <a:bodyPr wrap="square"/>
                    <a:lstStyle/>
                    <a:p>
                      <a:r>
                        <a:rPr sz="1100" b="0">
                          <a:solidFill>
                            <a:srgbClr val="4B4B4B"/>
                          </a:solidFill>
                          <a:latin typeface="Arial"/>
                        </a:rPr>
                        <a:t>Auto-route to the account's unit; TAT per case type; return loop.</a:t>
                      </a:r>
                    </a:p>
                  </a:txBody>
                  <a:tcPr marL="64008" marR="64008" marT="27432" marB="27432" anchor="ctr">
                    <a:solidFill>
                      <a:srgbClr val="FFFFFF"/>
                    </a:solidFill>
                  </a:tcPr>
                </a:tc>
                <a:tc>
                  <a:txBody>
                    <a:bodyPr wrap="square"/>
                    <a:lstStyle/>
                    <a:p>
                      <a:r>
                        <a:rPr sz="1100" b="0">
                          <a:solidFill>
                            <a:srgbClr val="4B4B4B"/>
                          </a:solidFill>
                          <a:latin typeface="Arial"/>
                        </a:rPr>
                        <a:t>Case To-Be</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Write-back to legacy</a:t>
                      </a:r>
                    </a:p>
                  </a:txBody>
                  <a:tcPr marL="64008" marR="64008" marT="27432" marB="27432" anchor="ctr">
                    <a:solidFill>
                      <a:srgbClr val="E5F5FF"/>
                    </a:solidFill>
                  </a:tcPr>
                </a:tc>
                <a:tc>
                  <a:txBody>
                    <a:bodyPr wrap="square"/>
                    <a:lstStyle/>
                    <a:p>
                      <a:r>
                        <a:rPr sz="1100" b="0">
                          <a:solidFill>
                            <a:srgbClr val="4B4B4B"/>
                          </a:solidFill>
                          <a:latin typeface="Arial"/>
                        </a:rPr>
                        <a:t>Contact updates written to QPS and EBIX.</a:t>
                      </a:r>
                    </a:p>
                  </a:txBody>
                  <a:tcPr marL="64008" marR="64008" marT="27432" marB="27432" anchor="ctr">
                    <a:solidFill>
                      <a:srgbClr val="E5F5FF"/>
                    </a:solidFill>
                  </a:tcPr>
                </a:tc>
                <a:tc>
                  <a:txBody>
                    <a:bodyPr wrap="square"/>
                    <a:lstStyle/>
                    <a:p>
                      <a:r>
                        <a:rPr sz="1100" b="0">
                          <a:solidFill>
                            <a:srgbClr val="4B4B4B"/>
                          </a:solidFill>
                          <a:latin typeface="Arial"/>
                        </a:rPr>
                        <a:t>Write-back seam; open.</a:t>
                      </a:r>
                    </a:p>
                  </a:txBody>
                  <a:tcPr marL="64008" marR="64008" marT="27432" marB="27432" anchor="ctr">
                    <a:solidFill>
                      <a:srgbClr val="E5F5FF"/>
                    </a:solidFill>
                  </a:tcPr>
                </a:tc>
                <a:tc>
                  <a:txBody>
                    <a:bodyPr wrap="square"/>
                    <a:lstStyle/>
                    <a:p>
                      <a:r>
                        <a:rPr sz="1100" b="0">
                          <a:solidFill>
                            <a:srgbClr val="4B4B4B"/>
                          </a:solidFill>
                          <a:latin typeface="Arial"/>
                        </a:rPr>
                        <a:t>No write-back after go-live; one client master.</a:t>
                      </a:r>
                    </a:p>
                  </a:txBody>
                  <a:tcPr marL="64008" marR="64008" marT="27432" marB="27432" anchor="ctr">
                    <a:solidFill>
                      <a:srgbClr val="E5F5FF"/>
                    </a:solidFill>
                  </a:tcPr>
                </a:tc>
                <a:tc>
                  <a:txBody>
                    <a:bodyPr wrap="square"/>
                    <a:lstStyle/>
                    <a:p>
                      <a:r>
                        <a:rPr sz="1100" b="0">
                          <a:solidFill>
                            <a:srgbClr val="4B4B4B"/>
                          </a:solidFill>
                          <a:latin typeface="Arial"/>
                        </a:rPr>
                        <a:t>DCR-104, 202</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E-policy after a fall-out</a:t>
                      </a:r>
                    </a:p>
                  </a:txBody>
                  <a:tcPr marL="64008" marR="64008" marT="27432" marB="27432" anchor="ctr">
                    <a:solidFill>
                      <a:srgbClr val="FFFFFF"/>
                    </a:solidFill>
                  </a:tcPr>
                </a:tc>
                <a:tc>
                  <a:txBody>
                    <a:bodyPr wrap="square"/>
                    <a:lstStyle/>
                    <a:p>
                      <a:r>
                        <a:rPr sz="1100" b="0">
                          <a:solidFill>
                            <a:srgbClr val="4B4B4B"/>
                          </a:solidFill>
                          <a:latin typeface="Arial"/>
                        </a:rPr>
                        <a:t>Contact centre sends e-policies Marketing fixed.</a:t>
                      </a:r>
                    </a:p>
                  </a:txBody>
                  <a:tcPr marL="64008" marR="64008" marT="27432" marB="27432" anchor="ctr">
                    <a:solidFill>
                      <a:srgbClr val="FFFFFF"/>
                    </a:solidFill>
                  </a:tcPr>
                </a:tc>
                <a:tc>
                  <a:txBody>
                    <a:bodyPr wrap="square"/>
                    <a:lstStyle/>
                    <a:p>
                      <a:r>
                        <a:rPr sz="1100" b="0">
                          <a:solidFill>
                            <a:srgbClr val="4B4B4B"/>
                          </a:solidFill>
                          <a:latin typeface="Arial"/>
                        </a:rPr>
                        <a:t>Resend on request only.</a:t>
                      </a:r>
                    </a:p>
                  </a:txBody>
                  <a:tcPr marL="64008" marR="64008" marT="27432" marB="27432" anchor="ctr">
                    <a:solidFill>
                      <a:srgbClr val="FFFFFF"/>
                    </a:solidFill>
                  </a:tcPr>
                </a:tc>
                <a:tc>
                  <a:txBody>
                    <a:bodyPr wrap="square"/>
                    <a:lstStyle/>
                    <a:p>
                      <a:r>
                        <a:rPr sz="1100" b="0">
                          <a:solidFill>
                            <a:srgbClr val="4B4B4B"/>
                          </a:solidFill>
                          <a:latin typeface="Arial"/>
                        </a:rPr>
                        <a:t>One e-policy sender with an exception queue (chapter 1).</a:t>
                      </a:r>
                    </a:p>
                  </a:txBody>
                  <a:tcPr marL="64008" marR="64008" marT="27432" marB="27432" anchor="ctr">
                    <a:solidFill>
                      <a:srgbClr val="FFFFFF"/>
                    </a:solidFill>
                  </a:tcPr>
                </a:tc>
                <a:tc>
                  <a:txBody>
                    <a:bodyPr wrap="square"/>
                    <a:lstStyle/>
                    <a:p>
                      <a:r>
                        <a:rPr sz="1100" b="0">
                          <a:solidFill>
                            <a:srgbClr val="4B4B4B"/>
                          </a:solidFill>
                          <a:latin typeface="Arial"/>
                        </a:rPr>
                        <a:t>NB flow</a:t>
                      </a:r>
                    </a:p>
                  </a:txBody>
                  <a:tcPr marL="64008" marR="64008" marT="27432" marB="27432" anchor="ctr">
                    <a:solidFill>
                      <a:srgbClr val="FFFF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Two contact centres</a:t>
                      </a:r>
                    </a:p>
                  </a:txBody>
                  <a:tcPr marL="64008" marR="64008" marT="27432" marB="27432" anchor="ctr">
                    <a:solidFill>
                      <a:srgbClr val="E5F5FF"/>
                    </a:solidFill>
                  </a:tcPr>
                </a:tc>
                <a:tc>
                  <a:txBody>
                    <a:bodyPr wrap="square"/>
                    <a:lstStyle/>
                    <a:p>
                      <a:r>
                        <a:rPr sz="1100" b="0">
                          <a:solidFill>
                            <a:srgbClr val="4B4B4B"/>
                          </a:solidFill>
                          <a:latin typeface="Arial"/>
                        </a:rPr>
                        <a:t>BDO Insure and BDO CCC both handle cases.</a:t>
                      </a:r>
                    </a:p>
                  </a:txBody>
                  <a:tcPr marL="64008" marR="64008" marT="27432" marB="27432" anchor="ctr">
                    <a:solidFill>
                      <a:srgbClr val="E5F5FF"/>
                    </a:solidFill>
                  </a:tcPr>
                </a:tc>
                <a:tc>
                  <a:txBody>
                    <a:bodyPr wrap="square"/>
                    <a:lstStyle/>
                    <a:p>
                      <a:r>
                        <a:rPr sz="1100" b="0">
                          <a:solidFill>
                            <a:srgbClr val="4B4B4B"/>
                          </a:solidFill>
                          <a:latin typeface="Arial"/>
                        </a:rPr>
                        <a:t>Roles open.</a:t>
                      </a:r>
                    </a:p>
                  </a:txBody>
                  <a:tcPr marL="64008" marR="64008" marT="27432" marB="27432" anchor="ctr">
                    <a:solidFill>
                      <a:srgbClr val="E5F5FF"/>
                    </a:solidFill>
                  </a:tcPr>
                </a:tc>
                <a:tc>
                  <a:txBody>
                    <a:bodyPr wrap="square"/>
                    <a:lstStyle/>
                    <a:p>
                      <a:r>
                        <a:rPr sz="1100" b="0">
                          <a:solidFill>
                            <a:srgbClr val="4B4B4B"/>
                          </a:solidFill>
                          <a:latin typeface="Arial"/>
                        </a:rPr>
                        <a:t>Confirm who logs, who resolves, who re-logs.</a:t>
                      </a:r>
                    </a:p>
                  </a:txBody>
                  <a:tcPr marL="64008" marR="64008" marT="27432" marB="27432" anchor="ctr">
                    <a:solidFill>
                      <a:srgbClr val="E5F5FF"/>
                    </a:solidFill>
                  </a:tcPr>
                </a:tc>
                <a:tc>
                  <a:txBody>
                    <a:bodyPr wrap="square"/>
                    <a:lstStyle/>
                    <a:p>
                      <a:r>
                        <a:rPr sz="1100" b="0">
                          <a:solidFill>
                            <a:srgbClr val="4B4B4B"/>
                          </a:solidFill>
                          <a:latin typeface="Arial"/>
                        </a:rPr>
                        <a:t>XQ02</a:t>
                      </a:r>
                    </a:p>
                  </a:txBody>
                  <a:tcPr marL="64008" marR="64008" marT="27432" marB="27432" anchor="ctr">
                    <a:solidFill>
                      <a:srgbClr val="E5F5FF"/>
                    </a:solidFill>
                  </a:tcPr>
                </a:tc>
              </a:tr>
            </a:tbl>
          </a:graphicData>
        </a:graphic>
      </p:graphicFrame>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Customer Servicing: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Omnichannel case management</a:t>
            </a:r>
          </a:p>
        </p:txBody>
      </p:sp>
      <p:sp>
        <p:nvSpPr>
          <p:cNvPr id="12" name="Rounded Rectangle 11"/>
          <p:cNvSpPr/>
          <p:nvPr/>
        </p:nvSpPr>
        <p:spPr>
          <a:xfrm>
            <a:off x="640080" y="1920240"/>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One view of every concern</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Every call, e-mail and chat is a case with SLA, routing and history on the client record.</a:t>
            </a:r>
          </a:p>
          <a:p>
            <a:pPr>
              <a:spcAft>
                <a:spcPts val="400"/>
              </a:spcAft>
            </a:pPr>
            <a:r>
              <a:rPr sz="1200" b="1">
                <a:solidFill>
                  <a:srgbClr val="004EA8"/>
                </a:solidFill>
                <a:latin typeface="Arial"/>
              </a:rPr>
              <a:t>For BDOI: </a:t>
            </a:r>
            <a:r>
              <a:rPr sz="1200" b="0">
                <a:solidFill>
                  <a:srgbClr val="4B4B4B"/>
                </a:solidFill>
                <a:latin typeface="Arial"/>
              </a:rPr>
              <a:t>Adopt BDOI's 15-Jul To-Be.</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Screen-pop and assisted PID</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Shorter calls</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Caller recognised from the number; PID by OTP or questions from the client record.</a:t>
            </a:r>
          </a:p>
          <a:p>
            <a:pPr>
              <a:spcAft>
                <a:spcPts val="400"/>
              </a:spcAft>
            </a:pPr>
            <a:r>
              <a:rPr sz="1200" b="1">
                <a:solidFill>
                  <a:srgbClr val="004EA8"/>
                </a:solidFill>
                <a:latin typeface="Arial"/>
              </a:rPr>
              <a:t>For BDOI: </a:t>
            </a:r>
            <a:r>
              <a:rPr sz="1200" b="0">
                <a:solidFill>
                  <a:srgbClr val="4B4B4B"/>
                </a:solidFill>
                <a:latin typeface="Arial"/>
              </a:rPr>
              <a:t>Add PID to the servicing view.</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Self-service</a:t>
            </a:r>
          </a:p>
        </p:txBody>
      </p:sp>
      <p:sp>
        <p:nvSpPr>
          <p:cNvPr id="24" name="Rounded Rectangle 23"/>
          <p:cNvSpPr/>
          <p:nvPr/>
        </p:nvSpPr>
        <p:spPr>
          <a:xfrm>
            <a:off x="8146084" y="1920240"/>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calls</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Clients get RA, e-policy, SOA and payment status online or by chatbot.</a:t>
            </a:r>
          </a:p>
          <a:p>
            <a:pPr>
              <a:spcAft>
                <a:spcPts val="400"/>
              </a:spcAft>
            </a:pPr>
            <a:r>
              <a:rPr sz="1200" b="1">
                <a:solidFill>
                  <a:srgbClr val="004EA8"/>
                </a:solidFill>
                <a:latin typeface="Arial"/>
              </a:rPr>
              <a:t>For BDOI: </a:t>
            </a:r>
            <a:r>
              <a:rPr sz="1200" b="0">
                <a:solidFill>
                  <a:srgbClr val="4B4B4B"/>
                </a:solidFill>
                <a:latin typeface="Arial"/>
              </a:rPr>
              <a:t>Phase after go-live; start with document download.</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Knowledge base and scripts</a:t>
            </a:r>
          </a:p>
        </p:txBody>
      </p:sp>
      <p:sp>
        <p:nvSpPr>
          <p:cNvPr id="30" name="Rounded Rectangle 29"/>
          <p:cNvSpPr/>
          <p:nvPr/>
        </p:nvSpPr>
        <p:spPr>
          <a:xfrm>
            <a:off x="640080"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Consistent answers</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Answers and call scripts per concern type, kept by the contact centre.</a:t>
            </a:r>
          </a:p>
          <a:p>
            <a:pPr>
              <a:spcAft>
                <a:spcPts val="400"/>
              </a:spcAft>
            </a:pPr>
            <a:r>
              <a:rPr sz="1200" b="1">
                <a:solidFill>
                  <a:srgbClr val="004EA8"/>
                </a:solidFill>
                <a:latin typeface="Arial"/>
              </a:rPr>
              <a:t>For BDOI: </a:t>
            </a:r>
            <a:r>
              <a:rPr sz="1200" b="0">
                <a:solidFill>
                  <a:srgbClr val="4B4B4B"/>
                </a:solidFill>
                <a:latin typeface="Arial"/>
              </a:rPr>
              <a:t>Move CC Nav content into the case tool.</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First-contact resolution metrics</a:t>
            </a:r>
          </a:p>
        </p:txBody>
      </p:sp>
      <p:sp>
        <p:nvSpPr>
          <p:cNvPr id="36" name="Rounded Rectangle 35"/>
          <p:cNvSpPr/>
          <p:nvPr/>
        </p:nvSpPr>
        <p:spPr>
          <a:xfrm>
            <a:off x="4393082"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Service quality</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First-contact resolution, TAT met and satisfaction per unit.</a:t>
            </a:r>
          </a:p>
          <a:p>
            <a:pPr>
              <a:spcAft>
                <a:spcPts val="400"/>
              </a:spcAft>
            </a:pPr>
            <a:r>
              <a:rPr sz="1200" b="1">
                <a:solidFill>
                  <a:srgbClr val="004EA8"/>
                </a:solidFill>
                <a:latin typeface="Arial"/>
              </a:rPr>
              <a:t>For BDOI: </a:t>
            </a:r>
            <a:r>
              <a:rPr sz="1200" b="0">
                <a:solidFill>
                  <a:srgbClr val="4B4B4B"/>
                </a:solidFill>
                <a:latin typeface="Arial"/>
              </a:rPr>
              <a:t>Report from case data.</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F</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Control and Enablement</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Compliance screening and user access, which every other area depends on</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12.  </a:t>
            </a:r>
            <a:r>
              <a:rPr sz="1500" b="1">
                <a:solidFill>
                  <a:srgbClr val="FFFFFF"/>
                </a:solidFill>
                <a:latin typeface="Arial"/>
              </a:rPr>
              <a:t>Sanction Screening</a:t>
            </a:r>
            <a:r>
              <a:rPr sz="1500" b="0">
                <a:solidFill>
                  <a:srgbClr val="99C1E7"/>
                </a:solidFill>
                <a:latin typeface="Arial"/>
              </a:rPr>
              <a:t>   BRD-10</a:t>
            </a:r>
          </a:p>
        </p:txBody>
      </p:sp>
      <p:sp>
        <p:nvSpPr>
          <p:cNvPr id="8" name="TextBox 7"/>
          <p:cNvSpPr txBox="1"/>
          <p:nvPr/>
        </p:nvSpPr>
        <p:spPr>
          <a:xfrm>
            <a:off x="548640" y="4361687"/>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13.  </a:t>
            </a:r>
            <a:r>
              <a:rPr sz="1500" b="1">
                <a:solidFill>
                  <a:srgbClr val="FFFFFF"/>
                </a:solidFill>
                <a:latin typeface="Arial"/>
              </a:rPr>
              <a:t>User Access Maintenance</a:t>
            </a:r>
            <a:r>
              <a:rPr sz="1500" b="0">
                <a:solidFill>
                  <a:srgbClr val="99C1E7"/>
                </a:solidFill>
                <a:latin typeface="Arial"/>
              </a:rPr>
              <a:t>   BRD-11</a:t>
            </a:r>
          </a:p>
        </p:txBody>
      </p:sp>
      <p:sp>
        <p:nvSpPr>
          <p:cNvPr id="9" name="TextBox 8"/>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Business Process Reverse KT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Sanction Screening: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Compliance (Chief Compliance Officer)</a:t>
            </a:r>
          </a:p>
          <a:p>
            <a:pPr>
              <a:spcAft>
                <a:spcPts val="300"/>
              </a:spcAft>
            </a:pPr>
            <a:r>
              <a:rPr sz="1200" b="0">
                <a:solidFill>
                  <a:srgbClr val="004EA8"/>
                </a:solidFill>
                <a:latin typeface="Arial"/>
              </a:rPr>
              <a:t>•  </a:t>
            </a:r>
            <a:r>
              <a:rPr sz="1200" b="0">
                <a:solidFill>
                  <a:srgbClr val="4B4B4B"/>
                </a:solidFill>
                <a:latin typeface="Arial"/>
              </a:rPr>
              <a:t>Compliance Officer and Compliance Checker</a:t>
            </a:r>
          </a:p>
          <a:p>
            <a:pPr>
              <a:spcAft>
                <a:spcPts val="300"/>
              </a:spcAft>
            </a:pPr>
            <a:r>
              <a:rPr sz="1200" b="0">
                <a:solidFill>
                  <a:srgbClr val="004EA8"/>
                </a:solidFill>
                <a:latin typeface="Arial"/>
              </a:rPr>
              <a:t>•  </a:t>
            </a:r>
            <a:r>
              <a:rPr sz="1200" b="0">
                <a:solidFill>
                  <a:srgbClr val="4B4B4B"/>
                </a:solidFill>
                <a:latin typeface="Arial"/>
              </a:rPr>
              <a:t>Unit Compliance Coordinator; Investigators (287)</a:t>
            </a:r>
          </a:p>
          <a:p>
            <a:pPr>
              <a:spcAft>
                <a:spcPts val="300"/>
              </a:spcAft>
            </a:pPr>
            <a:r>
              <a:rPr sz="1200" b="0">
                <a:solidFill>
                  <a:srgbClr val="004EA8"/>
                </a:solidFill>
                <a:latin typeface="Arial"/>
              </a:rPr>
              <a:t>•  </a:t>
            </a:r>
            <a:r>
              <a:rPr sz="1200" b="0">
                <a:solidFill>
                  <a:srgbClr val="4B4B4B"/>
                </a:solidFill>
                <a:latin typeface="Arial"/>
              </a:rPr>
              <a:t>Approver (Unit Head, 8)</a:t>
            </a:r>
          </a:p>
          <a:p>
            <a:pPr>
              <a:spcAft>
                <a:spcPts val="300"/>
              </a:spcAft>
            </a:pPr>
            <a:r>
              <a:rPr sz="1200" b="0">
                <a:solidFill>
                  <a:srgbClr val="004EA8"/>
                </a:solidFill>
                <a:latin typeface="Arial"/>
              </a:rPr>
              <a:t>•  </a:t>
            </a:r>
            <a:r>
              <a:rPr sz="1200" b="0">
                <a:solidFill>
                  <a:srgbClr val="4B4B4B"/>
                </a:solidFill>
                <a:latin typeface="Arial"/>
              </a:rPr>
              <a:t>AML Committee (5 members)</a:t>
            </a:r>
          </a:p>
          <a:p>
            <a:pPr>
              <a:spcAft>
                <a:spcPts val="300"/>
              </a:spcAft>
            </a:pPr>
            <a:r>
              <a:rPr sz="1200" b="0">
                <a:solidFill>
                  <a:srgbClr val="004EA8"/>
                </a:solidFill>
                <a:latin typeface="Arial"/>
              </a:rPr>
              <a:t>•  </a:t>
            </a:r>
            <a:r>
              <a:rPr sz="1200" b="0">
                <a:solidFill>
                  <a:srgbClr val="4B4B4B"/>
                </a:solidFill>
                <a:latin typeface="Arial"/>
              </a:rPr>
              <a:t>Operations Lead; Auditor</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64 h</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 month freed for Compliance (BRD-10 p.4-5)</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4 h &gt; 1 h</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case cycle time, current to target (p.4-5)</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10 min</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saved per case on name screening (p.4-5)</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300</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list records a day at most (p.22-25)</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Not walked in Sep-2026; KYC / AMLA raised in the New Business session of 25-Sep</a:t>
            </a:r>
          </a:p>
          <a:p>
            <a:pPr>
              <a:spcAft>
                <a:spcPts val="400"/>
              </a:spcAft>
            </a:pPr>
            <a:r>
              <a:rPr sz="1100" b="1">
                <a:solidFill>
                  <a:srgbClr val="004EA8"/>
                </a:solidFill>
                <a:latin typeface="Arial"/>
              </a:rPr>
              <a:t>Process owners: </a:t>
            </a:r>
            <a:r>
              <a:rPr sz="1100" b="0">
                <a:solidFill>
                  <a:srgbClr val="4B4B4B"/>
                </a:solidFill>
                <a:latin typeface="Arial"/>
              </a:rPr>
              <a:t>Compliance (Chief Compliance Officer)</a:t>
            </a:r>
          </a:p>
          <a:p>
            <a:pPr>
              <a:spcAft>
                <a:spcPts val="400"/>
              </a:spcAft>
            </a:pPr>
            <a:r>
              <a:rPr sz="1100" b="0">
                <a:solidFill>
                  <a:srgbClr val="004EA8"/>
                </a:solidFill>
                <a:latin typeface="Arial"/>
              </a:rPr>
              <a:t>•  </a:t>
            </a:r>
            <a:r>
              <a:rPr sz="1100" b="0">
                <a:solidFill>
                  <a:srgbClr val="4B4B4B"/>
                </a:solidFill>
                <a:latin typeface="Arial"/>
              </a:rPr>
              <a:t>BRD-10 p.6-7 (current process), p.8 (to-be)</a:t>
            </a:r>
          </a:p>
          <a:p>
            <a:pPr>
              <a:spcAft>
                <a:spcPts val="400"/>
              </a:spcAft>
            </a:pPr>
            <a:r>
              <a:rPr sz="1100" b="0">
                <a:solidFill>
                  <a:srgbClr val="004EA8"/>
                </a:solidFill>
                <a:latin typeface="Arial"/>
              </a:rPr>
              <a:t>•  </a:t>
            </a:r>
            <a:r>
              <a:rPr sz="1100" b="0">
                <a:solidFill>
                  <a:srgbClr val="4B4B4B"/>
                </a:solidFill>
                <a:latin typeface="Arial"/>
              </a:rPr>
              <a:t>SNSRP-101 to 706</a:t>
            </a:r>
          </a:p>
          <a:p>
            <a:pPr>
              <a:spcAft>
                <a:spcPts val="400"/>
              </a:spcAft>
            </a:pPr>
            <a:r>
              <a:rPr sz="1100" b="0">
                <a:solidFill>
                  <a:srgbClr val="004EA8"/>
                </a:solidFill>
                <a:latin typeface="Arial"/>
              </a:rPr>
              <a:t>•  </a:t>
            </a:r>
            <a:r>
              <a:rPr sz="1100" b="0">
                <a:solidFill>
                  <a:srgbClr val="4B4B4B"/>
                </a:solidFill>
                <a:latin typeface="Arial"/>
              </a:rPr>
              <a:t>Floor-walk note NB-04</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Configure</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List intake</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Matching</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Risk tagging</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Case</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Investigation</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Approval</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STR</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Sanction Screening: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graphicFrame>
        <p:nvGraphicFramePr>
          <p:cNvPr id="9" name="Table 8"/>
          <p:cNvGraphicFramePr>
            <a:graphicFrameLocks noGrp="1"/>
          </p:cNvGraphicFramePr>
          <p:nvPr/>
        </p:nvGraphicFramePr>
        <p:xfrm>
          <a:off x="548640" y="1280160"/>
          <a:ext cx="11094412" cy="365760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NB-04</a:t>
                      </a:r>
                    </a:p>
                  </a:txBody>
                  <a:tcPr marL="64008" marR="64008" marT="27432" marB="27432" anchor="ctr">
                    <a:solidFill>
                      <a:srgbClr val="FFFFFF"/>
                    </a:solidFill>
                  </a:tcPr>
                </a:tc>
                <a:tc>
                  <a:txBody>
                    <a:bodyPr wrap="square"/>
                    <a:lstStyle/>
                    <a:p>
                      <a:r>
                        <a:rPr sz="1100" b="0">
                          <a:solidFill>
                            <a:srgbClr val="4B4B4B"/>
                          </a:solidFill>
                          <a:latin typeface="Arial"/>
                        </a:rPr>
                        <a:t>KYC and AMLA</a:t>
                      </a:r>
                    </a:p>
                  </a:txBody>
                  <a:tcPr marL="64008" marR="64008" marT="27432" marB="27432" anchor="ctr">
                    <a:solidFill>
                      <a:srgbClr val="FFFF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KYC for every new customer (corporate and retail), then the AMLA check; both done outside the system with the insurance declaration form.</a:t>
                      </a:r>
                    </a:p>
                  </a:txBody>
                  <a:tcPr marL="64008" marR="64008" marT="27432" marB="27432" anchor="ctr">
                    <a:solidFill>
                      <a:srgbClr val="FFFFFF"/>
                    </a:solidFill>
                  </a:tcPr>
                </a:tc>
                <a:tc>
                  <a:txBody>
                    <a:bodyPr wrap="square"/>
                    <a:lstStyle/>
                    <a:p>
                      <a:r>
                        <a:rPr sz="1100" b="0">
                          <a:solidFill>
                            <a:srgbClr val="4B4B4B"/>
                          </a:solidFill>
                          <a:latin typeface="Arial"/>
                        </a:rPr>
                        <a:t>Confirm whether KYC and AMLA come into the system.</a:t>
                      </a:r>
                    </a:p>
                  </a:txBody>
                  <a:tcPr marL="64008" marR="64008" marT="27432" marB="27432" anchor="ctr">
                    <a:solidFill>
                      <a:srgbClr val="FFFFFF"/>
                    </a:solidFill>
                  </a:tcPr>
                </a:tc>
              </a:tr>
              <a:tr h="822960">
                <a:tc>
                  <a:txBody>
                    <a:bodyPr wrap="square"/>
                    <a:lstStyle/>
                    <a:p>
                      <a:r>
                        <a:rPr sz="1100" b="1">
                          <a:solidFill>
                            <a:srgbClr val="4B4B4B"/>
                          </a:solidFill>
                          <a:latin typeface="Arial"/>
                        </a:rPr>
                        <a:t>BRD-10 p.6</a:t>
                      </a:r>
                    </a:p>
                  </a:txBody>
                  <a:tcPr marL="64008" marR="64008" marT="27432" marB="27432" anchor="ctr">
                    <a:solidFill>
                      <a:srgbClr val="E5F5FF"/>
                    </a:solidFill>
                  </a:tcPr>
                </a:tc>
                <a:tc>
                  <a:txBody>
                    <a:bodyPr wrap="square"/>
                    <a:lstStyle/>
                    <a:p>
                      <a:r>
                        <a:rPr sz="1100" b="0">
                          <a:solidFill>
                            <a:srgbClr val="4B4B4B"/>
                          </a:solidFill>
                          <a:latin typeface="Arial"/>
                        </a:rPr>
                        <a:t>Lists</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Sanctioned names arrive by e-mail advisory and are consolidated on SharePoint; the PEP list is refreshed quarterly through NLDS, which one person can access.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822960">
                <a:tc>
                  <a:txBody>
                    <a:bodyPr wrap="square"/>
                    <a:lstStyle/>
                    <a:p>
                      <a:r>
                        <a:rPr sz="1100" b="1">
                          <a:solidFill>
                            <a:srgbClr val="4B4B4B"/>
                          </a:solidFill>
                          <a:latin typeface="Arial"/>
                        </a:rPr>
                        <a:t>BRD-10 p.7</a:t>
                      </a:r>
                    </a:p>
                  </a:txBody>
                  <a:tcPr marL="64008" marR="64008" marT="27432" marB="27432" anchor="ctr">
                    <a:solidFill>
                      <a:srgbClr val="FFFFFF"/>
                    </a:solidFill>
                  </a:tcPr>
                </a:tc>
                <a:tc>
                  <a:txBody>
                    <a:bodyPr wrap="square"/>
                    <a:lstStyle/>
                    <a:p>
                      <a:r>
                        <a:rPr sz="1100" b="0">
                          <a:solidFill>
                            <a:srgbClr val="4B4B4B"/>
                          </a:solidFill>
                          <a:latin typeface="Arial"/>
                        </a:rPr>
                        <a:t>Matching and cases</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Names matched by hand; risk tag and review template filled by hand; review and approval routed by e-mail; STR prepared by hand and filed on the AMLC portal.</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CP-01</a:t>
                      </a:r>
                    </a:p>
                  </a:txBody>
                  <a:tcPr marL="64008" marR="64008" marT="27432" marB="27432" anchor="ctr">
                    <a:solidFill>
                      <a:srgbClr val="E5F5FF"/>
                    </a:solidFill>
                  </a:tcPr>
                </a:tc>
                <a:tc>
                  <a:txBody>
                    <a:bodyPr wrap="square"/>
                    <a:lstStyle/>
                    <a:p>
                      <a:r>
                        <a:rPr sz="1100" b="0">
                          <a:solidFill>
                            <a:srgbClr val="4B4B4B"/>
                          </a:solidFill>
                          <a:latin typeface="Arial"/>
                        </a:rPr>
                        <a:t>E-signature</a:t>
                      </a:r>
                    </a:p>
                  </a:txBody>
                  <a:tcPr marL="64008" marR="64008" marT="27432" marB="27432" anchor="ctr">
                    <a:solidFill>
                      <a:srgbClr val="E5F5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E-signature requirement to be checked with Legal and Compliance.</a:t>
                      </a:r>
                    </a:p>
                  </a:txBody>
                  <a:tcPr marL="64008" marR="64008" marT="27432" marB="27432" anchor="ctr">
                    <a:solidFill>
                      <a:srgbClr val="E5F5FF"/>
                    </a:solidFill>
                  </a:tcPr>
                </a:tc>
                <a:tc>
                  <a:txBody>
                    <a:bodyPr wrap="square"/>
                    <a:lstStyle/>
                    <a:p>
                      <a:r>
                        <a:rPr sz="1100" b="0">
                          <a:solidFill>
                            <a:srgbClr val="4B4B4B"/>
                          </a:solidFill>
                          <a:latin typeface="Arial"/>
                        </a:rPr>
                        <a:t>Decision on e-signature for approvals and documents.</a:t>
                      </a:r>
                    </a:p>
                  </a:txBody>
                  <a:tcPr marL="64008" marR="64008" marT="27432" marB="27432" anchor="ctr">
                    <a:solidFill>
                      <a:srgbClr val="E5F5FF"/>
                    </a:solidFill>
                  </a:tcPr>
                </a:tc>
              </a:tr>
            </a:tbl>
          </a:graphicData>
        </a:graphic>
      </p:graphicFrame>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Sanction Screening: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pic>
        <p:nvPicPr>
          <p:cNvPr id="9" name="Picture 8" descr="brd10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Name screening and risk profiling today (BRD-10 p.6-7)</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Sanction Screening: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Risk category by memo</a:t>
            </a:r>
          </a:p>
          <a:p>
            <a:pPr>
              <a:spcAft>
                <a:spcPts val="100"/>
              </a:spcAft>
            </a:pPr>
            <a:r>
              <a:rPr sz="1200" b="0">
                <a:solidFill>
                  <a:srgbClr val="4B4B4B"/>
                </a:solidFill>
                <a:latin typeface="Arial"/>
              </a:rPr>
              <a:t>The risk-profile category is cascaded by memo.</a:t>
            </a:r>
          </a:p>
          <a:p>
            <a:pPr>
              <a:spcAft>
                <a:spcPts val="100"/>
              </a:spcAft>
            </a:pPr>
            <a:r>
              <a:rPr sz="1200" b="0">
                <a:solidFill>
                  <a:srgbClr val="0072D8"/>
                </a:solidFill>
                <a:latin typeface="Arial"/>
              </a:rPr>
              <a:t>BRD-10 p.6</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Sanctioned names by e-mail</a:t>
            </a:r>
          </a:p>
          <a:p>
            <a:pPr>
              <a:spcAft>
                <a:spcPts val="100"/>
              </a:spcAft>
            </a:pPr>
            <a:r>
              <a:rPr sz="1200" b="0">
                <a:solidFill>
                  <a:srgbClr val="4B4B4B"/>
                </a:solidFill>
                <a:latin typeface="Arial"/>
              </a:rPr>
              <a:t>The AML unit sends names by e-mail advisory.</a:t>
            </a:r>
          </a:p>
          <a:p>
            <a:pPr>
              <a:spcAft>
                <a:spcPts val="100"/>
              </a:spcAft>
            </a:pPr>
            <a:r>
              <a:rPr sz="1200" b="0">
                <a:solidFill>
                  <a:srgbClr val="0072D8"/>
                </a:solidFill>
                <a:latin typeface="Arial"/>
              </a:rPr>
              <a:t>BRD-10 p.6</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List kept on SharePoint</a:t>
            </a:r>
          </a:p>
          <a:p>
            <a:pPr>
              <a:spcAft>
                <a:spcPts val="100"/>
              </a:spcAft>
            </a:pPr>
            <a:r>
              <a:rPr sz="1200" b="0">
                <a:solidFill>
                  <a:srgbClr val="4B4B4B"/>
                </a:solidFill>
                <a:latin typeface="Arial"/>
              </a:rPr>
              <a:t>Compliance consolidates and publishes the names on SharePoint.</a:t>
            </a:r>
          </a:p>
          <a:p>
            <a:pPr>
              <a:spcAft>
                <a:spcPts val="100"/>
              </a:spcAft>
            </a:pPr>
            <a:r>
              <a:rPr sz="1200" b="0">
                <a:solidFill>
                  <a:srgbClr val="0072D8"/>
                </a:solidFill>
                <a:latin typeface="Arial"/>
              </a:rPr>
              <a:t>BRD-10 p.6</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Matching by hand</a:t>
            </a:r>
          </a:p>
          <a:p>
            <a:pPr>
              <a:spcAft>
                <a:spcPts val="100"/>
              </a:spcAft>
            </a:pPr>
            <a:r>
              <a:rPr sz="1200" b="0">
                <a:solidFill>
                  <a:srgbClr val="4B4B4B"/>
                </a:solidFill>
                <a:latin typeface="Arial"/>
              </a:rPr>
              <a:t>Names are matched against new and existing clients manually.</a:t>
            </a:r>
          </a:p>
          <a:p>
            <a:pPr>
              <a:spcAft>
                <a:spcPts val="100"/>
              </a:spcAft>
            </a:pPr>
            <a:r>
              <a:rPr sz="1200" b="0">
                <a:solidFill>
                  <a:srgbClr val="0072D8"/>
                </a:solidFill>
                <a:latin typeface="Arial"/>
              </a:rPr>
              <a:t>BRD-10 p.6</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Risk profile tagged by hand</a:t>
            </a:r>
          </a:p>
          <a:p>
            <a:pPr>
              <a:spcAft>
                <a:spcPts val="100"/>
              </a:spcAft>
            </a:pPr>
            <a:r>
              <a:rPr sz="1200" b="0">
                <a:solidFill>
                  <a:srgbClr val="4B4B4B"/>
                </a:solidFill>
                <a:latin typeface="Arial"/>
              </a:rPr>
              <a:t>The client risk profile is tagged manually.</a:t>
            </a:r>
          </a:p>
          <a:p>
            <a:pPr>
              <a:spcAft>
                <a:spcPts val="100"/>
              </a:spcAft>
            </a:pPr>
            <a:r>
              <a:rPr sz="1200" b="0">
                <a:solidFill>
                  <a:srgbClr val="0072D8"/>
                </a:solidFill>
                <a:latin typeface="Arial"/>
              </a:rPr>
              <a:t>BRD-10 p.6</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Templates outside the system</a:t>
            </a:r>
          </a:p>
          <a:p>
            <a:pPr>
              <a:spcAft>
                <a:spcPts val="100"/>
              </a:spcAft>
            </a:pPr>
            <a:r>
              <a:rPr sz="1200" b="0">
                <a:solidFill>
                  <a:srgbClr val="4B4B4B"/>
                </a:solidFill>
                <a:latin typeface="Arial"/>
              </a:rPr>
              <a:t>Review templates are filled outside the system and e-mailed.</a:t>
            </a:r>
          </a:p>
          <a:p>
            <a:pPr>
              <a:spcAft>
                <a:spcPts val="100"/>
              </a:spcAft>
            </a:pPr>
            <a:r>
              <a:rPr sz="1200" b="0">
                <a:solidFill>
                  <a:srgbClr val="0072D8"/>
                </a:solidFill>
                <a:latin typeface="Arial"/>
              </a:rPr>
              <a:t>BRD-10 p.6</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Routing by e-mail</a:t>
            </a:r>
          </a:p>
          <a:p>
            <a:pPr>
              <a:spcAft>
                <a:spcPts val="100"/>
              </a:spcAft>
            </a:pPr>
            <a:r>
              <a:rPr sz="1200" b="0">
                <a:solidFill>
                  <a:srgbClr val="4B4B4B"/>
                </a:solidFill>
                <a:latin typeface="Arial"/>
              </a:rPr>
              <a:t>Review and approval items are routed by e-mail.</a:t>
            </a:r>
          </a:p>
          <a:p>
            <a:pPr>
              <a:spcAft>
                <a:spcPts val="100"/>
              </a:spcAft>
            </a:pPr>
            <a:r>
              <a:rPr sz="1200" b="0">
                <a:solidFill>
                  <a:srgbClr val="0072D8"/>
                </a:solidFill>
                <a:latin typeface="Arial"/>
              </a:rPr>
              <a:t>BRD-10 p.6</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PEP list quarterly; one NLDS user</a:t>
            </a:r>
          </a:p>
          <a:p>
            <a:pPr>
              <a:spcAft>
                <a:spcPts val="100"/>
              </a:spcAft>
            </a:pPr>
            <a:r>
              <a:rPr sz="1200" b="0">
                <a:solidFill>
                  <a:srgbClr val="4B4B4B"/>
                </a:solidFill>
                <a:latin typeface="Arial"/>
              </a:rPr>
              <a:t>PEP lists prepared by Marketing AOs; no EDD for PEPs.</a:t>
            </a:r>
          </a:p>
          <a:p>
            <a:pPr>
              <a:spcAft>
                <a:spcPts val="100"/>
              </a:spcAft>
            </a:pPr>
            <a:r>
              <a:rPr sz="1200" b="0">
                <a:solidFill>
                  <a:srgbClr val="0072D8"/>
                </a:solidFill>
                <a:latin typeface="Arial"/>
              </a:rPr>
              <a:t>BRD-10 p.7</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STR by hand</a:t>
            </a:r>
          </a:p>
          <a:p>
            <a:pPr>
              <a:spcAft>
                <a:spcPts val="100"/>
              </a:spcAft>
            </a:pPr>
            <a:r>
              <a:rPr sz="1200" b="0">
                <a:solidFill>
                  <a:srgbClr val="4B4B4B"/>
                </a:solidFill>
                <a:latin typeface="Arial"/>
              </a:rPr>
              <a:t>The STR is prepared manually and filed on the AMLC portal.</a:t>
            </a:r>
          </a:p>
          <a:p>
            <a:pPr>
              <a:spcAft>
                <a:spcPts val="100"/>
              </a:spcAft>
            </a:pPr>
            <a:r>
              <a:rPr sz="1200" b="0">
                <a:solidFill>
                  <a:srgbClr val="0072D8"/>
                </a:solidFill>
                <a:latin typeface="Arial"/>
              </a:rPr>
              <a:t>BRD-10 p.6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Sanction Screening: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pic>
        <p:nvPicPr>
          <p:cNvPr id="9" name="Picture 8" descr="brd10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To-be screening in BIBS: case workflow SCR_CASE (FRS BRD-10 sections 2.2 and 5)</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Sanction Screening: how the BRD answers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Risk category by memo</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Risk categories and rules maintained in BIBS; a checker approves each version</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Maker-checker on rules</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Sanctioned names by e-mail</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List files loaded on a schedule or uploaded; every run logged, failed records reported</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10-300 records a day</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List kept on SharePoint</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Watchlist held in BIBS by source; manual additions through maker-checker</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list</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Matching by hand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Every new client, application, list change and the client base in a batch window</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10 min saved per case</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Risk profile tagged by hand</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Risk rules set the rating and PEP / watchlist tags; override with evidence</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Tags by rule</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Sanction Screening: how the BRD answers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Templates outside the system</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Review template completed on the case with the KYC documents</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Case cycle 4 h &gt; 1 h</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Routing by e-mail</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Case validated and routed by the approval matrix to UH, Compliance and AML Committee</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64 h a month freed</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PEP list quarterly; one NLDS user</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PEP entries in the watchlist; PEP clients get a case and, where required, an EDD review</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EDD for PEPs</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STR by hand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STR prefilled from the case; approved STRs extracted in the AMLC format</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Reference recorded</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Sanction Screening: gaps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Block or warn on a match</a:t>
                      </a:r>
                    </a:p>
                  </a:txBody>
                  <a:tcPr marL="64008" marR="64008" marT="27432" marB="27432" anchor="ctr">
                    <a:solidFill>
                      <a:srgbClr val="FFFFFF"/>
                    </a:solidFill>
                  </a:tcPr>
                </a:tc>
                <a:tc>
                  <a:txBody>
                    <a:bodyPr wrap="square"/>
                    <a:lstStyle/>
                    <a:p>
                      <a:r>
                        <a:rPr sz="1100" b="0">
                          <a:solidFill>
                            <a:srgbClr val="4B4B4B"/>
                          </a:solidFill>
                          <a:latin typeface="Arial"/>
                        </a:rPr>
                        <a:t>Screening today happens after KYC, outside the system.</a:t>
                      </a:r>
                    </a:p>
                  </a:txBody>
                  <a:tcPr marL="64008" marR="64008" marT="27432" marB="27432" anchor="ctr">
                    <a:solidFill>
                      <a:srgbClr val="FFFFFF"/>
                    </a:solidFill>
                  </a:tcPr>
                </a:tc>
                <a:tc>
                  <a:txBody>
                    <a:bodyPr wrap="square"/>
                    <a:lstStyle/>
                    <a:p>
                      <a:r>
                        <a:rPr sz="1100" b="0">
                          <a:solidFill>
                            <a:srgbClr val="4B4B4B"/>
                          </a:solidFill>
                          <a:latin typeface="Arial"/>
                        </a:rPr>
                        <a:t>Screening on client creation and account submission; effect of an open match not decided.</a:t>
                      </a:r>
                    </a:p>
                  </a:txBody>
                  <a:tcPr marL="64008" marR="64008" marT="27432" marB="27432" anchor="ctr">
                    <a:solidFill>
                      <a:srgbClr val="FFFFFF"/>
                    </a:solidFill>
                  </a:tcPr>
                </a:tc>
                <a:tc>
                  <a:txBody>
                    <a:bodyPr wrap="square"/>
                    <a:lstStyle/>
                    <a:p>
                      <a:r>
                        <a:rPr sz="1100" b="0">
                          <a:solidFill>
                            <a:srgbClr val="4B4B4B"/>
                          </a:solidFill>
                          <a:latin typeface="Arial"/>
                        </a:rPr>
                        <a:t>Decide block or warn at quotation, placement, booking and renewal.</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Insurance declaration form</a:t>
                      </a:r>
                    </a:p>
                  </a:txBody>
                  <a:tcPr marL="64008" marR="64008" marT="27432" marB="27432" anchor="ctr">
                    <a:solidFill>
                      <a:srgbClr val="E5F5FF"/>
                    </a:solidFill>
                  </a:tcPr>
                </a:tc>
                <a:tc>
                  <a:txBody>
                    <a:bodyPr wrap="square"/>
                    <a:lstStyle/>
                    <a:p>
                      <a:r>
                        <a:rPr sz="1100" b="0">
                          <a:solidFill>
                            <a:srgbClr val="4B4B4B"/>
                          </a:solidFill>
                          <a:latin typeface="Arial"/>
                        </a:rPr>
                        <a:t>Collected with KYC outside the system (NB-04).</a:t>
                      </a:r>
                    </a:p>
                  </a:txBody>
                  <a:tcPr marL="64008" marR="64008" marT="27432" marB="27432" anchor="ctr">
                    <a:solidFill>
                      <a:srgbClr val="E5F5FF"/>
                    </a:solidFill>
                  </a:tcPr>
                </a:tc>
                <a:tc>
                  <a:txBody>
                    <a:bodyPr wrap="square"/>
                    <a:lstStyle/>
                    <a:p>
                      <a:r>
                        <a:rPr sz="1100" b="0">
                          <a:solidFill>
                            <a:srgbClr val="4B4B4B"/>
                          </a:solidFill>
                          <a:latin typeface="Arial"/>
                        </a:rPr>
                        <a:t>Not in any BRD.</a:t>
                      </a:r>
                    </a:p>
                  </a:txBody>
                  <a:tcPr marL="64008" marR="64008" marT="27432" marB="27432" anchor="ctr">
                    <a:solidFill>
                      <a:srgbClr val="E5F5FF"/>
                    </a:solidFill>
                  </a:tcPr>
                </a:tc>
                <a:tc>
                  <a:txBody>
                    <a:bodyPr wrap="square"/>
                    <a:lstStyle/>
                    <a:p>
                      <a:r>
                        <a:rPr sz="1100" b="0">
                          <a:solidFill>
                            <a:srgbClr val="4B4B4B"/>
                          </a:solidFill>
                          <a:latin typeface="Arial"/>
                        </a:rPr>
                        <a:t>Capture the declaration in client onboarding.</a:t>
                      </a:r>
                    </a:p>
                  </a:txBody>
                  <a:tcPr marL="64008" marR="64008" marT="27432" marB="27432" anchor="ctr">
                    <a:solidFill>
                      <a:srgbClr val="E5F5FF"/>
                    </a:solidFill>
                  </a:tcPr>
                </a:tc>
                <a:tc>
                  <a:txBody>
                    <a:bodyPr wrap="square"/>
                    <a:lstStyle/>
                    <a:p>
                      <a:r>
                        <a:rPr sz="1100" b="0">
                          <a:solidFill>
                            <a:srgbClr val="4B4B4B"/>
                          </a:solidFill>
                          <a:latin typeface="Arial"/>
                        </a:rPr>
                        <a:t>NB-04</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PEP source for individuals</a:t>
                      </a:r>
                    </a:p>
                  </a:txBody>
                  <a:tcPr marL="64008" marR="64008" marT="27432" marB="27432" anchor="ctr">
                    <a:solidFill>
                      <a:srgbClr val="FFFFFF"/>
                    </a:solidFill>
                  </a:tcPr>
                </a:tc>
                <a:tc>
                  <a:txBody>
                    <a:bodyPr wrap="square"/>
                    <a:lstStyle/>
                    <a:p>
                      <a:r>
                        <a:rPr sz="1100" b="0">
                          <a:solidFill>
                            <a:srgbClr val="4B4B4B"/>
                          </a:solidFill>
                          <a:latin typeface="Arial"/>
                        </a:rPr>
                        <a:t>Quarterly PEP list through NLDS.</a:t>
                      </a:r>
                    </a:p>
                  </a:txBody>
                  <a:tcPr marL="64008" marR="64008" marT="27432" marB="27432" anchor="ctr">
                    <a:solidFill>
                      <a:srgbClr val="FFFFFF"/>
                    </a:solidFill>
                  </a:tcPr>
                </a:tc>
                <a:tc>
                  <a:txBody>
                    <a:bodyPr wrap="square"/>
                    <a:lstStyle/>
                    <a:p>
                      <a:r>
                        <a:rPr sz="1100" b="0">
                          <a:solidFill>
                            <a:srgbClr val="4B4B4B"/>
                          </a:solidFill>
                          <a:latin typeface="Arial"/>
                        </a:rPr>
                        <a:t>Source for individuals open.</a:t>
                      </a:r>
                    </a:p>
                  </a:txBody>
                  <a:tcPr marL="64008" marR="64008" marT="27432" marB="27432" anchor="ctr">
                    <a:solidFill>
                      <a:srgbClr val="FFFFFF"/>
                    </a:solidFill>
                  </a:tcPr>
                </a:tc>
                <a:tc>
                  <a:txBody>
                    <a:bodyPr wrap="square"/>
                    <a:lstStyle/>
                    <a:p>
                      <a:r>
                        <a:rPr sz="1100" b="0">
                          <a:solidFill>
                            <a:srgbClr val="4B4B4B"/>
                          </a:solidFill>
                          <a:latin typeface="Arial"/>
                        </a:rPr>
                        <a:t>Name the PEP source and refresh frequency.</a:t>
                      </a:r>
                    </a:p>
                  </a:txBody>
                  <a:tcPr marL="64008" marR="64008" marT="27432" marB="27432" anchor="ctr">
                    <a:solidFill>
                      <a:srgbClr val="FFFFFF"/>
                    </a:solidFill>
                  </a:tcPr>
                </a:tc>
                <a:tc>
                  <a:txBody>
                    <a:bodyPr wrap="square"/>
                    <a:lstStyle/>
                    <a:p>
                      <a:r>
                        <a:rPr sz="1100" b="0">
                          <a:solidFill>
                            <a:srgbClr val="4B4B4B"/>
                          </a:solidFill>
                          <a:latin typeface="Arial"/>
                        </a:rPr>
                        <a:t>DCR-109</a:t>
                      </a:r>
                    </a:p>
                  </a:txBody>
                  <a:tcPr marL="64008" marR="64008" marT="27432" marB="27432" anchor="ctr">
                    <a:solidFill>
                      <a:srgbClr val="FFFFFF"/>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Adverse media</a:t>
                      </a:r>
                    </a:p>
                  </a:txBody>
                  <a:tcPr marL="64008" marR="64008" marT="27432" marB="27432" anchor="ctr">
                    <a:solidFill>
                      <a:srgbClr val="E5F5FF"/>
                    </a:solidFill>
                  </a:tcPr>
                </a:tc>
                <a:tc>
                  <a:txBody>
                    <a:bodyPr wrap="square"/>
                    <a:lstStyle/>
                    <a:p>
                      <a:r>
                        <a:rPr sz="1100" b="0">
                          <a:solidFill>
                            <a:srgbClr val="4B4B4B"/>
                          </a:solidFill>
                          <a:latin typeface="Arial"/>
                        </a:rPr>
                        <a:t>Not screened today.</a:t>
                      </a:r>
                    </a:p>
                  </a:txBody>
                  <a:tcPr marL="64008" marR="64008" marT="27432" marB="27432" anchor="ctr">
                    <a:solidFill>
                      <a:srgbClr val="E5F5FF"/>
                    </a:solidFill>
                  </a:tcPr>
                </a:tc>
                <a:tc>
                  <a:txBody>
                    <a:bodyPr wrap="square"/>
                    <a:lstStyle/>
                    <a:p>
                      <a:r>
                        <a:rPr sz="1100" b="0">
                          <a:solidFill>
                            <a:srgbClr val="4B4B4B"/>
                          </a:solidFill>
                          <a:latin typeface="Arial"/>
                        </a:rPr>
                        <a:t>Not required.</a:t>
                      </a:r>
                    </a:p>
                  </a:txBody>
                  <a:tcPr marL="64008" marR="64008" marT="27432" marB="27432" anchor="ctr">
                    <a:solidFill>
                      <a:srgbClr val="E5F5FF"/>
                    </a:solidFill>
                  </a:tcPr>
                </a:tc>
                <a:tc>
                  <a:txBody>
                    <a:bodyPr wrap="square"/>
                    <a:lstStyle/>
                    <a:p>
                      <a:r>
                        <a:rPr sz="1100" b="0">
                          <a:solidFill>
                            <a:srgbClr val="4B4B4B"/>
                          </a:solidFill>
                          <a:latin typeface="Arial"/>
                        </a:rPr>
                        <a:t>Consider adverse-media screening for high-risk clients.</a:t>
                      </a:r>
                    </a:p>
                  </a:txBody>
                  <a:tcPr marL="64008" marR="64008" marT="27432" marB="27432" anchor="ctr">
                    <a:solidFill>
                      <a:srgbClr val="E5F5FF"/>
                    </a:solidFill>
                  </a:tcPr>
                </a:tc>
                <a:tc>
                  <a:txBody>
                    <a:bodyPr wrap="square"/>
                    <a:lstStyle/>
                    <a:p>
                      <a:r>
                        <a:rPr sz="1100" b="0">
                          <a:solidFill>
                            <a:srgbClr val="4B4B4B"/>
                          </a:solidFill>
                          <a:latin typeface="Arial"/>
                        </a:rPr>
                        <a:t>DCR-111</a:t>
                      </a:r>
                    </a:p>
                  </a:txBody>
                  <a:tcPr marL="64008" marR="64008" marT="27432" marB="27432" anchor="ctr">
                    <a:solidFill>
                      <a:srgbClr val="E5F5FF"/>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Beneficial owners</a:t>
                      </a:r>
                    </a:p>
                  </a:txBody>
                  <a:tcPr marL="64008" marR="64008" marT="27432" marB="27432" anchor="ctr">
                    <a:solidFill>
                      <a:srgbClr val="FFFFFF"/>
                    </a:solidFill>
                  </a:tcPr>
                </a:tc>
                <a:tc>
                  <a:txBody>
                    <a:bodyPr wrap="square"/>
                    <a:lstStyle/>
                    <a:p>
                      <a:r>
                        <a:rPr sz="1100" b="0">
                          <a:solidFill>
                            <a:srgbClr val="4B4B4B"/>
                          </a:solidFill>
                          <a:latin typeface="Arial"/>
                        </a:rPr>
                        <a:t>Corporate clients screened by name.</a:t>
                      </a:r>
                    </a:p>
                  </a:txBody>
                  <a:tcPr marL="64008" marR="64008" marT="27432" marB="27432" anchor="ctr">
                    <a:solidFill>
                      <a:srgbClr val="FFFFFF"/>
                    </a:solidFill>
                  </a:tcPr>
                </a:tc>
                <a:tc>
                  <a:txBody>
                    <a:bodyPr wrap="square"/>
                    <a:lstStyle/>
                    <a:p>
                      <a:r>
                        <a:rPr sz="1100" b="0">
                          <a:solidFill>
                            <a:srgbClr val="4B4B4B"/>
                          </a:solidFill>
                          <a:latin typeface="Arial"/>
                        </a:rPr>
                        <a:t>Related parties not screened.</a:t>
                      </a:r>
                    </a:p>
                  </a:txBody>
                  <a:tcPr marL="64008" marR="64008" marT="27432" marB="27432" anchor="ctr">
                    <a:solidFill>
                      <a:srgbClr val="FFFFFF"/>
                    </a:solidFill>
                  </a:tcPr>
                </a:tc>
                <a:tc>
                  <a:txBody>
                    <a:bodyPr wrap="square"/>
                    <a:lstStyle/>
                    <a:p>
                      <a:r>
                        <a:rPr sz="1100" b="0">
                          <a:solidFill>
                            <a:srgbClr val="4B4B4B"/>
                          </a:solidFill>
                          <a:latin typeface="Arial"/>
                        </a:rPr>
                        <a:t>Screen beneficial owners and authorised signatories.</a:t>
                      </a:r>
                    </a:p>
                  </a:txBody>
                  <a:tcPr marL="64008" marR="64008" marT="27432" marB="27432" anchor="ctr">
                    <a:solidFill>
                      <a:srgbClr val="FFFFFF"/>
                    </a:solidFill>
                  </a:tcPr>
                </a:tc>
                <a:tc>
                  <a:txBody>
                    <a:bodyPr wrap="square"/>
                    <a:lstStyle/>
                    <a:p>
                      <a:r>
                        <a:rPr sz="1100" b="0">
                          <a:solidFill>
                            <a:srgbClr val="4B4B4B"/>
                          </a:solidFill>
                          <a:latin typeface="Arial"/>
                        </a:rPr>
                        <a:t>SQ11</a:t>
                      </a:r>
                    </a:p>
                  </a:txBody>
                  <a:tcPr marL="64008" marR="64008" marT="27432" marB="27432" anchor="ctr">
                    <a:solidFill>
                      <a:srgbClr val="FFFF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Screening of migrated clients</a:t>
                      </a:r>
                    </a:p>
                  </a:txBody>
                  <a:tcPr marL="64008" marR="64008" marT="27432" marB="27432" anchor="ctr">
                    <a:solidFill>
                      <a:srgbClr val="E5F5FF"/>
                    </a:solidFill>
                  </a:tcPr>
                </a:tc>
                <a:tc>
                  <a:txBody>
                    <a:bodyPr wrap="square"/>
                    <a:lstStyle/>
                    <a:p>
                      <a:r>
                        <a:rPr sz="1100" b="0">
                          <a:solidFill>
                            <a:srgbClr val="4B4B4B"/>
                          </a:solidFill>
                          <a:latin typeface="Arial"/>
                        </a:rPr>
                        <a:t>Legacy clients screened at different times.</a:t>
                      </a:r>
                    </a:p>
                  </a:txBody>
                  <a:tcPr marL="64008" marR="64008" marT="27432" marB="27432" anchor="ctr">
                    <a:solidFill>
                      <a:srgbClr val="E5F5FF"/>
                    </a:solidFill>
                  </a:tcPr>
                </a:tc>
                <a:tc>
                  <a:txBody>
                    <a:bodyPr wrap="square"/>
                    <a:lstStyle/>
                    <a:p>
                      <a:r>
                        <a:rPr sz="1100" b="0">
                          <a:solidFill>
                            <a:srgbClr val="4B4B4B"/>
                          </a:solidFill>
                          <a:latin typeface="Arial"/>
                        </a:rPr>
                        <a:t>Full re-screen after load proposed.</a:t>
                      </a:r>
                    </a:p>
                  </a:txBody>
                  <a:tcPr marL="64008" marR="64008" marT="27432" marB="27432" anchor="ctr">
                    <a:solidFill>
                      <a:srgbClr val="E5F5FF"/>
                    </a:solidFill>
                  </a:tcPr>
                </a:tc>
                <a:tc>
                  <a:txBody>
                    <a:bodyPr wrap="square"/>
                    <a:lstStyle/>
                    <a:p>
                      <a:r>
                        <a:rPr sz="1100" b="0">
                          <a:solidFill>
                            <a:srgbClr val="4B4B4B"/>
                          </a:solidFill>
                          <a:latin typeface="Arial"/>
                        </a:rPr>
                        <a:t>Confirm a full re-screen at cut-over.</a:t>
                      </a:r>
                    </a:p>
                  </a:txBody>
                  <a:tcPr marL="64008" marR="64008" marT="27432" marB="27432" anchor="ctr">
                    <a:solidFill>
                      <a:srgbClr val="E5F5FF"/>
                    </a:solidFill>
                  </a:tcPr>
                </a:tc>
                <a:tc>
                  <a:txBody>
                    <a:bodyPr wrap="square"/>
                    <a:lstStyle/>
                    <a:p>
                      <a:r>
                        <a:rPr sz="1100" b="0">
                          <a:solidFill>
                            <a:srgbClr val="4B4B4B"/>
                          </a:solidFill>
                          <a:latin typeface="Arial"/>
                        </a:rPr>
                        <a:t>DCR-208; DMQ06</a:t>
                      </a:r>
                    </a:p>
                  </a:txBody>
                  <a:tcPr marL="64008" marR="64008" marT="27432" marB="27432" anchor="ctr">
                    <a:solidFill>
                      <a:srgbClr val="E5F5FF"/>
                    </a:solidFill>
                  </a:tcPr>
                </a:tc>
              </a:tr>
            </a:tbl>
          </a:graphicData>
        </a:graphic>
      </p:graphicFrame>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Sanction Screening: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Reuse bank screening</a:t>
            </a:r>
          </a:p>
        </p:txBody>
      </p:sp>
      <p:sp>
        <p:nvSpPr>
          <p:cNvPr id="12" name="Rounded Rectangle 11"/>
          <p:cNvSpPr/>
          <p:nvPr/>
        </p:nvSpPr>
        <p:spPr>
          <a:xfrm>
            <a:off x="640080" y="1920240"/>
            <a:ext cx="160020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One view of risk</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BDO group CIF and screening results reused for bank-referred clients.</a:t>
            </a:r>
          </a:p>
          <a:p>
            <a:pPr>
              <a:spcAft>
                <a:spcPts val="400"/>
              </a:spcAft>
            </a:pPr>
            <a:r>
              <a:rPr sz="1200" b="1">
                <a:solidFill>
                  <a:srgbClr val="004EA8"/>
                </a:solidFill>
                <a:latin typeface="Arial"/>
              </a:rPr>
              <a:t>For BDOI: </a:t>
            </a:r>
            <a:r>
              <a:rPr sz="1200" b="0">
                <a:solidFill>
                  <a:srgbClr val="4B4B4B"/>
                </a:solidFill>
                <a:latin typeface="Arial"/>
              </a:rPr>
              <a:t>Confirm with BDO Compliance (SQ11, Q16).</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Tuned fuzzy matching</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false alerts</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Commercial watchlists with fuzzy matching tuned on BDOI data.</a:t>
            </a:r>
          </a:p>
          <a:p>
            <a:pPr>
              <a:spcAft>
                <a:spcPts val="400"/>
              </a:spcAft>
            </a:pPr>
            <a:r>
              <a:rPr sz="1200" b="1">
                <a:solidFill>
                  <a:srgbClr val="004EA8"/>
                </a:solidFill>
                <a:latin typeface="Arial"/>
              </a:rPr>
              <a:t>For BDOI: </a:t>
            </a:r>
            <a:r>
              <a:rPr sz="1200" b="0">
                <a:solidFill>
                  <a:srgbClr val="4B4B4B"/>
                </a:solidFill>
                <a:latin typeface="Arial"/>
              </a:rPr>
              <a:t>Tune thresholds during SIT.</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Adverse-media screening</a:t>
            </a:r>
          </a:p>
        </p:txBody>
      </p:sp>
      <p:sp>
        <p:nvSpPr>
          <p:cNvPr id="24" name="Rounded Rectangle 23"/>
          <p:cNvSpPr/>
          <p:nvPr/>
        </p:nvSpPr>
        <p:spPr>
          <a:xfrm>
            <a:off x="8146084" y="1920240"/>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Risk coverage</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News and adverse-media checks for high-risk clients.</a:t>
            </a:r>
          </a:p>
          <a:p>
            <a:pPr>
              <a:spcAft>
                <a:spcPts val="400"/>
              </a:spcAft>
            </a:pPr>
            <a:r>
              <a:rPr sz="1200" b="1">
                <a:solidFill>
                  <a:srgbClr val="004EA8"/>
                </a:solidFill>
                <a:latin typeface="Arial"/>
              </a:rPr>
              <a:t>For BDOI: </a:t>
            </a:r>
            <a:r>
              <a:rPr sz="1200" b="0">
                <a:solidFill>
                  <a:srgbClr val="4B4B4B"/>
                </a:solidFill>
                <a:latin typeface="Arial"/>
              </a:rPr>
              <a:t>Add for high-risk segments.</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Perpetual KYC</a:t>
            </a:r>
          </a:p>
        </p:txBody>
      </p:sp>
      <p:sp>
        <p:nvSpPr>
          <p:cNvPr id="30" name="Rounded Rectangle 29"/>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Always current</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Re-screening on every list update and on client events.</a:t>
            </a:r>
          </a:p>
          <a:p>
            <a:pPr>
              <a:spcAft>
                <a:spcPts val="400"/>
              </a:spcAft>
            </a:pPr>
            <a:r>
              <a:rPr sz="1200" b="1">
                <a:solidFill>
                  <a:srgbClr val="004EA8"/>
                </a:solidFill>
                <a:latin typeface="Arial"/>
              </a:rPr>
              <a:t>For BDOI: </a:t>
            </a:r>
            <a:r>
              <a:rPr sz="1200" b="0">
                <a:solidFill>
                  <a:srgbClr val="4B4B4B"/>
                </a:solidFill>
                <a:latin typeface="Arial"/>
              </a:rPr>
              <a:t>Schedule re-screening after each list load.</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Beneficial-owner screening</a:t>
            </a:r>
          </a:p>
        </p:txBody>
      </p:sp>
      <p:sp>
        <p:nvSpPr>
          <p:cNvPr id="36" name="Rounded Rectangle 35"/>
          <p:cNvSpPr/>
          <p:nvPr/>
        </p:nvSpPr>
        <p:spPr>
          <a:xfrm>
            <a:off x="4393082" y="4448556"/>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Compliance</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Owners, directors and signatories screened with the client.</a:t>
            </a:r>
          </a:p>
          <a:p>
            <a:pPr>
              <a:spcAft>
                <a:spcPts val="400"/>
              </a:spcAft>
            </a:pPr>
            <a:r>
              <a:rPr sz="1200" b="1">
                <a:solidFill>
                  <a:srgbClr val="004EA8"/>
                </a:solidFill>
                <a:latin typeface="Arial"/>
              </a:rPr>
              <a:t>For BDOI: </a:t>
            </a:r>
            <a:r>
              <a:rPr sz="1200" b="0">
                <a:solidFill>
                  <a:srgbClr val="4B4B4B"/>
                </a:solidFill>
                <a:latin typeface="Arial"/>
              </a:rPr>
              <a:t>Capture related parties at onboarding.</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13. User Access: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UAM process owner (Product Owner) with BDO ITIO</a:t>
            </a:r>
          </a:p>
          <a:p>
            <a:pPr>
              <a:spcAft>
                <a:spcPts val="300"/>
              </a:spcAft>
            </a:pPr>
            <a:r>
              <a:rPr sz="1200" b="0">
                <a:solidFill>
                  <a:srgbClr val="004EA8"/>
                </a:solidFill>
                <a:latin typeface="Arial"/>
              </a:rPr>
              <a:t>•  </a:t>
            </a:r>
            <a:r>
              <a:rPr sz="1200" b="0">
                <a:solidFill>
                  <a:srgbClr val="4B4B4B"/>
                </a:solidFill>
                <a:latin typeface="Arial"/>
              </a:rPr>
              <a:t>Requestor (14 users)</a:t>
            </a:r>
          </a:p>
          <a:p>
            <a:pPr>
              <a:spcAft>
                <a:spcPts val="300"/>
              </a:spcAft>
            </a:pPr>
            <a:r>
              <a:rPr sz="1200" b="0">
                <a:solidFill>
                  <a:srgbClr val="004EA8"/>
                </a:solidFill>
                <a:latin typeface="Arial"/>
              </a:rPr>
              <a:t>•  </a:t>
            </a:r>
            <a:r>
              <a:rPr sz="1200" b="0">
                <a:solidFill>
                  <a:srgbClr val="4B4B4B"/>
                </a:solidFill>
                <a:latin typeface="Arial"/>
              </a:rPr>
              <a:t>Approver (8) and second approver</a:t>
            </a:r>
          </a:p>
          <a:p>
            <a:pPr>
              <a:spcAft>
                <a:spcPts val="300"/>
              </a:spcAft>
            </a:pPr>
            <a:r>
              <a:rPr sz="1200" b="0">
                <a:solidFill>
                  <a:srgbClr val="004EA8"/>
                </a:solidFill>
                <a:latin typeface="Arial"/>
              </a:rPr>
              <a:t>•  </a:t>
            </a:r>
            <a:r>
              <a:rPr sz="1200" b="0">
                <a:solidFill>
                  <a:srgbClr val="4B4B4B"/>
                </a:solidFill>
                <a:latin typeface="Arial"/>
              </a:rPr>
              <a:t>Business Administrator (group-profile requests)</a:t>
            </a:r>
          </a:p>
          <a:p>
            <a:pPr>
              <a:spcAft>
                <a:spcPts val="300"/>
              </a:spcAft>
            </a:pPr>
            <a:r>
              <a:rPr sz="1200" b="0">
                <a:solidFill>
                  <a:srgbClr val="004EA8"/>
                </a:solidFill>
                <a:latin typeface="Arial"/>
              </a:rPr>
              <a:t>•  </a:t>
            </a:r>
            <a:r>
              <a:rPr sz="1200" b="0">
                <a:solidFill>
                  <a:srgbClr val="4B4B4B"/>
                </a:solidFill>
                <a:latin typeface="Arial"/>
              </a:rPr>
              <a:t>System Administrator (implements group profiles)</a:t>
            </a:r>
          </a:p>
          <a:p>
            <a:pPr>
              <a:spcAft>
                <a:spcPts val="300"/>
              </a:spcAft>
            </a:pPr>
            <a:r>
              <a:rPr sz="1200" b="0">
                <a:solidFill>
                  <a:srgbClr val="004EA8"/>
                </a:solidFill>
                <a:latin typeface="Arial"/>
              </a:rPr>
              <a:t>•  </a:t>
            </a:r>
            <a:r>
              <a:rPr sz="1200" b="0">
                <a:solidFill>
                  <a:srgbClr val="4B4B4B"/>
                </a:solidFill>
                <a:latin typeface="Arial"/>
              </a:rPr>
              <a:t>Auditor; the affected user</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1,344</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named users across the BRDs; 429 concurrent at most (umbrella BRD)</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10</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access transactions a month on average (BRD-11 p.11)</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14 / 8</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requestors / approvers</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3</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failed sign-ins lock the account (BRD-11)</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Not walked in Sep-2026; access issues seen in the New Business and Customer Servicing flows</a:t>
            </a:r>
          </a:p>
          <a:p>
            <a:pPr>
              <a:spcAft>
                <a:spcPts val="400"/>
              </a:spcAft>
            </a:pPr>
            <a:r>
              <a:rPr sz="1100" b="1">
                <a:solidFill>
                  <a:srgbClr val="004EA8"/>
                </a:solidFill>
                <a:latin typeface="Arial"/>
              </a:rPr>
              <a:t>Process owners: </a:t>
            </a:r>
            <a:r>
              <a:rPr sz="1100" b="0">
                <a:solidFill>
                  <a:srgbClr val="4B4B4B"/>
                </a:solidFill>
                <a:latin typeface="Arial"/>
              </a:rPr>
              <a:t>UAM process owner; BDO ITIO</a:t>
            </a:r>
          </a:p>
          <a:p>
            <a:pPr>
              <a:spcAft>
                <a:spcPts val="400"/>
              </a:spcAft>
            </a:pPr>
            <a:r>
              <a:rPr sz="1100" b="0">
                <a:solidFill>
                  <a:srgbClr val="004EA8"/>
                </a:solidFill>
                <a:latin typeface="Arial"/>
              </a:rPr>
              <a:t>•  </a:t>
            </a:r>
            <a:r>
              <a:rPr sz="1100" b="0">
                <a:solidFill>
                  <a:srgbClr val="4B4B4B"/>
                </a:solidFill>
                <a:latin typeface="Arial"/>
              </a:rPr>
              <a:t>BRD-11 p.5-6 (current, envisioned); NFR p.11-18</a:t>
            </a:r>
          </a:p>
          <a:p>
            <a:pPr>
              <a:spcAft>
                <a:spcPts val="400"/>
              </a:spcAft>
            </a:pPr>
            <a:r>
              <a:rPr sz="1100" b="0">
                <a:solidFill>
                  <a:srgbClr val="004EA8"/>
                </a:solidFill>
                <a:latin typeface="Arial"/>
              </a:rPr>
              <a:t>•  </a:t>
            </a:r>
            <a:r>
              <a:rPr sz="1100" b="0">
                <a:solidFill>
                  <a:srgbClr val="4B4B4B"/>
                </a:solidFill>
                <a:latin typeface="Arial"/>
              </a:rPr>
              <a:t>New Business process flow (who books); Case Management To-Be (two contact centres)</a:t>
            </a:r>
          </a:p>
          <a:p>
            <a:pPr>
              <a:spcAft>
                <a:spcPts val="400"/>
              </a:spcAft>
            </a:pPr>
            <a:r>
              <a:rPr sz="1100" b="0">
                <a:solidFill>
                  <a:srgbClr val="004EA8"/>
                </a:solidFill>
                <a:latin typeface="Arial"/>
              </a:rPr>
              <a:t>•  </a:t>
            </a:r>
            <a:r>
              <a:rPr sz="1100" b="0">
                <a:solidFill>
                  <a:srgbClr val="4B4B4B"/>
                </a:solidFill>
                <a:latin typeface="Arial"/>
              </a:rPr>
              <a:t>Integration inventory INT-01 (EIAM), INT-02 (UIDM-ISC)</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Draft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Submit</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Risk check</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Decide</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Correct</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Apply</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Group profile</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Reports</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13. User Access: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graphicFrame>
        <p:nvGraphicFramePr>
          <p:cNvPr id="9" name="Table 8"/>
          <p:cNvGraphicFramePr>
            <a:graphicFrameLocks noGrp="1"/>
          </p:cNvGraphicFramePr>
          <p:nvPr/>
        </p:nvGraphicFramePr>
        <p:xfrm>
          <a:off x="548640" y="1280160"/>
          <a:ext cx="11094412" cy="365760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NB flow</a:t>
                      </a:r>
                    </a:p>
                  </a:txBody>
                  <a:tcPr marL="64008" marR="64008" marT="27432" marB="27432" anchor="ctr">
                    <a:solidFill>
                      <a:srgbClr val="FFFFFF"/>
                    </a:solidFill>
                  </a:tcPr>
                </a:tc>
                <a:tc>
                  <a:txBody>
                    <a:bodyPr wrap="square"/>
                    <a:lstStyle/>
                    <a:p>
                      <a:r>
                        <a:rPr sz="1100" b="0">
                          <a:solidFill>
                            <a:srgbClr val="4B4B4B"/>
                          </a:solidFill>
                          <a:latin typeface="Arial"/>
                        </a:rPr>
                        <a:t>Who books</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The Processing Officer or the MAO books in EBIX "depending on who has access"; Marketing Account Support books for Combank.</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Case To-Be</a:t>
                      </a:r>
                    </a:p>
                  </a:txBody>
                  <a:tcPr marL="64008" marR="64008" marT="27432" marB="27432" anchor="ctr">
                    <a:solidFill>
                      <a:srgbClr val="E5F5FF"/>
                    </a:solidFill>
                  </a:tcPr>
                </a:tc>
                <a:tc>
                  <a:txBody>
                    <a:bodyPr wrap="square"/>
                    <a:lstStyle/>
                    <a:p>
                      <a:r>
                        <a:rPr sz="1100" b="0">
                          <a:solidFill>
                            <a:srgbClr val="4B4B4B"/>
                          </a:solidFill>
                          <a:latin typeface="Arial"/>
                        </a:rPr>
                        <a:t>Two contact centres</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BDO Insure agents and BDO CCC both log and handle cases.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822960">
                <a:tc>
                  <a:txBody>
                    <a:bodyPr wrap="square"/>
                    <a:lstStyle/>
                    <a:p>
                      <a:r>
                        <a:rPr sz="1100" b="1">
                          <a:solidFill>
                            <a:srgbClr val="4B4B4B"/>
                          </a:solidFill>
                          <a:latin typeface="Arial"/>
                        </a:rPr>
                        <a:t>EB flow</a:t>
                      </a:r>
                    </a:p>
                  </a:txBody>
                  <a:tcPr marL="64008" marR="64008" marT="27432" marB="27432" anchor="ctr">
                    <a:solidFill>
                      <a:srgbClr val="FFFFFF"/>
                    </a:solidFill>
                  </a:tcPr>
                </a:tc>
                <a:tc>
                  <a:txBody>
                    <a:bodyPr wrap="square"/>
                    <a:lstStyle/>
                    <a:p>
                      <a:r>
                        <a:rPr sz="1100" b="0">
                          <a:solidFill>
                            <a:srgbClr val="4B4B4B"/>
                          </a:solidFill>
                          <a:latin typeface="Arial"/>
                        </a:rPr>
                        <a:t>External users</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Insurer and client HR portals planned for Employee Benefits.</a:t>
                      </a:r>
                    </a:p>
                  </a:txBody>
                  <a:tcPr marL="64008" marR="64008" marT="27432" marB="27432" anchor="ctr">
                    <a:solidFill>
                      <a:srgbClr val="FFFFFF"/>
                    </a:solidFill>
                  </a:tcPr>
                </a:tc>
                <a:tc>
                  <a:txBody>
                    <a:bodyPr wrap="square"/>
                    <a:lstStyle/>
                    <a:p>
                      <a:r>
                        <a:rPr sz="1100" b="0">
                          <a:solidFill>
                            <a:srgbClr val="4B4B4B"/>
                          </a:solidFill>
                          <a:latin typeface="Arial"/>
                        </a:rPr>
                        <a:t>Portal users with their own access rules.</a:t>
                      </a:r>
                    </a:p>
                  </a:txBody>
                  <a:tcPr marL="64008" marR="64008" marT="27432" marB="27432" anchor="ctr">
                    <a:solidFill>
                      <a:srgbClr val="FFFFFF"/>
                    </a:solidFill>
                  </a:tcPr>
                </a:tc>
              </a:tr>
              <a:tr h="822960">
                <a:tc>
                  <a:txBody>
                    <a:bodyPr wrap="square"/>
                    <a:lstStyle/>
                    <a:p>
                      <a:r>
                        <a:rPr sz="1100" b="1">
                          <a:solidFill>
                            <a:srgbClr val="4B4B4B"/>
                          </a:solidFill>
                          <a:latin typeface="Arial"/>
                        </a:rPr>
                        <a:t>BRD-11 p.5</a:t>
                      </a:r>
                    </a:p>
                  </a:txBody>
                  <a:tcPr marL="64008" marR="64008" marT="27432" marB="27432" anchor="ctr">
                    <a:solidFill>
                      <a:srgbClr val="E5F5FF"/>
                    </a:solidFill>
                  </a:tcPr>
                </a:tc>
                <a:tc>
                  <a:txBody>
                    <a:bodyPr wrap="square"/>
                    <a:lstStyle/>
                    <a:p>
                      <a:r>
                        <a:rPr sz="1100" b="0">
                          <a:solidFill>
                            <a:srgbClr val="4B4B4B"/>
                          </a:solidFill>
                          <a:latin typeface="Arial"/>
                        </a:rPr>
                        <a:t>Requests through IT</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Every QPS access request is coordinated with IT; approvers are reached by e-mail; access lists compiled by hand.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13. User Access: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pic>
        <p:nvPicPr>
          <p:cNvPr id="9" name="Picture 8" descr="brd11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Access requests today (BRD-11 p.5-6)</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13. User Access: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go through IT</a:t>
            </a:r>
          </a:p>
          <a:p>
            <a:pPr>
              <a:spcAft>
                <a:spcPts val="100"/>
              </a:spcAft>
            </a:pPr>
            <a:r>
              <a:rPr sz="1200" b="0">
                <a:solidFill>
                  <a:srgbClr val="4B4B4B"/>
                </a:solidFill>
                <a:latin typeface="Arial"/>
              </a:rPr>
              <a:t>The business unit coordinates every request with IT; this causes delays.</a:t>
            </a:r>
          </a:p>
          <a:p>
            <a:pPr>
              <a:spcAft>
                <a:spcPts val="100"/>
              </a:spcAft>
            </a:pPr>
            <a:r>
              <a:rPr sz="1200" b="0">
                <a:solidFill>
                  <a:srgbClr val="0072D8"/>
                </a:solidFill>
                <a:latin typeface="Arial"/>
              </a:rPr>
              <a:t>BRD-11 p.5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Approver reached by e-mail</a:t>
            </a:r>
          </a:p>
          <a:p>
            <a:pPr>
              <a:spcAft>
                <a:spcPts val="100"/>
              </a:spcAft>
            </a:pPr>
            <a:r>
              <a:rPr sz="1200" b="0">
                <a:solidFill>
                  <a:srgbClr val="4B4B4B"/>
                </a:solidFill>
                <a:latin typeface="Arial"/>
              </a:rPr>
              <a:t>No queue of requests waiting for a decision.</a:t>
            </a:r>
          </a:p>
          <a:p>
            <a:pPr>
              <a:spcAft>
                <a:spcPts val="100"/>
              </a:spcAft>
            </a:pPr>
            <a:r>
              <a:rPr sz="1200" b="0">
                <a:solidFill>
                  <a:srgbClr val="0072D8"/>
                </a:solidFill>
                <a:latin typeface="Arial"/>
              </a:rPr>
              <a:t>BRD-11 p.5; BRD 2.002</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grants the access</a:t>
            </a:r>
          </a:p>
          <a:p>
            <a:pPr>
              <a:spcAft>
                <a:spcPts val="100"/>
              </a:spcAft>
            </a:pPr>
            <a:r>
              <a:rPr sz="1200" b="0">
                <a:solidFill>
                  <a:srgbClr val="4B4B4B"/>
                </a:solidFill>
                <a:latin typeface="Arial"/>
              </a:rPr>
              <a:t>The grant waits for IT; no effective date.</a:t>
            </a:r>
          </a:p>
          <a:p>
            <a:pPr>
              <a:spcAft>
                <a:spcPts val="100"/>
              </a:spcAft>
            </a:pPr>
            <a:r>
              <a:rPr sz="1200" b="0">
                <a:solidFill>
                  <a:srgbClr val="0072D8"/>
                </a:solidFill>
                <a:latin typeface="Arial"/>
              </a:rPr>
              <a:t>BRD-11 p.5-6</a:t>
            </a:r>
          </a:p>
        </p:txBody>
      </p:sp>
      <p:sp>
        <p:nvSpPr>
          <p:cNvPr id="15" name="Oval 14"/>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Group profiles changed by IT</a:t>
            </a:r>
          </a:p>
          <a:p>
            <a:pPr>
              <a:spcAft>
                <a:spcPts val="100"/>
              </a:spcAft>
            </a:pPr>
            <a:r>
              <a:rPr sz="1200" b="0">
                <a:solidFill>
                  <a:srgbClr val="4B4B4B"/>
                </a:solidFill>
                <a:latin typeface="Arial"/>
              </a:rPr>
              <a:t>Profile changes are made on request with no approval trail.</a:t>
            </a:r>
          </a:p>
          <a:p>
            <a:pPr>
              <a:spcAft>
                <a:spcPts val="100"/>
              </a:spcAft>
            </a:pPr>
            <a:r>
              <a:rPr sz="1200" b="0">
                <a:solidFill>
                  <a:srgbClr val="0072D8"/>
                </a:solidFill>
                <a:latin typeface="Arial"/>
              </a:rPr>
              <a:t>BRD-11 p.5-6; BRD 3.002</a:t>
            </a:r>
          </a:p>
        </p:txBody>
      </p:sp>
      <p:sp>
        <p:nvSpPr>
          <p:cNvPr id="17" name="Oval 16"/>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Access lists by hand</a:t>
            </a:r>
          </a:p>
          <a:p>
            <a:pPr>
              <a:spcAft>
                <a:spcPts val="100"/>
              </a:spcAft>
            </a:pPr>
            <a:r>
              <a:rPr sz="1200" b="0">
                <a:solidFill>
                  <a:srgbClr val="4B4B4B"/>
                </a:solidFill>
                <a:latin typeface="Arial"/>
              </a:rPr>
              <a:t>Who has which access, and since when, is compiled manually.</a:t>
            </a:r>
          </a:p>
          <a:p>
            <a:pPr>
              <a:spcAft>
                <a:spcPts val="100"/>
              </a:spcAft>
            </a:pPr>
            <a:r>
              <a:rPr sz="1200" b="0">
                <a:solidFill>
                  <a:srgbClr val="0072D8"/>
                </a:solidFill>
                <a:latin typeface="Arial"/>
              </a:rPr>
              <a:t>BRD-11 p.5; BRD 3.003, 4.003</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13. User Access: To-Be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pic>
        <p:nvPicPr>
          <p:cNvPr id="9" name="Picture 8" descr="brd11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User access and group-profile requests in BIBS (FRS BRD-11 section 2.2)</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13. User Access: how the BRD answers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To-Be in the BRD</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Benefit</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go through IT</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Requestor raises the request in BIBS, as a draft or submitted, alone or in bulk</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IT hand-off</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Approver reached by e-mail</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Chosen approver notified; request listed under "Assigned to me"</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Queue per approver</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grants the access</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BIBS applies the access on approval or on the effective date; high-risk changes need a 2nd approval</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Four eyes on every change</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Group profiles changed by IT</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Business Administrator requests; approvers approve in order; System Administrator implements</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Approval trail</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Access lists by hand</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Four reports and a structured audit log with from / to values</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Reports in 20 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13. User Access: gaps in the BRD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graphicFrame>
        <p:nvGraphicFramePr>
          <p:cNvPr id="9" name="Table 8"/>
          <p:cNvGraphicFramePr>
            <a:graphicFrameLocks noGrp="1"/>
          </p:cNvGraphicFramePr>
          <p:nvPr/>
        </p:nvGraphicFramePr>
        <p:xfrm>
          <a:off x="548640" y="1280160"/>
          <a:ext cx="11094412" cy="4480560"/>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82296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BIBS-wide access matrix</a:t>
                      </a:r>
                    </a:p>
                  </a:txBody>
                  <a:tcPr marL="64008" marR="64008" marT="27432" marB="27432" anchor="ctr">
                    <a:solidFill>
                      <a:srgbClr val="FFFFFF"/>
                    </a:solidFill>
                  </a:tcPr>
                </a:tc>
                <a:tc>
                  <a:txBody>
                    <a:bodyPr wrap="square"/>
                    <a:lstStyle/>
                    <a:p>
                      <a:r>
                        <a:rPr sz="1100" b="0">
                          <a:solidFill>
                            <a:srgbClr val="4B4B4B"/>
                          </a:solidFill>
                          <a:latin typeface="Arial"/>
                        </a:rPr>
                        <a:t>Access decides who books, sends and approves.</a:t>
                      </a:r>
                    </a:p>
                  </a:txBody>
                  <a:tcPr marL="64008" marR="64008" marT="27432" marB="27432" anchor="ctr">
                    <a:solidFill>
                      <a:srgbClr val="FFFFFF"/>
                    </a:solidFill>
                  </a:tcPr>
                </a:tc>
                <a:tc>
                  <a:txBody>
                    <a:bodyPr wrap="square"/>
                    <a:lstStyle/>
                    <a:p>
                      <a:r>
                        <a:rPr sz="1100" b="0">
                          <a:solidFill>
                            <a:srgbClr val="4B4B4B"/>
                          </a:solidFill>
                          <a:latin typeface="Arial"/>
                        </a:rPr>
                        <a:t>BRD-11 covers the process; the matrix of all modules is open.</a:t>
                      </a:r>
                    </a:p>
                  </a:txBody>
                  <a:tcPr marL="64008" marR="64008" marT="27432" marB="27432" anchor="ctr">
                    <a:solidFill>
                      <a:srgbClr val="FFFFFF"/>
                    </a:solidFill>
                  </a:tcPr>
                </a:tc>
                <a:tc>
                  <a:txBody>
                    <a:bodyPr wrap="square"/>
                    <a:lstStyle/>
                    <a:p>
                      <a:r>
                        <a:rPr sz="1100" b="0">
                          <a:solidFill>
                            <a:srgbClr val="4B4B4B"/>
                          </a:solidFill>
                          <a:latin typeface="Arial"/>
                        </a:rPr>
                        <a:t>One role and access matrix for all modules, approved by every BRD owner.</a:t>
                      </a:r>
                    </a:p>
                  </a:txBody>
                  <a:tcPr marL="64008" marR="64008" marT="27432" marB="27432" anchor="ctr">
                    <a:solidFill>
                      <a:srgbClr val="FFFFFF"/>
                    </a:solidFill>
                  </a:tcPr>
                </a:tc>
                <a:tc>
                  <a:txBody>
                    <a:bodyPr wrap="square"/>
                    <a:lstStyle/>
                    <a:p>
                      <a:r>
                        <a:rPr sz="1100" b="0">
                          <a:solidFill>
                            <a:srgbClr val="4B4B4B"/>
                          </a:solidFill>
                          <a:latin typeface="Arial"/>
                        </a:rPr>
                        <a:t>DCR-121</a:t>
                      </a:r>
                    </a:p>
                  </a:txBody>
                  <a:tcPr marL="64008" marR="64008" marT="27432" marB="27432" anchor="ctr">
                    <a:solidFill>
                      <a:srgbClr val="FFFFFF"/>
                    </a:solidFill>
                  </a:tcPr>
                </a:tc>
              </a:tr>
              <a:tr h="82296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Enterprise sign-in</a:t>
                      </a:r>
                    </a:p>
                  </a:txBody>
                  <a:tcPr marL="64008" marR="64008" marT="27432" marB="27432" anchor="ctr">
                    <a:solidFill>
                      <a:srgbClr val="E5F5FF"/>
                    </a:solidFill>
                  </a:tcPr>
                </a:tc>
                <a:tc>
                  <a:txBody>
                    <a:bodyPr wrap="square"/>
                    <a:lstStyle/>
                    <a:p>
                      <a:r>
                        <a:rPr sz="1100" b="0">
                          <a:solidFill>
                            <a:srgbClr val="4B4B4B"/>
                          </a:solidFill>
                          <a:latin typeface="Arial"/>
                        </a:rPr>
                        <a:t>Windows ID through BDO EUA today.</a:t>
                      </a:r>
                    </a:p>
                  </a:txBody>
                  <a:tcPr marL="64008" marR="64008" marT="27432" marB="27432" anchor="ctr">
                    <a:solidFill>
                      <a:srgbClr val="E5F5FF"/>
                    </a:solidFill>
                  </a:tcPr>
                </a:tc>
                <a:tc>
                  <a:txBody>
                    <a:bodyPr wrap="square"/>
                    <a:lstStyle/>
                    <a:p>
                      <a:r>
                        <a:rPr sz="1100" b="0">
                          <a:solidFill>
                            <a:srgbClr val="4B4B4B"/>
                          </a:solidFill>
                          <a:latin typeface="Arial"/>
                        </a:rPr>
                        <a:t>EUA in BRD-11; the IER names EIAM (Entra ID).</a:t>
                      </a:r>
                    </a:p>
                  </a:txBody>
                  <a:tcPr marL="64008" marR="64008" marT="27432" marB="27432" anchor="ctr">
                    <a:solidFill>
                      <a:srgbClr val="E5F5FF"/>
                    </a:solidFill>
                  </a:tcPr>
                </a:tc>
                <a:tc>
                  <a:txBody>
                    <a:bodyPr wrap="square"/>
                    <a:lstStyle/>
                    <a:p>
                      <a:r>
                        <a:rPr sz="1100" b="0">
                          <a:solidFill>
                            <a:srgbClr val="4B4B4B"/>
                          </a:solidFill>
                          <a:latin typeface="Arial"/>
                        </a:rPr>
                        <a:t>Confirm EIAM single sign-on and MFA for all users.</a:t>
                      </a:r>
                    </a:p>
                  </a:txBody>
                  <a:tcPr marL="64008" marR="64008" marT="27432" marB="27432" anchor="ctr">
                    <a:solidFill>
                      <a:srgbClr val="E5F5FF"/>
                    </a:solidFill>
                  </a:tcPr>
                </a:tc>
                <a:tc>
                  <a:txBody>
                    <a:bodyPr wrap="square"/>
                    <a:lstStyle/>
                    <a:p>
                      <a:r>
                        <a:rPr sz="1100" b="0">
                          <a:solidFill>
                            <a:srgbClr val="4B4B4B"/>
                          </a:solidFill>
                          <a:latin typeface="Arial"/>
                        </a:rPr>
                        <a:t>DCR-143, 230; INT-01</a:t>
                      </a:r>
                    </a:p>
                  </a:txBody>
                  <a:tcPr marL="64008" marR="64008" marT="27432" marB="27432" anchor="ctr">
                    <a:solidFill>
                      <a:srgbClr val="E5F5FF"/>
                    </a:solidFill>
                  </a:tcPr>
                </a:tc>
              </a:tr>
              <a:tr h="82296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Identity governance</a:t>
                      </a:r>
                    </a:p>
                  </a:txBody>
                  <a:tcPr marL="64008" marR="64008" marT="27432" marB="27432" anchor="ctr">
                    <a:solidFill>
                      <a:srgbClr val="FFFFFF"/>
                    </a:solidFill>
                  </a:tcPr>
                </a:tc>
                <a:tc>
                  <a:txBody>
                    <a:bodyPr wrap="square"/>
                    <a:lstStyle/>
                    <a:p>
                      <a:r>
                        <a:rPr sz="1100" b="0">
                          <a:solidFill>
                            <a:srgbClr val="4B4B4B"/>
                          </a:solidFill>
                          <a:latin typeface="Arial"/>
                        </a:rPr>
                        <a:t>Access requests in the business module.</a:t>
                      </a:r>
                    </a:p>
                  </a:txBody>
                  <a:tcPr marL="64008" marR="64008" marT="27432" marB="27432" anchor="ctr">
                    <a:solidFill>
                      <a:srgbClr val="FFFFFF"/>
                    </a:solidFill>
                  </a:tcPr>
                </a:tc>
                <a:tc>
                  <a:txBody>
                    <a:bodyPr wrap="square"/>
                    <a:lstStyle/>
                    <a:p>
                      <a:r>
                        <a:rPr sz="1100" b="0">
                          <a:solidFill>
                            <a:srgbClr val="4B4B4B"/>
                          </a:solidFill>
                          <a:latin typeface="Arial"/>
                        </a:rPr>
                        <a:t>UIDM-ISC may take over requests and approvals.</a:t>
                      </a:r>
                    </a:p>
                  </a:txBody>
                  <a:tcPr marL="64008" marR="64008" marT="27432" marB="27432" anchor="ctr">
                    <a:solidFill>
                      <a:srgbClr val="FFFFFF"/>
                    </a:solidFill>
                  </a:tcPr>
                </a:tc>
                <a:tc>
                  <a:txBody>
                    <a:bodyPr wrap="square"/>
                    <a:lstStyle/>
                    <a:p>
                      <a:r>
                        <a:rPr sz="1100" b="0">
                          <a:solidFill>
                            <a:srgbClr val="4B4B4B"/>
                          </a:solidFill>
                          <a:latin typeface="Arial"/>
                        </a:rPr>
                        <a:t>Decide which tool owns requests and recertification.</a:t>
                      </a:r>
                    </a:p>
                  </a:txBody>
                  <a:tcPr marL="64008" marR="64008" marT="27432" marB="27432" anchor="ctr">
                    <a:solidFill>
                      <a:srgbClr val="FFFFFF"/>
                    </a:solidFill>
                  </a:tcPr>
                </a:tc>
                <a:tc>
                  <a:txBody>
                    <a:bodyPr wrap="square"/>
                    <a:lstStyle/>
                    <a:p>
                      <a:r>
                        <a:rPr sz="1100" b="0">
                          <a:solidFill>
                            <a:srgbClr val="4B4B4B"/>
                          </a:solidFill>
                          <a:latin typeface="Arial"/>
                        </a:rPr>
                        <a:t>DCR-229; INT-02</a:t>
                      </a:r>
                    </a:p>
                  </a:txBody>
                  <a:tcPr marL="64008" marR="64008" marT="27432" marB="27432" anchor="ctr">
                    <a:solidFill>
                      <a:srgbClr val="FFFFFF"/>
                    </a:solidFill>
                  </a:tcPr>
                </a:tc>
              </a:tr>
              <a:tr h="82296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Personas seen on the floor</a:t>
                      </a:r>
                    </a:p>
                  </a:txBody>
                  <a:tcPr marL="64008" marR="64008" marT="27432" marB="27432" anchor="ctr">
                    <a:solidFill>
                      <a:srgbClr val="E5F5FF"/>
                    </a:solidFill>
                  </a:tcPr>
                </a:tc>
                <a:tc>
                  <a:txBody>
                    <a:bodyPr wrap="square"/>
                    <a:lstStyle/>
                    <a:p>
                      <a:r>
                        <a:rPr sz="1100" b="0">
                          <a:solidFill>
                            <a:srgbClr val="4B4B4B"/>
                          </a:solidFill>
                          <a:latin typeface="Arial"/>
                        </a:rPr>
                        <a:t>Combank account support; two contact centres; sanitation handlers.</a:t>
                      </a:r>
                    </a:p>
                  </a:txBody>
                  <a:tcPr marL="64008" marR="64008" marT="27432" marB="27432" anchor="ctr">
                    <a:solidFill>
                      <a:srgbClr val="E5F5FF"/>
                    </a:solidFill>
                  </a:tcPr>
                </a:tc>
                <a:tc>
                  <a:txBody>
                    <a:bodyPr wrap="square"/>
                    <a:lstStyle/>
                    <a:p>
                      <a:r>
                        <a:rPr sz="1100" b="0">
                          <a:solidFill>
                            <a:srgbClr val="4B4B4B"/>
                          </a:solidFill>
                          <a:latin typeface="Arial"/>
                        </a:rPr>
                        <a:t>Not all in the role list.</a:t>
                      </a:r>
                    </a:p>
                  </a:txBody>
                  <a:tcPr marL="64008" marR="64008" marT="27432" marB="27432" anchor="ctr">
                    <a:solidFill>
                      <a:srgbClr val="E5F5FF"/>
                    </a:solidFill>
                  </a:tcPr>
                </a:tc>
                <a:tc>
                  <a:txBody>
                    <a:bodyPr wrap="square"/>
                    <a:lstStyle/>
                    <a:p>
                      <a:r>
                        <a:rPr sz="1100" b="0">
                          <a:solidFill>
                            <a:srgbClr val="4B4B4B"/>
                          </a:solidFill>
                          <a:latin typeface="Arial"/>
                        </a:rPr>
                        <a:t>Add them to the matrix.</a:t>
                      </a:r>
                    </a:p>
                  </a:txBody>
                  <a:tcPr marL="64008" marR="64008" marT="27432" marB="27432" anchor="ctr">
                    <a:solidFill>
                      <a:srgbClr val="E5F5FF"/>
                    </a:solidFill>
                  </a:tcPr>
                </a:tc>
                <a:tc>
                  <a:txBody>
                    <a:bodyPr wrap="square"/>
                    <a:lstStyle/>
                    <a:p>
                      <a:r>
                        <a:rPr sz="1100" b="0">
                          <a:solidFill>
                            <a:srgbClr val="4B4B4B"/>
                          </a:solidFill>
                          <a:latin typeface="Arial"/>
                        </a:rPr>
                        <a:t>XQ02; DCR-121</a:t>
                      </a:r>
                    </a:p>
                  </a:txBody>
                  <a:tcPr marL="64008" marR="64008" marT="27432" marB="27432" anchor="ctr">
                    <a:solidFill>
                      <a:srgbClr val="E5F5FF"/>
                    </a:solidFill>
                  </a:tcPr>
                </a:tc>
              </a:tr>
              <a:tr h="82296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External users</a:t>
                      </a:r>
                    </a:p>
                  </a:txBody>
                  <a:tcPr marL="64008" marR="64008" marT="27432" marB="27432" anchor="ctr">
                    <a:solidFill>
                      <a:srgbClr val="FFFFFF"/>
                    </a:solidFill>
                  </a:tcPr>
                </a:tc>
                <a:tc>
                  <a:txBody>
                    <a:bodyPr wrap="square"/>
                    <a:lstStyle/>
                    <a:p>
                      <a:r>
                        <a:rPr sz="1100" b="0">
                          <a:solidFill>
                            <a:srgbClr val="4B4B4B"/>
                          </a:solidFill>
                          <a:latin typeface="Arial"/>
                        </a:rPr>
                        <a:t>EB portal users planned.</a:t>
                      </a:r>
                    </a:p>
                  </a:txBody>
                  <a:tcPr marL="64008" marR="64008" marT="27432" marB="27432" anchor="ctr">
                    <a:solidFill>
                      <a:srgbClr val="FFFFFF"/>
                    </a:solidFill>
                  </a:tcPr>
                </a:tc>
                <a:tc>
                  <a:txBody>
                    <a:bodyPr wrap="square"/>
                    <a:lstStyle/>
                    <a:p>
                      <a:r>
                        <a:rPr sz="1100" b="0">
                          <a:solidFill>
                            <a:srgbClr val="4B4B4B"/>
                          </a:solidFill>
                          <a:latin typeface="Arial"/>
                        </a:rPr>
                        <a:t>Provisioning, MFA and hosting open.</a:t>
                      </a:r>
                    </a:p>
                  </a:txBody>
                  <a:tcPr marL="64008" marR="64008" marT="27432" marB="27432" anchor="ctr">
                    <a:solidFill>
                      <a:srgbClr val="FFFFFF"/>
                    </a:solidFill>
                  </a:tcPr>
                </a:tc>
                <a:tc>
                  <a:txBody>
                    <a:bodyPr wrap="square"/>
                    <a:lstStyle/>
                    <a:p>
                      <a:r>
                        <a:rPr sz="1100" b="0">
                          <a:solidFill>
                            <a:srgbClr val="4B4B4B"/>
                          </a:solidFill>
                          <a:latin typeface="Arial"/>
                        </a:rPr>
                        <a:t>Rules for external users before any portal goes live.</a:t>
                      </a:r>
                    </a:p>
                  </a:txBody>
                  <a:tcPr marL="64008" marR="64008" marT="27432" marB="27432" anchor="ctr">
                    <a:solidFill>
                      <a:srgbClr val="FFFFFF"/>
                    </a:solidFill>
                  </a:tcPr>
                </a:tc>
                <a:tc>
                  <a:txBody>
                    <a:bodyPr wrap="square"/>
                    <a:lstStyle/>
                    <a:p>
                      <a:r>
                        <a:rPr sz="1100" b="0">
                          <a:solidFill>
                            <a:srgbClr val="4B4B4B"/>
                          </a:solidFill>
                          <a:latin typeface="Arial"/>
                        </a:rPr>
                        <a:t>DCR-096</a:t>
                      </a:r>
                    </a:p>
                  </a:txBody>
                  <a:tcPr marL="64008" marR="64008" marT="27432" marB="27432" anchor="ctr">
                    <a:solidFill>
                      <a:srgbClr val="FFFFFF"/>
                    </a:solidFill>
                  </a:tcPr>
                </a:tc>
              </a:tr>
            </a:tbl>
          </a:graphicData>
        </a:graphic>
      </p:graphicFrame>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13. User Access: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Single sign-on with MFA</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Security and convenience</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Sign-in through the enterprise identity provider with MFA.</a:t>
            </a:r>
          </a:p>
          <a:p>
            <a:pPr>
              <a:spcAft>
                <a:spcPts val="400"/>
              </a:spcAft>
            </a:pPr>
            <a:r>
              <a:rPr sz="1200" b="1">
                <a:solidFill>
                  <a:srgbClr val="004EA8"/>
                </a:solidFill>
                <a:latin typeface="Arial"/>
              </a:rPr>
              <a:t>For BDOI: </a:t>
            </a:r>
            <a:r>
              <a:rPr sz="1200" b="0">
                <a:solidFill>
                  <a:srgbClr val="4B4B4B"/>
                </a:solidFill>
                <a:latin typeface="Arial"/>
              </a:rPr>
              <a:t>Confirm EIAM (DCR-230).</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Access recertification</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Audit</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Managers confirm their team's access every quarter.</a:t>
            </a:r>
          </a:p>
          <a:p>
            <a:pPr>
              <a:spcAft>
                <a:spcPts val="400"/>
              </a:spcAft>
            </a:pPr>
            <a:r>
              <a:rPr sz="1200" b="1">
                <a:solidFill>
                  <a:srgbClr val="004EA8"/>
                </a:solidFill>
                <a:latin typeface="Arial"/>
              </a:rPr>
              <a:t>For BDOI: </a:t>
            </a:r>
            <a:r>
              <a:rPr sz="1200" b="0">
                <a:solidFill>
                  <a:srgbClr val="4B4B4B"/>
                </a:solidFill>
                <a:latin typeface="Arial"/>
              </a:rPr>
              <a:t>Use the access reports as the review input.</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Segregation-of-duties matrix</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Fraud control</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Conflicting roles (maker and approver, payee set-up and payment) blocked by rule.</a:t>
            </a:r>
          </a:p>
          <a:p>
            <a:pPr>
              <a:spcAft>
                <a:spcPts val="400"/>
              </a:spcAft>
            </a:pPr>
            <a:r>
              <a:rPr sz="1200" b="1">
                <a:solidFill>
                  <a:srgbClr val="004EA8"/>
                </a:solidFill>
                <a:latin typeface="Arial"/>
              </a:rPr>
              <a:t>For BDOI: </a:t>
            </a:r>
            <a:r>
              <a:rPr sz="1200" b="0">
                <a:solidFill>
                  <a:srgbClr val="4B4B4B"/>
                </a:solidFill>
                <a:latin typeface="Arial"/>
              </a:rPr>
              <a:t>Define the conflicts with Audit.</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Privileged access control</a:t>
            </a:r>
          </a:p>
        </p:txBody>
      </p:sp>
      <p:sp>
        <p:nvSpPr>
          <p:cNvPr id="30" name="Rounded Rectangle 29"/>
          <p:cNvSpPr/>
          <p:nvPr/>
        </p:nvSpPr>
        <p:spPr>
          <a:xfrm>
            <a:off x="640080" y="4448556"/>
            <a:ext cx="160020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Security</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Administrator access time-bound, approved and recorded.</a:t>
            </a:r>
          </a:p>
          <a:p>
            <a:pPr>
              <a:spcAft>
                <a:spcPts val="400"/>
              </a:spcAft>
            </a:pPr>
            <a:r>
              <a:rPr sz="1200" b="1">
                <a:solidFill>
                  <a:srgbClr val="004EA8"/>
                </a:solidFill>
                <a:latin typeface="Arial"/>
              </a:rPr>
              <a:t>For BDOI: </a:t>
            </a:r>
            <a:r>
              <a:rPr sz="1200" b="0">
                <a:solidFill>
                  <a:srgbClr val="4B4B4B"/>
                </a:solidFill>
                <a:latin typeface="Arial"/>
              </a:rPr>
              <a:t>Agree with BDO IT Security.</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Joiner-mover-leaver automation</a:t>
            </a:r>
          </a:p>
        </p:txBody>
      </p:sp>
      <p:sp>
        <p:nvSpPr>
          <p:cNvPr id="36" name="Rounded Rectangle 35"/>
          <p:cNvSpPr/>
          <p:nvPr/>
        </p:nvSpPr>
        <p:spPr>
          <a:xfrm>
            <a:off x="4393082"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stale access</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Access granted and removed from HR events.</a:t>
            </a:r>
          </a:p>
          <a:p>
            <a:pPr>
              <a:spcAft>
                <a:spcPts val="400"/>
              </a:spcAft>
            </a:pPr>
            <a:r>
              <a:rPr sz="1200" b="1">
                <a:solidFill>
                  <a:srgbClr val="004EA8"/>
                </a:solidFill>
                <a:latin typeface="Arial"/>
              </a:rPr>
              <a:t>For BDOI: </a:t>
            </a:r>
            <a:r>
              <a:rPr sz="1200" b="0">
                <a:solidFill>
                  <a:srgbClr val="4B4B4B"/>
                </a:solidFill>
                <a:latin typeface="Arial"/>
              </a:rPr>
              <a:t>Through the identity governance tool.</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G</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Cross-cutting topics</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Data migration, integrations and shared capabilities: what every department depends on, and where the programme risk sits</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14.  </a:t>
            </a:r>
            <a:r>
              <a:rPr sz="1500" b="1">
                <a:solidFill>
                  <a:srgbClr val="FFFFFF"/>
                </a:solidFill>
                <a:latin typeface="Arial"/>
              </a:rPr>
              <a:t>Data migration</a:t>
            </a:r>
            <a:r>
              <a:rPr sz="1500" b="0">
                <a:solidFill>
                  <a:srgbClr val="99C1E7"/>
                </a:solidFill>
                <a:latin typeface="Arial"/>
              </a:rPr>
              <a:t>   BRD-13 (draft) and the migration strategy</a:t>
            </a:r>
          </a:p>
        </p:txBody>
      </p:sp>
      <p:sp>
        <p:nvSpPr>
          <p:cNvPr id="8" name="TextBox 7"/>
          <p:cNvSpPr txBox="1"/>
          <p:nvPr/>
        </p:nvSpPr>
        <p:spPr>
          <a:xfrm>
            <a:off x="548640" y="4361687"/>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15.  </a:t>
            </a:r>
            <a:r>
              <a:rPr sz="1500" b="1">
                <a:solidFill>
                  <a:srgbClr val="FFFFFF"/>
                </a:solidFill>
                <a:latin typeface="Arial"/>
              </a:rPr>
              <a:t>Integrations</a:t>
            </a:r>
            <a:r>
              <a:rPr sz="1500" b="0">
                <a:solidFill>
                  <a:srgbClr val="99C1E7"/>
                </a:solidFill>
                <a:latin typeface="Arial"/>
              </a:rPr>
              <a:t>   Integration inventory of the programme alignment pack</a:t>
            </a:r>
          </a:p>
        </p:txBody>
      </p:sp>
      <p:sp>
        <p:nvSpPr>
          <p:cNvPr id="9" name="TextBox 8"/>
          <p:cNvSpPr txBox="1"/>
          <p:nvPr/>
        </p:nvSpPr>
        <p:spPr>
          <a:xfrm>
            <a:off x="548640" y="4745735"/>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16.  </a:t>
            </a:r>
            <a:r>
              <a:rPr sz="1500" b="1">
                <a:solidFill>
                  <a:srgbClr val="FFFFFF"/>
                </a:solidFill>
                <a:latin typeface="Arial"/>
              </a:rPr>
              <a:t>Shared capabilities</a:t>
            </a:r>
            <a:r>
              <a:rPr sz="1500" b="0">
                <a:solidFill>
                  <a:srgbClr val="99C1E7"/>
                </a:solidFill>
                <a:latin typeface="Arial"/>
              </a:rPr>
              <a:t>   Across all BRDs</a:t>
            </a:r>
          </a:p>
        </p:txBody>
      </p:sp>
      <p:sp>
        <p:nvSpPr>
          <p:cNvPr id="10" name="TextBox 9"/>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Business Process Reverse KT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Data migration: the BRD and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TextBox 8"/>
          <p:cNvSpPr txBox="1"/>
          <p:nvPr/>
        </p:nvSpPr>
        <p:spPr>
          <a:xfrm>
            <a:off x="548640" y="1234440"/>
            <a:ext cx="11094415" cy="457200"/>
          </a:xfrm>
          <a:prstGeom prst="rect">
            <a:avLst/>
          </a:prstGeom>
          <a:noFill/>
        </p:spPr>
        <p:txBody>
          <a:bodyPr wrap="square" anchor="t" lIns="45720" rIns="45720" tIns="18288" bIns="18288">
            <a:spAutoFit/>
          </a:bodyPr>
          <a:lstStyle/>
          <a:p>
            <a:pPr>
              <a:spcAft>
                <a:spcPts val="0"/>
              </a:spcAft>
            </a:pPr>
            <a:r>
              <a:rPr sz="1300" b="0">
                <a:solidFill>
                  <a:srgbClr val="2E2E2E"/>
                </a:solidFill>
                <a:latin typeface="Arial"/>
              </a:rPr>
              <a:t>A selective, continuity-first migration: clean masters and open items move; history stays readable in legacy or an archive.</a:t>
            </a:r>
          </a:p>
        </p:txBody>
      </p:sp>
      <p:sp>
        <p:nvSpPr>
          <p:cNvPr id="10" name="Rounded Rectangle 9"/>
          <p:cNvSpPr/>
          <p:nvPr/>
        </p:nvSpPr>
        <p:spPr>
          <a:xfrm>
            <a:off x="548640"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7373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What BRD-13 asks</a:t>
            </a:r>
          </a:p>
        </p:txBody>
      </p:sp>
      <p:sp>
        <p:nvSpPr>
          <p:cNvPr id="13" name="TextBox 12"/>
          <p:cNvSpPr txBox="1"/>
          <p:nvPr/>
        </p:nvSpPr>
        <p:spPr>
          <a:xfrm>
            <a:off x="621792" y="2267712"/>
            <a:ext cx="3442106" cy="389534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Migrate clean masters: clients, LOVs, insurers, products, packages, rates, chart of accounts map</a:t>
            </a:r>
          </a:p>
          <a:p>
            <a:pPr>
              <a:spcAft>
                <a:spcPts val="300"/>
              </a:spcAft>
            </a:pPr>
            <a:r>
              <a:rPr sz="1200" b="0">
                <a:solidFill>
                  <a:srgbClr val="004EA8"/>
                </a:solidFill>
                <a:latin typeface="Arial"/>
              </a:rPr>
              <a:t>•  </a:t>
            </a:r>
            <a:r>
              <a:rPr sz="1200" b="0">
                <a:solidFill>
                  <a:srgbClr val="4B4B4B"/>
                </a:solidFill>
                <a:latin typeface="Arial"/>
              </a:rPr>
              <a:t>Carry forward open items: open invoices, unapplied payments, receivables, remittance in flight</a:t>
            </a:r>
          </a:p>
          <a:p>
            <a:pPr>
              <a:spcAft>
                <a:spcPts val="300"/>
              </a:spcAft>
            </a:pPr>
            <a:r>
              <a:rPr sz="1200" b="0">
                <a:solidFill>
                  <a:srgbClr val="004EA8"/>
                </a:solidFill>
                <a:latin typeface="Arial"/>
              </a:rPr>
              <a:t>•  </a:t>
            </a:r>
            <a:r>
              <a:rPr sz="1200" b="0">
                <a:solidFill>
                  <a:srgbClr val="4B4B4B"/>
                </a:solidFill>
                <a:latin typeface="Arial"/>
              </a:rPr>
              <a:t>Archive history read-only; in-force policies recreated at renewal</a:t>
            </a:r>
          </a:p>
          <a:p>
            <a:pPr>
              <a:spcAft>
                <a:spcPts val="300"/>
              </a:spcAft>
            </a:pPr>
            <a:r>
              <a:rPr sz="1200" b="0">
                <a:solidFill>
                  <a:srgbClr val="004EA8"/>
                </a:solidFill>
                <a:latin typeface="Arial"/>
              </a:rPr>
              <a:t>•  </a:t>
            </a:r>
            <a:r>
              <a:rPr sz="1200" b="0">
                <a:solidFill>
                  <a:srgbClr val="4B4B4B"/>
                </a:solidFill>
                <a:latin typeface="Arial"/>
              </a:rPr>
              <a:t>23 requirements, all "must have"; draft, unsigned</a:t>
            </a:r>
          </a:p>
        </p:txBody>
      </p:sp>
      <p:sp>
        <p:nvSpPr>
          <p:cNvPr id="14" name="Rounded Rectangle 13"/>
          <p:cNvSpPr/>
          <p:nvPr/>
        </p:nvSpPr>
        <p:spPr>
          <a:xfrm>
            <a:off x="4301642"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7373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What the floor walk adds</a:t>
            </a:r>
          </a:p>
        </p:txBody>
      </p:sp>
      <p:sp>
        <p:nvSpPr>
          <p:cNvPr id="17" name="TextBox 16"/>
          <p:cNvSpPr txBox="1"/>
          <p:nvPr/>
        </p:nvSpPr>
        <p:spPr>
          <a:xfrm>
            <a:off x="4374794" y="2267712"/>
            <a:ext cx="3442106" cy="389534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Data also lives in ICS, CLS, SharePoint, Drive H and Excel trackers (DP lists, commission trackers, RI sheet, NB and ManCom masterlists)</a:t>
            </a:r>
          </a:p>
          <a:p>
            <a:pPr>
              <a:spcAft>
                <a:spcPts val="300"/>
              </a:spcAft>
            </a:pPr>
            <a:r>
              <a:rPr sz="1200" b="0">
                <a:solidFill>
                  <a:srgbClr val="004EA8"/>
                </a:solidFill>
                <a:latin typeface="Arial"/>
              </a:rPr>
              <a:t>•  </a:t>
            </a:r>
            <a:r>
              <a:rPr sz="1200" b="0">
                <a:solidFill>
                  <a:srgbClr val="4B4B4B"/>
                </a:solidFill>
                <a:latin typeface="Arial"/>
              </a:rPr>
              <a:t>Three references per transaction to map (OV-03)</a:t>
            </a:r>
          </a:p>
          <a:p>
            <a:pPr>
              <a:spcAft>
                <a:spcPts val="300"/>
              </a:spcAft>
            </a:pPr>
            <a:r>
              <a:rPr sz="1200" b="0">
                <a:solidFill>
                  <a:srgbClr val="004EA8"/>
                </a:solidFill>
                <a:latin typeface="Arial"/>
              </a:rPr>
              <a:t>•  </a:t>
            </a:r>
            <a:r>
              <a:rPr sz="1200" b="0">
                <a:solidFill>
                  <a:srgbClr val="4B4B4B"/>
                </a:solidFill>
                <a:latin typeface="Arial"/>
              </a:rPr>
              <a:t>Direct-pay tags, threshold accounts and 0.99 variances in the balances (CA-02, CA-03)</a:t>
            </a:r>
          </a:p>
          <a:p>
            <a:pPr>
              <a:spcAft>
                <a:spcPts val="300"/>
              </a:spcAft>
            </a:pPr>
            <a:r>
              <a:rPr sz="1200" b="0">
                <a:solidFill>
                  <a:srgbClr val="004EA8"/>
                </a:solidFill>
                <a:latin typeface="Arial"/>
              </a:rPr>
              <a:t>•  </a:t>
            </a:r>
            <a:r>
              <a:rPr sz="1200" b="0">
                <a:solidFill>
                  <a:srgbClr val="4B4B4B"/>
                </a:solidFill>
                <a:latin typeface="Arial"/>
              </a:rPr>
              <a:t>Leads and clients in one category (OV-04)</a:t>
            </a:r>
          </a:p>
        </p:txBody>
      </p:sp>
      <p:sp>
        <p:nvSpPr>
          <p:cNvPr id="18" name="Rounded Rectangle 17"/>
          <p:cNvSpPr/>
          <p:nvPr/>
        </p:nvSpPr>
        <p:spPr>
          <a:xfrm>
            <a:off x="8054644"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4644"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7796" y="17373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Key dates</a:t>
            </a:r>
          </a:p>
        </p:txBody>
      </p:sp>
      <p:sp>
        <p:nvSpPr>
          <p:cNvPr id="21" name="TextBox 20"/>
          <p:cNvSpPr txBox="1"/>
          <p:nvPr/>
        </p:nvSpPr>
        <p:spPr>
          <a:xfrm>
            <a:off x="8127796" y="2267712"/>
            <a:ext cx="3442106" cy="389534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Mock 1 Apr 2027; Mock 2 Jul 2027; Mock 3 Aug 2027; Mock 4 Oct 2027</a:t>
            </a:r>
          </a:p>
          <a:p>
            <a:pPr>
              <a:spcAft>
                <a:spcPts val="300"/>
              </a:spcAft>
            </a:pPr>
            <a:r>
              <a:rPr sz="1200" b="0">
                <a:solidFill>
                  <a:srgbClr val="004EA8"/>
                </a:solidFill>
                <a:latin typeface="Arial"/>
              </a:rPr>
              <a:t>•  </a:t>
            </a:r>
            <a:r>
              <a:rPr sz="1200" b="0">
                <a:solidFill>
                  <a:srgbClr val="4B4B4B"/>
                </a:solidFill>
                <a:latin typeface="Arial"/>
              </a:rPr>
              <a:t>Dress rehearsal Nov 2027</a:t>
            </a:r>
          </a:p>
          <a:p>
            <a:pPr>
              <a:spcAft>
                <a:spcPts val="300"/>
              </a:spcAft>
            </a:pPr>
            <a:r>
              <a:rPr sz="1200" b="0">
                <a:solidFill>
                  <a:srgbClr val="004EA8"/>
                </a:solidFill>
                <a:latin typeface="Arial"/>
              </a:rPr>
              <a:t>•  </a:t>
            </a:r>
            <a:r>
              <a:rPr sz="1200" b="0">
                <a:solidFill>
                  <a:srgbClr val="4B4B4B"/>
                </a:solidFill>
                <a:latin typeface="Arial"/>
              </a:rPr>
              <a:t>Freeze Fri 31-Dec-2027; load Sat 1-Jan-2028</a:t>
            </a:r>
          </a:p>
          <a:p>
            <a:pPr>
              <a:spcAft>
                <a:spcPts val="300"/>
              </a:spcAft>
            </a:pPr>
            <a:r>
              <a:rPr sz="1200" b="0">
                <a:solidFill>
                  <a:srgbClr val="004EA8"/>
                </a:solidFill>
                <a:latin typeface="Arial"/>
              </a:rPr>
              <a:t>•  </a:t>
            </a:r>
            <a:r>
              <a:rPr sz="1200" b="0">
                <a:solidFill>
                  <a:srgbClr val="4B4B4B"/>
                </a:solidFill>
                <a:latin typeface="Arial"/>
              </a:rPr>
              <a:t>Go-live Mon 3-Jan-2028; true-ups to May 2028</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Data migration: where the data lives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graphicFrame>
        <p:nvGraphicFramePr>
          <p:cNvPr id="9" name="Table 8"/>
          <p:cNvGraphicFramePr>
            <a:graphicFrameLocks noGrp="1"/>
          </p:cNvGraphicFramePr>
          <p:nvPr/>
        </p:nvGraphicFramePr>
        <p:xfrm>
          <a:off x="548640" y="1280160"/>
          <a:ext cx="11094413" cy="4754880"/>
        </p:xfrm>
        <a:graphic>
          <a:graphicData uri="http://schemas.openxmlformats.org/drawingml/2006/table">
            <a:tbl>
              <a:tblPr firstRow="1" bandRow="1">
                <a:tableStyleId>{5C22544A-7EE6-4342-B048-85BDC9FD1C3A}</a:tableStyleId>
              </a:tblPr>
              <a:tblGrid>
                <a:gridCol w="1610479"/>
                <a:gridCol w="3757785"/>
                <a:gridCol w="2326248"/>
                <a:gridCol w="3399901"/>
              </a:tblGrid>
              <a:tr h="365760">
                <a:tc>
                  <a:txBody>
                    <a:bodyPr wrap="square"/>
                    <a:lstStyle/>
                    <a:p>
                      <a:r>
                        <a:rPr sz="1100" b="1">
                          <a:solidFill>
                            <a:srgbClr val="FFFFFF"/>
                          </a:solidFill>
                          <a:latin typeface="Arial"/>
                        </a:rPr>
                        <a:t>Source</a:t>
                      </a:r>
                    </a:p>
                  </a:txBody>
                  <a:tcPr marL="64008" marR="64008" marT="27432" marB="27432" anchor="ctr">
                    <a:solidFill>
                      <a:srgbClr val="004EA8"/>
                    </a:solidFill>
                  </a:tcPr>
                </a:tc>
                <a:tc>
                  <a:txBody>
                    <a:bodyPr wrap="square"/>
                    <a:lstStyle/>
                    <a:p>
                      <a:r>
                        <a:rPr sz="1100" b="1">
                          <a:solidFill>
                            <a:srgbClr val="FFFFFF"/>
                          </a:solidFill>
                          <a:latin typeface="Arial"/>
                        </a:rPr>
                        <a:t>What it holds</a:t>
                      </a:r>
                    </a:p>
                  </a:txBody>
                  <a:tcPr marL="64008" marR="64008" marT="27432" marB="27432" anchor="ctr">
                    <a:solidFill>
                      <a:srgbClr val="004EA8"/>
                    </a:solidFill>
                  </a:tcPr>
                </a:tc>
                <a:tc>
                  <a:txBody>
                    <a:bodyPr wrap="square"/>
                    <a:lstStyle/>
                    <a:p>
                      <a:r>
                        <a:rPr sz="1100" b="1">
                          <a:solidFill>
                            <a:srgbClr val="FFFFFF"/>
                          </a:solidFill>
                          <a:latin typeface="Arial"/>
                        </a:rPr>
                        <a:t>After the freeze</a:t>
                      </a:r>
                    </a:p>
                  </a:txBody>
                  <a:tcPr marL="64008" marR="64008" marT="27432" marB="27432" anchor="ctr">
                    <a:solidFill>
                      <a:srgbClr val="004EA8"/>
                    </a:solidFill>
                  </a:tcPr>
                </a:tc>
                <a:tc>
                  <a:txBody>
                    <a:bodyPr wrap="square"/>
                    <a:lstStyle/>
                    <a:p>
                      <a:r>
                        <a:rPr sz="1100" b="1">
                          <a:solidFill>
                            <a:srgbClr val="FFFFFF"/>
                          </a:solidFill>
                          <a:latin typeface="Arial"/>
                        </a:rPr>
                        <a:t>What the floor walk adds</a:t>
                      </a:r>
                    </a:p>
                  </a:txBody>
                  <a:tcPr marL="64008" marR="64008" marT="27432" marB="27432" anchor="ctr">
                    <a:solidFill>
                      <a:srgbClr val="004EA8"/>
                    </a:solidFill>
                  </a:tcPr>
                </a:tc>
              </a:tr>
              <a:tr h="731520">
                <a:tc>
                  <a:txBody>
                    <a:bodyPr wrap="square"/>
                    <a:lstStyle/>
                    <a:p>
                      <a:r>
                        <a:rPr sz="1100" b="1">
                          <a:solidFill>
                            <a:srgbClr val="4B4B4B"/>
                          </a:solidFill>
                          <a:latin typeface="Arial"/>
                        </a:rPr>
                        <a:t>EBIX Evolution</a:t>
                      </a:r>
                    </a:p>
                  </a:txBody>
                  <a:tcPr marL="64008" marR="64008" marT="27432" marB="27432" anchor="ctr">
                    <a:solidFill>
                      <a:srgbClr val="FFFFFF"/>
                    </a:solidFill>
                  </a:tcPr>
                </a:tc>
                <a:tc>
                  <a:txBody>
                    <a:bodyPr wrap="square"/>
                    <a:lstStyle/>
                    <a:p>
                      <a:r>
                        <a:rPr sz="1100" b="0">
                          <a:solidFill>
                            <a:srgbClr val="4B4B4B"/>
                          </a:solidFill>
                          <a:latin typeface="Arial"/>
                        </a:rPr>
                        <a:t>Booking, invoices, AR / OR, remittance, unapplied, GL, payees, branches, EB programmes, claims</a:t>
                      </a:r>
                    </a:p>
                  </a:txBody>
                  <a:tcPr marL="64008" marR="64008" marT="27432" marB="27432" anchor="ctr">
                    <a:solidFill>
                      <a:srgbClr val="FFFFFF"/>
                    </a:solidFill>
                  </a:tcPr>
                </a:tc>
                <a:tc>
                  <a:txBody>
                    <a:bodyPr wrap="square"/>
                    <a:lstStyle/>
                    <a:p>
                      <a:r>
                        <a:rPr sz="1100" b="0">
                          <a:solidFill>
                            <a:srgbClr val="4B4B4B"/>
                          </a:solidFill>
                          <a:latin typeface="Arial"/>
                        </a:rPr>
                        <a:t>Read-only until the archive is loaded</a:t>
                      </a:r>
                    </a:p>
                  </a:txBody>
                  <a:tcPr marL="64008" marR="64008" marT="27432" marB="27432" anchor="ctr">
                    <a:solidFill>
                      <a:srgbClr val="FFFFFF"/>
                    </a:solidFill>
                  </a:tcPr>
                </a:tc>
                <a:tc>
                  <a:txBody>
                    <a:bodyPr wrap="square"/>
                    <a:lstStyle/>
                    <a:p>
                      <a:r>
                        <a:rPr sz="1100" b="0">
                          <a:solidFill>
                            <a:srgbClr val="4B4B4B"/>
                          </a:solidFill>
                          <a:latin typeface="Arial"/>
                        </a:rPr>
                        <a:t>Policy-fee invoices keyed in the report menu; DP tags without premium entries</a:t>
                      </a:r>
                    </a:p>
                  </a:txBody>
                  <a:tcPr marL="64008" marR="64008" marT="27432" marB="27432" anchor="ctr">
                    <a:solidFill>
                      <a:srgbClr val="FFFFFF"/>
                    </a:solidFill>
                  </a:tcPr>
                </a:tc>
              </a:tr>
              <a:tr h="731520">
                <a:tc>
                  <a:txBody>
                    <a:bodyPr wrap="square"/>
                    <a:lstStyle/>
                    <a:p>
                      <a:r>
                        <a:rPr sz="1100" b="1">
                          <a:solidFill>
                            <a:srgbClr val="4B4B4B"/>
                          </a:solidFill>
                          <a:latin typeface="Arial"/>
                        </a:rPr>
                        <a:t>QPS</a:t>
                      </a:r>
                    </a:p>
                  </a:txBody>
                  <a:tcPr marL="64008" marR="64008" marT="27432" marB="27432" anchor="ctr">
                    <a:solidFill>
                      <a:srgbClr val="E5F5FF"/>
                    </a:solidFill>
                  </a:tcPr>
                </a:tc>
                <a:tc>
                  <a:txBody>
                    <a:bodyPr wrap="square"/>
                    <a:lstStyle/>
                    <a:p>
                      <a:r>
                        <a:rPr sz="1100" b="0">
                          <a:solidFill>
                            <a:srgbClr val="4B4B4B"/>
                          </a:solidFill>
                          <a:latin typeface="Arial"/>
                        </a:rPr>
                        <a:t>Quotations, clients, covers, packages, rates, sales organisation, renewals, users</a:t>
                      </a:r>
                    </a:p>
                  </a:txBody>
                  <a:tcPr marL="64008" marR="64008" marT="27432" marB="27432" anchor="ctr">
                    <a:solidFill>
                      <a:srgbClr val="E5F5FF"/>
                    </a:solidFill>
                  </a:tcPr>
                </a:tc>
                <a:tc>
                  <a:txBody>
                    <a:bodyPr wrap="square"/>
                    <a:lstStyle/>
                    <a:p>
                      <a:r>
                        <a:rPr sz="1100" b="0">
                          <a:solidFill>
                            <a:srgbClr val="4B4B4B"/>
                          </a:solidFill>
                          <a:latin typeface="Arial"/>
                        </a:rPr>
                        <a:t>Read-only; retired after the last QPS policy renews</a:t>
                      </a:r>
                    </a:p>
                  </a:txBody>
                  <a:tcPr marL="64008" marR="64008" marT="27432" marB="27432" anchor="ctr">
                    <a:solidFill>
                      <a:srgbClr val="E5F5FF"/>
                    </a:solidFill>
                  </a:tcPr>
                </a:tc>
                <a:tc>
                  <a:txBody>
                    <a:bodyPr wrap="square"/>
                    <a:lstStyle/>
                    <a:p>
                      <a:r>
                        <a:rPr sz="1100" b="0">
                          <a:solidFill>
                            <a:srgbClr val="4B4B4B"/>
                          </a:solidFill>
                          <a:latin typeface="Arial"/>
                        </a:rPr>
                        <a:t>Holds the three references; receives accounts migrated from ISYS</a:t>
                      </a:r>
                    </a:p>
                  </a:txBody>
                  <a:tcPr marL="64008" marR="64008" marT="27432" marB="27432" anchor="ctr">
                    <a:solidFill>
                      <a:srgbClr val="E5F5FF"/>
                    </a:solidFill>
                  </a:tcPr>
                </a:tc>
              </a:tr>
              <a:tr h="731520">
                <a:tc>
                  <a:txBody>
                    <a:bodyPr wrap="square"/>
                    <a:lstStyle/>
                    <a:p>
                      <a:r>
                        <a:rPr sz="1100" b="1">
                          <a:solidFill>
                            <a:srgbClr val="4B4B4B"/>
                          </a:solidFill>
                          <a:latin typeface="Arial"/>
                        </a:rPr>
                        <a:t>ISYS / Broker</a:t>
                      </a:r>
                    </a:p>
                  </a:txBody>
                  <a:tcPr marL="64008" marR="64008" marT="27432" marB="27432" anchor="ctr">
                    <a:solidFill>
                      <a:srgbClr val="FFFFFF"/>
                    </a:solidFill>
                  </a:tcPr>
                </a:tc>
                <a:tc>
                  <a:txBody>
                    <a:bodyPr wrap="square"/>
                    <a:lstStyle/>
                    <a:p>
                      <a:r>
                        <a:rPr sz="1100" b="0">
                          <a:solidFill>
                            <a:srgbClr val="4B4B4B"/>
                          </a:solidFill>
                          <a:latin typeface="Arial"/>
                        </a:rPr>
                        <a:t>Leads, clients, accounts, Marketing Diary, claims and GL reports</a:t>
                      </a:r>
                    </a:p>
                  </a:txBody>
                  <a:tcPr marL="64008" marR="64008" marT="27432" marB="27432" anchor="ctr">
                    <a:solidFill>
                      <a:srgbClr val="FFFFFF"/>
                    </a:solidFill>
                  </a:tcPr>
                </a:tc>
                <a:tc>
                  <a:txBody>
                    <a:bodyPr wrap="square"/>
                    <a:lstStyle/>
                    <a:p>
                      <a:r>
                        <a:rPr sz="1100" b="0">
                          <a:solidFill>
                            <a:srgbClr val="4B4B4B"/>
                          </a:solidFill>
                          <a:latin typeface="Arial"/>
                        </a:rPr>
                        <a:t>Read-only; archived</a:t>
                      </a:r>
                    </a:p>
                  </a:txBody>
                  <a:tcPr marL="64008" marR="64008" marT="27432" marB="27432" anchor="ctr">
                    <a:solidFill>
                      <a:srgbClr val="FFFFFF"/>
                    </a:solidFill>
                  </a:tcPr>
                </a:tc>
                <a:tc>
                  <a:txBody>
                    <a:bodyPr wrap="square"/>
                    <a:lstStyle/>
                    <a:p>
                      <a:r>
                        <a:rPr sz="1100" b="0">
                          <a:solidFill>
                            <a:srgbClr val="4B4B4B"/>
                          </a:solidFill>
                          <a:latin typeface="Arial"/>
                        </a:rPr>
                        <a:t>Client codes kept for renewal (NB-15); leads not separated (OV-04)</a:t>
                      </a:r>
                    </a:p>
                  </a:txBody>
                  <a:tcPr marL="64008" marR="64008" marT="27432" marB="27432" anchor="ctr">
                    <a:solidFill>
                      <a:srgbClr val="FFFFFF"/>
                    </a:solidFill>
                  </a:tcPr>
                </a:tc>
              </a:tr>
              <a:tr h="731520">
                <a:tc>
                  <a:txBody>
                    <a:bodyPr wrap="square"/>
                    <a:lstStyle/>
                    <a:p>
                      <a:r>
                        <a:rPr sz="1100" b="1">
                          <a:solidFill>
                            <a:srgbClr val="4B4B4B"/>
                          </a:solidFill>
                          <a:latin typeface="Arial"/>
                        </a:rPr>
                        <a:t>ICS (Collections)</a:t>
                      </a:r>
                    </a:p>
                  </a:txBody>
                  <a:tcPr marL="64008" marR="64008" marT="27432" marB="27432" anchor="ctr">
                    <a:solidFill>
                      <a:srgbClr val="E5F5FF"/>
                    </a:solidFill>
                  </a:tcPr>
                </a:tc>
                <a:tc>
                  <a:txBody>
                    <a:bodyPr wrap="square"/>
                    <a:lstStyle/>
                    <a:p>
                      <a:r>
                        <a:rPr sz="1100" b="0">
                          <a:solidFill>
                            <a:srgbClr val="4B4B4B"/>
                          </a:solidFill>
                          <a:latin typeface="Arial"/>
                        </a:rPr>
                        <a:t>Dispositions, promises, collector assignments, ageing</a:t>
                      </a:r>
                    </a:p>
                  </a:txBody>
                  <a:tcPr marL="64008" marR="64008" marT="27432" marB="27432" anchor="ctr">
                    <a:solidFill>
                      <a:srgbClr val="E5F5FF"/>
                    </a:solidFill>
                  </a:tcPr>
                </a:tc>
                <a:tc>
                  <a:txBody>
                    <a:bodyPr wrap="square"/>
                    <a:lstStyle/>
                    <a:p>
                      <a:r>
                        <a:rPr sz="1100" b="0">
                          <a:solidFill>
                            <a:srgbClr val="4B4B4B"/>
                          </a:solidFill>
                          <a:latin typeface="Arial"/>
                        </a:rPr>
                        <a:t>Read-only; archived</a:t>
                      </a:r>
                    </a:p>
                  </a:txBody>
                  <a:tcPr marL="64008" marR="64008" marT="27432" marB="27432" anchor="ctr">
                    <a:solidFill>
                      <a:srgbClr val="E5F5FF"/>
                    </a:solidFill>
                  </a:tcPr>
                </a:tc>
                <a:tc>
                  <a:txBody>
                    <a:bodyPr wrap="square"/>
                    <a:lstStyle/>
                    <a:p>
                      <a:r>
                        <a:rPr sz="1100" b="0">
                          <a:solidFill>
                            <a:srgbClr val="4B4B4B"/>
                          </a:solidFill>
                          <a:latin typeface="Arial"/>
                        </a:rPr>
                        <a:t>Status and ageing wrong after payment (CO-02); named CMS in the BRD: confirm</a:t>
                      </a:r>
                    </a:p>
                  </a:txBody>
                  <a:tcPr marL="64008" marR="64008" marT="27432" marB="27432" anchor="ctr">
                    <a:solidFill>
                      <a:srgbClr val="E5F5FF"/>
                    </a:solidFill>
                  </a:tcPr>
                </a:tc>
              </a:tr>
              <a:tr h="731520">
                <a:tc>
                  <a:txBody>
                    <a:bodyPr wrap="square"/>
                    <a:lstStyle/>
                    <a:p>
                      <a:r>
                        <a:rPr sz="1100" b="1">
                          <a:solidFill>
                            <a:srgbClr val="4B4B4B"/>
                          </a:solidFill>
                          <a:latin typeface="Arial"/>
                        </a:rPr>
                        <a:t>Excel, Drive H, SharePoint</a:t>
                      </a:r>
                    </a:p>
                  </a:txBody>
                  <a:tcPr marL="64008" marR="64008" marT="27432" marB="27432" anchor="ctr">
                    <a:solidFill>
                      <a:srgbClr val="FFFFFF"/>
                    </a:solidFill>
                  </a:tcPr>
                </a:tc>
                <a:tc>
                  <a:txBody>
                    <a:bodyPr wrap="square"/>
                    <a:lstStyle/>
                    <a:p>
                      <a:r>
                        <a:rPr sz="1100" b="0">
                          <a:solidFill>
                            <a:srgbClr val="4B4B4B"/>
                          </a:solidFill>
                          <a:latin typeface="Arial"/>
                        </a:rPr>
                        <a:t>Submitted masterlists, RMEL dispositions, RA trackers, KYC documents</a:t>
                      </a:r>
                    </a:p>
                  </a:txBody>
                  <a:tcPr marL="64008" marR="64008" marT="27432" marB="27432" anchor="ctr">
                    <a:solidFill>
                      <a:srgbClr val="FFFFFF"/>
                    </a:solidFill>
                  </a:tcPr>
                </a:tc>
                <a:tc>
                  <a:txBody>
                    <a:bodyPr wrap="square"/>
                    <a:lstStyle/>
                    <a:p>
                      <a:r>
                        <a:rPr sz="1100" b="0">
                          <a:solidFill>
                            <a:srgbClr val="4B4B4B"/>
                          </a:solidFill>
                          <a:latin typeface="Arial"/>
                        </a:rPr>
                        <a:t>Migrated or archived with checksums</a:t>
                      </a:r>
                    </a:p>
                  </a:txBody>
                  <a:tcPr marL="64008" marR="64008" marT="27432" marB="27432" anchor="ctr">
                    <a:solidFill>
                      <a:srgbClr val="FFFFFF"/>
                    </a:solidFill>
                  </a:tcPr>
                </a:tc>
                <a:tc>
                  <a:txBody>
                    <a:bodyPr wrap="square"/>
                    <a:lstStyle/>
                    <a:p>
                      <a:r>
                        <a:rPr sz="1100" b="0">
                          <a:solidFill>
                            <a:srgbClr val="4B4B4B"/>
                          </a:solidFill>
                          <a:latin typeface="Arial"/>
                        </a:rPr>
                        <a:t>Also DP lists, commission trackers, RI sheet, NB masterlist, ManCom list</a:t>
                      </a:r>
                    </a:p>
                  </a:txBody>
                  <a:tcPr marL="64008" marR="64008" marT="27432" marB="27432" anchor="ctr">
                    <a:solidFill>
                      <a:srgbClr val="FFFFFF"/>
                    </a:solidFill>
                  </a:tcPr>
                </a:tc>
              </a:tr>
              <a:tr h="731520">
                <a:tc>
                  <a:txBody>
                    <a:bodyPr wrap="square"/>
                    <a:lstStyle/>
                    <a:p>
                      <a:r>
                        <a:rPr sz="1100" b="1">
                          <a:solidFill>
                            <a:srgbClr val="4B4B4B"/>
                          </a:solidFill>
                          <a:latin typeface="Arial"/>
                        </a:rPr>
                        <a:t>CLS, CC Nav</a:t>
                      </a:r>
                    </a:p>
                  </a:txBody>
                  <a:tcPr marL="64008" marR="64008" marT="27432" marB="27432" anchor="ctr">
                    <a:solidFill>
                      <a:srgbClr val="E5F5FF"/>
                    </a:solidFill>
                  </a:tcPr>
                </a:tc>
                <a:tc>
                  <a:txBody>
                    <a:bodyPr wrap="square"/>
                    <a:lstStyle/>
                    <a:p>
                      <a:r>
                        <a:rPr sz="1100" b="0">
                          <a:solidFill>
                            <a:srgbClr val="4B4B4B"/>
                          </a:solidFill>
                          <a:latin typeface="Arial"/>
                        </a:rPr>
                        <a:t>Contact-centre cases and knowledge</a:t>
                      </a:r>
                    </a:p>
                  </a:txBody>
                  <a:tcPr marL="64008" marR="64008" marT="27432" marB="27432" anchor="ctr">
                    <a:solidFill>
                      <a:srgbClr val="E5F5FF"/>
                    </a:solidFill>
                  </a:tcPr>
                </a:tc>
                <a:tc>
                  <a:txBody>
                    <a:bodyPr wrap="square"/>
                    <a:lstStyle/>
                    <a:p>
                      <a:r>
                        <a:rPr sz="1100" b="0">
                          <a:solidFill>
                            <a:srgbClr val="4B4B4B"/>
                          </a:solidFill>
                          <a:latin typeface="Arial"/>
                        </a:rPr>
                        <a:t>Not in the object list</a:t>
                      </a:r>
                    </a:p>
                  </a:txBody>
                  <a:tcPr marL="64008" marR="64008" marT="27432" marB="27432" anchor="ctr">
                    <a:solidFill>
                      <a:srgbClr val="E5F5FF"/>
                    </a:solidFill>
                  </a:tcPr>
                </a:tc>
                <a:tc>
                  <a:txBody>
                    <a:bodyPr wrap="square"/>
                    <a:lstStyle/>
                    <a:p>
                      <a:r>
                        <a:rPr sz="1100" b="0">
                          <a:solidFill>
                            <a:srgbClr val="4B4B4B"/>
                          </a:solidFill>
                          <a:latin typeface="Arial"/>
                        </a:rPr>
                        <a:t>Every contact logged by hand; confirm scope</a:t>
                      </a:r>
                    </a:p>
                  </a:txBody>
                  <a:tcPr marL="64008" marR="64008" marT="27432" marB="27432" anchor="ctr">
                    <a:solidFill>
                      <a:srgbClr val="E5F5FF"/>
                    </a:solidFill>
                  </a:tcPr>
                </a:tc>
              </a:tr>
            </a:tbl>
          </a:graphicData>
        </a:graphic>
      </p:graphicFrame>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Data migration: objects and treatment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graphicFrame>
        <p:nvGraphicFramePr>
          <p:cNvPr id="9" name="Table 8"/>
          <p:cNvGraphicFramePr>
            <a:graphicFrameLocks noGrp="1"/>
          </p:cNvGraphicFramePr>
          <p:nvPr/>
        </p:nvGraphicFramePr>
        <p:xfrm>
          <a:off x="548640" y="1280160"/>
          <a:ext cx="11094413" cy="4919470"/>
        </p:xfrm>
        <a:graphic>
          <a:graphicData uri="http://schemas.openxmlformats.org/drawingml/2006/table">
            <a:tbl>
              <a:tblPr firstRow="1" bandRow="1">
                <a:tableStyleId>{5C22544A-7EE6-4342-B048-85BDC9FD1C3A}</a:tableStyleId>
              </a:tblPr>
              <a:tblGrid>
                <a:gridCol w="1610479"/>
                <a:gridCol w="4473554"/>
                <a:gridCol w="2326248"/>
                <a:gridCol w="2684132"/>
              </a:tblGrid>
              <a:tr h="365760">
                <a:tc>
                  <a:txBody>
                    <a:bodyPr wrap="square"/>
                    <a:lstStyle/>
                    <a:p>
                      <a:r>
                        <a:rPr sz="1100" b="1">
                          <a:solidFill>
                            <a:srgbClr val="FFFFFF"/>
                          </a:solidFill>
                          <a:latin typeface="Arial"/>
                        </a:rPr>
                        <a:t>Group</a:t>
                      </a:r>
                    </a:p>
                  </a:txBody>
                  <a:tcPr marL="64008" marR="64008" marT="27432" marB="27432" anchor="ctr">
                    <a:solidFill>
                      <a:srgbClr val="004EA8"/>
                    </a:solidFill>
                  </a:tcPr>
                </a:tc>
                <a:tc>
                  <a:txBody>
                    <a:bodyPr wrap="square"/>
                    <a:lstStyle/>
                    <a:p>
                      <a:r>
                        <a:rPr sz="1100" b="1">
                          <a:solidFill>
                            <a:srgbClr val="FFFFFF"/>
                          </a:solidFill>
                          <a:latin typeface="Arial"/>
                        </a:rPr>
                        <a:t>Objects</a:t>
                      </a:r>
                    </a:p>
                  </a:txBody>
                  <a:tcPr marL="64008" marR="64008" marT="27432" marB="27432" anchor="ctr">
                    <a:solidFill>
                      <a:srgbClr val="004EA8"/>
                    </a:solidFill>
                  </a:tcPr>
                </a:tc>
                <a:tc>
                  <a:txBody>
                    <a:bodyPr wrap="square"/>
                    <a:lstStyle/>
                    <a:p>
                      <a:r>
                        <a:rPr sz="1100" b="1">
                          <a:solidFill>
                            <a:srgbClr val="FFFFFF"/>
                          </a:solidFill>
                          <a:latin typeface="Arial"/>
                        </a:rPr>
                        <a:t>Treatment</a:t>
                      </a:r>
                    </a:p>
                  </a:txBody>
                  <a:tcPr marL="64008" marR="64008" marT="27432" marB="27432" anchor="ctr">
                    <a:solidFill>
                      <a:srgbClr val="004EA8"/>
                    </a:solidFill>
                  </a:tcPr>
                </a:tc>
                <a:tc>
                  <a:txBody>
                    <a:bodyPr wrap="square"/>
                    <a:lstStyle/>
                    <a:p>
                      <a:r>
                        <a:rPr sz="1100" b="1">
                          <a:solidFill>
                            <a:srgbClr val="FFFFFF"/>
                          </a:solidFill>
                          <a:latin typeface="Arial"/>
                        </a:rPr>
                        <a:t>Planning volume</a:t>
                      </a:r>
                    </a:p>
                  </a:txBody>
                  <a:tcPr marL="64008" marR="64008" marT="27432" marB="27432" anchor="ctr">
                    <a:solidFill>
                      <a:srgbClr val="004EA8"/>
                    </a:solidFill>
                  </a:tcPr>
                </a:tc>
              </a:tr>
              <a:tr h="650530">
                <a:tc>
                  <a:txBody>
                    <a:bodyPr wrap="square"/>
                    <a:lstStyle/>
                    <a:p>
                      <a:r>
                        <a:rPr sz="1100" b="1">
                          <a:solidFill>
                            <a:srgbClr val="4B4B4B"/>
                          </a:solidFill>
                          <a:latin typeface="Arial"/>
                        </a:rPr>
                        <a:t>Reference</a:t>
                      </a:r>
                    </a:p>
                  </a:txBody>
                  <a:tcPr marL="64008" marR="64008" marT="27432" marB="27432" anchor="ctr">
                    <a:solidFill>
                      <a:srgbClr val="FFFFFF"/>
                    </a:solidFill>
                  </a:tcPr>
                </a:tc>
                <a:tc>
                  <a:txBody>
                    <a:bodyPr wrap="square"/>
                    <a:lstStyle/>
                    <a:p>
                      <a:r>
                        <a:rPr sz="1100" b="0">
                          <a:solidFill>
                            <a:srgbClr val="4B4B4B"/>
                          </a:solidFill>
                          <a:latin typeface="Arial"/>
                        </a:rPr>
                        <a:t>LOVs and MIS values, branches, sales organisation, insurers, products and risk codes, packages, commission rates, chart of accounts map</a:t>
                      </a:r>
                    </a:p>
                  </a:txBody>
                  <a:tcPr marL="64008" marR="64008" marT="27432" marB="27432" anchor="ctr">
                    <a:solidFill>
                      <a:srgbClr val="FFFFFF"/>
                    </a:solidFill>
                  </a:tcPr>
                </a:tc>
                <a:tc>
                  <a:txBody>
                    <a:bodyPr wrap="square"/>
                    <a:lstStyle/>
                    <a:p>
                      <a:r>
                        <a:rPr sz="1100" b="0">
                          <a:solidFill>
                            <a:srgbClr val="4B4B4B"/>
                          </a:solidFill>
                          <a:latin typeface="Arial"/>
                        </a:rPr>
                        <a:t>Migrate</a:t>
                      </a:r>
                    </a:p>
                  </a:txBody>
                  <a:tcPr marL="64008" marR="64008" marT="27432" marB="27432" anchor="ctr">
                    <a:solidFill>
                      <a:srgbClr val="FFFFFF"/>
                    </a:solidFill>
                  </a:tcPr>
                </a:tc>
                <a:tc>
                  <a:txBody>
                    <a:bodyPr wrap="square"/>
                    <a:lstStyle/>
                    <a:p>
                      <a:r>
                        <a:rPr sz="1100" b="0">
                          <a:solidFill>
                            <a:srgbClr val="4B4B4B"/>
                          </a:solidFill>
                          <a:latin typeface="Arial"/>
                        </a:rPr>
                        <a:t>Under 100 insurers; ~600 AOs; a few hundred products</a:t>
                      </a:r>
                    </a:p>
                  </a:txBody>
                  <a:tcPr marL="64008" marR="64008" marT="27432" marB="27432" anchor="ctr">
                    <a:solidFill>
                      <a:srgbClr val="FFFFFF"/>
                    </a:solidFill>
                  </a:tcPr>
                </a:tc>
              </a:tr>
              <a:tr h="650530">
                <a:tc>
                  <a:txBody>
                    <a:bodyPr wrap="square"/>
                    <a:lstStyle/>
                    <a:p>
                      <a:r>
                        <a:rPr sz="1100" b="1">
                          <a:solidFill>
                            <a:srgbClr val="4B4B4B"/>
                          </a:solidFill>
                          <a:latin typeface="Arial"/>
                        </a:rPr>
                        <a:t>Users</a:t>
                      </a:r>
                    </a:p>
                  </a:txBody>
                  <a:tcPr marL="64008" marR="64008" marT="27432" marB="27432" anchor="ctr">
                    <a:solidFill>
                      <a:srgbClr val="E5F5FF"/>
                    </a:solidFill>
                  </a:tcPr>
                </a:tc>
                <a:tc>
                  <a:txBody>
                    <a:bodyPr wrap="square"/>
                    <a:lstStyle/>
                    <a:p>
                      <a:r>
                        <a:rPr sz="1100" b="0">
                          <a:solidFill>
                            <a:srgbClr val="4B4B4B"/>
                          </a:solidFill>
                          <a:latin typeface="Arial"/>
                        </a:rPr>
                        <a:t>Users and roles</a:t>
                      </a:r>
                    </a:p>
                  </a:txBody>
                  <a:tcPr marL="64008" marR="64008" marT="27432" marB="27432" anchor="ctr">
                    <a:solidFill>
                      <a:srgbClr val="E5F5FF"/>
                    </a:solidFill>
                  </a:tcPr>
                </a:tc>
                <a:tc>
                  <a:txBody>
                    <a:bodyPr wrap="square"/>
                    <a:lstStyle/>
                    <a:p>
                      <a:r>
                        <a:rPr sz="1100" b="0">
                          <a:solidFill>
                            <a:srgbClr val="4B4B4B"/>
                          </a:solidFill>
                          <a:latin typeface="Arial"/>
                        </a:rPr>
                        <a:t>Excluded: recreated by access requests</a:t>
                      </a:r>
                    </a:p>
                  </a:txBody>
                  <a:tcPr marL="64008" marR="64008" marT="27432" marB="27432" anchor="ctr">
                    <a:solidFill>
                      <a:srgbClr val="E5F5FF"/>
                    </a:solidFill>
                  </a:tcPr>
                </a:tc>
                <a:tc>
                  <a:txBody>
                    <a:bodyPr wrap="square"/>
                    <a:lstStyle/>
                    <a:p>
                      <a:r>
                        <a:rPr sz="1100" b="0">
                          <a:solidFill>
                            <a:srgbClr val="4B4B4B"/>
                          </a:solidFill>
                          <a:latin typeface="Arial"/>
                        </a:rPr>
                        <a:t>~1,344 users</a:t>
                      </a:r>
                    </a:p>
                  </a:txBody>
                  <a:tcPr marL="64008" marR="64008" marT="27432" marB="27432" anchor="ctr">
                    <a:solidFill>
                      <a:srgbClr val="E5F5FF"/>
                    </a:solidFill>
                  </a:tcPr>
                </a:tc>
              </a:tr>
              <a:tr h="650530">
                <a:tc>
                  <a:txBody>
                    <a:bodyPr wrap="square"/>
                    <a:lstStyle/>
                    <a:p>
                      <a:r>
                        <a:rPr sz="1100" b="1">
                          <a:solidFill>
                            <a:srgbClr val="4B4B4B"/>
                          </a:solidFill>
                          <a:latin typeface="Arial"/>
                        </a:rPr>
                        <a:t>Clients</a:t>
                      </a:r>
                    </a:p>
                  </a:txBody>
                  <a:tcPr marL="64008" marR="64008" marT="27432" marB="27432" anchor="ctr">
                    <a:solidFill>
                      <a:srgbClr val="FFFFFF"/>
                    </a:solidFill>
                  </a:tcPr>
                </a:tc>
                <a:tc>
                  <a:txBody>
                    <a:bodyPr wrap="square"/>
                    <a:lstStyle/>
                    <a:p>
                      <a:r>
                        <a:rPr sz="1100" b="0">
                          <a:solidFill>
                            <a:srgbClr val="4B4B4B"/>
                          </a:solidFill>
                          <a:latin typeface="Arial"/>
                        </a:rPr>
                        <a:t>Clients, contacts, payout accounts; KYC documents; screening results</a:t>
                      </a:r>
                    </a:p>
                  </a:txBody>
                  <a:tcPr marL="64008" marR="64008" marT="27432" marB="27432" anchor="ctr">
                    <a:solidFill>
                      <a:srgbClr val="FFFFFF"/>
                    </a:solidFill>
                  </a:tcPr>
                </a:tc>
                <a:tc>
                  <a:txBody>
                    <a:bodyPr wrap="square"/>
                    <a:lstStyle/>
                    <a:p>
                      <a:r>
                        <a:rPr sz="1100" b="0">
                          <a:solidFill>
                            <a:srgbClr val="4B4B4B"/>
                          </a:solidFill>
                          <a:latin typeface="Arial"/>
                        </a:rPr>
                        <a:t>Migrate; KYC archived; full re-screen</a:t>
                      </a:r>
                    </a:p>
                  </a:txBody>
                  <a:tcPr marL="64008" marR="64008" marT="27432" marB="27432" anchor="ctr">
                    <a:solidFill>
                      <a:srgbClr val="FFFFFF"/>
                    </a:solidFill>
                  </a:tcPr>
                </a:tc>
                <a:tc>
                  <a:txBody>
                    <a:bodyPr wrap="square"/>
                    <a:lstStyle/>
                    <a:p>
                      <a:r>
                        <a:rPr sz="1100" b="0">
                          <a:solidFill>
                            <a:srgbClr val="4B4B4B"/>
                          </a:solidFill>
                          <a:latin typeface="Arial"/>
                        </a:rPr>
                        <a:t>Loaders sized for 1,000,000</a:t>
                      </a:r>
                    </a:p>
                  </a:txBody>
                  <a:tcPr marL="64008" marR="64008" marT="27432" marB="27432" anchor="ctr">
                    <a:solidFill>
                      <a:srgbClr val="FFFFFF"/>
                    </a:solidFill>
                  </a:tcPr>
                </a:tc>
              </a:tr>
              <a:tr h="650530">
                <a:tc>
                  <a:txBody>
                    <a:bodyPr wrap="square"/>
                    <a:lstStyle/>
                    <a:p>
                      <a:r>
                        <a:rPr sz="1100" b="1">
                          <a:solidFill>
                            <a:srgbClr val="4B4B4B"/>
                          </a:solidFill>
                          <a:latin typeface="Arial"/>
                        </a:rPr>
                        <a:t>Policies</a:t>
                      </a:r>
                    </a:p>
                  </a:txBody>
                  <a:tcPr marL="64008" marR="64008" marT="27432" marB="27432" anchor="ctr">
                    <a:solidFill>
                      <a:srgbClr val="E5F5FF"/>
                    </a:solidFill>
                  </a:tcPr>
                </a:tc>
                <a:tc>
                  <a:txBody>
                    <a:bodyPr wrap="square"/>
                    <a:lstStyle/>
                    <a:p>
                      <a:r>
                        <a:rPr sz="1100" b="0">
                          <a:solidFill>
                            <a:srgbClr val="4B4B4B"/>
                          </a:solidFill>
                          <a:latin typeface="Arial"/>
                        </a:rPr>
                        <a:t>In-force policy headers (every expiry to 31-May-2028); expired policies; RA-sent file; submitted masterlists; EB programmes</a:t>
                      </a:r>
                    </a:p>
                  </a:txBody>
                  <a:tcPr marL="64008" marR="64008" marT="27432" marB="27432" anchor="ctr">
                    <a:solidFill>
                      <a:srgbClr val="E5F5FF"/>
                    </a:solidFill>
                  </a:tcPr>
                </a:tc>
                <a:tc>
                  <a:txBody>
                    <a:bodyPr wrap="square"/>
                    <a:lstStyle/>
                    <a:p>
                      <a:r>
                        <a:rPr sz="1100" b="0">
                          <a:solidFill>
                            <a:srgbClr val="4B4B4B"/>
                          </a:solidFill>
                          <a:latin typeface="Arial"/>
                        </a:rPr>
                        <a:t>Conditional; archive</a:t>
                      </a:r>
                    </a:p>
                  </a:txBody>
                  <a:tcPr marL="64008" marR="64008" marT="27432" marB="27432" anchor="ctr">
                    <a:solidFill>
                      <a:srgbClr val="E5F5FF"/>
                    </a:solidFill>
                  </a:tcPr>
                </a:tc>
                <a:tc>
                  <a:txBody>
                    <a:bodyPr wrap="square"/>
                    <a:lstStyle/>
                    <a:p>
                      <a:r>
                        <a:rPr sz="1100" b="0">
                          <a:solidFill>
                            <a:srgbClr val="4B4B4B"/>
                          </a:solidFill>
                          <a:latin typeface="Arial"/>
                        </a:rPr>
                        <a:t>250-310K renewable accounts a year</a:t>
                      </a:r>
                    </a:p>
                  </a:txBody>
                  <a:tcPr marL="64008" marR="64008" marT="27432" marB="27432" anchor="ctr">
                    <a:solidFill>
                      <a:srgbClr val="E5F5FF"/>
                    </a:solidFill>
                  </a:tcPr>
                </a:tc>
              </a:tr>
              <a:tr h="650530">
                <a:tc>
                  <a:txBody>
                    <a:bodyPr wrap="square"/>
                    <a:lstStyle/>
                    <a:p>
                      <a:r>
                        <a:rPr sz="1100" b="1">
                          <a:solidFill>
                            <a:srgbClr val="4B4B4B"/>
                          </a:solidFill>
                          <a:latin typeface="Arial"/>
                        </a:rPr>
                        <a:t>Open items</a:t>
                      </a:r>
                    </a:p>
                  </a:txBody>
                  <a:tcPr marL="64008" marR="64008" marT="27432" marB="27432" anchor="ctr">
                    <a:solidFill>
                      <a:srgbClr val="FFFFFF"/>
                    </a:solidFill>
                  </a:tcPr>
                </a:tc>
                <a:tc>
                  <a:txBody>
                    <a:bodyPr wrap="square"/>
                    <a:lstStyle/>
                    <a:p>
                      <a:r>
                        <a:rPr sz="1100" b="0">
                          <a:solidFill>
                            <a:srgbClr val="4B4B4B"/>
                          </a:solidFill>
                          <a:latin typeface="Arial"/>
                        </a:rPr>
                        <a:t>Open invoices with components and insurer shares; unapplied payments; open collection state; remittance in flight; PDCs; open claims</a:t>
                      </a:r>
                    </a:p>
                  </a:txBody>
                  <a:tcPr marL="64008" marR="64008" marT="27432" marB="27432" anchor="ctr">
                    <a:solidFill>
                      <a:srgbClr val="FFFFFF"/>
                    </a:solidFill>
                  </a:tcPr>
                </a:tc>
                <a:tc>
                  <a:txBody>
                    <a:bodyPr wrap="square"/>
                    <a:lstStyle/>
                    <a:p>
                      <a:r>
                        <a:rPr sz="1100" b="0">
                          <a:solidFill>
                            <a:srgbClr val="4B4B4B"/>
                          </a:solidFill>
                          <a:latin typeface="Arial"/>
                        </a:rPr>
                        <a:t>Carry forward on legacy sub-ledgers</a:t>
                      </a:r>
                    </a:p>
                  </a:txBody>
                  <a:tcPr marL="64008" marR="64008" marT="27432" marB="27432" anchor="ctr">
                    <a:solidFill>
                      <a:srgbClr val="FFFFFF"/>
                    </a:solidFill>
                  </a:tcPr>
                </a:tc>
                <a:tc>
                  <a:txBody>
                    <a:bodyPr wrap="square"/>
                    <a:lstStyle/>
                    <a:p>
                      <a:r>
                        <a:rPr sz="1100" b="0">
                          <a:solidFill>
                            <a:srgbClr val="4B4B4B"/>
                          </a:solidFill>
                          <a:latin typeface="Arial"/>
                        </a:rPr>
                        <a:t>Sized for 500,000 invoices; 55 new claims a day</a:t>
                      </a:r>
                    </a:p>
                  </a:txBody>
                  <a:tcPr marL="64008" marR="64008" marT="27432" marB="27432" anchor="ctr">
                    <a:solidFill>
                      <a:srgbClr val="FFFFFF"/>
                    </a:solidFill>
                  </a:tcPr>
                </a:tc>
              </a:tr>
              <a:tr h="650530">
                <a:tc>
                  <a:txBody>
                    <a:bodyPr wrap="square"/>
                    <a:lstStyle/>
                    <a:p>
                      <a:r>
                        <a:rPr sz="1100" b="1">
                          <a:solidFill>
                            <a:srgbClr val="4B4B4B"/>
                          </a:solidFill>
                          <a:latin typeface="Arial"/>
                        </a:rPr>
                        <a:t>Ledger</a:t>
                      </a:r>
                    </a:p>
                  </a:txBody>
                  <a:tcPr marL="64008" marR="64008" marT="27432" marB="27432" anchor="ctr">
                    <a:solidFill>
                      <a:srgbClr val="E5F5FF"/>
                    </a:solidFill>
                  </a:tcPr>
                </a:tc>
                <a:tc>
                  <a:txBody>
                    <a:bodyPr wrap="square"/>
                    <a:lstStyle/>
                    <a:p>
                      <a:r>
                        <a:rPr sz="1100" b="0">
                          <a:solidFill>
                            <a:srgbClr val="4B4B4B"/>
                          </a:solidFill>
                          <a:latin typeface="Arial"/>
                        </a:rPr>
                        <a:t>Opening trial balance; GL history; FY2027 true-ups</a:t>
                      </a:r>
                    </a:p>
                  </a:txBody>
                  <a:tcPr marL="64008" marR="64008" marT="27432" marB="27432" anchor="ctr">
                    <a:solidFill>
                      <a:srgbClr val="E5F5FF"/>
                    </a:solidFill>
                  </a:tcPr>
                </a:tc>
                <a:tc>
                  <a:txBody>
                    <a:bodyPr wrap="square"/>
                    <a:lstStyle/>
                    <a:p>
                      <a:r>
                        <a:rPr sz="1100" b="0">
                          <a:solidFill>
                            <a:srgbClr val="4B4B4B"/>
                          </a:solidFill>
                          <a:latin typeface="Arial"/>
                        </a:rPr>
                        <a:t>Migrate; archive; true-up</a:t>
                      </a:r>
                    </a:p>
                  </a:txBody>
                  <a:tcPr marL="64008" marR="64008" marT="27432" marB="27432" anchor="ctr">
                    <a:solidFill>
                      <a:srgbClr val="E5F5FF"/>
                    </a:solidFill>
                  </a:tcPr>
                </a:tc>
                <a:tc>
                  <a:txBody>
                    <a:bodyPr wrap="square"/>
                    <a:lstStyle/>
                    <a:p>
                      <a:r>
                        <a:rPr sz="1100" b="0">
                          <a:solidFill>
                            <a:srgbClr val="4B4B4B"/>
                          </a:solidFill>
                          <a:latin typeface="Arial"/>
                        </a:rPr>
                        <a:t>A few thousand lines</a:t>
                      </a:r>
                    </a:p>
                  </a:txBody>
                  <a:tcPr marL="64008" marR="64008" marT="27432" marB="27432" anchor="ctr">
                    <a:solidFill>
                      <a:srgbClr val="E5F5FF"/>
                    </a:solidFill>
                  </a:tcPr>
                </a:tc>
              </a:tr>
              <a:tr h="650530">
                <a:tc>
                  <a:txBody>
                    <a:bodyPr wrap="square"/>
                    <a:lstStyle/>
                    <a:p>
                      <a:r>
                        <a:rPr sz="1100" b="1">
                          <a:solidFill>
                            <a:srgbClr val="4B4B4B"/>
                          </a:solidFill>
                          <a:latin typeface="Arial"/>
                        </a:rPr>
                        <a:t>History</a:t>
                      </a:r>
                    </a:p>
                  </a:txBody>
                  <a:tcPr marL="64008" marR="64008" marT="27432" marB="27432" anchor="ctr">
                    <a:solidFill>
                      <a:srgbClr val="FFFFFF"/>
                    </a:solidFill>
                  </a:tcPr>
                </a:tc>
                <a:tc>
                  <a:txBody>
                    <a:bodyPr wrap="square"/>
                    <a:lstStyle/>
                    <a:p>
                      <a:r>
                        <a:rPr sz="1100" b="0">
                          <a:solidFill>
                            <a:srgbClr val="4B4B4B"/>
                          </a:solidFill>
                          <a:latin typeface="Arial"/>
                        </a:rPr>
                        <a:t>Closed transactions, legacy documents</a:t>
                      </a:r>
                    </a:p>
                  </a:txBody>
                  <a:tcPr marL="64008" marR="64008" marT="27432" marB="27432" anchor="ctr">
                    <a:solidFill>
                      <a:srgbClr val="FFFFFF"/>
                    </a:solidFill>
                  </a:tcPr>
                </a:tc>
                <a:tc>
                  <a:txBody>
                    <a:bodyPr wrap="square"/>
                    <a:lstStyle/>
                    <a:p>
                      <a:r>
                        <a:rPr sz="1100" b="0">
                          <a:solidFill>
                            <a:srgbClr val="4B4B4B"/>
                          </a:solidFill>
                          <a:latin typeface="Arial"/>
                        </a:rPr>
                        <a:t>Archive with legacy inquiry</a:t>
                      </a:r>
                    </a:p>
                  </a:txBody>
                  <a:tcPr marL="64008" marR="64008" marT="27432" marB="27432" anchor="ctr">
                    <a:solidFill>
                      <a:srgbClr val="FFFFFF"/>
                    </a:solidFill>
                  </a:tcPr>
                </a:tc>
                <a:tc>
                  <a:txBody>
                    <a:bodyPr wrap="square"/>
                    <a:lstStyle/>
                    <a:p>
                      <a:r>
                        <a:rPr sz="1100" b="0">
                          <a:solidFill>
                            <a:srgbClr val="4B4B4B"/>
                          </a:solidFill>
                          <a:latin typeface="Arial"/>
                        </a:rPr>
                        <a:t>To supply</a:t>
                      </a:r>
                    </a:p>
                  </a:txBody>
                  <a:tcPr marL="64008" marR="64008" marT="27432" marB="27432" anchor="ctr">
                    <a:solidFill>
                      <a:srgbClr val="FFFFFF"/>
                    </a:solidFill>
                  </a:tcPr>
                </a:tc>
              </a:tr>
            </a:tbl>
          </a:graphicData>
        </a:graphic>
      </p:graphicFrame>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Data migration: approach and gates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sp>
        <p:nvSpPr>
          <p:cNvPr id="9" name="Pentagon 8"/>
          <p:cNvSpPr/>
          <p:nvPr/>
        </p:nvSpPr>
        <p:spPr>
          <a:xfrm>
            <a:off x="548640" y="1280160"/>
            <a:ext cx="1694644" cy="731520"/>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G1 Decide</a:t>
            </a:r>
          </a:p>
        </p:txBody>
      </p:sp>
      <p:sp>
        <p:nvSpPr>
          <p:cNvPr id="11" name="Chevron 10"/>
          <p:cNvSpPr/>
          <p:nvPr/>
        </p:nvSpPr>
        <p:spPr>
          <a:xfrm>
            <a:off x="2133556" y="1280160"/>
            <a:ext cx="1694644" cy="731520"/>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16436"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G2 Map</a:t>
            </a:r>
          </a:p>
        </p:txBody>
      </p:sp>
      <p:sp>
        <p:nvSpPr>
          <p:cNvPr id="13" name="Chevron 12"/>
          <p:cNvSpPr/>
          <p:nvPr/>
        </p:nvSpPr>
        <p:spPr>
          <a:xfrm>
            <a:off x="3718472" y="1280160"/>
            <a:ext cx="1694644" cy="731520"/>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01352"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G3 Validate</a:t>
            </a:r>
          </a:p>
        </p:txBody>
      </p:sp>
      <p:sp>
        <p:nvSpPr>
          <p:cNvPr id="15" name="Chevron 14"/>
          <p:cNvSpPr/>
          <p:nvPr/>
        </p:nvSpPr>
        <p:spPr>
          <a:xfrm>
            <a:off x="5303389" y="1280160"/>
            <a:ext cx="1694644" cy="731520"/>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269"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G4 Load</a:t>
            </a:r>
          </a:p>
        </p:txBody>
      </p:sp>
      <p:sp>
        <p:nvSpPr>
          <p:cNvPr id="17" name="Chevron 16"/>
          <p:cNvSpPr/>
          <p:nvPr/>
        </p:nvSpPr>
        <p:spPr>
          <a:xfrm>
            <a:off x="6888305" y="1280160"/>
            <a:ext cx="1694644" cy="731520"/>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71185"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G5 Reconcile</a:t>
            </a:r>
          </a:p>
        </p:txBody>
      </p:sp>
      <p:sp>
        <p:nvSpPr>
          <p:cNvPr id="19" name="Chevron 18"/>
          <p:cNvSpPr/>
          <p:nvPr/>
        </p:nvSpPr>
        <p:spPr>
          <a:xfrm>
            <a:off x="8473222" y="1280160"/>
            <a:ext cx="1694644" cy="731520"/>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56102"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G6 Accept</a:t>
            </a:r>
          </a:p>
        </p:txBody>
      </p:sp>
      <p:sp>
        <p:nvSpPr>
          <p:cNvPr id="21" name="Chevron 20"/>
          <p:cNvSpPr/>
          <p:nvPr/>
        </p:nvSpPr>
        <p:spPr>
          <a:xfrm>
            <a:off x="10058138" y="1280160"/>
            <a:ext cx="1694644" cy="731520"/>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018"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G7 Go-live</a:t>
            </a:r>
          </a:p>
        </p:txBody>
      </p:sp>
      <p:sp>
        <p:nvSpPr>
          <p:cNvPr id="23" name="TextBox 22"/>
          <p:cNvSpPr txBox="1"/>
          <p:nvPr/>
        </p:nvSpPr>
        <p:spPr>
          <a:xfrm>
            <a:off x="548640" y="2103120"/>
            <a:ext cx="11094415" cy="274320"/>
          </a:xfrm>
          <a:prstGeom prst="rect">
            <a:avLst/>
          </a:prstGeom>
          <a:noFill/>
        </p:spPr>
        <p:txBody>
          <a:bodyPr wrap="square" anchor="t" lIns="45720" rIns="45720">
            <a:spAutoFit/>
          </a:bodyPr>
          <a:lstStyle/>
          <a:p>
            <a:r>
              <a:rPr sz="1200" b="1" i="0">
                <a:solidFill>
                  <a:srgbClr val="656565"/>
                </a:solidFill>
                <a:latin typeface="Arial"/>
              </a:rPr>
              <a:t>What happens</a:t>
            </a:r>
          </a:p>
        </p:txBody>
      </p:sp>
      <p:sp>
        <p:nvSpPr>
          <p:cNvPr id="24" name="Rounded Rectangle 23"/>
          <p:cNvSpPr/>
          <p:nvPr/>
        </p:nvSpPr>
        <p:spPr>
          <a:xfrm>
            <a:off x="585216"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Class per object: migrate, carry, archive, exclude</a:t>
            </a:r>
          </a:p>
        </p:txBody>
      </p:sp>
      <p:sp>
        <p:nvSpPr>
          <p:cNvPr id="26" name="Rounded Rectangle 25"/>
          <p:cNvSpPr/>
          <p:nvPr/>
        </p:nvSpPr>
        <p:spPr>
          <a:xfrm>
            <a:off x="2170132"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06708"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Code maps and rules</a:t>
            </a:r>
          </a:p>
        </p:txBody>
      </p:sp>
      <p:sp>
        <p:nvSpPr>
          <p:cNvPr id="28" name="Rounded Rectangle 27"/>
          <p:cNvSpPr/>
          <p:nvPr/>
        </p:nvSpPr>
        <p:spPr>
          <a:xfrm>
            <a:off x="3755048"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91624"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Quality checks: 0.5% masters, 0 money</a:t>
            </a:r>
          </a:p>
        </p:txBody>
      </p:sp>
      <p:sp>
        <p:nvSpPr>
          <p:cNvPr id="30" name="Rounded Rectangle 29"/>
          <p:cNvSpPr/>
          <p:nvPr/>
        </p:nvSpPr>
        <p:spPr>
          <a:xfrm>
            <a:off x="5339965"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6541"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Load through business services; rerunnable</a:t>
            </a:r>
          </a:p>
        </p:txBody>
      </p:sp>
      <p:sp>
        <p:nvSpPr>
          <p:cNvPr id="32" name="Rounded Rectangle 31"/>
          <p:cNvSpPr/>
          <p:nvPr/>
        </p:nvSpPr>
        <p:spPr>
          <a:xfrm>
            <a:off x="6924881"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1457"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Counts, amounts, hashes, fields, GL</a:t>
            </a:r>
          </a:p>
        </p:txBody>
      </p:sp>
      <p:sp>
        <p:nvSpPr>
          <p:cNvPr id="34" name="Rounded Rectangle 33"/>
          <p:cNvSpPr/>
          <p:nvPr/>
        </p:nvSpPr>
        <p:spPr>
          <a:xfrm>
            <a:off x="8509798"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6374"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Business acceptance per object</a:t>
            </a:r>
          </a:p>
        </p:txBody>
      </p:sp>
      <p:sp>
        <p:nvSpPr>
          <p:cNvPr id="36" name="Rounded Rectangle 35"/>
          <p:cNvSpPr/>
          <p:nvPr/>
        </p:nvSpPr>
        <p:spPr>
          <a:xfrm>
            <a:off x="10094714"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31290"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Go / no-go: 12 criteria</a:t>
            </a:r>
          </a:p>
        </p:txBody>
      </p:sp>
      <p:sp>
        <p:nvSpPr>
          <p:cNvPr id="38" name="TextBox 37"/>
          <p:cNvSpPr txBox="1"/>
          <p:nvPr/>
        </p:nvSpPr>
        <p:spPr>
          <a:xfrm>
            <a:off x="548640" y="3182112"/>
            <a:ext cx="11094415" cy="274320"/>
          </a:xfrm>
          <a:prstGeom prst="rect">
            <a:avLst/>
          </a:prstGeom>
          <a:noFill/>
        </p:spPr>
        <p:txBody>
          <a:bodyPr wrap="square" anchor="t" lIns="45720" rIns="45720">
            <a:spAutoFit/>
          </a:bodyPr>
          <a:lstStyle/>
          <a:p>
            <a:r>
              <a:rPr sz="1200" b="1" i="0">
                <a:solidFill>
                  <a:srgbClr val="656565"/>
                </a:solidFill>
                <a:latin typeface="Arial"/>
              </a:rPr>
              <a:t>Who signs</a:t>
            </a:r>
          </a:p>
        </p:txBody>
      </p:sp>
      <p:sp>
        <p:nvSpPr>
          <p:cNvPr id="39" name="TextBox 38"/>
          <p:cNvSpPr txBox="1"/>
          <p:nvPr/>
        </p:nvSpPr>
        <p:spPr>
          <a:xfrm>
            <a:off x="585216"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Data owner</a:t>
            </a:r>
          </a:p>
        </p:txBody>
      </p:sp>
      <p:sp>
        <p:nvSpPr>
          <p:cNvPr id="40" name="TextBox 39"/>
          <p:cNvSpPr txBox="1"/>
          <p:nvPr/>
        </p:nvSpPr>
        <p:spPr>
          <a:xfrm>
            <a:off x="2170132"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Data owner, steward</a:t>
            </a:r>
          </a:p>
        </p:txBody>
      </p:sp>
      <p:sp>
        <p:nvSpPr>
          <p:cNvPr id="41" name="TextBox 40"/>
          <p:cNvSpPr txBox="1"/>
          <p:nvPr/>
        </p:nvSpPr>
        <p:spPr>
          <a:xfrm>
            <a:off x="3755048"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Migration lead</a:t>
            </a:r>
          </a:p>
        </p:txBody>
      </p:sp>
      <p:sp>
        <p:nvSpPr>
          <p:cNvPr id="42" name="TextBox 41"/>
          <p:cNvSpPr txBox="1"/>
          <p:nvPr/>
        </p:nvSpPr>
        <p:spPr>
          <a:xfrm>
            <a:off x="5339965"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Migration lead</a:t>
            </a:r>
          </a:p>
        </p:txBody>
      </p:sp>
      <p:sp>
        <p:nvSpPr>
          <p:cNvPr id="43" name="TextBox 42"/>
          <p:cNvSpPr txBox="1"/>
          <p:nvPr/>
        </p:nvSpPr>
        <p:spPr>
          <a:xfrm>
            <a:off x="6924881"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Comptrollership</a:t>
            </a:r>
          </a:p>
        </p:txBody>
      </p:sp>
      <p:sp>
        <p:nvSpPr>
          <p:cNvPr id="44" name="TextBox 43"/>
          <p:cNvSpPr txBox="1"/>
          <p:nvPr/>
        </p:nvSpPr>
        <p:spPr>
          <a:xfrm>
            <a:off x="8509798"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Department head</a:t>
            </a:r>
          </a:p>
        </p:txBody>
      </p:sp>
      <p:sp>
        <p:nvSpPr>
          <p:cNvPr id="45" name="TextBox 44"/>
          <p:cNvSpPr txBox="1"/>
          <p:nvPr/>
        </p:nvSpPr>
        <p:spPr>
          <a:xfrm>
            <a:off x="10094714"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Go / no-go board</a:t>
            </a:r>
          </a:p>
        </p:txBody>
      </p:sp>
      <p:sp>
        <p:nvSpPr>
          <p:cNvPr id="46" name="Rounded Rectangle 45"/>
          <p:cNvSpPr/>
          <p:nvPr/>
        </p:nvSpPr>
        <p:spPr>
          <a:xfrm>
            <a:off x="548640" y="3959352"/>
            <a:ext cx="3588410" cy="22402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3959352"/>
            <a:ext cx="3588410" cy="38404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3959352"/>
            <a:ext cx="3442106" cy="38404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Reconciliation levels</a:t>
            </a:r>
          </a:p>
        </p:txBody>
      </p:sp>
      <p:sp>
        <p:nvSpPr>
          <p:cNvPr id="49" name="TextBox 48"/>
          <p:cNvSpPr txBox="1"/>
          <p:nvPr/>
        </p:nvSpPr>
        <p:spPr>
          <a:xfrm>
            <a:off x="621792" y="4416552"/>
            <a:ext cx="3442106" cy="174650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L1 counts; L2 amounts, tolerance 0.00</a:t>
            </a:r>
          </a:p>
          <a:p>
            <a:pPr>
              <a:spcAft>
                <a:spcPts val="300"/>
              </a:spcAft>
            </a:pPr>
            <a:r>
              <a:rPr sz="1200" b="0">
                <a:solidFill>
                  <a:srgbClr val="004EA8"/>
                </a:solidFill>
                <a:latin typeface="Arial"/>
              </a:rPr>
              <a:t>•  </a:t>
            </a:r>
            <a:r>
              <a:rPr sz="1200" b="0">
                <a:solidFill>
                  <a:srgbClr val="4B4B4B"/>
                </a:solidFill>
                <a:latin typeface="Arial"/>
              </a:rPr>
              <a:t>L3 hash totals; L4 field by field</a:t>
            </a:r>
          </a:p>
          <a:p>
            <a:pPr>
              <a:spcAft>
                <a:spcPts val="300"/>
              </a:spcAft>
            </a:pPr>
            <a:r>
              <a:rPr sz="1200" b="0">
                <a:solidFill>
                  <a:srgbClr val="004EA8"/>
                </a:solidFill>
                <a:latin typeface="Arial"/>
              </a:rPr>
              <a:t>•  </a:t>
            </a:r>
            <a:r>
              <a:rPr sz="1200" b="0">
                <a:solidFill>
                  <a:srgbClr val="4B4B4B"/>
                </a:solidFill>
                <a:latin typeface="Arial"/>
              </a:rPr>
              <a:t>L5 GL: clearing 0.00 per branch and currency</a:t>
            </a:r>
          </a:p>
        </p:txBody>
      </p:sp>
      <p:sp>
        <p:nvSpPr>
          <p:cNvPr id="50" name="Rounded Rectangle 49"/>
          <p:cNvSpPr/>
          <p:nvPr/>
        </p:nvSpPr>
        <p:spPr>
          <a:xfrm>
            <a:off x="4301642" y="3959352"/>
            <a:ext cx="3588410" cy="22402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301642" y="3959352"/>
            <a:ext cx="3588410" cy="38404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74794" y="3959352"/>
            <a:ext cx="3442106" cy="38404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Rehearsals</a:t>
            </a:r>
          </a:p>
        </p:txBody>
      </p:sp>
      <p:sp>
        <p:nvSpPr>
          <p:cNvPr id="53" name="TextBox 52"/>
          <p:cNvSpPr txBox="1"/>
          <p:nvPr/>
        </p:nvSpPr>
        <p:spPr>
          <a:xfrm>
            <a:off x="4374794" y="4416552"/>
            <a:ext cx="3442106" cy="174650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Mock 1-4 in SIT and UAT, Apr to Oct 2027</a:t>
            </a:r>
          </a:p>
          <a:p>
            <a:pPr>
              <a:spcAft>
                <a:spcPts val="300"/>
              </a:spcAft>
            </a:pPr>
            <a:r>
              <a:rPr sz="1200" b="0">
                <a:solidFill>
                  <a:srgbClr val="004EA8"/>
                </a:solidFill>
                <a:latin typeface="Arial"/>
              </a:rPr>
              <a:t>•  </a:t>
            </a:r>
            <a:r>
              <a:rPr sz="1200" b="0">
                <a:solidFill>
                  <a:srgbClr val="4B4B4B"/>
                </a:solidFill>
                <a:latin typeface="Arial"/>
              </a:rPr>
              <a:t>Dress rehearsal Nov 2027 with 20% time margin</a:t>
            </a:r>
          </a:p>
          <a:p>
            <a:pPr>
              <a:spcAft>
                <a:spcPts val="300"/>
              </a:spcAft>
            </a:pPr>
            <a:r>
              <a:rPr sz="1200" b="0">
                <a:solidFill>
                  <a:srgbClr val="004EA8"/>
                </a:solidFill>
                <a:latin typeface="Arial"/>
              </a:rPr>
              <a:t>•  </a:t>
            </a:r>
            <a:r>
              <a:rPr sz="1200" b="0">
                <a:solidFill>
                  <a:srgbClr val="4B4B4B"/>
                </a:solidFill>
                <a:latin typeface="Arial"/>
              </a:rPr>
              <a:t>Reference data and clients load first</a:t>
            </a:r>
          </a:p>
        </p:txBody>
      </p:sp>
      <p:sp>
        <p:nvSpPr>
          <p:cNvPr id="54" name="Rounded Rectangle 53"/>
          <p:cNvSpPr/>
          <p:nvPr/>
        </p:nvSpPr>
        <p:spPr>
          <a:xfrm>
            <a:off x="8054644" y="3959352"/>
            <a:ext cx="3588410" cy="22402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054644" y="3959352"/>
            <a:ext cx="3588410" cy="38404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27796" y="3959352"/>
            <a:ext cx="3442106" cy="38404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Cut-over weekend</a:t>
            </a:r>
          </a:p>
        </p:txBody>
      </p:sp>
      <p:sp>
        <p:nvSpPr>
          <p:cNvPr id="57" name="TextBox 56"/>
          <p:cNvSpPr txBox="1"/>
          <p:nvPr/>
        </p:nvSpPr>
        <p:spPr>
          <a:xfrm>
            <a:off x="8127796" y="4416552"/>
            <a:ext cx="3442106" cy="174650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Freeze Fri 31-Dec-2027 22:00; load Sat</a:t>
            </a:r>
          </a:p>
          <a:p>
            <a:pPr>
              <a:spcAft>
                <a:spcPts val="300"/>
              </a:spcAft>
            </a:pPr>
            <a:r>
              <a:rPr sz="1200" b="0">
                <a:solidFill>
                  <a:srgbClr val="004EA8"/>
                </a:solidFill>
                <a:latin typeface="Arial"/>
              </a:rPr>
              <a:t>•  </a:t>
            </a:r>
            <a:r>
              <a:rPr sz="1200" b="0">
                <a:solidFill>
                  <a:srgbClr val="4B4B4B"/>
                </a:solidFill>
                <a:latin typeface="Arial"/>
              </a:rPr>
              <a:t>Go / no-go Sun 18:00; go-live Mon 3-Jan-2028</a:t>
            </a:r>
          </a:p>
          <a:p>
            <a:pPr>
              <a:spcAft>
                <a:spcPts val="300"/>
              </a:spcAft>
            </a:pPr>
            <a:r>
              <a:rPr sz="1200" b="0">
                <a:solidFill>
                  <a:srgbClr val="004EA8"/>
                </a:solidFill>
                <a:latin typeface="Arial"/>
              </a:rPr>
              <a:t>•  </a:t>
            </a:r>
            <a:r>
              <a:rPr sz="1200" b="0">
                <a:solidFill>
                  <a:srgbClr val="4B4B4B"/>
                </a:solidFill>
                <a:latin typeface="Arial"/>
              </a:rPr>
              <a:t>Hypercare 30 days; daily sub-ledger to GL check</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Data migration: challenges we see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sp>
        <p:nvSpPr>
          <p:cNvPr id="9" name="Rounded Rectangle 8"/>
          <p:cNvSpPr/>
          <p:nvPr/>
        </p:nvSpPr>
        <p:spPr>
          <a:xfrm>
            <a:off x="548640"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Duplicate clients</a:t>
            </a:r>
          </a:p>
        </p:txBody>
      </p:sp>
      <p:sp>
        <p:nvSpPr>
          <p:cNvPr id="12" name="Rounded Rectangle 11"/>
          <p:cNvSpPr/>
          <p:nvPr/>
        </p:nvSpPr>
        <p:spPr>
          <a:xfrm>
            <a:off x="640080" y="1810512"/>
            <a:ext cx="155448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621792" y="2139696"/>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Same client in Broker, QPS, EBIX, ICS with different numbers</a:t>
            </a:r>
          </a:p>
          <a:p>
            <a:pPr>
              <a:spcAft>
                <a:spcPts val="300"/>
              </a:spcAft>
            </a:pPr>
            <a:r>
              <a:rPr sz="1100" b="0">
                <a:solidFill>
                  <a:srgbClr val="004EA8"/>
                </a:solidFill>
                <a:latin typeface="Arial"/>
              </a:rPr>
              <a:t>•  </a:t>
            </a:r>
            <a:r>
              <a:rPr sz="1100" b="0">
                <a:solidFill>
                  <a:srgbClr val="4B4B4B"/>
                </a:solidFill>
                <a:latin typeface="Arial"/>
              </a:rPr>
              <a:t>Scored matching; steward queue for 60-89</a:t>
            </a:r>
          </a:p>
          <a:p>
            <a:pPr>
              <a:spcAft>
                <a:spcPts val="300"/>
              </a:spcAft>
            </a:pPr>
            <a:r>
              <a:rPr sz="1100" b="0">
                <a:solidFill>
                  <a:srgbClr val="004EA8"/>
                </a:solidFill>
                <a:latin typeface="Arial"/>
              </a:rPr>
              <a:t>•  </a:t>
            </a:r>
            <a:r>
              <a:rPr sz="1100" b="0">
                <a:solidFill>
                  <a:srgbClr val="4B4B4B"/>
                </a:solidFill>
                <a:latin typeface="Arial"/>
              </a:rPr>
              <a:t>Bank CIF as a key: BDOI to confirm (DMQ04)</a:t>
            </a:r>
          </a:p>
        </p:txBody>
      </p:sp>
      <p:sp>
        <p:nvSpPr>
          <p:cNvPr id="14" name="Rounded Rectangle 13"/>
          <p:cNvSpPr/>
          <p:nvPr/>
        </p:nvSpPr>
        <p:spPr>
          <a:xfrm>
            <a:off x="4301642"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Several references per invoice</a:t>
            </a:r>
          </a:p>
        </p:txBody>
      </p:sp>
      <p:sp>
        <p:nvSpPr>
          <p:cNvPr id="17" name="Rounded Rectangle 16"/>
          <p:cNvSpPr/>
          <p:nvPr/>
        </p:nvSpPr>
        <p:spPr>
          <a:xfrm>
            <a:off x="4393082" y="1810512"/>
            <a:ext cx="155448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18" name="TextBox 17"/>
          <p:cNvSpPr txBox="1"/>
          <p:nvPr/>
        </p:nvSpPr>
        <p:spPr>
          <a:xfrm>
            <a:off x="4374794" y="2139696"/>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ISYS, QPS, EBIX and payment references (OV-03)</a:t>
            </a:r>
          </a:p>
          <a:p>
            <a:pPr>
              <a:spcAft>
                <a:spcPts val="300"/>
              </a:spcAft>
            </a:pPr>
            <a:r>
              <a:rPr sz="1100" b="0">
                <a:solidFill>
                  <a:srgbClr val="004EA8"/>
                </a:solidFill>
                <a:latin typeface="Arial"/>
              </a:rPr>
              <a:t>•  </a:t>
            </a:r>
            <a:r>
              <a:rPr sz="1100" b="0">
                <a:solidFill>
                  <a:srgbClr val="4B4B4B"/>
                </a:solidFill>
                <a:latin typeface="Arial"/>
              </a:rPr>
              <a:t>Uniqueness of EBIX vs QPS numbers unknown (DMQ11)</a:t>
            </a:r>
          </a:p>
          <a:p>
            <a:pPr>
              <a:spcAft>
                <a:spcPts val="300"/>
              </a:spcAft>
            </a:pPr>
            <a:r>
              <a:rPr sz="1100" b="0">
                <a:solidFill>
                  <a:srgbClr val="004EA8"/>
                </a:solidFill>
                <a:latin typeface="Arial"/>
              </a:rPr>
              <a:t>•  </a:t>
            </a:r>
            <a:r>
              <a:rPr sz="1100" b="0">
                <a:solidFill>
                  <a:srgbClr val="4B4B4B"/>
                </a:solidFill>
                <a:latin typeface="Arial"/>
              </a:rPr>
              <a:t>Mapping per reference needed (CQ22)</a:t>
            </a:r>
          </a:p>
        </p:txBody>
      </p:sp>
      <p:sp>
        <p:nvSpPr>
          <p:cNvPr id="19" name="Rounded Rectangle 18"/>
          <p:cNvSpPr/>
          <p:nvPr/>
        </p:nvSpPr>
        <p:spPr>
          <a:xfrm>
            <a:off x="8054644"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Balances by component</a:t>
            </a:r>
          </a:p>
        </p:txBody>
      </p:sp>
      <p:sp>
        <p:nvSpPr>
          <p:cNvPr id="22" name="Rounded Rectangle 21"/>
          <p:cNvSpPr/>
          <p:nvPr/>
        </p:nvSpPr>
        <p:spPr>
          <a:xfrm>
            <a:off x="8146084" y="1810512"/>
            <a:ext cx="155448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3" name="TextBox 22"/>
          <p:cNvSpPr txBox="1"/>
          <p:nvPr/>
        </p:nvSpPr>
        <p:spPr>
          <a:xfrm>
            <a:off x="8127796" y="2139696"/>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Legacy may not give open balances per component and insurer share (DMQ12)</a:t>
            </a:r>
          </a:p>
          <a:p>
            <a:pPr>
              <a:spcAft>
                <a:spcPts val="300"/>
              </a:spcAft>
            </a:pPr>
            <a:r>
              <a:rPr sz="1100" b="0">
                <a:solidFill>
                  <a:srgbClr val="004EA8"/>
                </a:solidFill>
                <a:latin typeface="Arial"/>
              </a:rPr>
              <a:t>•  </a:t>
            </a:r>
            <a:r>
              <a:rPr sz="1100" b="0">
                <a:solidFill>
                  <a:srgbClr val="4B4B4B"/>
                </a:solidFill>
                <a:latin typeface="Arial"/>
              </a:rPr>
              <a:t>Threshold accounts and DP tags distort balances (CA-02, CA-03)</a:t>
            </a:r>
          </a:p>
          <a:p>
            <a:pPr>
              <a:spcAft>
                <a:spcPts val="300"/>
              </a:spcAft>
            </a:pPr>
            <a:r>
              <a:rPr sz="1100" b="0">
                <a:solidFill>
                  <a:srgbClr val="004EA8"/>
                </a:solidFill>
                <a:latin typeface="Arial"/>
              </a:rPr>
              <a:t>•  </a:t>
            </a:r>
            <a:r>
              <a:rPr sz="1100" b="0">
                <a:solidFill>
                  <a:srgbClr val="4B4B4B"/>
                </a:solidFill>
                <a:latin typeface="Arial"/>
              </a:rPr>
              <a:t>Paid vs remitted split</a:t>
            </a:r>
          </a:p>
        </p:txBody>
      </p:sp>
      <p:sp>
        <p:nvSpPr>
          <p:cNvPr id="24" name="Rounded Rectangle 23"/>
          <p:cNvSpPr/>
          <p:nvPr/>
        </p:nvSpPr>
        <p:spPr>
          <a:xfrm>
            <a:off x="548640"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Data outside systems</a:t>
            </a:r>
          </a:p>
        </p:txBody>
      </p:sp>
      <p:sp>
        <p:nvSpPr>
          <p:cNvPr id="27" name="Rounded Rectangle 26"/>
          <p:cNvSpPr/>
          <p:nvPr/>
        </p:nvSpPr>
        <p:spPr>
          <a:xfrm>
            <a:off x="640080" y="4352544"/>
            <a:ext cx="155448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28" name="TextBox 27"/>
          <p:cNvSpPr txBox="1"/>
          <p:nvPr/>
        </p:nvSpPr>
        <p:spPr>
          <a:xfrm>
            <a:off x="621792" y="4681728"/>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DP lists, commission trackers, RI sheet, NB and ManCom masterlists in Excel</a:t>
            </a:r>
          </a:p>
          <a:p>
            <a:pPr>
              <a:spcAft>
                <a:spcPts val="300"/>
              </a:spcAft>
            </a:pPr>
            <a:r>
              <a:rPr sz="1100" b="0">
                <a:solidFill>
                  <a:srgbClr val="004EA8"/>
                </a:solidFill>
                <a:latin typeface="Arial"/>
              </a:rPr>
              <a:t>•  </a:t>
            </a:r>
            <a:r>
              <a:rPr sz="1100" b="0">
                <a:solidFill>
                  <a:srgbClr val="4B4B4B"/>
                </a:solidFill>
                <a:latin typeface="Arial"/>
              </a:rPr>
              <a:t>CLS cases; SharePoint lists</a:t>
            </a:r>
          </a:p>
          <a:p>
            <a:pPr>
              <a:spcAft>
                <a:spcPts val="300"/>
              </a:spcAft>
            </a:pPr>
            <a:r>
              <a:rPr sz="1100" b="0">
                <a:solidFill>
                  <a:srgbClr val="004EA8"/>
                </a:solidFill>
                <a:latin typeface="Arial"/>
              </a:rPr>
              <a:t>•  </a:t>
            </a:r>
            <a:r>
              <a:rPr sz="1100" b="0">
                <a:solidFill>
                  <a:srgbClr val="4B4B4B"/>
                </a:solidFill>
                <a:latin typeface="Arial"/>
              </a:rPr>
              <a:t>Not in the object list (DMQ30)</a:t>
            </a:r>
          </a:p>
        </p:txBody>
      </p:sp>
      <p:sp>
        <p:nvSpPr>
          <p:cNvPr id="29" name="Rounded Rectangle 28"/>
          <p:cNvSpPr/>
          <p:nvPr/>
        </p:nvSpPr>
        <p:spPr>
          <a:xfrm>
            <a:off x="4301642"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January 2028 renewals</a:t>
            </a:r>
          </a:p>
        </p:txBody>
      </p:sp>
      <p:sp>
        <p:nvSpPr>
          <p:cNvPr id="32" name="Rounded Rectangle 31"/>
          <p:cNvSpPr/>
          <p:nvPr/>
        </p:nvSpPr>
        <p:spPr>
          <a:xfrm>
            <a:off x="4393082" y="4352544"/>
            <a:ext cx="155448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3" name="TextBox 32"/>
          <p:cNvSpPr txBox="1"/>
          <p:nvPr/>
        </p:nvSpPr>
        <p:spPr>
          <a:xfrm>
            <a:off x="4374794" y="4681728"/>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RMEL normally at -140 days; January expiries get days to 4 weeks</a:t>
            </a:r>
          </a:p>
          <a:p>
            <a:pPr>
              <a:spcAft>
                <a:spcPts val="300"/>
              </a:spcAft>
            </a:pPr>
            <a:r>
              <a:rPr sz="1100" b="0">
                <a:solidFill>
                  <a:srgbClr val="004EA8"/>
                </a:solidFill>
                <a:latin typeface="Arial"/>
              </a:rPr>
              <a:t>•  </a:t>
            </a:r>
            <a:r>
              <a:rPr sz="1100" b="0">
                <a:solidFill>
                  <a:srgbClr val="4B4B4B"/>
                </a:solidFill>
                <a:latin typeface="Arial"/>
              </a:rPr>
              <a:t>Every header to 31-May-2028 must load</a:t>
            </a:r>
          </a:p>
          <a:p>
            <a:pPr>
              <a:spcAft>
                <a:spcPts val="300"/>
              </a:spcAft>
            </a:pPr>
            <a:r>
              <a:rPr sz="1100" b="0">
                <a:solidFill>
                  <a:srgbClr val="004EA8"/>
                </a:solidFill>
                <a:latin typeface="Arial"/>
              </a:rPr>
              <a:t>•  </a:t>
            </a:r>
            <a:r>
              <a:rPr sz="1100" b="0">
                <a:solidFill>
                  <a:srgbClr val="4B4B4B"/>
                </a:solidFill>
                <a:latin typeface="Arial"/>
              </a:rPr>
              <a:t>Package remapping at sanitation (DMQ36)</a:t>
            </a:r>
          </a:p>
        </p:txBody>
      </p:sp>
      <p:sp>
        <p:nvSpPr>
          <p:cNvPr id="34" name="Rounded Rectangle 33"/>
          <p:cNvSpPr/>
          <p:nvPr/>
        </p:nvSpPr>
        <p:spPr>
          <a:xfrm>
            <a:off x="8054644"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People and time</a:t>
            </a:r>
          </a:p>
        </p:txBody>
      </p:sp>
      <p:sp>
        <p:nvSpPr>
          <p:cNvPr id="37" name="Rounded Rectangle 36"/>
          <p:cNvSpPr/>
          <p:nvPr/>
        </p:nvSpPr>
        <p:spPr>
          <a:xfrm>
            <a:off x="8146084" y="4352544"/>
            <a:ext cx="155448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38" name="TextBox 37"/>
          <p:cNvSpPr txBox="1"/>
          <p:nvPr/>
        </p:nvSpPr>
        <p:spPr>
          <a:xfrm>
            <a:off x="8127796" y="4681728"/>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Data owners and stewards not named</a:t>
            </a:r>
          </a:p>
          <a:p>
            <a:pPr>
              <a:spcAft>
                <a:spcPts val="300"/>
              </a:spcAft>
            </a:pPr>
            <a:r>
              <a:rPr sz="1100" b="0">
                <a:solidFill>
                  <a:srgbClr val="004EA8"/>
                </a:solidFill>
                <a:latin typeface="Arial"/>
              </a:rPr>
              <a:t>•  </a:t>
            </a:r>
            <a:r>
              <a:rPr sz="1100" b="0">
                <a:solidFill>
                  <a:srgbClr val="4B4B4B"/>
                </a:solidFill>
                <a:latin typeface="Arial"/>
              </a:rPr>
              <a:t>M1 decisions due 16-Oct-2026</a:t>
            </a:r>
          </a:p>
          <a:p>
            <a:pPr>
              <a:spcAft>
                <a:spcPts val="300"/>
              </a:spcAft>
            </a:pPr>
            <a:r>
              <a:rPr sz="1100" b="0">
                <a:solidFill>
                  <a:srgbClr val="004EA8"/>
                </a:solidFill>
                <a:latin typeface="Arial"/>
              </a:rPr>
              <a:t>•  </a:t>
            </a:r>
            <a:r>
              <a:rPr sz="1100" b="0">
                <a:solidFill>
                  <a:srgbClr val="4B4B4B"/>
                </a:solidFill>
                <a:latin typeface="Arial"/>
              </a:rPr>
              <a:t>Cut-over over the year-end holidays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Data migration: gaps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graphicFrame>
        <p:nvGraphicFramePr>
          <p:cNvPr id="9" name="Table 8"/>
          <p:cNvGraphicFramePr>
            <a:graphicFrameLocks noGrp="1"/>
          </p:cNvGraphicFramePr>
          <p:nvPr/>
        </p:nvGraphicFramePr>
        <p:xfrm>
          <a:off x="548640" y="1280160"/>
          <a:ext cx="11094412" cy="4919470"/>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65053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BRD-13 status</a:t>
                      </a:r>
                    </a:p>
                  </a:txBody>
                  <a:tcPr marL="64008" marR="64008" marT="27432" marB="27432" anchor="ctr">
                    <a:solidFill>
                      <a:srgbClr val="FFFFFF"/>
                    </a:solidFill>
                  </a:tcPr>
                </a:tc>
                <a:tc>
                  <a:txBody>
                    <a:bodyPr wrap="square"/>
                    <a:lstStyle/>
                    <a:p>
                      <a:r>
                        <a:rPr sz="1100" b="0">
                          <a:solidFill>
                            <a:srgbClr val="4B4B4B"/>
                          </a:solidFill>
                          <a:latin typeface="Arial"/>
                        </a:rPr>
                        <a:t>Draft v0.01, unsigned, template text.</a:t>
                      </a:r>
                    </a:p>
                  </a:txBody>
                  <a:tcPr marL="64008" marR="64008" marT="27432" marB="27432" anchor="ctr">
                    <a:solidFill>
                      <a:srgbClr val="FFFFFF"/>
                    </a:solidFill>
                  </a:tcPr>
                </a:tc>
                <a:tc>
                  <a:txBody>
                    <a:bodyPr wrap="square"/>
                    <a:lstStyle/>
                    <a:p>
                      <a:r>
                        <a:rPr sz="1100" b="0">
                          <a:solidFill>
                            <a:srgbClr val="4B4B4B"/>
                          </a:solidFill>
                          <a:latin typeface="Arial"/>
                        </a:rPr>
                        <a:t>Draft only.</a:t>
                      </a:r>
                    </a:p>
                  </a:txBody>
                  <a:tcPr marL="64008" marR="64008" marT="27432" marB="27432" anchor="ctr">
                    <a:solidFill>
                      <a:srgbClr val="FFFFFF"/>
                    </a:solidFill>
                  </a:tcPr>
                </a:tc>
                <a:tc>
                  <a:txBody>
                    <a:bodyPr wrap="square"/>
                    <a:lstStyle/>
                    <a:p>
                      <a:r>
                        <a:rPr sz="1100" b="0">
                          <a:solidFill>
                            <a:srgbClr val="4B4B4B"/>
                          </a:solidFill>
                          <a:latin typeface="Arial"/>
                        </a:rPr>
                        <a:t>Sign BRD-13 with the migration object list.</a:t>
                      </a:r>
                    </a:p>
                  </a:txBody>
                  <a:tcPr marL="64008" marR="64008" marT="27432" marB="27432" anchor="ctr">
                    <a:solidFill>
                      <a:srgbClr val="FFFFFF"/>
                    </a:solidFill>
                  </a:tcPr>
                </a:tc>
                <a:tc>
                  <a:txBody>
                    <a:bodyPr wrap="square"/>
                    <a:lstStyle/>
                    <a:p>
                      <a:r>
                        <a:rPr sz="1100" b="0">
                          <a:solidFill>
                            <a:srgbClr val="4B4B4B"/>
                          </a:solidFill>
                          <a:latin typeface="Arial"/>
                        </a:rPr>
                        <a:t>DCR-189, 190</a:t>
                      </a:r>
                    </a:p>
                  </a:txBody>
                  <a:tcPr marL="64008" marR="64008" marT="27432" marB="27432" anchor="ctr">
                    <a:solidFill>
                      <a:srgbClr val="FFFFFF"/>
                    </a:solidFill>
                  </a:tcPr>
                </a:tc>
              </a:tr>
              <a:tr h="65053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Go-live scope per BRD</a:t>
                      </a:r>
                    </a:p>
                  </a:txBody>
                  <a:tcPr marL="64008" marR="64008" marT="27432" marB="27432" anchor="ctr">
                    <a:solidFill>
                      <a:srgbClr val="E5F5FF"/>
                    </a:solidFill>
                  </a:tcPr>
                </a:tc>
                <a:tc>
                  <a:txBody>
                    <a:bodyPr wrap="square"/>
                    <a:lstStyle/>
                    <a:p>
                      <a:r>
                        <a:rPr sz="1100" b="0">
                          <a:solidFill>
                            <a:srgbClr val="4B4B4B"/>
                          </a:solidFill>
                          <a:latin typeface="Arial"/>
                        </a:rPr>
                        <a:t>Each department keeps open items differently.</a:t>
                      </a:r>
                    </a:p>
                  </a:txBody>
                  <a:tcPr marL="64008" marR="64008" marT="27432" marB="27432" anchor="ctr">
                    <a:solidFill>
                      <a:srgbClr val="E5F5FF"/>
                    </a:solidFill>
                  </a:tcPr>
                </a:tc>
                <a:tc>
                  <a:txBody>
                    <a:bodyPr wrap="square"/>
                    <a:lstStyle/>
                    <a:p>
                      <a:r>
                        <a:rPr sz="1100" b="0">
                          <a:solidFill>
                            <a:srgbClr val="4B4B4B"/>
                          </a:solidFill>
                          <a:latin typeface="Arial"/>
                        </a:rPr>
                        <a:t>Scope, cut-off and format uneven across BRDs.</a:t>
                      </a:r>
                    </a:p>
                  </a:txBody>
                  <a:tcPr marL="64008" marR="64008" marT="27432" marB="27432" anchor="ctr">
                    <a:solidFill>
                      <a:srgbClr val="E5F5FF"/>
                    </a:solidFill>
                  </a:tcPr>
                </a:tc>
                <a:tc>
                  <a:txBody>
                    <a:bodyPr wrap="square"/>
                    <a:lstStyle/>
                    <a:p>
                      <a:r>
                        <a:rPr sz="1100" b="0">
                          <a:solidFill>
                            <a:srgbClr val="4B4B4B"/>
                          </a:solidFill>
                          <a:latin typeface="Arial"/>
                        </a:rPr>
                        <a:t>One object register approved by every data owner.</a:t>
                      </a:r>
                    </a:p>
                  </a:txBody>
                  <a:tcPr marL="64008" marR="64008" marT="27432" marB="27432" anchor="ctr">
                    <a:solidFill>
                      <a:srgbClr val="E5F5FF"/>
                    </a:solidFill>
                  </a:tcPr>
                </a:tc>
                <a:tc>
                  <a:txBody>
                    <a:bodyPr wrap="square"/>
                    <a:lstStyle/>
                    <a:p>
                      <a:r>
                        <a:rPr sz="1100" b="0">
                          <a:solidFill>
                            <a:srgbClr val="4B4B4B"/>
                          </a:solidFill>
                          <a:latin typeface="Arial"/>
                        </a:rPr>
                        <a:t>DCR-157</a:t>
                      </a:r>
                    </a:p>
                  </a:txBody>
                  <a:tcPr marL="64008" marR="64008" marT="27432" marB="27432" anchor="ctr">
                    <a:solidFill>
                      <a:srgbClr val="E5F5FF"/>
                    </a:solidFill>
                  </a:tcPr>
                </a:tc>
              </a:tr>
              <a:tr h="650530">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Objects outside BRD-13</a:t>
                      </a:r>
                    </a:p>
                  </a:txBody>
                  <a:tcPr marL="64008" marR="64008" marT="27432" marB="27432" anchor="ctr">
                    <a:solidFill>
                      <a:srgbClr val="FFFFFF"/>
                    </a:solidFill>
                  </a:tcPr>
                </a:tc>
                <a:tc>
                  <a:txBody>
                    <a:bodyPr wrap="square"/>
                    <a:lstStyle/>
                    <a:p>
                      <a:r>
                        <a:rPr sz="1100" b="0">
                          <a:solidFill>
                            <a:srgbClr val="4B4B4B"/>
                          </a:solidFill>
                          <a:latin typeface="Arial"/>
                        </a:rPr>
                        <a:t>Claims, EB, SP masterlists, payees, PDCs, DP and RI trackers.</a:t>
                      </a:r>
                    </a:p>
                  </a:txBody>
                  <a:tcPr marL="64008" marR="64008" marT="27432" marB="27432" anchor="ctr">
                    <a:solidFill>
                      <a:srgbClr val="FFFFFF"/>
                    </a:solidFill>
                  </a:tcPr>
                </a:tc>
                <a:tc>
                  <a:txBody>
                    <a:bodyPr wrap="square"/>
                    <a:lstStyle/>
                    <a:p>
                      <a:r>
                        <a:rPr sz="1100" b="0">
                          <a:solidFill>
                            <a:srgbClr val="4B4B4B"/>
                          </a:solidFill>
                          <a:latin typeface="Arial"/>
                        </a:rPr>
                        <a:t>Not listed.</a:t>
                      </a:r>
                    </a:p>
                  </a:txBody>
                  <a:tcPr marL="64008" marR="64008" marT="27432" marB="27432" anchor="ctr">
                    <a:solidFill>
                      <a:srgbClr val="FFFFFF"/>
                    </a:solidFill>
                  </a:tcPr>
                </a:tc>
                <a:tc>
                  <a:txBody>
                    <a:bodyPr wrap="square"/>
                    <a:lstStyle/>
                    <a:p>
                      <a:r>
                        <a:rPr sz="1100" b="0">
                          <a:solidFill>
                            <a:srgbClr val="4B4B4B"/>
                          </a:solidFill>
                          <a:latin typeface="Arial"/>
                        </a:rPr>
                        <a:t>Add them with class and owner.</a:t>
                      </a:r>
                    </a:p>
                  </a:txBody>
                  <a:tcPr marL="64008" marR="64008" marT="27432" marB="27432" anchor="ctr">
                    <a:solidFill>
                      <a:srgbClr val="FFFFFF"/>
                    </a:solidFill>
                  </a:tcPr>
                </a:tc>
                <a:tc>
                  <a:txBody>
                    <a:bodyPr wrap="square"/>
                    <a:lstStyle/>
                    <a:p>
                      <a:r>
                        <a:rPr sz="1100" b="0">
                          <a:solidFill>
                            <a:srgbClr val="4B4B4B"/>
                          </a:solidFill>
                          <a:latin typeface="Arial"/>
                        </a:rPr>
                        <a:t>DMQ30; DCR-196</a:t>
                      </a:r>
                    </a:p>
                  </a:txBody>
                  <a:tcPr marL="64008" marR="64008" marT="27432" marB="27432" anchor="ctr">
                    <a:solidFill>
                      <a:srgbClr val="FFFFFF"/>
                    </a:solidFill>
                  </a:tcPr>
                </a:tc>
              </a:tr>
              <a:tr h="65053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Collections source</a:t>
                      </a:r>
                    </a:p>
                  </a:txBody>
                  <a:tcPr marL="64008" marR="64008" marT="27432" marB="27432" anchor="ctr">
                    <a:solidFill>
                      <a:srgbClr val="E5F5FF"/>
                    </a:solidFill>
                  </a:tcPr>
                </a:tc>
                <a:tc>
                  <a:txBody>
                    <a:bodyPr wrap="square"/>
                    <a:lstStyle/>
                    <a:p>
                      <a:r>
                        <a:rPr sz="1100" b="0">
                          <a:solidFill>
                            <a:srgbClr val="4B4B4B"/>
                          </a:solidFill>
                          <a:latin typeface="Arial"/>
                        </a:rPr>
                        <a:t>ICS on the floor.</a:t>
                      </a:r>
                    </a:p>
                  </a:txBody>
                  <a:tcPr marL="64008" marR="64008" marT="27432" marB="27432" anchor="ctr">
                    <a:solidFill>
                      <a:srgbClr val="E5F5FF"/>
                    </a:solidFill>
                  </a:tcPr>
                </a:tc>
                <a:tc>
                  <a:txBody>
                    <a:bodyPr wrap="square"/>
                    <a:lstStyle/>
                    <a:p>
                      <a:r>
                        <a:rPr sz="1100" b="0">
                          <a:solidFill>
                            <a:srgbClr val="4B4B4B"/>
                          </a:solidFill>
                          <a:latin typeface="Arial"/>
                        </a:rPr>
                        <a:t>CMS (Collection Management System).</a:t>
                      </a:r>
                    </a:p>
                  </a:txBody>
                  <a:tcPr marL="64008" marR="64008" marT="27432" marB="27432" anchor="ctr">
                    <a:solidFill>
                      <a:srgbClr val="E5F5FF"/>
                    </a:solidFill>
                  </a:tcPr>
                </a:tc>
                <a:tc>
                  <a:txBody>
                    <a:bodyPr wrap="square"/>
                    <a:lstStyle/>
                    <a:p>
                      <a:r>
                        <a:rPr sz="1100" b="0">
                          <a:solidFill>
                            <a:srgbClr val="4B4B4B"/>
                          </a:solidFill>
                          <a:latin typeface="Arial"/>
                        </a:rPr>
                        <a:t>Confirm ICS = CMS and its extract.</a:t>
                      </a:r>
                    </a:p>
                  </a:txBody>
                  <a:tcPr marL="64008" marR="64008" marT="27432" marB="27432" anchor="ctr">
                    <a:solidFill>
                      <a:srgbClr val="E5F5FF"/>
                    </a:solidFill>
                  </a:tcPr>
                </a:tc>
                <a:tc>
                  <a:txBody>
                    <a:bodyPr wrap="square"/>
                    <a:lstStyle/>
                    <a:p>
                      <a:r>
                        <a:rPr sz="1100" b="0">
                          <a:solidFill>
                            <a:srgbClr val="4B4B4B"/>
                          </a:solidFill>
                          <a:latin typeface="Arial"/>
                        </a:rPr>
                        <a:t>CO-02; DCR-221</a:t>
                      </a:r>
                    </a:p>
                  </a:txBody>
                  <a:tcPr marL="64008" marR="64008" marT="27432" marB="27432" anchor="ctr">
                    <a:solidFill>
                      <a:srgbClr val="E5F5FF"/>
                    </a:solidFill>
                  </a:tcPr>
                </a:tc>
              </a:tr>
              <a:tr h="65053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Volumes</a:t>
                      </a:r>
                    </a:p>
                  </a:txBody>
                  <a:tcPr marL="64008" marR="64008" marT="27432" marB="27432" anchor="ctr">
                    <a:solidFill>
                      <a:srgbClr val="FFFFFF"/>
                    </a:solidFill>
                  </a:tcPr>
                </a:tc>
                <a:tc>
                  <a:txBody>
                    <a:bodyPr wrap="square"/>
                    <a:lstStyle/>
                    <a:p>
                      <a:r>
                        <a:rPr sz="1100" b="0">
                          <a:solidFill>
                            <a:srgbClr val="4B4B4B"/>
                          </a:solidFill>
                          <a:latin typeface="Arial"/>
                        </a:rPr>
                        <a:t>Volumes heard on the floor only.</a:t>
                      </a:r>
                    </a:p>
                  </a:txBody>
                  <a:tcPr marL="64008" marR="64008" marT="27432" marB="27432" anchor="ctr">
                    <a:solidFill>
                      <a:srgbClr val="FFFFFF"/>
                    </a:solidFill>
                  </a:tcPr>
                </a:tc>
                <a:tc>
                  <a:txBody>
                    <a:bodyPr wrap="square"/>
                    <a:lstStyle/>
                    <a:p>
                      <a:r>
                        <a:rPr sz="1100" b="0">
                          <a:solidFill>
                            <a:srgbClr val="4B4B4B"/>
                          </a:solidFill>
                          <a:latin typeface="Arial"/>
                        </a:rPr>
                        <a:t>Counts to be supplied.</a:t>
                      </a:r>
                    </a:p>
                  </a:txBody>
                  <a:tcPr marL="64008" marR="64008" marT="27432" marB="27432" anchor="ctr">
                    <a:solidFill>
                      <a:srgbClr val="FFFFFF"/>
                    </a:solidFill>
                  </a:tcPr>
                </a:tc>
                <a:tc>
                  <a:txBody>
                    <a:bodyPr wrap="square"/>
                    <a:lstStyle/>
                    <a:p>
                      <a:r>
                        <a:rPr sz="1100" b="0">
                          <a:solidFill>
                            <a:srgbClr val="4B4B4B"/>
                          </a:solidFill>
                          <a:latin typeface="Arial"/>
                        </a:rPr>
                        <a:t>Supply counts per object by M3.</a:t>
                      </a:r>
                    </a:p>
                  </a:txBody>
                  <a:tcPr marL="64008" marR="64008" marT="27432" marB="27432" anchor="ctr">
                    <a:solidFill>
                      <a:srgbClr val="FFFFFF"/>
                    </a:solidFill>
                  </a:tcPr>
                </a:tc>
                <a:tc>
                  <a:txBody>
                    <a:bodyPr wrap="square"/>
                    <a:lstStyle/>
                    <a:p>
                      <a:r>
                        <a:rPr sz="1100" b="0">
                          <a:solidFill>
                            <a:srgbClr val="4B4B4B"/>
                          </a:solidFill>
                          <a:latin typeface="Arial"/>
                        </a:rPr>
                        <a:t>DMQ28</a:t>
                      </a:r>
                    </a:p>
                  </a:txBody>
                  <a:tcPr marL="64008" marR="64008" marT="27432" marB="27432" anchor="ctr">
                    <a:solidFill>
                      <a:srgbClr val="FFFFFF"/>
                    </a:solidFill>
                  </a:tcPr>
                </a:tc>
              </a:tr>
              <a:tr h="650530">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Year-end option</a:t>
                      </a:r>
                    </a:p>
                  </a:txBody>
                  <a:tcPr marL="64008" marR="64008" marT="27432" marB="27432" anchor="ctr">
                    <a:solidFill>
                      <a:srgbClr val="E5F5FF"/>
                    </a:solidFill>
                  </a:tcPr>
                </a:tc>
                <a:tc>
                  <a:txBody>
                    <a:bodyPr wrap="square"/>
                    <a:lstStyle/>
                    <a:p>
                      <a:r>
                        <a:rPr sz="1100" b="0">
                          <a:solidFill>
                            <a:srgbClr val="4B4B4B"/>
                          </a:solidFill>
                          <a:latin typeface="Arial"/>
                        </a:rPr>
                        <a:t>Cut-over at year end.</a:t>
                      </a:r>
                    </a:p>
                  </a:txBody>
                  <a:tcPr marL="64008" marR="64008" marT="27432" marB="27432" anchor="ctr">
                    <a:solidFill>
                      <a:srgbClr val="E5F5FF"/>
                    </a:solidFill>
                  </a:tcPr>
                </a:tc>
                <a:tc>
                  <a:txBody>
                    <a:bodyPr wrap="square"/>
                    <a:lstStyle/>
                    <a:p>
                      <a:r>
                        <a:rPr sz="1100" b="0">
                          <a:solidFill>
                            <a:srgbClr val="4B4B4B"/>
                          </a:solidFill>
                          <a:latin typeface="Arial"/>
                        </a:rPr>
                        <a:t>Provisional opening, true-ups to May 2028 proposed.</a:t>
                      </a:r>
                    </a:p>
                  </a:txBody>
                  <a:tcPr marL="64008" marR="64008" marT="27432" marB="27432" anchor="ctr">
                    <a:solidFill>
                      <a:srgbClr val="E5F5FF"/>
                    </a:solidFill>
                  </a:tcPr>
                </a:tc>
                <a:tc>
                  <a:txBody>
                    <a:bodyPr wrap="square"/>
                    <a:lstStyle/>
                    <a:p>
                      <a:r>
                        <a:rPr sz="1100" b="0">
                          <a:solidFill>
                            <a:srgbClr val="4B4B4B"/>
                          </a:solidFill>
                          <a:latin typeface="Arial"/>
                        </a:rPr>
                        <a:t>Comptrollership to confirm option A.</a:t>
                      </a:r>
                    </a:p>
                  </a:txBody>
                  <a:tcPr marL="64008" marR="64008" marT="27432" marB="27432" anchor="ctr">
                    <a:solidFill>
                      <a:srgbClr val="E5F5FF"/>
                    </a:solidFill>
                  </a:tcPr>
                </a:tc>
                <a:tc>
                  <a:txBody>
                    <a:bodyPr wrap="square"/>
                    <a:lstStyle/>
                    <a:p>
                      <a:r>
                        <a:rPr sz="1100" b="0">
                          <a:solidFill>
                            <a:srgbClr val="4B4B4B"/>
                          </a:solidFill>
                          <a:latin typeface="Arial"/>
                        </a:rPr>
                        <a:t>DMQ39</a:t>
                      </a:r>
                    </a:p>
                  </a:txBody>
                  <a:tcPr marL="64008" marR="64008" marT="27432" marB="27432" anchor="ctr">
                    <a:solidFill>
                      <a:srgbClr val="E5F5FF"/>
                    </a:solidFill>
                  </a:tcPr>
                </a:tc>
              </a:tr>
              <a:tr h="650530">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Data owners and stewards</a:t>
                      </a:r>
                    </a:p>
                  </a:txBody>
                  <a:tcPr marL="64008" marR="64008" marT="27432" marB="27432" anchor="ctr">
                    <a:solidFill>
                      <a:srgbClr val="FFFFFF"/>
                    </a:solidFill>
                  </a:tcPr>
                </a:tc>
                <a:tc>
                  <a:txBody>
                    <a:bodyPr wrap="square"/>
                    <a:lstStyle/>
                    <a:p>
                      <a:r>
                        <a:rPr sz="1100" b="0">
                          <a:solidFill>
                            <a:srgbClr val="4B4B4B"/>
                          </a:solidFill>
                          <a:latin typeface="Arial"/>
                        </a:rPr>
                        <a:t>Owners implied by department.</a:t>
                      </a:r>
                    </a:p>
                  </a:txBody>
                  <a:tcPr marL="64008" marR="64008" marT="27432" marB="27432" anchor="ctr">
                    <a:solidFill>
                      <a:srgbClr val="FFFFFF"/>
                    </a:solidFill>
                  </a:tcPr>
                </a:tc>
                <a:tc>
                  <a:txBody>
                    <a:bodyPr wrap="square"/>
                    <a:lstStyle/>
                    <a:p>
                      <a:r>
                        <a:rPr sz="1100" b="0">
                          <a:solidFill>
                            <a:srgbClr val="4B4B4B"/>
                          </a:solidFill>
                          <a:latin typeface="Arial"/>
                        </a:rPr>
                        <a:t>Roles described, people not named.</a:t>
                      </a:r>
                    </a:p>
                  </a:txBody>
                  <a:tcPr marL="64008" marR="64008" marT="27432" marB="27432" anchor="ctr">
                    <a:solidFill>
                      <a:srgbClr val="FFFFFF"/>
                    </a:solidFill>
                  </a:tcPr>
                </a:tc>
                <a:tc>
                  <a:txBody>
                    <a:bodyPr wrap="square"/>
                    <a:lstStyle/>
                    <a:p>
                      <a:r>
                        <a:rPr sz="1100" b="0">
                          <a:solidFill>
                            <a:srgbClr val="4B4B4B"/>
                          </a:solidFill>
                          <a:latin typeface="Arial"/>
                        </a:rPr>
                        <a:t>Name an owner and a steward per object.</a:t>
                      </a:r>
                    </a:p>
                  </a:txBody>
                  <a:tcPr marL="64008" marR="64008" marT="27432" marB="27432" anchor="ctr">
                    <a:solidFill>
                      <a:srgbClr val="FFFFFF"/>
                    </a:solidFill>
                  </a:tcPr>
                </a:tc>
                <a:tc>
                  <a:txBody>
                    <a:bodyPr wrap="square"/>
                    <a:lstStyle/>
                    <a:p>
                      <a:r>
                        <a:rPr sz="1100" b="0">
                          <a:solidFill>
                            <a:srgbClr val="4B4B4B"/>
                          </a:solidFill>
                          <a:latin typeface="Arial"/>
                        </a:rPr>
                        <a:t>DMQ01</a:t>
                      </a:r>
                    </a:p>
                  </a:txBody>
                  <a:tcPr marL="64008" marR="64008" marT="27432" marB="27432" anchor="ctr">
                    <a:solidFill>
                      <a:srgbClr val="FFFFFF"/>
                    </a:solidFill>
                  </a:tcPr>
                </a:tc>
              </a:tr>
            </a:tbl>
          </a:graphicData>
        </a:graphic>
      </p:graphicFrame>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Data migration: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Named data owners and stewards</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Accountability</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Each object has a business owner who signs the class, the maps and the acceptance, and stewards who clean it.</a:t>
            </a:r>
          </a:p>
          <a:p>
            <a:pPr>
              <a:spcAft>
                <a:spcPts val="400"/>
              </a:spcAft>
            </a:pPr>
            <a:r>
              <a:rPr sz="1200" b="1">
                <a:solidFill>
                  <a:srgbClr val="004EA8"/>
                </a:solidFill>
                <a:latin typeface="Arial"/>
              </a:rPr>
              <a:t>For BDOI: </a:t>
            </a:r>
            <a:r>
              <a:rPr sz="1200" b="0">
                <a:solidFill>
                  <a:srgbClr val="4B4B4B"/>
                </a:solidFill>
                <a:latin typeface="Arial"/>
              </a:rPr>
              <a:t>Name them in October 2026.</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Clean at source now</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fall-outs</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Duplicates, missing TINs and old unapplied items fixed in legacy long before the mocks.</a:t>
            </a:r>
          </a:p>
          <a:p>
            <a:pPr>
              <a:spcAft>
                <a:spcPts val="400"/>
              </a:spcAft>
            </a:pPr>
            <a:r>
              <a:rPr sz="1200" b="1">
                <a:solidFill>
                  <a:srgbClr val="004EA8"/>
                </a:solidFill>
                <a:latin typeface="Arial"/>
              </a:rPr>
              <a:t>For BDOI: </a:t>
            </a:r>
            <a:r>
              <a:rPr sz="1200" b="0">
                <a:solidFill>
                  <a:srgbClr val="4B4B4B"/>
                </a:solidFill>
                <a:latin typeface="Arial"/>
              </a:rPr>
              <a:t>Start a cleansing sprint per department in Q4 2026.</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Reconciled by construction</a:t>
            </a:r>
          </a:p>
        </p:txBody>
      </p:sp>
      <p:sp>
        <p:nvSpPr>
          <p:cNvPr id="24" name="Rounded Rectangle 23"/>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In the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Audit comfort</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Every load reconciles counts, amounts and GL; clearing account at zero.</a:t>
            </a:r>
          </a:p>
          <a:p>
            <a:pPr>
              <a:spcAft>
                <a:spcPts val="400"/>
              </a:spcAft>
            </a:pPr>
            <a:r>
              <a:rPr sz="1200" b="1">
                <a:solidFill>
                  <a:srgbClr val="004EA8"/>
                </a:solidFill>
                <a:latin typeface="Arial"/>
              </a:rPr>
              <a:t>For BDOI: </a:t>
            </a:r>
            <a:r>
              <a:rPr sz="1200" b="0">
                <a:solidFill>
                  <a:srgbClr val="4B4B4B"/>
                </a:solidFill>
                <a:latin typeface="Arial"/>
              </a:rPr>
              <a:t>Comptrollership signs each financial object.</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Rehearse the cut-over</a:t>
            </a:r>
          </a:p>
        </p:txBody>
      </p:sp>
      <p:sp>
        <p:nvSpPr>
          <p:cNvPr id="30" name="Rounded Rectangle 29"/>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In the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Predictable go-live</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Timed mocks and a dress rehearsal with the real run book.</a:t>
            </a:r>
          </a:p>
          <a:p>
            <a:pPr>
              <a:spcAft>
                <a:spcPts val="400"/>
              </a:spcAft>
            </a:pPr>
            <a:r>
              <a:rPr sz="1200" b="1">
                <a:solidFill>
                  <a:srgbClr val="004EA8"/>
                </a:solidFill>
                <a:latin typeface="Arial"/>
              </a:rPr>
              <a:t>For BDOI: </a:t>
            </a:r>
            <a:r>
              <a:rPr sz="1200" b="0">
                <a:solidFill>
                  <a:srgbClr val="4B4B4B"/>
                </a:solidFill>
                <a:latin typeface="Arial"/>
              </a:rPr>
              <a:t>Keep the four mocks and the dress rehearsal.</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Retire spreadsheets</a:t>
            </a:r>
          </a:p>
        </p:txBody>
      </p:sp>
      <p:sp>
        <p:nvSpPr>
          <p:cNvPr id="36" name="Rounded Rectangle 35"/>
          <p:cNvSpPr/>
          <p:nvPr/>
        </p:nvSpPr>
        <p:spPr>
          <a:xfrm>
            <a:off x="4393082"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One source of truth</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Every tracker either migrates into the system or is archived; none survives go-live.</a:t>
            </a:r>
          </a:p>
          <a:p>
            <a:pPr>
              <a:spcAft>
                <a:spcPts val="400"/>
              </a:spcAft>
            </a:pPr>
            <a:r>
              <a:rPr sz="1200" b="1">
                <a:solidFill>
                  <a:srgbClr val="004EA8"/>
                </a:solidFill>
                <a:latin typeface="Arial"/>
              </a:rPr>
              <a:t>For BDOI: </a:t>
            </a:r>
            <a:r>
              <a:rPr sz="1200" b="0">
                <a:solidFill>
                  <a:srgbClr val="4B4B4B"/>
                </a:solidFill>
                <a:latin typeface="Arial"/>
              </a:rPr>
              <a:t>Inventory the trackers per department.</a:t>
            </a:r>
          </a:p>
        </p:txBody>
      </p:sp>
      <p:sp>
        <p:nvSpPr>
          <p:cNvPr id="39" name="Rounded Rectangle 38"/>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Legacy inquiry and archive</a:t>
            </a:r>
          </a:p>
        </p:txBody>
      </p:sp>
      <p:sp>
        <p:nvSpPr>
          <p:cNvPr id="42" name="Rounded Rectangle 41"/>
          <p:cNvSpPr/>
          <p:nvPr/>
        </p:nvSpPr>
        <p:spPr>
          <a:xfrm>
            <a:off x="8146084"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In the BRD</a:t>
            </a:r>
          </a:p>
        </p:txBody>
      </p:sp>
      <p:sp>
        <p:nvSpPr>
          <p:cNvPr id="43" name="TextBox 42"/>
          <p:cNvSpPr txBox="1"/>
          <p:nvPr/>
        </p:nvSpPr>
        <p:spPr>
          <a:xfrm>
            <a:off x="9837724"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Decommissioning</a:t>
            </a:r>
          </a:p>
        </p:txBody>
      </p:sp>
      <p:sp>
        <p:nvSpPr>
          <p:cNvPr id="44" name="TextBox 43"/>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History readable after legacy is switched off, with logged access.</a:t>
            </a:r>
          </a:p>
          <a:p>
            <a:pPr>
              <a:spcAft>
                <a:spcPts val="400"/>
              </a:spcAft>
            </a:pPr>
            <a:r>
              <a:rPr sz="1200" b="1">
                <a:solidFill>
                  <a:srgbClr val="004EA8"/>
                </a:solidFill>
                <a:latin typeface="Arial"/>
              </a:rPr>
              <a:t>For BDOI: </a:t>
            </a:r>
            <a:r>
              <a:rPr sz="1200" b="0">
                <a:solidFill>
                  <a:srgbClr val="4B4B4B"/>
                </a:solidFill>
                <a:latin typeface="Arial"/>
              </a:rPr>
              <a:t>Agree retention per record type (DCR-136).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15. Integrations: today, BRDs and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TextBox 8"/>
          <p:cNvSpPr txBox="1"/>
          <p:nvPr/>
        </p:nvSpPr>
        <p:spPr>
          <a:xfrm>
            <a:off x="548640" y="1234440"/>
            <a:ext cx="11094415" cy="457200"/>
          </a:xfrm>
          <a:prstGeom prst="rect">
            <a:avLst/>
          </a:prstGeom>
          <a:noFill/>
        </p:spPr>
        <p:txBody>
          <a:bodyPr wrap="square" anchor="t" lIns="45720" rIns="45720" tIns="18288" bIns="18288">
            <a:spAutoFit/>
          </a:bodyPr>
          <a:lstStyle/>
          <a:p>
            <a:pPr>
              <a:spcAft>
                <a:spcPts val="0"/>
              </a:spcAft>
            </a:pPr>
            <a:r>
              <a:rPr sz="1300" b="0">
                <a:solidFill>
                  <a:srgbClr val="2E2E2E"/>
                </a:solidFill>
                <a:latin typeface="Arial"/>
              </a:rPr>
              <a:t>All external touch-points are owned by BDO IT; specifications for the enterprise and insurer interfaces are requested by 31-Jan-2027.</a:t>
            </a:r>
          </a:p>
        </p:txBody>
      </p:sp>
      <p:sp>
        <p:nvSpPr>
          <p:cNvPr id="10" name="Rounded Rectangle 9"/>
          <p:cNvSpPr/>
          <p:nvPr/>
        </p:nvSpPr>
        <p:spPr>
          <a:xfrm>
            <a:off x="548640"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7373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Today</a:t>
            </a:r>
          </a:p>
        </p:txBody>
      </p:sp>
      <p:sp>
        <p:nvSpPr>
          <p:cNvPr id="13" name="TextBox 12"/>
          <p:cNvSpPr txBox="1"/>
          <p:nvPr/>
        </p:nvSpPr>
        <p:spPr>
          <a:xfrm>
            <a:off x="621792" y="2267712"/>
            <a:ext cx="3442106" cy="389534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About 55 insurers, each handled differently (OV-01)</a:t>
            </a:r>
          </a:p>
          <a:p>
            <a:pPr>
              <a:spcAft>
                <a:spcPts val="300"/>
              </a:spcAft>
            </a:pPr>
            <a:r>
              <a:rPr sz="1200" b="0">
                <a:solidFill>
                  <a:srgbClr val="004EA8"/>
                </a:solidFill>
                <a:latin typeface="Arial"/>
              </a:rPr>
              <a:t>•  </a:t>
            </a:r>
            <a:r>
              <a:rPr sz="1200" b="0">
                <a:solidFill>
                  <a:srgbClr val="4B4B4B"/>
                </a:solidFill>
                <a:latin typeface="Arial"/>
              </a:rPr>
              <a:t>Slips, returns, e-policies, SOAs, recon files by e-mail; SFTP for some insurers</a:t>
            </a:r>
          </a:p>
          <a:p>
            <a:pPr>
              <a:spcAft>
                <a:spcPts val="300"/>
              </a:spcAft>
            </a:pPr>
            <a:r>
              <a:rPr sz="1200" b="0">
                <a:solidFill>
                  <a:srgbClr val="004EA8"/>
                </a:solidFill>
                <a:latin typeface="Arial"/>
              </a:rPr>
              <a:t>•  </a:t>
            </a:r>
            <a:r>
              <a:rPr sz="1200" b="0">
                <a:solidFill>
                  <a:srgbClr val="4B4B4B"/>
                </a:solidFill>
                <a:latin typeface="Arial"/>
              </a:rPr>
              <a:t>Bank files (HLS, LAD, CLPC, LAMD, PMS, FS04) moved and run by IT</a:t>
            </a:r>
          </a:p>
          <a:p>
            <a:pPr>
              <a:spcAft>
                <a:spcPts val="300"/>
              </a:spcAft>
            </a:pPr>
            <a:r>
              <a:rPr sz="1200" b="0">
                <a:solidFill>
                  <a:srgbClr val="004EA8"/>
                </a:solidFill>
                <a:latin typeface="Arial"/>
              </a:rPr>
              <a:t>•  </a:t>
            </a:r>
            <a:r>
              <a:rPr sz="1200" b="0">
                <a:solidFill>
                  <a:srgbClr val="4B4B4B"/>
                </a:solidFill>
                <a:latin typeface="Arial"/>
              </a:rPr>
              <a:t>Credit files by WinSCP to TPD; EFPS and BancNet by hand</a:t>
            </a:r>
          </a:p>
        </p:txBody>
      </p:sp>
      <p:sp>
        <p:nvSpPr>
          <p:cNvPr id="14" name="Rounded Rectangle 13"/>
          <p:cNvSpPr/>
          <p:nvPr/>
        </p:nvSpPr>
        <p:spPr>
          <a:xfrm>
            <a:off x="4301642"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7373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 the BRDs and the IER</a:t>
            </a:r>
          </a:p>
        </p:txBody>
      </p:sp>
      <p:sp>
        <p:nvSpPr>
          <p:cNvPr id="17" name="TextBox 16"/>
          <p:cNvSpPr txBox="1"/>
          <p:nvPr/>
        </p:nvSpPr>
        <p:spPr>
          <a:xfrm>
            <a:off x="4374794" y="2267712"/>
            <a:ext cx="3442106" cy="389534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20 interfaces (INT-01 to 20): identity, bank channels, loan systems, mail, insurers, EGL, EDP</a:t>
            </a:r>
          </a:p>
          <a:p>
            <a:pPr>
              <a:spcAft>
                <a:spcPts val="300"/>
              </a:spcAft>
            </a:pPr>
            <a:r>
              <a:rPr sz="1200" b="0">
                <a:solidFill>
                  <a:srgbClr val="004EA8"/>
                </a:solidFill>
                <a:latin typeface="Arial"/>
              </a:rPr>
              <a:t>•  </a:t>
            </a:r>
            <a:r>
              <a:rPr sz="1200" b="0">
                <a:solidFill>
                  <a:srgbClr val="4B4B4B"/>
                </a:solidFill>
                <a:latin typeface="Arial"/>
              </a:rPr>
              <a:t>Most are seams: upload or manual until specified</a:t>
            </a:r>
          </a:p>
          <a:p>
            <a:pPr>
              <a:spcAft>
                <a:spcPts val="300"/>
              </a:spcAft>
            </a:pPr>
            <a:r>
              <a:rPr sz="1200" b="0">
                <a:solidFill>
                  <a:srgbClr val="004EA8"/>
                </a:solidFill>
                <a:latin typeface="Arial"/>
              </a:rPr>
              <a:t>•  </a:t>
            </a:r>
            <a:r>
              <a:rPr sz="1200" b="0">
                <a:solidFill>
                  <a:srgbClr val="4B4B4B"/>
                </a:solidFill>
                <a:latin typeface="Arial"/>
              </a:rPr>
              <a:t>Insurer channel per insurer: e-mail, SFTP or API (Q06)</a:t>
            </a:r>
          </a:p>
          <a:p>
            <a:pPr>
              <a:spcAft>
                <a:spcPts val="300"/>
              </a:spcAft>
            </a:pPr>
            <a:r>
              <a:rPr sz="1200" b="0">
                <a:solidFill>
                  <a:srgbClr val="004EA8"/>
                </a:solidFill>
                <a:latin typeface="Arial"/>
              </a:rPr>
              <a:t>•  </a:t>
            </a:r>
            <a:r>
              <a:rPr sz="1200" b="0">
                <a:solidFill>
                  <a:srgbClr val="4B4B4B"/>
                </a:solidFill>
                <a:latin typeface="Arial"/>
              </a:rPr>
              <a:t>Owner of every touch-point: BDO IT</a:t>
            </a:r>
          </a:p>
        </p:txBody>
      </p:sp>
      <p:sp>
        <p:nvSpPr>
          <p:cNvPr id="18" name="Rounded Rectangle 17"/>
          <p:cNvSpPr/>
          <p:nvPr/>
        </p:nvSpPr>
        <p:spPr>
          <a:xfrm>
            <a:off x="8054644"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4644"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7796" y="17373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What the floor walk adds</a:t>
            </a:r>
          </a:p>
        </p:txBody>
      </p:sp>
      <p:sp>
        <p:nvSpPr>
          <p:cNvPr id="21" name="TextBox 20"/>
          <p:cNvSpPr txBox="1"/>
          <p:nvPr/>
        </p:nvSpPr>
        <p:spPr>
          <a:xfrm>
            <a:off x="8127796" y="2267712"/>
            <a:ext cx="3442106" cy="389534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CLAS and CTS reports (New Business)</a:t>
            </a:r>
          </a:p>
          <a:p>
            <a:pPr>
              <a:spcAft>
                <a:spcPts val="300"/>
              </a:spcAft>
            </a:pPr>
            <a:r>
              <a:rPr sz="1200" b="0">
                <a:solidFill>
                  <a:srgbClr val="004EA8"/>
                </a:solidFill>
                <a:latin typeface="Arial"/>
              </a:rPr>
              <a:t>•  </a:t>
            </a:r>
            <a:r>
              <a:rPr sz="1200" b="0">
                <a:solidFill>
                  <a:srgbClr val="4B4B4B"/>
                </a:solidFill>
                <a:latin typeface="Arial"/>
              </a:rPr>
              <a:t>WinSCP to TPD; EFPS; BancNet (Disbursement)</a:t>
            </a:r>
          </a:p>
          <a:p>
            <a:pPr>
              <a:spcAft>
                <a:spcPts val="300"/>
              </a:spcAft>
            </a:pPr>
            <a:r>
              <a:rPr sz="1200" b="0">
                <a:solidFill>
                  <a:srgbClr val="004EA8"/>
                </a:solidFill>
                <a:latin typeface="Arial"/>
              </a:rPr>
              <a:t>•  </a:t>
            </a:r>
            <a:r>
              <a:rPr sz="1200" b="0">
                <a:solidFill>
                  <a:srgbClr val="4B4B4B"/>
                </a:solidFill>
                <a:latin typeface="Arial"/>
              </a:rPr>
              <a:t>ICS, CLS and CC Nav (Collections, contact centre)</a:t>
            </a:r>
          </a:p>
          <a:p>
            <a:pPr>
              <a:spcAft>
                <a:spcPts val="300"/>
              </a:spcAft>
            </a:pPr>
            <a:r>
              <a:rPr sz="1200" b="0">
                <a:solidFill>
                  <a:srgbClr val="004EA8"/>
                </a:solidFill>
                <a:latin typeface="Arial"/>
              </a:rPr>
              <a:t>•  </a:t>
            </a:r>
            <a:r>
              <a:rPr sz="1200" b="0">
                <a:solidFill>
                  <a:srgbClr val="4B4B4B"/>
                </a:solidFill>
                <a:latin typeface="Arial"/>
              </a:rPr>
              <a:t>SharePoint and Teams hand-offs (Operations)</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15. Integrations: the inventory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graphicFrame>
        <p:nvGraphicFramePr>
          <p:cNvPr id="9" name="Table 8"/>
          <p:cNvGraphicFramePr>
            <a:graphicFrameLocks noGrp="1"/>
          </p:cNvGraphicFramePr>
          <p:nvPr/>
        </p:nvGraphicFramePr>
        <p:xfrm>
          <a:off x="548640" y="1280160"/>
          <a:ext cx="11094412" cy="4754880"/>
        </p:xfrm>
        <a:graphic>
          <a:graphicData uri="http://schemas.openxmlformats.org/drawingml/2006/table">
            <a:tbl>
              <a:tblPr firstRow="1" bandRow="1">
                <a:tableStyleId>{5C22544A-7EE6-4342-B048-85BDC9FD1C3A}</a:tableStyleId>
              </a:tblPr>
              <a:tblGrid>
                <a:gridCol w="1968363"/>
                <a:gridCol w="2684132"/>
                <a:gridCol w="1968363"/>
                <a:gridCol w="2147306"/>
                <a:gridCol w="1073653"/>
                <a:gridCol w="1252595"/>
              </a:tblGrid>
              <a:tr h="365760">
                <a:tc>
                  <a:txBody>
                    <a:bodyPr wrap="square"/>
                    <a:lstStyle/>
                    <a:p>
                      <a:r>
                        <a:rPr sz="1000" b="1">
                          <a:solidFill>
                            <a:srgbClr val="FFFFFF"/>
                          </a:solidFill>
                          <a:latin typeface="Arial"/>
                        </a:rPr>
                        <a:t>Counterparty</a:t>
                      </a:r>
                    </a:p>
                  </a:txBody>
                  <a:tcPr marL="64008" marR="64008" marT="27432" marB="27432" anchor="ctr">
                    <a:solidFill>
                      <a:srgbClr val="004EA8"/>
                    </a:solidFill>
                  </a:tcPr>
                </a:tc>
                <a:tc>
                  <a:txBody>
                    <a:bodyPr wrap="square"/>
                    <a:lstStyle/>
                    <a:p>
                      <a:r>
                        <a:rPr sz="1000" b="1">
                          <a:solidFill>
                            <a:srgbClr val="FFFFFF"/>
                          </a:solidFill>
                          <a:latin typeface="Arial"/>
                        </a:rPr>
                        <a:t>Data</a:t>
                      </a:r>
                    </a:p>
                  </a:txBody>
                  <a:tcPr marL="64008" marR="64008" marT="27432" marB="27432" anchor="ctr">
                    <a:solidFill>
                      <a:srgbClr val="004EA8"/>
                    </a:solidFill>
                  </a:tcPr>
                </a:tc>
                <a:tc>
                  <a:txBody>
                    <a:bodyPr wrap="square"/>
                    <a:lstStyle/>
                    <a:p>
                      <a:r>
                        <a:rPr sz="1000" b="1">
                          <a:solidFill>
                            <a:srgbClr val="FFFFFF"/>
                          </a:solidFill>
                          <a:latin typeface="Arial"/>
                        </a:rPr>
                        <a:t>Today</a:t>
                      </a:r>
                    </a:p>
                  </a:txBody>
                  <a:tcPr marL="64008" marR="64008" marT="27432" marB="27432" anchor="ctr">
                    <a:solidFill>
                      <a:srgbClr val="004EA8"/>
                    </a:solidFill>
                  </a:tcPr>
                </a:tc>
                <a:tc>
                  <a:txBody>
                    <a:bodyPr wrap="square"/>
                    <a:lstStyle/>
                    <a:p>
                      <a:r>
                        <a:rPr sz="1000" b="1">
                          <a:solidFill>
                            <a:srgbClr val="FFFFFF"/>
                          </a:solidFill>
                          <a:latin typeface="Arial"/>
                        </a:rPr>
                        <a:t>To-Be target</a:t>
                      </a:r>
                    </a:p>
                  </a:txBody>
                  <a:tcPr marL="64008" marR="64008" marT="27432" marB="27432" anchor="ctr">
                    <a:solidFill>
                      <a:srgbClr val="004EA8"/>
                    </a:solidFill>
                  </a:tcPr>
                </a:tc>
                <a:tc>
                  <a:txBody>
                    <a:bodyPr wrap="square"/>
                    <a:lstStyle/>
                    <a:p>
                      <a:r>
                        <a:rPr sz="1000" b="1">
                          <a:solidFill>
                            <a:srgbClr val="FFFFFF"/>
                          </a:solidFill>
                          <a:latin typeface="Arial"/>
                        </a:rPr>
                        <a:t>Status</a:t>
                      </a:r>
                    </a:p>
                  </a:txBody>
                  <a:tcPr marL="64008" marR="64008" marT="27432" marB="27432" anchor="ctr">
                    <a:solidFill>
                      <a:srgbClr val="004EA8"/>
                    </a:solidFill>
                  </a:tcPr>
                </a:tc>
                <a:tc>
                  <a:txBody>
                    <a:bodyPr wrap="square"/>
                    <a:lstStyle/>
                    <a:p>
                      <a:r>
                        <a:rPr sz="1000" b="1">
                          <a:solidFill>
                            <a:srgbClr val="FFFFFF"/>
                          </a:solidFill>
                          <a:latin typeface="Arial"/>
                        </a:rPr>
                        <a:t>Open</a:t>
                      </a:r>
                    </a:p>
                  </a:txBody>
                  <a:tcPr marL="64008" marR="64008" marT="27432" marB="27432" anchor="ctr">
                    <a:solidFill>
                      <a:srgbClr val="004EA8"/>
                    </a:solidFill>
                  </a:tcPr>
                </a:tc>
              </a:tr>
              <a:tr h="731520">
                <a:tc>
                  <a:txBody>
                    <a:bodyPr wrap="square"/>
                    <a:lstStyle/>
                    <a:p>
                      <a:r>
                        <a:rPr sz="1000" b="1">
                          <a:solidFill>
                            <a:srgbClr val="4B4B4B"/>
                          </a:solidFill>
                          <a:latin typeface="Arial"/>
                        </a:rPr>
                        <a:t>Insurers (~55)</a:t>
                      </a:r>
                    </a:p>
                  </a:txBody>
                  <a:tcPr marL="64008" marR="64008" marT="27432" marB="27432" anchor="ctr">
                    <a:solidFill>
                      <a:srgbClr val="FFFFFF"/>
                    </a:solidFill>
                  </a:tcPr>
                </a:tc>
                <a:tc>
                  <a:txBody>
                    <a:bodyPr wrap="square"/>
                    <a:lstStyle/>
                    <a:p>
                      <a:r>
                        <a:rPr sz="1000" b="0">
                          <a:solidFill>
                            <a:srgbClr val="4B4B4B"/>
                          </a:solidFill>
                          <a:latin typeface="Arial"/>
                        </a:rPr>
                        <a:t>Slips, e-policies, returns, SOAs, recon, DP billing, ORs, claims</a:t>
                      </a:r>
                    </a:p>
                  </a:txBody>
                  <a:tcPr marL="64008" marR="64008" marT="27432" marB="27432" anchor="ctr">
                    <a:solidFill>
                      <a:srgbClr val="FFFFFF"/>
                    </a:solidFill>
                  </a:tcPr>
                </a:tc>
                <a:tc>
                  <a:txBody>
                    <a:bodyPr wrap="square"/>
                    <a:lstStyle/>
                    <a:p>
                      <a:r>
                        <a:rPr sz="1000" b="0">
                          <a:solidFill>
                            <a:srgbClr val="4B4B4B"/>
                          </a:solidFill>
                          <a:latin typeface="Arial"/>
                        </a:rPr>
                        <a:t>E-mail; SFTP for some</a:t>
                      </a:r>
                    </a:p>
                  </a:txBody>
                  <a:tcPr marL="64008" marR="64008" marT="27432" marB="27432" anchor="ctr">
                    <a:solidFill>
                      <a:srgbClr val="FFFFFF"/>
                    </a:solidFill>
                  </a:tcPr>
                </a:tc>
                <a:tc>
                  <a:txBody>
                    <a:bodyPr wrap="square"/>
                    <a:lstStyle/>
                    <a:p>
                      <a:r>
                        <a:rPr sz="1000" b="0">
                          <a:solidFill>
                            <a:srgbClr val="4B4B4B"/>
                          </a:solidFill>
                          <a:latin typeface="Arial"/>
                        </a:rPr>
                        <a:t>Channel per insurer</a:t>
                      </a:r>
                    </a:p>
                  </a:txBody>
                  <a:tcPr marL="64008" marR="64008" marT="27432" marB="27432" anchor="ctr">
                    <a:solidFill>
                      <a:srgbClr val="FFFFFF"/>
                    </a:solidFill>
                  </a:tcPr>
                </a:tc>
                <a:tc>
                  <a:txBody>
                    <a:bodyPr wrap="square"/>
                    <a:lstStyle/>
                    <a:p>
                      <a:r>
                        <a:rPr sz="1000" b="0">
                          <a:solidFill>
                            <a:srgbClr val="4B4B4B"/>
                          </a:solidFill>
                          <a:latin typeface="Arial"/>
                        </a:rPr>
                        <a:t>Change</a:t>
                      </a:r>
                    </a:p>
                  </a:txBody>
                  <a:tcPr marL="64008" marR="64008" marT="27432" marB="27432" anchor="ctr">
                    <a:solidFill>
                      <a:srgbClr val="FFFFFF"/>
                    </a:solidFill>
                  </a:tcPr>
                </a:tc>
                <a:tc>
                  <a:txBody>
                    <a:bodyPr wrap="square"/>
                    <a:lstStyle/>
                    <a:p>
                      <a:r>
                        <a:rPr sz="1000" b="0">
                          <a:solidFill>
                            <a:srgbClr val="4B4B4B"/>
                          </a:solidFill>
                          <a:latin typeface="Arial"/>
                        </a:rPr>
                        <a:t>IQ18; Q06</a:t>
                      </a:r>
                    </a:p>
                  </a:txBody>
                  <a:tcPr marL="64008" marR="64008" marT="27432" marB="27432" anchor="ctr">
                    <a:solidFill>
                      <a:srgbClr val="FFFFFF"/>
                    </a:solidFill>
                  </a:tcPr>
                </a:tc>
              </a:tr>
              <a:tr h="731520">
                <a:tc>
                  <a:txBody>
                    <a:bodyPr wrap="square"/>
                    <a:lstStyle/>
                    <a:p>
                      <a:r>
                        <a:rPr sz="1000" b="1">
                          <a:solidFill>
                            <a:srgbClr val="4B4B4B"/>
                          </a:solidFill>
                          <a:latin typeface="Arial"/>
                        </a:rPr>
                        <a:t>Identity: EIAM, UIDM-ISC</a:t>
                      </a:r>
                    </a:p>
                  </a:txBody>
                  <a:tcPr marL="64008" marR="64008" marT="27432" marB="27432" anchor="ctr">
                    <a:solidFill>
                      <a:srgbClr val="E5F5FF"/>
                    </a:solidFill>
                  </a:tcPr>
                </a:tc>
                <a:tc>
                  <a:txBody>
                    <a:bodyPr wrap="square"/>
                    <a:lstStyle/>
                    <a:p>
                      <a:r>
                        <a:rPr sz="1000" b="0">
                          <a:solidFill>
                            <a:srgbClr val="4B4B4B"/>
                          </a:solidFill>
                          <a:latin typeface="Arial"/>
                        </a:rPr>
                        <a:t>Sign-in, accounts, entitlements</a:t>
                      </a:r>
                    </a:p>
                  </a:txBody>
                  <a:tcPr marL="64008" marR="64008" marT="27432" marB="27432" anchor="ctr">
                    <a:solidFill>
                      <a:srgbClr val="E5F5FF"/>
                    </a:solidFill>
                  </a:tcPr>
                </a:tc>
                <a:tc>
                  <a:txBody>
                    <a:bodyPr wrap="square"/>
                    <a:lstStyle/>
                    <a:p>
                      <a:r>
                        <a:rPr sz="1000" b="0">
                          <a:solidFill>
                            <a:srgbClr val="4B4B4B"/>
                          </a:solidFill>
                          <a:latin typeface="Arial"/>
                        </a:rPr>
                        <a:t>EUA / Windows ID</a:t>
                      </a:r>
                    </a:p>
                  </a:txBody>
                  <a:tcPr marL="64008" marR="64008" marT="27432" marB="27432" anchor="ctr">
                    <a:solidFill>
                      <a:srgbClr val="E5F5FF"/>
                    </a:solidFill>
                  </a:tcPr>
                </a:tc>
                <a:tc>
                  <a:txBody>
                    <a:bodyPr wrap="square"/>
                    <a:lstStyle/>
                    <a:p>
                      <a:r>
                        <a:rPr sz="1000" b="0">
                          <a:solidFill>
                            <a:srgbClr val="4B4B4B"/>
                          </a:solidFill>
                          <a:latin typeface="Arial"/>
                        </a:rPr>
                        <a:t>SSO; provisioning</a:t>
                      </a:r>
                    </a:p>
                  </a:txBody>
                  <a:tcPr marL="64008" marR="64008" marT="27432" marB="27432" anchor="ctr">
                    <a:solidFill>
                      <a:srgbClr val="E5F5FF"/>
                    </a:solidFill>
                  </a:tcPr>
                </a:tc>
                <a:tc>
                  <a:txBody>
                    <a:bodyPr wrap="square"/>
                    <a:lstStyle/>
                    <a:p>
                      <a:r>
                        <a:rPr sz="1000" b="0">
                          <a:solidFill>
                            <a:srgbClr val="4B4B4B"/>
                          </a:solidFill>
                          <a:latin typeface="Arial"/>
                        </a:rPr>
                        <a:t>Change</a:t>
                      </a:r>
                    </a:p>
                  </a:txBody>
                  <a:tcPr marL="64008" marR="64008" marT="27432" marB="27432" anchor="ctr">
                    <a:solidFill>
                      <a:srgbClr val="E5F5FF"/>
                    </a:solidFill>
                  </a:tcPr>
                </a:tc>
                <a:tc>
                  <a:txBody>
                    <a:bodyPr wrap="square"/>
                    <a:lstStyle/>
                    <a:p>
                      <a:r>
                        <a:rPr sz="1000" b="0">
                          <a:solidFill>
                            <a:srgbClr val="4B4B4B"/>
                          </a:solidFill>
                          <a:latin typeface="Arial"/>
                        </a:rPr>
                        <a:t>IQ04-05; DCR-143</a:t>
                      </a:r>
                    </a:p>
                  </a:txBody>
                  <a:tcPr marL="64008" marR="64008" marT="27432" marB="27432" anchor="ctr">
                    <a:solidFill>
                      <a:srgbClr val="E5F5FF"/>
                    </a:solidFill>
                  </a:tcPr>
                </a:tc>
              </a:tr>
              <a:tr h="731520">
                <a:tc>
                  <a:txBody>
                    <a:bodyPr wrap="square"/>
                    <a:lstStyle/>
                    <a:p>
                      <a:r>
                        <a:rPr sz="1000" b="1">
                          <a:solidFill>
                            <a:srgbClr val="4B4B4B"/>
                          </a:solidFill>
                          <a:latin typeface="Arial"/>
                        </a:rPr>
                        <a:t>HLS, LOAS, LAMD, LFS, CIU</a:t>
                      </a:r>
                    </a:p>
                  </a:txBody>
                  <a:tcPr marL="64008" marR="64008" marT="27432" marB="27432" anchor="ctr">
                    <a:solidFill>
                      <a:srgbClr val="FFFFFF"/>
                    </a:solidFill>
                  </a:tcPr>
                </a:tc>
                <a:tc>
                  <a:txBody>
                    <a:bodyPr wrap="square"/>
                    <a:lstStyle/>
                    <a:p>
                      <a:r>
                        <a:rPr sz="1000" b="0">
                          <a:solidFill>
                            <a:srgbClr val="4B4B4B"/>
                          </a:solidFill>
                          <a:latin typeface="Arial"/>
                        </a:rPr>
                        <a:t>Loan and home-insurance requests, loan status, submitted policies</a:t>
                      </a:r>
                    </a:p>
                  </a:txBody>
                  <a:tcPr marL="64008" marR="64008" marT="27432" marB="27432" anchor="ctr">
                    <a:solidFill>
                      <a:srgbClr val="FFFFFF"/>
                    </a:solidFill>
                  </a:tcPr>
                </a:tc>
                <a:tc>
                  <a:txBody>
                    <a:bodyPr wrap="square"/>
                    <a:lstStyle/>
                    <a:p>
                      <a:r>
                        <a:rPr sz="1000" b="0">
                          <a:solidFill>
                            <a:srgbClr val="4B4B4B"/>
                          </a:solidFill>
                          <a:latin typeface="Arial"/>
                        </a:rPr>
                        <a:t>Excel reports</a:t>
                      </a:r>
                    </a:p>
                  </a:txBody>
                  <a:tcPr marL="64008" marR="64008" marT="27432" marB="27432" anchor="ctr">
                    <a:solidFill>
                      <a:srgbClr val="FFFFFF"/>
                    </a:solidFill>
                  </a:tcPr>
                </a:tc>
                <a:tc>
                  <a:txBody>
                    <a:bodyPr wrap="square"/>
                    <a:lstStyle/>
                    <a:p>
                      <a:r>
                        <a:rPr sz="1000" b="0">
                          <a:solidFill>
                            <a:srgbClr val="4B4B4B"/>
                          </a:solidFill>
                          <a:latin typeface="Arial"/>
                        </a:rPr>
                        <a:t>File or API</a:t>
                      </a:r>
                    </a:p>
                  </a:txBody>
                  <a:tcPr marL="64008" marR="64008" marT="27432" marB="27432" anchor="ctr">
                    <a:solidFill>
                      <a:srgbClr val="FFFFFF"/>
                    </a:solidFill>
                  </a:tcPr>
                </a:tc>
                <a:tc>
                  <a:txBody>
                    <a:bodyPr wrap="square"/>
                    <a:lstStyle/>
                    <a:p>
                      <a:r>
                        <a:rPr sz="1000" b="0">
                          <a:solidFill>
                            <a:srgbClr val="4B4B4B"/>
                          </a:solidFill>
                          <a:latin typeface="Arial"/>
                        </a:rPr>
                        <a:t>Change</a:t>
                      </a:r>
                    </a:p>
                  </a:txBody>
                  <a:tcPr marL="64008" marR="64008" marT="27432" marB="27432" anchor="ctr">
                    <a:solidFill>
                      <a:srgbClr val="FFFFFF"/>
                    </a:solidFill>
                  </a:tcPr>
                </a:tc>
                <a:tc>
                  <a:txBody>
                    <a:bodyPr wrap="square"/>
                    <a:lstStyle/>
                    <a:p>
                      <a:r>
                        <a:rPr sz="1000" b="0">
                          <a:solidFill>
                            <a:srgbClr val="4B4B4B"/>
                          </a:solidFill>
                          <a:latin typeface="Arial"/>
                        </a:rPr>
                        <a:t>IQ06-08; DCR-146</a:t>
                      </a:r>
                    </a:p>
                  </a:txBody>
                  <a:tcPr marL="64008" marR="64008" marT="27432" marB="27432" anchor="ctr">
                    <a:solidFill>
                      <a:srgbClr val="FFFFFF"/>
                    </a:solidFill>
                  </a:tcPr>
                </a:tc>
              </a:tr>
              <a:tr h="731520">
                <a:tc>
                  <a:txBody>
                    <a:bodyPr wrap="square"/>
                    <a:lstStyle/>
                    <a:p>
                      <a:r>
                        <a:rPr sz="1000" b="1">
                          <a:solidFill>
                            <a:srgbClr val="4B4B4B"/>
                          </a:solidFill>
                          <a:latin typeface="Arial"/>
                        </a:rPr>
                        <a:t>CLAS, CTS</a:t>
                      </a:r>
                    </a:p>
                  </a:txBody>
                  <a:tcPr marL="64008" marR="64008" marT="27432" marB="27432" anchor="ctr">
                    <a:solidFill>
                      <a:srgbClr val="E5F5FF"/>
                    </a:solidFill>
                  </a:tcPr>
                </a:tc>
                <a:tc>
                  <a:txBody>
                    <a:bodyPr wrap="square"/>
                    <a:lstStyle/>
                    <a:p>
                      <a:r>
                        <a:rPr sz="1000" b="0">
                          <a:solidFill>
                            <a:srgbClr val="4B4B4B"/>
                          </a:solidFill>
                          <a:latin typeface="Arial"/>
                        </a:rPr>
                        <a:t>Bank insurance reports for bulk quotes</a:t>
                      </a:r>
                    </a:p>
                  </a:txBody>
                  <a:tcPr marL="64008" marR="64008" marT="27432" marB="27432" anchor="ctr">
                    <a:solidFill>
                      <a:srgbClr val="E5F5FF"/>
                    </a:solidFill>
                  </a:tcPr>
                </a:tc>
                <a:tc>
                  <a:txBody>
                    <a:bodyPr wrap="square"/>
                    <a:lstStyle/>
                    <a:p>
                      <a:r>
                        <a:rPr sz="1000" b="0">
                          <a:solidFill>
                            <a:srgbClr val="4B4B4B"/>
                          </a:solidFill>
                          <a:latin typeface="Arial"/>
                        </a:rPr>
                        <a:t>Sanitised by hand</a:t>
                      </a:r>
                    </a:p>
                  </a:txBody>
                  <a:tcPr marL="64008" marR="64008" marT="27432" marB="27432" anchor="ctr">
                    <a:solidFill>
                      <a:srgbClr val="E5F5FF"/>
                    </a:solidFill>
                  </a:tcPr>
                </a:tc>
                <a:tc>
                  <a:txBody>
                    <a:bodyPr wrap="square"/>
                    <a:lstStyle/>
                    <a:p>
                      <a:r>
                        <a:rPr sz="1000" b="0">
                          <a:solidFill>
                            <a:srgbClr val="4B4B4B"/>
                          </a:solidFill>
                          <a:latin typeface="Arial"/>
                        </a:rPr>
                        <a:t>Not in the inventory</a:t>
                      </a:r>
                    </a:p>
                  </a:txBody>
                  <a:tcPr marL="64008" marR="64008" marT="27432" marB="27432" anchor="ctr">
                    <a:solidFill>
                      <a:srgbClr val="E5F5FF"/>
                    </a:solidFill>
                  </a:tcPr>
                </a:tc>
                <a:tc>
                  <a:txBody>
                    <a:bodyPr wrap="square"/>
                    <a:lstStyle/>
                    <a:p>
                      <a:r>
                        <a:rPr sz="1000" b="0">
                          <a:solidFill>
                            <a:srgbClr val="4B4B4B"/>
                          </a:solidFill>
                          <a:latin typeface="Arial"/>
                        </a:rPr>
                        <a:t>New</a:t>
                      </a:r>
                    </a:p>
                  </a:txBody>
                  <a:tcPr marL="64008" marR="64008" marT="27432" marB="27432" anchor="ctr">
                    <a:solidFill>
                      <a:srgbClr val="E5F5FF"/>
                    </a:solidFill>
                  </a:tcPr>
                </a:tc>
                <a:tc>
                  <a:txBody>
                    <a:bodyPr wrap="square"/>
                    <a:lstStyle/>
                    <a:p>
                      <a:r>
                        <a:rPr sz="1000" b="0">
                          <a:solidFill>
                            <a:srgbClr val="4B4B4B"/>
                          </a:solidFill>
                          <a:latin typeface="Arial"/>
                        </a:rPr>
                        <a:t>Floor walk</a:t>
                      </a:r>
                    </a:p>
                  </a:txBody>
                  <a:tcPr marL="64008" marR="64008" marT="27432" marB="27432" anchor="ctr">
                    <a:solidFill>
                      <a:srgbClr val="E5F5FF"/>
                    </a:solidFill>
                  </a:tcPr>
                </a:tc>
              </a:tr>
              <a:tr h="731520">
                <a:tc>
                  <a:txBody>
                    <a:bodyPr wrap="square"/>
                    <a:lstStyle/>
                    <a:p>
                      <a:r>
                        <a:rPr sz="1000" b="1">
                          <a:solidFill>
                            <a:srgbClr val="4B4B4B"/>
                          </a:solidFill>
                          <a:latin typeface="Arial"/>
                        </a:rPr>
                        <a:t>CLPC</a:t>
                      </a:r>
                    </a:p>
                  </a:txBody>
                  <a:tcPr marL="64008" marR="64008" marT="27432" marB="27432" anchor="ctr">
                    <a:solidFill>
                      <a:srgbClr val="FFFFFF"/>
                    </a:solidFill>
                  </a:tcPr>
                </a:tc>
                <a:tc>
                  <a:txBody>
                    <a:bodyPr wrap="square"/>
                    <a:lstStyle/>
                    <a:p>
                      <a:r>
                        <a:rPr sz="1000" b="0">
                          <a:solidFill>
                            <a:srgbClr val="4B4B4B"/>
                          </a:solidFill>
                          <a:latin typeface="Arial"/>
                        </a:rPr>
                        <a:t>CBG Fire billing and payment report</a:t>
                      </a:r>
                    </a:p>
                  </a:txBody>
                  <a:tcPr marL="64008" marR="64008" marT="27432" marB="27432" anchor="ctr">
                    <a:solidFill>
                      <a:srgbClr val="FFFFFF"/>
                    </a:solidFill>
                  </a:tcPr>
                </a:tc>
                <a:tc>
                  <a:txBody>
                    <a:bodyPr wrap="square"/>
                    <a:lstStyle/>
                    <a:p>
                      <a:r>
                        <a:rPr sz="1000" b="0">
                          <a:solidFill>
                            <a:srgbClr val="4B4B4B"/>
                          </a:solidFill>
                          <a:latin typeface="Arial"/>
                        </a:rPr>
                        <a:t>Excel file</a:t>
                      </a:r>
                    </a:p>
                  </a:txBody>
                  <a:tcPr marL="64008" marR="64008" marT="27432" marB="27432" anchor="ctr">
                    <a:solidFill>
                      <a:srgbClr val="FFFFFF"/>
                    </a:solidFill>
                  </a:tcPr>
                </a:tc>
                <a:tc>
                  <a:txBody>
                    <a:bodyPr wrap="square"/>
                    <a:lstStyle/>
                    <a:p>
                      <a:r>
                        <a:rPr sz="1000" b="0">
                          <a:solidFill>
                            <a:srgbClr val="4B4B4B"/>
                          </a:solidFill>
                          <a:latin typeface="Arial"/>
                        </a:rPr>
                        <a:t>SFTP file</a:t>
                      </a:r>
                    </a:p>
                  </a:txBody>
                  <a:tcPr marL="64008" marR="64008" marT="27432" marB="27432" anchor="ctr">
                    <a:solidFill>
                      <a:srgbClr val="FFFFFF"/>
                    </a:solidFill>
                  </a:tcPr>
                </a:tc>
                <a:tc>
                  <a:txBody>
                    <a:bodyPr wrap="square"/>
                    <a:lstStyle/>
                    <a:p>
                      <a:r>
                        <a:rPr sz="1000" b="0">
                          <a:solidFill>
                            <a:srgbClr val="4B4B4B"/>
                          </a:solidFill>
                          <a:latin typeface="Arial"/>
                        </a:rPr>
                        <a:t>Change</a:t>
                      </a:r>
                    </a:p>
                  </a:txBody>
                  <a:tcPr marL="64008" marR="64008" marT="27432" marB="27432" anchor="ctr">
                    <a:solidFill>
                      <a:srgbClr val="FFFFFF"/>
                    </a:solidFill>
                  </a:tcPr>
                </a:tc>
                <a:tc>
                  <a:txBody>
                    <a:bodyPr wrap="square"/>
                    <a:lstStyle/>
                    <a:p>
                      <a:r>
                        <a:rPr sz="1000" b="0">
                          <a:solidFill>
                            <a:srgbClr val="4B4B4B"/>
                          </a:solidFill>
                          <a:latin typeface="Arial"/>
                        </a:rPr>
                        <a:t>Q28</a:t>
                      </a:r>
                    </a:p>
                  </a:txBody>
                  <a:tcPr marL="64008" marR="64008" marT="27432" marB="27432" anchor="ctr">
                    <a:solidFill>
                      <a:srgbClr val="FFFFFF"/>
                    </a:solidFill>
                  </a:tcPr>
                </a:tc>
              </a:tr>
              <a:tr h="731520">
                <a:tc>
                  <a:txBody>
                    <a:bodyPr wrap="square"/>
                    <a:lstStyle/>
                    <a:p>
                      <a:r>
                        <a:rPr sz="1000" b="1">
                          <a:solidFill>
                            <a:srgbClr val="4B4B4B"/>
                          </a:solidFill>
                          <a:latin typeface="Arial"/>
                        </a:rPr>
                        <a:t>OBPCS, Old BOB, PMS</a:t>
                      </a:r>
                    </a:p>
                  </a:txBody>
                  <a:tcPr marL="64008" marR="64008" marT="27432" marB="27432" anchor="ctr">
                    <a:solidFill>
                      <a:srgbClr val="E5F5FF"/>
                    </a:solidFill>
                  </a:tcPr>
                </a:tc>
                <a:tc>
                  <a:txBody>
                    <a:bodyPr wrap="square"/>
                    <a:lstStyle/>
                    <a:p>
                      <a:r>
                        <a:rPr sz="1000" b="0">
                          <a:solidFill>
                            <a:srgbClr val="4B4B4B"/>
                          </a:solidFill>
                          <a:latin typeface="Arial"/>
                        </a:rPr>
                        <a:t>Bills payment, direct credits, PDCs</a:t>
                      </a:r>
                    </a:p>
                  </a:txBody>
                  <a:tcPr marL="64008" marR="64008" marT="27432" marB="27432" anchor="ctr">
                    <a:solidFill>
                      <a:srgbClr val="E5F5FF"/>
                    </a:solidFill>
                  </a:tcPr>
                </a:tc>
                <a:tc>
                  <a:txBody>
                    <a:bodyPr wrap="square"/>
                    <a:lstStyle/>
                    <a:p>
                      <a:r>
                        <a:rPr sz="1000" b="0">
                          <a:solidFill>
                            <a:srgbClr val="4B4B4B"/>
                          </a:solidFill>
                          <a:latin typeface="Arial"/>
                        </a:rPr>
                        <a:t>Files via IT (FS01, FS04)</a:t>
                      </a:r>
                    </a:p>
                  </a:txBody>
                  <a:tcPr marL="64008" marR="64008" marT="27432" marB="27432" anchor="ctr">
                    <a:solidFill>
                      <a:srgbClr val="E5F5FF"/>
                    </a:solidFill>
                  </a:tcPr>
                </a:tc>
                <a:tc>
                  <a:txBody>
                    <a:bodyPr wrap="square"/>
                    <a:lstStyle/>
                    <a:p>
                      <a:r>
                        <a:rPr sz="1000" b="0">
                          <a:solidFill>
                            <a:srgbClr val="4B4B4B"/>
                          </a:solidFill>
                          <a:latin typeface="Arial"/>
                        </a:rPr>
                        <a:t>Upload layouts</a:t>
                      </a:r>
                    </a:p>
                  </a:txBody>
                  <a:tcPr marL="64008" marR="64008" marT="27432" marB="27432" anchor="ctr">
                    <a:solidFill>
                      <a:srgbClr val="E5F5FF"/>
                    </a:solidFill>
                  </a:tcPr>
                </a:tc>
                <a:tc>
                  <a:txBody>
                    <a:bodyPr wrap="square"/>
                    <a:lstStyle/>
                    <a:p>
                      <a:r>
                        <a:rPr sz="1000" b="0">
                          <a:solidFill>
                            <a:srgbClr val="4B4B4B"/>
                          </a:solidFill>
                          <a:latin typeface="Arial"/>
                        </a:rPr>
                        <a:t>Configure</a:t>
                      </a:r>
                    </a:p>
                  </a:txBody>
                  <a:tcPr marL="64008" marR="64008" marT="27432" marB="27432" anchor="ctr">
                    <a:solidFill>
                      <a:srgbClr val="E5F5FF"/>
                    </a:solidFill>
                  </a:tcPr>
                </a:tc>
                <a:tc>
                  <a:txBody>
                    <a:bodyPr wrap="square"/>
                    <a:lstStyle/>
                    <a:p>
                      <a:r>
                        <a:rPr sz="1000" b="0">
                          <a:solidFill>
                            <a:srgbClr val="4B4B4B"/>
                          </a:solidFill>
                          <a:latin typeface="Arial"/>
                        </a:rPr>
                        <a:t>IQ09-10</a:t>
                      </a:r>
                    </a:p>
                  </a:txBody>
                  <a:tcPr marL="64008" marR="64008" marT="27432" marB="27432" anchor="ctr">
                    <a:solidFill>
                      <a:srgbClr val="E5F5FF"/>
                    </a:solidFill>
                  </a:tcPr>
                </a:tc>
              </a:tr>
            </a:tbl>
          </a:graphicData>
        </a:graphic>
      </p:graphicFrame>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15. Integrations: the inventory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graphicFrame>
        <p:nvGraphicFramePr>
          <p:cNvPr id="9" name="Table 8"/>
          <p:cNvGraphicFramePr>
            <a:graphicFrameLocks noGrp="1"/>
          </p:cNvGraphicFramePr>
          <p:nvPr/>
        </p:nvGraphicFramePr>
        <p:xfrm>
          <a:off x="548640" y="1280160"/>
          <a:ext cx="11094412" cy="4754880"/>
        </p:xfrm>
        <a:graphic>
          <a:graphicData uri="http://schemas.openxmlformats.org/drawingml/2006/table">
            <a:tbl>
              <a:tblPr firstRow="1" bandRow="1">
                <a:tableStyleId>{5C22544A-7EE6-4342-B048-85BDC9FD1C3A}</a:tableStyleId>
              </a:tblPr>
              <a:tblGrid>
                <a:gridCol w="1968363"/>
                <a:gridCol w="2684132"/>
                <a:gridCol w="1968363"/>
                <a:gridCol w="2147306"/>
                <a:gridCol w="1073653"/>
                <a:gridCol w="1252595"/>
              </a:tblGrid>
              <a:tr h="365760">
                <a:tc>
                  <a:txBody>
                    <a:bodyPr wrap="square"/>
                    <a:lstStyle/>
                    <a:p>
                      <a:r>
                        <a:rPr sz="1000" b="1">
                          <a:solidFill>
                            <a:srgbClr val="FFFFFF"/>
                          </a:solidFill>
                          <a:latin typeface="Arial"/>
                        </a:rPr>
                        <a:t>Counterparty</a:t>
                      </a:r>
                    </a:p>
                  </a:txBody>
                  <a:tcPr marL="64008" marR="64008" marT="27432" marB="27432" anchor="ctr">
                    <a:solidFill>
                      <a:srgbClr val="004EA8"/>
                    </a:solidFill>
                  </a:tcPr>
                </a:tc>
                <a:tc>
                  <a:txBody>
                    <a:bodyPr wrap="square"/>
                    <a:lstStyle/>
                    <a:p>
                      <a:r>
                        <a:rPr sz="1000" b="1">
                          <a:solidFill>
                            <a:srgbClr val="FFFFFF"/>
                          </a:solidFill>
                          <a:latin typeface="Arial"/>
                        </a:rPr>
                        <a:t>Data</a:t>
                      </a:r>
                    </a:p>
                  </a:txBody>
                  <a:tcPr marL="64008" marR="64008" marT="27432" marB="27432" anchor="ctr">
                    <a:solidFill>
                      <a:srgbClr val="004EA8"/>
                    </a:solidFill>
                  </a:tcPr>
                </a:tc>
                <a:tc>
                  <a:txBody>
                    <a:bodyPr wrap="square"/>
                    <a:lstStyle/>
                    <a:p>
                      <a:r>
                        <a:rPr sz="1000" b="1">
                          <a:solidFill>
                            <a:srgbClr val="FFFFFF"/>
                          </a:solidFill>
                          <a:latin typeface="Arial"/>
                        </a:rPr>
                        <a:t>Today</a:t>
                      </a:r>
                    </a:p>
                  </a:txBody>
                  <a:tcPr marL="64008" marR="64008" marT="27432" marB="27432" anchor="ctr">
                    <a:solidFill>
                      <a:srgbClr val="004EA8"/>
                    </a:solidFill>
                  </a:tcPr>
                </a:tc>
                <a:tc>
                  <a:txBody>
                    <a:bodyPr wrap="square"/>
                    <a:lstStyle/>
                    <a:p>
                      <a:r>
                        <a:rPr sz="1000" b="1">
                          <a:solidFill>
                            <a:srgbClr val="FFFFFF"/>
                          </a:solidFill>
                          <a:latin typeface="Arial"/>
                        </a:rPr>
                        <a:t>To-Be target</a:t>
                      </a:r>
                    </a:p>
                  </a:txBody>
                  <a:tcPr marL="64008" marR="64008" marT="27432" marB="27432" anchor="ctr">
                    <a:solidFill>
                      <a:srgbClr val="004EA8"/>
                    </a:solidFill>
                  </a:tcPr>
                </a:tc>
                <a:tc>
                  <a:txBody>
                    <a:bodyPr wrap="square"/>
                    <a:lstStyle/>
                    <a:p>
                      <a:r>
                        <a:rPr sz="1000" b="1">
                          <a:solidFill>
                            <a:srgbClr val="FFFFFF"/>
                          </a:solidFill>
                          <a:latin typeface="Arial"/>
                        </a:rPr>
                        <a:t>Status</a:t>
                      </a:r>
                    </a:p>
                  </a:txBody>
                  <a:tcPr marL="64008" marR="64008" marT="27432" marB="27432" anchor="ctr">
                    <a:solidFill>
                      <a:srgbClr val="004EA8"/>
                    </a:solidFill>
                  </a:tcPr>
                </a:tc>
                <a:tc>
                  <a:txBody>
                    <a:bodyPr wrap="square"/>
                    <a:lstStyle/>
                    <a:p>
                      <a:r>
                        <a:rPr sz="1000" b="1">
                          <a:solidFill>
                            <a:srgbClr val="FFFFFF"/>
                          </a:solidFill>
                          <a:latin typeface="Arial"/>
                        </a:rPr>
                        <a:t>Open</a:t>
                      </a:r>
                    </a:p>
                  </a:txBody>
                  <a:tcPr marL="64008" marR="64008" marT="27432" marB="27432" anchor="ctr">
                    <a:solidFill>
                      <a:srgbClr val="004EA8"/>
                    </a:solidFill>
                  </a:tcPr>
                </a:tc>
              </a:tr>
              <a:tr h="731520">
                <a:tc>
                  <a:txBody>
                    <a:bodyPr wrap="square"/>
                    <a:lstStyle/>
                    <a:p>
                      <a:r>
                        <a:rPr sz="1000" b="1">
                          <a:solidFill>
                            <a:srgbClr val="4B4B4B"/>
                          </a:solidFill>
                          <a:latin typeface="Arial"/>
                        </a:rPr>
                        <a:t>CMS / New BOB, TPD</a:t>
                      </a:r>
                    </a:p>
                  </a:txBody>
                  <a:tcPr marL="64008" marR="64008" marT="27432" marB="27432" anchor="ctr">
                    <a:solidFill>
                      <a:srgbClr val="FFFFFF"/>
                    </a:solidFill>
                  </a:tcPr>
                </a:tc>
                <a:tc>
                  <a:txBody>
                    <a:bodyPr wrap="square"/>
                    <a:lstStyle/>
                    <a:p>
                      <a:r>
                        <a:rPr sz="1000" b="0">
                          <a:solidFill>
                            <a:srgbClr val="4B4B4B"/>
                          </a:solidFill>
                          <a:latin typeface="Arial"/>
                        </a:rPr>
                        <a:t>Outward payments; credited file back</a:t>
                      </a:r>
                    </a:p>
                  </a:txBody>
                  <a:tcPr marL="64008" marR="64008" marT="27432" marB="27432" anchor="ctr">
                    <a:solidFill>
                      <a:srgbClr val="FFFFFF"/>
                    </a:solidFill>
                  </a:tcPr>
                </a:tc>
                <a:tc>
                  <a:txBody>
                    <a:bodyPr wrap="square"/>
                    <a:lstStyle/>
                    <a:p>
                      <a:r>
                        <a:rPr sz="1000" b="0">
                          <a:solidFill>
                            <a:srgbClr val="4B4B4B"/>
                          </a:solidFill>
                          <a:latin typeface="Arial"/>
                        </a:rPr>
                        <a:t>QPS text via WinSCP</a:t>
                      </a:r>
                    </a:p>
                  </a:txBody>
                  <a:tcPr marL="64008" marR="64008" marT="27432" marB="27432" anchor="ctr">
                    <a:solidFill>
                      <a:srgbClr val="FFFFFF"/>
                    </a:solidFill>
                  </a:tcPr>
                </a:tc>
                <a:tc>
                  <a:txBody>
                    <a:bodyPr wrap="square"/>
                    <a:lstStyle/>
                    <a:p>
                      <a:r>
                        <a:rPr sz="1000" b="0">
                          <a:solidFill>
                            <a:srgbClr val="4B4B4B"/>
                          </a:solidFill>
                          <a:latin typeface="Arial"/>
                        </a:rPr>
                        <a:t>Outward file or host-to-host</a:t>
                      </a:r>
                    </a:p>
                  </a:txBody>
                  <a:tcPr marL="64008" marR="64008" marT="27432" marB="27432" anchor="ctr">
                    <a:solidFill>
                      <a:srgbClr val="FFFFFF"/>
                    </a:solidFill>
                  </a:tcPr>
                </a:tc>
                <a:tc>
                  <a:txBody>
                    <a:bodyPr wrap="square"/>
                    <a:lstStyle/>
                    <a:p>
                      <a:r>
                        <a:rPr sz="1000" b="0">
                          <a:solidFill>
                            <a:srgbClr val="4B4B4B"/>
                          </a:solidFill>
                          <a:latin typeface="Arial"/>
                        </a:rPr>
                        <a:t>Change</a:t>
                      </a:r>
                    </a:p>
                  </a:txBody>
                  <a:tcPr marL="64008" marR="64008" marT="27432" marB="27432" anchor="ctr">
                    <a:solidFill>
                      <a:srgbClr val="FFFFFF"/>
                    </a:solidFill>
                  </a:tcPr>
                </a:tc>
                <a:tc>
                  <a:txBody>
                    <a:bodyPr wrap="square"/>
                    <a:lstStyle/>
                    <a:p>
                      <a:r>
                        <a:rPr sz="1000" b="0">
                          <a:solidFill>
                            <a:srgbClr val="4B4B4B"/>
                          </a:solidFill>
                          <a:latin typeface="Arial"/>
                        </a:rPr>
                        <a:t>IQ10; AQ09</a:t>
                      </a:r>
                    </a:p>
                  </a:txBody>
                  <a:tcPr marL="64008" marR="64008" marT="27432" marB="27432" anchor="ctr">
                    <a:solidFill>
                      <a:srgbClr val="FFFFFF"/>
                    </a:solidFill>
                  </a:tcPr>
                </a:tc>
              </a:tr>
              <a:tr h="731520">
                <a:tc>
                  <a:txBody>
                    <a:bodyPr wrap="square"/>
                    <a:lstStyle/>
                    <a:p>
                      <a:r>
                        <a:rPr sz="1000" b="1">
                          <a:solidFill>
                            <a:srgbClr val="4B4B4B"/>
                          </a:solidFill>
                          <a:latin typeface="Arial"/>
                        </a:rPr>
                        <a:t>EFPS, BancNet (SSS, Pag-IBIG, PhilHealth)</a:t>
                      </a:r>
                    </a:p>
                  </a:txBody>
                  <a:tcPr marL="64008" marR="64008" marT="27432" marB="27432" anchor="ctr">
                    <a:solidFill>
                      <a:srgbClr val="E5F5FF"/>
                    </a:solidFill>
                  </a:tcPr>
                </a:tc>
                <a:tc>
                  <a:txBody>
                    <a:bodyPr wrap="square"/>
                    <a:lstStyle/>
                    <a:p>
                      <a:r>
                        <a:rPr sz="1000" b="0">
                          <a:solidFill>
                            <a:srgbClr val="4B4B4B"/>
                          </a:solidFill>
                          <a:latin typeface="Arial"/>
                        </a:rPr>
                        <a:t>Tax filing and contributions</a:t>
                      </a:r>
                    </a:p>
                  </a:txBody>
                  <a:tcPr marL="64008" marR="64008" marT="27432" marB="27432" anchor="ctr">
                    <a:solidFill>
                      <a:srgbClr val="E5F5FF"/>
                    </a:solidFill>
                  </a:tcPr>
                </a:tc>
                <a:tc>
                  <a:txBody>
                    <a:bodyPr wrap="square"/>
                    <a:lstStyle/>
                    <a:p>
                      <a:r>
                        <a:rPr sz="1000" b="0">
                          <a:solidFill>
                            <a:srgbClr val="4B4B4B"/>
                          </a:solidFill>
                          <a:latin typeface="Arial"/>
                        </a:rPr>
                        <a:t>Manual; websites watched</a:t>
                      </a:r>
                    </a:p>
                  </a:txBody>
                  <a:tcPr marL="64008" marR="64008" marT="27432" marB="27432" anchor="ctr">
                    <a:solidFill>
                      <a:srgbClr val="E5F5FF"/>
                    </a:solidFill>
                  </a:tcPr>
                </a:tc>
                <a:tc>
                  <a:txBody>
                    <a:bodyPr wrap="square"/>
                    <a:lstStyle/>
                    <a:p>
                      <a:r>
                        <a:rPr sz="1000" b="0">
                          <a:solidFill>
                            <a:srgbClr val="4B4B4B"/>
                          </a:solidFill>
                          <a:latin typeface="Arial"/>
                        </a:rPr>
                        <a:t>Not in the inventory</a:t>
                      </a:r>
                    </a:p>
                  </a:txBody>
                  <a:tcPr marL="64008" marR="64008" marT="27432" marB="27432" anchor="ctr">
                    <a:solidFill>
                      <a:srgbClr val="E5F5FF"/>
                    </a:solidFill>
                  </a:tcPr>
                </a:tc>
                <a:tc>
                  <a:txBody>
                    <a:bodyPr wrap="square"/>
                    <a:lstStyle/>
                    <a:p>
                      <a:r>
                        <a:rPr sz="1000" b="0">
                          <a:solidFill>
                            <a:srgbClr val="4B4B4B"/>
                          </a:solidFill>
                          <a:latin typeface="Arial"/>
                        </a:rPr>
                        <a:t>New</a:t>
                      </a:r>
                    </a:p>
                  </a:txBody>
                  <a:tcPr marL="64008" marR="64008" marT="27432" marB="27432" anchor="ctr">
                    <a:solidFill>
                      <a:srgbClr val="E5F5FF"/>
                    </a:solidFill>
                  </a:tcPr>
                </a:tc>
                <a:tc>
                  <a:txBody>
                    <a:bodyPr wrap="square"/>
                    <a:lstStyle/>
                    <a:p>
                      <a:r>
                        <a:rPr sz="1000" b="0">
                          <a:solidFill>
                            <a:srgbClr val="4B4B4B"/>
                          </a:solidFill>
                          <a:latin typeface="Arial"/>
                        </a:rPr>
                        <a:t>Floor walk</a:t>
                      </a:r>
                    </a:p>
                  </a:txBody>
                  <a:tcPr marL="64008" marR="64008" marT="27432" marB="27432" anchor="ctr">
                    <a:solidFill>
                      <a:srgbClr val="E5F5FF"/>
                    </a:solidFill>
                  </a:tcPr>
                </a:tc>
              </a:tr>
              <a:tr h="731520">
                <a:tc>
                  <a:txBody>
                    <a:bodyPr wrap="square"/>
                    <a:lstStyle/>
                    <a:p>
                      <a:r>
                        <a:rPr sz="1000" b="1">
                          <a:solidFill>
                            <a:srgbClr val="4B4B4B"/>
                          </a:solidFill>
                          <a:latin typeface="Arial"/>
                        </a:rPr>
                        <a:t>CCM, M365 mailbox</a:t>
                      </a:r>
                    </a:p>
                  </a:txBody>
                  <a:tcPr marL="64008" marR="64008" marT="27432" marB="27432" anchor="ctr">
                    <a:solidFill>
                      <a:srgbClr val="FFFFFF"/>
                    </a:solidFill>
                  </a:tcPr>
                </a:tc>
                <a:tc>
                  <a:txBody>
                    <a:bodyPr wrap="square"/>
                    <a:lstStyle/>
                    <a:p>
                      <a:r>
                        <a:rPr sz="1000" b="0">
                          <a:solidFill>
                            <a:srgbClr val="4B4B4B"/>
                          </a:solidFill>
                          <a:latin typeface="Arial"/>
                        </a:rPr>
                        <a:t>Outbound mail; inbound requests</a:t>
                      </a:r>
                    </a:p>
                  </a:txBody>
                  <a:tcPr marL="64008" marR="64008" marT="27432" marB="27432" anchor="ctr">
                    <a:solidFill>
                      <a:srgbClr val="FFFFFF"/>
                    </a:solidFill>
                  </a:tcPr>
                </a:tc>
                <a:tc>
                  <a:txBody>
                    <a:bodyPr wrap="square"/>
                    <a:lstStyle/>
                    <a:p>
                      <a:r>
                        <a:rPr sz="1000" b="0">
                          <a:solidFill>
                            <a:srgbClr val="4B4B4B"/>
                          </a:solidFill>
                          <a:latin typeface="Arial"/>
                        </a:rPr>
                        <a:t>Manual capture</a:t>
                      </a:r>
                    </a:p>
                  </a:txBody>
                  <a:tcPr marL="64008" marR="64008" marT="27432" marB="27432" anchor="ctr">
                    <a:solidFill>
                      <a:srgbClr val="FFFFFF"/>
                    </a:solidFill>
                  </a:tcPr>
                </a:tc>
                <a:tc>
                  <a:txBody>
                    <a:bodyPr wrap="square"/>
                    <a:lstStyle/>
                    <a:p>
                      <a:r>
                        <a:rPr sz="1000" b="0">
                          <a:solidFill>
                            <a:srgbClr val="4B4B4B"/>
                          </a:solidFill>
                          <a:latin typeface="Arial"/>
                        </a:rPr>
                        <a:t>SMTP relay; mailbox reader</a:t>
                      </a:r>
                    </a:p>
                  </a:txBody>
                  <a:tcPr marL="64008" marR="64008" marT="27432" marB="27432" anchor="ctr">
                    <a:solidFill>
                      <a:srgbClr val="FFFFFF"/>
                    </a:solidFill>
                  </a:tcPr>
                </a:tc>
                <a:tc>
                  <a:txBody>
                    <a:bodyPr wrap="square"/>
                    <a:lstStyle/>
                    <a:p>
                      <a:r>
                        <a:rPr sz="1000" b="0">
                          <a:solidFill>
                            <a:srgbClr val="4B4B4B"/>
                          </a:solidFill>
                          <a:latin typeface="Arial"/>
                        </a:rPr>
                        <a:t>Configure, New</a:t>
                      </a:r>
                    </a:p>
                  </a:txBody>
                  <a:tcPr marL="64008" marR="64008" marT="27432" marB="27432" anchor="ctr">
                    <a:solidFill>
                      <a:srgbClr val="FFFFFF"/>
                    </a:solidFill>
                  </a:tcPr>
                </a:tc>
                <a:tc>
                  <a:txBody>
                    <a:bodyPr wrap="square"/>
                    <a:lstStyle/>
                    <a:p>
                      <a:r>
                        <a:rPr sz="1000" b="0">
                          <a:solidFill>
                            <a:srgbClr val="4B4B4B"/>
                          </a:solidFill>
                          <a:latin typeface="Arial"/>
                        </a:rPr>
                        <a:t>IQ11-12</a:t>
                      </a:r>
                    </a:p>
                  </a:txBody>
                  <a:tcPr marL="64008" marR="64008" marT="27432" marB="27432" anchor="ctr">
                    <a:solidFill>
                      <a:srgbClr val="FFFFFF"/>
                    </a:solidFill>
                  </a:tcPr>
                </a:tc>
              </a:tr>
              <a:tr h="731520">
                <a:tc>
                  <a:txBody>
                    <a:bodyPr wrap="square"/>
                    <a:lstStyle/>
                    <a:p>
                      <a:r>
                        <a:rPr sz="1000" b="1">
                          <a:solidFill>
                            <a:srgbClr val="4B4B4B"/>
                          </a:solidFill>
                          <a:latin typeface="Arial"/>
                        </a:rPr>
                        <a:t>EGL, EDP, CARMS</a:t>
                      </a:r>
                    </a:p>
                  </a:txBody>
                  <a:tcPr marL="64008" marR="64008" marT="27432" marB="27432" anchor="ctr">
                    <a:solidFill>
                      <a:srgbClr val="E5F5FF"/>
                    </a:solidFill>
                  </a:tcPr>
                </a:tc>
                <a:tc>
                  <a:txBody>
                    <a:bodyPr wrap="square"/>
                    <a:lstStyle/>
                    <a:p>
                      <a:r>
                        <a:rPr sz="1000" b="0">
                          <a:solidFill>
                            <a:srgbClr val="4B4B4B"/>
                          </a:solidFill>
                          <a:latin typeface="Arial"/>
                        </a:rPr>
                        <a:t>Group ledger, analytics data</a:t>
                      </a:r>
                    </a:p>
                  </a:txBody>
                  <a:tcPr marL="64008" marR="64008" marT="27432" marB="27432" anchor="ctr">
                    <a:solidFill>
                      <a:srgbClr val="E5F5FF"/>
                    </a:solidFill>
                  </a:tcPr>
                </a:tc>
                <a:tc>
                  <a:txBody>
                    <a:bodyPr wrap="square"/>
                    <a:lstStyle/>
                    <a:p>
                      <a:r>
                        <a:rPr sz="1000" b="0">
                          <a:solidFill>
                            <a:srgbClr val="4B4B4B"/>
                          </a:solidFill>
                          <a:latin typeface="Arial"/>
                        </a:rPr>
                        <a:t>Report exports</a:t>
                      </a:r>
                    </a:p>
                  </a:txBody>
                  <a:tcPr marL="64008" marR="64008" marT="27432" marB="27432" anchor="ctr">
                    <a:solidFill>
                      <a:srgbClr val="E5F5FF"/>
                    </a:solidFill>
                  </a:tcPr>
                </a:tc>
                <a:tc>
                  <a:txBody>
                    <a:bodyPr wrap="square"/>
                    <a:lstStyle/>
                    <a:p>
                      <a:r>
                        <a:rPr sz="1000" b="0">
                          <a:solidFill>
                            <a:srgbClr val="4B4B4B"/>
                          </a:solidFill>
                          <a:latin typeface="Arial"/>
                        </a:rPr>
                        <a:t>Extracts</a:t>
                      </a:r>
                    </a:p>
                  </a:txBody>
                  <a:tcPr marL="64008" marR="64008" marT="27432" marB="27432" anchor="ctr">
                    <a:solidFill>
                      <a:srgbClr val="E5F5FF"/>
                    </a:solidFill>
                  </a:tcPr>
                </a:tc>
                <a:tc>
                  <a:txBody>
                    <a:bodyPr wrap="square"/>
                    <a:lstStyle/>
                    <a:p>
                      <a:r>
                        <a:rPr sz="1000" b="0">
                          <a:solidFill>
                            <a:srgbClr val="4B4B4B"/>
                          </a:solidFill>
                          <a:latin typeface="Arial"/>
                        </a:rPr>
                        <a:t>New</a:t>
                      </a:r>
                    </a:p>
                  </a:txBody>
                  <a:tcPr marL="64008" marR="64008" marT="27432" marB="27432" anchor="ctr">
                    <a:solidFill>
                      <a:srgbClr val="E5F5FF"/>
                    </a:solidFill>
                  </a:tcPr>
                </a:tc>
                <a:tc>
                  <a:txBody>
                    <a:bodyPr wrap="square"/>
                    <a:lstStyle/>
                    <a:p>
                      <a:r>
                        <a:rPr sz="1000" b="0">
                          <a:solidFill>
                            <a:srgbClr val="4B4B4B"/>
                          </a:solidFill>
                          <a:latin typeface="Arial"/>
                        </a:rPr>
                        <a:t>IQ15-17; DCR-233</a:t>
                      </a:r>
                    </a:p>
                  </a:txBody>
                  <a:tcPr marL="64008" marR="64008" marT="27432" marB="27432" anchor="ctr">
                    <a:solidFill>
                      <a:srgbClr val="E5F5FF"/>
                    </a:solidFill>
                  </a:tcPr>
                </a:tc>
              </a:tr>
              <a:tr h="731520">
                <a:tc>
                  <a:txBody>
                    <a:bodyPr wrap="square"/>
                    <a:lstStyle/>
                    <a:p>
                      <a:r>
                        <a:rPr sz="1000" b="1">
                          <a:solidFill>
                            <a:srgbClr val="4B4B4B"/>
                          </a:solidFill>
                          <a:latin typeface="Arial"/>
                        </a:rPr>
                        <a:t>NLDS, AMLC, Bridger</a:t>
                      </a:r>
                    </a:p>
                  </a:txBody>
                  <a:tcPr marL="64008" marR="64008" marT="27432" marB="27432" anchor="ctr">
                    <a:solidFill>
                      <a:srgbClr val="FFFFFF"/>
                    </a:solidFill>
                  </a:tcPr>
                </a:tc>
                <a:tc>
                  <a:txBody>
                    <a:bodyPr wrap="square"/>
                    <a:lstStyle/>
                    <a:p>
                      <a:r>
                        <a:rPr sz="1000" b="0">
                          <a:solidFill>
                            <a:srgbClr val="4B4B4B"/>
                          </a:solidFill>
                          <a:latin typeface="Arial"/>
                        </a:rPr>
                        <a:t>PEP lists, STR, screening evidence</a:t>
                      </a:r>
                    </a:p>
                  </a:txBody>
                  <a:tcPr marL="64008" marR="64008" marT="27432" marB="27432" anchor="ctr">
                    <a:solidFill>
                      <a:srgbClr val="FFFFFF"/>
                    </a:solidFill>
                  </a:tcPr>
                </a:tc>
                <a:tc>
                  <a:txBody>
                    <a:bodyPr wrap="square"/>
                    <a:lstStyle/>
                    <a:p>
                      <a:r>
                        <a:rPr sz="1000" b="0">
                          <a:solidFill>
                            <a:srgbClr val="4B4B4B"/>
                          </a:solidFill>
                          <a:latin typeface="Arial"/>
                        </a:rPr>
                        <a:t>One NLDS user; manual</a:t>
                      </a:r>
                    </a:p>
                  </a:txBody>
                  <a:tcPr marL="64008" marR="64008" marT="27432" marB="27432" anchor="ctr">
                    <a:solidFill>
                      <a:srgbClr val="FFFFFF"/>
                    </a:solidFill>
                  </a:tcPr>
                </a:tc>
                <a:tc>
                  <a:txBody>
                    <a:bodyPr wrap="square"/>
                    <a:lstStyle/>
                    <a:p>
                      <a:r>
                        <a:rPr sz="1000" b="0">
                          <a:solidFill>
                            <a:srgbClr val="4B4B4B"/>
                          </a:solidFill>
                          <a:latin typeface="Arial"/>
                        </a:rPr>
                        <a:t>List intake; STR extract</a:t>
                      </a:r>
                    </a:p>
                  </a:txBody>
                  <a:tcPr marL="64008" marR="64008" marT="27432" marB="27432" anchor="ctr">
                    <a:solidFill>
                      <a:srgbClr val="FFFFFF"/>
                    </a:solidFill>
                  </a:tcPr>
                </a:tc>
                <a:tc>
                  <a:txBody>
                    <a:bodyPr wrap="square"/>
                    <a:lstStyle/>
                    <a:p>
                      <a:r>
                        <a:rPr sz="1000" b="0">
                          <a:solidFill>
                            <a:srgbClr val="4B4B4B"/>
                          </a:solidFill>
                          <a:latin typeface="Arial"/>
                        </a:rPr>
                        <a:t>Change</a:t>
                      </a:r>
                    </a:p>
                  </a:txBody>
                  <a:tcPr marL="64008" marR="64008" marT="27432" marB="27432" anchor="ctr">
                    <a:solidFill>
                      <a:srgbClr val="FFFFFF"/>
                    </a:solidFill>
                  </a:tcPr>
                </a:tc>
                <a:tc>
                  <a:txBody>
                    <a:bodyPr wrap="square"/>
                    <a:lstStyle/>
                    <a:p>
                      <a:r>
                        <a:rPr sz="1000" b="0">
                          <a:solidFill>
                            <a:srgbClr val="4B4B4B"/>
                          </a:solidFill>
                          <a:latin typeface="Arial"/>
                        </a:rPr>
                        <a:t>SQ01</a:t>
                      </a:r>
                    </a:p>
                  </a:txBody>
                  <a:tcPr marL="64008" marR="64008" marT="27432" marB="27432" anchor="ctr">
                    <a:solidFill>
                      <a:srgbClr val="FFFFFF"/>
                    </a:solidFill>
                  </a:tcPr>
                </a:tc>
              </a:tr>
              <a:tr h="731520">
                <a:tc>
                  <a:txBody>
                    <a:bodyPr wrap="square"/>
                    <a:lstStyle/>
                    <a:p>
                      <a:r>
                        <a:rPr sz="1000" b="1">
                          <a:solidFill>
                            <a:srgbClr val="4B4B4B"/>
                          </a:solidFill>
                          <a:latin typeface="Arial"/>
                        </a:rPr>
                        <a:t>Mail house, COG</a:t>
                      </a:r>
                    </a:p>
                  </a:txBody>
                  <a:tcPr marL="64008" marR="64008" marT="27432" marB="27432" anchor="ctr">
                    <a:solidFill>
                      <a:srgbClr val="E5F5FF"/>
                    </a:solidFill>
                  </a:tcPr>
                </a:tc>
                <a:tc>
                  <a:txBody>
                    <a:bodyPr wrap="square"/>
                    <a:lstStyle/>
                    <a:p>
                      <a:r>
                        <a:rPr sz="1000" b="0">
                          <a:solidFill>
                            <a:srgbClr val="4B4B4B"/>
                          </a:solidFill>
                          <a:latin typeface="Arial"/>
                        </a:rPr>
                        <a:t>Printed RA and reminder letters</a:t>
                      </a:r>
                    </a:p>
                  </a:txBody>
                  <a:tcPr marL="64008" marR="64008" marT="27432" marB="27432" anchor="ctr">
                    <a:solidFill>
                      <a:srgbClr val="E5F5FF"/>
                    </a:solidFill>
                  </a:tcPr>
                </a:tc>
                <a:tc>
                  <a:txBody>
                    <a:bodyPr wrap="square"/>
                    <a:lstStyle/>
                    <a:p>
                      <a:r>
                        <a:rPr sz="1000" b="0">
                          <a:solidFill>
                            <a:srgbClr val="4B4B4B"/>
                          </a:solidFill>
                          <a:latin typeface="Arial"/>
                        </a:rPr>
                        <a:t>RA text files</a:t>
                      </a:r>
                    </a:p>
                  </a:txBody>
                  <a:tcPr marL="64008" marR="64008" marT="27432" marB="27432" anchor="ctr">
                    <a:solidFill>
                      <a:srgbClr val="E5F5FF"/>
                    </a:solidFill>
                  </a:tcPr>
                </a:tc>
                <a:tc>
                  <a:txBody>
                    <a:bodyPr wrap="square"/>
                    <a:lstStyle/>
                    <a:p>
                      <a:r>
                        <a:rPr sz="1000" b="0">
                          <a:solidFill>
                            <a:srgbClr val="4B4B4B"/>
                          </a:solidFill>
                          <a:latin typeface="Arial"/>
                        </a:rPr>
                        <a:t>Print batch</a:t>
                      </a:r>
                    </a:p>
                  </a:txBody>
                  <a:tcPr marL="64008" marR="64008" marT="27432" marB="27432" anchor="ctr">
                    <a:solidFill>
                      <a:srgbClr val="E5F5FF"/>
                    </a:solidFill>
                  </a:tcPr>
                </a:tc>
                <a:tc>
                  <a:txBody>
                    <a:bodyPr wrap="square"/>
                    <a:lstStyle/>
                    <a:p>
                      <a:r>
                        <a:rPr sz="1000" b="0">
                          <a:solidFill>
                            <a:srgbClr val="4B4B4B"/>
                          </a:solidFill>
                          <a:latin typeface="Arial"/>
                        </a:rPr>
                        <a:t>New</a:t>
                      </a:r>
                    </a:p>
                  </a:txBody>
                  <a:tcPr marL="64008" marR="64008" marT="27432" marB="27432" anchor="ctr">
                    <a:solidFill>
                      <a:srgbClr val="E5F5FF"/>
                    </a:solidFill>
                  </a:tcPr>
                </a:tc>
                <a:tc>
                  <a:txBody>
                    <a:bodyPr wrap="square"/>
                    <a:lstStyle/>
                    <a:p>
                      <a:r>
                        <a:rPr sz="1000" b="0">
                          <a:solidFill>
                            <a:srgbClr val="4B4B4B"/>
                          </a:solidFill>
                          <a:latin typeface="Arial"/>
                        </a:rPr>
                        <a:t>SQ09</a:t>
                      </a:r>
                    </a:p>
                  </a:txBody>
                  <a:tcPr marL="64008" marR="64008" marT="27432" marB="27432" anchor="ctr">
                    <a:solidFill>
                      <a:srgbClr val="E5F5FF"/>
                    </a:solidFill>
                  </a:tcPr>
                </a:tc>
              </a:tr>
            </a:tbl>
          </a:graphicData>
        </a:graphic>
      </p:graphicFrame>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15. Integrations: challenges we see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sp>
        <p:nvSpPr>
          <p:cNvPr id="9" name="Rounded Rectangle 8"/>
          <p:cNvSpPr/>
          <p:nvPr/>
        </p:nvSpPr>
        <p:spPr>
          <a:xfrm>
            <a:off x="548640"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55 insurers, 55 ways</a:t>
            </a:r>
          </a:p>
        </p:txBody>
      </p:sp>
      <p:sp>
        <p:nvSpPr>
          <p:cNvPr id="12" name="Rounded Rectangle 11"/>
          <p:cNvSpPr/>
          <p:nvPr/>
        </p:nvSpPr>
        <p:spPr>
          <a:xfrm>
            <a:off x="640080" y="1810512"/>
            <a:ext cx="155448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3" name="TextBox 12"/>
          <p:cNvSpPr txBox="1"/>
          <p:nvPr/>
        </p:nvSpPr>
        <p:spPr>
          <a:xfrm>
            <a:off x="621792" y="2139696"/>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Every insurer exchanges differently today (OV-01)</a:t>
            </a:r>
          </a:p>
          <a:p>
            <a:pPr>
              <a:spcAft>
                <a:spcPts val="300"/>
              </a:spcAft>
            </a:pPr>
            <a:r>
              <a:rPr sz="1100" b="0">
                <a:solidFill>
                  <a:srgbClr val="004EA8"/>
                </a:solidFill>
                <a:latin typeface="Arial"/>
              </a:rPr>
              <a:t>•  </a:t>
            </a:r>
            <a:r>
              <a:rPr sz="1100" b="0">
                <a:solidFill>
                  <a:srgbClr val="4B4B4B"/>
                </a:solidFill>
                <a:latin typeface="Arial"/>
              </a:rPr>
              <a:t>Only some are on SFTP; the rest e-mail</a:t>
            </a:r>
          </a:p>
          <a:p>
            <a:pPr>
              <a:spcAft>
                <a:spcPts val="300"/>
              </a:spcAft>
            </a:pPr>
            <a:r>
              <a:rPr sz="1100" b="0">
                <a:solidFill>
                  <a:srgbClr val="004EA8"/>
                </a:solidFill>
                <a:latin typeface="Arial"/>
              </a:rPr>
              <a:t>•  </a:t>
            </a:r>
            <a:r>
              <a:rPr sz="1100" b="0">
                <a:solidFill>
                  <a:srgbClr val="4B4B4B"/>
                </a:solidFill>
                <a:latin typeface="Arial"/>
              </a:rPr>
              <a:t>No BDOI insurer data standard</a:t>
            </a:r>
          </a:p>
        </p:txBody>
      </p:sp>
      <p:sp>
        <p:nvSpPr>
          <p:cNvPr id="14" name="Rounded Rectangle 13"/>
          <p:cNvSpPr/>
          <p:nvPr/>
        </p:nvSpPr>
        <p:spPr>
          <a:xfrm>
            <a:off x="4301642"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Bank channels without layouts</a:t>
            </a:r>
          </a:p>
        </p:txBody>
      </p:sp>
      <p:sp>
        <p:nvSpPr>
          <p:cNvPr id="17" name="Rounded Rectangle 16"/>
          <p:cNvSpPr/>
          <p:nvPr/>
        </p:nvSpPr>
        <p:spPr>
          <a:xfrm>
            <a:off x="4393082" y="1810512"/>
            <a:ext cx="155448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18" name="TextBox 17"/>
          <p:cNvSpPr txBox="1"/>
          <p:nvPr/>
        </p:nvSpPr>
        <p:spPr>
          <a:xfrm>
            <a:off x="4374794" y="2139696"/>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CMS / New BOB, OBPCS, Old BOB, PMS named without layouts</a:t>
            </a:r>
          </a:p>
          <a:p>
            <a:pPr>
              <a:spcAft>
                <a:spcPts val="300"/>
              </a:spcAft>
            </a:pPr>
            <a:r>
              <a:rPr sz="1100" b="0">
                <a:solidFill>
                  <a:srgbClr val="004EA8"/>
                </a:solidFill>
                <a:latin typeface="Arial"/>
              </a:rPr>
              <a:t>•  </a:t>
            </a:r>
            <a:r>
              <a:rPr sz="1100" b="0">
                <a:solidFill>
                  <a:srgbClr val="4B4B4B"/>
                </a:solidFill>
                <a:latin typeface="Arial"/>
              </a:rPr>
              <a:t>AFTS unexplained</a:t>
            </a:r>
          </a:p>
          <a:p>
            <a:pPr>
              <a:spcAft>
                <a:spcPts val="300"/>
              </a:spcAft>
            </a:pPr>
            <a:r>
              <a:rPr sz="1100" b="0">
                <a:solidFill>
                  <a:srgbClr val="004EA8"/>
                </a:solidFill>
                <a:latin typeface="Arial"/>
              </a:rPr>
              <a:t>•  </a:t>
            </a:r>
            <a:r>
              <a:rPr sz="1100" b="0">
                <a:solidFill>
                  <a:srgbClr val="4B4B4B"/>
                </a:solidFill>
                <a:latin typeface="Arial"/>
              </a:rPr>
              <a:t>IT runs the files today (DCR-234)</a:t>
            </a:r>
          </a:p>
        </p:txBody>
      </p:sp>
      <p:sp>
        <p:nvSpPr>
          <p:cNvPr id="19" name="Rounded Rectangle 18"/>
          <p:cNvSpPr/>
          <p:nvPr/>
        </p:nvSpPr>
        <p:spPr>
          <a:xfrm>
            <a:off x="8054644"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Enterprise feeds undefined</a:t>
            </a:r>
          </a:p>
        </p:txBody>
      </p:sp>
      <p:sp>
        <p:nvSpPr>
          <p:cNvPr id="22" name="Rounded Rectangle 21"/>
          <p:cNvSpPr/>
          <p:nvPr/>
        </p:nvSpPr>
        <p:spPr>
          <a:xfrm>
            <a:off x="8146084" y="1810512"/>
            <a:ext cx="155448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23" name="TextBox 22"/>
          <p:cNvSpPr txBox="1"/>
          <p:nvPr/>
        </p:nvSpPr>
        <p:spPr>
          <a:xfrm>
            <a:off x="8127796" y="2139696"/>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EGL and EDP have no specification in any BRD (DCR-233)</a:t>
            </a:r>
          </a:p>
          <a:p>
            <a:pPr>
              <a:spcAft>
                <a:spcPts val="300"/>
              </a:spcAft>
            </a:pPr>
            <a:r>
              <a:rPr sz="1100" b="0">
                <a:solidFill>
                  <a:srgbClr val="004EA8"/>
                </a:solidFill>
                <a:latin typeface="Arial"/>
              </a:rPr>
              <a:t>•  </a:t>
            </a:r>
            <a:r>
              <a:rPr sz="1100" b="0">
                <a:solidFill>
                  <a:srgbClr val="4B4B4B"/>
                </a:solidFill>
                <a:latin typeface="Arial"/>
              </a:rPr>
              <a:t>CARMS unknown</a:t>
            </a:r>
          </a:p>
          <a:p>
            <a:pPr>
              <a:spcAft>
                <a:spcPts val="300"/>
              </a:spcAft>
            </a:pPr>
            <a:r>
              <a:rPr sz="1100" b="0">
                <a:solidFill>
                  <a:srgbClr val="004EA8"/>
                </a:solidFill>
                <a:latin typeface="Arial"/>
              </a:rPr>
              <a:t>•  </a:t>
            </a:r>
            <a:r>
              <a:rPr sz="1100" b="0">
                <a:solidFill>
                  <a:srgbClr val="4B4B4B"/>
                </a:solidFill>
                <a:latin typeface="Arial"/>
              </a:rPr>
              <a:t>Specs requested by 31-Jan-2027</a:t>
            </a:r>
          </a:p>
        </p:txBody>
      </p:sp>
      <p:sp>
        <p:nvSpPr>
          <p:cNvPr id="24" name="Rounded Rectangle 23"/>
          <p:cNvSpPr/>
          <p:nvPr/>
        </p:nvSpPr>
        <p:spPr>
          <a:xfrm>
            <a:off x="548640"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Identity decisions</a:t>
            </a:r>
          </a:p>
        </p:txBody>
      </p:sp>
      <p:sp>
        <p:nvSpPr>
          <p:cNvPr id="27" name="Rounded Rectangle 26"/>
          <p:cNvSpPr/>
          <p:nvPr/>
        </p:nvSpPr>
        <p:spPr>
          <a:xfrm>
            <a:off x="640080" y="4352544"/>
            <a:ext cx="155448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28" name="TextBox 27"/>
          <p:cNvSpPr txBox="1"/>
          <p:nvPr/>
        </p:nvSpPr>
        <p:spPr>
          <a:xfrm>
            <a:off x="621792" y="4681728"/>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EUA in BRD-11 vs EIAM (Entra ID) in the IER (DCR-230)</a:t>
            </a:r>
          </a:p>
          <a:p>
            <a:pPr>
              <a:spcAft>
                <a:spcPts val="300"/>
              </a:spcAft>
            </a:pPr>
            <a:r>
              <a:rPr sz="1100" b="0">
                <a:solidFill>
                  <a:srgbClr val="004EA8"/>
                </a:solidFill>
                <a:latin typeface="Arial"/>
              </a:rPr>
              <a:t>•  </a:t>
            </a:r>
            <a:r>
              <a:rPr sz="1100" b="0">
                <a:solidFill>
                  <a:srgbClr val="4B4B4B"/>
                </a:solidFill>
                <a:latin typeface="Arial"/>
              </a:rPr>
              <a:t>Identity governance may own access requests (DCR-229)</a:t>
            </a:r>
          </a:p>
          <a:p>
            <a:pPr>
              <a:spcAft>
                <a:spcPts val="300"/>
              </a:spcAft>
            </a:pPr>
            <a:r>
              <a:rPr sz="1100" b="0">
                <a:solidFill>
                  <a:srgbClr val="004EA8"/>
                </a:solidFill>
                <a:latin typeface="Arial"/>
              </a:rPr>
              <a:t>•  </a:t>
            </a:r>
            <a:r>
              <a:rPr sz="1100" b="0">
                <a:solidFill>
                  <a:srgbClr val="4B4B4B"/>
                </a:solidFill>
                <a:latin typeface="Arial"/>
              </a:rPr>
              <a:t>External users for portals (DCR-096)</a:t>
            </a:r>
          </a:p>
        </p:txBody>
      </p:sp>
      <p:sp>
        <p:nvSpPr>
          <p:cNvPr id="29" name="Rounded Rectangle 28"/>
          <p:cNvSpPr/>
          <p:nvPr/>
        </p:nvSpPr>
        <p:spPr>
          <a:xfrm>
            <a:off x="4301642"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Duplicate intakes</a:t>
            </a:r>
          </a:p>
        </p:txBody>
      </p:sp>
      <p:sp>
        <p:nvSpPr>
          <p:cNvPr id="32" name="Rounded Rectangle 31"/>
          <p:cNvSpPr/>
          <p:nvPr/>
        </p:nvSpPr>
        <p:spPr>
          <a:xfrm>
            <a:off x="4393082" y="4352544"/>
            <a:ext cx="155448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33" name="TextBox 32"/>
          <p:cNvSpPr txBox="1"/>
          <p:nvPr/>
        </p:nvSpPr>
        <p:spPr>
          <a:xfrm>
            <a:off x="4374794" y="4681728"/>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LAMD used by Renewal and Submitted Policies (DCR-146)</a:t>
            </a:r>
          </a:p>
          <a:p>
            <a:pPr>
              <a:spcAft>
                <a:spcPts val="300"/>
              </a:spcAft>
            </a:pPr>
            <a:r>
              <a:rPr sz="1100" b="0">
                <a:solidFill>
                  <a:srgbClr val="004EA8"/>
                </a:solidFill>
                <a:latin typeface="Arial"/>
              </a:rPr>
              <a:t>•  </a:t>
            </a:r>
            <a:r>
              <a:rPr sz="1100" b="0">
                <a:solidFill>
                  <a:srgbClr val="4B4B4B"/>
                </a:solidFill>
                <a:latin typeface="Arial"/>
              </a:rPr>
              <a:t>HLS / LOAS in two drops</a:t>
            </a:r>
          </a:p>
          <a:p>
            <a:pPr>
              <a:spcAft>
                <a:spcPts val="300"/>
              </a:spcAft>
            </a:pPr>
            <a:r>
              <a:rPr sz="1100" b="0">
                <a:solidFill>
                  <a:srgbClr val="004EA8"/>
                </a:solidFill>
                <a:latin typeface="Arial"/>
              </a:rPr>
              <a:t>•  </a:t>
            </a:r>
            <a:r>
              <a:rPr sz="1100" b="0">
                <a:solidFill>
                  <a:srgbClr val="4B4B4B"/>
                </a:solidFill>
                <a:latin typeface="Arial"/>
              </a:rPr>
              <a:t>CLPC payments specified twice (DCR-027)</a:t>
            </a:r>
          </a:p>
        </p:txBody>
      </p:sp>
      <p:sp>
        <p:nvSpPr>
          <p:cNvPr id="34" name="Rounded Rectangle 33"/>
          <p:cNvSpPr/>
          <p:nvPr/>
        </p:nvSpPr>
        <p:spPr>
          <a:xfrm>
            <a:off x="8054644"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Channels not yet listed</a:t>
            </a:r>
          </a:p>
        </p:txBody>
      </p:sp>
      <p:sp>
        <p:nvSpPr>
          <p:cNvPr id="37" name="Rounded Rectangle 36"/>
          <p:cNvSpPr/>
          <p:nvPr/>
        </p:nvSpPr>
        <p:spPr>
          <a:xfrm>
            <a:off x="8146084" y="4352544"/>
            <a:ext cx="1554480" cy="256032"/>
          </a:xfrm>
          <a:prstGeom prst="roundRect">
            <a:avLst/>
          </a:prstGeom>
          <a:solidFill>
            <a:srgbClr val="FDECEA"/>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C62828"/>
                </a:solidFill>
                <a:latin typeface="Arial"/>
              </a:rPr>
              <a:t>Not in BRD</a:t>
            </a:r>
          </a:p>
        </p:txBody>
      </p:sp>
      <p:sp>
        <p:nvSpPr>
          <p:cNvPr id="38" name="TextBox 37"/>
          <p:cNvSpPr txBox="1"/>
          <p:nvPr/>
        </p:nvSpPr>
        <p:spPr>
          <a:xfrm>
            <a:off x="8127796" y="4681728"/>
            <a:ext cx="3442106" cy="148132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CLAS, CTS; EFPS, BancNet</a:t>
            </a:r>
          </a:p>
          <a:p>
            <a:pPr>
              <a:spcAft>
                <a:spcPts val="300"/>
              </a:spcAft>
            </a:pPr>
            <a:r>
              <a:rPr sz="1100" b="0">
                <a:solidFill>
                  <a:srgbClr val="004EA8"/>
                </a:solidFill>
                <a:latin typeface="Arial"/>
              </a:rPr>
              <a:t>•  </a:t>
            </a:r>
            <a:r>
              <a:rPr sz="1100" b="0">
                <a:solidFill>
                  <a:srgbClr val="4B4B4B"/>
                </a:solidFill>
                <a:latin typeface="Arial"/>
              </a:rPr>
              <a:t>Print and mail house for letters</a:t>
            </a:r>
          </a:p>
          <a:p>
            <a:pPr>
              <a:spcAft>
                <a:spcPts val="300"/>
              </a:spcAft>
            </a:pPr>
            <a:r>
              <a:rPr sz="1100" b="0">
                <a:solidFill>
                  <a:srgbClr val="004EA8"/>
                </a:solidFill>
                <a:latin typeface="Arial"/>
              </a:rPr>
              <a:t>•  </a:t>
            </a:r>
            <a:r>
              <a:rPr sz="1100" b="0">
                <a:solidFill>
                  <a:srgbClr val="4B4B4B"/>
                </a:solidFill>
                <a:latin typeface="Arial"/>
              </a:rPr>
              <a:t>E-policy fall-out handling</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15. Integrations: gaps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973937"/>
                <a:gridCol w="1693803"/>
                <a:gridCol w="2540705"/>
                <a:gridCol w="2201944"/>
                <a:gridCol w="2710086"/>
                <a:gridCol w="973937"/>
              </a:tblGrid>
              <a:tr h="365760">
                <a:tc>
                  <a:txBody>
                    <a:bodyPr wrap="square"/>
                    <a:lstStyle/>
                    <a:p>
                      <a:r>
                        <a:rPr sz="1100" b="1">
                          <a:solidFill>
                            <a:srgbClr val="FFFFFF"/>
                          </a:solidFill>
                          <a:latin typeface="Arial"/>
                        </a:rPr>
                        <a:t>Coverage</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What we saw on the floor</a:t>
                      </a:r>
                    </a:p>
                  </a:txBody>
                  <a:tcPr marL="64008" marR="64008" marT="27432" marB="27432" anchor="ctr">
                    <a:solidFill>
                      <a:srgbClr val="004EA8"/>
                    </a:solidFill>
                  </a:tcPr>
                </a:tc>
                <a:tc>
                  <a:txBody>
                    <a:bodyPr wrap="square"/>
                    <a:lstStyle/>
                    <a:p>
                      <a:r>
                        <a:rPr sz="1100" b="1">
                          <a:solidFill>
                            <a:srgbClr val="FFFFFF"/>
                          </a:solidFill>
                          <a:latin typeface="Arial"/>
                        </a:rPr>
                        <a:t>What the BRD says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Insurer data standard</a:t>
                      </a:r>
                    </a:p>
                  </a:txBody>
                  <a:tcPr marL="64008" marR="64008" marT="27432" marB="27432" anchor="ctr">
                    <a:solidFill>
                      <a:srgbClr val="FFFFFF"/>
                    </a:solidFill>
                  </a:tcPr>
                </a:tc>
                <a:tc>
                  <a:txBody>
                    <a:bodyPr wrap="square"/>
                    <a:lstStyle/>
                    <a:p>
                      <a:r>
                        <a:rPr sz="1100" b="0">
                          <a:solidFill>
                            <a:srgbClr val="4B4B4B"/>
                          </a:solidFill>
                          <a:latin typeface="Arial"/>
                        </a:rPr>
                        <a:t>~55 insurers, each different (OV-01).</a:t>
                      </a:r>
                    </a:p>
                  </a:txBody>
                  <a:tcPr marL="64008" marR="64008" marT="27432" marB="27432" anchor="ctr">
                    <a:solidFill>
                      <a:srgbClr val="FFFFFF"/>
                    </a:solidFill>
                  </a:tcPr>
                </a:tc>
                <a:tc>
                  <a:txBody>
                    <a:bodyPr wrap="square"/>
                    <a:lstStyle/>
                    <a:p>
                      <a:r>
                        <a:rPr sz="1100" b="0">
                          <a:solidFill>
                            <a:srgbClr val="4B4B4B"/>
                          </a:solidFill>
                          <a:latin typeface="Arial"/>
                        </a:rPr>
                        <a:t>Channel per insurer configurable; no common standard.</a:t>
                      </a:r>
                    </a:p>
                  </a:txBody>
                  <a:tcPr marL="64008" marR="64008" marT="27432" marB="27432" anchor="ctr">
                    <a:solidFill>
                      <a:srgbClr val="FFFFFF"/>
                    </a:solidFill>
                  </a:tcPr>
                </a:tc>
                <a:tc>
                  <a:txBody>
                    <a:bodyPr wrap="square"/>
                    <a:lstStyle/>
                    <a:p>
                      <a:r>
                        <a:rPr sz="1100" b="0">
                          <a:solidFill>
                            <a:srgbClr val="4B4B4B"/>
                          </a:solidFill>
                          <a:latin typeface="Arial"/>
                        </a:rPr>
                        <a:t>A BDOI insurer interface standard (layouts, SFTP / API) and on-boarding waves.</a:t>
                      </a:r>
                    </a:p>
                  </a:txBody>
                  <a:tcPr marL="64008" marR="64008" marT="27432" marB="27432" anchor="ctr">
                    <a:solidFill>
                      <a:srgbClr val="FFFFFF"/>
                    </a:solidFill>
                  </a:tcPr>
                </a:tc>
                <a:tc>
                  <a:txBody>
                    <a:bodyPr wrap="square"/>
                    <a:lstStyle/>
                    <a:p>
                      <a:r>
                        <a:rPr sz="1100" b="0">
                          <a:solidFill>
                            <a:srgbClr val="4B4B4B"/>
                          </a:solidFill>
                          <a:latin typeface="Arial"/>
                        </a:rPr>
                        <a:t>OV-01; Q06</a:t>
                      </a:r>
                    </a:p>
                  </a:txBody>
                  <a:tcPr marL="64008" marR="64008" marT="27432" marB="27432" anchor="ctr">
                    <a:solidFill>
                      <a:srgbClr val="FFFFFF"/>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Government channels</a:t>
                      </a:r>
                    </a:p>
                  </a:txBody>
                  <a:tcPr marL="64008" marR="64008" marT="27432" marB="27432" anchor="ctr">
                    <a:solidFill>
                      <a:srgbClr val="E5F5FF"/>
                    </a:solidFill>
                  </a:tcPr>
                </a:tc>
                <a:tc>
                  <a:txBody>
                    <a:bodyPr wrap="square"/>
                    <a:lstStyle/>
                    <a:p>
                      <a:r>
                        <a:rPr sz="1100" b="0">
                          <a:solidFill>
                            <a:srgbClr val="4B4B4B"/>
                          </a:solidFill>
                          <a:latin typeface="Arial"/>
                        </a:rPr>
                        <a:t>EFPS, BancNet by hand.</a:t>
                      </a:r>
                    </a:p>
                  </a:txBody>
                  <a:tcPr marL="64008" marR="64008" marT="27432" marB="27432" anchor="ctr">
                    <a:solidFill>
                      <a:srgbClr val="E5F5FF"/>
                    </a:solidFill>
                  </a:tcPr>
                </a:tc>
                <a:tc>
                  <a:txBody>
                    <a:bodyPr wrap="square"/>
                    <a:lstStyle/>
                    <a:p>
                      <a:r>
                        <a:rPr sz="1100" b="0">
                          <a:solidFill>
                            <a:srgbClr val="4B4B4B"/>
                          </a:solidFill>
                          <a:latin typeface="Arial"/>
                        </a:rPr>
                        <a:t>Not specified.</a:t>
                      </a:r>
                    </a:p>
                  </a:txBody>
                  <a:tcPr marL="64008" marR="64008" marT="27432" marB="27432" anchor="ctr">
                    <a:solidFill>
                      <a:srgbClr val="E5F5FF"/>
                    </a:solidFill>
                  </a:tcPr>
                </a:tc>
                <a:tc>
                  <a:txBody>
                    <a:bodyPr wrap="square"/>
                    <a:lstStyle/>
                    <a:p>
                      <a:r>
                        <a:rPr sz="1100" b="0">
                          <a:solidFill>
                            <a:srgbClr val="4B4B4B"/>
                          </a:solidFill>
                          <a:latin typeface="Arial"/>
                        </a:rPr>
                        <a:t>Add to the inventory; calendar and confirmation in Disbursement.</a:t>
                      </a:r>
                    </a:p>
                  </a:txBody>
                  <a:tcPr marL="64008" marR="64008" marT="27432" marB="27432" anchor="ctr">
                    <a:solidFill>
                      <a:srgbClr val="E5F5FF"/>
                    </a:solidFill>
                  </a:tcPr>
                </a:tc>
                <a:tc>
                  <a:txBody>
                    <a:bodyPr wrap="square"/>
                    <a:lstStyle/>
                    <a:p>
                      <a:r>
                        <a:rPr sz="1100" b="0">
                          <a:solidFill>
                            <a:srgbClr val="4B4B4B"/>
                          </a:solidFill>
                          <a:latin typeface="Arial"/>
                        </a:rPr>
                        <a:t>Disbursement flow</a:t>
                      </a:r>
                    </a:p>
                  </a:txBody>
                  <a:tcPr marL="64008" marR="64008" marT="27432" marB="27432" anchor="ctr">
                    <a:solidFill>
                      <a:srgbClr val="E5F5FF"/>
                    </a:solidFill>
                  </a:tcPr>
                </a:tc>
              </a:tr>
              <a:tr h="758952">
                <a:tc>
                  <a:txBody>
                    <a:bodyPr wrap="square"/>
                    <a:lstStyle/>
                    <a:p>
                      <a:pPr algn="ctr"/>
                      <a:r>
                        <a:rPr sz="1100" b="1">
                          <a:solidFill>
                            <a:srgbClr val="C62828"/>
                          </a:solidFill>
                          <a:latin typeface="Arial"/>
                        </a:rPr>
                        <a:t>Not in BRD</a:t>
                      </a:r>
                    </a:p>
                  </a:txBody>
                  <a:tcPr marL="64008" marR="64008" marT="27432" marB="27432" anchor="ctr">
                    <a:solidFill>
                      <a:srgbClr val="FDECEA"/>
                    </a:solidFill>
                  </a:tcPr>
                </a:tc>
                <a:tc>
                  <a:txBody>
                    <a:bodyPr wrap="square"/>
                    <a:lstStyle/>
                    <a:p>
                      <a:r>
                        <a:rPr sz="1100" b="1">
                          <a:solidFill>
                            <a:srgbClr val="4B4B4B"/>
                          </a:solidFill>
                          <a:latin typeface="Arial"/>
                        </a:rPr>
                        <a:t>CLAS, CTS feeds</a:t>
                      </a:r>
                    </a:p>
                  </a:txBody>
                  <a:tcPr marL="64008" marR="64008" marT="27432" marB="27432" anchor="ctr">
                    <a:solidFill>
                      <a:srgbClr val="FFFFFF"/>
                    </a:solidFill>
                  </a:tcPr>
                </a:tc>
                <a:tc>
                  <a:txBody>
                    <a:bodyPr wrap="square"/>
                    <a:lstStyle/>
                    <a:p>
                      <a:r>
                        <a:rPr sz="1100" b="0">
                          <a:solidFill>
                            <a:srgbClr val="4B4B4B"/>
                          </a:solidFill>
                          <a:latin typeface="Arial"/>
                        </a:rPr>
                        <a:t>Bank reports sanitised by hand.</a:t>
                      </a:r>
                    </a:p>
                  </a:txBody>
                  <a:tcPr marL="64008" marR="64008" marT="27432" marB="27432" anchor="ctr">
                    <a:solidFill>
                      <a:srgbClr val="FFFFFF"/>
                    </a:solidFill>
                  </a:tcPr>
                </a:tc>
                <a:tc>
                  <a:txBody>
                    <a:bodyPr wrap="square"/>
                    <a:lstStyle/>
                    <a:p>
                      <a:r>
                        <a:rPr sz="1100" b="0">
                          <a:solidFill>
                            <a:srgbClr val="4B4B4B"/>
                          </a:solidFill>
                          <a:latin typeface="Arial"/>
                        </a:rPr>
                        <a:t>HLS only.</a:t>
                      </a:r>
                    </a:p>
                  </a:txBody>
                  <a:tcPr marL="64008" marR="64008" marT="27432" marB="27432" anchor="ctr">
                    <a:solidFill>
                      <a:srgbClr val="FFFFFF"/>
                    </a:solidFill>
                  </a:tcPr>
                </a:tc>
                <a:tc>
                  <a:txBody>
                    <a:bodyPr wrap="square"/>
                    <a:lstStyle/>
                    <a:p>
                      <a:r>
                        <a:rPr sz="1100" b="0">
                          <a:solidFill>
                            <a:srgbClr val="4B4B4B"/>
                          </a:solidFill>
                          <a:latin typeface="Arial"/>
                        </a:rPr>
                        <a:t>Add to the inventory with layouts.</a:t>
                      </a:r>
                    </a:p>
                  </a:txBody>
                  <a:tcPr marL="64008" marR="64008" marT="27432" marB="27432" anchor="ctr">
                    <a:solidFill>
                      <a:srgbClr val="FFFFFF"/>
                    </a:solidFill>
                  </a:tcPr>
                </a:tc>
                <a:tc>
                  <a:txBody>
                    <a:bodyPr wrap="square"/>
                    <a:lstStyle/>
                    <a:p>
                      <a:r>
                        <a:rPr sz="1100" b="0">
                          <a:solidFill>
                            <a:srgbClr val="4B4B4B"/>
                          </a:solidFill>
                          <a:latin typeface="Arial"/>
                        </a:rPr>
                        <a:t>NB flow; Q11</a:t>
                      </a:r>
                    </a:p>
                  </a:txBody>
                  <a:tcPr marL="64008" marR="64008" marT="27432" marB="27432" anchor="ctr">
                    <a:solidFill>
                      <a:srgbClr val="FFFF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EGL and EDP</a:t>
                      </a:r>
                    </a:p>
                  </a:txBody>
                  <a:tcPr marL="64008" marR="64008" marT="27432" marB="27432" anchor="ctr">
                    <a:solidFill>
                      <a:srgbClr val="E5F5FF"/>
                    </a:solidFill>
                  </a:tcPr>
                </a:tc>
                <a:tc>
                  <a:txBody>
                    <a:bodyPr wrap="square"/>
                    <a:lstStyle/>
                    <a:p>
                      <a:r>
                        <a:rPr sz="1100" b="0">
                          <a:solidFill>
                            <a:srgbClr val="4B4B4B"/>
                          </a:solidFill>
                          <a:latin typeface="Arial"/>
                        </a:rPr>
                        <a:t>GARD report exports.</a:t>
                      </a:r>
                    </a:p>
                  </a:txBody>
                  <a:tcPr marL="64008" marR="64008" marT="27432" marB="27432" anchor="ctr">
                    <a:solidFill>
                      <a:srgbClr val="E5F5FF"/>
                    </a:solidFill>
                  </a:tcPr>
                </a:tc>
                <a:tc>
                  <a:txBody>
                    <a:bodyPr wrap="square"/>
                    <a:lstStyle/>
                    <a:p>
                      <a:r>
                        <a:rPr sz="1100" b="0">
                          <a:solidFill>
                            <a:srgbClr val="4B4B4B"/>
                          </a:solidFill>
                          <a:latin typeface="Arial"/>
                        </a:rPr>
                        <a:t>No specification.</a:t>
                      </a:r>
                    </a:p>
                  </a:txBody>
                  <a:tcPr marL="64008" marR="64008" marT="27432" marB="27432" anchor="ctr">
                    <a:solidFill>
                      <a:srgbClr val="E5F5FF"/>
                    </a:solidFill>
                  </a:tcPr>
                </a:tc>
                <a:tc>
                  <a:txBody>
                    <a:bodyPr wrap="square"/>
                    <a:lstStyle/>
                    <a:p>
                      <a:r>
                        <a:rPr sz="1100" b="0">
                          <a:solidFill>
                            <a:srgbClr val="4B4B4B"/>
                          </a:solidFill>
                          <a:latin typeface="Arial"/>
                        </a:rPr>
                        <a:t>BDO IT to specify by 31-Jan-2027.</a:t>
                      </a:r>
                    </a:p>
                  </a:txBody>
                  <a:tcPr marL="64008" marR="64008" marT="27432" marB="27432" anchor="ctr">
                    <a:solidFill>
                      <a:srgbClr val="E5F5FF"/>
                    </a:solidFill>
                  </a:tcPr>
                </a:tc>
                <a:tc>
                  <a:txBody>
                    <a:bodyPr wrap="square"/>
                    <a:lstStyle/>
                    <a:p>
                      <a:r>
                        <a:rPr sz="1100" b="0">
                          <a:solidFill>
                            <a:srgbClr val="4B4B4B"/>
                          </a:solidFill>
                          <a:latin typeface="Arial"/>
                        </a:rPr>
                        <a:t>DCR-233</a:t>
                      </a:r>
                    </a:p>
                  </a:txBody>
                  <a:tcPr marL="64008" marR="64008" marT="27432" marB="27432" anchor="ctr">
                    <a:solidFill>
                      <a:srgbClr val="E5F5FF"/>
                    </a:solidFill>
                  </a:tcPr>
                </a:tc>
              </a:tr>
              <a:tr h="758952">
                <a:tc>
                  <a:txBody>
                    <a:bodyPr wrap="square"/>
                    <a:lstStyle/>
                    <a:p>
                      <a:pPr algn="ctr"/>
                      <a:r>
                        <a:rPr sz="1100" b="1">
                          <a:solidFill>
                            <a:srgbClr val="8A5A00"/>
                          </a:solidFill>
                          <a:latin typeface="Arial"/>
                        </a:rPr>
                        <a:t>Partly in BRD</a:t>
                      </a:r>
                    </a:p>
                  </a:txBody>
                  <a:tcPr marL="64008" marR="64008" marT="27432" marB="27432" anchor="ctr">
                    <a:solidFill>
                      <a:srgbClr val="FFF4D6"/>
                    </a:solidFill>
                  </a:tcPr>
                </a:tc>
                <a:tc>
                  <a:txBody>
                    <a:bodyPr wrap="square"/>
                    <a:lstStyle/>
                    <a:p>
                      <a:r>
                        <a:rPr sz="1100" b="1">
                          <a:solidFill>
                            <a:srgbClr val="4B4B4B"/>
                          </a:solidFill>
                          <a:latin typeface="Arial"/>
                        </a:rPr>
                        <a:t>Bank payment channels</a:t>
                      </a:r>
                    </a:p>
                  </a:txBody>
                  <a:tcPr marL="64008" marR="64008" marT="27432" marB="27432" anchor="ctr">
                    <a:solidFill>
                      <a:srgbClr val="FFFFFF"/>
                    </a:solidFill>
                  </a:tcPr>
                </a:tc>
                <a:tc>
                  <a:txBody>
                    <a:bodyPr wrap="square"/>
                    <a:lstStyle/>
                    <a:p>
                      <a:r>
                        <a:rPr sz="1100" b="0">
                          <a:solidFill>
                            <a:srgbClr val="4B4B4B"/>
                          </a:solidFill>
                          <a:latin typeface="Arial"/>
                        </a:rPr>
                        <a:t>WinSCP to TPD; branch forms.</a:t>
                      </a:r>
                    </a:p>
                  </a:txBody>
                  <a:tcPr marL="64008" marR="64008" marT="27432" marB="27432" anchor="ctr">
                    <a:solidFill>
                      <a:srgbClr val="FFFFFF"/>
                    </a:solidFill>
                  </a:tcPr>
                </a:tc>
                <a:tc>
                  <a:txBody>
                    <a:bodyPr wrap="square"/>
                    <a:lstStyle/>
                    <a:p>
                      <a:r>
                        <a:rPr sz="1100" b="0">
                          <a:solidFill>
                            <a:srgbClr val="4B4B4B"/>
                          </a:solidFill>
                          <a:latin typeface="Arial"/>
                        </a:rPr>
                        <a:t>Named; layouts and transport open.</a:t>
                      </a:r>
                    </a:p>
                  </a:txBody>
                  <a:tcPr marL="64008" marR="64008" marT="27432" marB="27432" anchor="ctr">
                    <a:solidFill>
                      <a:srgbClr val="FFFFFF"/>
                    </a:solidFill>
                  </a:tcPr>
                </a:tc>
                <a:tc>
                  <a:txBody>
                    <a:bodyPr wrap="square"/>
                    <a:lstStyle/>
                    <a:p>
                      <a:r>
                        <a:rPr sz="1100" b="0">
                          <a:solidFill>
                            <a:srgbClr val="4B4B4B"/>
                          </a:solidFill>
                          <a:latin typeface="Arial"/>
                        </a:rPr>
                        <a:t>Host-to-host with status back.</a:t>
                      </a:r>
                    </a:p>
                  </a:txBody>
                  <a:tcPr marL="64008" marR="64008" marT="27432" marB="27432" anchor="ctr">
                    <a:solidFill>
                      <a:srgbClr val="FFFFFF"/>
                    </a:solidFill>
                  </a:tcPr>
                </a:tc>
                <a:tc>
                  <a:txBody>
                    <a:bodyPr wrap="square"/>
                    <a:lstStyle/>
                    <a:p>
                      <a:r>
                        <a:rPr sz="1100" b="0">
                          <a:solidFill>
                            <a:srgbClr val="4B4B4B"/>
                          </a:solidFill>
                          <a:latin typeface="Arial"/>
                        </a:rPr>
                        <a:t>DCR-234; AQ09</a:t>
                      </a:r>
                    </a:p>
                  </a:txBody>
                  <a:tcPr marL="64008" marR="64008" marT="27432" marB="27432" anchor="ctr">
                    <a:solidFill>
                      <a:srgbClr val="FFFFFF"/>
                    </a:solidFill>
                  </a:tcPr>
                </a:tc>
              </a:tr>
              <a:tr h="758952">
                <a:tc>
                  <a:txBody>
                    <a:bodyPr wrap="square"/>
                    <a:lstStyle/>
                    <a:p>
                      <a:pPr algn="ctr"/>
                      <a:r>
                        <a:rPr sz="1100" b="1">
                          <a:solidFill>
                            <a:srgbClr val="4527A0"/>
                          </a:solidFill>
                          <a:latin typeface="Arial"/>
                        </a:rPr>
                        <a:t>BDOI to confirm</a:t>
                      </a:r>
                    </a:p>
                  </a:txBody>
                  <a:tcPr marL="64008" marR="64008" marT="27432" marB="27432" anchor="ctr">
                    <a:solidFill>
                      <a:srgbClr val="EDE7F6"/>
                    </a:solidFill>
                  </a:tcPr>
                </a:tc>
                <a:tc>
                  <a:txBody>
                    <a:bodyPr wrap="square"/>
                    <a:lstStyle/>
                    <a:p>
                      <a:r>
                        <a:rPr sz="1100" b="1">
                          <a:solidFill>
                            <a:srgbClr val="4B4B4B"/>
                          </a:solidFill>
                          <a:latin typeface="Arial"/>
                        </a:rPr>
                        <a:t>Print channel</a:t>
                      </a:r>
                    </a:p>
                  </a:txBody>
                  <a:tcPr marL="64008" marR="64008" marT="27432" marB="27432" anchor="ctr">
                    <a:solidFill>
                      <a:srgbClr val="E5F5FF"/>
                    </a:solidFill>
                  </a:tcPr>
                </a:tc>
                <a:tc>
                  <a:txBody>
                    <a:bodyPr wrap="square"/>
                    <a:lstStyle/>
                    <a:p>
                      <a:r>
                        <a:rPr sz="1100" b="0">
                          <a:solidFill>
                            <a:srgbClr val="4B4B4B"/>
                          </a:solidFill>
                          <a:latin typeface="Arial"/>
                        </a:rPr>
                        <a:t>COG prints RA and reminders.</a:t>
                      </a:r>
                    </a:p>
                  </a:txBody>
                  <a:tcPr marL="64008" marR="64008" marT="27432" marB="27432" anchor="ctr">
                    <a:solidFill>
                      <a:srgbClr val="E5F5FF"/>
                    </a:solidFill>
                  </a:tcPr>
                </a:tc>
                <a:tc>
                  <a:txBody>
                    <a:bodyPr wrap="square"/>
                    <a:lstStyle/>
                    <a:p>
                      <a:r>
                        <a:rPr sz="1100" b="0">
                          <a:solidFill>
                            <a:srgbClr val="4B4B4B"/>
                          </a:solidFill>
                          <a:latin typeface="Arial"/>
                        </a:rPr>
                        <a:t>Channel open.</a:t>
                      </a:r>
                    </a:p>
                  </a:txBody>
                  <a:tcPr marL="64008" marR="64008" marT="27432" marB="27432" anchor="ctr">
                    <a:solidFill>
                      <a:srgbClr val="E5F5FF"/>
                    </a:solidFill>
                  </a:tcPr>
                </a:tc>
                <a:tc>
                  <a:txBody>
                    <a:bodyPr wrap="square"/>
                    <a:lstStyle/>
                    <a:p>
                      <a:r>
                        <a:rPr sz="1100" b="0">
                          <a:solidFill>
                            <a:srgbClr val="4B4B4B"/>
                          </a:solidFill>
                          <a:latin typeface="Arial"/>
                        </a:rPr>
                        <a:t>Mail-house batch with tracking.</a:t>
                      </a:r>
                    </a:p>
                  </a:txBody>
                  <a:tcPr marL="64008" marR="64008" marT="27432" marB="27432" anchor="ctr">
                    <a:solidFill>
                      <a:srgbClr val="E5F5FF"/>
                    </a:solidFill>
                  </a:tcPr>
                </a:tc>
                <a:tc>
                  <a:txBody>
                    <a:bodyPr wrap="square"/>
                    <a:lstStyle/>
                    <a:p>
                      <a:r>
                        <a:rPr sz="1100" b="0">
                          <a:solidFill>
                            <a:srgbClr val="4B4B4B"/>
                          </a:solidFill>
                          <a:latin typeface="Arial"/>
                        </a:rPr>
                        <a:t>SQ09</a:t>
                      </a:r>
                    </a:p>
                  </a:txBody>
                  <a:tcPr marL="64008" marR="64008" marT="27432" marB="27432" anchor="ctr">
                    <a:solidFill>
                      <a:srgbClr val="E5F5FF"/>
                    </a:solidFill>
                  </a:tcPr>
                </a:tc>
              </a:tr>
            </a:tbl>
          </a:graphicData>
        </a:graphic>
      </p:graphicFrame>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15. Integrations: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insurer interface standard</a:t>
            </a:r>
          </a:p>
        </p:txBody>
      </p:sp>
      <p:sp>
        <p:nvSpPr>
          <p:cNvPr id="12" name="Rounded Rectangle 11"/>
          <p:cNvSpPr/>
          <p:nvPr/>
        </p:nvSpPr>
        <p:spPr>
          <a:xfrm>
            <a:off x="640080" y="1920240"/>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13" name="TextBox 12"/>
          <p:cNvSpPr txBox="1"/>
          <p:nvPr/>
        </p:nvSpPr>
        <p:spPr>
          <a:xfrm>
            <a:off x="2331720"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Scale to 55 insurers</a:t>
            </a:r>
          </a:p>
        </p:txBody>
      </p:sp>
      <p:sp>
        <p:nvSpPr>
          <p:cNvPr id="14" name="TextBox 13"/>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One BDOI layout and channel (API or SFTP) for slips, e-policies, SOAs and recon files; insurers on-boarded in waves.</a:t>
            </a:r>
          </a:p>
          <a:p>
            <a:pPr>
              <a:spcAft>
                <a:spcPts val="400"/>
              </a:spcAft>
            </a:pPr>
            <a:r>
              <a:rPr sz="1200" b="1">
                <a:solidFill>
                  <a:srgbClr val="004EA8"/>
                </a:solidFill>
                <a:latin typeface="Arial"/>
              </a:rPr>
              <a:t>For BDOI: </a:t>
            </a:r>
            <a:r>
              <a:rPr sz="1200" b="0">
                <a:solidFill>
                  <a:srgbClr val="4B4B4B"/>
                </a:solidFill>
                <a:latin typeface="Arial"/>
              </a:rPr>
              <a:t>Start with the top 10 insurers by premium.</a:t>
            </a:r>
          </a:p>
        </p:txBody>
      </p:sp>
      <p:sp>
        <p:nvSpPr>
          <p:cNvPr id="15" name="Rounded Rectangle 14"/>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Integration layer with monitoring</a:t>
            </a:r>
          </a:p>
        </p:txBody>
      </p:sp>
      <p:sp>
        <p:nvSpPr>
          <p:cNvPr id="18" name="Rounded Rectangle 17"/>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19" name="TextBox 18"/>
          <p:cNvSpPr txBox="1"/>
          <p:nvPr/>
        </p:nvSpPr>
        <p:spPr>
          <a:xfrm>
            <a:off x="6084722"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IT batches</a:t>
            </a:r>
          </a:p>
        </p:txBody>
      </p:sp>
      <p:sp>
        <p:nvSpPr>
          <p:cNvPr id="20" name="TextBox 19"/>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All files and APIs through one layer with retries, alerts and a message log.</a:t>
            </a:r>
          </a:p>
          <a:p>
            <a:pPr>
              <a:spcAft>
                <a:spcPts val="400"/>
              </a:spcAft>
            </a:pPr>
            <a:r>
              <a:rPr sz="1200" b="1">
                <a:solidFill>
                  <a:srgbClr val="004EA8"/>
                </a:solidFill>
                <a:latin typeface="Arial"/>
              </a:rPr>
              <a:t>For BDOI: </a:t>
            </a:r>
            <a:r>
              <a:rPr sz="1200" b="0">
                <a:solidFill>
                  <a:srgbClr val="4B4B4B"/>
                </a:solidFill>
                <a:latin typeface="Arial"/>
              </a:rPr>
              <a:t>Agree with BDO IT architecture.</a:t>
            </a:r>
          </a:p>
        </p:txBody>
      </p:sp>
      <p:sp>
        <p:nvSpPr>
          <p:cNvPr id="21" name="Rounded Rectangle 20"/>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Bank host-to-host</a:t>
            </a:r>
          </a:p>
        </p:txBody>
      </p:sp>
      <p:sp>
        <p:nvSpPr>
          <p:cNvPr id="24" name="Rounded Rectangle 23"/>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BRD</a:t>
            </a:r>
          </a:p>
        </p:txBody>
      </p:sp>
      <p:sp>
        <p:nvSpPr>
          <p:cNvPr id="25" name="TextBox 24"/>
          <p:cNvSpPr txBox="1"/>
          <p:nvPr/>
        </p:nvSpPr>
        <p:spPr>
          <a:xfrm>
            <a:off x="9837724" y="1901952"/>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Same-day status</a:t>
            </a:r>
          </a:p>
        </p:txBody>
      </p:sp>
      <p:sp>
        <p:nvSpPr>
          <p:cNvPr id="26" name="TextBox 25"/>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Collections and payments by host-to-host with status callbacks.</a:t>
            </a:r>
          </a:p>
          <a:p>
            <a:pPr>
              <a:spcAft>
                <a:spcPts val="400"/>
              </a:spcAft>
            </a:pPr>
            <a:r>
              <a:rPr sz="1200" b="1">
                <a:solidFill>
                  <a:srgbClr val="004EA8"/>
                </a:solidFill>
                <a:latin typeface="Arial"/>
              </a:rPr>
              <a:t>For BDOI: </a:t>
            </a:r>
            <a:r>
              <a:rPr sz="1200" b="0">
                <a:solidFill>
                  <a:srgbClr val="4B4B4B"/>
                </a:solidFill>
                <a:latin typeface="Arial"/>
              </a:rPr>
              <a:t>Plan with BDO transaction banking.</a:t>
            </a:r>
          </a:p>
        </p:txBody>
      </p:sp>
      <p:sp>
        <p:nvSpPr>
          <p:cNvPr id="27" name="Rounded Rectangle 26"/>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Event-driven notices</a:t>
            </a:r>
          </a:p>
        </p:txBody>
      </p:sp>
      <p:sp>
        <p:nvSpPr>
          <p:cNvPr id="30" name="Rounded Rectangle 29"/>
          <p:cNvSpPr/>
          <p:nvPr/>
        </p:nvSpPr>
        <p:spPr>
          <a:xfrm>
            <a:off x="640080"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Beyond the BRD</a:t>
            </a:r>
          </a:p>
        </p:txBody>
      </p:sp>
      <p:sp>
        <p:nvSpPr>
          <p:cNvPr id="31" name="TextBox 30"/>
          <p:cNvSpPr txBox="1"/>
          <p:nvPr/>
        </p:nvSpPr>
        <p:spPr>
          <a:xfrm>
            <a:off x="2331720"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Real-time status</a:t>
            </a:r>
          </a:p>
        </p:txBody>
      </p:sp>
      <p:sp>
        <p:nvSpPr>
          <p:cNvPr id="32" name="TextBox 31"/>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Business events published once for reports, analytics and partners.</a:t>
            </a:r>
          </a:p>
          <a:p>
            <a:pPr>
              <a:spcAft>
                <a:spcPts val="400"/>
              </a:spcAft>
            </a:pPr>
            <a:r>
              <a:rPr sz="1200" b="1">
                <a:solidFill>
                  <a:srgbClr val="004EA8"/>
                </a:solidFill>
                <a:latin typeface="Arial"/>
              </a:rPr>
              <a:t>For BDOI: </a:t>
            </a:r>
            <a:r>
              <a:rPr sz="1200" b="0">
                <a:solidFill>
                  <a:srgbClr val="4B4B4B"/>
                </a:solidFill>
                <a:latin typeface="Arial"/>
              </a:rPr>
              <a:t>Use for the EDP feed.</a:t>
            </a:r>
          </a:p>
        </p:txBody>
      </p:sp>
      <p:sp>
        <p:nvSpPr>
          <p:cNvPr id="33" name="Rounded Rectangle 32"/>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Partner portals</a:t>
            </a:r>
          </a:p>
        </p:txBody>
      </p:sp>
      <p:sp>
        <p:nvSpPr>
          <p:cNvPr id="36" name="Rounded Rectangle 35"/>
          <p:cNvSpPr/>
          <p:nvPr/>
        </p:nvSpPr>
        <p:spPr>
          <a:xfrm>
            <a:off x="4393082" y="4448556"/>
            <a:ext cx="1600200" cy="256032"/>
          </a:xfrm>
          <a:prstGeom prst="roundRect">
            <a:avLst/>
          </a:prstGeom>
          <a:solidFill>
            <a:srgbClr val="EDE7F6"/>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527A0"/>
                </a:solidFill>
                <a:latin typeface="Arial"/>
              </a:rPr>
              <a:t>BDOI to confirm</a:t>
            </a:r>
          </a:p>
        </p:txBody>
      </p:sp>
      <p:sp>
        <p:nvSpPr>
          <p:cNvPr id="37" name="TextBox 36"/>
          <p:cNvSpPr txBox="1"/>
          <p:nvPr/>
        </p:nvSpPr>
        <p:spPr>
          <a:xfrm>
            <a:off x="6084722" y="4430268"/>
            <a:ext cx="1713891"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Self-service</a:t>
            </a:r>
          </a:p>
        </p:txBody>
      </p:sp>
      <p:sp>
        <p:nvSpPr>
          <p:cNvPr id="38" name="TextBox 37"/>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Insurers, HMOs and client HR upload and download through a portal.</a:t>
            </a:r>
          </a:p>
          <a:p>
            <a:pPr>
              <a:spcAft>
                <a:spcPts val="400"/>
              </a:spcAft>
            </a:pPr>
            <a:r>
              <a:rPr sz="1200" b="1">
                <a:solidFill>
                  <a:srgbClr val="004EA8"/>
                </a:solidFill>
                <a:latin typeface="Arial"/>
              </a:rPr>
              <a:t>For BDOI: </a:t>
            </a:r>
            <a:r>
              <a:rPr sz="1200" b="0">
                <a:solidFill>
                  <a:srgbClr val="4B4B4B"/>
                </a:solidFill>
                <a:latin typeface="Arial"/>
              </a:rPr>
              <a:t>Confirm timing (DCR-211).</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16. Shared capabilities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graphicFrame>
        <p:nvGraphicFramePr>
          <p:cNvPr id="9" name="Table 8"/>
          <p:cNvGraphicFramePr>
            <a:graphicFrameLocks noGrp="1"/>
          </p:cNvGraphicFramePr>
          <p:nvPr/>
        </p:nvGraphicFramePr>
        <p:xfrm>
          <a:off x="548640" y="1280160"/>
          <a:ext cx="11094413" cy="4023360"/>
        </p:xfrm>
        <a:graphic>
          <a:graphicData uri="http://schemas.openxmlformats.org/drawingml/2006/table">
            <a:tbl>
              <a:tblPr firstRow="1" bandRow="1">
                <a:tableStyleId>{5C22544A-7EE6-4342-B048-85BDC9FD1C3A}</a:tableStyleId>
              </a:tblPr>
              <a:tblGrid>
                <a:gridCol w="1789421"/>
                <a:gridCol w="3220959"/>
                <a:gridCol w="2863074"/>
                <a:gridCol w="3220959"/>
              </a:tblGrid>
              <a:tr h="365760">
                <a:tc>
                  <a:txBody>
                    <a:bodyPr wrap="square"/>
                    <a:lstStyle/>
                    <a:p>
                      <a:r>
                        <a:rPr sz="1100" b="1">
                          <a:solidFill>
                            <a:srgbClr val="FFFFFF"/>
                          </a:solidFill>
                          <a:latin typeface="Arial"/>
                        </a:rPr>
                        <a:t>Capability</a:t>
                      </a:r>
                    </a:p>
                  </a:txBody>
                  <a:tcPr marL="64008" marR="64008" marT="27432" marB="27432" anchor="ctr">
                    <a:solidFill>
                      <a:srgbClr val="004EA8"/>
                    </a:solidFill>
                  </a:tcPr>
                </a:tc>
                <a:tc>
                  <a:txBody>
                    <a:bodyPr wrap="square"/>
                    <a:lstStyle/>
                    <a:p>
                      <a:r>
                        <a:rPr sz="1100" b="1">
                          <a:solidFill>
                            <a:srgbClr val="FFFFFF"/>
                          </a:solidFill>
                          <a:latin typeface="Arial"/>
                        </a:rPr>
                        <a:t>What the floor walk showed</a:t>
                      </a:r>
                    </a:p>
                  </a:txBody>
                  <a:tcPr marL="64008" marR="64008" marT="27432" marB="27432" anchor="ctr">
                    <a:solidFill>
                      <a:srgbClr val="004EA8"/>
                    </a:solidFill>
                  </a:tcPr>
                </a:tc>
                <a:tc>
                  <a:txBody>
                    <a:bodyPr wrap="square"/>
                    <a:lstStyle/>
                    <a:p>
                      <a:r>
                        <a:rPr sz="1100" b="1">
                          <a:solidFill>
                            <a:srgbClr val="FFFFFF"/>
                          </a:solidFill>
                          <a:latin typeface="Arial"/>
                        </a:rPr>
                        <a:t>In the BRDs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r>
              <a:tr h="731520">
                <a:tc>
                  <a:txBody>
                    <a:bodyPr wrap="square"/>
                    <a:lstStyle/>
                    <a:p>
                      <a:r>
                        <a:rPr sz="1100" b="1">
                          <a:solidFill>
                            <a:srgbClr val="4B4B4B"/>
                          </a:solidFill>
                          <a:latin typeface="Arial"/>
                        </a:rPr>
                        <a:t>One lifecycle reference</a:t>
                      </a:r>
                    </a:p>
                  </a:txBody>
                  <a:tcPr marL="64008" marR="64008" marT="27432" marB="27432" anchor="ctr">
                    <a:solidFill>
                      <a:srgbClr val="FFFFFF"/>
                    </a:solidFill>
                  </a:tcPr>
                </a:tc>
                <a:tc>
                  <a:txBody>
                    <a:bodyPr wrap="square"/>
                    <a:lstStyle/>
                    <a:p>
                      <a:r>
                        <a:rPr sz="1100" b="0">
                          <a:solidFill>
                            <a:srgbClr val="4B4B4B"/>
                          </a:solidFill>
                          <a:latin typeface="Arial"/>
                        </a:rPr>
                        <a:t>Three system references per deal (OV-03)</a:t>
                      </a:r>
                    </a:p>
                  </a:txBody>
                  <a:tcPr marL="64008" marR="64008" marT="27432" marB="27432" anchor="ctr">
                    <a:solidFill>
                      <a:srgbClr val="FFFFFF"/>
                    </a:solidFill>
                  </a:tcPr>
                </a:tc>
                <a:tc>
                  <a:txBody>
                    <a:bodyPr wrap="square"/>
                    <a:lstStyle/>
                    <a:p>
                      <a:r>
                        <a:rPr sz="1100" b="0">
                          <a:solidFill>
                            <a:srgbClr val="4B4B4B"/>
                          </a:solidFill>
                          <a:latin typeface="Arial"/>
                        </a:rPr>
                        <a:t>ARN and invoice ledger</a:t>
                      </a:r>
                    </a:p>
                  </a:txBody>
                  <a:tcPr marL="64008" marR="64008" marT="27432" marB="27432" anchor="ctr">
                    <a:solidFill>
                      <a:srgbClr val="FFFFFF"/>
                    </a:solidFill>
                  </a:tcPr>
                </a:tc>
                <a:tc>
                  <a:txBody>
                    <a:bodyPr wrap="square"/>
                    <a:lstStyle/>
                    <a:p>
                      <a:r>
                        <a:rPr sz="1100" b="0">
                          <a:solidFill>
                            <a:srgbClr val="4B4B4B"/>
                          </a:solidFill>
                          <a:latin typeface="Arial"/>
                        </a:rPr>
                        <a:t>Confirm one reference on every document</a:t>
                      </a:r>
                    </a:p>
                  </a:txBody>
                  <a:tcPr marL="64008" marR="64008" marT="27432" marB="27432" anchor="ctr">
                    <a:solidFill>
                      <a:srgbClr val="FFFFFF"/>
                    </a:solidFill>
                  </a:tcPr>
                </a:tc>
              </a:tr>
              <a:tr h="731520">
                <a:tc>
                  <a:txBody>
                    <a:bodyPr wrap="square"/>
                    <a:lstStyle/>
                    <a:p>
                      <a:r>
                        <a:rPr sz="1100" b="1">
                          <a:solidFill>
                            <a:srgbClr val="4B4B4B"/>
                          </a:solidFill>
                          <a:latin typeface="Arial"/>
                        </a:rPr>
                        <a:t>Documents and templates</a:t>
                      </a:r>
                    </a:p>
                  </a:txBody>
                  <a:tcPr marL="64008" marR="64008" marT="27432" marB="27432" anchor="ctr">
                    <a:solidFill>
                      <a:srgbClr val="E5F5FF"/>
                    </a:solidFill>
                  </a:tcPr>
                </a:tc>
                <a:tc>
                  <a:txBody>
                    <a:bodyPr wrap="square"/>
                    <a:lstStyle/>
                    <a:p>
                      <a:r>
                        <a:rPr sz="1100" b="0">
                          <a:solidFill>
                            <a:srgbClr val="4B4B4B"/>
                          </a:solidFill>
                          <a:latin typeface="Arial"/>
                        </a:rPr>
                        <a:t>Insurer templates for schedules; BDOI template for RA only (DC-01)</a:t>
                      </a:r>
                    </a:p>
                  </a:txBody>
                  <a:tcPr marL="64008" marR="64008" marT="27432" marB="27432" anchor="ctr">
                    <a:solidFill>
                      <a:srgbClr val="E5F5FF"/>
                    </a:solidFill>
                  </a:tcPr>
                </a:tc>
                <a:tc>
                  <a:txBody>
                    <a:bodyPr wrap="square"/>
                    <a:lstStyle/>
                    <a:p>
                      <a:r>
                        <a:rPr sz="1100" b="0">
                          <a:solidFill>
                            <a:srgbClr val="4B4B4B"/>
                          </a:solidFill>
                          <a:latin typeface="Arial"/>
                        </a:rPr>
                        <a:t>Templates per module, versioned</a:t>
                      </a:r>
                    </a:p>
                  </a:txBody>
                  <a:tcPr marL="64008" marR="64008" marT="27432" marB="27432" anchor="ctr">
                    <a:solidFill>
                      <a:srgbClr val="E5F5FF"/>
                    </a:solidFill>
                  </a:tcPr>
                </a:tc>
                <a:tc>
                  <a:txBody>
                    <a:bodyPr wrap="square"/>
                    <a:lstStyle/>
                    <a:p>
                      <a:r>
                        <a:rPr sz="1100" b="0">
                          <a:solidFill>
                            <a:srgbClr val="4B4B4B"/>
                          </a:solidFill>
                          <a:latin typeface="Arial"/>
                        </a:rPr>
                        <a:t>One template library owned by the business</a:t>
                      </a:r>
                    </a:p>
                  </a:txBody>
                  <a:tcPr marL="64008" marR="64008" marT="27432" marB="27432" anchor="ctr">
                    <a:solidFill>
                      <a:srgbClr val="E5F5FF"/>
                    </a:solidFill>
                  </a:tcPr>
                </a:tc>
              </a:tr>
              <a:tr h="731520">
                <a:tc>
                  <a:txBody>
                    <a:bodyPr wrap="square"/>
                    <a:lstStyle/>
                    <a:p>
                      <a:r>
                        <a:rPr sz="1100" b="1">
                          <a:solidFill>
                            <a:srgbClr val="4B4B4B"/>
                          </a:solidFill>
                          <a:latin typeface="Arial"/>
                        </a:rPr>
                        <a:t>E-signature</a:t>
                      </a:r>
                    </a:p>
                  </a:txBody>
                  <a:tcPr marL="64008" marR="64008" marT="27432" marB="27432" anchor="ctr">
                    <a:solidFill>
                      <a:srgbClr val="FFFFFF"/>
                    </a:solidFill>
                  </a:tcPr>
                </a:tc>
                <a:tc>
                  <a:txBody>
                    <a:bodyPr wrap="square"/>
                    <a:lstStyle/>
                    <a:p>
                      <a:r>
                        <a:rPr sz="1100" b="0">
                          <a:solidFill>
                            <a:srgbClr val="4B4B4B"/>
                          </a:solidFill>
                          <a:latin typeface="Arial"/>
                        </a:rPr>
                        <a:t>Wet signatures on refunds, disbursements, ManCom; signed copy for audit</a:t>
                      </a:r>
                    </a:p>
                  </a:txBody>
                  <a:tcPr marL="64008" marR="64008" marT="27432" marB="27432" anchor="ctr">
                    <a:solidFill>
                      <a:srgbClr val="FFFFFF"/>
                    </a:solidFill>
                  </a:tcPr>
                </a:tc>
                <a:tc>
                  <a:txBody>
                    <a:bodyPr wrap="square"/>
                    <a:lstStyle/>
                    <a:p>
                      <a:r>
                        <a:rPr sz="1100" b="0">
                          <a:solidFill>
                            <a:srgbClr val="4B4B4B"/>
                          </a:solidFill>
                          <a:latin typeface="Arial"/>
                        </a:rPr>
                        <a:t>Not a platform requirement</a:t>
                      </a:r>
                    </a:p>
                  </a:txBody>
                  <a:tcPr marL="64008" marR="64008" marT="27432" marB="27432" anchor="ctr">
                    <a:solidFill>
                      <a:srgbClr val="FFFFFF"/>
                    </a:solidFill>
                  </a:tcPr>
                </a:tc>
                <a:tc>
                  <a:txBody>
                    <a:bodyPr wrap="square"/>
                    <a:lstStyle/>
                    <a:p>
                      <a:r>
                        <a:rPr sz="1100" b="0">
                          <a:solidFill>
                            <a:srgbClr val="4B4B4B"/>
                          </a:solidFill>
                          <a:latin typeface="Arial"/>
                        </a:rPr>
                        <a:t>Decision with Legal and Compliance (CP-01)</a:t>
                      </a:r>
                    </a:p>
                  </a:txBody>
                  <a:tcPr marL="64008" marR="64008" marT="27432" marB="27432" anchor="ctr">
                    <a:solidFill>
                      <a:srgbClr val="FFFFFF"/>
                    </a:solidFill>
                  </a:tcPr>
                </a:tc>
              </a:tr>
              <a:tr h="731520">
                <a:tc>
                  <a:txBody>
                    <a:bodyPr wrap="square"/>
                    <a:lstStyle/>
                    <a:p>
                      <a:r>
                        <a:rPr sz="1100" b="1">
                          <a:solidFill>
                            <a:srgbClr val="4B4B4B"/>
                          </a:solidFill>
                          <a:latin typeface="Arial"/>
                        </a:rPr>
                        <a:t>SLA and TAT</a:t>
                      </a:r>
                    </a:p>
                  </a:txBody>
                  <a:tcPr marL="64008" marR="64008" marT="27432" marB="27432" anchor="ctr">
                    <a:solidFill>
                      <a:srgbClr val="E5F5FF"/>
                    </a:solidFill>
                  </a:tcPr>
                </a:tc>
                <a:tc>
                  <a:txBody>
                    <a:bodyPr wrap="square"/>
                    <a:lstStyle/>
                    <a:p>
                      <a:r>
                        <a:rPr sz="1100" b="0">
                          <a:solidFill>
                            <a:srgbClr val="4B4B4B"/>
                          </a:solidFill>
                          <a:latin typeface="Arial"/>
                        </a:rPr>
                        <a:t>7 / 3 days NB, 24 h / 3 days RI, TAT in cases</a:t>
                      </a:r>
                    </a:p>
                  </a:txBody>
                  <a:tcPr marL="64008" marR="64008" marT="27432" marB="27432" anchor="ctr">
                    <a:solidFill>
                      <a:srgbClr val="E5F5FF"/>
                    </a:solidFill>
                  </a:tcPr>
                </a:tc>
                <a:tc>
                  <a:txBody>
                    <a:bodyPr wrap="square"/>
                    <a:lstStyle/>
                    <a:p>
                      <a:r>
                        <a:rPr sz="1100" b="0">
                          <a:solidFill>
                            <a:srgbClr val="4B4B4B"/>
                          </a:solidFill>
                          <a:latin typeface="Arial"/>
                        </a:rPr>
                        <a:t>SLA timers in some BRDs; values open</a:t>
                      </a:r>
                    </a:p>
                  </a:txBody>
                  <a:tcPr marL="64008" marR="64008" marT="27432" marB="27432" anchor="ctr">
                    <a:solidFill>
                      <a:srgbClr val="E5F5FF"/>
                    </a:solidFill>
                  </a:tcPr>
                </a:tc>
                <a:tc>
                  <a:txBody>
                    <a:bodyPr wrap="square"/>
                    <a:lstStyle/>
                    <a:p>
                      <a:r>
                        <a:rPr sz="1100" b="0">
                          <a:solidFill>
                            <a:srgbClr val="4B4B4B"/>
                          </a:solidFill>
                          <a:latin typeface="Arial"/>
                        </a:rPr>
                        <a:t>One SLA catalogue with values per step</a:t>
                      </a:r>
                    </a:p>
                  </a:txBody>
                  <a:tcPr marL="64008" marR="64008" marT="27432" marB="27432" anchor="ctr">
                    <a:solidFill>
                      <a:srgbClr val="E5F5FF"/>
                    </a:solidFill>
                  </a:tcPr>
                </a:tc>
              </a:tr>
              <a:tr h="731520">
                <a:tc>
                  <a:txBody>
                    <a:bodyPr wrap="square"/>
                    <a:lstStyle/>
                    <a:p>
                      <a:r>
                        <a:rPr sz="1100" b="1">
                          <a:solidFill>
                            <a:srgbClr val="4B4B4B"/>
                          </a:solidFill>
                          <a:latin typeface="Arial"/>
                        </a:rPr>
                        <a:t>Notifications</a:t>
                      </a:r>
                    </a:p>
                  </a:txBody>
                  <a:tcPr marL="64008" marR="64008" marT="27432" marB="27432" anchor="ctr">
                    <a:solidFill>
                      <a:srgbClr val="FFFFFF"/>
                    </a:solidFill>
                  </a:tcPr>
                </a:tc>
                <a:tc>
                  <a:txBody>
                    <a:bodyPr wrap="square"/>
                    <a:lstStyle/>
                    <a:p>
                      <a:r>
                        <a:rPr sz="1100" b="0">
                          <a:solidFill>
                            <a:srgbClr val="4B4B4B"/>
                          </a:solidFill>
                          <a:latin typeface="Arial"/>
                        </a:rPr>
                        <a:t>Follow-ups by e-mail, phone, chat</a:t>
                      </a:r>
                    </a:p>
                  </a:txBody>
                  <a:tcPr marL="64008" marR="64008" marT="27432" marB="27432" anchor="ctr">
                    <a:solidFill>
                      <a:srgbClr val="FFFFFF"/>
                    </a:solidFill>
                  </a:tcPr>
                </a:tc>
                <a:tc>
                  <a:txBody>
                    <a:bodyPr wrap="square"/>
                    <a:lstStyle/>
                    <a:p>
                      <a:r>
                        <a:rPr sz="1100" b="0">
                          <a:solidFill>
                            <a:srgbClr val="4B4B4B"/>
                          </a:solidFill>
                          <a:latin typeface="Arial"/>
                        </a:rPr>
                        <a:t>Notifications per workflow step</a:t>
                      </a:r>
                    </a:p>
                  </a:txBody>
                  <a:tcPr marL="64008" marR="64008" marT="27432" marB="27432" anchor="ctr">
                    <a:solidFill>
                      <a:srgbClr val="FFFFFF"/>
                    </a:solidFill>
                  </a:tcPr>
                </a:tc>
                <a:tc>
                  <a:txBody>
                    <a:bodyPr wrap="square"/>
                    <a:lstStyle/>
                    <a:p>
                      <a:r>
                        <a:rPr sz="1100" b="0">
                          <a:solidFill>
                            <a:srgbClr val="4B4B4B"/>
                          </a:solidFill>
                          <a:latin typeface="Arial"/>
                        </a:rPr>
                        <a:t>Add client-facing SMS and e-mail</a:t>
                      </a:r>
                    </a:p>
                  </a:txBody>
                  <a:tcPr marL="64008" marR="64008" marT="27432" marB="27432" anchor="ctr">
                    <a:solidFill>
                      <a:srgbClr val="FFFFFF"/>
                    </a:solidFill>
                  </a:tcPr>
                </a:tc>
              </a:tr>
            </a:tbl>
          </a:graphicData>
        </a:graphic>
      </p:graphicFrame>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16. Shared capabilities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graphicFrame>
        <p:nvGraphicFramePr>
          <p:cNvPr id="9" name="Table 8"/>
          <p:cNvGraphicFramePr>
            <a:graphicFrameLocks noGrp="1"/>
          </p:cNvGraphicFramePr>
          <p:nvPr/>
        </p:nvGraphicFramePr>
        <p:xfrm>
          <a:off x="548640" y="1280160"/>
          <a:ext cx="11094413" cy="3291840"/>
        </p:xfrm>
        <a:graphic>
          <a:graphicData uri="http://schemas.openxmlformats.org/drawingml/2006/table">
            <a:tbl>
              <a:tblPr firstRow="1" bandRow="1">
                <a:tableStyleId>{5C22544A-7EE6-4342-B048-85BDC9FD1C3A}</a:tableStyleId>
              </a:tblPr>
              <a:tblGrid>
                <a:gridCol w="1789421"/>
                <a:gridCol w="3220959"/>
                <a:gridCol w="2863074"/>
                <a:gridCol w="3220959"/>
              </a:tblGrid>
              <a:tr h="365760">
                <a:tc>
                  <a:txBody>
                    <a:bodyPr wrap="square"/>
                    <a:lstStyle/>
                    <a:p>
                      <a:r>
                        <a:rPr sz="1100" b="1">
                          <a:solidFill>
                            <a:srgbClr val="FFFFFF"/>
                          </a:solidFill>
                          <a:latin typeface="Arial"/>
                        </a:rPr>
                        <a:t>Capability</a:t>
                      </a:r>
                    </a:p>
                  </a:txBody>
                  <a:tcPr marL="64008" marR="64008" marT="27432" marB="27432" anchor="ctr">
                    <a:solidFill>
                      <a:srgbClr val="004EA8"/>
                    </a:solidFill>
                  </a:tcPr>
                </a:tc>
                <a:tc>
                  <a:txBody>
                    <a:bodyPr wrap="square"/>
                    <a:lstStyle/>
                    <a:p>
                      <a:r>
                        <a:rPr sz="1100" b="1">
                          <a:solidFill>
                            <a:srgbClr val="FFFFFF"/>
                          </a:solidFill>
                          <a:latin typeface="Arial"/>
                        </a:rPr>
                        <a:t>What the floor walk showed</a:t>
                      </a:r>
                    </a:p>
                  </a:txBody>
                  <a:tcPr marL="64008" marR="64008" marT="27432" marB="27432" anchor="ctr">
                    <a:solidFill>
                      <a:srgbClr val="004EA8"/>
                    </a:solidFill>
                  </a:tcPr>
                </a:tc>
                <a:tc>
                  <a:txBody>
                    <a:bodyPr wrap="square"/>
                    <a:lstStyle/>
                    <a:p>
                      <a:r>
                        <a:rPr sz="1100" b="1">
                          <a:solidFill>
                            <a:srgbClr val="FFFFFF"/>
                          </a:solidFill>
                          <a:latin typeface="Arial"/>
                        </a:rPr>
                        <a:t>In the BRDs</a:t>
                      </a:r>
                    </a:p>
                  </a:txBody>
                  <a:tcPr marL="64008" marR="64008" marT="27432" marB="27432" anchor="ctr">
                    <a:solidFill>
                      <a:srgbClr val="004EA8"/>
                    </a:solidFill>
                  </a:tcPr>
                </a:tc>
                <a:tc>
                  <a:txBody>
                    <a:bodyPr wrap="square"/>
                    <a:lstStyle/>
                    <a:p>
                      <a:r>
                        <a:rPr sz="1100" b="1">
                          <a:solidFill>
                            <a:srgbClr val="FFFFFF"/>
                          </a:solidFill>
                          <a:latin typeface="Arial"/>
                        </a:rPr>
                        <a:t>Our recommendation</a:t>
                      </a:r>
                    </a:p>
                  </a:txBody>
                  <a:tcPr marL="64008" marR="64008" marT="27432" marB="27432" anchor="ctr">
                    <a:solidFill>
                      <a:srgbClr val="004EA8"/>
                    </a:solidFill>
                  </a:tcPr>
                </a:tc>
              </a:tr>
              <a:tr h="731520">
                <a:tc>
                  <a:txBody>
                    <a:bodyPr wrap="square"/>
                    <a:lstStyle/>
                    <a:p>
                      <a:r>
                        <a:rPr sz="1100" b="1">
                          <a:solidFill>
                            <a:srgbClr val="4B4B4B"/>
                          </a:solidFill>
                          <a:latin typeface="Arial"/>
                        </a:rPr>
                        <a:t>Self-service reports</a:t>
                      </a:r>
                    </a:p>
                  </a:txBody>
                  <a:tcPr marL="64008" marR="64008" marT="27432" marB="27432" anchor="ctr">
                    <a:solidFill>
                      <a:srgbClr val="FFFFFF"/>
                    </a:solidFill>
                  </a:tcPr>
                </a:tc>
                <a:tc>
                  <a:txBody>
                    <a:bodyPr wrap="square"/>
                    <a:lstStyle/>
                    <a:p>
                      <a:r>
                        <a:rPr sz="1100" b="0">
                          <a:solidFill>
                            <a:srgbClr val="4B4B4B"/>
                          </a:solidFill>
                          <a:latin typeface="Arial"/>
                        </a:rPr>
                        <a:t>Reports need IT (RP-01)</a:t>
                      </a:r>
                    </a:p>
                  </a:txBody>
                  <a:tcPr marL="64008" marR="64008" marT="27432" marB="27432" anchor="ctr">
                    <a:solidFill>
                      <a:srgbClr val="FFFFFF"/>
                    </a:solidFill>
                  </a:tcPr>
                </a:tc>
                <a:tc>
                  <a:txBody>
                    <a:bodyPr wrap="square"/>
                    <a:lstStyle/>
                    <a:p>
                      <a:r>
                        <a:rPr sz="1100" b="0">
                          <a:solidFill>
                            <a:srgbClr val="4B4B4B"/>
                          </a:solidFill>
                          <a:latin typeface="Arial"/>
                        </a:rPr>
                        <a:t>Report centre; ad-hoc builder parked</a:t>
                      </a:r>
                    </a:p>
                  </a:txBody>
                  <a:tcPr marL="64008" marR="64008" marT="27432" marB="27432" anchor="ctr">
                    <a:solidFill>
                      <a:srgbClr val="FFFFFF"/>
                    </a:solidFill>
                  </a:tcPr>
                </a:tc>
                <a:tc>
                  <a:txBody>
                    <a:bodyPr wrap="square"/>
                    <a:lstStyle/>
                    <a:p>
                      <a:r>
                        <a:rPr sz="1100" b="0">
                          <a:solidFill>
                            <a:srgbClr val="4B4B4B"/>
                          </a:solidFill>
                          <a:latin typeface="Arial"/>
                        </a:rPr>
                        <a:t>Governed report builder after go-live</a:t>
                      </a:r>
                    </a:p>
                  </a:txBody>
                  <a:tcPr marL="64008" marR="64008" marT="27432" marB="27432" anchor="ctr">
                    <a:solidFill>
                      <a:srgbClr val="FFFFFF"/>
                    </a:solidFill>
                  </a:tcPr>
                </a:tc>
              </a:tr>
              <a:tr h="731520">
                <a:tc>
                  <a:txBody>
                    <a:bodyPr wrap="square"/>
                    <a:lstStyle/>
                    <a:p>
                      <a:r>
                        <a:rPr sz="1100" b="1">
                          <a:solidFill>
                            <a:srgbClr val="4B4B4B"/>
                          </a:solidFill>
                          <a:latin typeface="Arial"/>
                        </a:rPr>
                        <a:t>Configuration masters</a:t>
                      </a:r>
                    </a:p>
                  </a:txBody>
                  <a:tcPr marL="64008" marR="64008" marT="27432" marB="27432" anchor="ctr">
                    <a:solidFill>
                      <a:srgbClr val="E5F5FF"/>
                    </a:solidFill>
                  </a:tcPr>
                </a:tc>
                <a:tc>
                  <a:txBody>
                    <a:bodyPr wrap="square"/>
                    <a:lstStyle/>
                    <a:p>
                      <a:r>
                        <a:rPr sz="1100" b="0">
                          <a:solidFill>
                            <a:srgbClr val="4B4B4B"/>
                          </a:solidFill>
                          <a:latin typeface="Arial"/>
                        </a:rPr>
                        <a:t>Insurers, products, LOVs, MIS fields, audit (Day 1 p.9)</a:t>
                      </a:r>
                    </a:p>
                  </a:txBody>
                  <a:tcPr marL="64008" marR="64008" marT="27432" marB="27432" anchor="ctr">
                    <a:solidFill>
                      <a:srgbClr val="E5F5FF"/>
                    </a:solidFill>
                  </a:tcPr>
                </a:tc>
                <a:tc>
                  <a:txBody>
                    <a:bodyPr wrap="square"/>
                    <a:lstStyle/>
                    <a:p>
                      <a:r>
                        <a:rPr sz="1100" b="0">
                          <a:solidFill>
                            <a:srgbClr val="4B4B4B"/>
                          </a:solidFill>
                          <a:latin typeface="Arial"/>
                        </a:rPr>
                        <a:t>Masters with approval</a:t>
                      </a:r>
                    </a:p>
                  </a:txBody>
                  <a:tcPr marL="64008" marR="64008" marT="27432" marB="27432" anchor="ctr">
                    <a:solidFill>
                      <a:srgbClr val="E5F5FF"/>
                    </a:solidFill>
                  </a:tcPr>
                </a:tc>
                <a:tc>
                  <a:txBody>
                    <a:bodyPr wrap="square"/>
                    <a:lstStyle/>
                    <a:p>
                      <a:r>
                        <a:rPr sz="1100" b="0">
                          <a:solidFill>
                            <a:srgbClr val="4B4B4B"/>
                          </a:solidFill>
                          <a:latin typeface="Arial"/>
                        </a:rPr>
                        <a:t>Business owners per master</a:t>
                      </a:r>
                    </a:p>
                  </a:txBody>
                  <a:tcPr marL="64008" marR="64008" marT="27432" marB="27432" anchor="ctr">
                    <a:solidFill>
                      <a:srgbClr val="E5F5FF"/>
                    </a:solidFill>
                  </a:tcPr>
                </a:tc>
              </a:tr>
              <a:tr h="731520">
                <a:tc>
                  <a:txBody>
                    <a:bodyPr wrap="square"/>
                    <a:lstStyle/>
                    <a:p>
                      <a:r>
                        <a:rPr sz="1100" b="1">
                          <a:solidFill>
                            <a:srgbClr val="4B4B4B"/>
                          </a:solidFill>
                          <a:latin typeface="Arial"/>
                        </a:rPr>
                        <a:t>Tolerances and thresholds</a:t>
                      </a:r>
                    </a:p>
                  </a:txBody>
                  <a:tcPr marL="64008" marR="64008" marT="27432" marB="27432" anchor="ctr">
                    <a:solidFill>
                      <a:srgbClr val="FFFFFF"/>
                    </a:solidFill>
                  </a:tcPr>
                </a:tc>
                <a:tc>
                  <a:txBody>
                    <a:bodyPr wrap="square"/>
                    <a:lstStyle/>
                    <a:p>
                      <a:r>
                        <a:rPr sz="1100" b="0">
                          <a:solidFill>
                            <a:srgbClr val="4B4B4B"/>
                          </a:solidFill>
                          <a:latin typeface="Arial"/>
                        </a:rPr>
                        <a:t>Four different values (CA-02, reversal variance)</a:t>
                      </a:r>
                    </a:p>
                  </a:txBody>
                  <a:tcPr marL="64008" marR="64008" marT="27432" marB="27432" anchor="ctr">
                    <a:solidFill>
                      <a:srgbClr val="FFFFFF"/>
                    </a:solidFill>
                  </a:tcPr>
                </a:tc>
                <a:tc>
                  <a:txBody>
                    <a:bodyPr wrap="square"/>
                    <a:lstStyle/>
                    <a:p>
                      <a:r>
                        <a:rPr sz="1100" b="0">
                          <a:solidFill>
                            <a:srgbClr val="4B4B4B"/>
                          </a:solidFill>
                          <a:latin typeface="Arial"/>
                        </a:rPr>
                        <a:t>Hard-coded per BRD</a:t>
                      </a:r>
                    </a:p>
                  </a:txBody>
                  <a:tcPr marL="64008" marR="64008" marT="27432" marB="27432" anchor="ctr">
                    <a:solidFill>
                      <a:srgbClr val="FFFFFF"/>
                    </a:solidFill>
                  </a:tcPr>
                </a:tc>
                <a:tc>
                  <a:txBody>
                    <a:bodyPr wrap="square"/>
                    <a:lstStyle/>
                    <a:p>
                      <a:r>
                        <a:rPr sz="1100" b="0">
                          <a:solidFill>
                            <a:srgbClr val="4B4B4B"/>
                          </a:solidFill>
                          <a:latin typeface="Arial"/>
                        </a:rPr>
                        <a:t>One tolerance matrix</a:t>
                      </a:r>
                    </a:p>
                  </a:txBody>
                  <a:tcPr marL="64008" marR="64008" marT="27432" marB="27432" anchor="ctr">
                    <a:solidFill>
                      <a:srgbClr val="FFFFFF"/>
                    </a:solidFill>
                  </a:tcPr>
                </a:tc>
              </a:tr>
              <a:tr h="731520">
                <a:tc>
                  <a:txBody>
                    <a:bodyPr wrap="square"/>
                    <a:lstStyle/>
                    <a:p>
                      <a:r>
                        <a:rPr sz="1100" b="1">
                          <a:solidFill>
                            <a:srgbClr val="4B4B4B"/>
                          </a:solidFill>
                          <a:latin typeface="Arial"/>
                        </a:rPr>
                        <a:t>Data privacy and retention</a:t>
                      </a:r>
                    </a:p>
                  </a:txBody>
                  <a:tcPr marL="64008" marR="64008" marT="27432" marB="27432" anchor="ctr">
                    <a:solidFill>
                      <a:srgbClr val="E5F5FF"/>
                    </a:solidFill>
                  </a:tcPr>
                </a:tc>
                <a:tc>
                  <a:txBody>
                    <a:bodyPr wrap="square"/>
                    <a:lstStyle/>
                    <a:p>
                      <a:r>
                        <a:rPr sz="1100" b="0">
                          <a:solidFill>
                            <a:srgbClr val="4B4B4B"/>
                          </a:solidFill>
                          <a:latin typeface="Arial"/>
                        </a:rPr>
                        <a:t>Member and client data by e-mail</a:t>
                      </a:r>
                    </a:p>
                  </a:txBody>
                  <a:tcPr marL="64008" marR="64008" marT="27432" marB="27432" anchor="ctr">
                    <a:solidFill>
                      <a:srgbClr val="E5F5FF"/>
                    </a:solidFill>
                  </a:tcPr>
                </a:tc>
                <a:tc>
                  <a:txBody>
                    <a:bodyPr wrap="square"/>
                    <a:lstStyle/>
                    <a:p>
                      <a:r>
                        <a:rPr sz="1100" b="0">
                          <a:solidFill>
                            <a:srgbClr val="4B4B4B"/>
                          </a:solidFill>
                          <a:latin typeface="Arial"/>
                        </a:rPr>
                        <a:t>Retention differs by BRD (DCR-136)</a:t>
                      </a:r>
                    </a:p>
                  </a:txBody>
                  <a:tcPr marL="64008" marR="64008" marT="27432" marB="27432" anchor="ctr">
                    <a:solidFill>
                      <a:srgbClr val="E5F5FF"/>
                    </a:solidFill>
                  </a:tcPr>
                </a:tc>
                <a:tc>
                  <a:txBody>
                    <a:bodyPr wrap="square"/>
                    <a:lstStyle/>
                    <a:p>
                      <a:r>
                        <a:rPr sz="1100" b="0">
                          <a:solidFill>
                            <a:srgbClr val="4B4B4B"/>
                          </a:solidFill>
                          <a:latin typeface="Arial"/>
                        </a:rPr>
                        <a:t>One retention schedule; masking rules</a:t>
                      </a:r>
                    </a:p>
                  </a:txBody>
                  <a:tcPr marL="64008" marR="64008" marT="27432" marB="27432" anchor="ctr">
                    <a:solidFill>
                      <a:srgbClr val="E5F5FF"/>
                    </a:solidFill>
                  </a:tcPr>
                </a:tc>
              </a:tr>
            </a:tbl>
          </a:graphicData>
        </a:graphic>
      </p:graphicFrame>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H</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Roadmap and best practice</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Streamline first, then automate: what BDOI can do now, at go-live and after</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17.  </a:t>
            </a:r>
            <a:r>
              <a:rPr sz="1500" b="1">
                <a:solidFill>
                  <a:srgbClr val="FFFFFF"/>
                </a:solidFill>
                <a:latin typeface="Arial"/>
              </a:rPr>
              <a:t>Roadmap, gaps and open points</a:t>
            </a:r>
            <a:r>
              <a:rPr sz="1500" b="0">
                <a:solidFill>
                  <a:srgbClr val="99C1E7"/>
                </a:solidFill>
                <a:latin typeface="Arial"/>
              </a:rPr>
              <a:t>   Principles, automation map, horizons, KPIs, consolidated gaps, open points</a:t>
            </a:r>
          </a:p>
        </p:txBody>
      </p:sp>
      <p:sp>
        <p:nvSpPr>
          <p:cNvPr id="8" name="TextBox 7"/>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Business Process Reverse KT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Five levers to streamline before we automate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Oval 8"/>
          <p:cNvSpPr/>
          <p:nvPr/>
        </p:nvSpPr>
        <p:spPr>
          <a:xfrm>
            <a:off x="1246601" y="1371600"/>
            <a:ext cx="822960" cy="822960"/>
          </a:xfrm>
          <a:prstGeom prst="ellipse">
            <a:avLst/>
          </a:prstGeom>
          <a:solidFill>
            <a:srgbClr val="004EA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Arial"/>
              </a:rPr>
              <a:t>1</a:t>
            </a:r>
          </a:p>
        </p:txBody>
      </p:sp>
      <p:sp>
        <p:nvSpPr>
          <p:cNvPr id="10" name="TextBox 9"/>
          <p:cNvSpPr txBox="1"/>
          <p:nvPr/>
        </p:nvSpPr>
        <p:spPr>
          <a:xfrm>
            <a:off x="621792" y="2286000"/>
            <a:ext cx="2072579" cy="457200"/>
          </a:xfrm>
          <a:prstGeom prst="rect">
            <a:avLst/>
          </a:prstGeom>
          <a:noFill/>
        </p:spPr>
        <p:txBody>
          <a:bodyPr wrap="square" anchor="t" lIns="45720" rIns="45720" tIns="18288" bIns="18288">
            <a:spAutoFit/>
          </a:bodyPr>
          <a:lstStyle/>
          <a:p>
            <a:pPr algn="ctr">
              <a:spcAft>
                <a:spcPts val="0"/>
              </a:spcAft>
            </a:pPr>
            <a:r>
              <a:rPr sz="1500" b="1">
                <a:solidFill>
                  <a:srgbClr val="004EA8"/>
                </a:solidFill>
                <a:latin typeface="Arial"/>
              </a:rPr>
              <a:t>Eliminate</a:t>
            </a:r>
          </a:p>
        </p:txBody>
      </p:sp>
      <p:sp>
        <p:nvSpPr>
          <p:cNvPr id="11" name="TextBox 10"/>
          <p:cNvSpPr txBox="1"/>
          <p:nvPr/>
        </p:nvSpPr>
        <p:spPr>
          <a:xfrm>
            <a:off x="640080" y="2743200"/>
            <a:ext cx="2036003" cy="1188720"/>
          </a:xfrm>
          <a:prstGeom prst="rect">
            <a:avLst/>
          </a:prstGeom>
          <a:noFill/>
        </p:spPr>
        <p:txBody>
          <a:bodyPr wrap="square" anchor="t" lIns="45720" rIns="45720" tIns="18288" bIns="18288">
            <a:spAutoFit/>
          </a:bodyPr>
          <a:lstStyle/>
          <a:p>
            <a:pPr algn="ctr">
              <a:spcAft>
                <a:spcPts val="0"/>
              </a:spcAft>
            </a:pPr>
            <a:r>
              <a:rPr sz="1200" b="0">
                <a:solidFill>
                  <a:srgbClr val="4B4B4B"/>
                </a:solidFill>
                <a:latin typeface="Arial"/>
              </a:rPr>
              <a:t>Remove steps that exist only because systems are separate</a:t>
            </a:r>
          </a:p>
        </p:txBody>
      </p:sp>
      <p:sp>
        <p:nvSpPr>
          <p:cNvPr id="12" name="Rounded Rectangle 11"/>
          <p:cNvSpPr/>
          <p:nvPr/>
        </p:nvSpPr>
        <p:spPr>
          <a:xfrm>
            <a:off x="640080" y="3977640"/>
            <a:ext cx="2036003" cy="222199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4023360"/>
            <a:ext cx="1926275" cy="2130552"/>
          </a:xfrm>
          <a:prstGeom prst="rect">
            <a:avLst/>
          </a:prstGeom>
          <a:noFill/>
        </p:spPr>
        <p:txBody>
          <a:bodyPr wrap="square" anchor="t" lIns="45720" rIns="45720" tIns="18288" bIns="18288">
            <a:spAutoFit/>
          </a:bodyPr>
          <a:lstStyle/>
          <a:p>
            <a:pPr>
              <a:spcAft>
                <a:spcPts val="300"/>
              </a:spcAft>
            </a:pPr>
            <a:r>
              <a:rPr sz="1100" b="1">
                <a:solidFill>
                  <a:srgbClr val="004EA8"/>
                </a:solidFill>
                <a:latin typeface="Arial"/>
              </a:rPr>
              <a:t>At BDOI</a:t>
            </a:r>
          </a:p>
          <a:p>
            <a:pPr>
              <a:spcAft>
                <a:spcPts val="300"/>
              </a:spcAft>
            </a:pPr>
            <a:r>
              <a:rPr sz="1100" b="0">
                <a:solidFill>
                  <a:srgbClr val="004EA8"/>
                </a:solidFill>
                <a:latin typeface="Arial"/>
              </a:rPr>
              <a:t>•  </a:t>
            </a:r>
            <a:r>
              <a:rPr sz="1100" b="0">
                <a:solidFill>
                  <a:srgbClr val="2E2E2E"/>
                </a:solidFill>
                <a:latin typeface="Arial"/>
              </a:rPr>
              <a:t>ISYS to QPS migration</a:t>
            </a:r>
          </a:p>
          <a:p>
            <a:pPr>
              <a:spcAft>
                <a:spcPts val="300"/>
              </a:spcAft>
            </a:pPr>
            <a:r>
              <a:rPr sz="1100" b="0">
                <a:solidFill>
                  <a:srgbClr val="004EA8"/>
                </a:solidFill>
                <a:latin typeface="Arial"/>
              </a:rPr>
              <a:t>•  </a:t>
            </a:r>
            <a:r>
              <a:rPr sz="1100" b="0">
                <a:solidFill>
                  <a:srgbClr val="2E2E2E"/>
                </a:solidFill>
                <a:latin typeface="Arial"/>
              </a:rPr>
              <a:t>Split payment files</a:t>
            </a:r>
          </a:p>
          <a:p>
            <a:pPr>
              <a:spcAft>
                <a:spcPts val="300"/>
              </a:spcAft>
            </a:pPr>
            <a:r>
              <a:rPr sz="1100" b="0">
                <a:solidFill>
                  <a:srgbClr val="004EA8"/>
                </a:solidFill>
                <a:latin typeface="Arial"/>
              </a:rPr>
              <a:t>•  </a:t>
            </a:r>
            <a:r>
              <a:rPr sz="1100" b="0">
                <a:solidFill>
                  <a:srgbClr val="2E2E2E"/>
                </a:solidFill>
                <a:latin typeface="Arial"/>
              </a:rPr>
              <a:t>Text files for e-policy updates</a:t>
            </a:r>
          </a:p>
          <a:p>
            <a:pPr>
              <a:spcAft>
                <a:spcPts val="300"/>
              </a:spcAft>
            </a:pPr>
            <a:r>
              <a:rPr sz="1100" b="0">
                <a:solidFill>
                  <a:srgbClr val="004EA8"/>
                </a:solidFill>
                <a:latin typeface="Arial"/>
              </a:rPr>
              <a:t>•  </a:t>
            </a:r>
            <a:r>
              <a:rPr sz="1100" b="0">
                <a:solidFill>
                  <a:srgbClr val="2E2E2E"/>
                </a:solidFill>
                <a:latin typeface="Arial"/>
              </a:rPr>
              <a:t>Zero-value remittance workfile</a:t>
            </a:r>
          </a:p>
        </p:txBody>
      </p:sp>
      <p:sp>
        <p:nvSpPr>
          <p:cNvPr id="14" name="Oval 13"/>
          <p:cNvSpPr/>
          <p:nvPr/>
        </p:nvSpPr>
        <p:spPr>
          <a:xfrm>
            <a:off x="3465484" y="1371600"/>
            <a:ext cx="822960" cy="822960"/>
          </a:xfrm>
          <a:prstGeom prst="ellipse">
            <a:avLst/>
          </a:prstGeom>
          <a:solidFill>
            <a:srgbClr val="004EA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Arial"/>
              </a:rPr>
              <a:t>2</a:t>
            </a:r>
          </a:p>
        </p:txBody>
      </p:sp>
      <p:sp>
        <p:nvSpPr>
          <p:cNvPr id="15" name="TextBox 14"/>
          <p:cNvSpPr txBox="1"/>
          <p:nvPr/>
        </p:nvSpPr>
        <p:spPr>
          <a:xfrm>
            <a:off x="2840675" y="2286000"/>
            <a:ext cx="2072579" cy="457200"/>
          </a:xfrm>
          <a:prstGeom prst="rect">
            <a:avLst/>
          </a:prstGeom>
          <a:noFill/>
        </p:spPr>
        <p:txBody>
          <a:bodyPr wrap="square" anchor="t" lIns="45720" rIns="45720" tIns="18288" bIns="18288">
            <a:spAutoFit/>
          </a:bodyPr>
          <a:lstStyle/>
          <a:p>
            <a:pPr algn="ctr">
              <a:spcAft>
                <a:spcPts val="0"/>
              </a:spcAft>
            </a:pPr>
            <a:r>
              <a:rPr sz="1500" b="1">
                <a:solidFill>
                  <a:srgbClr val="004EA8"/>
                </a:solidFill>
                <a:latin typeface="Arial"/>
              </a:rPr>
              <a:t>Simplify</a:t>
            </a:r>
          </a:p>
        </p:txBody>
      </p:sp>
      <p:sp>
        <p:nvSpPr>
          <p:cNvPr id="16" name="TextBox 15"/>
          <p:cNvSpPr txBox="1"/>
          <p:nvPr/>
        </p:nvSpPr>
        <p:spPr>
          <a:xfrm>
            <a:off x="2858963" y="2743200"/>
            <a:ext cx="2036003" cy="1188720"/>
          </a:xfrm>
          <a:prstGeom prst="rect">
            <a:avLst/>
          </a:prstGeom>
          <a:noFill/>
        </p:spPr>
        <p:txBody>
          <a:bodyPr wrap="square" anchor="t" lIns="45720" rIns="45720" tIns="18288" bIns="18288">
            <a:spAutoFit/>
          </a:bodyPr>
          <a:lstStyle/>
          <a:p>
            <a:pPr algn="ctr">
              <a:spcAft>
                <a:spcPts val="0"/>
              </a:spcAft>
            </a:pPr>
            <a:r>
              <a:rPr sz="1200" b="0">
                <a:solidFill>
                  <a:srgbClr val="4B4B4B"/>
                </a:solidFill>
                <a:latin typeface="Arial"/>
              </a:rPr>
              <a:t>Fewer hand-offs and approval levels</a:t>
            </a:r>
          </a:p>
        </p:txBody>
      </p:sp>
      <p:sp>
        <p:nvSpPr>
          <p:cNvPr id="17" name="Rounded Rectangle 16"/>
          <p:cNvSpPr/>
          <p:nvPr/>
        </p:nvSpPr>
        <p:spPr>
          <a:xfrm>
            <a:off x="2858963" y="3977640"/>
            <a:ext cx="2036003" cy="222199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13827" y="4023360"/>
            <a:ext cx="1926275" cy="2130552"/>
          </a:xfrm>
          <a:prstGeom prst="rect">
            <a:avLst/>
          </a:prstGeom>
          <a:noFill/>
        </p:spPr>
        <p:txBody>
          <a:bodyPr wrap="square" anchor="t" lIns="45720" rIns="45720" tIns="18288" bIns="18288">
            <a:spAutoFit/>
          </a:bodyPr>
          <a:lstStyle/>
          <a:p>
            <a:pPr>
              <a:spcAft>
                <a:spcPts val="300"/>
              </a:spcAft>
            </a:pPr>
            <a:r>
              <a:rPr sz="1100" b="1">
                <a:solidFill>
                  <a:srgbClr val="004EA8"/>
                </a:solidFill>
                <a:latin typeface="Arial"/>
              </a:rPr>
              <a:t>At BDOI</a:t>
            </a:r>
          </a:p>
          <a:p>
            <a:pPr>
              <a:spcAft>
                <a:spcPts val="300"/>
              </a:spcAft>
            </a:pPr>
            <a:r>
              <a:rPr sz="1100" b="0">
                <a:solidFill>
                  <a:srgbClr val="004EA8"/>
                </a:solidFill>
                <a:latin typeface="Arial"/>
              </a:rPr>
              <a:t>•  </a:t>
            </a:r>
            <a:r>
              <a:rPr sz="1100" b="0">
                <a:solidFill>
                  <a:srgbClr val="2E2E2E"/>
                </a:solidFill>
                <a:latin typeface="Arial"/>
              </a:rPr>
              <a:t>Five refund chains to one rule</a:t>
            </a:r>
          </a:p>
          <a:p>
            <a:pPr>
              <a:spcAft>
                <a:spcPts val="300"/>
              </a:spcAft>
            </a:pPr>
            <a:r>
              <a:rPr sz="1100" b="0">
                <a:solidFill>
                  <a:srgbClr val="004EA8"/>
                </a:solidFill>
                <a:latin typeface="Arial"/>
              </a:rPr>
              <a:t>•  </a:t>
            </a:r>
            <a:r>
              <a:rPr sz="1100" b="0">
                <a:solidFill>
                  <a:srgbClr val="2E2E2E"/>
                </a:solidFill>
                <a:latin typeface="Arial"/>
              </a:rPr>
              <a:t>3-4 signatures to a DOA matrix</a:t>
            </a:r>
          </a:p>
          <a:p>
            <a:pPr>
              <a:spcAft>
                <a:spcPts val="300"/>
              </a:spcAft>
            </a:pPr>
            <a:r>
              <a:rPr sz="1100" b="0">
                <a:solidFill>
                  <a:srgbClr val="004EA8"/>
                </a:solidFill>
                <a:latin typeface="Arial"/>
              </a:rPr>
              <a:t>•  </a:t>
            </a:r>
            <a:r>
              <a:rPr sz="1100" b="0">
                <a:solidFill>
                  <a:srgbClr val="2E2E2E"/>
                </a:solidFill>
                <a:latin typeface="Arial"/>
              </a:rPr>
              <a:t>RMEL passed through 4 hands</a:t>
            </a:r>
          </a:p>
        </p:txBody>
      </p:sp>
      <p:sp>
        <p:nvSpPr>
          <p:cNvPr id="19" name="Oval 18"/>
          <p:cNvSpPr/>
          <p:nvPr/>
        </p:nvSpPr>
        <p:spPr>
          <a:xfrm>
            <a:off x="5684367" y="1371600"/>
            <a:ext cx="822960" cy="822960"/>
          </a:xfrm>
          <a:prstGeom prst="ellipse">
            <a:avLst/>
          </a:prstGeom>
          <a:solidFill>
            <a:srgbClr val="004EA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Arial"/>
              </a:rPr>
              <a:t>3</a:t>
            </a:r>
          </a:p>
        </p:txBody>
      </p:sp>
      <p:sp>
        <p:nvSpPr>
          <p:cNvPr id="20" name="TextBox 19"/>
          <p:cNvSpPr txBox="1"/>
          <p:nvPr/>
        </p:nvSpPr>
        <p:spPr>
          <a:xfrm>
            <a:off x="5059558" y="2286000"/>
            <a:ext cx="2072579" cy="457200"/>
          </a:xfrm>
          <a:prstGeom prst="rect">
            <a:avLst/>
          </a:prstGeom>
          <a:noFill/>
        </p:spPr>
        <p:txBody>
          <a:bodyPr wrap="square" anchor="t" lIns="45720" rIns="45720" tIns="18288" bIns="18288">
            <a:spAutoFit/>
          </a:bodyPr>
          <a:lstStyle/>
          <a:p>
            <a:pPr algn="ctr">
              <a:spcAft>
                <a:spcPts val="0"/>
              </a:spcAft>
            </a:pPr>
            <a:r>
              <a:rPr sz="1500" b="1">
                <a:solidFill>
                  <a:srgbClr val="004EA8"/>
                </a:solidFill>
                <a:latin typeface="Arial"/>
              </a:rPr>
              <a:t>Standardise</a:t>
            </a:r>
          </a:p>
        </p:txBody>
      </p:sp>
      <p:sp>
        <p:nvSpPr>
          <p:cNvPr id="21" name="TextBox 20"/>
          <p:cNvSpPr txBox="1"/>
          <p:nvPr/>
        </p:nvSpPr>
        <p:spPr>
          <a:xfrm>
            <a:off x="5077846" y="2743200"/>
            <a:ext cx="2036003" cy="1188720"/>
          </a:xfrm>
          <a:prstGeom prst="rect">
            <a:avLst/>
          </a:prstGeom>
          <a:noFill/>
        </p:spPr>
        <p:txBody>
          <a:bodyPr wrap="square" anchor="t" lIns="45720" rIns="45720" tIns="18288" bIns="18288">
            <a:spAutoFit/>
          </a:bodyPr>
          <a:lstStyle/>
          <a:p>
            <a:pPr algn="ctr">
              <a:spcAft>
                <a:spcPts val="0"/>
              </a:spcAft>
            </a:pPr>
            <a:r>
              <a:rPr sz="1200" b="0">
                <a:solidFill>
                  <a:srgbClr val="4B4B4B"/>
                </a:solidFill>
                <a:latin typeface="Arial"/>
              </a:rPr>
              <a:t>One rule, one value, one template</a:t>
            </a:r>
          </a:p>
        </p:txBody>
      </p:sp>
      <p:sp>
        <p:nvSpPr>
          <p:cNvPr id="22" name="Rounded Rectangle 21"/>
          <p:cNvSpPr/>
          <p:nvPr/>
        </p:nvSpPr>
        <p:spPr>
          <a:xfrm>
            <a:off x="5077846" y="3977640"/>
            <a:ext cx="2036003" cy="222199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2710" y="4023360"/>
            <a:ext cx="1926275" cy="2130552"/>
          </a:xfrm>
          <a:prstGeom prst="rect">
            <a:avLst/>
          </a:prstGeom>
          <a:noFill/>
        </p:spPr>
        <p:txBody>
          <a:bodyPr wrap="square" anchor="t" lIns="45720" rIns="45720" tIns="18288" bIns="18288">
            <a:spAutoFit/>
          </a:bodyPr>
          <a:lstStyle/>
          <a:p>
            <a:pPr>
              <a:spcAft>
                <a:spcPts val="300"/>
              </a:spcAft>
            </a:pPr>
            <a:r>
              <a:rPr sz="1100" b="1">
                <a:solidFill>
                  <a:srgbClr val="004EA8"/>
                </a:solidFill>
                <a:latin typeface="Arial"/>
              </a:rPr>
              <a:t>At BDOI</a:t>
            </a:r>
          </a:p>
          <a:p>
            <a:pPr>
              <a:spcAft>
                <a:spcPts val="300"/>
              </a:spcAft>
            </a:pPr>
            <a:r>
              <a:rPr sz="1100" b="0">
                <a:solidFill>
                  <a:srgbClr val="004EA8"/>
                </a:solidFill>
                <a:latin typeface="Arial"/>
              </a:rPr>
              <a:t>•  </a:t>
            </a:r>
            <a:r>
              <a:rPr sz="1100" b="0">
                <a:solidFill>
                  <a:srgbClr val="2E2E2E"/>
                </a:solidFill>
                <a:latin typeface="Arial"/>
              </a:rPr>
              <a:t>One tolerance matrix</a:t>
            </a:r>
          </a:p>
          <a:p>
            <a:pPr>
              <a:spcAft>
                <a:spcPts val="300"/>
              </a:spcAft>
            </a:pPr>
            <a:r>
              <a:rPr sz="1100" b="0">
                <a:solidFill>
                  <a:srgbClr val="004EA8"/>
                </a:solidFill>
                <a:latin typeface="Arial"/>
              </a:rPr>
              <a:t>•  </a:t>
            </a:r>
            <a:r>
              <a:rPr sz="1100" b="0">
                <a:solidFill>
                  <a:srgbClr val="2E2E2E"/>
                </a:solidFill>
                <a:latin typeface="Arial"/>
              </a:rPr>
              <a:t>One credit policy</a:t>
            </a:r>
          </a:p>
          <a:p>
            <a:pPr>
              <a:spcAft>
                <a:spcPts val="300"/>
              </a:spcAft>
            </a:pPr>
            <a:r>
              <a:rPr sz="1100" b="0">
                <a:solidFill>
                  <a:srgbClr val="004EA8"/>
                </a:solidFill>
                <a:latin typeface="Arial"/>
              </a:rPr>
              <a:t>•  </a:t>
            </a:r>
            <a:r>
              <a:rPr sz="1100" b="0">
                <a:solidFill>
                  <a:srgbClr val="2E2E2E"/>
                </a:solidFill>
                <a:latin typeface="Arial"/>
              </a:rPr>
              <a:t>One insurer layout</a:t>
            </a:r>
          </a:p>
          <a:p>
            <a:pPr>
              <a:spcAft>
                <a:spcPts val="300"/>
              </a:spcAft>
            </a:pPr>
            <a:r>
              <a:rPr sz="1100" b="0">
                <a:solidFill>
                  <a:srgbClr val="004EA8"/>
                </a:solidFill>
                <a:latin typeface="Arial"/>
              </a:rPr>
              <a:t>•  </a:t>
            </a:r>
            <a:r>
              <a:rPr sz="1100" b="0">
                <a:solidFill>
                  <a:srgbClr val="2E2E2E"/>
                </a:solidFill>
                <a:latin typeface="Arial"/>
              </a:rPr>
              <a:t>Notice days per segment</a:t>
            </a:r>
          </a:p>
        </p:txBody>
      </p:sp>
      <p:sp>
        <p:nvSpPr>
          <p:cNvPr id="24" name="Oval 23"/>
          <p:cNvSpPr/>
          <p:nvPr/>
        </p:nvSpPr>
        <p:spPr>
          <a:xfrm>
            <a:off x="7903250" y="1371600"/>
            <a:ext cx="822960" cy="822960"/>
          </a:xfrm>
          <a:prstGeom prst="ellipse">
            <a:avLst/>
          </a:prstGeom>
          <a:solidFill>
            <a:srgbClr val="004EA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Arial"/>
              </a:rPr>
              <a:t>4</a:t>
            </a:r>
          </a:p>
        </p:txBody>
      </p:sp>
      <p:sp>
        <p:nvSpPr>
          <p:cNvPr id="25" name="TextBox 24"/>
          <p:cNvSpPr txBox="1"/>
          <p:nvPr/>
        </p:nvSpPr>
        <p:spPr>
          <a:xfrm>
            <a:off x="7278441" y="2286000"/>
            <a:ext cx="2072579" cy="457200"/>
          </a:xfrm>
          <a:prstGeom prst="rect">
            <a:avLst/>
          </a:prstGeom>
          <a:noFill/>
        </p:spPr>
        <p:txBody>
          <a:bodyPr wrap="square" anchor="t" lIns="45720" rIns="45720" tIns="18288" bIns="18288">
            <a:spAutoFit/>
          </a:bodyPr>
          <a:lstStyle/>
          <a:p>
            <a:pPr algn="ctr">
              <a:spcAft>
                <a:spcPts val="0"/>
              </a:spcAft>
            </a:pPr>
            <a:r>
              <a:rPr sz="1500" b="1">
                <a:solidFill>
                  <a:srgbClr val="004EA8"/>
                </a:solidFill>
                <a:latin typeface="Arial"/>
              </a:rPr>
              <a:t>Automate</a:t>
            </a:r>
          </a:p>
        </p:txBody>
      </p:sp>
      <p:sp>
        <p:nvSpPr>
          <p:cNvPr id="26" name="TextBox 25"/>
          <p:cNvSpPr txBox="1"/>
          <p:nvPr/>
        </p:nvSpPr>
        <p:spPr>
          <a:xfrm>
            <a:off x="7296729" y="2743200"/>
            <a:ext cx="2036003" cy="1188720"/>
          </a:xfrm>
          <a:prstGeom prst="rect">
            <a:avLst/>
          </a:prstGeom>
          <a:noFill/>
        </p:spPr>
        <p:txBody>
          <a:bodyPr wrap="square" anchor="t" lIns="45720" rIns="45720" tIns="18288" bIns="18288">
            <a:spAutoFit/>
          </a:bodyPr>
          <a:lstStyle/>
          <a:p>
            <a:pPr algn="ctr">
              <a:spcAft>
                <a:spcPts val="0"/>
              </a:spcAft>
            </a:pPr>
            <a:r>
              <a:rPr sz="1200" b="0">
                <a:solidFill>
                  <a:srgbClr val="4B4B4B"/>
                </a:solidFill>
                <a:latin typeface="Arial"/>
              </a:rPr>
              <a:t>Let the system do the routine; people handle exceptions</a:t>
            </a:r>
          </a:p>
        </p:txBody>
      </p:sp>
      <p:sp>
        <p:nvSpPr>
          <p:cNvPr id="27" name="Rounded Rectangle 26"/>
          <p:cNvSpPr/>
          <p:nvPr/>
        </p:nvSpPr>
        <p:spPr>
          <a:xfrm>
            <a:off x="7296729" y="3977640"/>
            <a:ext cx="2036003" cy="222199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51593" y="4023360"/>
            <a:ext cx="1926275" cy="2130552"/>
          </a:xfrm>
          <a:prstGeom prst="rect">
            <a:avLst/>
          </a:prstGeom>
          <a:noFill/>
        </p:spPr>
        <p:txBody>
          <a:bodyPr wrap="square" anchor="t" lIns="45720" rIns="45720" tIns="18288" bIns="18288">
            <a:spAutoFit/>
          </a:bodyPr>
          <a:lstStyle/>
          <a:p>
            <a:pPr>
              <a:spcAft>
                <a:spcPts val="300"/>
              </a:spcAft>
            </a:pPr>
            <a:r>
              <a:rPr sz="1100" b="1">
                <a:solidFill>
                  <a:srgbClr val="004EA8"/>
                </a:solidFill>
                <a:latin typeface="Arial"/>
              </a:rPr>
              <a:t>At BDOI</a:t>
            </a:r>
          </a:p>
          <a:p>
            <a:pPr>
              <a:spcAft>
                <a:spcPts val="300"/>
              </a:spcAft>
            </a:pPr>
            <a:r>
              <a:rPr sz="1100" b="0">
                <a:solidFill>
                  <a:srgbClr val="004EA8"/>
                </a:solidFill>
                <a:latin typeface="Arial"/>
              </a:rPr>
              <a:t>•  </a:t>
            </a:r>
            <a:r>
              <a:rPr sz="1100" b="0">
                <a:solidFill>
                  <a:srgbClr val="2E2E2E"/>
                </a:solidFill>
                <a:latin typeface="Arial"/>
              </a:rPr>
              <a:t>Cash application</a:t>
            </a:r>
          </a:p>
          <a:p>
            <a:pPr>
              <a:spcAft>
                <a:spcPts val="300"/>
              </a:spcAft>
            </a:pPr>
            <a:r>
              <a:rPr sz="1100" b="0">
                <a:solidFill>
                  <a:srgbClr val="004EA8"/>
                </a:solidFill>
                <a:latin typeface="Arial"/>
              </a:rPr>
              <a:t>•  </a:t>
            </a:r>
            <a:r>
              <a:rPr sz="1100" b="0">
                <a:solidFill>
                  <a:srgbClr val="2E2E2E"/>
                </a:solidFill>
                <a:latin typeface="Arial"/>
              </a:rPr>
              <a:t>Insurer recon</a:t>
            </a:r>
          </a:p>
          <a:p>
            <a:pPr>
              <a:spcAft>
                <a:spcPts val="300"/>
              </a:spcAft>
            </a:pPr>
            <a:r>
              <a:rPr sz="1100" b="0">
                <a:solidFill>
                  <a:srgbClr val="004EA8"/>
                </a:solidFill>
                <a:latin typeface="Arial"/>
              </a:rPr>
              <a:t>•  </a:t>
            </a:r>
            <a:r>
              <a:rPr sz="1100" b="0">
                <a:solidFill>
                  <a:srgbClr val="2E2E2E"/>
                </a:solidFill>
                <a:latin typeface="Arial"/>
              </a:rPr>
              <a:t>Renewal decision matrix</a:t>
            </a:r>
          </a:p>
          <a:p>
            <a:pPr>
              <a:spcAft>
                <a:spcPts val="300"/>
              </a:spcAft>
            </a:pPr>
            <a:r>
              <a:rPr sz="1100" b="0">
                <a:solidFill>
                  <a:srgbClr val="004EA8"/>
                </a:solidFill>
                <a:latin typeface="Arial"/>
              </a:rPr>
              <a:t>•  </a:t>
            </a:r>
            <a:r>
              <a:rPr sz="1100" b="0">
                <a:solidFill>
                  <a:srgbClr val="2E2E2E"/>
                </a:solidFill>
                <a:latin typeface="Arial"/>
              </a:rPr>
              <a:t>Reversals and entries</a:t>
            </a:r>
          </a:p>
        </p:txBody>
      </p:sp>
      <p:sp>
        <p:nvSpPr>
          <p:cNvPr id="29" name="Oval 28"/>
          <p:cNvSpPr/>
          <p:nvPr/>
        </p:nvSpPr>
        <p:spPr>
          <a:xfrm>
            <a:off x="10122133" y="1371600"/>
            <a:ext cx="822960" cy="822960"/>
          </a:xfrm>
          <a:prstGeom prst="ellipse">
            <a:avLst/>
          </a:prstGeom>
          <a:solidFill>
            <a:srgbClr val="004EA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Arial"/>
              </a:rPr>
              <a:t>5</a:t>
            </a:r>
          </a:p>
        </p:txBody>
      </p:sp>
      <p:sp>
        <p:nvSpPr>
          <p:cNvPr id="30" name="TextBox 29"/>
          <p:cNvSpPr txBox="1"/>
          <p:nvPr/>
        </p:nvSpPr>
        <p:spPr>
          <a:xfrm>
            <a:off x="9497324" y="2286000"/>
            <a:ext cx="2072579" cy="457200"/>
          </a:xfrm>
          <a:prstGeom prst="rect">
            <a:avLst/>
          </a:prstGeom>
          <a:noFill/>
        </p:spPr>
        <p:txBody>
          <a:bodyPr wrap="square" anchor="t" lIns="45720" rIns="45720" tIns="18288" bIns="18288">
            <a:spAutoFit/>
          </a:bodyPr>
          <a:lstStyle/>
          <a:p>
            <a:pPr algn="ctr">
              <a:spcAft>
                <a:spcPts val="0"/>
              </a:spcAft>
            </a:pPr>
            <a:r>
              <a:rPr sz="1500" b="1">
                <a:solidFill>
                  <a:srgbClr val="004EA8"/>
                </a:solidFill>
                <a:latin typeface="Arial"/>
              </a:rPr>
              <a:t>Integrate and measure</a:t>
            </a:r>
          </a:p>
        </p:txBody>
      </p:sp>
      <p:sp>
        <p:nvSpPr>
          <p:cNvPr id="31" name="TextBox 30"/>
          <p:cNvSpPr txBox="1"/>
          <p:nvPr/>
        </p:nvSpPr>
        <p:spPr>
          <a:xfrm>
            <a:off x="9515612" y="2743200"/>
            <a:ext cx="2036003" cy="1188720"/>
          </a:xfrm>
          <a:prstGeom prst="rect">
            <a:avLst/>
          </a:prstGeom>
          <a:noFill/>
        </p:spPr>
        <p:txBody>
          <a:bodyPr wrap="square" anchor="t" lIns="45720" rIns="45720" tIns="18288" bIns="18288">
            <a:spAutoFit/>
          </a:bodyPr>
          <a:lstStyle/>
          <a:p>
            <a:pPr algn="ctr">
              <a:spcAft>
                <a:spcPts val="0"/>
              </a:spcAft>
            </a:pPr>
            <a:r>
              <a:rPr sz="1200" b="0">
                <a:solidFill>
                  <a:srgbClr val="4B4B4B"/>
                </a:solidFill>
                <a:latin typeface="Arial"/>
              </a:rPr>
              <a:t>Connect partners; run on KPIs</a:t>
            </a:r>
          </a:p>
        </p:txBody>
      </p:sp>
      <p:sp>
        <p:nvSpPr>
          <p:cNvPr id="32" name="Rounded Rectangle 31"/>
          <p:cNvSpPr/>
          <p:nvPr/>
        </p:nvSpPr>
        <p:spPr>
          <a:xfrm>
            <a:off x="9515612" y="3977640"/>
            <a:ext cx="2036003" cy="222199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70476" y="4023360"/>
            <a:ext cx="1926275" cy="2130552"/>
          </a:xfrm>
          <a:prstGeom prst="rect">
            <a:avLst/>
          </a:prstGeom>
          <a:noFill/>
        </p:spPr>
        <p:txBody>
          <a:bodyPr wrap="square" anchor="t" lIns="45720" rIns="45720" tIns="18288" bIns="18288">
            <a:spAutoFit/>
          </a:bodyPr>
          <a:lstStyle/>
          <a:p>
            <a:pPr>
              <a:spcAft>
                <a:spcPts val="300"/>
              </a:spcAft>
            </a:pPr>
            <a:r>
              <a:rPr sz="1100" b="1">
                <a:solidFill>
                  <a:srgbClr val="004EA8"/>
                </a:solidFill>
                <a:latin typeface="Arial"/>
              </a:rPr>
              <a:t>At BDOI</a:t>
            </a:r>
          </a:p>
          <a:p>
            <a:pPr>
              <a:spcAft>
                <a:spcPts val="300"/>
              </a:spcAft>
            </a:pPr>
            <a:r>
              <a:rPr sz="1100" b="0">
                <a:solidFill>
                  <a:srgbClr val="004EA8"/>
                </a:solidFill>
                <a:latin typeface="Arial"/>
              </a:rPr>
              <a:t>•  </a:t>
            </a:r>
            <a:r>
              <a:rPr sz="1100" b="0">
                <a:solidFill>
                  <a:srgbClr val="2E2E2E"/>
                </a:solidFill>
                <a:latin typeface="Arial"/>
              </a:rPr>
              <a:t>Insurer and bank channels</a:t>
            </a:r>
          </a:p>
          <a:p>
            <a:pPr>
              <a:spcAft>
                <a:spcPts val="300"/>
              </a:spcAft>
            </a:pPr>
            <a:r>
              <a:rPr sz="1100" b="0">
                <a:solidFill>
                  <a:srgbClr val="004EA8"/>
                </a:solidFill>
                <a:latin typeface="Arial"/>
              </a:rPr>
              <a:t>•  </a:t>
            </a:r>
            <a:r>
              <a:rPr sz="1100" b="0">
                <a:solidFill>
                  <a:srgbClr val="2E2E2E"/>
                </a:solidFill>
                <a:latin typeface="Arial"/>
              </a:rPr>
              <a:t>SLA and TAT dashboards</a:t>
            </a:r>
          </a:p>
          <a:p>
            <a:pPr>
              <a:spcAft>
                <a:spcPts val="300"/>
              </a:spcAft>
            </a:pPr>
            <a:r>
              <a:rPr sz="1100" b="0">
                <a:solidFill>
                  <a:srgbClr val="004EA8"/>
                </a:solidFill>
                <a:latin typeface="Arial"/>
              </a:rPr>
              <a:t>•  </a:t>
            </a:r>
            <a:r>
              <a:rPr sz="1100" b="0">
                <a:solidFill>
                  <a:srgbClr val="2E2E2E"/>
                </a:solidFill>
                <a:latin typeface="Arial"/>
              </a:rPr>
              <a:t>Self-service reports</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Automation opportunities by department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graphicFrame>
        <p:nvGraphicFramePr>
          <p:cNvPr id="9" name="Table 8"/>
          <p:cNvGraphicFramePr>
            <a:graphicFrameLocks noGrp="1"/>
          </p:cNvGraphicFramePr>
          <p:nvPr/>
        </p:nvGraphicFramePr>
        <p:xfrm>
          <a:off x="548640" y="1280160"/>
          <a:ext cx="11094412" cy="4919470"/>
        </p:xfrm>
        <a:graphic>
          <a:graphicData uri="http://schemas.openxmlformats.org/drawingml/2006/table">
            <a:tbl>
              <a:tblPr firstRow="1" bandRow="1">
                <a:tableStyleId>{5C22544A-7EE6-4342-B048-85BDC9FD1C3A}</a:tableStyleId>
              </a:tblPr>
              <a:tblGrid>
                <a:gridCol w="1789421"/>
                <a:gridCol w="3936727"/>
                <a:gridCol w="3399901"/>
                <a:gridCol w="1073653"/>
                <a:gridCol w="894710"/>
              </a:tblGrid>
              <a:tr h="365760">
                <a:tc>
                  <a:txBody>
                    <a:bodyPr wrap="square"/>
                    <a:lstStyle/>
                    <a:p>
                      <a:r>
                        <a:rPr sz="1100" b="1">
                          <a:solidFill>
                            <a:srgbClr val="FFFFFF"/>
                          </a:solidFill>
                          <a:latin typeface="Arial"/>
                        </a:rPr>
                        <a:t>Department</a:t>
                      </a:r>
                    </a:p>
                  </a:txBody>
                  <a:tcPr marL="64008" marR="64008" marT="27432" marB="27432" anchor="ctr">
                    <a:solidFill>
                      <a:srgbClr val="004EA8"/>
                    </a:solidFill>
                  </a:tcPr>
                </a:tc>
                <a:tc>
                  <a:txBody>
                    <a:bodyPr wrap="square"/>
                    <a:lstStyle/>
                    <a:p>
                      <a:r>
                        <a:rPr sz="1100" b="1">
                          <a:solidFill>
                            <a:srgbClr val="FFFFFF"/>
                          </a:solidFill>
                          <a:latin typeface="Arial"/>
                        </a:rPr>
                        <a:t>Manual work today (floor walk)</a:t>
                      </a:r>
                    </a:p>
                  </a:txBody>
                  <a:tcPr marL="64008" marR="64008" marT="27432" marB="27432" anchor="ctr">
                    <a:solidFill>
                      <a:srgbClr val="004EA8"/>
                    </a:solidFill>
                  </a:tcPr>
                </a:tc>
                <a:tc>
                  <a:txBody>
                    <a:bodyPr wrap="square"/>
                    <a:lstStyle/>
                    <a:p>
                      <a:r>
                        <a:rPr sz="1100" b="1">
                          <a:solidFill>
                            <a:srgbClr val="FFFFFF"/>
                          </a:solidFill>
                          <a:latin typeface="Arial"/>
                        </a:rPr>
                        <a:t>Lever</a:t>
                      </a:r>
                    </a:p>
                  </a:txBody>
                  <a:tcPr marL="64008" marR="64008" marT="27432" marB="27432" anchor="ctr">
                    <a:solidFill>
                      <a:srgbClr val="004EA8"/>
                    </a:solidFill>
                  </a:tcPr>
                </a:tc>
                <a:tc>
                  <a:txBody>
                    <a:bodyPr wrap="square"/>
                    <a:lstStyle/>
                    <a:p>
                      <a:r>
                        <a:rPr sz="1100" b="1">
                          <a:solidFill>
                            <a:srgbClr val="FFFFFF"/>
                          </a:solidFill>
                          <a:latin typeface="Arial"/>
                        </a:rPr>
                        <a:t>When</a:t>
                      </a:r>
                    </a:p>
                  </a:txBody>
                  <a:tcPr marL="64008" marR="64008" marT="27432" marB="27432" anchor="ctr">
                    <a:solidFill>
                      <a:srgbClr val="004EA8"/>
                    </a:solidFill>
                  </a:tcPr>
                </a:tc>
                <a:tc>
                  <a:txBody>
                    <a:bodyPr wrap="square"/>
                    <a:lstStyle/>
                    <a:p>
                      <a:r>
                        <a:rPr sz="1100" b="1">
                          <a:solidFill>
                            <a:srgbClr val="FFFFFF"/>
                          </a:solidFill>
                          <a:latin typeface="Arial"/>
                        </a:rPr>
                        <a:t>Benefit</a:t>
                      </a:r>
                    </a:p>
                  </a:txBody>
                  <a:tcPr marL="64008" marR="64008" marT="27432" marB="27432" anchor="ctr">
                    <a:solidFill>
                      <a:srgbClr val="004EA8"/>
                    </a:solidFill>
                  </a:tcPr>
                </a:tc>
              </a:tr>
              <a:tr h="650530">
                <a:tc>
                  <a:txBody>
                    <a:bodyPr wrap="square"/>
                    <a:lstStyle/>
                    <a:p>
                      <a:r>
                        <a:rPr sz="1100" b="1">
                          <a:solidFill>
                            <a:srgbClr val="4B4B4B"/>
                          </a:solidFill>
                          <a:latin typeface="Arial"/>
                        </a:rPr>
                        <a:t>New Business</a:t>
                      </a:r>
                    </a:p>
                  </a:txBody>
                  <a:tcPr marL="64008" marR="64008" marT="27432" marB="27432" anchor="ctr">
                    <a:solidFill>
                      <a:srgbClr val="FFFFFF"/>
                    </a:solidFill>
                  </a:tcPr>
                </a:tc>
                <a:tc>
                  <a:txBody>
                    <a:bodyPr wrap="square"/>
                    <a:lstStyle/>
                    <a:p>
                      <a:r>
                        <a:rPr sz="1100" b="0">
                          <a:solidFill>
                            <a:srgbClr val="4B4B4B"/>
                          </a:solidFill>
                          <a:latin typeface="Arial"/>
                        </a:rPr>
                        <a:t>Excel quotes; three systems; e-policy fall-outs</a:t>
                      </a:r>
                    </a:p>
                  </a:txBody>
                  <a:tcPr marL="64008" marR="64008" marT="27432" marB="27432" anchor="ctr">
                    <a:solidFill>
                      <a:srgbClr val="FFFFFF"/>
                    </a:solidFill>
                  </a:tcPr>
                </a:tc>
                <a:tc>
                  <a:txBody>
                    <a:bodyPr wrap="square"/>
                    <a:lstStyle/>
                    <a:p>
                      <a:r>
                        <a:rPr sz="1100" b="0">
                          <a:solidFill>
                            <a:srgbClr val="4B4B4B"/>
                          </a:solidFill>
                          <a:latin typeface="Arial"/>
                        </a:rPr>
                        <a:t>One client and account; e-policy exception queue; insurer standard</a:t>
                      </a:r>
                    </a:p>
                  </a:txBody>
                  <a:tcPr marL="64008" marR="64008" marT="27432" marB="27432" anchor="ctr">
                    <a:solidFill>
                      <a:srgbClr val="FFFFFF"/>
                    </a:solidFill>
                  </a:tcPr>
                </a:tc>
                <a:tc>
                  <a:txBody>
                    <a:bodyPr wrap="square"/>
                    <a:lstStyle/>
                    <a:p>
                      <a:r>
                        <a:rPr sz="1100" b="0">
                          <a:solidFill>
                            <a:srgbClr val="4B4B4B"/>
                          </a:solidFill>
                          <a:latin typeface="Arial"/>
                        </a:rPr>
                        <a:t>Go-live, After</a:t>
                      </a:r>
                    </a:p>
                  </a:txBody>
                  <a:tcPr marL="64008" marR="64008" marT="27432" marB="27432" anchor="ctr">
                    <a:solidFill>
                      <a:srgbClr val="FFFF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r h="650530">
                <a:tc>
                  <a:txBody>
                    <a:bodyPr wrap="square"/>
                    <a:lstStyle/>
                    <a:p>
                      <a:r>
                        <a:rPr sz="1100" b="1">
                          <a:solidFill>
                            <a:srgbClr val="4B4B4B"/>
                          </a:solidFill>
                          <a:latin typeface="Arial"/>
                        </a:rPr>
                        <a:t>Renewal</a:t>
                      </a:r>
                    </a:p>
                  </a:txBody>
                  <a:tcPr marL="64008" marR="64008" marT="27432" marB="27432" anchor="ctr">
                    <a:solidFill>
                      <a:srgbClr val="E5F5FF"/>
                    </a:solidFill>
                  </a:tcPr>
                </a:tc>
                <a:tc>
                  <a:txBody>
                    <a:bodyPr wrap="square"/>
                    <a:lstStyle/>
                    <a:p>
                      <a:r>
                        <a:rPr sz="1100" b="0">
                          <a:solidFill>
                            <a:srgbClr val="4B4B4B"/>
                          </a:solidFill>
                          <a:latin typeface="Arial"/>
                        </a:rPr>
                        <a:t>Excel sanitation and dispositions; RA text files; snail mail</a:t>
                      </a:r>
                    </a:p>
                  </a:txBody>
                  <a:tcPr marL="64008" marR="64008" marT="27432" marB="27432" anchor="ctr">
                    <a:solidFill>
                      <a:srgbClr val="E5F5FF"/>
                    </a:solidFill>
                  </a:tcPr>
                </a:tc>
                <a:tc>
                  <a:txBody>
                    <a:bodyPr wrap="square"/>
                    <a:lstStyle/>
                    <a:p>
                      <a:r>
                        <a:rPr sz="1100" b="0">
                          <a:solidFill>
                            <a:srgbClr val="4B4B4B"/>
                          </a:solidFill>
                          <a:latin typeface="Arial"/>
                        </a:rPr>
                        <a:t>Decision matrix; RA in batch; print batch</a:t>
                      </a:r>
                    </a:p>
                  </a:txBody>
                  <a:tcPr marL="64008" marR="64008" marT="27432" marB="27432" anchor="ctr">
                    <a:solidFill>
                      <a:srgbClr val="E5F5FF"/>
                    </a:solidFill>
                  </a:tcPr>
                </a:tc>
                <a:tc>
                  <a:txBody>
                    <a:bodyPr wrap="square"/>
                    <a:lstStyle/>
                    <a:p>
                      <a:r>
                        <a:rPr sz="1100" b="0">
                          <a:solidFill>
                            <a:srgbClr val="4B4B4B"/>
                          </a:solidFill>
                          <a:latin typeface="Arial"/>
                        </a:rPr>
                        <a:t>Go-live</a:t>
                      </a:r>
                    </a:p>
                  </a:txBody>
                  <a:tcPr marL="64008" marR="64008" marT="27432" marB="27432" anchor="ctr">
                    <a:solidFill>
                      <a:srgbClr val="E5F5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r h="650530">
                <a:tc>
                  <a:txBody>
                    <a:bodyPr wrap="square"/>
                    <a:lstStyle/>
                    <a:p>
                      <a:r>
                        <a:rPr sz="1100" b="1">
                          <a:solidFill>
                            <a:srgbClr val="4B4B4B"/>
                          </a:solidFill>
                          <a:latin typeface="Arial"/>
                        </a:rPr>
                        <a:t>Submitted Policies</a:t>
                      </a:r>
                    </a:p>
                  </a:txBody>
                  <a:tcPr marL="64008" marR="64008" marT="27432" marB="27432" anchor="ctr">
                    <a:solidFill>
                      <a:srgbClr val="FFFFFF"/>
                    </a:solidFill>
                  </a:tcPr>
                </a:tc>
                <a:tc>
                  <a:txBody>
                    <a:bodyPr wrap="square"/>
                    <a:lstStyle/>
                    <a:p>
                      <a:r>
                        <a:rPr sz="1100" b="0">
                          <a:solidFill>
                            <a:srgbClr val="4B4B4B"/>
                          </a:solidFill>
                          <a:latin typeface="Arial"/>
                        </a:rPr>
                        <a:t>Masterlists on Drive H; LAMD matching by hand</a:t>
                      </a:r>
                    </a:p>
                  </a:txBody>
                  <a:tcPr marL="64008" marR="64008" marT="27432" marB="27432" anchor="ctr">
                    <a:solidFill>
                      <a:srgbClr val="FFFFFF"/>
                    </a:solidFill>
                  </a:tcPr>
                </a:tc>
                <a:tc>
                  <a:txBody>
                    <a:bodyPr wrap="square"/>
                    <a:lstStyle/>
                    <a:p>
                      <a:r>
                        <a:rPr sz="1100" b="0">
                          <a:solidFill>
                            <a:srgbClr val="4B4B4B"/>
                          </a:solidFill>
                          <a:latin typeface="Arial"/>
                        </a:rPr>
                        <a:t>Rules on one masterlist; bank feeds</a:t>
                      </a:r>
                    </a:p>
                  </a:txBody>
                  <a:tcPr marL="64008" marR="64008" marT="27432" marB="27432" anchor="ctr">
                    <a:solidFill>
                      <a:srgbClr val="FFFFFF"/>
                    </a:solidFill>
                  </a:tcPr>
                </a:tc>
                <a:tc>
                  <a:txBody>
                    <a:bodyPr wrap="square"/>
                    <a:lstStyle/>
                    <a:p>
                      <a:r>
                        <a:rPr sz="1100" b="0">
                          <a:solidFill>
                            <a:srgbClr val="4B4B4B"/>
                          </a:solidFill>
                          <a:latin typeface="Arial"/>
                        </a:rPr>
                        <a:t>Go-live, After</a:t>
                      </a:r>
                    </a:p>
                  </a:txBody>
                  <a:tcPr marL="64008" marR="64008" marT="27432" marB="27432" anchor="ctr">
                    <a:solidFill>
                      <a:srgbClr val="FFFF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650530">
                <a:tc>
                  <a:txBody>
                    <a:bodyPr wrap="square"/>
                    <a:lstStyle/>
                    <a:p>
                      <a:r>
                        <a:rPr sz="1100" b="1">
                          <a:solidFill>
                            <a:srgbClr val="4B4B4B"/>
                          </a:solidFill>
                          <a:latin typeface="Arial"/>
                        </a:rPr>
                        <a:t>Employee Benefits</a:t>
                      </a:r>
                    </a:p>
                  </a:txBody>
                  <a:tcPr marL="64008" marR="64008" marT="27432" marB="27432" anchor="ctr">
                    <a:solidFill>
                      <a:srgbClr val="E5F5FF"/>
                    </a:solidFill>
                  </a:tcPr>
                </a:tc>
                <a:tc>
                  <a:txBody>
                    <a:bodyPr wrap="square"/>
                    <a:lstStyle/>
                    <a:p>
                      <a:r>
                        <a:rPr sz="1100" b="0">
                          <a:solidFill>
                            <a:srgbClr val="4B4B4B"/>
                          </a:solidFill>
                          <a:latin typeface="Arial"/>
                        </a:rPr>
                        <a:t>50K+ member lists by e-mail</a:t>
                      </a:r>
                    </a:p>
                  </a:txBody>
                  <a:tcPr marL="64008" marR="64008" marT="27432" marB="27432" anchor="ctr">
                    <a:solidFill>
                      <a:srgbClr val="E5F5FF"/>
                    </a:solidFill>
                  </a:tcPr>
                </a:tc>
                <a:tc>
                  <a:txBody>
                    <a:bodyPr wrap="square"/>
                    <a:lstStyle/>
                    <a:p>
                      <a:r>
                        <a:rPr sz="1100" b="0">
                          <a:solidFill>
                            <a:srgbClr val="4B4B4B"/>
                          </a:solidFill>
                          <a:latin typeface="Arial"/>
                        </a:rPr>
                        <a:t>Census upload with checks; portal</a:t>
                      </a:r>
                    </a:p>
                  </a:txBody>
                  <a:tcPr marL="64008" marR="64008" marT="27432" marB="27432" anchor="ctr">
                    <a:solidFill>
                      <a:srgbClr val="E5F5FF"/>
                    </a:solidFill>
                  </a:tcPr>
                </a:tc>
                <a:tc>
                  <a:txBody>
                    <a:bodyPr wrap="square"/>
                    <a:lstStyle/>
                    <a:p>
                      <a:r>
                        <a:rPr sz="1100" b="0">
                          <a:solidFill>
                            <a:srgbClr val="4B4B4B"/>
                          </a:solidFill>
                          <a:latin typeface="Arial"/>
                        </a:rPr>
                        <a:t>Go-live, After</a:t>
                      </a:r>
                    </a:p>
                  </a:txBody>
                  <a:tcPr marL="64008" marR="64008" marT="27432" marB="27432" anchor="ctr">
                    <a:solidFill>
                      <a:srgbClr val="E5F5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650530">
                <a:tc>
                  <a:txBody>
                    <a:bodyPr wrap="square"/>
                    <a:lstStyle/>
                    <a:p>
                      <a:r>
                        <a:rPr sz="1100" b="1">
                          <a:solidFill>
                            <a:srgbClr val="4B4B4B"/>
                          </a:solidFill>
                          <a:latin typeface="Arial"/>
                        </a:rPr>
                        <a:t>TSU, Product</a:t>
                      </a:r>
                    </a:p>
                  </a:txBody>
                  <a:tcPr marL="64008" marR="64008" marT="27432" marB="27432" anchor="ctr">
                    <a:solidFill>
                      <a:srgbClr val="FFFFFF"/>
                    </a:solidFill>
                  </a:tcPr>
                </a:tc>
                <a:tc>
                  <a:txBody>
                    <a:bodyPr wrap="square"/>
                    <a:lstStyle/>
                    <a:p>
                      <a:r>
                        <a:rPr sz="1100" b="0">
                          <a:solidFill>
                            <a:srgbClr val="4B4B4B"/>
                          </a:solidFill>
                          <a:latin typeface="Arial"/>
                        </a:rPr>
                        <a:t>Excel tracker and comparative; IT for set-up</a:t>
                      </a:r>
                    </a:p>
                  </a:txBody>
                  <a:tcPr marL="64008" marR="64008" marT="27432" marB="27432" anchor="ctr">
                    <a:solidFill>
                      <a:srgbClr val="FFFFFF"/>
                    </a:solidFill>
                  </a:tcPr>
                </a:tc>
                <a:tc>
                  <a:txBody>
                    <a:bodyPr wrap="square"/>
                    <a:lstStyle/>
                    <a:p>
                      <a:r>
                        <a:rPr sz="1100" b="0">
                          <a:solidFill>
                            <a:srgbClr val="4B4B4B"/>
                          </a:solidFill>
                          <a:latin typeface="Arial"/>
                        </a:rPr>
                        <a:t>Workflow; rules maintained by TSU</a:t>
                      </a:r>
                    </a:p>
                  </a:txBody>
                  <a:tcPr marL="64008" marR="64008" marT="27432" marB="27432" anchor="ctr">
                    <a:solidFill>
                      <a:srgbClr val="FFFFFF"/>
                    </a:solidFill>
                  </a:tcPr>
                </a:tc>
                <a:tc>
                  <a:txBody>
                    <a:bodyPr wrap="square"/>
                    <a:lstStyle/>
                    <a:p>
                      <a:r>
                        <a:rPr sz="1100" b="0">
                          <a:solidFill>
                            <a:srgbClr val="4B4B4B"/>
                          </a:solidFill>
                          <a:latin typeface="Arial"/>
                        </a:rPr>
                        <a:t>Go-live</a:t>
                      </a:r>
                    </a:p>
                  </a:txBody>
                  <a:tcPr marL="64008" marR="64008" marT="27432" marB="27432" anchor="ctr">
                    <a:solidFill>
                      <a:srgbClr val="FFFF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650530">
                <a:tc>
                  <a:txBody>
                    <a:bodyPr wrap="square"/>
                    <a:lstStyle/>
                    <a:p>
                      <a:r>
                        <a:rPr sz="1100" b="1">
                          <a:solidFill>
                            <a:srgbClr val="4B4B4B"/>
                          </a:solidFill>
                          <a:latin typeface="Arial"/>
                        </a:rPr>
                        <a:t>Reinsurance</a:t>
                      </a:r>
                    </a:p>
                  </a:txBody>
                  <a:tcPr marL="64008" marR="64008" marT="27432" marB="27432" anchor="ctr">
                    <a:solidFill>
                      <a:srgbClr val="E5F5FF"/>
                    </a:solidFill>
                  </a:tcPr>
                </a:tc>
                <a:tc>
                  <a:txBody>
                    <a:bodyPr wrap="square"/>
                    <a:lstStyle/>
                    <a:p>
                      <a:r>
                        <a:rPr sz="1100" b="0">
                          <a:solidFill>
                            <a:srgbClr val="4B4B4B"/>
                          </a:solidFill>
                          <a:latin typeface="Arial"/>
                        </a:rPr>
                        <a:t>E-mail placement; monitoring sheet</a:t>
                      </a:r>
                    </a:p>
                  </a:txBody>
                  <a:tcPr marL="64008" marR="64008" marT="27432" marB="27432" anchor="ctr">
                    <a:solidFill>
                      <a:srgbClr val="E5F5FF"/>
                    </a:solidFill>
                  </a:tcPr>
                </a:tc>
                <a:tc>
                  <a:txBody>
                    <a:bodyPr wrap="square"/>
                    <a:lstStyle/>
                    <a:p>
                      <a:r>
                        <a:rPr sz="1100" b="0">
                          <a:solidFill>
                            <a:srgbClr val="4B4B4B"/>
                          </a:solidFill>
                          <a:latin typeface="Arial"/>
                        </a:rPr>
                        <a:t>RI module; SLA clocks</a:t>
                      </a:r>
                    </a:p>
                  </a:txBody>
                  <a:tcPr marL="64008" marR="64008" marT="27432" marB="27432" anchor="ctr">
                    <a:solidFill>
                      <a:srgbClr val="E5F5FF"/>
                    </a:solidFill>
                  </a:tcPr>
                </a:tc>
                <a:tc>
                  <a:txBody>
                    <a:bodyPr wrap="square"/>
                    <a:lstStyle/>
                    <a:p>
                      <a:r>
                        <a:rPr sz="1100" b="0">
                          <a:solidFill>
                            <a:srgbClr val="4B4B4B"/>
                          </a:solidFill>
                          <a:latin typeface="Arial"/>
                        </a:rPr>
                        <a:t>Phase 2</a:t>
                      </a:r>
                    </a:p>
                  </a:txBody>
                  <a:tcPr marL="64008" marR="64008" marT="27432" marB="27432" anchor="ctr">
                    <a:solidFill>
                      <a:srgbClr val="E5F5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650530">
                <a:tc>
                  <a:txBody>
                    <a:bodyPr wrap="square"/>
                    <a:lstStyle/>
                    <a:p>
                      <a:r>
                        <a:rPr sz="1100" b="1">
                          <a:solidFill>
                            <a:srgbClr val="4B4B4B"/>
                          </a:solidFill>
                          <a:latin typeface="Arial"/>
                        </a:rPr>
                        <a:t>Cashiering</a:t>
                      </a:r>
                    </a:p>
                  </a:txBody>
                  <a:tcPr marL="64008" marR="64008" marT="27432" marB="27432" anchor="ctr">
                    <a:solidFill>
                      <a:srgbClr val="FFFFFF"/>
                    </a:solidFill>
                  </a:tcPr>
                </a:tc>
                <a:tc>
                  <a:txBody>
                    <a:bodyPr wrap="square"/>
                    <a:lstStyle/>
                    <a:p>
                      <a:r>
                        <a:rPr sz="1100" b="0">
                          <a:solidFill>
                            <a:srgbClr val="4B4B4B"/>
                          </a:solidFill>
                          <a:latin typeface="Arial"/>
                        </a:rPr>
                        <a:t>Intake checks; split files; receipts</a:t>
                      </a:r>
                    </a:p>
                  </a:txBody>
                  <a:tcPr marL="64008" marR="64008" marT="27432" marB="27432" anchor="ctr">
                    <a:solidFill>
                      <a:srgbClr val="FFFFFF"/>
                    </a:solidFill>
                  </a:tcPr>
                </a:tc>
                <a:tc>
                  <a:txBody>
                    <a:bodyPr wrap="square"/>
                    <a:lstStyle/>
                    <a:p>
                      <a:r>
                        <a:rPr sz="1100" b="0">
                          <a:solidFill>
                            <a:srgbClr val="4B4B4B"/>
                          </a:solidFill>
                          <a:latin typeface="Arial"/>
                        </a:rPr>
                        <a:t>Auto application; unique payment reference</a:t>
                      </a:r>
                    </a:p>
                  </a:txBody>
                  <a:tcPr marL="64008" marR="64008" marT="27432" marB="27432" anchor="ctr">
                    <a:solidFill>
                      <a:srgbClr val="FFFFFF"/>
                    </a:solidFill>
                  </a:tcPr>
                </a:tc>
                <a:tc>
                  <a:txBody>
                    <a:bodyPr wrap="square"/>
                    <a:lstStyle/>
                    <a:p>
                      <a:r>
                        <a:rPr sz="1100" b="0">
                          <a:solidFill>
                            <a:srgbClr val="4B4B4B"/>
                          </a:solidFill>
                          <a:latin typeface="Arial"/>
                        </a:rPr>
                        <a:t>Go-live, After</a:t>
                      </a:r>
                    </a:p>
                  </a:txBody>
                  <a:tcPr marL="64008" marR="64008" marT="27432" marB="27432" anchor="ctr">
                    <a:solidFill>
                      <a:srgbClr val="FFFF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bl>
          </a:graphicData>
        </a:graphic>
      </p:graphicFrame>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Automation opportunities by department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graphicFrame>
        <p:nvGraphicFramePr>
          <p:cNvPr id="9" name="Table 8"/>
          <p:cNvGraphicFramePr>
            <a:graphicFrameLocks noGrp="1"/>
          </p:cNvGraphicFramePr>
          <p:nvPr/>
        </p:nvGraphicFramePr>
        <p:xfrm>
          <a:off x="548640" y="1280160"/>
          <a:ext cx="11094412" cy="4754880"/>
        </p:xfrm>
        <a:graphic>
          <a:graphicData uri="http://schemas.openxmlformats.org/drawingml/2006/table">
            <a:tbl>
              <a:tblPr firstRow="1" bandRow="1">
                <a:tableStyleId>{5C22544A-7EE6-4342-B048-85BDC9FD1C3A}</a:tableStyleId>
              </a:tblPr>
              <a:tblGrid>
                <a:gridCol w="1789421"/>
                <a:gridCol w="3936727"/>
                <a:gridCol w="3399901"/>
                <a:gridCol w="1073653"/>
                <a:gridCol w="894710"/>
              </a:tblGrid>
              <a:tr h="365760">
                <a:tc>
                  <a:txBody>
                    <a:bodyPr wrap="square"/>
                    <a:lstStyle/>
                    <a:p>
                      <a:r>
                        <a:rPr sz="1100" b="1">
                          <a:solidFill>
                            <a:srgbClr val="FFFFFF"/>
                          </a:solidFill>
                          <a:latin typeface="Arial"/>
                        </a:rPr>
                        <a:t>Department</a:t>
                      </a:r>
                    </a:p>
                  </a:txBody>
                  <a:tcPr marL="64008" marR="64008" marT="27432" marB="27432" anchor="ctr">
                    <a:solidFill>
                      <a:srgbClr val="004EA8"/>
                    </a:solidFill>
                  </a:tcPr>
                </a:tc>
                <a:tc>
                  <a:txBody>
                    <a:bodyPr wrap="square"/>
                    <a:lstStyle/>
                    <a:p>
                      <a:r>
                        <a:rPr sz="1100" b="1">
                          <a:solidFill>
                            <a:srgbClr val="FFFFFF"/>
                          </a:solidFill>
                          <a:latin typeface="Arial"/>
                        </a:rPr>
                        <a:t>Manual work today (floor walk)</a:t>
                      </a:r>
                    </a:p>
                  </a:txBody>
                  <a:tcPr marL="64008" marR="64008" marT="27432" marB="27432" anchor="ctr">
                    <a:solidFill>
                      <a:srgbClr val="004EA8"/>
                    </a:solidFill>
                  </a:tcPr>
                </a:tc>
                <a:tc>
                  <a:txBody>
                    <a:bodyPr wrap="square"/>
                    <a:lstStyle/>
                    <a:p>
                      <a:r>
                        <a:rPr sz="1100" b="1">
                          <a:solidFill>
                            <a:srgbClr val="FFFFFF"/>
                          </a:solidFill>
                          <a:latin typeface="Arial"/>
                        </a:rPr>
                        <a:t>Lever</a:t>
                      </a:r>
                    </a:p>
                  </a:txBody>
                  <a:tcPr marL="64008" marR="64008" marT="27432" marB="27432" anchor="ctr">
                    <a:solidFill>
                      <a:srgbClr val="004EA8"/>
                    </a:solidFill>
                  </a:tcPr>
                </a:tc>
                <a:tc>
                  <a:txBody>
                    <a:bodyPr wrap="square"/>
                    <a:lstStyle/>
                    <a:p>
                      <a:r>
                        <a:rPr sz="1100" b="1">
                          <a:solidFill>
                            <a:srgbClr val="FFFFFF"/>
                          </a:solidFill>
                          <a:latin typeface="Arial"/>
                        </a:rPr>
                        <a:t>When</a:t>
                      </a:r>
                    </a:p>
                  </a:txBody>
                  <a:tcPr marL="64008" marR="64008" marT="27432" marB="27432" anchor="ctr">
                    <a:solidFill>
                      <a:srgbClr val="004EA8"/>
                    </a:solidFill>
                  </a:tcPr>
                </a:tc>
                <a:tc>
                  <a:txBody>
                    <a:bodyPr wrap="square"/>
                    <a:lstStyle/>
                    <a:p>
                      <a:r>
                        <a:rPr sz="1100" b="1">
                          <a:solidFill>
                            <a:srgbClr val="FFFFFF"/>
                          </a:solidFill>
                          <a:latin typeface="Arial"/>
                        </a:rPr>
                        <a:t>Benefit</a:t>
                      </a:r>
                    </a:p>
                  </a:txBody>
                  <a:tcPr marL="64008" marR="64008" marT="27432" marB="27432" anchor="ctr">
                    <a:solidFill>
                      <a:srgbClr val="004EA8"/>
                    </a:solidFill>
                  </a:tcPr>
                </a:tc>
              </a:tr>
              <a:tr h="731520">
                <a:tc>
                  <a:txBody>
                    <a:bodyPr wrap="square"/>
                    <a:lstStyle/>
                    <a:p>
                      <a:r>
                        <a:rPr sz="1100" b="1">
                          <a:solidFill>
                            <a:srgbClr val="4B4B4B"/>
                          </a:solidFill>
                          <a:latin typeface="Arial"/>
                        </a:rPr>
                        <a:t>Remittance, Recon</a:t>
                      </a:r>
                    </a:p>
                  </a:txBody>
                  <a:tcPr marL="64008" marR="64008" marT="27432" marB="27432" anchor="ctr">
                    <a:solidFill>
                      <a:srgbClr val="FFFFFF"/>
                    </a:solidFill>
                  </a:tcPr>
                </a:tc>
                <a:tc>
                  <a:txBody>
                    <a:bodyPr wrap="square"/>
                    <a:lstStyle/>
                    <a:p>
                      <a:r>
                        <a:rPr sz="1100" b="0">
                          <a:solidFill>
                            <a:srgbClr val="4B4B4B"/>
                          </a:solidFill>
                          <a:latin typeface="Arial"/>
                        </a:rPr>
                        <a:t>Excel sanitising; 20-30K lines per insurer</a:t>
                      </a:r>
                    </a:p>
                  </a:txBody>
                  <a:tcPr marL="64008" marR="64008" marT="27432" marB="27432" anchor="ctr">
                    <a:solidFill>
                      <a:srgbClr val="FFFFFF"/>
                    </a:solidFill>
                  </a:tcPr>
                </a:tc>
                <a:tc>
                  <a:txBody>
                    <a:bodyPr wrap="square"/>
                    <a:lstStyle/>
                    <a:p>
                      <a:r>
                        <a:rPr sz="1100" b="0">
                          <a:solidFill>
                            <a:srgbClr val="4B4B4B"/>
                          </a:solidFill>
                          <a:latin typeface="Arial"/>
                        </a:rPr>
                        <a:t>Scheduled batches; automatic matching</a:t>
                      </a:r>
                    </a:p>
                  </a:txBody>
                  <a:tcPr marL="64008" marR="64008" marT="27432" marB="27432" anchor="ctr">
                    <a:solidFill>
                      <a:srgbClr val="FFFFFF"/>
                    </a:solidFill>
                  </a:tcPr>
                </a:tc>
                <a:tc>
                  <a:txBody>
                    <a:bodyPr wrap="square"/>
                    <a:lstStyle/>
                    <a:p>
                      <a:r>
                        <a:rPr sz="1100" b="0">
                          <a:solidFill>
                            <a:srgbClr val="4B4B4B"/>
                          </a:solidFill>
                          <a:latin typeface="Arial"/>
                        </a:rPr>
                        <a:t>Go-live</a:t>
                      </a:r>
                    </a:p>
                  </a:txBody>
                  <a:tcPr marL="64008" marR="64008" marT="27432" marB="27432" anchor="ctr">
                    <a:solidFill>
                      <a:srgbClr val="FFFF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r h="731520">
                <a:tc>
                  <a:txBody>
                    <a:bodyPr wrap="square"/>
                    <a:lstStyle/>
                    <a:p>
                      <a:r>
                        <a:rPr sz="1100" b="1">
                          <a:solidFill>
                            <a:srgbClr val="4B4B4B"/>
                          </a:solidFill>
                          <a:latin typeface="Arial"/>
                        </a:rPr>
                        <a:t>Commission</a:t>
                      </a:r>
                    </a:p>
                  </a:txBody>
                  <a:tcPr marL="64008" marR="64008" marT="27432" marB="27432" anchor="ctr">
                    <a:solidFill>
                      <a:srgbClr val="E5F5FF"/>
                    </a:solidFill>
                  </a:tcPr>
                </a:tc>
                <a:tc>
                  <a:txBody>
                    <a:bodyPr wrap="square"/>
                    <a:lstStyle/>
                    <a:p>
                      <a:r>
                        <a:rPr sz="1100" b="0">
                          <a:solidFill>
                            <a:srgbClr val="4B4B4B"/>
                          </a:solidFill>
                          <a:latin typeface="Arial"/>
                        </a:rPr>
                        <a:t>DP lists in Excel; reversals via IT</a:t>
                      </a:r>
                    </a:p>
                  </a:txBody>
                  <a:tcPr marL="64008" marR="64008" marT="27432" marB="27432" anchor="ctr">
                    <a:solidFill>
                      <a:srgbClr val="E5F5FF"/>
                    </a:solidFill>
                  </a:tcPr>
                </a:tc>
                <a:tc>
                  <a:txBody>
                    <a:bodyPr wrap="square"/>
                    <a:lstStyle/>
                    <a:p>
                      <a:r>
                        <a:rPr sz="1100" b="0">
                          <a:solidFill>
                            <a:srgbClr val="4B4B4B"/>
                          </a:solidFill>
                          <a:latin typeface="Arial"/>
                        </a:rPr>
                        <a:t>DP billing tracked; reversal entries generated</a:t>
                      </a:r>
                    </a:p>
                  </a:txBody>
                  <a:tcPr marL="64008" marR="64008" marT="27432" marB="27432" anchor="ctr">
                    <a:solidFill>
                      <a:srgbClr val="E5F5FF"/>
                    </a:solidFill>
                  </a:tcPr>
                </a:tc>
                <a:tc>
                  <a:txBody>
                    <a:bodyPr wrap="square"/>
                    <a:lstStyle/>
                    <a:p>
                      <a:r>
                        <a:rPr sz="1100" b="0">
                          <a:solidFill>
                            <a:srgbClr val="4B4B4B"/>
                          </a:solidFill>
                          <a:latin typeface="Arial"/>
                        </a:rPr>
                        <a:t>Go-live</a:t>
                      </a:r>
                    </a:p>
                  </a:txBody>
                  <a:tcPr marL="64008" marR="64008" marT="27432" marB="27432" anchor="ctr">
                    <a:solidFill>
                      <a:srgbClr val="E5F5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r h="731520">
                <a:tc>
                  <a:txBody>
                    <a:bodyPr wrap="square"/>
                    <a:lstStyle/>
                    <a:p>
                      <a:r>
                        <a:rPr sz="1100" b="1">
                          <a:solidFill>
                            <a:srgbClr val="4B4B4B"/>
                          </a:solidFill>
                          <a:latin typeface="Arial"/>
                        </a:rPr>
                        <a:t>Collections</a:t>
                      </a:r>
                    </a:p>
                  </a:txBody>
                  <a:tcPr marL="64008" marR="64008" marT="27432" marB="27432" anchor="ctr">
                    <a:solidFill>
                      <a:srgbClr val="FFFFFF"/>
                    </a:solidFill>
                  </a:tcPr>
                </a:tc>
                <a:tc>
                  <a:txBody>
                    <a:bodyPr wrap="square"/>
                    <a:lstStyle/>
                    <a:p>
                      <a:r>
                        <a:rPr sz="1100" b="0">
                          <a:solidFill>
                            <a:srgbClr val="4B4B4B"/>
                          </a:solidFill>
                          <a:latin typeface="Arial"/>
                        </a:rPr>
                        <a:t>ICS status; CTE by e-mail</a:t>
                      </a:r>
                    </a:p>
                  </a:txBody>
                  <a:tcPr marL="64008" marR="64008" marT="27432" marB="27432" anchor="ctr">
                    <a:solidFill>
                      <a:srgbClr val="FFFFFF"/>
                    </a:solidFill>
                  </a:tcPr>
                </a:tc>
                <a:tc>
                  <a:txBody>
                    <a:bodyPr wrap="square"/>
                    <a:lstStyle/>
                    <a:p>
                      <a:r>
                        <a:rPr sz="1100" b="0">
                          <a:solidFill>
                            <a:srgbClr val="4B4B4B"/>
                          </a:solidFill>
                          <a:latin typeface="Arial"/>
                        </a:rPr>
                        <a:t>Worklist with rules; dunning; credit policy</a:t>
                      </a:r>
                    </a:p>
                  </a:txBody>
                  <a:tcPr marL="64008" marR="64008" marT="27432" marB="27432" anchor="ctr">
                    <a:solidFill>
                      <a:srgbClr val="FFFFFF"/>
                    </a:solidFill>
                  </a:tcPr>
                </a:tc>
                <a:tc>
                  <a:txBody>
                    <a:bodyPr wrap="square"/>
                    <a:lstStyle/>
                    <a:p>
                      <a:r>
                        <a:rPr sz="1100" b="0">
                          <a:solidFill>
                            <a:srgbClr val="4B4B4B"/>
                          </a:solidFill>
                          <a:latin typeface="Arial"/>
                        </a:rPr>
                        <a:t>Go-live, After</a:t>
                      </a:r>
                    </a:p>
                  </a:txBody>
                  <a:tcPr marL="64008" marR="64008" marT="27432" marB="27432" anchor="ctr">
                    <a:solidFill>
                      <a:srgbClr val="FFFF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731520">
                <a:tc>
                  <a:txBody>
                    <a:bodyPr wrap="square"/>
                    <a:lstStyle/>
                    <a:p>
                      <a:r>
                        <a:rPr sz="1100" b="1">
                          <a:solidFill>
                            <a:srgbClr val="4B4B4B"/>
                          </a:solidFill>
                          <a:latin typeface="Arial"/>
                        </a:rPr>
                        <a:t>Comptrollership</a:t>
                      </a:r>
                    </a:p>
                  </a:txBody>
                  <a:tcPr marL="64008" marR="64008" marT="27432" marB="27432" anchor="ctr">
                    <a:solidFill>
                      <a:srgbClr val="E5F5FF"/>
                    </a:solidFill>
                  </a:tcPr>
                </a:tc>
                <a:tc>
                  <a:txBody>
                    <a:bodyPr wrap="square"/>
                    <a:lstStyle/>
                    <a:p>
                      <a:r>
                        <a:rPr sz="1100" b="0">
                          <a:solidFill>
                            <a:srgbClr val="4B4B4B"/>
                          </a:solidFill>
                          <a:latin typeface="Arial"/>
                        </a:rPr>
                        <a:t>Wet signatures; WinSCP; journals; IT close</a:t>
                      </a:r>
                    </a:p>
                  </a:txBody>
                  <a:tcPr marL="64008" marR="64008" marT="27432" marB="27432" anchor="ctr">
                    <a:solidFill>
                      <a:srgbClr val="E5F5FF"/>
                    </a:solidFill>
                  </a:tcPr>
                </a:tc>
                <a:tc>
                  <a:txBody>
                    <a:bodyPr wrap="square"/>
                    <a:lstStyle/>
                    <a:p>
                      <a:r>
                        <a:rPr sz="1100" b="0">
                          <a:solidFill>
                            <a:srgbClr val="4B4B4B"/>
                          </a:solidFill>
                          <a:latin typeface="Arial"/>
                        </a:rPr>
                        <a:t>E-approval; host-to-host; entries at source</a:t>
                      </a:r>
                    </a:p>
                  </a:txBody>
                  <a:tcPr marL="64008" marR="64008" marT="27432" marB="27432" anchor="ctr">
                    <a:solidFill>
                      <a:srgbClr val="E5F5FF"/>
                    </a:solidFill>
                  </a:tcPr>
                </a:tc>
                <a:tc>
                  <a:txBody>
                    <a:bodyPr wrap="square"/>
                    <a:lstStyle/>
                    <a:p>
                      <a:r>
                        <a:rPr sz="1100" b="0">
                          <a:solidFill>
                            <a:srgbClr val="4B4B4B"/>
                          </a:solidFill>
                          <a:latin typeface="Arial"/>
                        </a:rPr>
                        <a:t>Go-live, After</a:t>
                      </a:r>
                    </a:p>
                  </a:txBody>
                  <a:tcPr marL="64008" marR="64008" marT="27432" marB="27432" anchor="ctr">
                    <a:solidFill>
                      <a:srgbClr val="E5F5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r h="731520">
                <a:tc>
                  <a:txBody>
                    <a:bodyPr wrap="square"/>
                    <a:lstStyle/>
                    <a:p>
                      <a:r>
                        <a:rPr sz="1100" b="1">
                          <a:solidFill>
                            <a:srgbClr val="4B4B4B"/>
                          </a:solidFill>
                          <a:latin typeface="Arial"/>
                        </a:rPr>
                        <a:t>Claims</a:t>
                      </a:r>
                    </a:p>
                  </a:txBody>
                  <a:tcPr marL="64008" marR="64008" marT="27432" marB="27432" anchor="ctr">
                    <a:solidFill>
                      <a:srgbClr val="FFFFFF"/>
                    </a:solidFill>
                  </a:tcPr>
                </a:tc>
                <a:tc>
                  <a:txBody>
                    <a:bodyPr wrap="square"/>
                    <a:lstStyle/>
                    <a:p>
                      <a:r>
                        <a:rPr sz="1100" b="0">
                          <a:solidFill>
                            <a:srgbClr val="4B4B4B"/>
                          </a:solidFill>
                          <a:latin typeface="Arial"/>
                        </a:rPr>
                        <a:t>Offline claims and repairs</a:t>
                      </a:r>
                    </a:p>
                  </a:txBody>
                  <a:tcPr marL="64008" marR="64008" marT="27432" marB="27432" anchor="ctr">
                    <a:solidFill>
                      <a:srgbClr val="FFFFFF"/>
                    </a:solidFill>
                  </a:tcPr>
                </a:tc>
                <a:tc>
                  <a:txBody>
                    <a:bodyPr wrap="square"/>
                    <a:lstStyle/>
                    <a:p>
                      <a:r>
                        <a:rPr sz="1100" b="0">
                          <a:solidFill>
                            <a:srgbClr val="4B4B4B"/>
                          </a:solidFill>
                          <a:latin typeface="Arial"/>
                        </a:rPr>
                        <a:t>Claim on the cover; client notices</a:t>
                      </a:r>
                    </a:p>
                  </a:txBody>
                  <a:tcPr marL="64008" marR="64008" marT="27432" marB="27432" anchor="ctr">
                    <a:solidFill>
                      <a:srgbClr val="FFFFFF"/>
                    </a:solidFill>
                  </a:tcPr>
                </a:tc>
                <a:tc>
                  <a:txBody>
                    <a:bodyPr wrap="square"/>
                    <a:lstStyle/>
                    <a:p>
                      <a:r>
                        <a:rPr sz="1100" b="0">
                          <a:solidFill>
                            <a:srgbClr val="4B4B4B"/>
                          </a:solidFill>
                          <a:latin typeface="Arial"/>
                        </a:rPr>
                        <a:t>Go-live, After</a:t>
                      </a:r>
                    </a:p>
                  </a:txBody>
                  <a:tcPr marL="64008" marR="64008" marT="27432" marB="27432" anchor="ctr">
                    <a:solidFill>
                      <a:srgbClr val="FFFF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731520">
                <a:tc>
                  <a:txBody>
                    <a:bodyPr wrap="square"/>
                    <a:lstStyle/>
                    <a:p>
                      <a:r>
                        <a:rPr sz="1100" b="1">
                          <a:solidFill>
                            <a:srgbClr val="4B4B4B"/>
                          </a:solidFill>
                          <a:latin typeface="Arial"/>
                        </a:rPr>
                        <a:t>Contact centre</a:t>
                      </a:r>
                    </a:p>
                  </a:txBody>
                  <a:tcPr marL="64008" marR="64008" marT="27432" marB="27432" anchor="ctr">
                    <a:solidFill>
                      <a:srgbClr val="E5F5FF"/>
                    </a:solidFill>
                  </a:tcPr>
                </a:tc>
                <a:tc>
                  <a:txBody>
                    <a:bodyPr wrap="square"/>
                    <a:lstStyle/>
                    <a:p>
                      <a:r>
                        <a:rPr sz="1100" b="0">
                          <a:solidFill>
                            <a:srgbClr val="4B4B4B"/>
                          </a:solidFill>
                          <a:latin typeface="Arial"/>
                        </a:rPr>
                        <a:t>Cases logged by hand in CLS</a:t>
                      </a:r>
                    </a:p>
                  </a:txBody>
                  <a:tcPr marL="64008" marR="64008" marT="27432" marB="27432" anchor="ctr">
                    <a:solidFill>
                      <a:srgbClr val="E5F5FF"/>
                    </a:solidFill>
                  </a:tcPr>
                </a:tc>
                <a:tc>
                  <a:txBody>
                    <a:bodyPr wrap="square"/>
                    <a:lstStyle/>
                    <a:p>
                      <a:r>
                        <a:rPr sz="1100" b="0">
                          <a:solidFill>
                            <a:srgbClr val="4B4B4B"/>
                          </a:solidFill>
                          <a:latin typeface="Arial"/>
                        </a:rPr>
                        <a:t>Case management (BDOI To-Be)</a:t>
                      </a:r>
                    </a:p>
                  </a:txBody>
                  <a:tcPr marL="64008" marR="64008" marT="27432" marB="27432" anchor="ctr">
                    <a:solidFill>
                      <a:srgbClr val="E5F5FF"/>
                    </a:solidFill>
                  </a:tcPr>
                </a:tc>
                <a:tc>
                  <a:txBody>
                    <a:bodyPr wrap="square"/>
                    <a:lstStyle/>
                    <a:p>
                      <a:r>
                        <a:rPr sz="1100" b="0">
                          <a:solidFill>
                            <a:srgbClr val="4B4B4B"/>
                          </a:solidFill>
                          <a:latin typeface="Arial"/>
                        </a:rPr>
                        <a:t>Change request</a:t>
                      </a:r>
                    </a:p>
                  </a:txBody>
                  <a:tcPr marL="64008" marR="64008" marT="27432" marB="27432" anchor="ctr">
                    <a:solidFill>
                      <a:srgbClr val="E5F5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bl>
          </a:graphicData>
        </a:graphic>
      </p:graphicFrame>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Roadmap in four horizons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ounded Rectangle 8"/>
          <p:cNvSpPr/>
          <p:nvPr/>
        </p:nvSpPr>
        <p:spPr>
          <a:xfrm>
            <a:off x="548640" y="1280160"/>
            <a:ext cx="2636443" cy="365760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2636443" cy="731520"/>
          </a:xfrm>
          <a:prstGeom prst="rect">
            <a:avLst/>
          </a:prstGeom>
          <a:solidFill>
            <a:srgbClr val="F6F6F6"/>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80160"/>
            <a:ext cx="2453563" cy="731520"/>
          </a:xfrm>
          <a:prstGeom prst="rect">
            <a:avLst/>
          </a:prstGeom>
          <a:noFill/>
        </p:spPr>
        <p:txBody>
          <a:bodyPr wrap="square" anchor="ctr" lIns="45720" rIns="45720" tIns="18288" bIns="18288">
            <a:spAutoFit/>
          </a:bodyPr>
          <a:lstStyle/>
          <a:p>
            <a:pPr>
              <a:spcAft>
                <a:spcPts val="0"/>
              </a:spcAft>
            </a:pPr>
            <a:r>
              <a:rPr sz="1300" b="1">
                <a:solidFill>
                  <a:srgbClr val="004EA8"/>
                </a:solidFill>
                <a:latin typeface="Arial"/>
              </a:rPr>
              <a:t>H0: Prepare</a:t>
            </a:r>
          </a:p>
          <a:p>
            <a:pPr>
              <a:spcAft>
                <a:spcPts val="0"/>
              </a:spcAft>
            </a:pPr>
            <a:r>
              <a:rPr sz="1300" b="0">
                <a:solidFill>
                  <a:srgbClr val="004EA8"/>
                </a:solidFill>
                <a:latin typeface="Arial"/>
              </a:rPr>
              <a:t>Now to Dec 2027</a:t>
            </a:r>
          </a:p>
        </p:txBody>
      </p:sp>
      <p:sp>
        <p:nvSpPr>
          <p:cNvPr id="12" name="TextBox 11"/>
          <p:cNvSpPr txBox="1"/>
          <p:nvPr/>
        </p:nvSpPr>
        <p:spPr>
          <a:xfrm>
            <a:off x="640080" y="2084832"/>
            <a:ext cx="2453563" cy="2816352"/>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Streamline and decide</a:t>
            </a:r>
          </a:p>
          <a:p>
            <a:pPr>
              <a:spcAft>
                <a:spcPts val="300"/>
              </a:spcAft>
            </a:pPr>
            <a:r>
              <a:rPr sz="1200" b="0">
                <a:solidFill>
                  <a:srgbClr val="004EA8"/>
                </a:solidFill>
                <a:latin typeface="Arial"/>
              </a:rPr>
              <a:t>•  </a:t>
            </a:r>
            <a:r>
              <a:rPr sz="1200" b="0">
                <a:solidFill>
                  <a:srgbClr val="4B4B4B"/>
                </a:solidFill>
                <a:latin typeface="Arial"/>
              </a:rPr>
              <a:t>Credit policy, DOA matrix, tolerance matrix</a:t>
            </a:r>
          </a:p>
          <a:p>
            <a:pPr>
              <a:spcAft>
                <a:spcPts val="300"/>
              </a:spcAft>
            </a:pPr>
            <a:r>
              <a:rPr sz="1200" b="0">
                <a:solidFill>
                  <a:srgbClr val="004EA8"/>
                </a:solidFill>
                <a:latin typeface="Arial"/>
              </a:rPr>
              <a:t>•  </a:t>
            </a:r>
            <a:r>
              <a:rPr sz="1200" b="0">
                <a:solidFill>
                  <a:srgbClr val="4B4B4B"/>
                </a:solidFill>
                <a:latin typeface="Arial"/>
              </a:rPr>
              <a:t>One reference; notice days; SLA values</a:t>
            </a:r>
          </a:p>
          <a:p>
            <a:pPr>
              <a:spcAft>
                <a:spcPts val="300"/>
              </a:spcAft>
            </a:pPr>
            <a:r>
              <a:rPr sz="1200" b="0">
                <a:solidFill>
                  <a:srgbClr val="004EA8"/>
                </a:solidFill>
                <a:latin typeface="Arial"/>
              </a:rPr>
              <a:t>•  </a:t>
            </a:r>
            <a:r>
              <a:rPr sz="1200" b="0">
                <a:solidFill>
                  <a:srgbClr val="4B4B4B"/>
                </a:solidFill>
                <a:latin typeface="Arial"/>
              </a:rPr>
              <a:t>Data owners; clean-up at source</a:t>
            </a:r>
          </a:p>
          <a:p>
            <a:pPr>
              <a:spcAft>
                <a:spcPts val="300"/>
              </a:spcAft>
            </a:pPr>
            <a:r>
              <a:rPr sz="1200" b="0">
                <a:solidFill>
                  <a:srgbClr val="004EA8"/>
                </a:solidFill>
                <a:latin typeface="Arial"/>
              </a:rPr>
              <a:t>•  </a:t>
            </a:r>
            <a:r>
              <a:rPr sz="1200" b="0">
                <a:solidFill>
                  <a:srgbClr val="4B4B4B"/>
                </a:solidFill>
                <a:latin typeface="Arial"/>
              </a:rPr>
              <a:t>Insurer interface standard agreed</a:t>
            </a:r>
          </a:p>
          <a:p>
            <a:pPr>
              <a:spcAft>
                <a:spcPts val="300"/>
              </a:spcAft>
            </a:pPr>
            <a:r>
              <a:rPr sz="1200" b="0">
                <a:solidFill>
                  <a:srgbClr val="004EA8"/>
                </a:solidFill>
                <a:latin typeface="Arial"/>
              </a:rPr>
              <a:t>•  </a:t>
            </a:r>
            <a:r>
              <a:rPr sz="1200" b="0">
                <a:solidFill>
                  <a:srgbClr val="4B4B4B"/>
                </a:solidFill>
                <a:latin typeface="Arial"/>
              </a:rPr>
              <a:t>Retire trackers per department</a:t>
            </a:r>
          </a:p>
        </p:txBody>
      </p:sp>
      <p:sp>
        <p:nvSpPr>
          <p:cNvPr id="13" name="Right Arrow 12"/>
          <p:cNvSpPr/>
          <p:nvPr/>
        </p:nvSpPr>
        <p:spPr>
          <a:xfrm>
            <a:off x="3166795" y="1517904"/>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67963" y="1280160"/>
            <a:ext cx="2636443" cy="365760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7963" y="1280160"/>
            <a:ext cx="2636443" cy="731520"/>
          </a:xfrm>
          <a:prstGeom prst="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9403" y="1280160"/>
            <a:ext cx="2453563" cy="731520"/>
          </a:xfrm>
          <a:prstGeom prst="rect">
            <a:avLst/>
          </a:prstGeom>
          <a:noFill/>
        </p:spPr>
        <p:txBody>
          <a:bodyPr wrap="square" anchor="ctr" lIns="45720" rIns="45720" tIns="18288" bIns="18288">
            <a:spAutoFit/>
          </a:bodyPr>
          <a:lstStyle/>
          <a:p>
            <a:pPr>
              <a:spcAft>
                <a:spcPts val="0"/>
              </a:spcAft>
            </a:pPr>
            <a:r>
              <a:rPr sz="1300" b="1">
                <a:solidFill>
                  <a:srgbClr val="004EA8"/>
                </a:solidFill>
                <a:latin typeface="Arial"/>
              </a:rPr>
              <a:t>H1: Go-live</a:t>
            </a:r>
          </a:p>
          <a:p>
            <a:pPr>
              <a:spcAft>
                <a:spcPts val="0"/>
              </a:spcAft>
            </a:pPr>
            <a:r>
              <a:rPr sz="1300" b="0">
                <a:solidFill>
                  <a:srgbClr val="004EA8"/>
                </a:solidFill>
                <a:latin typeface="Arial"/>
              </a:rPr>
              <a:t>Jan 2028</a:t>
            </a:r>
          </a:p>
        </p:txBody>
      </p:sp>
      <p:sp>
        <p:nvSpPr>
          <p:cNvPr id="17" name="TextBox 16"/>
          <p:cNvSpPr txBox="1"/>
          <p:nvPr/>
        </p:nvSpPr>
        <p:spPr>
          <a:xfrm>
            <a:off x="3459403" y="2084832"/>
            <a:ext cx="2453563" cy="2816352"/>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BRD scope in one system</a:t>
            </a:r>
          </a:p>
          <a:p>
            <a:pPr>
              <a:spcAft>
                <a:spcPts val="300"/>
              </a:spcAft>
            </a:pPr>
            <a:r>
              <a:rPr sz="1200" b="0">
                <a:solidFill>
                  <a:srgbClr val="004EA8"/>
                </a:solidFill>
                <a:latin typeface="Arial"/>
              </a:rPr>
              <a:t>•  </a:t>
            </a:r>
            <a:r>
              <a:rPr sz="1200" b="0">
                <a:solidFill>
                  <a:srgbClr val="4B4B4B"/>
                </a:solidFill>
                <a:latin typeface="Arial"/>
              </a:rPr>
              <a:t>One client, one ARN, one invoice ledger</a:t>
            </a:r>
          </a:p>
          <a:p>
            <a:pPr>
              <a:spcAft>
                <a:spcPts val="300"/>
              </a:spcAft>
            </a:pPr>
            <a:r>
              <a:rPr sz="1200" b="0">
                <a:solidFill>
                  <a:srgbClr val="004EA8"/>
                </a:solidFill>
                <a:latin typeface="Arial"/>
              </a:rPr>
              <a:t>•  </a:t>
            </a:r>
            <a:r>
              <a:rPr sz="1200" b="0">
                <a:solidFill>
                  <a:srgbClr val="4B4B4B"/>
                </a:solidFill>
                <a:latin typeface="Arial"/>
              </a:rPr>
              <a:t>Workflows with maker-checker</a:t>
            </a:r>
          </a:p>
          <a:p>
            <a:pPr>
              <a:spcAft>
                <a:spcPts val="300"/>
              </a:spcAft>
            </a:pPr>
            <a:r>
              <a:rPr sz="1200" b="0">
                <a:solidFill>
                  <a:srgbClr val="004EA8"/>
                </a:solidFill>
                <a:latin typeface="Arial"/>
              </a:rPr>
              <a:t>•  </a:t>
            </a:r>
            <a:r>
              <a:rPr sz="1200" b="0">
                <a:solidFill>
                  <a:srgbClr val="4B4B4B"/>
                </a:solidFill>
                <a:latin typeface="Arial"/>
              </a:rPr>
              <a:t>Matching, batches, decision matrix</a:t>
            </a:r>
          </a:p>
          <a:p>
            <a:pPr>
              <a:spcAft>
                <a:spcPts val="300"/>
              </a:spcAft>
            </a:pPr>
            <a:r>
              <a:rPr sz="1200" b="0">
                <a:solidFill>
                  <a:srgbClr val="004EA8"/>
                </a:solidFill>
                <a:latin typeface="Arial"/>
              </a:rPr>
              <a:t>•  </a:t>
            </a:r>
            <a:r>
              <a:rPr sz="1200" b="0">
                <a:solidFill>
                  <a:srgbClr val="4B4B4B"/>
                </a:solidFill>
                <a:latin typeface="Arial"/>
              </a:rPr>
              <a:t>Reports run by users</a:t>
            </a:r>
          </a:p>
          <a:p>
            <a:pPr>
              <a:spcAft>
                <a:spcPts val="300"/>
              </a:spcAft>
            </a:pPr>
            <a:r>
              <a:rPr sz="1200" b="0">
                <a:solidFill>
                  <a:srgbClr val="004EA8"/>
                </a:solidFill>
                <a:latin typeface="Arial"/>
              </a:rPr>
              <a:t>•  </a:t>
            </a:r>
            <a:r>
              <a:rPr sz="1200" b="0">
                <a:solidFill>
                  <a:srgbClr val="4B4B4B"/>
                </a:solidFill>
                <a:latin typeface="Arial"/>
              </a:rPr>
              <a:t>Migrated masters and open items</a:t>
            </a:r>
          </a:p>
        </p:txBody>
      </p:sp>
      <p:sp>
        <p:nvSpPr>
          <p:cNvPr id="18" name="Right Arrow 17"/>
          <p:cNvSpPr/>
          <p:nvPr/>
        </p:nvSpPr>
        <p:spPr>
          <a:xfrm>
            <a:off x="5986119" y="1517904"/>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87287" y="1280160"/>
            <a:ext cx="2636443" cy="365760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7287" y="1280160"/>
            <a:ext cx="2636443" cy="731520"/>
          </a:xfrm>
          <a:prstGeom prst="rect">
            <a:avLst/>
          </a:prstGeom>
          <a:solidFill>
            <a:srgbClr val="99C1E7"/>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8727" y="1280160"/>
            <a:ext cx="2453563" cy="731520"/>
          </a:xfrm>
          <a:prstGeom prst="rect">
            <a:avLst/>
          </a:prstGeom>
          <a:noFill/>
        </p:spPr>
        <p:txBody>
          <a:bodyPr wrap="square" anchor="ctr" lIns="45720" rIns="45720" tIns="18288" bIns="18288">
            <a:spAutoFit/>
          </a:bodyPr>
          <a:lstStyle/>
          <a:p>
            <a:pPr>
              <a:spcAft>
                <a:spcPts val="0"/>
              </a:spcAft>
            </a:pPr>
            <a:r>
              <a:rPr sz="1300" b="1">
                <a:solidFill>
                  <a:srgbClr val="004EA8"/>
                </a:solidFill>
                <a:latin typeface="Arial"/>
              </a:rPr>
              <a:t>H2: Automate</a:t>
            </a:r>
          </a:p>
          <a:p>
            <a:pPr>
              <a:spcAft>
                <a:spcPts val="0"/>
              </a:spcAft>
            </a:pPr>
            <a:r>
              <a:rPr sz="1300" b="0">
                <a:solidFill>
                  <a:srgbClr val="004EA8"/>
                </a:solidFill>
                <a:latin typeface="Arial"/>
              </a:rPr>
              <a:t>Feb 2028 - Dec 2028</a:t>
            </a:r>
          </a:p>
        </p:txBody>
      </p:sp>
      <p:sp>
        <p:nvSpPr>
          <p:cNvPr id="22" name="TextBox 21"/>
          <p:cNvSpPr txBox="1"/>
          <p:nvPr/>
        </p:nvSpPr>
        <p:spPr>
          <a:xfrm>
            <a:off x="6278727" y="2084832"/>
            <a:ext cx="2453563" cy="2816352"/>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Exceptions only</a:t>
            </a:r>
          </a:p>
          <a:p>
            <a:pPr>
              <a:spcAft>
                <a:spcPts val="300"/>
              </a:spcAft>
            </a:pPr>
            <a:r>
              <a:rPr sz="1200" b="0">
                <a:solidFill>
                  <a:srgbClr val="004EA8"/>
                </a:solidFill>
                <a:latin typeface="Arial"/>
              </a:rPr>
              <a:t>•  </a:t>
            </a:r>
            <a:r>
              <a:rPr sz="1200" b="0">
                <a:solidFill>
                  <a:srgbClr val="4B4B4B"/>
                </a:solidFill>
                <a:latin typeface="Arial"/>
              </a:rPr>
              <a:t>Cash application with scoring; payment references</a:t>
            </a:r>
          </a:p>
          <a:p>
            <a:pPr>
              <a:spcAft>
                <a:spcPts val="300"/>
              </a:spcAft>
            </a:pPr>
            <a:r>
              <a:rPr sz="1200" b="0">
                <a:solidFill>
                  <a:srgbClr val="004EA8"/>
                </a:solidFill>
                <a:latin typeface="Arial"/>
              </a:rPr>
              <a:t>•  </a:t>
            </a:r>
            <a:r>
              <a:rPr sz="1200" b="0">
                <a:solidFill>
                  <a:srgbClr val="4B4B4B"/>
                </a:solidFill>
                <a:latin typeface="Arial"/>
              </a:rPr>
              <a:t>E-policy ingestion; fall-out queue</a:t>
            </a:r>
          </a:p>
          <a:p>
            <a:pPr>
              <a:spcAft>
                <a:spcPts val="300"/>
              </a:spcAft>
            </a:pPr>
            <a:r>
              <a:rPr sz="1200" b="0">
                <a:solidFill>
                  <a:srgbClr val="004EA8"/>
                </a:solidFill>
                <a:latin typeface="Arial"/>
              </a:rPr>
              <a:t>•  </a:t>
            </a:r>
            <a:r>
              <a:rPr sz="1200" b="0">
                <a:solidFill>
                  <a:srgbClr val="4B4B4B"/>
                </a:solidFill>
                <a:latin typeface="Arial"/>
              </a:rPr>
              <a:t>Case management; client notices</a:t>
            </a:r>
          </a:p>
          <a:p>
            <a:pPr>
              <a:spcAft>
                <a:spcPts val="300"/>
              </a:spcAft>
            </a:pPr>
            <a:r>
              <a:rPr sz="1200" b="0">
                <a:solidFill>
                  <a:srgbClr val="004EA8"/>
                </a:solidFill>
                <a:latin typeface="Arial"/>
              </a:rPr>
              <a:t>•  </a:t>
            </a:r>
            <a:r>
              <a:rPr sz="1200" b="0">
                <a:solidFill>
                  <a:srgbClr val="4B4B4B"/>
                </a:solidFill>
                <a:latin typeface="Arial"/>
              </a:rPr>
              <a:t>Bank host-to-host; EFPS calendar</a:t>
            </a:r>
          </a:p>
          <a:p>
            <a:pPr>
              <a:spcAft>
                <a:spcPts val="300"/>
              </a:spcAft>
            </a:pPr>
            <a:r>
              <a:rPr sz="1200" b="0">
                <a:solidFill>
                  <a:srgbClr val="004EA8"/>
                </a:solidFill>
                <a:latin typeface="Arial"/>
              </a:rPr>
              <a:t>•  </a:t>
            </a:r>
            <a:r>
              <a:rPr sz="1200" b="0">
                <a:solidFill>
                  <a:srgbClr val="4B4B4B"/>
                </a:solidFill>
                <a:latin typeface="Arial"/>
              </a:rPr>
              <a:t>Reinsurance module (phase 2)</a:t>
            </a:r>
          </a:p>
        </p:txBody>
      </p:sp>
      <p:sp>
        <p:nvSpPr>
          <p:cNvPr id="23" name="Right Arrow 22"/>
          <p:cNvSpPr/>
          <p:nvPr/>
        </p:nvSpPr>
        <p:spPr>
          <a:xfrm>
            <a:off x="8805443" y="1517904"/>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06611" y="1280160"/>
            <a:ext cx="2636443" cy="365760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611" y="1280160"/>
            <a:ext cx="2636443" cy="731520"/>
          </a:xfrm>
          <a:prstGeom prst="rect">
            <a:avLst/>
          </a:prstGeom>
          <a:solidFill>
            <a:srgbClr val="0072D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051" y="1280160"/>
            <a:ext cx="2453563" cy="73152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H3: Optimise</a:t>
            </a:r>
          </a:p>
          <a:p>
            <a:pPr>
              <a:spcAft>
                <a:spcPts val="0"/>
              </a:spcAft>
            </a:pPr>
            <a:r>
              <a:rPr sz="1300" b="0">
                <a:solidFill>
                  <a:srgbClr val="FFFFFF"/>
                </a:solidFill>
                <a:latin typeface="Arial"/>
              </a:rPr>
              <a:t>2029 onward</a:t>
            </a:r>
          </a:p>
        </p:txBody>
      </p:sp>
      <p:sp>
        <p:nvSpPr>
          <p:cNvPr id="27" name="TextBox 26"/>
          <p:cNvSpPr txBox="1"/>
          <p:nvPr/>
        </p:nvSpPr>
        <p:spPr>
          <a:xfrm>
            <a:off x="9098051" y="2084832"/>
            <a:ext cx="2453563" cy="2816352"/>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Integrated and measured</a:t>
            </a:r>
          </a:p>
          <a:p>
            <a:pPr>
              <a:spcAft>
                <a:spcPts val="300"/>
              </a:spcAft>
            </a:pPr>
            <a:r>
              <a:rPr sz="1200" b="0">
                <a:solidFill>
                  <a:srgbClr val="004EA8"/>
                </a:solidFill>
                <a:latin typeface="Arial"/>
              </a:rPr>
              <a:t>•  </a:t>
            </a:r>
            <a:r>
              <a:rPr sz="1200" b="0">
                <a:solidFill>
                  <a:srgbClr val="4B4B4B"/>
                </a:solidFill>
                <a:latin typeface="Arial"/>
              </a:rPr>
              <a:t>Insurer APIs and portals</a:t>
            </a:r>
          </a:p>
          <a:p>
            <a:pPr>
              <a:spcAft>
                <a:spcPts val="300"/>
              </a:spcAft>
            </a:pPr>
            <a:r>
              <a:rPr sz="1200" b="0">
                <a:solidFill>
                  <a:srgbClr val="004EA8"/>
                </a:solidFill>
                <a:latin typeface="Arial"/>
              </a:rPr>
              <a:t>•  </a:t>
            </a:r>
            <a:r>
              <a:rPr sz="1200" b="0">
                <a:solidFill>
                  <a:srgbClr val="4B4B4B"/>
                </a:solidFill>
                <a:latin typeface="Arial"/>
              </a:rPr>
              <a:t>Self-service for clients and HR</a:t>
            </a:r>
          </a:p>
          <a:p>
            <a:pPr>
              <a:spcAft>
                <a:spcPts val="300"/>
              </a:spcAft>
            </a:pPr>
            <a:r>
              <a:rPr sz="1200" b="0">
                <a:solidFill>
                  <a:srgbClr val="004EA8"/>
                </a:solidFill>
                <a:latin typeface="Arial"/>
              </a:rPr>
              <a:t>•  </a:t>
            </a:r>
            <a:r>
              <a:rPr sz="1200" b="0">
                <a:solidFill>
                  <a:srgbClr val="4B4B4B"/>
                </a:solidFill>
                <a:latin typeface="Arial"/>
              </a:rPr>
              <a:t>Analytics: retention, profitability</a:t>
            </a:r>
          </a:p>
          <a:p>
            <a:pPr>
              <a:spcAft>
                <a:spcPts val="300"/>
              </a:spcAft>
            </a:pPr>
            <a:r>
              <a:rPr sz="1200" b="0">
                <a:solidFill>
                  <a:srgbClr val="004EA8"/>
                </a:solidFill>
                <a:latin typeface="Arial"/>
              </a:rPr>
              <a:t>•  </a:t>
            </a:r>
            <a:r>
              <a:rPr sz="1200" b="0">
                <a:solidFill>
                  <a:srgbClr val="4B4B4B"/>
                </a:solidFill>
                <a:latin typeface="Arial"/>
              </a:rPr>
              <a:t>Continuous close</a:t>
            </a:r>
          </a:p>
          <a:p>
            <a:pPr>
              <a:spcAft>
                <a:spcPts val="300"/>
              </a:spcAft>
            </a:pPr>
            <a:r>
              <a:rPr sz="1200" b="0">
                <a:solidFill>
                  <a:srgbClr val="004EA8"/>
                </a:solidFill>
                <a:latin typeface="Arial"/>
              </a:rPr>
              <a:t>•  </a:t>
            </a:r>
            <a:r>
              <a:rPr sz="1200" b="0">
                <a:solidFill>
                  <a:srgbClr val="4B4B4B"/>
                </a:solidFill>
                <a:latin typeface="Arial"/>
              </a:rPr>
              <a:t>Assisted work: document reading, next best action</a:t>
            </a:r>
          </a:p>
        </p:txBody>
      </p:sp>
      <p:sp>
        <p:nvSpPr>
          <p:cNvPr id="28" name="Rounded Rectangle 27"/>
          <p:cNvSpPr/>
          <p:nvPr/>
        </p:nvSpPr>
        <p:spPr>
          <a:xfrm>
            <a:off x="548640" y="5074920"/>
            <a:ext cx="11094415" cy="1143000"/>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102352"/>
            <a:ext cx="11094415" cy="292608"/>
          </a:xfrm>
          <a:prstGeom prst="rect">
            <a:avLst/>
          </a:prstGeom>
          <a:noFill/>
        </p:spPr>
        <p:txBody>
          <a:bodyPr wrap="square" anchor="t" lIns="45720" rIns="45720">
            <a:spAutoFit/>
          </a:bodyPr>
          <a:lstStyle/>
          <a:p>
            <a:r>
              <a:rPr sz="1300" b="1" i="0">
                <a:solidFill>
                  <a:srgbClr val="004EA8"/>
                </a:solidFill>
                <a:latin typeface="Arial"/>
              </a:rPr>
              <a:t>Enablers across the horizons</a:t>
            </a:r>
          </a:p>
        </p:txBody>
      </p:sp>
      <p:sp>
        <p:nvSpPr>
          <p:cNvPr id="30" name="TextBox 29"/>
          <p:cNvSpPr txBox="1"/>
          <p:nvPr/>
        </p:nvSpPr>
        <p:spPr>
          <a:xfrm>
            <a:off x="658368" y="5404104"/>
            <a:ext cx="5318607" cy="758952"/>
          </a:xfrm>
          <a:prstGeom prst="rect">
            <a:avLst/>
          </a:prstGeom>
          <a:noFill/>
        </p:spPr>
        <p:txBody>
          <a:bodyPr wrap="square" anchor="t" lIns="45720" rIns="45720" tIns="18288" bIns="18288">
            <a:spAutoFit/>
          </a:bodyPr>
          <a:lstStyle/>
          <a:p>
            <a:pPr>
              <a:spcAft>
                <a:spcPts val="200"/>
              </a:spcAft>
            </a:pPr>
            <a:r>
              <a:rPr sz="1100" b="0">
                <a:solidFill>
                  <a:srgbClr val="004EA8"/>
                </a:solidFill>
                <a:latin typeface="Arial"/>
              </a:rPr>
              <a:t>•  </a:t>
            </a:r>
            <a:r>
              <a:rPr sz="1100" b="0">
                <a:solidFill>
                  <a:srgbClr val="2E2E2E"/>
                </a:solidFill>
                <a:latin typeface="Arial"/>
              </a:rPr>
              <a:t>Business owners for every master, rule and report</a:t>
            </a:r>
          </a:p>
          <a:p>
            <a:pPr>
              <a:spcAft>
                <a:spcPts val="200"/>
              </a:spcAft>
            </a:pPr>
            <a:r>
              <a:rPr sz="1100" b="0">
                <a:solidFill>
                  <a:srgbClr val="004EA8"/>
                </a:solidFill>
                <a:latin typeface="Arial"/>
              </a:rPr>
              <a:t>•  </a:t>
            </a:r>
            <a:r>
              <a:rPr sz="1100" b="0">
                <a:solidFill>
                  <a:srgbClr val="2E2E2E"/>
                </a:solidFill>
                <a:latin typeface="Arial"/>
              </a:rPr>
              <a:t>Change champions (21) and SMEs (38) per department</a:t>
            </a:r>
          </a:p>
          <a:p>
            <a:pPr>
              <a:spcAft>
                <a:spcPts val="200"/>
              </a:spcAft>
            </a:pPr>
            <a:r>
              <a:rPr sz="1100" b="0">
                <a:solidFill>
                  <a:srgbClr val="004EA8"/>
                </a:solidFill>
                <a:latin typeface="Arial"/>
              </a:rPr>
              <a:t>•  </a:t>
            </a:r>
            <a:r>
              <a:rPr sz="1100" b="0">
                <a:solidFill>
                  <a:srgbClr val="2E2E2E"/>
                </a:solidFill>
                <a:latin typeface="Arial"/>
              </a:rPr>
              <a:t>BDO IT specifications for bank, insurer and enterprise interfaces</a:t>
            </a:r>
          </a:p>
        </p:txBody>
      </p:sp>
      <p:sp>
        <p:nvSpPr>
          <p:cNvPr id="31" name="TextBox 30"/>
          <p:cNvSpPr txBox="1"/>
          <p:nvPr/>
        </p:nvSpPr>
        <p:spPr>
          <a:xfrm>
            <a:off x="6205575" y="5404104"/>
            <a:ext cx="5318607" cy="758952"/>
          </a:xfrm>
          <a:prstGeom prst="rect">
            <a:avLst/>
          </a:prstGeom>
          <a:noFill/>
        </p:spPr>
        <p:txBody>
          <a:bodyPr wrap="square" anchor="t" lIns="45720" rIns="45720" tIns="18288" bIns="18288">
            <a:spAutoFit/>
          </a:bodyPr>
          <a:lstStyle/>
          <a:p>
            <a:pPr>
              <a:spcAft>
                <a:spcPts val="200"/>
              </a:spcAft>
            </a:pPr>
            <a:r>
              <a:rPr sz="1100" b="0">
                <a:solidFill>
                  <a:srgbClr val="004EA8"/>
                </a:solidFill>
                <a:latin typeface="Arial"/>
              </a:rPr>
              <a:t>•  </a:t>
            </a:r>
            <a:r>
              <a:rPr sz="1100" b="0">
                <a:solidFill>
                  <a:srgbClr val="2E2E2E"/>
                </a:solidFill>
                <a:latin typeface="Arial"/>
              </a:rPr>
              <a:t>Decisions on the open points of this deck</a:t>
            </a:r>
          </a:p>
          <a:p>
            <a:pPr>
              <a:spcAft>
                <a:spcPts val="200"/>
              </a:spcAft>
            </a:pPr>
            <a:r>
              <a:rPr sz="1100" b="0">
                <a:solidFill>
                  <a:srgbClr val="004EA8"/>
                </a:solidFill>
                <a:latin typeface="Arial"/>
              </a:rPr>
              <a:t>•  </a:t>
            </a:r>
            <a:r>
              <a:rPr sz="1100" b="0">
                <a:solidFill>
                  <a:srgbClr val="2E2E2E"/>
                </a:solidFill>
                <a:latin typeface="Arial"/>
              </a:rPr>
              <a:t>Training and quick-reference cards per role</a:t>
            </a:r>
          </a:p>
          <a:p>
            <a:pPr>
              <a:spcAft>
                <a:spcPts val="200"/>
              </a:spcAft>
            </a:pPr>
            <a:r>
              <a:rPr sz="1100" b="0">
                <a:solidFill>
                  <a:srgbClr val="004EA8"/>
                </a:solidFill>
                <a:latin typeface="Arial"/>
              </a:rPr>
              <a:t>•  </a:t>
            </a:r>
            <a:r>
              <a:rPr sz="1100" b="0">
                <a:solidFill>
                  <a:srgbClr val="2E2E2E"/>
                </a:solidFill>
                <a:latin typeface="Arial"/>
              </a:rPr>
              <a:t>KPIs measured from go-live</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KPIs to measure operational efficiency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graphicFrame>
        <p:nvGraphicFramePr>
          <p:cNvPr id="9" name="Table 8"/>
          <p:cNvGraphicFramePr>
            <a:graphicFrameLocks noGrp="1"/>
          </p:cNvGraphicFramePr>
          <p:nvPr/>
        </p:nvGraphicFramePr>
        <p:xfrm>
          <a:off x="548640" y="1280160"/>
          <a:ext cx="11094413" cy="4754880"/>
        </p:xfrm>
        <a:graphic>
          <a:graphicData uri="http://schemas.openxmlformats.org/drawingml/2006/table">
            <a:tbl>
              <a:tblPr firstRow="1" bandRow="1">
                <a:tableStyleId>{5C22544A-7EE6-4342-B048-85BDC9FD1C3A}</a:tableStyleId>
              </a:tblPr>
              <a:tblGrid>
                <a:gridCol w="2728134"/>
                <a:gridCol w="3091886"/>
                <a:gridCol w="3091886"/>
                <a:gridCol w="2182507"/>
              </a:tblGrid>
              <a:tr h="365760">
                <a:tc>
                  <a:txBody>
                    <a:bodyPr wrap="square"/>
                    <a:lstStyle/>
                    <a:p>
                      <a:r>
                        <a:rPr sz="1100" b="1">
                          <a:solidFill>
                            <a:srgbClr val="FFFFFF"/>
                          </a:solidFill>
                          <a:latin typeface="Arial"/>
                        </a:rPr>
                        <a:t>KPI</a:t>
                      </a:r>
                    </a:p>
                  </a:txBody>
                  <a:tcPr marL="64008" marR="64008" marT="27432" marB="27432" anchor="ctr">
                    <a:solidFill>
                      <a:srgbClr val="004EA8"/>
                    </a:solidFill>
                  </a:tcPr>
                </a:tc>
                <a:tc>
                  <a:txBody>
                    <a:bodyPr wrap="square"/>
                    <a:lstStyle/>
                    <a:p>
                      <a:r>
                        <a:rPr sz="1100" b="1">
                          <a:solidFill>
                            <a:srgbClr val="FFFFFF"/>
                          </a:solidFill>
                          <a:latin typeface="Arial"/>
                        </a:rPr>
                        <a:t>How it is today</a:t>
                      </a:r>
                    </a:p>
                  </a:txBody>
                  <a:tcPr marL="64008" marR="64008" marT="27432" marB="27432" anchor="ctr">
                    <a:solidFill>
                      <a:srgbClr val="004EA8"/>
                    </a:solidFill>
                  </a:tcPr>
                </a:tc>
                <a:tc>
                  <a:txBody>
                    <a:bodyPr wrap="square"/>
                    <a:lstStyle/>
                    <a:p>
                      <a:r>
                        <a:rPr sz="1100" b="1">
                          <a:solidFill>
                            <a:srgbClr val="FFFFFF"/>
                          </a:solidFill>
                          <a:latin typeface="Arial"/>
                        </a:rPr>
                        <a:t>Target idea</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r>
              <a:tr h="731520">
                <a:tc>
                  <a:txBody>
                    <a:bodyPr wrap="square"/>
                    <a:lstStyle/>
                    <a:p>
                      <a:r>
                        <a:rPr sz="1100" b="1">
                          <a:solidFill>
                            <a:srgbClr val="4B4B4B"/>
                          </a:solidFill>
                          <a:latin typeface="Arial"/>
                        </a:rPr>
                        <a:t>Quote turnaround</a:t>
                      </a:r>
                    </a:p>
                  </a:txBody>
                  <a:tcPr marL="64008" marR="64008" marT="27432" marB="27432" anchor="ctr">
                    <a:solidFill>
                      <a:srgbClr val="FFFFFF"/>
                    </a:solidFill>
                  </a:tcPr>
                </a:tc>
                <a:tc>
                  <a:txBody>
                    <a:bodyPr wrap="square"/>
                    <a:lstStyle/>
                    <a:p>
                      <a:r>
                        <a:rPr sz="1100" b="0">
                          <a:solidFill>
                            <a:srgbClr val="4B4B4B"/>
                          </a:solidFill>
                          <a:latin typeface="Arial"/>
                        </a:rPr>
                        <a:t>7 / 3 days, not tracked (NB-07)</a:t>
                      </a:r>
                    </a:p>
                  </a:txBody>
                  <a:tcPr marL="64008" marR="64008" marT="27432" marB="27432" anchor="ctr">
                    <a:solidFill>
                      <a:srgbClr val="FFFFFF"/>
                    </a:solidFill>
                  </a:tcPr>
                </a:tc>
                <a:tc>
                  <a:txBody>
                    <a:bodyPr wrap="square"/>
                    <a:lstStyle/>
                    <a:p>
                      <a:r>
                        <a:rPr sz="1100" b="0">
                          <a:solidFill>
                            <a:srgbClr val="4B4B4B"/>
                          </a:solidFill>
                          <a:latin typeface="Arial"/>
                        </a:rPr>
                        <a:t>Measured per quote; 90% within SLA</a:t>
                      </a:r>
                    </a:p>
                  </a:txBody>
                  <a:tcPr marL="64008" marR="64008" marT="27432" marB="27432" anchor="ctr">
                    <a:solidFill>
                      <a:srgbClr val="FFFFFF"/>
                    </a:solidFill>
                  </a:tcPr>
                </a:tc>
                <a:tc>
                  <a:txBody>
                    <a:bodyPr wrap="square"/>
                    <a:lstStyle/>
                    <a:p>
                      <a:r>
                        <a:rPr sz="1100" b="0">
                          <a:solidFill>
                            <a:srgbClr val="4B4B4B"/>
                          </a:solidFill>
                          <a:latin typeface="Arial"/>
                        </a:rPr>
                        <a:t>Marketing</a:t>
                      </a:r>
                    </a:p>
                  </a:txBody>
                  <a:tcPr marL="64008" marR="64008" marT="27432" marB="27432" anchor="ctr">
                    <a:solidFill>
                      <a:srgbClr val="FFFFFF"/>
                    </a:solidFill>
                  </a:tcPr>
                </a:tc>
              </a:tr>
              <a:tr h="731520">
                <a:tc>
                  <a:txBody>
                    <a:bodyPr wrap="square"/>
                    <a:lstStyle/>
                    <a:p>
                      <a:r>
                        <a:rPr sz="1100" b="1">
                          <a:solidFill>
                            <a:srgbClr val="4B4B4B"/>
                          </a:solidFill>
                          <a:latin typeface="Arial"/>
                        </a:rPr>
                        <a:t>Request to booked policy</a:t>
                      </a:r>
                    </a:p>
                  </a:txBody>
                  <a:tcPr marL="64008" marR="64008" marT="27432" marB="27432" anchor="ctr">
                    <a:solidFill>
                      <a:srgbClr val="E5F5FF"/>
                    </a:solidFill>
                  </a:tcPr>
                </a:tc>
                <a:tc>
                  <a:txBody>
                    <a:bodyPr wrap="square"/>
                    <a:lstStyle/>
                    <a:p>
                      <a:r>
                        <a:rPr sz="1100" b="0">
                          <a:solidFill>
                            <a:srgbClr val="4B4B4B"/>
                          </a:solidFill>
                          <a:latin typeface="Arial"/>
                        </a:rPr>
                        <a:t>Not measured; three systems</a:t>
                      </a:r>
                    </a:p>
                  </a:txBody>
                  <a:tcPr marL="64008" marR="64008" marT="27432" marB="27432" anchor="ctr">
                    <a:solidFill>
                      <a:srgbClr val="E5F5FF"/>
                    </a:solidFill>
                  </a:tcPr>
                </a:tc>
                <a:tc>
                  <a:txBody>
                    <a:bodyPr wrap="square"/>
                    <a:lstStyle/>
                    <a:p>
                      <a:r>
                        <a:rPr sz="1100" b="0">
                          <a:solidFill>
                            <a:srgbClr val="4B4B4B"/>
                          </a:solidFill>
                          <a:latin typeface="Arial"/>
                        </a:rPr>
                        <a:t>Days from acceptance to booking</a:t>
                      </a:r>
                    </a:p>
                  </a:txBody>
                  <a:tcPr marL="64008" marR="64008" marT="27432" marB="27432" anchor="ctr">
                    <a:solidFill>
                      <a:srgbClr val="E5F5FF"/>
                    </a:solidFill>
                  </a:tcPr>
                </a:tc>
                <a:tc>
                  <a:txBody>
                    <a:bodyPr wrap="square"/>
                    <a:lstStyle/>
                    <a:p>
                      <a:r>
                        <a:rPr sz="1100" b="0">
                          <a:solidFill>
                            <a:srgbClr val="4B4B4B"/>
                          </a:solidFill>
                          <a:latin typeface="Arial"/>
                        </a:rPr>
                        <a:t>Processing</a:t>
                      </a:r>
                    </a:p>
                  </a:txBody>
                  <a:tcPr marL="64008" marR="64008" marT="27432" marB="27432" anchor="ctr">
                    <a:solidFill>
                      <a:srgbClr val="E5F5FF"/>
                    </a:solidFill>
                  </a:tcPr>
                </a:tc>
              </a:tr>
              <a:tr h="731520">
                <a:tc>
                  <a:txBody>
                    <a:bodyPr wrap="square"/>
                    <a:lstStyle/>
                    <a:p>
                      <a:r>
                        <a:rPr sz="1100" b="1">
                          <a:solidFill>
                            <a:srgbClr val="4B4B4B"/>
                          </a:solidFill>
                          <a:latin typeface="Arial"/>
                        </a:rPr>
                        <a:t>E-policy fall-outs</a:t>
                      </a:r>
                    </a:p>
                  </a:txBody>
                  <a:tcPr marL="64008" marR="64008" marT="27432" marB="27432" anchor="ctr">
                    <a:solidFill>
                      <a:srgbClr val="FFFFFF"/>
                    </a:solidFill>
                  </a:tcPr>
                </a:tc>
                <a:tc>
                  <a:txBody>
                    <a:bodyPr wrap="square"/>
                    <a:lstStyle/>
                    <a:p>
                      <a:r>
                        <a:rPr sz="1100" b="0">
                          <a:solidFill>
                            <a:srgbClr val="4B4B4B"/>
                          </a:solidFill>
                          <a:latin typeface="Arial"/>
                        </a:rPr>
                        <a:t>Exception report from IT</a:t>
                      </a:r>
                    </a:p>
                  </a:txBody>
                  <a:tcPr marL="64008" marR="64008" marT="27432" marB="27432" anchor="ctr">
                    <a:solidFill>
                      <a:srgbClr val="FFFFFF"/>
                    </a:solidFill>
                  </a:tcPr>
                </a:tc>
                <a:tc>
                  <a:txBody>
                    <a:bodyPr wrap="square"/>
                    <a:lstStyle/>
                    <a:p>
                      <a:r>
                        <a:rPr sz="1100" b="0">
                          <a:solidFill>
                            <a:srgbClr val="4B4B4B"/>
                          </a:solidFill>
                          <a:latin typeface="Arial"/>
                        </a:rPr>
                        <a:t>Share of e-policies without fall-out</a:t>
                      </a:r>
                    </a:p>
                  </a:txBody>
                  <a:tcPr marL="64008" marR="64008" marT="27432" marB="27432" anchor="ctr">
                    <a:solidFill>
                      <a:srgbClr val="FFFFFF"/>
                    </a:solidFill>
                  </a:tcPr>
                </a:tc>
                <a:tc>
                  <a:txBody>
                    <a:bodyPr wrap="square"/>
                    <a:lstStyle/>
                    <a:p>
                      <a:r>
                        <a:rPr sz="1100" b="0">
                          <a:solidFill>
                            <a:srgbClr val="4B4B4B"/>
                          </a:solidFill>
                          <a:latin typeface="Arial"/>
                        </a:rPr>
                        <a:t>Processing, IT</a:t>
                      </a:r>
                    </a:p>
                  </a:txBody>
                  <a:tcPr marL="64008" marR="64008" marT="27432" marB="27432" anchor="ctr">
                    <a:solidFill>
                      <a:srgbClr val="FFFFFF"/>
                    </a:solidFill>
                  </a:tcPr>
                </a:tc>
              </a:tr>
              <a:tr h="731520">
                <a:tc>
                  <a:txBody>
                    <a:bodyPr wrap="square"/>
                    <a:lstStyle/>
                    <a:p>
                      <a:r>
                        <a:rPr sz="1100" b="1">
                          <a:solidFill>
                            <a:srgbClr val="4B4B4B"/>
                          </a:solidFill>
                          <a:latin typeface="Arial"/>
                        </a:rPr>
                        <a:t>Renewal retention</a:t>
                      </a:r>
                    </a:p>
                  </a:txBody>
                  <a:tcPr marL="64008" marR="64008" marT="27432" marB="27432" anchor="ctr">
                    <a:solidFill>
                      <a:srgbClr val="E5F5FF"/>
                    </a:solidFill>
                  </a:tcPr>
                </a:tc>
                <a:tc>
                  <a:txBody>
                    <a:bodyPr wrap="square"/>
                    <a:lstStyle/>
                    <a:p>
                      <a:r>
                        <a:rPr sz="1100" b="0">
                          <a:solidFill>
                            <a:srgbClr val="4B4B4B"/>
                          </a:solidFill>
                          <a:latin typeface="Arial"/>
                        </a:rPr>
                        <a:t>Excel dispositions</a:t>
                      </a:r>
                    </a:p>
                  </a:txBody>
                  <a:tcPr marL="64008" marR="64008" marT="27432" marB="27432" anchor="ctr">
                    <a:solidFill>
                      <a:srgbClr val="E5F5FF"/>
                    </a:solidFill>
                  </a:tcPr>
                </a:tc>
                <a:tc>
                  <a:txBody>
                    <a:bodyPr wrap="square"/>
                    <a:lstStyle/>
                    <a:p>
                      <a:r>
                        <a:rPr sz="1100" b="0">
                          <a:solidFill>
                            <a:srgbClr val="4B4B4B"/>
                          </a:solidFill>
                          <a:latin typeface="Arial"/>
                        </a:rPr>
                        <a:t>Retention and reasons per segment</a:t>
                      </a:r>
                    </a:p>
                  </a:txBody>
                  <a:tcPr marL="64008" marR="64008" marT="27432" marB="27432" anchor="ctr">
                    <a:solidFill>
                      <a:srgbClr val="E5F5FF"/>
                    </a:solidFill>
                  </a:tcPr>
                </a:tc>
                <a:tc>
                  <a:txBody>
                    <a:bodyPr wrap="square"/>
                    <a:lstStyle/>
                    <a:p>
                      <a:r>
                        <a:rPr sz="1100" b="0">
                          <a:solidFill>
                            <a:srgbClr val="4B4B4B"/>
                          </a:solidFill>
                          <a:latin typeface="Arial"/>
                        </a:rPr>
                        <a:t>Marketing</a:t>
                      </a:r>
                    </a:p>
                  </a:txBody>
                  <a:tcPr marL="64008" marR="64008" marT="27432" marB="27432" anchor="ctr">
                    <a:solidFill>
                      <a:srgbClr val="E5F5FF"/>
                    </a:solidFill>
                  </a:tcPr>
                </a:tc>
              </a:tr>
              <a:tr h="731520">
                <a:tc>
                  <a:txBody>
                    <a:bodyPr wrap="square"/>
                    <a:lstStyle/>
                    <a:p>
                      <a:r>
                        <a:rPr sz="1100" b="1">
                          <a:solidFill>
                            <a:srgbClr val="4B4B4B"/>
                          </a:solidFill>
                          <a:latin typeface="Arial"/>
                        </a:rPr>
                        <a:t>Straight-through renewals</a:t>
                      </a:r>
                    </a:p>
                  </a:txBody>
                  <a:tcPr marL="64008" marR="64008" marT="27432" marB="27432" anchor="ctr">
                    <a:solidFill>
                      <a:srgbClr val="FFFFFF"/>
                    </a:solidFill>
                  </a:tcPr>
                </a:tc>
                <a:tc>
                  <a:txBody>
                    <a:bodyPr wrap="square"/>
                    <a:lstStyle/>
                    <a:p>
                      <a:r>
                        <a:rPr sz="1100" b="0">
                          <a:solidFill>
                            <a:srgbClr val="4B4B4B"/>
                          </a:solidFill>
                          <a:latin typeface="Arial"/>
                        </a:rPr>
                        <a:t>None</a:t>
                      </a:r>
                    </a:p>
                  </a:txBody>
                  <a:tcPr marL="64008" marR="64008" marT="27432" marB="27432" anchor="ctr">
                    <a:solidFill>
                      <a:srgbClr val="FFFFFF"/>
                    </a:solidFill>
                  </a:tcPr>
                </a:tc>
                <a:tc>
                  <a:txBody>
                    <a:bodyPr wrap="square"/>
                    <a:lstStyle/>
                    <a:p>
                      <a:r>
                        <a:rPr sz="1100" b="0">
                          <a:solidFill>
                            <a:srgbClr val="4B4B4B"/>
                          </a:solidFill>
                          <a:latin typeface="Arial"/>
                        </a:rPr>
                        <a:t>Share renewed by the decision matrix</a:t>
                      </a:r>
                    </a:p>
                  </a:txBody>
                  <a:tcPr marL="64008" marR="64008" marT="27432" marB="27432" anchor="ctr">
                    <a:solidFill>
                      <a:srgbClr val="FFFFFF"/>
                    </a:solidFill>
                  </a:tcPr>
                </a:tc>
                <a:tc>
                  <a:txBody>
                    <a:bodyPr wrap="square"/>
                    <a:lstStyle/>
                    <a:p>
                      <a:r>
                        <a:rPr sz="1100" b="0">
                          <a:solidFill>
                            <a:srgbClr val="4B4B4B"/>
                          </a:solidFill>
                          <a:latin typeface="Arial"/>
                        </a:rPr>
                        <a:t>Marketing, Processing</a:t>
                      </a:r>
                    </a:p>
                  </a:txBody>
                  <a:tcPr marL="64008" marR="64008" marT="27432" marB="27432" anchor="ctr">
                    <a:solidFill>
                      <a:srgbClr val="FFFFFF"/>
                    </a:solidFill>
                  </a:tcPr>
                </a:tc>
              </a:tr>
              <a:tr h="731520">
                <a:tc>
                  <a:txBody>
                    <a:bodyPr wrap="square"/>
                    <a:lstStyle/>
                    <a:p>
                      <a:r>
                        <a:rPr sz="1100" b="1">
                          <a:solidFill>
                            <a:srgbClr val="4B4B4B"/>
                          </a:solidFill>
                          <a:latin typeface="Arial"/>
                        </a:rPr>
                        <a:t>Unapplied cash</a:t>
                      </a:r>
                    </a:p>
                  </a:txBody>
                  <a:tcPr marL="64008" marR="64008" marT="27432" marB="27432" anchor="ctr">
                    <a:solidFill>
                      <a:srgbClr val="E5F5FF"/>
                    </a:solidFill>
                  </a:tcPr>
                </a:tc>
                <a:tc>
                  <a:txBody>
                    <a:bodyPr wrap="square"/>
                    <a:lstStyle/>
                    <a:p>
                      <a:r>
                        <a:rPr sz="1100" b="0">
                          <a:solidFill>
                            <a:srgbClr val="4B4B4B"/>
                          </a:solidFill>
                          <a:latin typeface="Arial"/>
                        </a:rPr>
                        <a:t>Unapplied report worked offline</a:t>
                      </a:r>
                    </a:p>
                  </a:txBody>
                  <a:tcPr marL="64008" marR="64008" marT="27432" marB="27432" anchor="ctr">
                    <a:solidFill>
                      <a:srgbClr val="E5F5FF"/>
                    </a:solidFill>
                  </a:tcPr>
                </a:tc>
                <a:tc>
                  <a:txBody>
                    <a:bodyPr wrap="square"/>
                    <a:lstStyle/>
                    <a:p>
                      <a:r>
                        <a:rPr sz="1100" b="0">
                          <a:solidFill>
                            <a:srgbClr val="4B4B4B"/>
                          </a:solidFill>
                          <a:latin typeface="Arial"/>
                        </a:rPr>
                        <a:t>Amount and age of unapplied</a:t>
                      </a:r>
                    </a:p>
                  </a:txBody>
                  <a:tcPr marL="64008" marR="64008" marT="27432" marB="27432" anchor="ctr">
                    <a:solidFill>
                      <a:srgbClr val="E5F5FF"/>
                    </a:solidFill>
                  </a:tcPr>
                </a:tc>
                <a:tc>
                  <a:txBody>
                    <a:bodyPr wrap="square"/>
                    <a:lstStyle/>
                    <a:p>
                      <a:r>
                        <a:rPr sz="1100" b="0">
                          <a:solidFill>
                            <a:srgbClr val="4B4B4B"/>
                          </a:solidFill>
                          <a:latin typeface="Arial"/>
                        </a:rPr>
                        <a:t>Cashiering</a:t>
                      </a:r>
                    </a:p>
                  </a:txBody>
                  <a:tcPr marL="64008" marR="64008" marT="27432" marB="27432" anchor="ctr">
                    <a:solidFill>
                      <a:srgbClr val="E5F5FF"/>
                    </a:solidFill>
                  </a:tcPr>
                </a:tc>
              </a:tr>
            </a:tbl>
          </a:graphicData>
        </a:graphic>
      </p:graphicFrame>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KPIs to measure operational efficiency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graphicFrame>
        <p:nvGraphicFramePr>
          <p:cNvPr id="9" name="Table 8"/>
          <p:cNvGraphicFramePr>
            <a:graphicFrameLocks noGrp="1"/>
          </p:cNvGraphicFramePr>
          <p:nvPr/>
        </p:nvGraphicFramePr>
        <p:xfrm>
          <a:off x="548640" y="1280160"/>
          <a:ext cx="11094413" cy="4754880"/>
        </p:xfrm>
        <a:graphic>
          <a:graphicData uri="http://schemas.openxmlformats.org/drawingml/2006/table">
            <a:tbl>
              <a:tblPr firstRow="1" bandRow="1">
                <a:tableStyleId>{5C22544A-7EE6-4342-B048-85BDC9FD1C3A}</a:tableStyleId>
              </a:tblPr>
              <a:tblGrid>
                <a:gridCol w="2728134"/>
                <a:gridCol w="3091886"/>
                <a:gridCol w="3091886"/>
                <a:gridCol w="2182507"/>
              </a:tblGrid>
              <a:tr h="365760">
                <a:tc>
                  <a:txBody>
                    <a:bodyPr wrap="square"/>
                    <a:lstStyle/>
                    <a:p>
                      <a:r>
                        <a:rPr sz="1100" b="1">
                          <a:solidFill>
                            <a:srgbClr val="FFFFFF"/>
                          </a:solidFill>
                          <a:latin typeface="Arial"/>
                        </a:rPr>
                        <a:t>KPI</a:t>
                      </a:r>
                    </a:p>
                  </a:txBody>
                  <a:tcPr marL="64008" marR="64008" marT="27432" marB="27432" anchor="ctr">
                    <a:solidFill>
                      <a:srgbClr val="004EA8"/>
                    </a:solidFill>
                  </a:tcPr>
                </a:tc>
                <a:tc>
                  <a:txBody>
                    <a:bodyPr wrap="square"/>
                    <a:lstStyle/>
                    <a:p>
                      <a:r>
                        <a:rPr sz="1100" b="1">
                          <a:solidFill>
                            <a:srgbClr val="FFFFFF"/>
                          </a:solidFill>
                          <a:latin typeface="Arial"/>
                        </a:rPr>
                        <a:t>How it is today</a:t>
                      </a:r>
                    </a:p>
                  </a:txBody>
                  <a:tcPr marL="64008" marR="64008" marT="27432" marB="27432" anchor="ctr">
                    <a:solidFill>
                      <a:srgbClr val="004EA8"/>
                    </a:solidFill>
                  </a:tcPr>
                </a:tc>
                <a:tc>
                  <a:txBody>
                    <a:bodyPr wrap="square"/>
                    <a:lstStyle/>
                    <a:p>
                      <a:r>
                        <a:rPr sz="1100" b="1">
                          <a:solidFill>
                            <a:srgbClr val="FFFFFF"/>
                          </a:solidFill>
                          <a:latin typeface="Arial"/>
                        </a:rPr>
                        <a:t>Target idea</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r>
              <a:tr h="731520">
                <a:tc>
                  <a:txBody>
                    <a:bodyPr wrap="square"/>
                    <a:lstStyle/>
                    <a:p>
                      <a:r>
                        <a:rPr sz="1100" b="1">
                          <a:solidFill>
                            <a:srgbClr val="4B4B4B"/>
                          </a:solidFill>
                          <a:latin typeface="Arial"/>
                        </a:rPr>
                        <a:t>Days sales outstanding</a:t>
                      </a:r>
                    </a:p>
                  </a:txBody>
                  <a:tcPr marL="64008" marR="64008" marT="27432" marB="27432" anchor="ctr">
                    <a:solidFill>
                      <a:srgbClr val="FFFFFF"/>
                    </a:solidFill>
                  </a:tcPr>
                </a:tc>
                <a:tc>
                  <a:txBody>
                    <a:bodyPr wrap="square"/>
                    <a:lstStyle/>
                    <a:p>
                      <a:r>
                        <a:rPr sz="1100" b="0">
                          <a:solidFill>
                            <a:srgbClr val="4B4B4B"/>
                          </a:solidFill>
                          <a:latin typeface="Arial"/>
                        </a:rPr>
                        <a:t>ICS ageing unreliable (CO-02)</a:t>
                      </a:r>
                    </a:p>
                  </a:txBody>
                  <a:tcPr marL="64008" marR="64008" marT="27432" marB="27432" anchor="ctr">
                    <a:solidFill>
                      <a:srgbClr val="FFFFFF"/>
                    </a:solidFill>
                  </a:tcPr>
                </a:tc>
                <a:tc>
                  <a:txBody>
                    <a:bodyPr wrap="square"/>
                    <a:lstStyle/>
                    <a:p>
                      <a:r>
                        <a:rPr sz="1100" b="0">
                          <a:solidFill>
                            <a:srgbClr val="4B4B4B"/>
                          </a:solidFill>
                          <a:latin typeface="Arial"/>
                        </a:rPr>
                        <a:t>DSO per segment; promises kept</a:t>
                      </a:r>
                    </a:p>
                  </a:txBody>
                  <a:tcPr marL="64008" marR="64008" marT="27432" marB="27432" anchor="ctr">
                    <a:solidFill>
                      <a:srgbClr val="FFFFFF"/>
                    </a:solidFill>
                  </a:tcPr>
                </a:tc>
                <a:tc>
                  <a:txBody>
                    <a:bodyPr wrap="square"/>
                    <a:lstStyle/>
                    <a:p>
                      <a:r>
                        <a:rPr sz="1100" b="0">
                          <a:solidFill>
                            <a:srgbClr val="4B4B4B"/>
                          </a:solidFill>
                          <a:latin typeface="Arial"/>
                        </a:rPr>
                        <a:t>Collections</a:t>
                      </a:r>
                    </a:p>
                  </a:txBody>
                  <a:tcPr marL="64008" marR="64008" marT="27432" marB="27432" anchor="ctr">
                    <a:solidFill>
                      <a:srgbClr val="FFFFFF"/>
                    </a:solidFill>
                  </a:tcPr>
                </a:tc>
              </a:tr>
              <a:tr h="731520">
                <a:tc>
                  <a:txBody>
                    <a:bodyPr wrap="square"/>
                    <a:lstStyle/>
                    <a:p>
                      <a:r>
                        <a:rPr sz="1100" b="1">
                          <a:solidFill>
                            <a:srgbClr val="4B4B4B"/>
                          </a:solidFill>
                          <a:latin typeface="Arial"/>
                        </a:rPr>
                        <a:t>Remittance on time</a:t>
                      </a:r>
                    </a:p>
                  </a:txBody>
                  <a:tcPr marL="64008" marR="64008" marT="27432" marB="27432" anchor="ctr">
                    <a:solidFill>
                      <a:srgbClr val="E5F5FF"/>
                    </a:solidFill>
                  </a:tcPr>
                </a:tc>
                <a:tc>
                  <a:txBody>
                    <a:bodyPr wrap="square"/>
                    <a:lstStyle/>
                    <a:p>
                      <a:r>
                        <a:rPr sz="1100" b="0">
                          <a:solidFill>
                            <a:srgbClr val="4B4B4B"/>
                          </a:solidFill>
                          <a:latin typeface="Arial"/>
                        </a:rPr>
                        <a:t>Weekly, by hand</a:t>
                      </a:r>
                    </a:p>
                  </a:txBody>
                  <a:tcPr marL="64008" marR="64008" marT="27432" marB="27432" anchor="ctr">
                    <a:solidFill>
                      <a:srgbClr val="E5F5FF"/>
                    </a:solidFill>
                  </a:tcPr>
                </a:tc>
                <a:tc>
                  <a:txBody>
                    <a:bodyPr wrap="square"/>
                    <a:lstStyle/>
                    <a:p>
                      <a:r>
                        <a:rPr sz="1100" b="0">
                          <a:solidFill>
                            <a:srgbClr val="4B4B4B"/>
                          </a:solidFill>
                          <a:latin typeface="Arial"/>
                        </a:rPr>
                        <a:t>Share remitted in the incentive window</a:t>
                      </a:r>
                    </a:p>
                  </a:txBody>
                  <a:tcPr marL="64008" marR="64008" marT="27432" marB="27432" anchor="ctr">
                    <a:solidFill>
                      <a:srgbClr val="E5F5FF"/>
                    </a:solidFill>
                  </a:tcPr>
                </a:tc>
                <a:tc>
                  <a:txBody>
                    <a:bodyPr wrap="square"/>
                    <a:lstStyle/>
                    <a:p>
                      <a:r>
                        <a:rPr sz="1100" b="0">
                          <a:solidFill>
                            <a:srgbClr val="4B4B4B"/>
                          </a:solidFill>
                          <a:latin typeface="Arial"/>
                        </a:rPr>
                        <a:t>Remittance</a:t>
                      </a:r>
                    </a:p>
                  </a:txBody>
                  <a:tcPr marL="64008" marR="64008" marT="27432" marB="27432" anchor="ctr">
                    <a:solidFill>
                      <a:srgbClr val="E5F5FF"/>
                    </a:solidFill>
                  </a:tcPr>
                </a:tc>
              </a:tr>
              <a:tr h="731520">
                <a:tc>
                  <a:txBody>
                    <a:bodyPr wrap="square"/>
                    <a:lstStyle/>
                    <a:p>
                      <a:r>
                        <a:rPr sz="1100" b="1">
                          <a:solidFill>
                            <a:srgbClr val="4B4B4B"/>
                          </a:solidFill>
                          <a:latin typeface="Arial"/>
                        </a:rPr>
                        <a:t>Recon match rate</a:t>
                      </a:r>
                    </a:p>
                  </a:txBody>
                  <a:tcPr marL="64008" marR="64008" marT="27432" marB="27432" anchor="ctr">
                    <a:solidFill>
                      <a:srgbClr val="FFFFFF"/>
                    </a:solidFill>
                  </a:tcPr>
                </a:tc>
                <a:tc>
                  <a:txBody>
                    <a:bodyPr wrap="square"/>
                    <a:lstStyle/>
                    <a:p>
                      <a:r>
                        <a:rPr sz="1100" b="0">
                          <a:solidFill>
                            <a:srgbClr val="4B4B4B"/>
                          </a:solidFill>
                          <a:latin typeface="Arial"/>
                        </a:rPr>
                        <a:t>20-30K lines by hand</a:t>
                      </a:r>
                    </a:p>
                  </a:txBody>
                  <a:tcPr marL="64008" marR="64008" marT="27432" marB="27432" anchor="ctr">
                    <a:solidFill>
                      <a:srgbClr val="FFFFFF"/>
                    </a:solidFill>
                  </a:tcPr>
                </a:tc>
                <a:tc>
                  <a:txBody>
                    <a:bodyPr wrap="square"/>
                    <a:lstStyle/>
                    <a:p>
                      <a:r>
                        <a:rPr sz="1100" b="0">
                          <a:solidFill>
                            <a:srgbClr val="4B4B4B"/>
                          </a:solidFill>
                          <a:latin typeface="Arial"/>
                        </a:rPr>
                        <a:t>Share matched automatically</a:t>
                      </a:r>
                    </a:p>
                  </a:txBody>
                  <a:tcPr marL="64008" marR="64008" marT="27432" marB="27432" anchor="ctr">
                    <a:solidFill>
                      <a:srgbClr val="FFFFFF"/>
                    </a:solidFill>
                  </a:tcPr>
                </a:tc>
                <a:tc>
                  <a:txBody>
                    <a:bodyPr wrap="square"/>
                    <a:lstStyle/>
                    <a:p>
                      <a:r>
                        <a:rPr sz="1100" b="0">
                          <a:solidFill>
                            <a:srgbClr val="4B4B4B"/>
                          </a:solidFill>
                          <a:latin typeface="Arial"/>
                        </a:rPr>
                        <a:t>Production recon</a:t>
                      </a:r>
                    </a:p>
                  </a:txBody>
                  <a:tcPr marL="64008" marR="64008" marT="27432" marB="27432" anchor="ctr">
                    <a:solidFill>
                      <a:srgbClr val="FFFFFF"/>
                    </a:solidFill>
                  </a:tcPr>
                </a:tc>
              </a:tr>
              <a:tr h="731520">
                <a:tc>
                  <a:txBody>
                    <a:bodyPr wrap="square"/>
                    <a:lstStyle/>
                    <a:p>
                      <a:r>
                        <a:rPr sz="1100" b="1">
                          <a:solidFill>
                            <a:srgbClr val="4B4B4B"/>
                          </a:solidFill>
                          <a:latin typeface="Arial"/>
                        </a:rPr>
                        <a:t>Close duration</a:t>
                      </a:r>
                    </a:p>
                  </a:txBody>
                  <a:tcPr marL="64008" marR="64008" marT="27432" marB="27432" anchor="ctr">
                    <a:solidFill>
                      <a:srgbClr val="E5F5FF"/>
                    </a:solidFill>
                  </a:tcPr>
                </a:tc>
                <a:tc>
                  <a:txBody>
                    <a:bodyPr wrap="square"/>
                    <a:lstStyle/>
                    <a:p>
                      <a:r>
                        <a:rPr sz="1100" b="0">
                          <a:solidFill>
                            <a:srgbClr val="4B4B4B"/>
                          </a:solidFill>
                          <a:latin typeface="Arial"/>
                        </a:rPr>
                        <a:t>IT runs the close</a:t>
                      </a:r>
                    </a:p>
                  </a:txBody>
                  <a:tcPr marL="64008" marR="64008" marT="27432" marB="27432" anchor="ctr">
                    <a:solidFill>
                      <a:srgbClr val="E5F5FF"/>
                    </a:solidFill>
                  </a:tcPr>
                </a:tc>
                <a:tc>
                  <a:txBody>
                    <a:bodyPr wrap="square"/>
                    <a:lstStyle/>
                    <a:p>
                      <a:r>
                        <a:rPr sz="1100" b="0">
                          <a:solidFill>
                            <a:srgbClr val="4B4B4B"/>
                          </a:solidFill>
                          <a:latin typeface="Arial"/>
                        </a:rPr>
                        <a:t>Working days to close the month</a:t>
                      </a:r>
                    </a:p>
                  </a:txBody>
                  <a:tcPr marL="64008" marR="64008" marT="27432" marB="27432" anchor="ctr">
                    <a:solidFill>
                      <a:srgbClr val="E5F5FF"/>
                    </a:solidFill>
                  </a:tcPr>
                </a:tc>
                <a:tc>
                  <a:txBody>
                    <a:bodyPr wrap="square"/>
                    <a:lstStyle/>
                    <a:p>
                      <a:r>
                        <a:rPr sz="1100" b="0">
                          <a:solidFill>
                            <a:srgbClr val="4B4B4B"/>
                          </a:solidFill>
                          <a:latin typeface="Arial"/>
                        </a:rPr>
                        <a:t>FRBS</a:t>
                      </a:r>
                    </a:p>
                  </a:txBody>
                  <a:tcPr marL="64008" marR="64008" marT="27432" marB="27432" anchor="ctr">
                    <a:solidFill>
                      <a:srgbClr val="E5F5FF"/>
                    </a:solidFill>
                  </a:tcPr>
                </a:tc>
              </a:tr>
              <a:tr h="731520">
                <a:tc>
                  <a:txBody>
                    <a:bodyPr wrap="square"/>
                    <a:lstStyle/>
                    <a:p>
                      <a:r>
                        <a:rPr sz="1100" b="1">
                          <a:solidFill>
                            <a:srgbClr val="4B4B4B"/>
                          </a:solidFill>
                          <a:latin typeface="Arial"/>
                        </a:rPr>
                        <a:t>Claims cycle time</a:t>
                      </a:r>
                    </a:p>
                  </a:txBody>
                  <a:tcPr marL="64008" marR="64008" marT="27432" marB="27432" anchor="ctr">
                    <a:solidFill>
                      <a:srgbClr val="FFFFFF"/>
                    </a:solidFill>
                  </a:tcPr>
                </a:tc>
                <a:tc>
                  <a:txBody>
                    <a:bodyPr wrap="square"/>
                    <a:lstStyle/>
                    <a:p>
                      <a:r>
                        <a:rPr sz="1100" b="0">
                          <a:solidFill>
                            <a:srgbClr val="4B4B4B"/>
                          </a:solidFill>
                          <a:latin typeface="Arial"/>
                        </a:rPr>
                        <a:t>Offline</a:t>
                      </a:r>
                    </a:p>
                  </a:txBody>
                  <a:tcPr marL="64008" marR="64008" marT="27432" marB="27432" anchor="ctr">
                    <a:solidFill>
                      <a:srgbClr val="FFFFFF"/>
                    </a:solidFill>
                  </a:tcPr>
                </a:tc>
                <a:tc>
                  <a:txBody>
                    <a:bodyPr wrap="square"/>
                    <a:lstStyle/>
                    <a:p>
                      <a:r>
                        <a:rPr sz="1100" b="0">
                          <a:solidFill>
                            <a:srgbClr val="4B4B4B"/>
                          </a:solidFill>
                          <a:latin typeface="Arial"/>
                        </a:rPr>
                        <a:t>Notice to settlement, per insurer</a:t>
                      </a:r>
                    </a:p>
                  </a:txBody>
                  <a:tcPr marL="64008" marR="64008" marT="27432" marB="27432" anchor="ctr">
                    <a:solidFill>
                      <a:srgbClr val="FFFFFF"/>
                    </a:solidFill>
                  </a:tcPr>
                </a:tc>
                <a:tc>
                  <a:txBody>
                    <a:bodyPr wrap="square"/>
                    <a:lstStyle/>
                    <a:p>
                      <a:r>
                        <a:rPr sz="1100" b="0">
                          <a:solidFill>
                            <a:srgbClr val="4B4B4B"/>
                          </a:solidFill>
                          <a:latin typeface="Arial"/>
                        </a:rPr>
                        <a:t>Claims</a:t>
                      </a:r>
                    </a:p>
                  </a:txBody>
                  <a:tcPr marL="64008" marR="64008" marT="27432" marB="27432" anchor="ctr">
                    <a:solidFill>
                      <a:srgbClr val="FFFFFF"/>
                    </a:solidFill>
                  </a:tcPr>
                </a:tc>
              </a:tr>
              <a:tr h="731520">
                <a:tc>
                  <a:txBody>
                    <a:bodyPr wrap="square"/>
                    <a:lstStyle/>
                    <a:p>
                      <a:r>
                        <a:rPr sz="1100" b="1">
                          <a:solidFill>
                            <a:srgbClr val="4B4B4B"/>
                          </a:solidFill>
                          <a:latin typeface="Arial"/>
                        </a:rPr>
                        <a:t>First-contact resolution</a:t>
                      </a:r>
                    </a:p>
                  </a:txBody>
                  <a:tcPr marL="64008" marR="64008" marT="27432" marB="27432" anchor="ctr">
                    <a:solidFill>
                      <a:srgbClr val="E5F5FF"/>
                    </a:solidFill>
                  </a:tcPr>
                </a:tc>
                <a:tc>
                  <a:txBody>
                    <a:bodyPr wrap="square"/>
                    <a:lstStyle/>
                    <a:p>
                      <a:r>
                        <a:rPr sz="1100" b="0">
                          <a:solidFill>
                            <a:srgbClr val="4B4B4B"/>
                          </a:solidFill>
                          <a:latin typeface="Arial"/>
                        </a:rPr>
                        <a:t>Cases by hand in CLS</a:t>
                      </a:r>
                    </a:p>
                  </a:txBody>
                  <a:tcPr marL="64008" marR="64008" marT="27432" marB="27432" anchor="ctr">
                    <a:solidFill>
                      <a:srgbClr val="E5F5FF"/>
                    </a:solidFill>
                  </a:tcPr>
                </a:tc>
                <a:tc>
                  <a:txBody>
                    <a:bodyPr wrap="square"/>
                    <a:lstStyle/>
                    <a:p>
                      <a:r>
                        <a:rPr sz="1100" b="0">
                          <a:solidFill>
                            <a:srgbClr val="4B4B4B"/>
                          </a:solidFill>
                          <a:latin typeface="Arial"/>
                        </a:rPr>
                        <a:t>Share closed at first contact</a:t>
                      </a:r>
                    </a:p>
                  </a:txBody>
                  <a:tcPr marL="64008" marR="64008" marT="27432" marB="27432" anchor="ctr">
                    <a:solidFill>
                      <a:srgbClr val="E5F5FF"/>
                    </a:solidFill>
                  </a:tcPr>
                </a:tc>
                <a:tc>
                  <a:txBody>
                    <a:bodyPr wrap="square"/>
                    <a:lstStyle/>
                    <a:p>
                      <a:r>
                        <a:rPr sz="1100" b="0">
                          <a:solidFill>
                            <a:srgbClr val="4B4B4B"/>
                          </a:solidFill>
                          <a:latin typeface="Arial"/>
                        </a:rPr>
                        <a:t>Contact centre</a:t>
                      </a:r>
                    </a:p>
                  </a:txBody>
                  <a:tcPr marL="64008" marR="64008" marT="27432" marB="27432" anchor="ctr">
                    <a:solidFill>
                      <a:srgbClr val="E5F5FF"/>
                    </a:solidFill>
                  </a:tcPr>
                </a:tc>
              </a:tr>
            </a:tbl>
          </a:graphicData>
        </a:graphic>
      </p:graphicFrame>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Summary: from today to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ectangle 8"/>
          <p:cNvSpPr/>
          <p:nvPr/>
        </p:nvSpPr>
        <p:spPr>
          <a:xfrm>
            <a:off x="2679192"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80"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1  </a:t>
            </a:r>
            <a:r>
              <a:rPr sz="1100" b="0">
                <a:solidFill>
                  <a:srgbClr val="2E2E2E"/>
                </a:solidFill>
                <a:latin typeface="Arial"/>
              </a:rPr>
              <a:t>Manual: paper, e-mail</a:t>
            </a:r>
          </a:p>
        </p:txBody>
      </p:sp>
      <p:sp>
        <p:nvSpPr>
          <p:cNvPr id="11" name="Rectangle 10"/>
          <p:cNvSpPr/>
          <p:nvPr/>
        </p:nvSpPr>
        <p:spPr>
          <a:xfrm>
            <a:off x="4477451"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5739"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2  </a:t>
            </a:r>
            <a:r>
              <a:rPr sz="1100" b="0">
                <a:solidFill>
                  <a:srgbClr val="2E2E2E"/>
                </a:solidFill>
                <a:latin typeface="Arial"/>
              </a:rPr>
              <a:t>Tool-assisted: spreadsheets, separate systems</a:t>
            </a:r>
          </a:p>
        </p:txBody>
      </p:sp>
      <p:sp>
        <p:nvSpPr>
          <p:cNvPr id="13" name="Rectangle 12"/>
          <p:cNvSpPr/>
          <p:nvPr/>
        </p:nvSpPr>
        <p:spPr>
          <a:xfrm>
            <a:off x="6275710"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3998"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3  </a:t>
            </a:r>
            <a:r>
              <a:rPr sz="1100" b="0">
                <a:solidFill>
                  <a:srgbClr val="2E2E2E"/>
                </a:solidFill>
                <a:latin typeface="Arial"/>
              </a:rPr>
              <a:t>One workflow in one system</a:t>
            </a:r>
          </a:p>
        </p:txBody>
      </p:sp>
      <p:sp>
        <p:nvSpPr>
          <p:cNvPr id="15" name="Rectangle 14"/>
          <p:cNvSpPr/>
          <p:nvPr/>
        </p:nvSpPr>
        <p:spPr>
          <a:xfrm>
            <a:off x="8073969"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257"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4  </a:t>
            </a:r>
            <a:r>
              <a:rPr sz="1100" b="0">
                <a:solidFill>
                  <a:srgbClr val="2E2E2E"/>
                </a:solidFill>
                <a:latin typeface="Arial"/>
              </a:rPr>
              <a:t>Automated, with exception queues</a:t>
            </a:r>
          </a:p>
        </p:txBody>
      </p:sp>
      <p:sp>
        <p:nvSpPr>
          <p:cNvPr id="17" name="Rectangle 16"/>
          <p:cNvSpPr/>
          <p:nvPr/>
        </p:nvSpPr>
        <p:spPr>
          <a:xfrm>
            <a:off x="9872228"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90516"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5  </a:t>
            </a:r>
            <a:r>
              <a:rPr sz="1100" b="0">
                <a:solidFill>
                  <a:srgbClr val="2E2E2E"/>
                </a:solidFill>
                <a:latin typeface="Arial"/>
              </a:rPr>
              <a:t>Integrated and measured</a:t>
            </a:r>
          </a:p>
        </p:txBody>
      </p:sp>
      <p:sp>
        <p:nvSpPr>
          <p:cNvPr id="19" name="Rectangle 18"/>
          <p:cNvSpPr/>
          <p:nvPr/>
        </p:nvSpPr>
        <p:spPr>
          <a:xfrm>
            <a:off x="548640" y="1938528"/>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1938528"/>
            <a:ext cx="2103120" cy="483325"/>
          </a:xfrm>
          <a:prstGeom prst="rect">
            <a:avLst/>
          </a:prstGeom>
          <a:noFill/>
        </p:spPr>
        <p:txBody>
          <a:bodyPr wrap="square" anchor="ctr" lIns="45720" rIns="45720">
            <a:spAutoFit/>
          </a:bodyPr>
          <a:lstStyle/>
          <a:p>
            <a:r>
              <a:rPr sz="1300" b="1" i="0">
                <a:solidFill>
                  <a:srgbClr val="004EA8"/>
                </a:solidFill>
                <a:latin typeface="Arial"/>
              </a:rPr>
              <a:t>Automation</a:t>
            </a:r>
          </a:p>
        </p:txBody>
      </p:sp>
      <p:sp>
        <p:nvSpPr>
          <p:cNvPr id="21" name="Rectangle 20"/>
          <p:cNvSpPr/>
          <p:nvPr/>
        </p:nvSpPr>
        <p:spPr>
          <a:xfrm>
            <a:off x="3550889" y="2161140"/>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13729" y="2043030"/>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3" name="Oval 22"/>
          <p:cNvSpPr/>
          <p:nvPr/>
        </p:nvSpPr>
        <p:spPr>
          <a:xfrm>
            <a:off x="8808506" y="2043030"/>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4" name="Oval 23"/>
          <p:cNvSpPr/>
          <p:nvPr/>
        </p:nvSpPr>
        <p:spPr>
          <a:xfrm>
            <a:off x="10606765" y="2043030"/>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5" name="TextBox 24"/>
          <p:cNvSpPr txBox="1"/>
          <p:nvPr/>
        </p:nvSpPr>
        <p:spPr>
          <a:xfrm>
            <a:off x="594360" y="2421853"/>
            <a:ext cx="2103120" cy="483325"/>
          </a:xfrm>
          <a:prstGeom prst="rect">
            <a:avLst/>
          </a:prstGeom>
          <a:noFill/>
        </p:spPr>
        <p:txBody>
          <a:bodyPr wrap="square" anchor="ctr" lIns="45720" rIns="45720">
            <a:spAutoFit/>
          </a:bodyPr>
          <a:lstStyle/>
          <a:p>
            <a:r>
              <a:rPr sz="1300" b="1" i="0">
                <a:solidFill>
                  <a:srgbClr val="004EA8"/>
                </a:solidFill>
                <a:latin typeface="Arial"/>
              </a:rPr>
              <a:t>Controls</a:t>
            </a:r>
          </a:p>
        </p:txBody>
      </p:sp>
      <p:sp>
        <p:nvSpPr>
          <p:cNvPr id="26" name="Rectangle 25"/>
          <p:cNvSpPr/>
          <p:nvPr/>
        </p:nvSpPr>
        <p:spPr>
          <a:xfrm>
            <a:off x="5349148" y="2644466"/>
            <a:ext cx="3596518"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211988" y="2526356"/>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8" name="Oval 27"/>
          <p:cNvSpPr/>
          <p:nvPr/>
        </p:nvSpPr>
        <p:spPr>
          <a:xfrm>
            <a:off x="8808506" y="2526356"/>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9" name="Oval 28"/>
          <p:cNvSpPr/>
          <p:nvPr/>
        </p:nvSpPr>
        <p:spPr>
          <a:xfrm>
            <a:off x="10606765" y="2526356"/>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0" name="Rectangle 29"/>
          <p:cNvSpPr/>
          <p:nvPr/>
        </p:nvSpPr>
        <p:spPr>
          <a:xfrm>
            <a:off x="548640" y="2905179"/>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905179"/>
            <a:ext cx="2103120" cy="483325"/>
          </a:xfrm>
          <a:prstGeom prst="rect">
            <a:avLst/>
          </a:prstGeom>
          <a:noFill/>
        </p:spPr>
        <p:txBody>
          <a:bodyPr wrap="square" anchor="ctr" lIns="45720" rIns="45720">
            <a:spAutoFit/>
          </a:bodyPr>
          <a:lstStyle/>
          <a:p>
            <a:r>
              <a:rPr sz="1300" b="1" i="0">
                <a:solidFill>
                  <a:srgbClr val="004EA8"/>
                </a:solidFill>
                <a:latin typeface="Arial"/>
              </a:rPr>
              <a:t>Data</a:t>
            </a:r>
          </a:p>
        </p:txBody>
      </p:sp>
      <p:sp>
        <p:nvSpPr>
          <p:cNvPr id="32" name="Rectangle 31"/>
          <p:cNvSpPr/>
          <p:nvPr/>
        </p:nvSpPr>
        <p:spPr>
          <a:xfrm>
            <a:off x="3550889" y="3127792"/>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413729" y="3009682"/>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4" name="Oval 33"/>
          <p:cNvSpPr/>
          <p:nvPr/>
        </p:nvSpPr>
        <p:spPr>
          <a:xfrm>
            <a:off x="8808506" y="3009682"/>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5" name="Oval 34"/>
          <p:cNvSpPr/>
          <p:nvPr/>
        </p:nvSpPr>
        <p:spPr>
          <a:xfrm>
            <a:off x="10606765" y="3009682"/>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6" name="TextBox 35"/>
          <p:cNvSpPr txBox="1"/>
          <p:nvPr/>
        </p:nvSpPr>
        <p:spPr>
          <a:xfrm>
            <a:off x="594360" y="3388505"/>
            <a:ext cx="2103120" cy="483325"/>
          </a:xfrm>
          <a:prstGeom prst="rect">
            <a:avLst/>
          </a:prstGeom>
          <a:noFill/>
        </p:spPr>
        <p:txBody>
          <a:bodyPr wrap="square" anchor="ctr" lIns="45720" rIns="45720">
            <a:spAutoFit/>
          </a:bodyPr>
          <a:lstStyle/>
          <a:p>
            <a:r>
              <a:rPr sz="1300" b="1" i="0">
                <a:solidFill>
                  <a:srgbClr val="004EA8"/>
                </a:solidFill>
                <a:latin typeface="Arial"/>
              </a:rPr>
              <a:t>Integration</a:t>
            </a:r>
          </a:p>
        </p:txBody>
      </p:sp>
      <p:sp>
        <p:nvSpPr>
          <p:cNvPr id="37" name="Rectangle 36"/>
          <p:cNvSpPr/>
          <p:nvPr/>
        </p:nvSpPr>
        <p:spPr>
          <a:xfrm>
            <a:off x="5349148" y="3611118"/>
            <a:ext cx="1798259"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211988" y="3493008"/>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9" name="Oval 38"/>
          <p:cNvSpPr/>
          <p:nvPr/>
        </p:nvSpPr>
        <p:spPr>
          <a:xfrm>
            <a:off x="7010247" y="3493008"/>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0" name="Oval 39"/>
          <p:cNvSpPr/>
          <p:nvPr/>
        </p:nvSpPr>
        <p:spPr>
          <a:xfrm>
            <a:off x="10606765" y="3493008"/>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1" name="Rectangle 40"/>
          <p:cNvSpPr/>
          <p:nvPr/>
        </p:nvSpPr>
        <p:spPr>
          <a:xfrm>
            <a:off x="548640" y="3871830"/>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871830"/>
            <a:ext cx="2103120" cy="483325"/>
          </a:xfrm>
          <a:prstGeom prst="rect">
            <a:avLst/>
          </a:prstGeom>
          <a:noFill/>
        </p:spPr>
        <p:txBody>
          <a:bodyPr wrap="square" anchor="ctr" lIns="45720" rIns="45720">
            <a:spAutoFit/>
          </a:bodyPr>
          <a:lstStyle/>
          <a:p>
            <a:r>
              <a:rPr sz="1300" b="1" i="0">
                <a:solidFill>
                  <a:srgbClr val="004EA8"/>
                </a:solidFill>
                <a:latin typeface="Arial"/>
              </a:rPr>
              <a:t>Customer service</a:t>
            </a:r>
          </a:p>
        </p:txBody>
      </p:sp>
      <p:sp>
        <p:nvSpPr>
          <p:cNvPr id="43" name="Rectangle 42"/>
          <p:cNvSpPr/>
          <p:nvPr/>
        </p:nvSpPr>
        <p:spPr>
          <a:xfrm>
            <a:off x="5349148" y="4094443"/>
            <a:ext cx="1798259"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211988" y="3976333"/>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5" name="Oval 44"/>
          <p:cNvSpPr/>
          <p:nvPr/>
        </p:nvSpPr>
        <p:spPr>
          <a:xfrm>
            <a:off x="7010247" y="3976333"/>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6" name="Oval 45"/>
          <p:cNvSpPr/>
          <p:nvPr/>
        </p:nvSpPr>
        <p:spPr>
          <a:xfrm>
            <a:off x="10606765" y="3976333"/>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7" name="TextBox 46"/>
          <p:cNvSpPr txBox="1"/>
          <p:nvPr/>
        </p:nvSpPr>
        <p:spPr>
          <a:xfrm>
            <a:off x="594360" y="4355156"/>
            <a:ext cx="2103120" cy="483325"/>
          </a:xfrm>
          <a:prstGeom prst="rect">
            <a:avLst/>
          </a:prstGeom>
          <a:noFill/>
        </p:spPr>
        <p:txBody>
          <a:bodyPr wrap="square" anchor="ctr" lIns="45720" rIns="45720">
            <a:spAutoFit/>
          </a:bodyPr>
          <a:lstStyle/>
          <a:p>
            <a:r>
              <a:rPr sz="1300" b="1" i="0">
                <a:solidFill>
                  <a:srgbClr val="004EA8"/>
                </a:solidFill>
                <a:latin typeface="Arial"/>
              </a:rPr>
              <a:t>Compliance</a:t>
            </a:r>
          </a:p>
        </p:txBody>
      </p:sp>
      <p:sp>
        <p:nvSpPr>
          <p:cNvPr id="48" name="Rectangle 47"/>
          <p:cNvSpPr/>
          <p:nvPr/>
        </p:nvSpPr>
        <p:spPr>
          <a:xfrm>
            <a:off x="3550889" y="4577769"/>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13729" y="4459659"/>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0" name="Oval 49"/>
          <p:cNvSpPr/>
          <p:nvPr/>
        </p:nvSpPr>
        <p:spPr>
          <a:xfrm>
            <a:off x="8808506" y="4459659"/>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1" name="Oval 50"/>
          <p:cNvSpPr/>
          <p:nvPr/>
        </p:nvSpPr>
        <p:spPr>
          <a:xfrm>
            <a:off x="10606765" y="4459659"/>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2" name="Rectangle 51"/>
          <p:cNvSpPr/>
          <p:nvPr/>
        </p:nvSpPr>
        <p:spPr>
          <a:xfrm>
            <a:off x="548640" y="4838482"/>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838482"/>
            <a:ext cx="2103120" cy="483325"/>
          </a:xfrm>
          <a:prstGeom prst="rect">
            <a:avLst/>
          </a:prstGeom>
          <a:noFill/>
        </p:spPr>
        <p:txBody>
          <a:bodyPr wrap="square" anchor="ctr" lIns="45720" rIns="45720">
            <a:spAutoFit/>
          </a:bodyPr>
          <a:lstStyle/>
          <a:p>
            <a:r>
              <a:rPr sz="1300" b="1" i="0">
                <a:solidFill>
                  <a:srgbClr val="004EA8"/>
                </a:solidFill>
                <a:latin typeface="Arial"/>
              </a:rPr>
              <a:t>Reporting</a:t>
            </a:r>
          </a:p>
        </p:txBody>
      </p:sp>
      <p:sp>
        <p:nvSpPr>
          <p:cNvPr id="54" name="Rectangle 53"/>
          <p:cNvSpPr/>
          <p:nvPr/>
        </p:nvSpPr>
        <p:spPr>
          <a:xfrm>
            <a:off x="3550889" y="5061095"/>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413729" y="4942985"/>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6" name="Oval 55"/>
          <p:cNvSpPr/>
          <p:nvPr/>
        </p:nvSpPr>
        <p:spPr>
          <a:xfrm>
            <a:off x="8808506" y="4942985"/>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7" name="Oval 56"/>
          <p:cNvSpPr/>
          <p:nvPr/>
        </p:nvSpPr>
        <p:spPr>
          <a:xfrm>
            <a:off x="10606765" y="4942985"/>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8" name="Oval 57"/>
          <p:cNvSpPr/>
          <p:nvPr/>
        </p:nvSpPr>
        <p:spPr>
          <a:xfrm>
            <a:off x="548640" y="5431536"/>
            <a:ext cx="237744" cy="237744"/>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59" name="TextBox 58"/>
          <p:cNvSpPr txBox="1"/>
          <p:nvPr/>
        </p:nvSpPr>
        <p:spPr>
          <a:xfrm>
            <a:off x="822960" y="5404104"/>
            <a:ext cx="2011680" cy="292608"/>
          </a:xfrm>
          <a:prstGeom prst="rect">
            <a:avLst/>
          </a:prstGeom>
          <a:noFill/>
        </p:spPr>
        <p:txBody>
          <a:bodyPr wrap="square" anchor="t" lIns="45720" rIns="45720">
            <a:spAutoFit/>
          </a:bodyPr>
          <a:lstStyle/>
          <a:p>
            <a:r>
              <a:rPr sz="1200" b="0" i="0">
                <a:solidFill>
                  <a:srgbClr val="4B4B4B"/>
                </a:solidFill>
                <a:latin typeface="Arial"/>
              </a:rPr>
              <a:t>Today</a:t>
            </a:r>
          </a:p>
        </p:txBody>
      </p:sp>
      <p:sp>
        <p:nvSpPr>
          <p:cNvPr id="60" name="Oval 59"/>
          <p:cNvSpPr/>
          <p:nvPr/>
        </p:nvSpPr>
        <p:spPr>
          <a:xfrm>
            <a:off x="2651760" y="5431536"/>
            <a:ext cx="237744" cy="237744"/>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1" name="TextBox 60"/>
          <p:cNvSpPr txBox="1"/>
          <p:nvPr/>
        </p:nvSpPr>
        <p:spPr>
          <a:xfrm>
            <a:off x="2926080" y="5404104"/>
            <a:ext cx="2011680" cy="292608"/>
          </a:xfrm>
          <a:prstGeom prst="rect">
            <a:avLst/>
          </a:prstGeom>
          <a:noFill/>
        </p:spPr>
        <p:txBody>
          <a:bodyPr wrap="square" anchor="t" lIns="45720" rIns="45720">
            <a:spAutoFit/>
          </a:bodyPr>
          <a:lstStyle/>
          <a:p>
            <a:r>
              <a:rPr sz="1200" b="0" i="0">
                <a:solidFill>
                  <a:srgbClr val="4B4B4B"/>
                </a:solidFill>
                <a:latin typeface="Arial"/>
              </a:rPr>
              <a:t>To-Be in the BRDs</a:t>
            </a:r>
          </a:p>
        </p:txBody>
      </p:sp>
      <p:sp>
        <p:nvSpPr>
          <p:cNvPr id="62" name="Oval 61"/>
          <p:cNvSpPr/>
          <p:nvPr/>
        </p:nvSpPr>
        <p:spPr>
          <a:xfrm>
            <a:off x="4754880" y="5431536"/>
            <a:ext cx="237744" cy="23774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3" name="TextBox 62"/>
          <p:cNvSpPr txBox="1"/>
          <p:nvPr/>
        </p:nvSpPr>
        <p:spPr>
          <a:xfrm>
            <a:off x="5029200" y="5404104"/>
            <a:ext cx="2011680" cy="292608"/>
          </a:xfrm>
          <a:prstGeom prst="rect">
            <a:avLst/>
          </a:prstGeom>
          <a:noFill/>
        </p:spPr>
        <p:txBody>
          <a:bodyPr wrap="square" anchor="t" lIns="45720" rIns="45720">
            <a:spAutoFit/>
          </a:bodyPr>
          <a:lstStyle/>
          <a:p>
            <a:r>
              <a:rPr sz="1200" b="0" i="0">
                <a:solidFill>
                  <a:srgbClr val="4B4B4B"/>
                </a:solidFill>
                <a:latin typeface="Arial"/>
              </a:rPr>
              <a:t>Best practice</a:t>
            </a:r>
          </a:p>
        </p:txBody>
      </p:sp>
      <p:sp>
        <p:nvSpPr>
          <p:cNvPr id="64" name="TextBox 63"/>
          <p:cNvSpPr txBox="1"/>
          <p:nvPr/>
        </p:nvSpPr>
        <p:spPr>
          <a:xfrm>
            <a:off x="6949440" y="5385816"/>
            <a:ext cx="4693615" cy="457200"/>
          </a:xfrm>
          <a:prstGeom prst="rect">
            <a:avLst/>
          </a:prstGeom>
          <a:noFill/>
        </p:spPr>
        <p:txBody>
          <a:bodyPr wrap="square" anchor="t" lIns="45720" rIns="45720" tIns="18288" bIns="18288">
            <a:spAutoFit/>
          </a:bodyPr>
          <a:lstStyle/>
          <a:p>
            <a:pPr>
              <a:spcAft>
                <a:spcPts val="400"/>
              </a:spcAft>
            </a:pPr>
            <a:r>
              <a:rPr sz="1100" b="0">
                <a:solidFill>
                  <a:srgbClr val="656565"/>
                </a:solidFill>
                <a:latin typeface="Arial"/>
              </a:rPr>
              <a:t>Scale: project team assessment from the floor walk, the process flows and the BRDs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What the BRDs miss: the top items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graphicFrame>
        <p:nvGraphicFramePr>
          <p:cNvPr id="9" name="Table 8"/>
          <p:cNvGraphicFramePr>
            <a:graphicFrameLocks noGrp="1"/>
          </p:cNvGraphicFramePr>
          <p:nvPr/>
        </p:nvGraphicFramePr>
        <p:xfrm>
          <a:off x="548640" y="1280160"/>
          <a:ext cx="11094413" cy="4919470"/>
        </p:xfrm>
        <a:graphic>
          <a:graphicData uri="http://schemas.openxmlformats.org/drawingml/2006/table">
            <a:tbl>
              <a:tblPr firstRow="1" bandRow="1">
                <a:tableStyleId>{5C22544A-7EE6-4342-B048-85BDC9FD1C3A}</a:tableStyleId>
              </a:tblPr>
              <a:tblGrid>
                <a:gridCol w="805239"/>
                <a:gridCol w="2236777"/>
                <a:gridCol w="1431537"/>
                <a:gridCol w="3399901"/>
                <a:gridCol w="3220959"/>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Areas</a:t>
                      </a:r>
                    </a:p>
                  </a:txBody>
                  <a:tcPr marL="64008" marR="64008" marT="27432" marB="27432" anchor="ctr">
                    <a:solidFill>
                      <a:srgbClr val="004EA8"/>
                    </a:solidFill>
                  </a:tcPr>
                </a:tc>
                <a:tc>
                  <a:txBody>
                    <a:bodyPr wrap="square"/>
                    <a:lstStyle/>
                    <a:p>
                      <a:r>
                        <a:rPr sz="1100" b="1">
                          <a:solidFill>
                            <a:srgbClr val="FFFFFF"/>
                          </a:solidFill>
                          <a:latin typeface="Arial"/>
                        </a:rPr>
                        <a:t>Why it matters</a:t>
                      </a:r>
                    </a:p>
                  </a:txBody>
                  <a:tcPr marL="64008" marR="64008" marT="27432" marB="27432" anchor="ctr">
                    <a:solidFill>
                      <a:srgbClr val="004EA8"/>
                    </a:solidFill>
                  </a:tcPr>
                </a:tc>
                <a:tc>
                  <a:txBody>
                    <a:bodyPr wrap="square"/>
                    <a:lstStyle/>
                    <a:p>
                      <a:r>
                        <a:rPr sz="1100" b="1">
                          <a:solidFill>
                            <a:srgbClr val="FFFFFF"/>
                          </a:solidFill>
                          <a:latin typeface="Arial"/>
                        </a:rPr>
                        <a:t>Recommendation</a:t>
                      </a:r>
                    </a:p>
                  </a:txBody>
                  <a:tcPr marL="64008" marR="64008" marT="27432" marB="27432" anchor="ctr">
                    <a:solidFill>
                      <a:srgbClr val="004EA8"/>
                    </a:solidFill>
                  </a:tcPr>
                </a:tc>
              </a:tr>
              <a:tr h="65053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Payment on a direct-pay invoice</a:t>
                      </a:r>
                    </a:p>
                  </a:txBody>
                  <a:tcPr marL="64008" marR="64008" marT="27432" marB="27432" anchor="ctr">
                    <a:solidFill>
                      <a:srgbClr val="FFFFFF"/>
                    </a:solidFill>
                  </a:tcPr>
                </a:tc>
                <a:tc>
                  <a:txBody>
                    <a:bodyPr wrap="square"/>
                    <a:lstStyle/>
                    <a:p>
                      <a:r>
                        <a:rPr sz="1100" b="0">
                          <a:solidFill>
                            <a:srgbClr val="4B4B4B"/>
                          </a:solidFill>
                          <a:latin typeface="Arial"/>
                        </a:rPr>
                        <a:t>Operations</a:t>
                      </a:r>
                    </a:p>
                  </a:txBody>
                  <a:tcPr marL="64008" marR="64008" marT="27432" marB="27432" anchor="ctr">
                    <a:solidFill>
                      <a:srgbClr val="FFFFFF"/>
                    </a:solidFill>
                  </a:tcPr>
                </a:tc>
                <a:tc>
                  <a:txBody>
                    <a:bodyPr wrap="square"/>
                    <a:lstStyle/>
                    <a:p>
                      <a:r>
                        <a:rPr sz="1100" b="0">
                          <a:solidFill>
                            <a:srgbClr val="4B4B4B"/>
                          </a:solidFill>
                          <a:latin typeface="Arial"/>
                        </a:rPr>
                        <a:t>Money received without an accounting entry (CA-03)</a:t>
                      </a:r>
                    </a:p>
                  </a:txBody>
                  <a:tcPr marL="64008" marR="64008" marT="27432" marB="27432" anchor="ctr">
                    <a:solidFill>
                      <a:srgbClr val="FFFFFF"/>
                    </a:solidFill>
                  </a:tcPr>
                </a:tc>
                <a:tc>
                  <a:txBody>
                    <a:bodyPr wrap="square"/>
                    <a:lstStyle/>
                    <a:p>
                      <a:r>
                        <a:rPr sz="1100" b="0">
                          <a:solidFill>
                            <a:srgbClr val="4B4B4B"/>
                          </a:solidFill>
                          <a:latin typeface="Arial"/>
                        </a:rPr>
                        <a:t>Rule at acceptance and entries; new DCR</a:t>
                      </a:r>
                    </a:p>
                  </a:txBody>
                  <a:tcPr marL="64008" marR="64008" marT="27432" marB="27432" anchor="ctr">
                    <a:solidFill>
                      <a:srgbClr val="FFFFFF"/>
                    </a:solidFill>
                  </a:tcPr>
                </a:tc>
              </a:tr>
              <a:tr h="65053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Credit policy</a:t>
                      </a:r>
                    </a:p>
                  </a:txBody>
                  <a:tcPr marL="64008" marR="64008" marT="27432" marB="27432" anchor="ctr">
                    <a:solidFill>
                      <a:srgbClr val="E5F5FF"/>
                    </a:solidFill>
                  </a:tcPr>
                </a:tc>
                <a:tc>
                  <a:txBody>
                    <a:bodyPr wrap="square"/>
                    <a:lstStyle/>
                    <a:p>
                      <a:r>
                        <a:rPr sz="1100" b="0">
                          <a:solidFill>
                            <a:srgbClr val="4B4B4B"/>
                          </a:solidFill>
                          <a:latin typeface="Arial"/>
                        </a:rPr>
                        <a:t>Collections, Operations</a:t>
                      </a:r>
                    </a:p>
                  </a:txBody>
                  <a:tcPr marL="64008" marR="64008" marT="27432" marB="27432" anchor="ctr">
                    <a:solidFill>
                      <a:srgbClr val="E5F5FF"/>
                    </a:solidFill>
                  </a:tcPr>
                </a:tc>
                <a:tc>
                  <a:txBody>
                    <a:bodyPr wrap="square"/>
                    <a:lstStyle/>
                    <a:p>
                      <a:r>
                        <a:rPr sz="1100" b="0">
                          <a:solidFill>
                            <a:srgbClr val="4B4B4B"/>
                          </a:solidFill>
                          <a:latin typeface="Arial"/>
                        </a:rPr>
                        <a:t>Drives follow-up, CTE and cancellation; Insurance Code s.77</a:t>
                      </a:r>
                    </a:p>
                  </a:txBody>
                  <a:tcPr marL="64008" marR="64008" marT="27432" marB="27432" anchor="ctr">
                    <a:solidFill>
                      <a:srgbClr val="E5F5FF"/>
                    </a:solidFill>
                  </a:tcPr>
                </a:tc>
                <a:tc>
                  <a:txBody>
                    <a:bodyPr wrap="square"/>
                    <a:lstStyle/>
                    <a:p>
                      <a:r>
                        <a:rPr sz="1100" b="0">
                          <a:solidFill>
                            <a:srgbClr val="4B4B4B"/>
                          </a:solidFill>
                          <a:latin typeface="Arial"/>
                        </a:rPr>
                        <a:t>Write and configure the policy (CO-03)</a:t>
                      </a:r>
                    </a:p>
                  </a:txBody>
                  <a:tcPr marL="64008" marR="64008" marT="27432" marB="27432" anchor="ctr">
                    <a:solidFill>
                      <a:srgbClr val="E5F5FF"/>
                    </a:solidFill>
                  </a:tcPr>
                </a:tc>
              </a:tr>
              <a:tr h="65053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Case management</a:t>
                      </a:r>
                    </a:p>
                  </a:txBody>
                  <a:tcPr marL="64008" marR="64008" marT="27432" marB="27432" anchor="ctr">
                    <a:solidFill>
                      <a:srgbClr val="FFFFFF"/>
                    </a:solidFill>
                  </a:tcPr>
                </a:tc>
                <a:tc>
                  <a:txBody>
                    <a:bodyPr wrap="square"/>
                    <a:lstStyle/>
                    <a:p>
                      <a:r>
                        <a:rPr sz="1100" b="0">
                          <a:solidFill>
                            <a:srgbClr val="4B4B4B"/>
                          </a:solidFill>
                          <a:latin typeface="Arial"/>
                        </a:rPr>
                        <a:t>Contact centre</a:t>
                      </a:r>
                    </a:p>
                  </a:txBody>
                  <a:tcPr marL="64008" marR="64008" marT="27432" marB="27432" anchor="ctr">
                    <a:solidFill>
                      <a:srgbClr val="FFFFFF"/>
                    </a:solidFill>
                  </a:tcPr>
                </a:tc>
                <a:tc>
                  <a:txBody>
                    <a:bodyPr wrap="square"/>
                    <a:lstStyle/>
                    <a:p>
                      <a:r>
                        <a:rPr sz="1100" b="0">
                          <a:solidFill>
                            <a:srgbClr val="4B4B4B"/>
                          </a:solidFill>
                          <a:latin typeface="Arial"/>
                        </a:rPr>
                        <a:t>Every contact logged by hand; BDOI already has a To-Be</a:t>
                      </a:r>
                    </a:p>
                  </a:txBody>
                  <a:tcPr marL="64008" marR="64008" marT="27432" marB="27432" anchor="ctr">
                    <a:solidFill>
                      <a:srgbClr val="FFFFFF"/>
                    </a:solidFill>
                  </a:tcPr>
                </a:tc>
                <a:tc>
                  <a:txBody>
                    <a:bodyPr wrap="square"/>
                    <a:lstStyle/>
                    <a:p>
                      <a:r>
                        <a:rPr sz="1100" b="0">
                          <a:solidFill>
                            <a:srgbClr val="4B4B4B"/>
                          </a:solidFill>
                          <a:latin typeface="Arial"/>
                        </a:rPr>
                        <a:t>Take the 15-Jul To-Be in as a change request</a:t>
                      </a:r>
                    </a:p>
                  </a:txBody>
                  <a:tcPr marL="64008" marR="64008" marT="27432" marB="27432" anchor="ctr">
                    <a:solidFill>
                      <a:srgbClr val="FFFFFF"/>
                    </a:solidFill>
                  </a:tcPr>
                </a:tc>
              </a:tr>
              <a:tr h="65053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Government remittances</a:t>
                      </a:r>
                    </a:p>
                  </a:txBody>
                  <a:tcPr marL="64008" marR="64008" marT="27432" marB="27432" anchor="ctr">
                    <a:solidFill>
                      <a:srgbClr val="E5F5FF"/>
                    </a:solidFill>
                  </a:tcPr>
                </a:tc>
                <a:tc>
                  <a:txBody>
                    <a:bodyPr wrap="square"/>
                    <a:lstStyle/>
                    <a:p>
                      <a:r>
                        <a:rPr sz="1100" b="0">
                          <a:solidFill>
                            <a:srgbClr val="4B4B4B"/>
                          </a:solidFill>
                          <a:latin typeface="Arial"/>
                        </a:rPr>
                        <a:t>Comptrollership</a:t>
                      </a:r>
                    </a:p>
                  </a:txBody>
                  <a:tcPr marL="64008" marR="64008" marT="27432" marB="27432" anchor="ctr">
                    <a:solidFill>
                      <a:srgbClr val="E5F5FF"/>
                    </a:solidFill>
                  </a:tcPr>
                </a:tc>
                <a:tc>
                  <a:txBody>
                    <a:bodyPr wrap="square"/>
                    <a:lstStyle/>
                    <a:p>
                      <a:r>
                        <a:rPr sz="1100" b="0">
                          <a:solidFill>
                            <a:srgbClr val="4B4B4B"/>
                          </a:solidFill>
                          <a:latin typeface="Arial"/>
                        </a:rPr>
                        <a:t>EFPS and BancNet by hand; penalty risk</a:t>
                      </a:r>
                    </a:p>
                  </a:txBody>
                  <a:tcPr marL="64008" marR="64008" marT="27432" marB="27432" anchor="ctr">
                    <a:solidFill>
                      <a:srgbClr val="E5F5FF"/>
                    </a:solidFill>
                  </a:tcPr>
                </a:tc>
                <a:tc>
                  <a:txBody>
                    <a:bodyPr wrap="square"/>
                    <a:lstStyle/>
                    <a:p>
                      <a:r>
                        <a:rPr sz="1100" b="0">
                          <a:solidFill>
                            <a:srgbClr val="4B4B4B"/>
                          </a:solidFill>
                          <a:latin typeface="Arial"/>
                        </a:rPr>
                        <a:t>Calendar and confirmation in Disbursement</a:t>
                      </a:r>
                    </a:p>
                  </a:txBody>
                  <a:tcPr marL="64008" marR="64008" marT="27432" marB="27432" anchor="ctr">
                    <a:solidFill>
                      <a:srgbClr val="E5F5FF"/>
                    </a:solidFill>
                  </a:tcPr>
                </a:tc>
              </a:tr>
              <a:tr h="65053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Insurer interface standard</a:t>
                      </a:r>
                    </a:p>
                  </a:txBody>
                  <a:tcPr marL="64008" marR="64008" marT="27432" marB="27432" anchor="ctr">
                    <a:solidFill>
                      <a:srgbClr val="FFFFFF"/>
                    </a:solidFill>
                  </a:tcPr>
                </a:tc>
                <a:tc>
                  <a:txBody>
                    <a:bodyPr wrap="square"/>
                    <a:lstStyle/>
                    <a:p>
                      <a:r>
                        <a:rPr sz="1100" b="0">
                          <a:solidFill>
                            <a:srgbClr val="4B4B4B"/>
                          </a:solidFill>
                          <a:latin typeface="Arial"/>
                        </a:rPr>
                        <a:t>All front and back office</a:t>
                      </a:r>
                    </a:p>
                  </a:txBody>
                  <a:tcPr marL="64008" marR="64008" marT="27432" marB="27432" anchor="ctr">
                    <a:solidFill>
                      <a:srgbClr val="FFFFFF"/>
                    </a:solidFill>
                  </a:tcPr>
                </a:tc>
                <a:tc>
                  <a:txBody>
                    <a:bodyPr wrap="square"/>
                    <a:lstStyle/>
                    <a:p>
                      <a:r>
                        <a:rPr sz="1100" b="0">
                          <a:solidFill>
                            <a:srgbClr val="4B4B4B"/>
                          </a:solidFill>
                          <a:latin typeface="Arial"/>
                        </a:rPr>
                        <a:t>~55 insurers, each handled differently</a:t>
                      </a:r>
                    </a:p>
                  </a:txBody>
                  <a:tcPr marL="64008" marR="64008" marT="27432" marB="27432" anchor="ctr">
                    <a:solidFill>
                      <a:srgbClr val="FFFFFF"/>
                    </a:solidFill>
                  </a:tcPr>
                </a:tc>
                <a:tc>
                  <a:txBody>
                    <a:bodyPr wrap="square"/>
                    <a:lstStyle/>
                    <a:p>
                      <a:r>
                        <a:rPr sz="1100" b="0">
                          <a:solidFill>
                            <a:srgbClr val="4B4B4B"/>
                          </a:solidFill>
                          <a:latin typeface="Arial"/>
                        </a:rPr>
                        <a:t>One layout and channel; on-board in waves</a:t>
                      </a:r>
                    </a:p>
                  </a:txBody>
                  <a:tcPr marL="64008" marR="64008" marT="27432" marB="27432" anchor="ctr">
                    <a:solidFill>
                      <a:srgbClr val="FFFFFF"/>
                    </a:solidFill>
                  </a:tcPr>
                </a:tc>
              </a:tr>
              <a:tr h="65053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Migration objects outside BRD-13</a:t>
                      </a:r>
                    </a:p>
                  </a:txBody>
                  <a:tcPr marL="64008" marR="64008" marT="27432" marB="27432" anchor="ctr">
                    <a:solidFill>
                      <a:srgbClr val="E5F5FF"/>
                    </a:solidFill>
                  </a:tcPr>
                </a:tc>
                <a:tc>
                  <a:txBody>
                    <a:bodyPr wrap="square"/>
                    <a:lstStyle/>
                    <a:p>
                      <a:r>
                        <a:rPr sz="1100" b="0">
                          <a:solidFill>
                            <a:srgbClr val="4B4B4B"/>
                          </a:solidFill>
                          <a:latin typeface="Arial"/>
                        </a:rPr>
                        <a:t>All</a:t>
                      </a:r>
                    </a:p>
                  </a:txBody>
                  <a:tcPr marL="64008" marR="64008" marT="27432" marB="27432" anchor="ctr">
                    <a:solidFill>
                      <a:srgbClr val="E5F5FF"/>
                    </a:solidFill>
                  </a:tcPr>
                </a:tc>
                <a:tc>
                  <a:txBody>
                    <a:bodyPr wrap="square"/>
                    <a:lstStyle/>
                    <a:p>
                      <a:r>
                        <a:rPr sz="1100" b="0">
                          <a:solidFill>
                            <a:srgbClr val="4B4B4B"/>
                          </a:solidFill>
                          <a:latin typeface="Arial"/>
                        </a:rPr>
                        <a:t>Trackers, claims, EB, payees, PDCs not listed</a:t>
                      </a:r>
                    </a:p>
                  </a:txBody>
                  <a:tcPr marL="64008" marR="64008" marT="27432" marB="27432" anchor="ctr">
                    <a:solidFill>
                      <a:srgbClr val="E5F5FF"/>
                    </a:solidFill>
                  </a:tcPr>
                </a:tc>
                <a:tc>
                  <a:txBody>
                    <a:bodyPr wrap="square"/>
                    <a:lstStyle/>
                    <a:p>
                      <a:r>
                        <a:rPr sz="1100" b="0">
                          <a:solidFill>
                            <a:srgbClr val="4B4B4B"/>
                          </a:solidFill>
                          <a:latin typeface="Arial"/>
                        </a:rPr>
                        <a:t>Object register with owners</a:t>
                      </a:r>
                    </a:p>
                  </a:txBody>
                  <a:tcPr marL="64008" marR="64008" marT="27432" marB="27432" anchor="ctr">
                    <a:solidFill>
                      <a:srgbClr val="E5F5FF"/>
                    </a:solidFill>
                  </a:tcPr>
                </a:tc>
              </a:tr>
              <a:tr h="65053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Quote validity; risk survey</a:t>
                      </a:r>
                    </a:p>
                  </a:txBody>
                  <a:tcPr marL="64008" marR="64008" marT="27432" marB="27432" anchor="ctr">
                    <a:solidFill>
                      <a:srgbClr val="FFFFFF"/>
                    </a:solidFill>
                  </a:tcPr>
                </a:tc>
                <a:tc>
                  <a:txBody>
                    <a:bodyPr wrap="square"/>
                    <a:lstStyle/>
                    <a:p>
                      <a:r>
                        <a:rPr sz="1100" b="0">
                          <a:solidFill>
                            <a:srgbClr val="4B4B4B"/>
                          </a:solidFill>
                          <a:latin typeface="Arial"/>
                        </a:rPr>
                        <a:t>New Business</a:t>
                      </a:r>
                    </a:p>
                  </a:txBody>
                  <a:tcPr marL="64008" marR="64008" marT="27432" marB="27432" anchor="ctr">
                    <a:solidFill>
                      <a:srgbClr val="FFFFFF"/>
                    </a:solidFill>
                  </a:tcPr>
                </a:tc>
                <a:tc>
                  <a:txBody>
                    <a:bodyPr wrap="square"/>
                    <a:lstStyle/>
                    <a:p>
                      <a:r>
                        <a:rPr sz="1100" b="0">
                          <a:solidFill>
                            <a:srgbClr val="4B4B4B"/>
                          </a:solidFill>
                          <a:latin typeface="Arial"/>
                        </a:rPr>
                        <a:t>30-day validity and 500M survey not in BRD-1</a:t>
                      </a:r>
                    </a:p>
                  </a:txBody>
                  <a:tcPr marL="64008" marR="64008" marT="27432" marB="27432" anchor="ctr">
                    <a:solidFill>
                      <a:srgbClr val="FFFFFF"/>
                    </a:solidFill>
                  </a:tcPr>
                </a:tc>
                <a:tc>
                  <a:txBody>
                    <a:bodyPr wrap="square"/>
                    <a:lstStyle/>
                    <a:p>
                      <a:r>
                        <a:rPr sz="1100" b="0">
                          <a:solidFill>
                            <a:srgbClr val="4B4B4B"/>
                          </a:solidFill>
                          <a:latin typeface="Arial"/>
                        </a:rPr>
                        <a:t>Parameters and survey step</a:t>
                      </a:r>
                    </a:p>
                  </a:txBody>
                  <a:tcPr marL="64008" marR="64008" marT="27432" marB="27432" anchor="ctr">
                    <a:solidFill>
                      <a:srgbClr val="FFFFFF"/>
                    </a:solidFill>
                  </a:tcPr>
                </a:tc>
              </a:tr>
            </a:tbl>
          </a:graphicData>
        </a:graphic>
      </p:graphicFrame>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What the BRDs miss: the top items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graphicFrame>
        <p:nvGraphicFramePr>
          <p:cNvPr id="9" name="Table 8"/>
          <p:cNvGraphicFramePr>
            <a:graphicFrameLocks noGrp="1"/>
          </p:cNvGraphicFramePr>
          <p:nvPr/>
        </p:nvGraphicFramePr>
        <p:xfrm>
          <a:off x="548640" y="1280160"/>
          <a:ext cx="11094413" cy="4919470"/>
        </p:xfrm>
        <a:graphic>
          <a:graphicData uri="http://schemas.openxmlformats.org/drawingml/2006/table">
            <a:tbl>
              <a:tblPr firstRow="1" bandRow="1">
                <a:tableStyleId>{5C22544A-7EE6-4342-B048-85BDC9FD1C3A}</a:tableStyleId>
              </a:tblPr>
              <a:tblGrid>
                <a:gridCol w="805239"/>
                <a:gridCol w="2236777"/>
                <a:gridCol w="1431537"/>
                <a:gridCol w="3399901"/>
                <a:gridCol w="3220959"/>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Item</a:t>
                      </a:r>
                    </a:p>
                  </a:txBody>
                  <a:tcPr marL="64008" marR="64008" marT="27432" marB="27432" anchor="ctr">
                    <a:solidFill>
                      <a:srgbClr val="004EA8"/>
                    </a:solidFill>
                  </a:tcPr>
                </a:tc>
                <a:tc>
                  <a:txBody>
                    <a:bodyPr wrap="square"/>
                    <a:lstStyle/>
                    <a:p>
                      <a:r>
                        <a:rPr sz="1100" b="1">
                          <a:solidFill>
                            <a:srgbClr val="FFFFFF"/>
                          </a:solidFill>
                          <a:latin typeface="Arial"/>
                        </a:rPr>
                        <a:t>Areas</a:t>
                      </a:r>
                    </a:p>
                  </a:txBody>
                  <a:tcPr marL="64008" marR="64008" marT="27432" marB="27432" anchor="ctr">
                    <a:solidFill>
                      <a:srgbClr val="004EA8"/>
                    </a:solidFill>
                  </a:tcPr>
                </a:tc>
                <a:tc>
                  <a:txBody>
                    <a:bodyPr wrap="square"/>
                    <a:lstStyle/>
                    <a:p>
                      <a:r>
                        <a:rPr sz="1100" b="1">
                          <a:solidFill>
                            <a:srgbClr val="FFFFFF"/>
                          </a:solidFill>
                          <a:latin typeface="Arial"/>
                        </a:rPr>
                        <a:t>Why it matters</a:t>
                      </a:r>
                    </a:p>
                  </a:txBody>
                  <a:tcPr marL="64008" marR="64008" marT="27432" marB="27432" anchor="ctr">
                    <a:solidFill>
                      <a:srgbClr val="004EA8"/>
                    </a:solidFill>
                  </a:tcPr>
                </a:tc>
                <a:tc>
                  <a:txBody>
                    <a:bodyPr wrap="square"/>
                    <a:lstStyle/>
                    <a:p>
                      <a:r>
                        <a:rPr sz="1100" b="1">
                          <a:solidFill>
                            <a:srgbClr val="FFFFFF"/>
                          </a:solidFill>
                          <a:latin typeface="Arial"/>
                        </a:rPr>
                        <a:t>Recommendation</a:t>
                      </a:r>
                    </a:p>
                  </a:txBody>
                  <a:tcPr marL="64008" marR="64008" marT="27432" marB="27432" anchor="ctr">
                    <a:solidFill>
                      <a:srgbClr val="004EA8"/>
                    </a:solidFill>
                  </a:tcPr>
                </a:tc>
              </a:tr>
              <a:tr h="65053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E-policy fall-out queue</a:t>
                      </a:r>
                    </a:p>
                  </a:txBody>
                  <a:tcPr marL="64008" marR="64008" marT="27432" marB="27432" anchor="ctr">
                    <a:solidFill>
                      <a:srgbClr val="FFFFFF"/>
                    </a:solidFill>
                  </a:tcPr>
                </a:tc>
                <a:tc>
                  <a:txBody>
                    <a:bodyPr wrap="square"/>
                    <a:lstStyle/>
                    <a:p>
                      <a:r>
                        <a:rPr sz="1100" b="0">
                          <a:solidFill>
                            <a:srgbClr val="4B4B4B"/>
                          </a:solidFill>
                          <a:latin typeface="Arial"/>
                        </a:rPr>
                        <a:t>New Business, Renewal</a:t>
                      </a:r>
                    </a:p>
                  </a:txBody>
                  <a:tcPr marL="64008" marR="64008" marT="27432" marB="27432" anchor="ctr">
                    <a:solidFill>
                      <a:srgbClr val="FFFFFF"/>
                    </a:solidFill>
                  </a:tcPr>
                </a:tc>
                <a:tc>
                  <a:txBody>
                    <a:bodyPr wrap="square"/>
                    <a:lstStyle/>
                    <a:p>
                      <a:r>
                        <a:rPr sz="1100" b="0">
                          <a:solidFill>
                            <a:srgbClr val="4B4B4B"/>
                          </a:solidFill>
                          <a:latin typeface="Arial"/>
                        </a:rPr>
                        <a:t>Text files and IT reports today</a:t>
                      </a:r>
                    </a:p>
                  </a:txBody>
                  <a:tcPr marL="64008" marR="64008" marT="27432" marB="27432" anchor="ctr">
                    <a:solidFill>
                      <a:srgbClr val="FFFFFF"/>
                    </a:solidFill>
                  </a:tcPr>
                </a:tc>
                <a:tc>
                  <a:txBody>
                    <a:bodyPr wrap="square"/>
                    <a:lstStyle/>
                    <a:p>
                      <a:r>
                        <a:rPr sz="1100" b="0">
                          <a:solidFill>
                            <a:srgbClr val="4B4B4B"/>
                          </a:solidFill>
                          <a:latin typeface="Arial"/>
                        </a:rPr>
                        <a:t>Exception queue; one sender</a:t>
                      </a:r>
                    </a:p>
                  </a:txBody>
                  <a:tcPr marL="64008" marR="64008" marT="27432" marB="27432" anchor="ctr">
                    <a:solidFill>
                      <a:srgbClr val="FFFFFF"/>
                    </a:solidFill>
                  </a:tcPr>
                </a:tc>
              </a:tr>
              <a:tr h="65053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Renewal pro-forma entries</a:t>
                      </a:r>
                    </a:p>
                  </a:txBody>
                  <a:tcPr marL="64008" marR="64008" marT="27432" marB="27432" anchor="ctr">
                    <a:solidFill>
                      <a:srgbClr val="E5F5FF"/>
                    </a:solidFill>
                  </a:tcPr>
                </a:tc>
                <a:tc>
                  <a:txBody>
                    <a:bodyPr wrap="square"/>
                    <a:lstStyle/>
                    <a:p>
                      <a:r>
                        <a:rPr sz="1100" b="0">
                          <a:solidFill>
                            <a:srgbClr val="4B4B4B"/>
                          </a:solidFill>
                          <a:latin typeface="Arial"/>
                        </a:rPr>
                        <a:t>Renewal, Comptrollership</a:t>
                      </a:r>
                    </a:p>
                  </a:txBody>
                  <a:tcPr marL="64008" marR="64008" marT="27432" marB="27432" anchor="ctr">
                    <a:solidFill>
                      <a:srgbClr val="E5F5FF"/>
                    </a:solidFill>
                  </a:tcPr>
                </a:tc>
                <a:tc>
                  <a:txBody>
                    <a:bodyPr wrap="square"/>
                    <a:lstStyle/>
                    <a:p>
                      <a:r>
                        <a:rPr sz="1100" b="0">
                          <a:solidFill>
                            <a:srgbClr val="4B4B4B"/>
                          </a:solidFill>
                          <a:latin typeface="Arial"/>
                        </a:rPr>
                        <a:t>Adjustments after the fact (RN-02)</a:t>
                      </a:r>
                    </a:p>
                  </a:txBody>
                  <a:tcPr marL="64008" marR="64008" marT="27432" marB="27432" anchor="ctr">
                    <a:solidFill>
                      <a:srgbClr val="E5F5FF"/>
                    </a:solidFill>
                  </a:tcPr>
                </a:tc>
                <a:tc>
                  <a:txBody>
                    <a:bodyPr wrap="square"/>
                    <a:lstStyle/>
                    <a:p>
                      <a:r>
                        <a:rPr sz="1100" b="0">
                          <a:solidFill>
                            <a:srgbClr val="4B4B4B"/>
                          </a:solidFill>
                          <a:latin typeface="Arial"/>
                        </a:rPr>
                        <a:t>Pro-forma at acceptance</a:t>
                      </a:r>
                    </a:p>
                  </a:txBody>
                  <a:tcPr marL="64008" marR="64008" marT="27432" marB="27432" anchor="ctr">
                    <a:solidFill>
                      <a:srgbClr val="E5F5FF"/>
                    </a:solidFill>
                  </a:tcPr>
                </a:tc>
              </a:tr>
              <a:tr h="65053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Marine open covers; accumulation</a:t>
                      </a:r>
                    </a:p>
                  </a:txBody>
                  <a:tcPr marL="64008" marR="64008" marT="27432" marB="27432" anchor="ctr">
                    <a:solidFill>
                      <a:srgbClr val="FFFFFF"/>
                    </a:solidFill>
                  </a:tcPr>
                </a:tc>
                <a:tc>
                  <a:txBody>
                    <a:bodyPr wrap="square"/>
                    <a:lstStyle/>
                    <a:p>
                      <a:r>
                        <a:rPr sz="1100" b="0">
                          <a:solidFill>
                            <a:srgbClr val="4B4B4B"/>
                          </a:solidFill>
                          <a:latin typeface="Arial"/>
                        </a:rPr>
                        <a:t>New Business (Trade)</a:t>
                      </a:r>
                    </a:p>
                  </a:txBody>
                  <a:tcPr marL="64008" marR="64008" marT="27432" marB="27432" anchor="ctr">
                    <a:solidFill>
                      <a:srgbClr val="FFFFFF"/>
                    </a:solidFill>
                  </a:tcPr>
                </a:tc>
                <a:tc>
                  <a:txBody>
                    <a:bodyPr wrap="square"/>
                    <a:lstStyle/>
                    <a:p>
                      <a:r>
                        <a:rPr sz="1100" b="0">
                          <a:solidFill>
                            <a:srgbClr val="4B4B4B"/>
                          </a:solidFill>
                          <a:latin typeface="Arial"/>
                        </a:rPr>
                        <a:t>Bank trade business not modelled (TR-01, TR-02)</a:t>
                      </a:r>
                    </a:p>
                  </a:txBody>
                  <a:tcPr marL="64008" marR="64008" marT="27432" marB="27432" anchor="ctr">
                    <a:solidFill>
                      <a:srgbClr val="FFFFFF"/>
                    </a:solidFill>
                  </a:tcPr>
                </a:tc>
                <a:tc>
                  <a:txBody>
                    <a:bodyPr wrap="square"/>
                    <a:lstStyle/>
                    <a:p>
                      <a:r>
                        <a:rPr sz="1100" b="0">
                          <a:solidFill>
                            <a:srgbClr val="4B4B4B"/>
                          </a:solidFill>
                          <a:latin typeface="Arial"/>
                        </a:rPr>
                        <a:t>Open-cover master and accumulation</a:t>
                      </a:r>
                    </a:p>
                  </a:txBody>
                  <a:tcPr marL="64008" marR="64008" marT="27432" marB="27432" anchor="ctr">
                    <a:solidFill>
                      <a:srgbClr val="FFFFFF"/>
                    </a:solidFill>
                  </a:tcPr>
                </a:tc>
              </a:tr>
              <a:tr h="65053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EB claims; ISACOM approval</a:t>
                      </a:r>
                    </a:p>
                  </a:txBody>
                  <a:tcPr marL="64008" marR="64008" marT="27432" marB="27432" anchor="ctr">
                    <a:solidFill>
                      <a:srgbClr val="E5F5FF"/>
                    </a:solidFill>
                  </a:tcPr>
                </a:tc>
                <a:tc>
                  <a:txBody>
                    <a:bodyPr wrap="square"/>
                    <a:lstStyle/>
                    <a:p>
                      <a:r>
                        <a:rPr sz="1100" b="0">
                          <a:solidFill>
                            <a:srgbClr val="4B4B4B"/>
                          </a:solidFill>
                          <a:latin typeface="Arial"/>
                        </a:rPr>
                        <a:t>Employee Benefits</a:t>
                      </a:r>
                    </a:p>
                  </a:txBody>
                  <a:tcPr marL="64008" marR="64008" marT="27432" marB="27432" anchor="ctr">
                    <a:solidFill>
                      <a:srgbClr val="E5F5FF"/>
                    </a:solidFill>
                  </a:tcPr>
                </a:tc>
                <a:tc>
                  <a:txBody>
                    <a:bodyPr wrap="square"/>
                    <a:lstStyle/>
                    <a:p>
                      <a:r>
                        <a:rPr sz="1100" b="0">
                          <a:solidFill>
                            <a:srgbClr val="4B4B4B"/>
                          </a:solidFill>
                          <a:latin typeface="Arial"/>
                        </a:rPr>
                        <a:t>Provider claims and approvals outside</a:t>
                      </a:r>
                    </a:p>
                  </a:txBody>
                  <a:tcPr marL="64008" marR="64008" marT="27432" marB="27432" anchor="ctr">
                    <a:solidFill>
                      <a:srgbClr val="E5F5FF"/>
                    </a:solidFill>
                  </a:tcPr>
                </a:tc>
                <a:tc>
                  <a:txBody>
                    <a:bodyPr wrap="square"/>
                    <a:lstStyle/>
                    <a:p>
                      <a:r>
                        <a:rPr sz="1100" b="0">
                          <a:solidFill>
                            <a:srgbClr val="4B4B4B"/>
                          </a:solidFill>
                          <a:latin typeface="Arial"/>
                        </a:rPr>
                        <a:t>Capture claims; approval step</a:t>
                      </a:r>
                    </a:p>
                  </a:txBody>
                  <a:tcPr marL="64008" marR="64008" marT="27432" marB="27432" anchor="ctr">
                    <a:solidFill>
                      <a:srgbClr val="E5F5FF"/>
                    </a:solidFill>
                  </a:tcPr>
                </a:tc>
              </a:tr>
              <a:tr h="65053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Exclusion and bounced-check lists</a:t>
                      </a:r>
                    </a:p>
                  </a:txBody>
                  <a:tcPr marL="64008" marR="64008" marT="27432" marB="27432" anchor="ctr">
                    <a:solidFill>
                      <a:srgbClr val="FFFFFF"/>
                    </a:solidFill>
                  </a:tcPr>
                </a:tc>
                <a:tc>
                  <a:txBody>
                    <a:bodyPr wrap="square"/>
                    <a:lstStyle/>
                    <a:p>
                      <a:r>
                        <a:rPr sz="1100" b="0">
                          <a:solidFill>
                            <a:srgbClr val="4B4B4B"/>
                          </a:solidFill>
                          <a:latin typeface="Arial"/>
                        </a:rPr>
                        <a:t>Cashiering</a:t>
                      </a:r>
                    </a:p>
                  </a:txBody>
                  <a:tcPr marL="64008" marR="64008" marT="27432" marB="27432" anchor="ctr">
                    <a:solidFill>
                      <a:srgbClr val="FFFFFF"/>
                    </a:solidFill>
                  </a:tcPr>
                </a:tc>
                <a:tc>
                  <a:txBody>
                    <a:bodyPr wrap="square"/>
                    <a:lstStyle/>
                    <a:p>
                      <a:r>
                        <a:rPr sz="1100" b="0">
                          <a:solidFill>
                            <a:srgbClr val="4B4B4B"/>
                          </a:solidFill>
                          <a:latin typeface="Arial"/>
                        </a:rPr>
                        <a:t>Checked by hand at intake</a:t>
                      </a:r>
                    </a:p>
                  </a:txBody>
                  <a:tcPr marL="64008" marR="64008" marT="27432" marB="27432" anchor="ctr">
                    <a:solidFill>
                      <a:srgbClr val="FFFFFF"/>
                    </a:solidFill>
                  </a:tcPr>
                </a:tc>
                <a:tc>
                  <a:txBody>
                    <a:bodyPr wrap="square"/>
                    <a:lstStyle/>
                    <a:p>
                      <a:r>
                        <a:rPr sz="1100" b="0">
                          <a:solidFill>
                            <a:srgbClr val="4B4B4B"/>
                          </a:solidFill>
                          <a:latin typeface="Arial"/>
                        </a:rPr>
                        <a:t>Maintained lists checked at acceptance</a:t>
                      </a:r>
                    </a:p>
                  </a:txBody>
                  <a:tcPr marL="64008" marR="64008" marT="27432" marB="27432" anchor="ctr">
                    <a:solidFill>
                      <a:srgbClr val="FFFFFF"/>
                    </a:solidFill>
                  </a:tcPr>
                </a:tc>
              </a:tr>
              <a:tr h="65053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Snail mail and print channel</a:t>
                      </a:r>
                    </a:p>
                  </a:txBody>
                  <a:tcPr marL="64008" marR="64008" marT="27432" marB="27432" anchor="ctr">
                    <a:solidFill>
                      <a:srgbClr val="E5F5FF"/>
                    </a:solidFill>
                  </a:tcPr>
                </a:tc>
                <a:tc>
                  <a:txBody>
                    <a:bodyPr wrap="square"/>
                    <a:lstStyle/>
                    <a:p>
                      <a:r>
                        <a:rPr sz="1100" b="0">
                          <a:solidFill>
                            <a:srgbClr val="4B4B4B"/>
                          </a:solidFill>
                          <a:latin typeface="Arial"/>
                        </a:rPr>
                        <a:t>Renewal, Submitted Policies</a:t>
                      </a:r>
                    </a:p>
                  </a:txBody>
                  <a:tcPr marL="64008" marR="64008" marT="27432" marB="27432" anchor="ctr">
                    <a:solidFill>
                      <a:srgbClr val="E5F5FF"/>
                    </a:solidFill>
                  </a:tcPr>
                </a:tc>
                <a:tc>
                  <a:txBody>
                    <a:bodyPr wrap="square"/>
                    <a:lstStyle/>
                    <a:p>
                      <a:r>
                        <a:rPr sz="1100" b="0">
                          <a:solidFill>
                            <a:srgbClr val="4B4B4B"/>
                          </a:solidFill>
                          <a:latin typeface="Arial"/>
                        </a:rPr>
                        <a:t>CBG letters printed and mailed</a:t>
                      </a:r>
                    </a:p>
                  </a:txBody>
                  <a:tcPr marL="64008" marR="64008" marT="27432" marB="27432" anchor="ctr">
                    <a:solidFill>
                      <a:srgbClr val="E5F5FF"/>
                    </a:solidFill>
                  </a:tcPr>
                </a:tc>
                <a:tc>
                  <a:txBody>
                    <a:bodyPr wrap="square"/>
                    <a:lstStyle/>
                    <a:p>
                      <a:r>
                        <a:rPr sz="1100" b="0">
                          <a:solidFill>
                            <a:srgbClr val="4B4B4B"/>
                          </a:solidFill>
                          <a:latin typeface="Arial"/>
                        </a:rPr>
                        <a:t>Print batch with tracking</a:t>
                      </a:r>
                    </a:p>
                  </a:txBody>
                  <a:tcPr marL="64008" marR="64008" marT="27432" marB="27432" anchor="ctr">
                    <a:solidFill>
                      <a:srgbClr val="E5F5FF"/>
                    </a:solidFill>
                  </a:tcPr>
                </a:tc>
              </a:tr>
              <a:tr h="65053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Reinsurance referral in phase 1</a:t>
                      </a:r>
                    </a:p>
                  </a:txBody>
                  <a:tcPr marL="64008" marR="64008" marT="27432" marB="27432" anchor="ctr">
                    <a:solidFill>
                      <a:srgbClr val="FFFFFF"/>
                    </a:solidFill>
                  </a:tcPr>
                </a:tc>
                <a:tc>
                  <a:txBody>
                    <a:bodyPr wrap="square"/>
                    <a:lstStyle/>
                    <a:p>
                      <a:r>
                        <a:rPr sz="1100" b="0">
                          <a:solidFill>
                            <a:srgbClr val="4B4B4B"/>
                          </a:solidFill>
                          <a:latin typeface="Arial"/>
                        </a:rPr>
                        <a:t>TSU, Reinsurance</a:t>
                      </a:r>
                    </a:p>
                  </a:txBody>
                  <a:tcPr marL="64008" marR="64008" marT="27432" marB="27432" anchor="ctr">
                    <a:solidFill>
                      <a:srgbClr val="FFFFFF"/>
                    </a:solidFill>
                  </a:tcPr>
                </a:tc>
                <a:tc>
                  <a:txBody>
                    <a:bodyPr wrap="square"/>
                    <a:lstStyle/>
                    <a:p>
                      <a:r>
                        <a:rPr sz="1100" b="0">
                          <a:solidFill>
                            <a:srgbClr val="4B4B4B"/>
                          </a:solidFill>
                          <a:latin typeface="Arial"/>
                        </a:rPr>
                        <a:t>Large risks referred by e-mail</a:t>
                      </a:r>
                    </a:p>
                  </a:txBody>
                  <a:tcPr marL="64008" marR="64008" marT="27432" marB="27432" anchor="ctr">
                    <a:solidFill>
                      <a:srgbClr val="FFFFFF"/>
                    </a:solidFill>
                  </a:tcPr>
                </a:tc>
                <a:tc>
                  <a:txBody>
                    <a:bodyPr wrap="square"/>
                    <a:lstStyle/>
                    <a:p>
                      <a:r>
                        <a:rPr sz="1100" b="0">
                          <a:solidFill>
                            <a:srgbClr val="4B4B4B"/>
                          </a:solidFill>
                          <a:latin typeface="Arial"/>
                        </a:rPr>
                        <a:t>Referral status on the TSU request</a:t>
                      </a:r>
                    </a:p>
                  </a:txBody>
                  <a:tcPr marL="64008" marR="64008" marT="27432" marB="27432" anchor="ctr">
                    <a:solidFill>
                      <a:srgbClr val="FFFFFF"/>
                    </a:solidFill>
                  </a:tcPr>
                </a:tc>
              </a:tr>
            </a:tbl>
          </a:graphicData>
        </a:graphic>
      </p:graphicFrame>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Open items per area (discrepancy register)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graphicFrame>
        <p:nvGraphicFramePr>
          <p:cNvPr id="9" name="Table 8"/>
          <p:cNvGraphicFramePr>
            <a:graphicFrameLocks noGrp="1"/>
          </p:cNvGraphicFramePr>
          <p:nvPr/>
        </p:nvGraphicFramePr>
        <p:xfrm>
          <a:off x="548640" y="1280160"/>
          <a:ext cx="7498076" cy="4315968"/>
        </p:xfrm>
        <a:graphic>
          <a:graphicData uri="http://schemas.openxmlformats.org/drawingml/2006/table">
            <a:tbl>
              <a:tblPr firstRow="1" bandRow="1">
                <a:tableStyleId>{5C22544A-7EE6-4342-B048-85BDC9FD1C3A}</a:tableStyleId>
              </a:tblPr>
              <a:tblGrid>
                <a:gridCol w="2741233"/>
                <a:gridCol w="967494"/>
                <a:gridCol w="725620"/>
                <a:gridCol w="725620"/>
                <a:gridCol w="725620"/>
                <a:gridCol w="725620"/>
                <a:gridCol w="886869"/>
              </a:tblGrid>
              <a:tr h="365760">
                <a:tc>
                  <a:txBody>
                    <a:bodyPr wrap="square"/>
                    <a:lstStyle/>
                    <a:p>
                      <a:r>
                        <a:rPr sz="1200" b="1">
                          <a:solidFill>
                            <a:srgbClr val="FFFFFF"/>
                          </a:solidFill>
                          <a:latin typeface="Arial"/>
                        </a:rPr>
                        <a:t>Area</a:t>
                      </a:r>
                    </a:p>
                  </a:txBody>
                  <a:tcPr marL="64008" marR="64008" marT="27432" marB="27432" anchor="ctr">
                    <a:solidFill>
                      <a:srgbClr val="004EA8"/>
                    </a:solidFill>
                  </a:tcPr>
                </a:tc>
                <a:tc>
                  <a:txBody>
                    <a:bodyPr wrap="square"/>
                    <a:lstStyle/>
                    <a:p>
                      <a:r>
                        <a:rPr sz="1200" b="1">
                          <a:solidFill>
                            <a:srgbClr val="FFFFFF"/>
                          </a:solidFill>
                          <a:latin typeface="Arial"/>
                        </a:rPr>
                        <a:t>BRD</a:t>
                      </a:r>
                    </a:p>
                  </a:txBody>
                  <a:tcPr marL="64008" marR="64008" marT="27432" marB="27432" anchor="ctr">
                    <a:solidFill>
                      <a:srgbClr val="004EA8"/>
                    </a:solidFill>
                  </a:tcPr>
                </a:tc>
                <a:tc>
                  <a:txBody>
                    <a:bodyPr wrap="square"/>
                    <a:lstStyle/>
                    <a:p>
                      <a:r>
                        <a:rPr sz="1200" b="1">
                          <a:solidFill>
                            <a:srgbClr val="FFFFFF"/>
                          </a:solidFill>
                          <a:latin typeface="Arial"/>
                        </a:rPr>
                        <a:t>High</a:t>
                      </a:r>
                    </a:p>
                  </a:txBody>
                  <a:tcPr marL="64008" marR="64008" marT="27432" marB="27432" anchor="ctr">
                    <a:solidFill>
                      <a:srgbClr val="004EA8"/>
                    </a:solidFill>
                  </a:tcPr>
                </a:tc>
                <a:tc>
                  <a:txBody>
                    <a:bodyPr wrap="square"/>
                    <a:lstStyle/>
                    <a:p>
                      <a:r>
                        <a:rPr sz="1200" b="1">
                          <a:solidFill>
                            <a:srgbClr val="FFFFFF"/>
                          </a:solidFill>
                          <a:latin typeface="Arial"/>
                        </a:rPr>
                        <a:t>Medium</a:t>
                      </a:r>
                    </a:p>
                  </a:txBody>
                  <a:tcPr marL="64008" marR="64008" marT="27432" marB="27432" anchor="ctr">
                    <a:solidFill>
                      <a:srgbClr val="004EA8"/>
                    </a:solidFill>
                  </a:tcPr>
                </a:tc>
                <a:tc>
                  <a:txBody>
                    <a:bodyPr wrap="square"/>
                    <a:lstStyle/>
                    <a:p>
                      <a:r>
                        <a:rPr sz="1200" b="1">
                          <a:solidFill>
                            <a:srgbClr val="FFFFFF"/>
                          </a:solidFill>
                          <a:latin typeface="Arial"/>
                        </a:rPr>
                        <a:t>Low</a:t>
                      </a:r>
                    </a:p>
                  </a:txBody>
                  <a:tcPr marL="64008" marR="64008" marT="27432" marB="27432" anchor="ctr">
                    <a:solidFill>
                      <a:srgbClr val="004EA8"/>
                    </a:solidFill>
                  </a:tcPr>
                </a:tc>
                <a:tc>
                  <a:txBody>
                    <a:bodyPr wrap="square"/>
                    <a:lstStyle/>
                    <a:p>
                      <a:r>
                        <a:rPr sz="1200" b="1">
                          <a:solidFill>
                            <a:srgbClr val="FFFFFF"/>
                          </a:solidFill>
                          <a:latin typeface="Arial"/>
                        </a:rPr>
                        <a:t>Open</a:t>
                      </a:r>
                    </a:p>
                  </a:txBody>
                  <a:tcPr marL="64008" marR="64008" marT="27432" marB="27432" anchor="ctr">
                    <a:solidFill>
                      <a:srgbClr val="004EA8"/>
                    </a:solidFill>
                  </a:tcPr>
                </a:tc>
                <a:tc>
                  <a:txBody>
                    <a:bodyPr wrap="square"/>
                    <a:lstStyle/>
                    <a:p>
                      <a:r>
                        <a:rPr sz="1200" b="1">
                          <a:solidFill>
                            <a:srgbClr val="FFFFFF"/>
                          </a:solidFill>
                          <a:latin typeface="Arial"/>
                        </a:rPr>
                        <a:t>Answered</a:t>
                      </a:r>
                    </a:p>
                  </a:txBody>
                  <a:tcPr marL="64008" marR="64008" marT="27432" marB="27432" anchor="ctr">
                    <a:solidFill>
                      <a:srgbClr val="004EA8"/>
                    </a:solidFill>
                  </a:tcPr>
                </a:tc>
              </a:tr>
              <a:tr h="329184">
                <a:tc>
                  <a:txBody>
                    <a:bodyPr wrap="square"/>
                    <a:lstStyle/>
                    <a:p>
                      <a:r>
                        <a:rPr sz="1200" b="0">
                          <a:solidFill>
                            <a:srgbClr val="4B4B4B"/>
                          </a:solidFill>
                          <a:latin typeface="Arial"/>
                        </a:rPr>
                        <a:t>New Business</a:t>
                      </a:r>
                    </a:p>
                  </a:txBody>
                  <a:tcPr marL="64008" marR="64008" marT="27432" marB="27432" anchor="ctr">
                    <a:solidFill>
                      <a:srgbClr val="FFFFFF"/>
                    </a:solidFill>
                  </a:tcPr>
                </a:tc>
                <a:tc>
                  <a:txBody>
                    <a:bodyPr wrap="square"/>
                    <a:lstStyle/>
                    <a:p>
                      <a:r>
                        <a:rPr sz="1200" b="0">
                          <a:solidFill>
                            <a:srgbClr val="4B4B4B"/>
                          </a:solidFill>
                          <a:latin typeface="Arial"/>
                        </a:rPr>
                        <a:t>BRD-1</a:t>
                      </a:r>
                    </a:p>
                  </a:txBody>
                  <a:tcPr marL="64008" marR="64008" marT="27432" marB="27432" anchor="ctr">
                    <a:solidFill>
                      <a:srgbClr val="FFFFFF"/>
                    </a:solidFill>
                  </a:tcPr>
                </a:tc>
                <a:tc>
                  <a:txBody>
                    <a:bodyPr wrap="square"/>
                    <a:lstStyle/>
                    <a:p>
                      <a:pPr algn="ctr"/>
                      <a:r>
                        <a:rPr sz="1200" b="1">
                          <a:solidFill>
                            <a:srgbClr val="C62828"/>
                          </a:solidFill>
                          <a:latin typeface="Arial"/>
                        </a:rPr>
                        <a:t>11</a:t>
                      </a:r>
                    </a:p>
                  </a:txBody>
                  <a:tcPr marL="64008" marR="64008" marT="27432" marB="27432" anchor="ctr">
                    <a:solidFill>
                      <a:srgbClr val="FDECEA"/>
                    </a:solidFill>
                  </a:tcPr>
                </a:tc>
                <a:tc>
                  <a:txBody>
                    <a:bodyPr wrap="square"/>
                    <a:lstStyle/>
                    <a:p>
                      <a:pPr algn="ctr"/>
                      <a:r>
                        <a:rPr sz="1200" b="1">
                          <a:solidFill>
                            <a:srgbClr val="8A5A00"/>
                          </a:solidFill>
                          <a:latin typeface="Arial"/>
                        </a:rPr>
                        <a:t>17</a:t>
                      </a:r>
                    </a:p>
                  </a:txBody>
                  <a:tcPr marL="64008" marR="64008" marT="27432" marB="27432" anchor="ctr">
                    <a:solidFill>
                      <a:srgbClr val="FFF4D6"/>
                    </a:solidFill>
                  </a:tcPr>
                </a:tc>
                <a:tc>
                  <a:txBody>
                    <a:bodyPr wrap="square"/>
                    <a:lstStyle/>
                    <a:p>
                      <a:pPr algn="ctr"/>
                      <a:r>
                        <a:rPr sz="1200" b="1">
                          <a:solidFill>
                            <a:srgbClr val="656565"/>
                          </a:solidFill>
                          <a:latin typeface="Arial"/>
                        </a:rPr>
                        <a:t>7</a:t>
                      </a:r>
                    </a:p>
                  </a:txBody>
                  <a:tcPr marL="64008" marR="64008" marT="27432" marB="27432" anchor="ctr">
                    <a:solidFill>
                      <a:srgbClr val="F6F6F6"/>
                    </a:solidFill>
                  </a:tcPr>
                </a:tc>
                <a:tc>
                  <a:txBody>
                    <a:bodyPr wrap="square"/>
                    <a:lstStyle/>
                    <a:p>
                      <a:r>
                        <a:rPr sz="1200" b="0">
                          <a:solidFill>
                            <a:srgbClr val="4B4B4B"/>
                          </a:solidFill>
                          <a:latin typeface="Arial"/>
                        </a:rPr>
                        <a:t>33</a:t>
                      </a:r>
                    </a:p>
                  </a:txBody>
                  <a:tcPr marL="64008" marR="64008" marT="27432" marB="27432" anchor="ctr">
                    <a:solidFill>
                      <a:srgbClr val="FFFFFF"/>
                    </a:solidFill>
                  </a:tcPr>
                </a:tc>
                <a:tc>
                  <a:txBody>
                    <a:bodyPr wrap="square"/>
                    <a:lstStyle/>
                    <a:p>
                      <a:r>
                        <a:rPr sz="1200" b="0">
                          <a:solidFill>
                            <a:srgbClr val="4B4B4B"/>
                          </a:solidFill>
                          <a:latin typeface="Arial"/>
                        </a:rPr>
                        <a:t>2</a:t>
                      </a:r>
                    </a:p>
                  </a:txBody>
                  <a:tcPr marL="64008" marR="64008" marT="27432" marB="27432" anchor="ctr">
                    <a:solidFill>
                      <a:srgbClr val="FFFFFF"/>
                    </a:solidFill>
                  </a:tcPr>
                </a:tc>
              </a:tr>
              <a:tr h="329184">
                <a:tc>
                  <a:txBody>
                    <a:bodyPr wrap="square"/>
                    <a:lstStyle/>
                    <a:p>
                      <a:r>
                        <a:rPr sz="1200" b="0">
                          <a:solidFill>
                            <a:srgbClr val="4B4B4B"/>
                          </a:solidFill>
                          <a:latin typeface="Arial"/>
                        </a:rPr>
                        <a:t>Renewal</a:t>
                      </a:r>
                    </a:p>
                  </a:txBody>
                  <a:tcPr marL="64008" marR="64008" marT="27432" marB="27432" anchor="ctr">
                    <a:solidFill>
                      <a:srgbClr val="E5F5FF"/>
                    </a:solidFill>
                  </a:tcPr>
                </a:tc>
                <a:tc>
                  <a:txBody>
                    <a:bodyPr wrap="square"/>
                    <a:lstStyle/>
                    <a:p>
                      <a:r>
                        <a:rPr sz="1200" b="0">
                          <a:solidFill>
                            <a:srgbClr val="4B4B4B"/>
                          </a:solidFill>
                          <a:latin typeface="Arial"/>
                        </a:rPr>
                        <a:t>BRD-6</a:t>
                      </a:r>
                    </a:p>
                  </a:txBody>
                  <a:tcPr marL="64008" marR="64008" marT="27432" marB="27432" anchor="ctr">
                    <a:solidFill>
                      <a:srgbClr val="E5F5FF"/>
                    </a:solidFill>
                  </a:tcPr>
                </a:tc>
                <a:tc>
                  <a:txBody>
                    <a:bodyPr wrap="square"/>
                    <a:lstStyle/>
                    <a:p>
                      <a:pPr algn="ctr"/>
                      <a:r>
                        <a:rPr sz="1200" b="1">
                          <a:solidFill>
                            <a:srgbClr val="FFFFFF"/>
                          </a:solidFill>
                          <a:latin typeface="Arial"/>
                        </a:rPr>
                        <a:t>15</a:t>
                      </a:r>
                    </a:p>
                  </a:txBody>
                  <a:tcPr marL="64008" marR="64008" marT="27432" marB="27432" anchor="ctr">
                    <a:solidFill>
                      <a:srgbClr val="C62828"/>
                    </a:solidFill>
                  </a:tcPr>
                </a:tc>
                <a:tc>
                  <a:txBody>
                    <a:bodyPr wrap="square"/>
                    <a:lstStyle/>
                    <a:p>
                      <a:pPr algn="ctr"/>
                      <a:r>
                        <a:rPr sz="1200" b="1">
                          <a:solidFill>
                            <a:srgbClr val="8A5A00"/>
                          </a:solidFill>
                          <a:latin typeface="Arial"/>
                        </a:rPr>
                        <a:t>23</a:t>
                      </a:r>
                    </a:p>
                  </a:txBody>
                  <a:tcPr marL="64008" marR="64008" marT="27432" marB="27432" anchor="ctr">
                    <a:solidFill>
                      <a:srgbClr val="FFF4D6"/>
                    </a:solidFill>
                  </a:tcPr>
                </a:tc>
                <a:tc>
                  <a:txBody>
                    <a:bodyPr wrap="square"/>
                    <a:lstStyle/>
                    <a:p>
                      <a:pPr algn="ctr"/>
                      <a:r>
                        <a:rPr sz="1200" b="1">
                          <a:solidFill>
                            <a:srgbClr val="656565"/>
                          </a:solidFill>
                          <a:latin typeface="Arial"/>
                        </a:rPr>
                        <a:t>10</a:t>
                      </a:r>
                    </a:p>
                  </a:txBody>
                  <a:tcPr marL="64008" marR="64008" marT="27432" marB="27432" anchor="ctr">
                    <a:solidFill>
                      <a:srgbClr val="F6F6F6"/>
                    </a:solidFill>
                  </a:tcPr>
                </a:tc>
                <a:tc>
                  <a:txBody>
                    <a:bodyPr wrap="square"/>
                    <a:lstStyle/>
                    <a:p>
                      <a:r>
                        <a:rPr sz="1200" b="0">
                          <a:solidFill>
                            <a:srgbClr val="4B4B4B"/>
                          </a:solidFill>
                          <a:latin typeface="Arial"/>
                        </a:rPr>
                        <a:t>41</a:t>
                      </a:r>
                    </a:p>
                  </a:txBody>
                  <a:tcPr marL="64008" marR="64008" marT="27432" marB="27432" anchor="ctr">
                    <a:solidFill>
                      <a:srgbClr val="E5F5FF"/>
                    </a:solidFill>
                  </a:tcPr>
                </a:tc>
                <a:tc>
                  <a:txBody>
                    <a:bodyPr wrap="square"/>
                    <a:lstStyle/>
                    <a:p>
                      <a:r>
                        <a:rPr sz="1200" b="0">
                          <a:solidFill>
                            <a:srgbClr val="4B4B4B"/>
                          </a:solidFill>
                          <a:latin typeface="Arial"/>
                        </a:rPr>
                        <a:t>7</a:t>
                      </a:r>
                    </a:p>
                  </a:txBody>
                  <a:tcPr marL="64008" marR="64008" marT="27432" marB="27432" anchor="ctr">
                    <a:solidFill>
                      <a:srgbClr val="E5F5FF"/>
                    </a:solidFill>
                  </a:tcPr>
                </a:tc>
              </a:tr>
              <a:tr h="329184">
                <a:tc>
                  <a:txBody>
                    <a:bodyPr wrap="square"/>
                    <a:lstStyle/>
                    <a:p>
                      <a:r>
                        <a:rPr sz="1200" b="0">
                          <a:solidFill>
                            <a:srgbClr val="4B4B4B"/>
                          </a:solidFill>
                          <a:latin typeface="Arial"/>
                        </a:rPr>
                        <a:t>Submitted Policies</a:t>
                      </a:r>
                    </a:p>
                  </a:txBody>
                  <a:tcPr marL="64008" marR="64008" marT="27432" marB="27432" anchor="ctr">
                    <a:solidFill>
                      <a:srgbClr val="FFFFFF"/>
                    </a:solidFill>
                  </a:tcPr>
                </a:tc>
                <a:tc>
                  <a:txBody>
                    <a:bodyPr wrap="square"/>
                    <a:lstStyle/>
                    <a:p>
                      <a:r>
                        <a:rPr sz="1200" b="0">
                          <a:solidFill>
                            <a:srgbClr val="4B4B4B"/>
                          </a:solidFill>
                          <a:latin typeface="Arial"/>
                        </a:rPr>
                        <a:t>BRD-12</a:t>
                      </a:r>
                    </a:p>
                  </a:txBody>
                  <a:tcPr marL="64008" marR="64008" marT="27432" marB="27432" anchor="ctr">
                    <a:solidFill>
                      <a:srgbClr val="FFFFFF"/>
                    </a:solidFill>
                  </a:tcPr>
                </a:tc>
                <a:tc>
                  <a:txBody>
                    <a:bodyPr wrap="square"/>
                    <a:lstStyle/>
                    <a:p>
                      <a:pPr algn="ctr"/>
                      <a:r>
                        <a:rPr sz="1200" b="1">
                          <a:solidFill>
                            <a:srgbClr val="C62828"/>
                          </a:solidFill>
                          <a:latin typeface="Arial"/>
                        </a:rPr>
                        <a:t>10</a:t>
                      </a:r>
                    </a:p>
                  </a:txBody>
                  <a:tcPr marL="64008" marR="64008" marT="27432" marB="27432" anchor="ctr">
                    <a:solidFill>
                      <a:srgbClr val="FDECEA"/>
                    </a:solidFill>
                  </a:tcPr>
                </a:tc>
                <a:tc>
                  <a:txBody>
                    <a:bodyPr wrap="square"/>
                    <a:lstStyle/>
                    <a:p>
                      <a:pPr algn="ctr"/>
                      <a:r>
                        <a:rPr sz="1200" b="1">
                          <a:solidFill>
                            <a:srgbClr val="8A5A00"/>
                          </a:solidFill>
                          <a:latin typeface="Arial"/>
                        </a:rPr>
                        <a:t>14</a:t>
                      </a:r>
                    </a:p>
                  </a:txBody>
                  <a:tcPr marL="64008" marR="64008" marT="27432" marB="27432" anchor="ctr">
                    <a:solidFill>
                      <a:srgbClr val="FFF4D6"/>
                    </a:solidFill>
                  </a:tcPr>
                </a:tc>
                <a:tc>
                  <a:txBody>
                    <a:bodyPr wrap="square"/>
                    <a:lstStyle/>
                    <a:p>
                      <a:pPr algn="ctr"/>
                      <a:r>
                        <a:rPr sz="1200" b="1">
                          <a:solidFill>
                            <a:srgbClr val="656565"/>
                          </a:solidFill>
                          <a:latin typeface="Arial"/>
                        </a:rPr>
                        <a:t>5</a:t>
                      </a:r>
                    </a:p>
                  </a:txBody>
                  <a:tcPr marL="64008" marR="64008" marT="27432" marB="27432" anchor="ctr">
                    <a:solidFill>
                      <a:srgbClr val="F6F6F6"/>
                    </a:solidFill>
                  </a:tcPr>
                </a:tc>
                <a:tc>
                  <a:txBody>
                    <a:bodyPr wrap="square"/>
                    <a:lstStyle/>
                    <a:p>
                      <a:r>
                        <a:rPr sz="1200" b="0">
                          <a:solidFill>
                            <a:srgbClr val="4B4B4B"/>
                          </a:solidFill>
                          <a:latin typeface="Arial"/>
                        </a:rPr>
                        <a:t>27</a:t>
                      </a:r>
                    </a:p>
                  </a:txBody>
                  <a:tcPr marL="64008" marR="64008" marT="27432" marB="27432" anchor="ctr">
                    <a:solidFill>
                      <a:srgbClr val="FFFFFF"/>
                    </a:solidFill>
                  </a:tcPr>
                </a:tc>
                <a:tc>
                  <a:txBody>
                    <a:bodyPr wrap="square"/>
                    <a:lstStyle/>
                    <a:p>
                      <a:r>
                        <a:rPr sz="1200" b="0">
                          <a:solidFill>
                            <a:srgbClr val="4B4B4B"/>
                          </a:solidFill>
                          <a:latin typeface="Arial"/>
                        </a:rPr>
                        <a:t>2</a:t>
                      </a:r>
                    </a:p>
                  </a:txBody>
                  <a:tcPr marL="64008" marR="64008" marT="27432" marB="27432" anchor="ctr">
                    <a:solidFill>
                      <a:srgbClr val="FFFFFF"/>
                    </a:solidFill>
                  </a:tcPr>
                </a:tc>
              </a:tr>
              <a:tr h="329184">
                <a:tc>
                  <a:txBody>
                    <a:bodyPr wrap="square"/>
                    <a:lstStyle/>
                    <a:p>
                      <a:r>
                        <a:rPr sz="1200" b="0">
                          <a:solidFill>
                            <a:srgbClr val="4B4B4B"/>
                          </a:solidFill>
                          <a:latin typeface="Arial"/>
                        </a:rPr>
                        <a:t>Employee Benefits</a:t>
                      </a:r>
                    </a:p>
                  </a:txBody>
                  <a:tcPr marL="64008" marR="64008" marT="27432" marB="27432" anchor="ctr">
                    <a:solidFill>
                      <a:srgbClr val="E5F5FF"/>
                    </a:solidFill>
                  </a:tcPr>
                </a:tc>
                <a:tc>
                  <a:txBody>
                    <a:bodyPr wrap="square"/>
                    <a:lstStyle/>
                    <a:p>
                      <a:r>
                        <a:rPr sz="1200" b="0">
                          <a:solidFill>
                            <a:srgbClr val="4B4B4B"/>
                          </a:solidFill>
                          <a:latin typeface="Arial"/>
                        </a:rPr>
                        <a:t>BRD-8</a:t>
                      </a:r>
                    </a:p>
                  </a:txBody>
                  <a:tcPr marL="64008" marR="64008" marT="27432" marB="27432" anchor="ctr">
                    <a:solidFill>
                      <a:srgbClr val="E5F5FF"/>
                    </a:solidFill>
                  </a:tcPr>
                </a:tc>
                <a:tc>
                  <a:txBody>
                    <a:bodyPr wrap="square"/>
                    <a:lstStyle/>
                    <a:p>
                      <a:pPr algn="ctr"/>
                      <a:r>
                        <a:rPr sz="1200" b="1">
                          <a:solidFill>
                            <a:srgbClr val="C62828"/>
                          </a:solidFill>
                          <a:latin typeface="Arial"/>
                        </a:rPr>
                        <a:t>8</a:t>
                      </a:r>
                    </a:p>
                  </a:txBody>
                  <a:tcPr marL="64008" marR="64008" marT="27432" marB="27432" anchor="ctr">
                    <a:solidFill>
                      <a:srgbClr val="FDECEA"/>
                    </a:solidFill>
                  </a:tcPr>
                </a:tc>
                <a:tc>
                  <a:txBody>
                    <a:bodyPr wrap="square"/>
                    <a:lstStyle/>
                    <a:p>
                      <a:pPr algn="ctr"/>
                      <a:r>
                        <a:rPr sz="1200" b="1">
                          <a:solidFill>
                            <a:srgbClr val="8A5A00"/>
                          </a:solidFill>
                          <a:latin typeface="Arial"/>
                        </a:rPr>
                        <a:t>13</a:t>
                      </a:r>
                    </a:p>
                  </a:txBody>
                  <a:tcPr marL="64008" marR="64008" marT="27432" marB="27432" anchor="ctr">
                    <a:solidFill>
                      <a:srgbClr val="FFF4D6"/>
                    </a:solidFill>
                  </a:tcPr>
                </a:tc>
                <a:tc>
                  <a:txBody>
                    <a:bodyPr wrap="square"/>
                    <a:lstStyle/>
                    <a:p>
                      <a:pPr algn="ctr"/>
                      <a:r>
                        <a:rPr sz="1200" b="1">
                          <a:solidFill>
                            <a:srgbClr val="656565"/>
                          </a:solidFill>
                          <a:latin typeface="Arial"/>
                        </a:rPr>
                        <a:t>5</a:t>
                      </a:r>
                    </a:p>
                  </a:txBody>
                  <a:tcPr marL="64008" marR="64008" marT="27432" marB="27432" anchor="ctr">
                    <a:solidFill>
                      <a:srgbClr val="F6F6F6"/>
                    </a:solidFill>
                  </a:tcPr>
                </a:tc>
                <a:tc>
                  <a:txBody>
                    <a:bodyPr wrap="square"/>
                    <a:lstStyle/>
                    <a:p>
                      <a:r>
                        <a:rPr sz="1200" b="0">
                          <a:solidFill>
                            <a:srgbClr val="4B4B4B"/>
                          </a:solidFill>
                          <a:latin typeface="Arial"/>
                        </a:rPr>
                        <a:t>23</a:t>
                      </a:r>
                    </a:p>
                  </a:txBody>
                  <a:tcPr marL="64008" marR="64008" marT="27432" marB="27432" anchor="ctr">
                    <a:solidFill>
                      <a:srgbClr val="E5F5FF"/>
                    </a:solidFill>
                  </a:tcPr>
                </a:tc>
                <a:tc>
                  <a:txBody>
                    <a:bodyPr wrap="square"/>
                    <a:lstStyle/>
                    <a:p>
                      <a:r>
                        <a:rPr sz="1200" b="0">
                          <a:solidFill>
                            <a:srgbClr val="4B4B4B"/>
                          </a:solidFill>
                          <a:latin typeface="Arial"/>
                        </a:rPr>
                        <a:t>3</a:t>
                      </a:r>
                    </a:p>
                  </a:txBody>
                  <a:tcPr marL="64008" marR="64008" marT="27432" marB="27432" anchor="ctr">
                    <a:solidFill>
                      <a:srgbClr val="E5F5FF"/>
                    </a:solidFill>
                  </a:tcPr>
                </a:tc>
              </a:tr>
              <a:tr h="329184">
                <a:tc>
                  <a:txBody>
                    <a:bodyPr wrap="square"/>
                    <a:lstStyle/>
                    <a:p>
                      <a:r>
                        <a:rPr sz="1200" b="0">
                          <a:solidFill>
                            <a:srgbClr val="4B4B4B"/>
                          </a:solidFill>
                          <a:latin typeface="Arial"/>
                        </a:rPr>
                        <a:t>Product and TSU</a:t>
                      </a:r>
                    </a:p>
                  </a:txBody>
                  <a:tcPr marL="64008" marR="64008" marT="27432" marB="27432" anchor="ctr">
                    <a:solidFill>
                      <a:srgbClr val="FFFFFF"/>
                    </a:solidFill>
                  </a:tcPr>
                </a:tc>
                <a:tc>
                  <a:txBody>
                    <a:bodyPr wrap="square"/>
                    <a:lstStyle/>
                    <a:p>
                      <a:r>
                        <a:rPr sz="1200" b="0">
                          <a:solidFill>
                            <a:srgbClr val="4B4B4B"/>
                          </a:solidFill>
                          <a:latin typeface="Arial"/>
                        </a:rPr>
                        <a:t>BRD-3</a:t>
                      </a:r>
                    </a:p>
                  </a:txBody>
                  <a:tcPr marL="64008" marR="64008" marT="27432" marB="27432" anchor="ctr">
                    <a:solidFill>
                      <a:srgbClr val="FFFFFF"/>
                    </a:solidFill>
                  </a:tcPr>
                </a:tc>
                <a:tc>
                  <a:txBody>
                    <a:bodyPr wrap="square"/>
                    <a:lstStyle/>
                    <a:p>
                      <a:pPr algn="ctr"/>
                      <a:r>
                        <a:rPr sz="1200" b="1">
                          <a:solidFill>
                            <a:srgbClr val="C62828"/>
                          </a:solidFill>
                          <a:latin typeface="Arial"/>
                        </a:rPr>
                        <a:t>7</a:t>
                      </a:r>
                    </a:p>
                  </a:txBody>
                  <a:tcPr marL="64008" marR="64008" marT="27432" marB="27432" anchor="ctr">
                    <a:solidFill>
                      <a:srgbClr val="FDECEA"/>
                    </a:solidFill>
                  </a:tcPr>
                </a:tc>
                <a:tc>
                  <a:txBody>
                    <a:bodyPr wrap="square"/>
                    <a:lstStyle/>
                    <a:p>
                      <a:pPr algn="ctr"/>
                      <a:r>
                        <a:rPr sz="1200" b="1">
                          <a:solidFill>
                            <a:srgbClr val="8A5A00"/>
                          </a:solidFill>
                          <a:latin typeface="Arial"/>
                        </a:rPr>
                        <a:t>9</a:t>
                      </a:r>
                    </a:p>
                  </a:txBody>
                  <a:tcPr marL="64008" marR="64008" marT="27432" marB="27432" anchor="ctr">
                    <a:solidFill>
                      <a:srgbClr val="FFF4D6"/>
                    </a:solidFill>
                  </a:tcPr>
                </a:tc>
                <a:tc>
                  <a:txBody>
                    <a:bodyPr wrap="square"/>
                    <a:lstStyle/>
                    <a:p>
                      <a:pPr algn="ctr"/>
                      <a:r>
                        <a:rPr sz="1200" b="1">
                          <a:solidFill>
                            <a:srgbClr val="656565"/>
                          </a:solidFill>
                          <a:latin typeface="Arial"/>
                        </a:rPr>
                        <a:t>6</a:t>
                      </a:r>
                    </a:p>
                  </a:txBody>
                  <a:tcPr marL="64008" marR="64008" marT="27432" marB="27432" anchor="ctr">
                    <a:solidFill>
                      <a:srgbClr val="F6F6F6"/>
                    </a:solidFill>
                  </a:tcPr>
                </a:tc>
                <a:tc>
                  <a:txBody>
                    <a:bodyPr wrap="square"/>
                    <a:lstStyle/>
                    <a:p>
                      <a:r>
                        <a:rPr sz="1200" b="0">
                          <a:solidFill>
                            <a:srgbClr val="4B4B4B"/>
                          </a:solidFill>
                          <a:latin typeface="Arial"/>
                        </a:rPr>
                        <a:t>19</a:t>
                      </a:r>
                    </a:p>
                  </a:txBody>
                  <a:tcPr marL="64008" marR="64008" marT="27432" marB="27432" anchor="ctr">
                    <a:solidFill>
                      <a:srgbClr val="FFFFFF"/>
                    </a:solidFill>
                  </a:tcPr>
                </a:tc>
                <a:tc>
                  <a:txBody>
                    <a:bodyPr wrap="square"/>
                    <a:lstStyle/>
                    <a:p>
                      <a:r>
                        <a:rPr sz="1200" b="0">
                          <a:solidFill>
                            <a:srgbClr val="4B4B4B"/>
                          </a:solidFill>
                          <a:latin typeface="Arial"/>
                        </a:rPr>
                        <a:t>3</a:t>
                      </a:r>
                    </a:p>
                  </a:txBody>
                  <a:tcPr marL="64008" marR="64008" marT="27432" marB="27432" anchor="ctr">
                    <a:solidFill>
                      <a:srgbClr val="FFFFFF"/>
                    </a:solidFill>
                  </a:tcPr>
                </a:tc>
              </a:tr>
              <a:tr h="329184">
                <a:tc>
                  <a:txBody>
                    <a:bodyPr wrap="square"/>
                    <a:lstStyle/>
                    <a:p>
                      <a:r>
                        <a:rPr sz="1200" b="0">
                          <a:solidFill>
                            <a:srgbClr val="4B4B4B"/>
                          </a:solidFill>
                          <a:latin typeface="Arial"/>
                        </a:rPr>
                        <a:t>Operations</a:t>
                      </a:r>
                    </a:p>
                  </a:txBody>
                  <a:tcPr marL="64008" marR="64008" marT="27432" marB="27432" anchor="ctr">
                    <a:solidFill>
                      <a:srgbClr val="E5F5FF"/>
                    </a:solidFill>
                  </a:tcPr>
                </a:tc>
                <a:tc>
                  <a:txBody>
                    <a:bodyPr wrap="square"/>
                    <a:lstStyle/>
                    <a:p>
                      <a:r>
                        <a:rPr sz="1200" b="0">
                          <a:solidFill>
                            <a:srgbClr val="4B4B4B"/>
                          </a:solidFill>
                          <a:latin typeface="Arial"/>
                        </a:rPr>
                        <a:t>BRD-2</a:t>
                      </a:r>
                    </a:p>
                  </a:txBody>
                  <a:tcPr marL="64008" marR="64008" marT="27432" marB="27432" anchor="ctr">
                    <a:solidFill>
                      <a:srgbClr val="E5F5FF"/>
                    </a:solidFill>
                  </a:tcPr>
                </a:tc>
                <a:tc>
                  <a:txBody>
                    <a:bodyPr wrap="square"/>
                    <a:lstStyle/>
                    <a:p>
                      <a:pPr algn="ctr"/>
                      <a:r>
                        <a:rPr sz="1200" b="1">
                          <a:solidFill>
                            <a:srgbClr val="FFFFFF"/>
                          </a:solidFill>
                          <a:latin typeface="Arial"/>
                        </a:rPr>
                        <a:t>12</a:t>
                      </a:r>
                    </a:p>
                  </a:txBody>
                  <a:tcPr marL="64008" marR="64008" marT="27432" marB="27432" anchor="ctr">
                    <a:solidFill>
                      <a:srgbClr val="C62828"/>
                    </a:solidFill>
                  </a:tcPr>
                </a:tc>
                <a:tc>
                  <a:txBody>
                    <a:bodyPr wrap="square"/>
                    <a:lstStyle/>
                    <a:p>
                      <a:pPr algn="ctr"/>
                      <a:r>
                        <a:rPr sz="1200" b="1">
                          <a:solidFill>
                            <a:srgbClr val="8A5A00"/>
                          </a:solidFill>
                          <a:latin typeface="Arial"/>
                        </a:rPr>
                        <a:t>20</a:t>
                      </a:r>
                    </a:p>
                  </a:txBody>
                  <a:tcPr marL="64008" marR="64008" marT="27432" marB="27432" anchor="ctr">
                    <a:solidFill>
                      <a:srgbClr val="FFF4D6"/>
                    </a:solidFill>
                  </a:tcPr>
                </a:tc>
                <a:tc>
                  <a:txBody>
                    <a:bodyPr wrap="square"/>
                    <a:lstStyle/>
                    <a:p>
                      <a:pPr algn="ctr"/>
                      <a:r>
                        <a:rPr sz="1200" b="1">
                          <a:solidFill>
                            <a:srgbClr val="656565"/>
                          </a:solidFill>
                          <a:latin typeface="Arial"/>
                        </a:rPr>
                        <a:t>5</a:t>
                      </a:r>
                    </a:p>
                  </a:txBody>
                  <a:tcPr marL="64008" marR="64008" marT="27432" marB="27432" anchor="ctr">
                    <a:solidFill>
                      <a:srgbClr val="F6F6F6"/>
                    </a:solidFill>
                  </a:tcPr>
                </a:tc>
                <a:tc>
                  <a:txBody>
                    <a:bodyPr wrap="square"/>
                    <a:lstStyle/>
                    <a:p>
                      <a:r>
                        <a:rPr sz="1200" b="0">
                          <a:solidFill>
                            <a:srgbClr val="4B4B4B"/>
                          </a:solidFill>
                          <a:latin typeface="Arial"/>
                        </a:rPr>
                        <a:t>34</a:t>
                      </a:r>
                    </a:p>
                  </a:txBody>
                  <a:tcPr marL="64008" marR="64008" marT="27432" marB="27432" anchor="ctr">
                    <a:solidFill>
                      <a:srgbClr val="E5F5FF"/>
                    </a:solidFill>
                  </a:tcPr>
                </a:tc>
                <a:tc>
                  <a:txBody>
                    <a:bodyPr wrap="square"/>
                    <a:lstStyle/>
                    <a:p>
                      <a:r>
                        <a:rPr sz="1200" b="0">
                          <a:solidFill>
                            <a:srgbClr val="4B4B4B"/>
                          </a:solidFill>
                          <a:latin typeface="Arial"/>
                        </a:rPr>
                        <a:t>3</a:t>
                      </a:r>
                    </a:p>
                  </a:txBody>
                  <a:tcPr marL="64008" marR="64008" marT="27432" marB="27432" anchor="ctr">
                    <a:solidFill>
                      <a:srgbClr val="E5F5FF"/>
                    </a:solidFill>
                  </a:tcPr>
                </a:tc>
              </a:tr>
              <a:tr h="329184">
                <a:tc>
                  <a:txBody>
                    <a:bodyPr wrap="square"/>
                    <a:lstStyle/>
                    <a:p>
                      <a:r>
                        <a:rPr sz="1200" b="0">
                          <a:solidFill>
                            <a:srgbClr val="4B4B4B"/>
                          </a:solidFill>
                          <a:latin typeface="Arial"/>
                        </a:rPr>
                        <a:t>Collections</a:t>
                      </a:r>
                    </a:p>
                  </a:txBody>
                  <a:tcPr marL="64008" marR="64008" marT="27432" marB="27432" anchor="ctr">
                    <a:solidFill>
                      <a:srgbClr val="FFFFFF"/>
                    </a:solidFill>
                  </a:tcPr>
                </a:tc>
                <a:tc>
                  <a:txBody>
                    <a:bodyPr wrap="square"/>
                    <a:lstStyle/>
                    <a:p>
                      <a:r>
                        <a:rPr sz="1200" b="0">
                          <a:solidFill>
                            <a:srgbClr val="4B4B4B"/>
                          </a:solidFill>
                          <a:latin typeface="Arial"/>
                        </a:rPr>
                        <a:t>BRD-4</a:t>
                      </a:r>
                    </a:p>
                  </a:txBody>
                  <a:tcPr marL="64008" marR="64008" marT="27432" marB="27432" anchor="ctr">
                    <a:solidFill>
                      <a:srgbClr val="FFFFFF"/>
                    </a:solidFill>
                  </a:tcPr>
                </a:tc>
                <a:tc>
                  <a:txBody>
                    <a:bodyPr wrap="square"/>
                    <a:lstStyle/>
                    <a:p>
                      <a:pPr algn="ctr"/>
                      <a:r>
                        <a:rPr sz="1200" b="1">
                          <a:solidFill>
                            <a:srgbClr val="FFFFFF"/>
                          </a:solidFill>
                          <a:latin typeface="Arial"/>
                        </a:rPr>
                        <a:t>12</a:t>
                      </a:r>
                    </a:p>
                  </a:txBody>
                  <a:tcPr marL="64008" marR="64008" marT="27432" marB="27432" anchor="ctr">
                    <a:solidFill>
                      <a:srgbClr val="C62828"/>
                    </a:solidFill>
                  </a:tcPr>
                </a:tc>
                <a:tc>
                  <a:txBody>
                    <a:bodyPr wrap="square"/>
                    <a:lstStyle/>
                    <a:p>
                      <a:pPr algn="ctr"/>
                      <a:r>
                        <a:rPr sz="1200" b="1">
                          <a:solidFill>
                            <a:srgbClr val="8A5A00"/>
                          </a:solidFill>
                          <a:latin typeface="Arial"/>
                        </a:rPr>
                        <a:t>20</a:t>
                      </a:r>
                    </a:p>
                  </a:txBody>
                  <a:tcPr marL="64008" marR="64008" marT="27432" marB="27432" anchor="ctr">
                    <a:solidFill>
                      <a:srgbClr val="FFF4D6"/>
                    </a:solidFill>
                  </a:tcPr>
                </a:tc>
                <a:tc>
                  <a:txBody>
                    <a:bodyPr wrap="square"/>
                    <a:lstStyle/>
                    <a:p>
                      <a:pPr algn="ctr"/>
                      <a:r>
                        <a:rPr sz="1200" b="1">
                          <a:solidFill>
                            <a:srgbClr val="656565"/>
                          </a:solidFill>
                          <a:latin typeface="Arial"/>
                        </a:rPr>
                        <a:t>4</a:t>
                      </a:r>
                    </a:p>
                  </a:txBody>
                  <a:tcPr marL="64008" marR="64008" marT="27432" marB="27432" anchor="ctr">
                    <a:solidFill>
                      <a:srgbClr val="F6F6F6"/>
                    </a:solidFill>
                  </a:tcPr>
                </a:tc>
                <a:tc>
                  <a:txBody>
                    <a:bodyPr wrap="square"/>
                    <a:lstStyle/>
                    <a:p>
                      <a:r>
                        <a:rPr sz="1200" b="0">
                          <a:solidFill>
                            <a:srgbClr val="4B4B4B"/>
                          </a:solidFill>
                          <a:latin typeface="Arial"/>
                        </a:rPr>
                        <a:t>32</a:t>
                      </a:r>
                    </a:p>
                  </a:txBody>
                  <a:tcPr marL="64008" marR="64008" marT="27432" marB="27432" anchor="ctr">
                    <a:solidFill>
                      <a:srgbClr val="FFFFFF"/>
                    </a:solidFill>
                  </a:tcPr>
                </a:tc>
                <a:tc>
                  <a:txBody>
                    <a:bodyPr wrap="square"/>
                    <a:lstStyle/>
                    <a:p>
                      <a:r>
                        <a:rPr sz="1200" b="0">
                          <a:solidFill>
                            <a:srgbClr val="4B4B4B"/>
                          </a:solidFill>
                          <a:latin typeface="Arial"/>
                        </a:rPr>
                        <a:t>4</a:t>
                      </a:r>
                    </a:p>
                  </a:txBody>
                  <a:tcPr marL="64008" marR="64008" marT="27432" marB="27432" anchor="ctr">
                    <a:solidFill>
                      <a:srgbClr val="FFFFFF"/>
                    </a:solidFill>
                  </a:tcPr>
                </a:tc>
              </a:tr>
              <a:tr h="329184">
                <a:tc>
                  <a:txBody>
                    <a:bodyPr wrap="square"/>
                    <a:lstStyle/>
                    <a:p>
                      <a:r>
                        <a:rPr sz="1200" b="0">
                          <a:solidFill>
                            <a:srgbClr val="4B4B4B"/>
                          </a:solidFill>
                          <a:latin typeface="Arial"/>
                        </a:rPr>
                        <a:t>Accounting</a:t>
                      </a:r>
                    </a:p>
                  </a:txBody>
                  <a:tcPr marL="64008" marR="64008" marT="27432" marB="27432" anchor="ctr">
                    <a:solidFill>
                      <a:srgbClr val="E5F5FF"/>
                    </a:solidFill>
                  </a:tcPr>
                </a:tc>
                <a:tc>
                  <a:txBody>
                    <a:bodyPr wrap="square"/>
                    <a:lstStyle/>
                    <a:p>
                      <a:r>
                        <a:rPr sz="1200" b="0">
                          <a:solidFill>
                            <a:srgbClr val="4B4B4B"/>
                          </a:solidFill>
                          <a:latin typeface="Arial"/>
                        </a:rPr>
                        <a:t>BRD-5</a:t>
                      </a:r>
                    </a:p>
                  </a:txBody>
                  <a:tcPr marL="64008" marR="64008" marT="27432" marB="27432" anchor="ctr">
                    <a:solidFill>
                      <a:srgbClr val="E5F5FF"/>
                    </a:solidFill>
                  </a:tcPr>
                </a:tc>
                <a:tc>
                  <a:txBody>
                    <a:bodyPr wrap="square"/>
                    <a:lstStyle/>
                    <a:p>
                      <a:pPr algn="ctr"/>
                      <a:r>
                        <a:rPr sz="1200" b="1">
                          <a:solidFill>
                            <a:srgbClr val="C62828"/>
                          </a:solidFill>
                          <a:latin typeface="Arial"/>
                        </a:rPr>
                        <a:t>10</a:t>
                      </a:r>
                    </a:p>
                  </a:txBody>
                  <a:tcPr marL="64008" marR="64008" marT="27432" marB="27432" anchor="ctr">
                    <a:solidFill>
                      <a:srgbClr val="FDECEA"/>
                    </a:solidFill>
                  </a:tcPr>
                </a:tc>
                <a:tc>
                  <a:txBody>
                    <a:bodyPr wrap="square"/>
                    <a:lstStyle/>
                    <a:p>
                      <a:pPr algn="ctr"/>
                      <a:r>
                        <a:rPr sz="1200" b="1">
                          <a:solidFill>
                            <a:srgbClr val="8A5A00"/>
                          </a:solidFill>
                          <a:latin typeface="Arial"/>
                        </a:rPr>
                        <a:t>18</a:t>
                      </a:r>
                    </a:p>
                  </a:txBody>
                  <a:tcPr marL="64008" marR="64008" marT="27432" marB="27432" anchor="ctr">
                    <a:solidFill>
                      <a:srgbClr val="FFF4D6"/>
                    </a:solidFill>
                  </a:tcPr>
                </a:tc>
                <a:tc>
                  <a:txBody>
                    <a:bodyPr wrap="square"/>
                    <a:lstStyle/>
                    <a:p>
                      <a:pPr algn="ctr"/>
                      <a:r>
                        <a:rPr sz="1200" b="1">
                          <a:solidFill>
                            <a:srgbClr val="656565"/>
                          </a:solidFill>
                          <a:latin typeface="Arial"/>
                        </a:rPr>
                        <a:t>4</a:t>
                      </a:r>
                    </a:p>
                  </a:txBody>
                  <a:tcPr marL="64008" marR="64008" marT="27432" marB="27432" anchor="ctr">
                    <a:solidFill>
                      <a:srgbClr val="F6F6F6"/>
                    </a:solidFill>
                  </a:tcPr>
                </a:tc>
                <a:tc>
                  <a:txBody>
                    <a:bodyPr wrap="square"/>
                    <a:lstStyle/>
                    <a:p>
                      <a:r>
                        <a:rPr sz="1200" b="0">
                          <a:solidFill>
                            <a:srgbClr val="4B4B4B"/>
                          </a:solidFill>
                          <a:latin typeface="Arial"/>
                        </a:rPr>
                        <a:t>30</a:t>
                      </a:r>
                    </a:p>
                  </a:txBody>
                  <a:tcPr marL="64008" marR="64008" marT="27432" marB="27432" anchor="ctr">
                    <a:solidFill>
                      <a:srgbClr val="E5F5FF"/>
                    </a:solidFill>
                  </a:tcPr>
                </a:tc>
                <a:tc>
                  <a:txBody>
                    <a:bodyPr wrap="square"/>
                    <a:lstStyle/>
                    <a:p>
                      <a:r>
                        <a:rPr sz="1200" b="0">
                          <a:solidFill>
                            <a:srgbClr val="4B4B4B"/>
                          </a:solidFill>
                          <a:latin typeface="Arial"/>
                        </a:rPr>
                        <a:t>2</a:t>
                      </a:r>
                    </a:p>
                  </a:txBody>
                  <a:tcPr marL="64008" marR="64008" marT="27432" marB="27432" anchor="ctr">
                    <a:solidFill>
                      <a:srgbClr val="E5F5FF"/>
                    </a:solidFill>
                  </a:tcPr>
                </a:tc>
              </a:tr>
              <a:tr h="329184">
                <a:tc>
                  <a:txBody>
                    <a:bodyPr wrap="square"/>
                    <a:lstStyle/>
                    <a:p>
                      <a:r>
                        <a:rPr sz="1200" b="0">
                          <a:solidFill>
                            <a:srgbClr val="4B4B4B"/>
                          </a:solidFill>
                          <a:latin typeface="Arial"/>
                        </a:rPr>
                        <a:t>Claims</a:t>
                      </a:r>
                    </a:p>
                  </a:txBody>
                  <a:tcPr marL="64008" marR="64008" marT="27432" marB="27432" anchor="ctr">
                    <a:solidFill>
                      <a:srgbClr val="FFFFFF"/>
                    </a:solidFill>
                  </a:tcPr>
                </a:tc>
                <a:tc>
                  <a:txBody>
                    <a:bodyPr wrap="square"/>
                    <a:lstStyle/>
                    <a:p>
                      <a:r>
                        <a:rPr sz="1200" b="0">
                          <a:solidFill>
                            <a:srgbClr val="4B4B4B"/>
                          </a:solidFill>
                          <a:latin typeface="Arial"/>
                        </a:rPr>
                        <a:t>BRD-7</a:t>
                      </a:r>
                    </a:p>
                  </a:txBody>
                  <a:tcPr marL="64008" marR="64008" marT="27432" marB="27432" anchor="ctr">
                    <a:solidFill>
                      <a:srgbClr val="FFFFFF"/>
                    </a:solidFill>
                  </a:tcPr>
                </a:tc>
                <a:tc>
                  <a:txBody>
                    <a:bodyPr wrap="square"/>
                    <a:lstStyle/>
                    <a:p>
                      <a:pPr algn="ctr"/>
                      <a:r>
                        <a:rPr sz="1200" b="1">
                          <a:solidFill>
                            <a:srgbClr val="C62828"/>
                          </a:solidFill>
                          <a:latin typeface="Arial"/>
                        </a:rPr>
                        <a:t>11</a:t>
                      </a:r>
                    </a:p>
                  </a:txBody>
                  <a:tcPr marL="64008" marR="64008" marT="27432" marB="27432" anchor="ctr">
                    <a:solidFill>
                      <a:srgbClr val="FDECEA"/>
                    </a:solidFill>
                  </a:tcPr>
                </a:tc>
                <a:tc>
                  <a:txBody>
                    <a:bodyPr wrap="square"/>
                    <a:lstStyle/>
                    <a:p>
                      <a:pPr algn="ctr"/>
                      <a:r>
                        <a:rPr sz="1200" b="1">
                          <a:solidFill>
                            <a:srgbClr val="8A5A00"/>
                          </a:solidFill>
                          <a:latin typeface="Arial"/>
                        </a:rPr>
                        <a:t>17</a:t>
                      </a:r>
                    </a:p>
                  </a:txBody>
                  <a:tcPr marL="64008" marR="64008" marT="27432" marB="27432" anchor="ctr">
                    <a:solidFill>
                      <a:srgbClr val="FFF4D6"/>
                    </a:solidFill>
                  </a:tcPr>
                </a:tc>
                <a:tc>
                  <a:txBody>
                    <a:bodyPr wrap="square"/>
                    <a:lstStyle/>
                    <a:p>
                      <a:pPr algn="ctr"/>
                      <a:r>
                        <a:rPr sz="1200" b="1">
                          <a:solidFill>
                            <a:srgbClr val="656565"/>
                          </a:solidFill>
                          <a:latin typeface="Arial"/>
                        </a:rPr>
                        <a:t>2</a:t>
                      </a:r>
                    </a:p>
                  </a:txBody>
                  <a:tcPr marL="64008" marR="64008" marT="27432" marB="27432" anchor="ctr">
                    <a:solidFill>
                      <a:srgbClr val="F6F6F6"/>
                    </a:solidFill>
                  </a:tcPr>
                </a:tc>
                <a:tc>
                  <a:txBody>
                    <a:bodyPr wrap="square"/>
                    <a:lstStyle/>
                    <a:p>
                      <a:r>
                        <a:rPr sz="1200" b="0">
                          <a:solidFill>
                            <a:srgbClr val="4B4B4B"/>
                          </a:solidFill>
                          <a:latin typeface="Arial"/>
                        </a:rPr>
                        <a:t>27</a:t>
                      </a:r>
                    </a:p>
                  </a:txBody>
                  <a:tcPr marL="64008" marR="64008" marT="27432" marB="27432" anchor="ctr">
                    <a:solidFill>
                      <a:srgbClr val="FFFFFF"/>
                    </a:solidFill>
                  </a:tcPr>
                </a:tc>
                <a:tc>
                  <a:txBody>
                    <a:bodyPr wrap="square"/>
                    <a:lstStyle/>
                    <a:p>
                      <a:r>
                        <a:rPr sz="1200" b="0">
                          <a:solidFill>
                            <a:srgbClr val="4B4B4B"/>
                          </a:solidFill>
                          <a:latin typeface="Arial"/>
                        </a:rPr>
                        <a:t>3</a:t>
                      </a:r>
                    </a:p>
                  </a:txBody>
                  <a:tcPr marL="64008" marR="64008" marT="27432" marB="27432" anchor="ctr">
                    <a:solidFill>
                      <a:srgbClr val="FFFFFF"/>
                    </a:solidFill>
                  </a:tcPr>
                </a:tc>
              </a:tr>
              <a:tr h="329184">
                <a:tc>
                  <a:txBody>
                    <a:bodyPr wrap="square"/>
                    <a:lstStyle/>
                    <a:p>
                      <a:r>
                        <a:rPr sz="1200" b="0">
                          <a:solidFill>
                            <a:srgbClr val="4B4B4B"/>
                          </a:solidFill>
                          <a:latin typeface="Arial"/>
                        </a:rPr>
                        <a:t>Customer Servicing</a:t>
                      </a:r>
                    </a:p>
                  </a:txBody>
                  <a:tcPr marL="64008" marR="64008" marT="27432" marB="27432" anchor="ctr">
                    <a:solidFill>
                      <a:srgbClr val="E5F5FF"/>
                    </a:solidFill>
                  </a:tcPr>
                </a:tc>
                <a:tc>
                  <a:txBody>
                    <a:bodyPr wrap="square"/>
                    <a:lstStyle/>
                    <a:p>
                      <a:r>
                        <a:rPr sz="1200" b="0">
                          <a:solidFill>
                            <a:srgbClr val="4B4B4B"/>
                          </a:solidFill>
                          <a:latin typeface="Arial"/>
                        </a:rPr>
                        <a:t>BRD-9</a:t>
                      </a:r>
                    </a:p>
                  </a:txBody>
                  <a:tcPr marL="64008" marR="64008" marT="27432" marB="27432" anchor="ctr">
                    <a:solidFill>
                      <a:srgbClr val="E5F5FF"/>
                    </a:solidFill>
                  </a:tcPr>
                </a:tc>
                <a:tc>
                  <a:txBody>
                    <a:bodyPr wrap="square"/>
                    <a:lstStyle/>
                    <a:p>
                      <a:pPr algn="ctr"/>
                      <a:r>
                        <a:rPr sz="1200" b="1">
                          <a:solidFill>
                            <a:srgbClr val="C62828"/>
                          </a:solidFill>
                          <a:latin typeface="Arial"/>
                        </a:rPr>
                        <a:t>10</a:t>
                      </a:r>
                    </a:p>
                  </a:txBody>
                  <a:tcPr marL="64008" marR="64008" marT="27432" marB="27432" anchor="ctr">
                    <a:solidFill>
                      <a:srgbClr val="FDECEA"/>
                    </a:solidFill>
                  </a:tcPr>
                </a:tc>
                <a:tc>
                  <a:txBody>
                    <a:bodyPr wrap="square"/>
                    <a:lstStyle/>
                    <a:p>
                      <a:pPr algn="ctr"/>
                      <a:r>
                        <a:rPr sz="1200" b="1">
                          <a:solidFill>
                            <a:srgbClr val="8A5A00"/>
                          </a:solidFill>
                          <a:latin typeface="Arial"/>
                        </a:rPr>
                        <a:t>12</a:t>
                      </a:r>
                    </a:p>
                  </a:txBody>
                  <a:tcPr marL="64008" marR="64008" marT="27432" marB="27432" anchor="ctr">
                    <a:solidFill>
                      <a:srgbClr val="FFF4D6"/>
                    </a:solidFill>
                  </a:tcPr>
                </a:tc>
                <a:tc>
                  <a:txBody>
                    <a:bodyPr wrap="square"/>
                    <a:lstStyle/>
                    <a:p>
                      <a:pPr algn="ctr"/>
                      <a:r>
                        <a:rPr sz="1200" b="1">
                          <a:solidFill>
                            <a:srgbClr val="656565"/>
                          </a:solidFill>
                          <a:latin typeface="Arial"/>
                        </a:rPr>
                        <a:t>3</a:t>
                      </a:r>
                    </a:p>
                  </a:txBody>
                  <a:tcPr marL="64008" marR="64008" marT="27432" marB="27432" anchor="ctr">
                    <a:solidFill>
                      <a:srgbClr val="F6F6F6"/>
                    </a:solidFill>
                  </a:tcPr>
                </a:tc>
                <a:tc>
                  <a:txBody>
                    <a:bodyPr wrap="square"/>
                    <a:lstStyle/>
                    <a:p>
                      <a:r>
                        <a:rPr sz="1200" b="0">
                          <a:solidFill>
                            <a:srgbClr val="4B4B4B"/>
                          </a:solidFill>
                          <a:latin typeface="Arial"/>
                        </a:rPr>
                        <a:t>24</a:t>
                      </a:r>
                    </a:p>
                  </a:txBody>
                  <a:tcPr marL="64008" marR="64008" marT="27432" marB="27432" anchor="ctr">
                    <a:solidFill>
                      <a:srgbClr val="E5F5FF"/>
                    </a:solidFill>
                  </a:tcPr>
                </a:tc>
                <a:tc>
                  <a:txBody>
                    <a:bodyPr wrap="square"/>
                    <a:lstStyle/>
                    <a:p>
                      <a:r>
                        <a:rPr sz="1200" b="0">
                          <a:solidFill>
                            <a:srgbClr val="4B4B4B"/>
                          </a:solidFill>
                          <a:latin typeface="Arial"/>
                        </a:rPr>
                        <a:t>1</a:t>
                      </a:r>
                    </a:p>
                  </a:txBody>
                  <a:tcPr marL="64008" marR="64008" marT="27432" marB="27432" anchor="ctr">
                    <a:solidFill>
                      <a:srgbClr val="E5F5FF"/>
                    </a:solidFill>
                  </a:tcPr>
                </a:tc>
              </a:tr>
              <a:tr h="329184">
                <a:tc>
                  <a:txBody>
                    <a:bodyPr wrap="square"/>
                    <a:lstStyle/>
                    <a:p>
                      <a:r>
                        <a:rPr sz="1200" b="0">
                          <a:solidFill>
                            <a:srgbClr val="4B4B4B"/>
                          </a:solidFill>
                          <a:latin typeface="Arial"/>
                        </a:rPr>
                        <a:t>Sanction Screening</a:t>
                      </a:r>
                    </a:p>
                  </a:txBody>
                  <a:tcPr marL="64008" marR="64008" marT="27432" marB="27432" anchor="ctr">
                    <a:solidFill>
                      <a:srgbClr val="FFFFFF"/>
                    </a:solidFill>
                  </a:tcPr>
                </a:tc>
                <a:tc>
                  <a:txBody>
                    <a:bodyPr wrap="square"/>
                    <a:lstStyle/>
                    <a:p>
                      <a:r>
                        <a:rPr sz="1200" b="0">
                          <a:solidFill>
                            <a:srgbClr val="4B4B4B"/>
                          </a:solidFill>
                          <a:latin typeface="Arial"/>
                        </a:rPr>
                        <a:t>BRD-10</a:t>
                      </a:r>
                    </a:p>
                  </a:txBody>
                  <a:tcPr marL="64008" marR="64008" marT="27432" marB="27432" anchor="ctr">
                    <a:solidFill>
                      <a:srgbClr val="FFFFFF"/>
                    </a:solidFill>
                  </a:tcPr>
                </a:tc>
                <a:tc>
                  <a:txBody>
                    <a:bodyPr wrap="square"/>
                    <a:lstStyle/>
                    <a:p>
                      <a:pPr algn="ctr"/>
                      <a:r>
                        <a:rPr sz="1200" b="1">
                          <a:solidFill>
                            <a:srgbClr val="C62828"/>
                          </a:solidFill>
                          <a:latin typeface="Arial"/>
                        </a:rPr>
                        <a:t>5</a:t>
                      </a:r>
                    </a:p>
                  </a:txBody>
                  <a:tcPr marL="64008" marR="64008" marT="27432" marB="27432" anchor="ctr">
                    <a:solidFill>
                      <a:srgbClr val="FDECEA"/>
                    </a:solidFill>
                  </a:tcPr>
                </a:tc>
                <a:tc>
                  <a:txBody>
                    <a:bodyPr wrap="square"/>
                    <a:lstStyle/>
                    <a:p>
                      <a:pPr algn="ctr"/>
                      <a:r>
                        <a:rPr sz="1200" b="1">
                          <a:solidFill>
                            <a:srgbClr val="8A5A00"/>
                          </a:solidFill>
                          <a:latin typeface="Arial"/>
                        </a:rPr>
                        <a:t>12</a:t>
                      </a:r>
                    </a:p>
                  </a:txBody>
                  <a:tcPr marL="64008" marR="64008" marT="27432" marB="27432" anchor="ctr">
                    <a:solidFill>
                      <a:srgbClr val="FFF4D6"/>
                    </a:solidFill>
                  </a:tcPr>
                </a:tc>
                <a:tc>
                  <a:txBody>
                    <a:bodyPr wrap="square"/>
                    <a:lstStyle/>
                    <a:p>
                      <a:pPr algn="ctr"/>
                      <a:r>
                        <a:rPr sz="1200" b="1">
                          <a:solidFill>
                            <a:srgbClr val="656565"/>
                          </a:solidFill>
                          <a:latin typeface="Arial"/>
                        </a:rPr>
                        <a:t>3</a:t>
                      </a:r>
                    </a:p>
                  </a:txBody>
                  <a:tcPr marL="64008" marR="64008" marT="27432" marB="27432" anchor="ctr">
                    <a:solidFill>
                      <a:srgbClr val="F6F6F6"/>
                    </a:solidFill>
                  </a:tcPr>
                </a:tc>
                <a:tc>
                  <a:txBody>
                    <a:bodyPr wrap="square"/>
                    <a:lstStyle/>
                    <a:p>
                      <a:r>
                        <a:rPr sz="1200" b="0">
                          <a:solidFill>
                            <a:srgbClr val="4B4B4B"/>
                          </a:solidFill>
                          <a:latin typeface="Arial"/>
                        </a:rPr>
                        <a:t>19</a:t>
                      </a:r>
                    </a:p>
                  </a:txBody>
                  <a:tcPr marL="64008" marR="64008" marT="27432" marB="27432" anchor="ctr">
                    <a:solidFill>
                      <a:srgbClr val="FFFFFF"/>
                    </a:solidFill>
                  </a:tcPr>
                </a:tc>
                <a:tc>
                  <a:txBody>
                    <a:bodyPr wrap="square"/>
                    <a:lstStyle/>
                    <a:p>
                      <a:r>
                        <a:rPr sz="1200" b="0">
                          <a:solidFill>
                            <a:srgbClr val="4B4B4B"/>
                          </a:solidFill>
                          <a:latin typeface="Arial"/>
                        </a:rPr>
                        <a:t>1</a:t>
                      </a:r>
                    </a:p>
                  </a:txBody>
                  <a:tcPr marL="64008" marR="64008" marT="27432" marB="27432" anchor="ctr">
                    <a:solidFill>
                      <a:srgbClr val="FFFFFF"/>
                    </a:solidFill>
                  </a:tcPr>
                </a:tc>
              </a:tr>
              <a:tr h="329184">
                <a:tc>
                  <a:txBody>
                    <a:bodyPr wrap="square"/>
                    <a:lstStyle/>
                    <a:p>
                      <a:r>
                        <a:rPr sz="1200" b="0">
                          <a:solidFill>
                            <a:srgbClr val="4B4B4B"/>
                          </a:solidFill>
                          <a:latin typeface="Arial"/>
                        </a:rPr>
                        <a:t>User Access</a:t>
                      </a:r>
                    </a:p>
                  </a:txBody>
                  <a:tcPr marL="64008" marR="64008" marT="27432" marB="27432" anchor="ctr">
                    <a:solidFill>
                      <a:srgbClr val="E5F5FF"/>
                    </a:solidFill>
                  </a:tcPr>
                </a:tc>
                <a:tc>
                  <a:txBody>
                    <a:bodyPr wrap="square"/>
                    <a:lstStyle/>
                    <a:p>
                      <a:r>
                        <a:rPr sz="1200" b="0">
                          <a:solidFill>
                            <a:srgbClr val="4B4B4B"/>
                          </a:solidFill>
                          <a:latin typeface="Arial"/>
                        </a:rPr>
                        <a:t>BRD-11</a:t>
                      </a:r>
                    </a:p>
                  </a:txBody>
                  <a:tcPr marL="64008" marR="64008" marT="27432" marB="27432" anchor="ctr">
                    <a:solidFill>
                      <a:srgbClr val="E5F5FF"/>
                    </a:solidFill>
                  </a:tcPr>
                </a:tc>
                <a:tc>
                  <a:txBody>
                    <a:bodyPr wrap="square"/>
                    <a:lstStyle/>
                    <a:p>
                      <a:pPr algn="ctr"/>
                      <a:r>
                        <a:rPr sz="1200" b="1">
                          <a:solidFill>
                            <a:srgbClr val="C62828"/>
                          </a:solidFill>
                          <a:latin typeface="Arial"/>
                        </a:rPr>
                        <a:t>10</a:t>
                      </a:r>
                    </a:p>
                  </a:txBody>
                  <a:tcPr marL="64008" marR="64008" marT="27432" marB="27432" anchor="ctr">
                    <a:solidFill>
                      <a:srgbClr val="FDECEA"/>
                    </a:solidFill>
                  </a:tcPr>
                </a:tc>
                <a:tc>
                  <a:txBody>
                    <a:bodyPr wrap="square"/>
                    <a:lstStyle/>
                    <a:p>
                      <a:pPr algn="ctr"/>
                      <a:r>
                        <a:rPr sz="1200" b="1">
                          <a:solidFill>
                            <a:srgbClr val="8A5A00"/>
                          </a:solidFill>
                          <a:latin typeface="Arial"/>
                        </a:rPr>
                        <a:t>12</a:t>
                      </a:r>
                    </a:p>
                  </a:txBody>
                  <a:tcPr marL="64008" marR="64008" marT="27432" marB="27432" anchor="ctr">
                    <a:solidFill>
                      <a:srgbClr val="FFF4D6"/>
                    </a:solidFill>
                  </a:tcPr>
                </a:tc>
                <a:tc>
                  <a:txBody>
                    <a:bodyPr wrap="square"/>
                    <a:lstStyle/>
                    <a:p>
                      <a:pPr algn="ctr"/>
                      <a:r>
                        <a:rPr sz="1200" b="1">
                          <a:solidFill>
                            <a:srgbClr val="656565"/>
                          </a:solidFill>
                          <a:latin typeface="Arial"/>
                        </a:rPr>
                        <a:t>3</a:t>
                      </a:r>
                    </a:p>
                  </a:txBody>
                  <a:tcPr marL="64008" marR="64008" marT="27432" marB="27432" anchor="ctr">
                    <a:solidFill>
                      <a:srgbClr val="F6F6F6"/>
                    </a:solidFill>
                  </a:tcPr>
                </a:tc>
                <a:tc>
                  <a:txBody>
                    <a:bodyPr wrap="square"/>
                    <a:lstStyle/>
                    <a:p>
                      <a:r>
                        <a:rPr sz="1200" b="0">
                          <a:solidFill>
                            <a:srgbClr val="4B4B4B"/>
                          </a:solidFill>
                          <a:latin typeface="Arial"/>
                        </a:rPr>
                        <a:t>22</a:t>
                      </a:r>
                    </a:p>
                  </a:txBody>
                  <a:tcPr marL="64008" marR="64008" marT="27432" marB="27432" anchor="ctr">
                    <a:solidFill>
                      <a:srgbClr val="E5F5FF"/>
                    </a:solidFill>
                  </a:tcPr>
                </a:tc>
                <a:tc>
                  <a:txBody>
                    <a:bodyPr wrap="square"/>
                    <a:lstStyle/>
                    <a:p>
                      <a:r>
                        <a:rPr sz="1200" b="0">
                          <a:solidFill>
                            <a:srgbClr val="4B4B4B"/>
                          </a:solidFill>
                          <a:latin typeface="Arial"/>
                        </a:rPr>
                        <a:t>3</a:t>
                      </a:r>
                    </a:p>
                  </a:txBody>
                  <a:tcPr marL="64008" marR="64008" marT="27432" marB="27432" anchor="ctr">
                    <a:solidFill>
                      <a:srgbClr val="E5F5FF"/>
                    </a:solidFill>
                  </a:tcPr>
                </a:tc>
              </a:tr>
            </a:tbl>
          </a:graphicData>
        </a:graphic>
      </p:graphicFrame>
      <p:sp>
        <p:nvSpPr>
          <p:cNvPr id="10" name="TextBox 9"/>
          <p:cNvSpPr txBox="1"/>
          <p:nvPr/>
        </p:nvSpPr>
        <p:spPr>
          <a:xfrm>
            <a:off x="8275319" y="1280160"/>
            <a:ext cx="3367736" cy="4846320"/>
          </a:xfrm>
          <a:prstGeom prst="rect">
            <a:avLst/>
          </a:prstGeom>
          <a:noFill/>
        </p:spPr>
        <p:txBody>
          <a:bodyPr wrap="square" anchor="t" lIns="45720" rIns="45720" tIns="18288" bIns="18288">
            <a:spAutoFit/>
          </a:bodyPr>
          <a:lstStyle/>
          <a:p>
            <a:pPr>
              <a:spcAft>
                <a:spcPts val="600"/>
              </a:spcAft>
            </a:pPr>
            <a:r>
              <a:rPr sz="1200" b="0">
                <a:solidFill>
                  <a:srgbClr val="4B4B4B"/>
                </a:solidFill>
                <a:latin typeface="Arial"/>
              </a:rPr>
              <a:t>239 items are raised against the BRDs and the Report List; 64 are High.</a:t>
            </a:r>
          </a:p>
          <a:p>
            <a:pPr>
              <a:spcAft>
                <a:spcPts val="600"/>
              </a:spcAft>
            </a:pPr>
            <a:r>
              <a:rPr sz="1200" b="0">
                <a:solidFill>
                  <a:srgbClr val="4B4B4B"/>
                </a:solidFill>
                <a:latin typeface="Arial"/>
              </a:rPr>
              <a:t>High items change what is built, the money, compliance or access; they are resolved before the FRS of the area is signed off.</a:t>
            </a:r>
          </a:p>
          <a:p>
            <a:pPr>
              <a:spcAft>
                <a:spcPts val="600"/>
              </a:spcAft>
            </a:pPr>
            <a:r>
              <a:rPr sz="1200" b="0">
                <a:solidFill>
                  <a:srgbClr val="4B4B4B"/>
                </a:solidFill>
                <a:latin typeface="Arial"/>
              </a:rPr>
              <a:t>Items that touch several BRDs, such as the service window, RPO and retention, count under each BRD.</a:t>
            </a:r>
          </a:p>
          <a:p>
            <a:pPr>
              <a:spcAft>
                <a:spcPts val="600"/>
              </a:spcAft>
            </a:pPr>
            <a:r>
              <a:rPr sz="1200" b="0">
                <a:solidFill>
                  <a:srgbClr val="4B4B4B"/>
                </a:solidFill>
                <a:latin typeface="Arial"/>
              </a:rPr>
              <a:t>The floor-walk gaps of this deck are added to the register after BDOI confirms them.</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Open points for BDOI to confirm (1/3)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447355"/>
                <a:gridCol w="1073653"/>
                <a:gridCol w="1968363"/>
                <a:gridCol w="5726149"/>
                <a:gridCol w="1878892"/>
              </a:tblGrid>
              <a:tr h="365760">
                <a:tc>
                  <a:txBody>
                    <a:bodyPr wrap="square"/>
                    <a:lstStyle/>
                    <a:p>
                      <a:r>
                        <a:rPr sz="1100" b="1">
                          <a:solidFill>
                            <a:srgbClr val="FFFFFF"/>
                          </a:solidFill>
                          <a:latin typeface="Arial"/>
                        </a:rPr>
                        <a:t>#</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Area</a:t>
                      </a:r>
                    </a:p>
                  </a:txBody>
                  <a:tcPr marL="64008" marR="64008" marT="27432" marB="27432" anchor="ctr">
                    <a:solidFill>
                      <a:srgbClr val="004EA8"/>
                    </a:solidFill>
                  </a:tcPr>
                </a:tc>
                <a:tc>
                  <a:txBody>
                    <a:bodyPr wrap="square"/>
                    <a:lstStyle/>
                    <a:p>
                      <a:r>
                        <a:rPr sz="1100" b="1">
                          <a:solidFill>
                            <a:srgbClr val="FFFFFF"/>
                          </a:solidFill>
                          <a:latin typeface="Arial"/>
                        </a:rPr>
                        <a:t>Open point</a:t>
                      </a:r>
                    </a:p>
                  </a:txBody>
                  <a:tcPr marL="64008" marR="64008" marT="27432" marB="27432" anchor="ctr">
                    <a:solidFill>
                      <a:srgbClr val="004EA8"/>
                    </a:solidFill>
                  </a:tcPr>
                </a:tc>
                <a:tc>
                  <a:txBody>
                    <a:bodyPr wrap="square"/>
                    <a:lstStyle/>
                    <a:p>
                      <a:r>
                        <a:rPr sz="1100" b="1">
                          <a:solidFill>
                            <a:srgbClr val="FFFFFF"/>
                          </a:solidFill>
                          <a:latin typeface="Arial"/>
                        </a:rPr>
                        <a:t>Where it closes</a:t>
                      </a:r>
                    </a:p>
                  </a:txBody>
                  <a:tcPr marL="64008" marR="64008" marT="27432" marB="27432" anchor="ctr">
                    <a:solidFill>
                      <a:srgbClr val="004EA8"/>
                    </a:solidFill>
                  </a:tcPr>
                </a:tc>
              </a:tr>
              <a:tr h="569214">
                <a:tc>
                  <a:txBody>
                    <a:bodyPr wrap="square"/>
                    <a:lstStyle/>
                    <a:p>
                      <a:r>
                        <a:rPr sz="1100" b="0">
                          <a:solidFill>
                            <a:srgbClr val="4B4B4B"/>
                          </a:solidFill>
                          <a:latin typeface="Arial"/>
                        </a:rPr>
                        <a:t>1</a:t>
                      </a:r>
                    </a:p>
                  </a:txBody>
                  <a:tcPr marL="64008" marR="64008" marT="27432" marB="27432" anchor="ctr">
                    <a:solidFill>
                      <a:srgbClr val="FFFFFF"/>
                    </a:solidFill>
                  </a:tcPr>
                </a:tc>
                <a:tc>
                  <a:txBody>
                    <a:bodyPr wrap="square"/>
                    <a:lstStyle/>
                    <a:p>
                      <a:r>
                        <a:rPr sz="1100" b="1">
                          <a:solidFill>
                            <a:srgbClr val="4B4B4B"/>
                          </a:solidFill>
                          <a:latin typeface="Arial"/>
                        </a:rPr>
                        <a:t>OV-03</a:t>
                      </a:r>
                    </a:p>
                  </a:txBody>
                  <a:tcPr marL="64008" marR="64008" marT="27432" marB="27432" anchor="ctr">
                    <a:solidFill>
                      <a:srgbClr val="FFFFFF"/>
                    </a:solidFill>
                  </a:tcPr>
                </a:tc>
                <a:tc>
                  <a:txBody>
                    <a:bodyPr wrap="square"/>
                    <a:lstStyle/>
                    <a:p>
                      <a:r>
                        <a:rPr sz="1100" b="0">
                          <a:solidFill>
                            <a:srgbClr val="4B4B4B"/>
                          </a:solidFill>
                          <a:latin typeface="Arial"/>
                        </a:rPr>
                        <a:t>Business overview</a:t>
                      </a:r>
                    </a:p>
                  </a:txBody>
                  <a:tcPr marL="64008" marR="64008" marT="27432" marB="27432" anchor="ctr">
                    <a:solidFill>
                      <a:srgbClr val="FFFFFF"/>
                    </a:solidFill>
                  </a:tcPr>
                </a:tc>
                <a:tc>
                  <a:txBody>
                    <a:bodyPr wrap="square"/>
                    <a:lstStyle/>
                    <a:p>
                      <a:r>
                        <a:rPr sz="1100" b="0">
                          <a:solidFill>
                            <a:srgbClr val="4B4B4B"/>
                          </a:solidFill>
                          <a:latin typeface="Arial"/>
                        </a:rPr>
                        <a:t>One common reference across the lifecycle?</a:t>
                      </a:r>
                    </a:p>
                  </a:txBody>
                  <a:tcPr marL="64008" marR="64008" marT="27432" marB="27432" anchor="ctr">
                    <a:solidFill>
                      <a:srgbClr val="FFFFFF"/>
                    </a:solidFill>
                  </a:tcPr>
                </a:tc>
                <a:tc>
                  <a:txBody>
                    <a:bodyPr wrap="square"/>
                    <a:lstStyle/>
                    <a:p>
                      <a:r>
                        <a:rPr sz="1100" b="0">
                          <a:solidFill>
                            <a:srgbClr val="4B4B4B"/>
                          </a:solidFill>
                          <a:latin typeface="Arial"/>
                        </a:rPr>
                        <a:t>BDOI to confirm</a:t>
                      </a:r>
                    </a:p>
                  </a:txBody>
                  <a:tcPr marL="64008" marR="64008" marT="27432" marB="27432" anchor="ctr">
                    <a:solidFill>
                      <a:srgbClr val="FFFFFF"/>
                    </a:solidFill>
                  </a:tcPr>
                </a:tc>
              </a:tr>
              <a:tr h="569214">
                <a:tc>
                  <a:txBody>
                    <a:bodyPr wrap="square"/>
                    <a:lstStyle/>
                    <a:p>
                      <a:r>
                        <a:rPr sz="1100" b="0">
                          <a:solidFill>
                            <a:srgbClr val="4B4B4B"/>
                          </a:solidFill>
                          <a:latin typeface="Arial"/>
                        </a:rPr>
                        <a:t>2</a:t>
                      </a:r>
                    </a:p>
                  </a:txBody>
                  <a:tcPr marL="64008" marR="64008" marT="27432" marB="27432" anchor="ctr">
                    <a:solidFill>
                      <a:srgbClr val="E5F5FF"/>
                    </a:solidFill>
                  </a:tcPr>
                </a:tc>
                <a:tc>
                  <a:txBody>
                    <a:bodyPr wrap="square"/>
                    <a:lstStyle/>
                    <a:p>
                      <a:r>
                        <a:rPr sz="1100" b="1">
                          <a:solidFill>
                            <a:srgbClr val="4B4B4B"/>
                          </a:solidFill>
                          <a:latin typeface="Arial"/>
                        </a:rPr>
                        <a:t>OV-04</a:t>
                      </a:r>
                    </a:p>
                  </a:txBody>
                  <a:tcPr marL="64008" marR="64008" marT="27432" marB="27432" anchor="ctr">
                    <a:solidFill>
                      <a:srgbClr val="E5F5FF"/>
                    </a:solidFill>
                  </a:tcPr>
                </a:tc>
                <a:tc>
                  <a:txBody>
                    <a:bodyPr wrap="square"/>
                    <a:lstStyle/>
                    <a:p>
                      <a:r>
                        <a:rPr sz="1100" b="0">
                          <a:solidFill>
                            <a:srgbClr val="4B4B4B"/>
                          </a:solidFill>
                          <a:latin typeface="Arial"/>
                        </a:rPr>
                        <a:t>Business overview</a:t>
                      </a:r>
                    </a:p>
                  </a:txBody>
                  <a:tcPr marL="64008" marR="64008" marT="27432" marB="27432" anchor="ctr">
                    <a:solidFill>
                      <a:srgbClr val="E5F5FF"/>
                    </a:solidFill>
                  </a:tcPr>
                </a:tc>
                <a:tc>
                  <a:txBody>
                    <a:bodyPr wrap="square"/>
                    <a:lstStyle/>
                    <a:p>
                      <a:r>
                        <a:rPr sz="1100" b="0">
                          <a:solidFill>
                            <a:srgbClr val="4B4B4B"/>
                          </a:solidFill>
                          <a:latin typeface="Arial"/>
                        </a:rPr>
                        <a:t>Client categories going forward: lead, prospect, existing; retail, corporate</a:t>
                      </a:r>
                    </a:p>
                  </a:txBody>
                  <a:tcPr marL="64008" marR="64008" marT="27432" marB="27432" anchor="ctr">
                    <a:solidFill>
                      <a:srgbClr val="E5F5FF"/>
                    </a:solidFill>
                  </a:tcPr>
                </a:tc>
                <a:tc>
                  <a:txBody>
                    <a:bodyPr wrap="square"/>
                    <a:lstStyle/>
                    <a:p>
                      <a:r>
                        <a:rPr sz="1100" b="0">
                          <a:solidFill>
                            <a:srgbClr val="4B4B4B"/>
                          </a:solidFill>
                          <a:latin typeface="Arial"/>
                        </a:rPr>
                        <a:t>BDOI to confirm</a:t>
                      </a:r>
                    </a:p>
                  </a:txBody>
                  <a:tcPr marL="64008" marR="64008" marT="27432" marB="27432" anchor="ctr">
                    <a:solidFill>
                      <a:srgbClr val="E5F5FF"/>
                    </a:solidFill>
                  </a:tcPr>
                </a:tc>
              </a:tr>
              <a:tr h="569214">
                <a:tc>
                  <a:txBody>
                    <a:bodyPr wrap="square"/>
                    <a:lstStyle/>
                    <a:p>
                      <a:r>
                        <a:rPr sz="1100" b="0">
                          <a:solidFill>
                            <a:srgbClr val="4B4B4B"/>
                          </a:solidFill>
                          <a:latin typeface="Arial"/>
                        </a:rPr>
                        <a:t>3</a:t>
                      </a:r>
                    </a:p>
                  </a:txBody>
                  <a:tcPr marL="64008" marR="64008" marT="27432" marB="27432" anchor="ctr">
                    <a:solidFill>
                      <a:srgbClr val="FFFFFF"/>
                    </a:solidFill>
                  </a:tcPr>
                </a:tc>
                <a:tc>
                  <a:txBody>
                    <a:bodyPr wrap="square"/>
                    <a:lstStyle/>
                    <a:p>
                      <a:r>
                        <a:rPr sz="1100" b="1">
                          <a:solidFill>
                            <a:srgbClr val="4B4B4B"/>
                          </a:solidFill>
                          <a:latin typeface="Arial"/>
                        </a:rPr>
                        <a:t>NB-01</a:t>
                      </a:r>
                    </a:p>
                  </a:txBody>
                  <a:tcPr marL="64008" marR="64008" marT="27432" marB="27432" anchor="ctr">
                    <a:solidFill>
                      <a:srgbClr val="FFFFFF"/>
                    </a:solidFill>
                  </a:tcPr>
                </a:tc>
                <a:tc>
                  <a:txBody>
                    <a:bodyPr wrap="square"/>
                    <a:lstStyle/>
                    <a:p>
                      <a:r>
                        <a:rPr sz="1100" b="0">
                          <a:solidFill>
                            <a:srgbClr val="4B4B4B"/>
                          </a:solidFill>
                          <a:latin typeface="Arial"/>
                        </a:rPr>
                        <a:t>New Business</a:t>
                      </a:r>
                    </a:p>
                  </a:txBody>
                  <a:tcPr marL="64008" marR="64008" marT="27432" marB="27432" anchor="ctr">
                    <a:solidFill>
                      <a:srgbClr val="FFFFFF"/>
                    </a:solidFill>
                  </a:tcPr>
                </a:tc>
                <a:tc>
                  <a:txBody>
                    <a:bodyPr wrap="square"/>
                    <a:lstStyle/>
                    <a:p>
                      <a:r>
                        <a:rPr sz="1100" b="0">
                          <a:solidFill>
                            <a:srgbClr val="4B4B4B"/>
                          </a:solidFill>
                          <a:latin typeface="Arial"/>
                        </a:rPr>
                        <a:t>Routing per product type: TSU for non-package only? Package direct to placement?</a:t>
                      </a:r>
                    </a:p>
                  </a:txBody>
                  <a:tcPr marL="64008" marR="64008" marT="27432" marB="27432" anchor="ctr">
                    <a:solidFill>
                      <a:srgbClr val="FFFFFF"/>
                    </a:solidFill>
                  </a:tcPr>
                </a:tc>
                <a:tc>
                  <a:txBody>
                    <a:bodyPr wrap="square"/>
                    <a:lstStyle/>
                    <a:p>
                      <a:r>
                        <a:rPr sz="1100" b="0">
                          <a:solidFill>
                            <a:srgbClr val="4B4B4B"/>
                          </a:solidFill>
                          <a:latin typeface="Arial"/>
                        </a:rPr>
                        <a:t>Floor walk</a:t>
                      </a:r>
                    </a:p>
                  </a:txBody>
                  <a:tcPr marL="64008" marR="64008" marT="27432" marB="27432" anchor="ctr">
                    <a:solidFill>
                      <a:srgbClr val="FFFFFF"/>
                    </a:solidFill>
                  </a:tcPr>
                </a:tc>
              </a:tr>
              <a:tr h="569214">
                <a:tc>
                  <a:txBody>
                    <a:bodyPr wrap="square"/>
                    <a:lstStyle/>
                    <a:p>
                      <a:r>
                        <a:rPr sz="1100" b="0">
                          <a:solidFill>
                            <a:srgbClr val="4B4B4B"/>
                          </a:solidFill>
                          <a:latin typeface="Arial"/>
                        </a:rPr>
                        <a:t>4</a:t>
                      </a:r>
                    </a:p>
                  </a:txBody>
                  <a:tcPr marL="64008" marR="64008" marT="27432" marB="27432" anchor="ctr">
                    <a:solidFill>
                      <a:srgbClr val="E5F5FF"/>
                    </a:solidFill>
                  </a:tcPr>
                </a:tc>
                <a:tc>
                  <a:txBody>
                    <a:bodyPr wrap="square"/>
                    <a:lstStyle/>
                    <a:p>
                      <a:r>
                        <a:rPr sz="1100" b="1">
                          <a:solidFill>
                            <a:srgbClr val="4B4B4B"/>
                          </a:solidFill>
                          <a:latin typeface="Arial"/>
                        </a:rPr>
                        <a:t>NB-04</a:t>
                      </a:r>
                    </a:p>
                  </a:txBody>
                  <a:tcPr marL="64008" marR="64008" marT="27432" marB="27432" anchor="ctr">
                    <a:solidFill>
                      <a:srgbClr val="E5F5FF"/>
                    </a:solidFill>
                  </a:tcPr>
                </a:tc>
                <a:tc>
                  <a:txBody>
                    <a:bodyPr wrap="square"/>
                    <a:lstStyle/>
                    <a:p>
                      <a:r>
                        <a:rPr sz="1100" b="0">
                          <a:solidFill>
                            <a:srgbClr val="4B4B4B"/>
                          </a:solidFill>
                          <a:latin typeface="Arial"/>
                        </a:rPr>
                        <a:t>New Business</a:t>
                      </a:r>
                    </a:p>
                  </a:txBody>
                  <a:tcPr marL="64008" marR="64008" marT="27432" marB="27432" anchor="ctr">
                    <a:solidFill>
                      <a:srgbClr val="E5F5FF"/>
                    </a:solidFill>
                  </a:tcPr>
                </a:tc>
                <a:tc>
                  <a:txBody>
                    <a:bodyPr wrap="square"/>
                    <a:lstStyle/>
                    <a:p>
                      <a:r>
                        <a:rPr sz="1100" b="0">
                          <a:solidFill>
                            <a:srgbClr val="4B4B4B"/>
                          </a:solidFill>
                          <a:latin typeface="Arial"/>
                        </a:rPr>
                        <a:t>KYC and AMLA in the system, or outside?</a:t>
                      </a:r>
                    </a:p>
                  </a:txBody>
                  <a:tcPr marL="64008" marR="64008" marT="27432" marB="27432" anchor="ctr">
                    <a:solidFill>
                      <a:srgbClr val="E5F5FF"/>
                    </a:solidFill>
                  </a:tcPr>
                </a:tc>
                <a:tc>
                  <a:txBody>
                    <a:bodyPr wrap="square"/>
                    <a:lstStyle/>
                    <a:p>
                      <a:r>
                        <a:rPr sz="1100" b="0">
                          <a:solidFill>
                            <a:srgbClr val="4B4B4B"/>
                          </a:solidFill>
                          <a:latin typeface="Arial"/>
                        </a:rPr>
                        <a:t>BDOI to confirm</a:t>
                      </a:r>
                    </a:p>
                  </a:txBody>
                  <a:tcPr marL="64008" marR="64008" marT="27432" marB="27432" anchor="ctr">
                    <a:solidFill>
                      <a:srgbClr val="E5F5FF"/>
                    </a:solidFill>
                  </a:tcPr>
                </a:tc>
              </a:tr>
              <a:tr h="569214">
                <a:tc>
                  <a:txBody>
                    <a:bodyPr wrap="square"/>
                    <a:lstStyle/>
                    <a:p>
                      <a:r>
                        <a:rPr sz="1100" b="0">
                          <a:solidFill>
                            <a:srgbClr val="4B4B4B"/>
                          </a:solidFill>
                          <a:latin typeface="Arial"/>
                        </a:rPr>
                        <a:t>5</a:t>
                      </a:r>
                    </a:p>
                  </a:txBody>
                  <a:tcPr marL="64008" marR="64008" marT="27432" marB="27432" anchor="ctr">
                    <a:solidFill>
                      <a:srgbClr val="FFFFFF"/>
                    </a:solidFill>
                  </a:tcPr>
                </a:tc>
                <a:tc>
                  <a:txBody>
                    <a:bodyPr wrap="square"/>
                    <a:lstStyle/>
                    <a:p>
                      <a:r>
                        <a:rPr sz="1100" b="1">
                          <a:solidFill>
                            <a:srgbClr val="4B4B4B"/>
                          </a:solidFill>
                          <a:latin typeface="Arial"/>
                        </a:rPr>
                        <a:t>NB-05</a:t>
                      </a:r>
                    </a:p>
                  </a:txBody>
                  <a:tcPr marL="64008" marR="64008" marT="27432" marB="27432" anchor="ctr">
                    <a:solidFill>
                      <a:srgbClr val="FFFFFF"/>
                    </a:solidFill>
                  </a:tcPr>
                </a:tc>
                <a:tc>
                  <a:txBody>
                    <a:bodyPr wrap="square"/>
                    <a:lstStyle/>
                    <a:p>
                      <a:r>
                        <a:rPr sz="1100" b="0">
                          <a:solidFill>
                            <a:srgbClr val="4B4B4B"/>
                          </a:solidFill>
                          <a:latin typeface="Arial"/>
                        </a:rPr>
                        <a:t>New Business</a:t>
                      </a:r>
                    </a:p>
                  </a:txBody>
                  <a:tcPr marL="64008" marR="64008" marT="27432" marB="27432" anchor="ctr">
                    <a:solidFill>
                      <a:srgbClr val="FFFFFF"/>
                    </a:solidFill>
                  </a:tcPr>
                </a:tc>
                <a:tc>
                  <a:txBody>
                    <a:bodyPr wrap="square"/>
                    <a:lstStyle/>
                    <a:p>
                      <a:r>
                        <a:rPr sz="1100" b="0">
                          <a:solidFill>
                            <a:srgbClr val="4B4B4B"/>
                          </a:solidFill>
                          <a:latin typeface="Arial"/>
                        </a:rPr>
                        <a:t>Basis of the 500M risk-survey threshold (sum insured? PHP?)</a:t>
                      </a:r>
                    </a:p>
                  </a:txBody>
                  <a:tcPr marL="64008" marR="64008" marT="27432" marB="27432" anchor="ctr">
                    <a:solidFill>
                      <a:srgbClr val="FFFFFF"/>
                    </a:solidFill>
                  </a:tcPr>
                </a:tc>
                <a:tc>
                  <a:txBody>
                    <a:bodyPr wrap="square"/>
                    <a:lstStyle/>
                    <a:p>
                      <a:r>
                        <a:rPr sz="1100" b="0">
                          <a:solidFill>
                            <a:srgbClr val="4B4B4B"/>
                          </a:solidFill>
                          <a:latin typeface="Arial"/>
                        </a:rPr>
                        <a:t>BDOI to confirm</a:t>
                      </a:r>
                    </a:p>
                  </a:txBody>
                  <a:tcPr marL="64008" marR="64008" marT="27432" marB="27432" anchor="ctr">
                    <a:solidFill>
                      <a:srgbClr val="FFFFFF"/>
                    </a:solidFill>
                  </a:tcPr>
                </a:tc>
              </a:tr>
              <a:tr h="569214">
                <a:tc>
                  <a:txBody>
                    <a:bodyPr wrap="square"/>
                    <a:lstStyle/>
                    <a:p>
                      <a:r>
                        <a:rPr sz="1100" b="0">
                          <a:solidFill>
                            <a:srgbClr val="4B4B4B"/>
                          </a:solidFill>
                          <a:latin typeface="Arial"/>
                        </a:rPr>
                        <a:t>6</a:t>
                      </a:r>
                    </a:p>
                  </a:txBody>
                  <a:tcPr marL="64008" marR="64008" marT="27432" marB="27432" anchor="ctr">
                    <a:solidFill>
                      <a:srgbClr val="E5F5FF"/>
                    </a:solidFill>
                  </a:tcPr>
                </a:tc>
                <a:tc>
                  <a:txBody>
                    <a:bodyPr wrap="square"/>
                    <a:lstStyle/>
                    <a:p>
                      <a:r>
                        <a:rPr sz="1100" b="1">
                          <a:solidFill>
                            <a:srgbClr val="4B4B4B"/>
                          </a:solidFill>
                          <a:latin typeface="Arial"/>
                        </a:rPr>
                        <a:t>NB-09</a:t>
                      </a:r>
                    </a:p>
                  </a:txBody>
                  <a:tcPr marL="64008" marR="64008" marT="27432" marB="27432" anchor="ctr">
                    <a:solidFill>
                      <a:srgbClr val="E5F5FF"/>
                    </a:solidFill>
                  </a:tcPr>
                </a:tc>
                <a:tc>
                  <a:txBody>
                    <a:bodyPr wrap="square"/>
                    <a:lstStyle/>
                    <a:p>
                      <a:r>
                        <a:rPr sz="1100" b="0">
                          <a:solidFill>
                            <a:srgbClr val="4B4B4B"/>
                          </a:solidFill>
                          <a:latin typeface="Arial"/>
                        </a:rPr>
                        <a:t>New Business</a:t>
                      </a:r>
                    </a:p>
                  </a:txBody>
                  <a:tcPr marL="64008" marR="64008" marT="27432" marB="27432" anchor="ctr">
                    <a:solidFill>
                      <a:srgbClr val="E5F5FF"/>
                    </a:solidFill>
                  </a:tcPr>
                </a:tc>
                <a:tc>
                  <a:txBody>
                    <a:bodyPr wrap="square"/>
                    <a:lstStyle/>
                    <a:p>
                      <a:r>
                        <a:rPr sz="1100" b="0">
                          <a:solidFill>
                            <a:srgbClr val="4B4B4B"/>
                          </a:solidFill>
                          <a:latin typeface="Arial"/>
                        </a:rPr>
                        <a:t>Confirm "ibis" and "qbs" in the notes are EBIX and QPS</a:t>
                      </a:r>
                    </a:p>
                  </a:txBody>
                  <a:tcPr marL="64008" marR="64008" marT="27432" marB="27432" anchor="ctr">
                    <a:solidFill>
                      <a:srgbClr val="E5F5FF"/>
                    </a:solidFill>
                  </a:tcPr>
                </a:tc>
                <a:tc>
                  <a:txBody>
                    <a:bodyPr wrap="square"/>
                    <a:lstStyle/>
                    <a:p>
                      <a:r>
                        <a:rPr sz="1100" b="0">
                          <a:solidFill>
                            <a:srgbClr val="4B4B4B"/>
                          </a:solidFill>
                          <a:latin typeface="Arial"/>
                        </a:rPr>
                        <a:t>Internal</a:t>
                      </a:r>
                    </a:p>
                  </a:txBody>
                  <a:tcPr marL="64008" marR="64008" marT="27432" marB="27432" anchor="ctr">
                    <a:solidFill>
                      <a:srgbClr val="E5F5FF"/>
                    </a:solidFill>
                  </a:tcPr>
                </a:tc>
              </a:tr>
              <a:tr h="569214">
                <a:tc>
                  <a:txBody>
                    <a:bodyPr wrap="square"/>
                    <a:lstStyle/>
                    <a:p>
                      <a:r>
                        <a:rPr sz="1100" b="0">
                          <a:solidFill>
                            <a:srgbClr val="4B4B4B"/>
                          </a:solidFill>
                          <a:latin typeface="Arial"/>
                        </a:rPr>
                        <a:t>7</a:t>
                      </a:r>
                    </a:p>
                  </a:txBody>
                  <a:tcPr marL="64008" marR="64008" marT="27432" marB="27432" anchor="ctr">
                    <a:solidFill>
                      <a:srgbClr val="FFFFFF"/>
                    </a:solidFill>
                  </a:tcPr>
                </a:tc>
                <a:tc>
                  <a:txBody>
                    <a:bodyPr wrap="square"/>
                    <a:lstStyle/>
                    <a:p>
                      <a:r>
                        <a:rPr sz="1100" b="1">
                          <a:solidFill>
                            <a:srgbClr val="4B4B4B"/>
                          </a:solidFill>
                          <a:latin typeface="Arial"/>
                        </a:rPr>
                        <a:t>NB-14</a:t>
                      </a:r>
                    </a:p>
                  </a:txBody>
                  <a:tcPr marL="64008" marR="64008" marT="27432" marB="27432" anchor="ctr">
                    <a:solidFill>
                      <a:srgbClr val="FFFFFF"/>
                    </a:solidFill>
                  </a:tcPr>
                </a:tc>
                <a:tc>
                  <a:txBody>
                    <a:bodyPr wrap="square"/>
                    <a:lstStyle/>
                    <a:p>
                      <a:r>
                        <a:rPr sz="1100" b="0">
                          <a:solidFill>
                            <a:srgbClr val="4B4B4B"/>
                          </a:solidFill>
                          <a:latin typeface="Arial"/>
                        </a:rPr>
                        <a:t>New Business</a:t>
                      </a:r>
                    </a:p>
                  </a:txBody>
                  <a:tcPr marL="64008" marR="64008" marT="27432" marB="27432" anchor="ctr">
                    <a:solidFill>
                      <a:srgbClr val="FFFFFF"/>
                    </a:solidFill>
                  </a:tcPr>
                </a:tc>
                <a:tc>
                  <a:txBody>
                    <a:bodyPr wrap="square"/>
                    <a:lstStyle/>
                    <a:p>
                      <a:r>
                        <a:rPr sz="1100" b="0">
                          <a:solidFill>
                            <a:srgbClr val="4B4B4B"/>
                          </a:solidFill>
                          <a:latin typeface="Arial"/>
                        </a:rPr>
                        <a:t>Commission on the free first-year premium</a:t>
                      </a:r>
                    </a:p>
                  </a:txBody>
                  <a:tcPr marL="64008" marR="64008" marT="27432" marB="27432" anchor="ctr">
                    <a:solidFill>
                      <a:srgbClr val="FFFFFF"/>
                    </a:solidFill>
                  </a:tcPr>
                </a:tc>
                <a:tc>
                  <a:txBody>
                    <a:bodyPr wrap="square"/>
                    <a:lstStyle/>
                    <a:p>
                      <a:r>
                        <a:rPr sz="1100" b="0">
                          <a:solidFill>
                            <a:srgbClr val="4B4B4B"/>
                          </a:solidFill>
                          <a:latin typeface="Arial"/>
                        </a:rPr>
                        <a:t>Floor walk (Cashiering)</a:t>
                      </a:r>
                    </a:p>
                  </a:txBody>
                  <a:tcPr marL="64008" marR="64008" marT="27432" marB="27432" anchor="ctr">
                    <a:solidFill>
                      <a:srgbClr val="FFFFFF"/>
                    </a:solidFill>
                  </a:tcPr>
                </a:tc>
              </a:tr>
              <a:tr h="569214">
                <a:tc>
                  <a:txBody>
                    <a:bodyPr wrap="square"/>
                    <a:lstStyle/>
                    <a:p>
                      <a:r>
                        <a:rPr sz="1100" b="0">
                          <a:solidFill>
                            <a:srgbClr val="4B4B4B"/>
                          </a:solidFill>
                          <a:latin typeface="Arial"/>
                        </a:rPr>
                        <a:t>8</a:t>
                      </a:r>
                    </a:p>
                  </a:txBody>
                  <a:tcPr marL="64008" marR="64008" marT="27432" marB="27432" anchor="ctr">
                    <a:solidFill>
                      <a:srgbClr val="E5F5FF"/>
                    </a:solidFill>
                  </a:tcPr>
                </a:tc>
                <a:tc>
                  <a:txBody>
                    <a:bodyPr wrap="square"/>
                    <a:lstStyle/>
                    <a:p>
                      <a:r>
                        <a:rPr sz="1100" b="1">
                          <a:solidFill>
                            <a:srgbClr val="4B4B4B"/>
                          </a:solidFill>
                          <a:latin typeface="Arial"/>
                        </a:rPr>
                        <a:t>NB-15</a:t>
                      </a:r>
                    </a:p>
                  </a:txBody>
                  <a:tcPr marL="64008" marR="64008" marT="27432" marB="27432" anchor="ctr">
                    <a:solidFill>
                      <a:srgbClr val="E5F5FF"/>
                    </a:solidFill>
                  </a:tcPr>
                </a:tc>
                <a:tc>
                  <a:txBody>
                    <a:bodyPr wrap="square"/>
                    <a:lstStyle/>
                    <a:p>
                      <a:r>
                        <a:rPr sz="1100" b="0">
                          <a:solidFill>
                            <a:srgbClr val="4B4B4B"/>
                          </a:solidFill>
                          <a:latin typeface="Arial"/>
                        </a:rPr>
                        <a:t>New Business, Renewal</a:t>
                      </a:r>
                    </a:p>
                  </a:txBody>
                  <a:tcPr marL="64008" marR="64008" marT="27432" marB="27432" anchor="ctr">
                    <a:solidFill>
                      <a:srgbClr val="E5F5FF"/>
                    </a:solidFill>
                  </a:tcPr>
                </a:tc>
                <a:tc>
                  <a:txBody>
                    <a:bodyPr wrap="square"/>
                    <a:lstStyle/>
                    <a:p>
                      <a:r>
                        <a:rPr sz="1100" b="0">
                          <a:solidFill>
                            <a:srgbClr val="4B4B4B"/>
                          </a:solidFill>
                          <a:latin typeface="Arial"/>
                        </a:rPr>
                        <a:t>Non-CBG bank-referred clients at renewal</a:t>
                      </a:r>
                    </a:p>
                  </a:txBody>
                  <a:tcPr marL="64008" marR="64008" marT="27432" marB="27432" anchor="ctr">
                    <a:solidFill>
                      <a:srgbClr val="E5F5FF"/>
                    </a:solidFill>
                  </a:tcPr>
                </a:tc>
                <a:tc>
                  <a:txBody>
                    <a:bodyPr wrap="square"/>
                    <a:lstStyle/>
                    <a:p>
                      <a:r>
                        <a:rPr sz="1100" b="0">
                          <a:solidFill>
                            <a:srgbClr val="4B4B4B"/>
                          </a:solidFill>
                          <a:latin typeface="Arial"/>
                        </a:rPr>
                        <a:t>Floor walk (Renewal)</a:t>
                      </a:r>
                    </a:p>
                  </a:txBody>
                  <a:tcPr marL="64008" marR="64008" marT="27432" marB="27432" anchor="ctr">
                    <a:solidFill>
                      <a:srgbClr val="E5F5FF"/>
                    </a:solidFill>
                  </a:tcPr>
                </a:tc>
              </a:tr>
            </a:tbl>
          </a:graphicData>
        </a:graphic>
      </p:graphicFrame>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Open points for BDOI to confirm (2/3)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447355"/>
                <a:gridCol w="1073653"/>
                <a:gridCol w="1968363"/>
                <a:gridCol w="5726149"/>
                <a:gridCol w="1878892"/>
              </a:tblGrid>
              <a:tr h="365760">
                <a:tc>
                  <a:txBody>
                    <a:bodyPr wrap="square"/>
                    <a:lstStyle/>
                    <a:p>
                      <a:r>
                        <a:rPr sz="1100" b="1">
                          <a:solidFill>
                            <a:srgbClr val="FFFFFF"/>
                          </a:solidFill>
                          <a:latin typeface="Arial"/>
                        </a:rPr>
                        <a:t>#</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Area</a:t>
                      </a:r>
                    </a:p>
                  </a:txBody>
                  <a:tcPr marL="64008" marR="64008" marT="27432" marB="27432" anchor="ctr">
                    <a:solidFill>
                      <a:srgbClr val="004EA8"/>
                    </a:solidFill>
                  </a:tcPr>
                </a:tc>
                <a:tc>
                  <a:txBody>
                    <a:bodyPr wrap="square"/>
                    <a:lstStyle/>
                    <a:p>
                      <a:r>
                        <a:rPr sz="1100" b="1">
                          <a:solidFill>
                            <a:srgbClr val="FFFFFF"/>
                          </a:solidFill>
                          <a:latin typeface="Arial"/>
                        </a:rPr>
                        <a:t>Open point</a:t>
                      </a:r>
                    </a:p>
                  </a:txBody>
                  <a:tcPr marL="64008" marR="64008" marT="27432" marB="27432" anchor="ctr">
                    <a:solidFill>
                      <a:srgbClr val="004EA8"/>
                    </a:solidFill>
                  </a:tcPr>
                </a:tc>
                <a:tc>
                  <a:txBody>
                    <a:bodyPr wrap="square"/>
                    <a:lstStyle/>
                    <a:p>
                      <a:r>
                        <a:rPr sz="1100" b="1">
                          <a:solidFill>
                            <a:srgbClr val="FFFFFF"/>
                          </a:solidFill>
                          <a:latin typeface="Arial"/>
                        </a:rPr>
                        <a:t>Where it closes</a:t>
                      </a:r>
                    </a:p>
                  </a:txBody>
                  <a:tcPr marL="64008" marR="64008" marT="27432" marB="27432" anchor="ctr">
                    <a:solidFill>
                      <a:srgbClr val="004EA8"/>
                    </a:solidFill>
                  </a:tcPr>
                </a:tc>
              </a:tr>
              <a:tr h="569214">
                <a:tc>
                  <a:txBody>
                    <a:bodyPr wrap="square"/>
                    <a:lstStyle/>
                    <a:p>
                      <a:r>
                        <a:rPr sz="1100" b="0">
                          <a:solidFill>
                            <a:srgbClr val="4B4B4B"/>
                          </a:solidFill>
                          <a:latin typeface="Arial"/>
                        </a:rPr>
                        <a:t>9</a:t>
                      </a:r>
                    </a:p>
                  </a:txBody>
                  <a:tcPr marL="64008" marR="64008" marT="27432" marB="27432" anchor="ctr">
                    <a:solidFill>
                      <a:srgbClr val="FFFFFF"/>
                    </a:solidFill>
                  </a:tcPr>
                </a:tc>
                <a:tc>
                  <a:txBody>
                    <a:bodyPr wrap="square"/>
                    <a:lstStyle/>
                    <a:p>
                      <a:r>
                        <a:rPr sz="1100" b="1">
                          <a:solidFill>
                            <a:srgbClr val="4B4B4B"/>
                          </a:solidFill>
                          <a:latin typeface="Arial"/>
                        </a:rPr>
                        <a:t>EN-02</a:t>
                      </a:r>
                    </a:p>
                  </a:txBody>
                  <a:tcPr marL="64008" marR="64008" marT="27432" marB="27432" anchor="ctr">
                    <a:solidFill>
                      <a:srgbClr val="FFFFFF"/>
                    </a:solidFill>
                  </a:tcPr>
                </a:tc>
                <a:tc>
                  <a:txBody>
                    <a:bodyPr wrap="square"/>
                    <a:lstStyle/>
                    <a:p>
                      <a:r>
                        <a:rPr sz="1100" b="0">
                          <a:solidFill>
                            <a:srgbClr val="4B4B4B"/>
                          </a:solidFill>
                          <a:latin typeface="Arial"/>
                        </a:rPr>
                        <a:t>Operations</a:t>
                      </a:r>
                    </a:p>
                  </a:txBody>
                  <a:tcPr marL="64008" marR="64008" marT="27432" marB="27432" anchor="ctr">
                    <a:solidFill>
                      <a:srgbClr val="FFFFFF"/>
                    </a:solidFill>
                  </a:tcPr>
                </a:tc>
                <a:tc>
                  <a:txBody>
                    <a:bodyPr wrap="square"/>
                    <a:lstStyle/>
                    <a:p>
                      <a:r>
                        <a:rPr sz="1100" b="0">
                          <a:solidFill>
                            <a:srgbClr val="4B4B4B"/>
                          </a:solidFill>
                          <a:latin typeface="Arial"/>
                        </a:rPr>
                        <a:t>Tax treatment on cancellation refunds</a:t>
                      </a:r>
                    </a:p>
                  </a:txBody>
                  <a:tcPr marL="64008" marR="64008" marT="27432" marB="27432" anchor="ctr">
                    <a:solidFill>
                      <a:srgbClr val="FFFFFF"/>
                    </a:solidFill>
                  </a:tcPr>
                </a:tc>
                <a:tc>
                  <a:txBody>
                    <a:bodyPr wrap="square"/>
                    <a:lstStyle/>
                    <a:p>
                      <a:r>
                        <a:rPr sz="1100" b="0">
                          <a:solidFill>
                            <a:srgbClr val="4B4B4B"/>
                          </a:solidFill>
                          <a:latin typeface="Arial"/>
                        </a:rPr>
                        <a:t>FRS</a:t>
                      </a:r>
                    </a:p>
                  </a:txBody>
                  <a:tcPr marL="64008" marR="64008" marT="27432" marB="27432" anchor="ctr">
                    <a:solidFill>
                      <a:srgbClr val="FFFFFF"/>
                    </a:solidFill>
                  </a:tcPr>
                </a:tc>
              </a:tr>
              <a:tr h="569214">
                <a:tc>
                  <a:txBody>
                    <a:bodyPr wrap="square"/>
                    <a:lstStyle/>
                    <a:p>
                      <a:r>
                        <a:rPr sz="1100" b="0">
                          <a:solidFill>
                            <a:srgbClr val="4B4B4B"/>
                          </a:solidFill>
                          <a:latin typeface="Arial"/>
                        </a:rPr>
                        <a:t>10</a:t>
                      </a:r>
                    </a:p>
                  </a:txBody>
                  <a:tcPr marL="64008" marR="64008" marT="27432" marB="27432" anchor="ctr">
                    <a:solidFill>
                      <a:srgbClr val="E5F5FF"/>
                    </a:solidFill>
                  </a:tcPr>
                </a:tc>
                <a:tc>
                  <a:txBody>
                    <a:bodyPr wrap="square"/>
                    <a:lstStyle/>
                    <a:p>
                      <a:r>
                        <a:rPr sz="1100" b="1">
                          <a:solidFill>
                            <a:srgbClr val="4B4B4B"/>
                          </a:solidFill>
                          <a:latin typeface="Arial"/>
                        </a:rPr>
                        <a:t>TR-02</a:t>
                      </a:r>
                    </a:p>
                  </a:txBody>
                  <a:tcPr marL="64008" marR="64008" marT="27432" marB="27432" anchor="ctr">
                    <a:solidFill>
                      <a:srgbClr val="E5F5FF"/>
                    </a:solidFill>
                  </a:tcPr>
                </a:tc>
                <a:tc>
                  <a:txBody>
                    <a:bodyPr wrap="square"/>
                    <a:lstStyle/>
                    <a:p>
                      <a:r>
                        <a:rPr sz="1100" b="0">
                          <a:solidFill>
                            <a:srgbClr val="4B4B4B"/>
                          </a:solidFill>
                          <a:latin typeface="Arial"/>
                        </a:rPr>
                        <a:t>Trade, Marine</a:t>
                      </a:r>
                    </a:p>
                  </a:txBody>
                  <a:tcPr marL="64008" marR="64008" marT="27432" marB="27432" anchor="ctr">
                    <a:solidFill>
                      <a:srgbClr val="E5F5FF"/>
                    </a:solidFill>
                  </a:tcPr>
                </a:tc>
                <a:tc>
                  <a:txBody>
                    <a:bodyPr wrap="square"/>
                    <a:lstStyle/>
                    <a:p>
                      <a:r>
                        <a:rPr sz="1100" b="0">
                          <a:solidFill>
                            <a:srgbClr val="4B4B4B"/>
                          </a:solidFill>
                          <a:latin typeface="Arial"/>
                        </a:rPr>
                        <a:t>Marine accumulation by location</a:t>
                      </a:r>
                    </a:p>
                  </a:txBody>
                  <a:tcPr marL="64008" marR="64008" marT="27432" marB="27432" anchor="ctr">
                    <a:solidFill>
                      <a:srgbClr val="E5F5FF"/>
                    </a:solidFill>
                  </a:tcPr>
                </a:tc>
                <a:tc>
                  <a:txBody>
                    <a:bodyPr wrap="square"/>
                    <a:lstStyle/>
                    <a:p>
                      <a:r>
                        <a:rPr sz="1100" b="0">
                          <a:solidFill>
                            <a:srgbClr val="4B4B4B"/>
                          </a:solidFill>
                          <a:latin typeface="Arial"/>
                        </a:rPr>
                        <a:t>FRS</a:t>
                      </a:r>
                    </a:p>
                  </a:txBody>
                  <a:tcPr marL="64008" marR="64008" marT="27432" marB="27432" anchor="ctr">
                    <a:solidFill>
                      <a:srgbClr val="E5F5FF"/>
                    </a:solidFill>
                  </a:tcPr>
                </a:tc>
              </a:tr>
              <a:tr h="569214">
                <a:tc>
                  <a:txBody>
                    <a:bodyPr wrap="square"/>
                    <a:lstStyle/>
                    <a:p>
                      <a:r>
                        <a:rPr sz="1100" b="0">
                          <a:solidFill>
                            <a:srgbClr val="4B4B4B"/>
                          </a:solidFill>
                          <a:latin typeface="Arial"/>
                        </a:rPr>
                        <a:t>11</a:t>
                      </a:r>
                    </a:p>
                  </a:txBody>
                  <a:tcPr marL="64008" marR="64008" marT="27432" marB="27432" anchor="ctr">
                    <a:solidFill>
                      <a:srgbClr val="FFFFFF"/>
                    </a:solidFill>
                  </a:tcPr>
                </a:tc>
                <a:tc>
                  <a:txBody>
                    <a:bodyPr wrap="square"/>
                    <a:lstStyle/>
                    <a:p>
                      <a:r>
                        <a:rPr sz="1100" b="1">
                          <a:solidFill>
                            <a:srgbClr val="4B4B4B"/>
                          </a:solidFill>
                          <a:latin typeface="Arial"/>
                        </a:rPr>
                        <a:t>CA-03</a:t>
                      </a:r>
                    </a:p>
                  </a:txBody>
                  <a:tcPr marL="64008" marR="64008" marT="27432" marB="27432" anchor="ctr">
                    <a:solidFill>
                      <a:srgbClr val="FFFFFF"/>
                    </a:solidFill>
                  </a:tcPr>
                </a:tc>
                <a:tc>
                  <a:txBody>
                    <a:bodyPr wrap="square"/>
                    <a:lstStyle/>
                    <a:p>
                      <a:r>
                        <a:rPr sz="1100" b="0">
                          <a:solidFill>
                            <a:srgbClr val="4B4B4B"/>
                          </a:solidFill>
                          <a:latin typeface="Arial"/>
                        </a:rPr>
                        <a:t>Cashiering</a:t>
                      </a:r>
                    </a:p>
                  </a:txBody>
                  <a:tcPr marL="64008" marR="64008" marT="27432" marB="27432" anchor="ctr">
                    <a:solidFill>
                      <a:srgbClr val="FFFFFF"/>
                    </a:solidFill>
                  </a:tcPr>
                </a:tc>
                <a:tc>
                  <a:txBody>
                    <a:bodyPr wrap="square"/>
                    <a:lstStyle/>
                    <a:p>
                      <a:r>
                        <a:rPr sz="1100" b="0">
                          <a:solidFill>
                            <a:srgbClr val="4B4B4B"/>
                          </a:solidFill>
                          <a:latin typeface="Arial"/>
                        </a:rPr>
                        <a:t>Payment received on a direct-pay invoice: allow a change of the DP tag?</a:t>
                      </a:r>
                    </a:p>
                  </a:txBody>
                  <a:tcPr marL="64008" marR="64008" marT="27432" marB="27432" anchor="ctr">
                    <a:solidFill>
                      <a:srgbClr val="FFFFFF"/>
                    </a:solidFill>
                  </a:tcPr>
                </a:tc>
                <a:tc>
                  <a:txBody>
                    <a:bodyPr wrap="square"/>
                    <a:lstStyle/>
                    <a:p>
                      <a:r>
                        <a:rPr sz="1100" b="0">
                          <a:solidFill>
                            <a:srgbClr val="4B4B4B"/>
                          </a:solidFill>
                          <a:latin typeface="Arial"/>
                        </a:rPr>
                        <a:t>Floor walk</a:t>
                      </a:r>
                    </a:p>
                  </a:txBody>
                  <a:tcPr marL="64008" marR="64008" marT="27432" marB="27432" anchor="ctr">
                    <a:solidFill>
                      <a:srgbClr val="FFFFFF"/>
                    </a:solidFill>
                  </a:tcPr>
                </a:tc>
              </a:tr>
              <a:tr h="569214">
                <a:tc>
                  <a:txBody>
                    <a:bodyPr wrap="square"/>
                    <a:lstStyle/>
                    <a:p>
                      <a:r>
                        <a:rPr sz="1100" b="0">
                          <a:solidFill>
                            <a:srgbClr val="4B4B4B"/>
                          </a:solidFill>
                          <a:latin typeface="Arial"/>
                        </a:rPr>
                        <a:t>12</a:t>
                      </a:r>
                    </a:p>
                  </a:txBody>
                  <a:tcPr marL="64008" marR="64008" marT="27432" marB="27432" anchor="ctr">
                    <a:solidFill>
                      <a:srgbClr val="E5F5FF"/>
                    </a:solidFill>
                  </a:tcPr>
                </a:tc>
                <a:tc>
                  <a:txBody>
                    <a:bodyPr wrap="square"/>
                    <a:lstStyle/>
                    <a:p>
                      <a:r>
                        <a:rPr sz="1100" b="1">
                          <a:solidFill>
                            <a:srgbClr val="4B4B4B"/>
                          </a:solidFill>
                          <a:latin typeface="Arial"/>
                        </a:rPr>
                        <a:t>CA-05</a:t>
                      </a:r>
                    </a:p>
                  </a:txBody>
                  <a:tcPr marL="64008" marR="64008" marT="27432" marB="27432" anchor="ctr">
                    <a:solidFill>
                      <a:srgbClr val="E5F5FF"/>
                    </a:solidFill>
                  </a:tcPr>
                </a:tc>
                <a:tc>
                  <a:txBody>
                    <a:bodyPr wrap="square"/>
                    <a:lstStyle/>
                    <a:p>
                      <a:r>
                        <a:rPr sz="1100" b="0">
                          <a:solidFill>
                            <a:srgbClr val="4B4B4B"/>
                          </a:solidFill>
                          <a:latin typeface="Arial"/>
                        </a:rPr>
                        <a:t>Cashiering</a:t>
                      </a:r>
                    </a:p>
                  </a:txBody>
                  <a:tcPr marL="64008" marR="64008" marT="27432" marB="27432" anchor="ctr">
                    <a:solidFill>
                      <a:srgbClr val="E5F5FF"/>
                    </a:solidFill>
                  </a:tcPr>
                </a:tc>
                <a:tc>
                  <a:txBody>
                    <a:bodyPr wrap="square"/>
                    <a:lstStyle/>
                    <a:p>
                      <a:r>
                        <a:rPr sz="1100" b="0">
                          <a:solidFill>
                            <a:srgbClr val="4B4B4B"/>
                          </a:solidFill>
                          <a:latin typeface="Arial"/>
                        </a:rPr>
                        <a:t>Walk through the bulk payment (~2,000 records)</a:t>
                      </a:r>
                    </a:p>
                  </a:txBody>
                  <a:tcPr marL="64008" marR="64008" marT="27432" marB="27432" anchor="ctr">
                    <a:solidFill>
                      <a:srgbClr val="E5F5FF"/>
                    </a:solidFill>
                  </a:tcPr>
                </a:tc>
                <a:tc>
                  <a:txBody>
                    <a:bodyPr wrap="square"/>
                    <a:lstStyle/>
                    <a:p>
                      <a:r>
                        <a:rPr sz="1100" b="0">
                          <a:solidFill>
                            <a:srgbClr val="4B4B4B"/>
                          </a:solidFill>
                          <a:latin typeface="Arial"/>
                        </a:rPr>
                        <a:t>Floor walk</a:t>
                      </a:r>
                    </a:p>
                  </a:txBody>
                  <a:tcPr marL="64008" marR="64008" marT="27432" marB="27432" anchor="ctr">
                    <a:solidFill>
                      <a:srgbClr val="E5F5FF"/>
                    </a:solidFill>
                  </a:tcPr>
                </a:tc>
              </a:tr>
              <a:tr h="569214">
                <a:tc>
                  <a:txBody>
                    <a:bodyPr wrap="square"/>
                    <a:lstStyle/>
                    <a:p>
                      <a:r>
                        <a:rPr sz="1100" b="0">
                          <a:solidFill>
                            <a:srgbClr val="4B4B4B"/>
                          </a:solidFill>
                          <a:latin typeface="Arial"/>
                        </a:rPr>
                        <a:t>13</a:t>
                      </a:r>
                    </a:p>
                  </a:txBody>
                  <a:tcPr marL="64008" marR="64008" marT="27432" marB="27432" anchor="ctr">
                    <a:solidFill>
                      <a:srgbClr val="FFFFFF"/>
                    </a:solidFill>
                  </a:tcPr>
                </a:tc>
                <a:tc>
                  <a:txBody>
                    <a:bodyPr wrap="square"/>
                    <a:lstStyle/>
                    <a:p>
                      <a:r>
                        <a:rPr sz="1100" b="1">
                          <a:solidFill>
                            <a:srgbClr val="4B4B4B"/>
                          </a:solidFill>
                          <a:latin typeface="Arial"/>
                        </a:rPr>
                        <a:t>CO-03</a:t>
                      </a:r>
                    </a:p>
                  </a:txBody>
                  <a:tcPr marL="64008" marR="64008" marT="27432" marB="27432" anchor="ctr">
                    <a:solidFill>
                      <a:srgbClr val="FFFFFF"/>
                    </a:solidFill>
                  </a:tcPr>
                </a:tc>
                <a:tc>
                  <a:txBody>
                    <a:bodyPr wrap="square"/>
                    <a:lstStyle/>
                    <a:p>
                      <a:r>
                        <a:rPr sz="1100" b="0">
                          <a:solidFill>
                            <a:srgbClr val="4B4B4B"/>
                          </a:solidFill>
                          <a:latin typeface="Arial"/>
                        </a:rPr>
                        <a:t>Collections</a:t>
                      </a:r>
                    </a:p>
                  </a:txBody>
                  <a:tcPr marL="64008" marR="64008" marT="27432" marB="27432" anchor="ctr">
                    <a:solidFill>
                      <a:srgbClr val="FFFFFF"/>
                    </a:solidFill>
                  </a:tcPr>
                </a:tc>
                <a:tc>
                  <a:txBody>
                    <a:bodyPr wrap="square"/>
                    <a:lstStyle/>
                    <a:p>
                      <a:r>
                        <a:rPr sz="1100" b="0">
                          <a:solidFill>
                            <a:srgbClr val="4B4B4B"/>
                          </a:solidFill>
                          <a:latin typeface="Arial"/>
                        </a:rPr>
                        <a:t>Credit policy</a:t>
                      </a:r>
                    </a:p>
                  </a:txBody>
                  <a:tcPr marL="64008" marR="64008" marT="27432" marB="27432" anchor="ctr">
                    <a:solidFill>
                      <a:srgbClr val="FFFFFF"/>
                    </a:solidFill>
                  </a:tcPr>
                </a:tc>
                <a:tc>
                  <a:txBody>
                    <a:bodyPr wrap="square"/>
                    <a:lstStyle/>
                    <a:p>
                      <a:r>
                        <a:rPr sz="1100" b="0">
                          <a:solidFill>
                            <a:srgbClr val="4B4B4B"/>
                          </a:solidFill>
                          <a:latin typeface="Arial"/>
                        </a:rPr>
                        <a:t>BDOI to confirm</a:t>
                      </a:r>
                    </a:p>
                  </a:txBody>
                  <a:tcPr marL="64008" marR="64008" marT="27432" marB="27432" anchor="ctr">
                    <a:solidFill>
                      <a:srgbClr val="FFFFFF"/>
                    </a:solidFill>
                  </a:tcPr>
                </a:tc>
              </a:tr>
              <a:tr h="569214">
                <a:tc>
                  <a:txBody>
                    <a:bodyPr wrap="square"/>
                    <a:lstStyle/>
                    <a:p>
                      <a:r>
                        <a:rPr sz="1100" b="0">
                          <a:solidFill>
                            <a:srgbClr val="4B4B4B"/>
                          </a:solidFill>
                          <a:latin typeface="Arial"/>
                        </a:rPr>
                        <a:t>14</a:t>
                      </a:r>
                    </a:p>
                  </a:txBody>
                  <a:tcPr marL="64008" marR="64008" marT="27432" marB="27432" anchor="ctr">
                    <a:solidFill>
                      <a:srgbClr val="E5F5FF"/>
                    </a:solidFill>
                  </a:tcPr>
                </a:tc>
                <a:tc>
                  <a:txBody>
                    <a:bodyPr wrap="square"/>
                    <a:lstStyle/>
                    <a:p>
                      <a:r>
                        <a:rPr sz="1100" b="1">
                          <a:solidFill>
                            <a:srgbClr val="4B4B4B"/>
                          </a:solidFill>
                          <a:latin typeface="Arial"/>
                        </a:rPr>
                        <a:t>IC-01</a:t>
                      </a:r>
                    </a:p>
                  </a:txBody>
                  <a:tcPr marL="64008" marR="64008" marT="27432" marB="27432" anchor="ctr">
                    <a:solidFill>
                      <a:srgbClr val="E5F5FF"/>
                    </a:solidFill>
                  </a:tcPr>
                </a:tc>
                <a:tc>
                  <a:txBody>
                    <a:bodyPr wrap="square"/>
                    <a:lstStyle/>
                    <a:p>
                      <a:r>
                        <a:rPr sz="1100" b="0">
                          <a:solidFill>
                            <a:srgbClr val="4B4B4B"/>
                          </a:solidFill>
                          <a:latin typeface="Arial"/>
                        </a:rPr>
                        <a:t>Incentives</a:t>
                      </a:r>
                    </a:p>
                  </a:txBody>
                  <a:tcPr marL="64008" marR="64008" marT="27432" marB="27432" anchor="ctr">
                    <a:solidFill>
                      <a:srgbClr val="E5F5FF"/>
                    </a:solidFill>
                  </a:tcPr>
                </a:tc>
                <a:tc>
                  <a:txBody>
                    <a:bodyPr wrap="square"/>
                    <a:lstStyle/>
                    <a:p>
                      <a:r>
                        <a:rPr sz="1100" b="0">
                          <a:solidFill>
                            <a:srgbClr val="4B4B4B"/>
                          </a:solidFill>
                          <a:latin typeface="Arial"/>
                        </a:rPr>
                        <a:t>Early-remittance incentive by insurer</a:t>
                      </a:r>
                    </a:p>
                  </a:txBody>
                  <a:tcPr marL="64008" marR="64008" marT="27432" marB="27432" anchor="ctr">
                    <a:solidFill>
                      <a:srgbClr val="E5F5FF"/>
                    </a:solidFill>
                  </a:tcPr>
                </a:tc>
                <a:tc>
                  <a:txBody>
                    <a:bodyPr wrap="square"/>
                    <a:lstStyle/>
                    <a:p>
                      <a:r>
                        <a:rPr sz="1100" b="0">
                          <a:solidFill>
                            <a:srgbClr val="4B4B4B"/>
                          </a:solidFill>
                          <a:latin typeface="Arial"/>
                        </a:rPr>
                        <a:t>Floor walk</a:t>
                      </a:r>
                    </a:p>
                  </a:txBody>
                  <a:tcPr marL="64008" marR="64008" marT="27432" marB="27432" anchor="ctr">
                    <a:solidFill>
                      <a:srgbClr val="E5F5FF"/>
                    </a:solidFill>
                  </a:tcPr>
                </a:tc>
              </a:tr>
              <a:tr h="569214">
                <a:tc>
                  <a:txBody>
                    <a:bodyPr wrap="square"/>
                    <a:lstStyle/>
                    <a:p>
                      <a:r>
                        <a:rPr sz="1100" b="0">
                          <a:solidFill>
                            <a:srgbClr val="4B4B4B"/>
                          </a:solidFill>
                          <a:latin typeface="Arial"/>
                        </a:rPr>
                        <a:t>15</a:t>
                      </a:r>
                    </a:p>
                  </a:txBody>
                  <a:tcPr marL="64008" marR="64008" marT="27432" marB="27432" anchor="ctr">
                    <a:solidFill>
                      <a:srgbClr val="FFFFFF"/>
                    </a:solidFill>
                  </a:tcPr>
                </a:tc>
                <a:tc>
                  <a:txBody>
                    <a:bodyPr wrap="square"/>
                    <a:lstStyle/>
                    <a:p>
                      <a:r>
                        <a:rPr sz="1100" b="1">
                          <a:solidFill>
                            <a:srgbClr val="4B4B4B"/>
                          </a:solidFill>
                          <a:latin typeface="Arial"/>
                        </a:rPr>
                        <a:t>TX-02</a:t>
                      </a:r>
                    </a:p>
                  </a:txBody>
                  <a:tcPr marL="64008" marR="64008" marT="27432" marB="27432" anchor="ctr">
                    <a:solidFill>
                      <a:srgbClr val="FFFFFF"/>
                    </a:solidFill>
                  </a:tcPr>
                </a:tc>
                <a:tc>
                  <a:txBody>
                    <a:bodyPr wrap="square"/>
                    <a:lstStyle/>
                    <a:p>
                      <a:r>
                        <a:rPr sz="1100" b="0">
                          <a:solidFill>
                            <a:srgbClr val="4B4B4B"/>
                          </a:solidFill>
                          <a:latin typeface="Arial"/>
                        </a:rPr>
                        <a:t>Tax</a:t>
                      </a:r>
                    </a:p>
                  </a:txBody>
                  <a:tcPr marL="64008" marR="64008" marT="27432" marB="27432" anchor="ctr">
                    <a:solidFill>
                      <a:srgbClr val="FFFFFF"/>
                    </a:solidFill>
                  </a:tcPr>
                </a:tc>
                <a:tc>
                  <a:txBody>
                    <a:bodyPr wrap="square"/>
                    <a:lstStyle/>
                    <a:p>
                      <a:r>
                        <a:rPr sz="1100" b="0">
                          <a:solidFill>
                            <a:srgbClr val="4B4B4B"/>
                          </a:solidFill>
                          <a:latin typeface="Arial"/>
                        </a:rPr>
                        <a:t>DPPR / PR2307 reversal and knock-off process</a:t>
                      </a:r>
                    </a:p>
                  </a:txBody>
                  <a:tcPr marL="64008" marR="64008" marT="27432" marB="27432" anchor="ctr">
                    <a:solidFill>
                      <a:srgbClr val="FFFFFF"/>
                    </a:solidFill>
                  </a:tcPr>
                </a:tc>
                <a:tc>
                  <a:txBody>
                    <a:bodyPr wrap="square"/>
                    <a:lstStyle/>
                    <a:p>
                      <a:r>
                        <a:rPr sz="1100" b="0">
                          <a:solidFill>
                            <a:srgbClr val="4B4B4B"/>
                          </a:solidFill>
                          <a:latin typeface="Arial"/>
                        </a:rPr>
                        <a:t>Floor walk</a:t>
                      </a:r>
                    </a:p>
                  </a:txBody>
                  <a:tcPr marL="64008" marR="64008" marT="27432" marB="27432" anchor="ctr">
                    <a:solidFill>
                      <a:srgbClr val="FFFFFF"/>
                    </a:solidFill>
                  </a:tcPr>
                </a:tc>
              </a:tr>
              <a:tr h="569214">
                <a:tc>
                  <a:txBody>
                    <a:bodyPr wrap="square"/>
                    <a:lstStyle/>
                    <a:p>
                      <a:r>
                        <a:rPr sz="1100" b="0">
                          <a:solidFill>
                            <a:srgbClr val="4B4B4B"/>
                          </a:solidFill>
                          <a:latin typeface="Arial"/>
                        </a:rPr>
                        <a:t>16</a:t>
                      </a:r>
                    </a:p>
                  </a:txBody>
                  <a:tcPr marL="64008" marR="64008" marT="27432" marB="27432" anchor="ctr">
                    <a:solidFill>
                      <a:srgbClr val="E5F5FF"/>
                    </a:solidFill>
                  </a:tcPr>
                </a:tc>
                <a:tc>
                  <a:txBody>
                    <a:bodyPr wrap="square"/>
                    <a:lstStyle/>
                    <a:p>
                      <a:r>
                        <a:rPr sz="1100" b="1">
                          <a:solidFill>
                            <a:srgbClr val="4B4B4B"/>
                          </a:solidFill>
                          <a:latin typeface="Arial"/>
                        </a:rPr>
                        <a:t>RC-01</a:t>
                      </a:r>
                    </a:p>
                  </a:txBody>
                  <a:tcPr marL="64008" marR="64008" marT="27432" marB="27432" anchor="ctr">
                    <a:solidFill>
                      <a:srgbClr val="E5F5FF"/>
                    </a:solidFill>
                  </a:tcPr>
                </a:tc>
                <a:tc>
                  <a:txBody>
                    <a:bodyPr wrap="square"/>
                    <a:lstStyle/>
                    <a:p>
                      <a:r>
                        <a:rPr sz="1100" b="0">
                          <a:solidFill>
                            <a:srgbClr val="4B4B4B"/>
                          </a:solidFill>
                          <a:latin typeface="Arial"/>
                        </a:rPr>
                        <a:t>Reconciliation</a:t>
                      </a:r>
                    </a:p>
                  </a:txBody>
                  <a:tcPr marL="64008" marR="64008" marT="27432" marB="27432" anchor="ctr">
                    <a:solidFill>
                      <a:srgbClr val="E5F5FF"/>
                    </a:solidFill>
                  </a:tcPr>
                </a:tc>
                <a:tc>
                  <a:txBody>
                    <a:bodyPr wrap="square"/>
                    <a:lstStyle/>
                    <a:p>
                      <a:r>
                        <a:rPr sz="1100" b="0">
                          <a:solidFill>
                            <a:srgbClr val="4B4B4B"/>
                          </a:solidFill>
                          <a:latin typeface="Arial"/>
                        </a:rPr>
                        <a:t>Bank and insurer reconciliation detail</a:t>
                      </a:r>
                    </a:p>
                  </a:txBody>
                  <a:tcPr marL="64008" marR="64008" marT="27432" marB="27432" anchor="ctr">
                    <a:solidFill>
                      <a:srgbClr val="E5F5FF"/>
                    </a:solidFill>
                  </a:tcPr>
                </a:tc>
                <a:tc>
                  <a:txBody>
                    <a:bodyPr wrap="square"/>
                    <a:lstStyle/>
                    <a:p>
                      <a:r>
                        <a:rPr sz="1100" b="0">
                          <a:solidFill>
                            <a:srgbClr val="4B4B4B"/>
                          </a:solidFill>
                          <a:latin typeface="Arial"/>
                        </a:rPr>
                        <a:t>Floor walk</a:t>
                      </a:r>
                    </a:p>
                  </a:txBody>
                  <a:tcPr marL="64008" marR="64008" marT="27432" marB="27432" anchor="ctr">
                    <a:solidFill>
                      <a:srgbClr val="E5F5FF"/>
                    </a:solidFill>
                  </a:tcPr>
                </a:tc>
              </a:tr>
            </a:tbl>
          </a:graphicData>
        </a:graphic>
      </p:graphicFrame>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17. Open points for BDOI to confirm (3/3)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280160"/>
          <a:ext cx="11094412" cy="4919470"/>
        </p:xfrm>
        <a:graphic>
          <a:graphicData uri="http://schemas.openxmlformats.org/drawingml/2006/table">
            <a:tbl>
              <a:tblPr firstRow="1" bandRow="1">
                <a:tableStyleId>{5C22544A-7EE6-4342-B048-85BDC9FD1C3A}</a:tableStyleId>
              </a:tblPr>
              <a:tblGrid>
                <a:gridCol w="447355"/>
                <a:gridCol w="1073653"/>
                <a:gridCol w="1968363"/>
                <a:gridCol w="5726149"/>
                <a:gridCol w="1878892"/>
              </a:tblGrid>
              <a:tr h="365760">
                <a:tc>
                  <a:txBody>
                    <a:bodyPr wrap="square"/>
                    <a:lstStyle/>
                    <a:p>
                      <a:r>
                        <a:rPr sz="1100" b="1">
                          <a:solidFill>
                            <a:srgbClr val="FFFFFF"/>
                          </a:solidFill>
                          <a:latin typeface="Arial"/>
                        </a:rPr>
                        <a:t>#</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Area</a:t>
                      </a:r>
                    </a:p>
                  </a:txBody>
                  <a:tcPr marL="64008" marR="64008" marT="27432" marB="27432" anchor="ctr">
                    <a:solidFill>
                      <a:srgbClr val="004EA8"/>
                    </a:solidFill>
                  </a:tcPr>
                </a:tc>
                <a:tc>
                  <a:txBody>
                    <a:bodyPr wrap="square"/>
                    <a:lstStyle/>
                    <a:p>
                      <a:r>
                        <a:rPr sz="1100" b="1">
                          <a:solidFill>
                            <a:srgbClr val="FFFFFF"/>
                          </a:solidFill>
                          <a:latin typeface="Arial"/>
                        </a:rPr>
                        <a:t>Open point</a:t>
                      </a:r>
                    </a:p>
                  </a:txBody>
                  <a:tcPr marL="64008" marR="64008" marT="27432" marB="27432" anchor="ctr">
                    <a:solidFill>
                      <a:srgbClr val="004EA8"/>
                    </a:solidFill>
                  </a:tcPr>
                </a:tc>
                <a:tc>
                  <a:txBody>
                    <a:bodyPr wrap="square"/>
                    <a:lstStyle/>
                    <a:p>
                      <a:r>
                        <a:rPr sz="1100" b="1">
                          <a:solidFill>
                            <a:srgbClr val="FFFFFF"/>
                          </a:solidFill>
                          <a:latin typeface="Arial"/>
                        </a:rPr>
                        <a:t>Where it closes</a:t>
                      </a:r>
                    </a:p>
                  </a:txBody>
                  <a:tcPr marL="64008" marR="64008" marT="27432" marB="27432" anchor="ctr">
                    <a:solidFill>
                      <a:srgbClr val="004EA8"/>
                    </a:solidFill>
                  </a:tcPr>
                </a:tc>
              </a:tr>
              <a:tr h="650530">
                <a:tc>
                  <a:txBody>
                    <a:bodyPr wrap="square"/>
                    <a:lstStyle/>
                    <a:p>
                      <a:r>
                        <a:rPr sz="1100" b="0">
                          <a:solidFill>
                            <a:srgbClr val="4B4B4B"/>
                          </a:solidFill>
                          <a:latin typeface="Arial"/>
                        </a:rPr>
                        <a:t>17</a:t>
                      </a:r>
                    </a:p>
                  </a:txBody>
                  <a:tcPr marL="64008" marR="64008" marT="27432" marB="27432" anchor="ctr">
                    <a:solidFill>
                      <a:srgbClr val="FFFFFF"/>
                    </a:solidFill>
                  </a:tcPr>
                </a:tc>
                <a:tc>
                  <a:txBody>
                    <a:bodyPr wrap="square"/>
                    <a:lstStyle/>
                    <a:p>
                      <a:r>
                        <a:rPr sz="1100" b="1">
                          <a:solidFill>
                            <a:srgbClr val="4B4B4B"/>
                          </a:solidFill>
                          <a:latin typeface="Arial"/>
                        </a:rPr>
                        <a:t>CP-01</a:t>
                      </a:r>
                    </a:p>
                  </a:txBody>
                  <a:tcPr marL="64008" marR="64008" marT="27432" marB="27432" anchor="ctr">
                    <a:solidFill>
                      <a:srgbClr val="FFFFFF"/>
                    </a:solidFill>
                  </a:tcPr>
                </a:tc>
                <a:tc>
                  <a:txBody>
                    <a:bodyPr wrap="square"/>
                    <a:lstStyle/>
                    <a:p>
                      <a:r>
                        <a:rPr sz="1100" b="0">
                          <a:solidFill>
                            <a:srgbClr val="4B4B4B"/>
                          </a:solidFill>
                          <a:latin typeface="Arial"/>
                        </a:rPr>
                        <a:t>Compliance</a:t>
                      </a:r>
                    </a:p>
                  </a:txBody>
                  <a:tcPr marL="64008" marR="64008" marT="27432" marB="27432" anchor="ctr">
                    <a:solidFill>
                      <a:srgbClr val="FFFFFF"/>
                    </a:solidFill>
                  </a:tcPr>
                </a:tc>
                <a:tc>
                  <a:txBody>
                    <a:bodyPr wrap="square"/>
                    <a:lstStyle/>
                    <a:p>
                      <a:r>
                        <a:rPr sz="1100" b="0">
                          <a:solidFill>
                            <a:srgbClr val="4B4B4B"/>
                          </a:solidFill>
                          <a:latin typeface="Arial"/>
                        </a:rPr>
                        <a:t>E-signature requirement</a:t>
                      </a:r>
                    </a:p>
                  </a:txBody>
                  <a:tcPr marL="64008" marR="64008" marT="27432" marB="27432" anchor="ctr">
                    <a:solidFill>
                      <a:srgbClr val="FFFFFF"/>
                    </a:solidFill>
                  </a:tcPr>
                </a:tc>
                <a:tc>
                  <a:txBody>
                    <a:bodyPr wrap="square"/>
                    <a:lstStyle/>
                    <a:p>
                      <a:r>
                        <a:rPr sz="1100" b="0">
                          <a:solidFill>
                            <a:srgbClr val="4B4B4B"/>
                          </a:solidFill>
                          <a:latin typeface="Arial"/>
                        </a:rPr>
                        <a:t>Legal and Compliance</a:t>
                      </a:r>
                    </a:p>
                  </a:txBody>
                  <a:tcPr marL="64008" marR="64008" marT="27432" marB="27432" anchor="ctr">
                    <a:solidFill>
                      <a:srgbClr val="FFFFFF"/>
                    </a:solidFill>
                  </a:tcPr>
                </a:tc>
              </a:tr>
              <a:tr h="650530">
                <a:tc>
                  <a:txBody>
                    <a:bodyPr wrap="square"/>
                    <a:lstStyle/>
                    <a:p>
                      <a:r>
                        <a:rPr sz="1100" b="0">
                          <a:solidFill>
                            <a:srgbClr val="4B4B4B"/>
                          </a:solidFill>
                          <a:latin typeface="Arial"/>
                        </a:rPr>
                        <a:t>18</a:t>
                      </a:r>
                    </a:p>
                  </a:txBody>
                  <a:tcPr marL="64008" marR="64008" marT="27432" marB="27432" anchor="ctr">
                    <a:solidFill>
                      <a:srgbClr val="E5F5FF"/>
                    </a:solidFill>
                  </a:tcPr>
                </a:tc>
                <a:tc>
                  <a:txBody>
                    <a:bodyPr wrap="square"/>
                    <a:lstStyle/>
                    <a:p>
                      <a:r>
                        <a:rPr sz="1100" b="1">
                          <a:solidFill>
                            <a:srgbClr val="4B4B4B"/>
                          </a:solidFill>
                          <a:latin typeface="Arial"/>
                        </a:rPr>
                        <a:t>DCR-112</a:t>
                      </a:r>
                    </a:p>
                  </a:txBody>
                  <a:tcPr marL="64008" marR="64008" marT="27432" marB="27432" anchor="ctr">
                    <a:solidFill>
                      <a:srgbClr val="E5F5FF"/>
                    </a:solidFill>
                  </a:tcPr>
                </a:tc>
                <a:tc>
                  <a:txBody>
                    <a:bodyPr wrap="square"/>
                    <a:lstStyle/>
                    <a:p>
                      <a:r>
                        <a:rPr sz="1100" b="0">
                          <a:solidFill>
                            <a:srgbClr val="4B4B4B"/>
                          </a:solidFill>
                          <a:latin typeface="Arial"/>
                        </a:rPr>
                        <a:t>Compliance</a:t>
                      </a:r>
                    </a:p>
                  </a:txBody>
                  <a:tcPr marL="64008" marR="64008" marT="27432" marB="27432" anchor="ctr">
                    <a:solidFill>
                      <a:srgbClr val="E5F5FF"/>
                    </a:solidFill>
                  </a:tcPr>
                </a:tc>
                <a:tc>
                  <a:txBody>
                    <a:bodyPr wrap="square"/>
                    <a:lstStyle/>
                    <a:p>
                      <a:r>
                        <a:rPr sz="1100" b="0">
                          <a:solidFill>
                            <a:srgbClr val="4B4B4B"/>
                          </a:solidFill>
                          <a:latin typeface="Arial"/>
                        </a:rPr>
                        <a:t>Sanctions match: block or warn at quotation, placement, booking, renewal</a:t>
                      </a:r>
                    </a:p>
                  </a:txBody>
                  <a:tcPr marL="64008" marR="64008" marT="27432" marB="27432" anchor="ctr">
                    <a:solidFill>
                      <a:srgbClr val="E5F5FF"/>
                    </a:solidFill>
                  </a:tcPr>
                </a:tc>
                <a:tc>
                  <a:txBody>
                    <a:bodyPr wrap="square"/>
                    <a:lstStyle/>
                    <a:p>
                      <a:r>
                        <a:rPr sz="1100" b="0">
                          <a:solidFill>
                            <a:srgbClr val="4B4B4B"/>
                          </a:solidFill>
                          <a:latin typeface="Arial"/>
                        </a:rPr>
                        <a:t>Chief Compliance Officer</a:t>
                      </a:r>
                    </a:p>
                  </a:txBody>
                  <a:tcPr marL="64008" marR="64008" marT="27432" marB="27432" anchor="ctr">
                    <a:solidFill>
                      <a:srgbClr val="E5F5FF"/>
                    </a:solidFill>
                  </a:tcPr>
                </a:tc>
              </a:tr>
              <a:tr h="650530">
                <a:tc>
                  <a:txBody>
                    <a:bodyPr wrap="square"/>
                    <a:lstStyle/>
                    <a:p>
                      <a:r>
                        <a:rPr sz="1100" b="0">
                          <a:solidFill>
                            <a:srgbClr val="4B4B4B"/>
                          </a:solidFill>
                          <a:latin typeface="Arial"/>
                        </a:rPr>
                        <a:t>19</a:t>
                      </a:r>
                    </a:p>
                  </a:txBody>
                  <a:tcPr marL="64008" marR="64008" marT="27432" marB="27432" anchor="ctr">
                    <a:solidFill>
                      <a:srgbClr val="FFFFFF"/>
                    </a:solidFill>
                  </a:tcPr>
                </a:tc>
                <a:tc>
                  <a:txBody>
                    <a:bodyPr wrap="square"/>
                    <a:lstStyle/>
                    <a:p>
                      <a:r>
                        <a:rPr sz="1100" b="1">
                          <a:solidFill>
                            <a:srgbClr val="4B4B4B"/>
                          </a:solidFill>
                          <a:latin typeface="Arial"/>
                        </a:rPr>
                        <a:t>DCR-121</a:t>
                      </a:r>
                    </a:p>
                  </a:txBody>
                  <a:tcPr marL="64008" marR="64008" marT="27432" marB="27432" anchor="ctr">
                    <a:solidFill>
                      <a:srgbClr val="FFFFFF"/>
                    </a:solidFill>
                  </a:tcPr>
                </a:tc>
                <a:tc>
                  <a:txBody>
                    <a:bodyPr wrap="square"/>
                    <a:lstStyle/>
                    <a:p>
                      <a:r>
                        <a:rPr sz="1100" b="0">
                          <a:solidFill>
                            <a:srgbClr val="4B4B4B"/>
                          </a:solidFill>
                          <a:latin typeface="Arial"/>
                        </a:rPr>
                        <a:t>All</a:t>
                      </a:r>
                    </a:p>
                  </a:txBody>
                  <a:tcPr marL="64008" marR="64008" marT="27432" marB="27432" anchor="ctr">
                    <a:solidFill>
                      <a:srgbClr val="FFFFFF"/>
                    </a:solidFill>
                  </a:tcPr>
                </a:tc>
                <a:tc>
                  <a:txBody>
                    <a:bodyPr wrap="square"/>
                    <a:lstStyle/>
                    <a:p>
                      <a:r>
                        <a:rPr sz="1100" b="0">
                          <a:solidFill>
                            <a:srgbClr val="4B4B4B"/>
                          </a:solidFill>
                          <a:latin typeface="Arial"/>
                        </a:rPr>
                        <a:t>One access matrix for all modules</a:t>
                      </a:r>
                    </a:p>
                  </a:txBody>
                  <a:tcPr marL="64008" marR="64008" marT="27432" marB="27432" anchor="ctr">
                    <a:solidFill>
                      <a:srgbClr val="FFFFFF"/>
                    </a:solidFill>
                  </a:tcPr>
                </a:tc>
                <a:tc>
                  <a:txBody>
                    <a:bodyPr wrap="square"/>
                    <a:lstStyle/>
                    <a:p>
                      <a:r>
                        <a:rPr sz="1100" b="0">
                          <a:solidFill>
                            <a:srgbClr val="4B4B4B"/>
                          </a:solidFill>
                          <a:latin typeface="Arial"/>
                        </a:rPr>
                        <a:t>Product Owner and BRD owners</a:t>
                      </a:r>
                    </a:p>
                  </a:txBody>
                  <a:tcPr marL="64008" marR="64008" marT="27432" marB="27432" anchor="ctr">
                    <a:solidFill>
                      <a:srgbClr val="FFFFFF"/>
                    </a:solidFill>
                  </a:tcPr>
                </a:tc>
              </a:tr>
              <a:tr h="650530">
                <a:tc>
                  <a:txBody>
                    <a:bodyPr wrap="square"/>
                    <a:lstStyle/>
                    <a:p>
                      <a:r>
                        <a:rPr sz="1100" b="0">
                          <a:solidFill>
                            <a:srgbClr val="4B4B4B"/>
                          </a:solidFill>
                          <a:latin typeface="Arial"/>
                        </a:rPr>
                        <a:t>20</a:t>
                      </a:r>
                    </a:p>
                  </a:txBody>
                  <a:tcPr marL="64008" marR="64008" marT="27432" marB="27432" anchor="ctr">
                    <a:solidFill>
                      <a:srgbClr val="E5F5FF"/>
                    </a:solidFill>
                  </a:tcPr>
                </a:tc>
                <a:tc>
                  <a:txBody>
                    <a:bodyPr wrap="square"/>
                    <a:lstStyle/>
                    <a:p>
                      <a:r>
                        <a:rPr sz="1100" b="1">
                          <a:solidFill>
                            <a:srgbClr val="4B4B4B"/>
                          </a:solidFill>
                          <a:latin typeface="Arial"/>
                        </a:rPr>
                        <a:t>DCR-157</a:t>
                      </a:r>
                    </a:p>
                  </a:txBody>
                  <a:tcPr marL="64008" marR="64008" marT="27432" marB="27432" anchor="ctr">
                    <a:solidFill>
                      <a:srgbClr val="E5F5FF"/>
                    </a:solidFill>
                  </a:tcPr>
                </a:tc>
                <a:tc>
                  <a:txBody>
                    <a:bodyPr wrap="square"/>
                    <a:lstStyle/>
                    <a:p>
                      <a:r>
                        <a:rPr sz="1100" b="0">
                          <a:solidFill>
                            <a:srgbClr val="4B4B4B"/>
                          </a:solidFill>
                          <a:latin typeface="Arial"/>
                        </a:rPr>
                        <a:t>All</a:t>
                      </a:r>
                    </a:p>
                  </a:txBody>
                  <a:tcPr marL="64008" marR="64008" marT="27432" marB="27432" anchor="ctr">
                    <a:solidFill>
                      <a:srgbClr val="E5F5FF"/>
                    </a:solidFill>
                  </a:tcPr>
                </a:tc>
                <a:tc>
                  <a:txBody>
                    <a:bodyPr wrap="square"/>
                    <a:lstStyle/>
                    <a:p>
                      <a:r>
                        <a:rPr sz="1100" b="0">
                          <a:solidFill>
                            <a:srgbClr val="4B4B4B"/>
                          </a:solidFill>
                          <a:latin typeface="Arial"/>
                        </a:rPr>
                        <a:t>Go-live data migration scope per legacy source</a:t>
                      </a:r>
                    </a:p>
                  </a:txBody>
                  <a:tcPr marL="64008" marR="64008" marT="27432" marB="27432" anchor="ctr">
                    <a:solidFill>
                      <a:srgbClr val="E5F5FF"/>
                    </a:solidFill>
                  </a:tcPr>
                </a:tc>
                <a:tc>
                  <a:txBody>
                    <a:bodyPr wrap="square"/>
                    <a:lstStyle/>
                    <a:p>
                      <a:r>
                        <a:rPr sz="1100" b="0">
                          <a:solidFill>
                            <a:srgbClr val="4B4B4B"/>
                          </a:solidFill>
                          <a:latin typeface="Arial"/>
                        </a:rPr>
                        <a:t>All BRD owners</a:t>
                      </a:r>
                    </a:p>
                  </a:txBody>
                  <a:tcPr marL="64008" marR="64008" marT="27432" marB="27432" anchor="ctr">
                    <a:solidFill>
                      <a:srgbClr val="E5F5FF"/>
                    </a:solidFill>
                  </a:tcPr>
                </a:tc>
              </a:tr>
              <a:tr h="650530">
                <a:tc>
                  <a:txBody>
                    <a:bodyPr wrap="square"/>
                    <a:lstStyle/>
                    <a:p>
                      <a:r>
                        <a:rPr sz="1100" b="0">
                          <a:solidFill>
                            <a:srgbClr val="4B4B4B"/>
                          </a:solidFill>
                          <a:latin typeface="Arial"/>
                        </a:rPr>
                        <a:t>21</a:t>
                      </a:r>
                    </a:p>
                  </a:txBody>
                  <a:tcPr marL="64008" marR="64008" marT="27432" marB="27432" anchor="ctr">
                    <a:solidFill>
                      <a:srgbClr val="FFFFFF"/>
                    </a:solidFill>
                  </a:tcPr>
                </a:tc>
                <a:tc>
                  <a:txBody>
                    <a:bodyPr wrap="square"/>
                    <a:lstStyle/>
                    <a:p>
                      <a:r>
                        <a:rPr sz="1100" b="1">
                          <a:solidFill>
                            <a:srgbClr val="4B4B4B"/>
                          </a:solidFill>
                          <a:latin typeface="Arial"/>
                        </a:rPr>
                        <a:t>DCR-037</a:t>
                      </a:r>
                    </a:p>
                  </a:txBody>
                  <a:tcPr marL="64008" marR="64008" marT="27432" marB="27432" anchor="ctr">
                    <a:solidFill>
                      <a:srgbClr val="FFFFFF"/>
                    </a:solidFill>
                  </a:tcPr>
                </a:tc>
                <a:tc>
                  <a:txBody>
                    <a:bodyPr wrap="square"/>
                    <a:lstStyle/>
                    <a:p>
                      <a:r>
                        <a:rPr sz="1100" b="0">
                          <a:solidFill>
                            <a:srgbClr val="4B4B4B"/>
                          </a:solidFill>
                          <a:latin typeface="Arial"/>
                        </a:rPr>
                        <a:t>Operations, TSU</a:t>
                      </a:r>
                    </a:p>
                  </a:txBody>
                  <a:tcPr marL="64008" marR="64008" marT="27432" marB="27432" anchor="ctr">
                    <a:solidFill>
                      <a:srgbClr val="FFFFFF"/>
                    </a:solidFill>
                  </a:tcPr>
                </a:tc>
                <a:tc>
                  <a:txBody>
                    <a:bodyPr wrap="square"/>
                    <a:lstStyle/>
                    <a:p>
                      <a:r>
                        <a:rPr sz="1100" b="0">
                          <a:solidFill>
                            <a:srgbClr val="4B4B4B"/>
                          </a:solidFill>
                          <a:latin typeface="Arial"/>
                        </a:rPr>
                        <a:t>Incentive programmes (CPC2, excess commission) with rate, base and payer</a:t>
                      </a:r>
                    </a:p>
                  </a:txBody>
                  <a:tcPr marL="64008" marR="64008" marT="27432" marB="27432" anchor="ctr">
                    <a:solidFill>
                      <a:srgbClr val="FFFFFF"/>
                    </a:solidFill>
                  </a:tcPr>
                </a:tc>
                <a:tc>
                  <a:txBody>
                    <a:bodyPr wrap="square"/>
                    <a:lstStyle/>
                    <a:p>
                      <a:r>
                        <a:rPr sz="1100" b="0">
                          <a:solidFill>
                            <a:srgbClr val="4B4B4B"/>
                          </a:solidFill>
                          <a:latin typeface="Arial"/>
                        </a:rPr>
                        <a:t>Comptrollership, MBS</a:t>
                      </a:r>
                    </a:p>
                  </a:txBody>
                  <a:tcPr marL="64008" marR="64008" marT="27432" marB="27432" anchor="ctr">
                    <a:solidFill>
                      <a:srgbClr val="FFFFFF"/>
                    </a:solidFill>
                  </a:tcPr>
                </a:tc>
              </a:tr>
              <a:tr h="650530">
                <a:tc>
                  <a:txBody>
                    <a:bodyPr wrap="square"/>
                    <a:lstStyle/>
                    <a:p>
                      <a:r>
                        <a:rPr sz="1100" b="0">
                          <a:solidFill>
                            <a:srgbClr val="4B4B4B"/>
                          </a:solidFill>
                          <a:latin typeface="Arial"/>
                        </a:rPr>
                        <a:t>22</a:t>
                      </a:r>
                    </a:p>
                  </a:txBody>
                  <a:tcPr marL="64008" marR="64008" marT="27432" marB="27432" anchor="ctr">
                    <a:solidFill>
                      <a:srgbClr val="E5F5FF"/>
                    </a:solidFill>
                  </a:tcPr>
                </a:tc>
                <a:tc>
                  <a:txBody>
                    <a:bodyPr wrap="square"/>
                    <a:lstStyle/>
                    <a:p>
                      <a:r>
                        <a:rPr sz="1100" b="1">
                          <a:solidFill>
                            <a:srgbClr val="4B4B4B"/>
                          </a:solidFill>
                          <a:latin typeface="Arial"/>
                        </a:rPr>
                        <a:t>DCR-136</a:t>
                      </a:r>
                    </a:p>
                  </a:txBody>
                  <a:tcPr marL="64008" marR="64008" marT="27432" marB="27432" anchor="ctr">
                    <a:solidFill>
                      <a:srgbClr val="E5F5FF"/>
                    </a:solidFill>
                  </a:tcPr>
                </a:tc>
                <a:tc>
                  <a:txBody>
                    <a:bodyPr wrap="square"/>
                    <a:lstStyle/>
                    <a:p>
                      <a:r>
                        <a:rPr sz="1100" b="0">
                          <a:solidFill>
                            <a:srgbClr val="4B4B4B"/>
                          </a:solidFill>
                          <a:latin typeface="Arial"/>
                        </a:rPr>
                        <a:t>All</a:t>
                      </a:r>
                    </a:p>
                  </a:txBody>
                  <a:tcPr marL="64008" marR="64008" marT="27432" marB="27432" anchor="ctr">
                    <a:solidFill>
                      <a:srgbClr val="E5F5FF"/>
                    </a:solidFill>
                  </a:tcPr>
                </a:tc>
                <a:tc>
                  <a:txBody>
                    <a:bodyPr wrap="square"/>
                    <a:lstStyle/>
                    <a:p>
                      <a:r>
                        <a:rPr sz="1100" b="0">
                          <a:solidFill>
                            <a:srgbClr val="4B4B4B"/>
                          </a:solidFill>
                          <a:latin typeface="Arial"/>
                        </a:rPr>
                        <a:t>One retention schedule per record type</a:t>
                      </a:r>
                    </a:p>
                  </a:txBody>
                  <a:tcPr marL="64008" marR="64008" marT="27432" marB="27432" anchor="ctr">
                    <a:solidFill>
                      <a:srgbClr val="E5F5FF"/>
                    </a:solidFill>
                  </a:tcPr>
                </a:tc>
                <a:tc>
                  <a:txBody>
                    <a:bodyPr wrap="square"/>
                    <a:lstStyle/>
                    <a:p>
                      <a:r>
                        <a:rPr sz="1100" b="0">
                          <a:solidFill>
                            <a:srgbClr val="4B4B4B"/>
                          </a:solidFill>
                          <a:latin typeface="Arial"/>
                        </a:rPr>
                        <a:t>Compliance, Comptrollership</a:t>
                      </a:r>
                    </a:p>
                  </a:txBody>
                  <a:tcPr marL="64008" marR="64008" marT="27432" marB="27432" anchor="ctr">
                    <a:solidFill>
                      <a:srgbClr val="E5F5FF"/>
                    </a:solidFill>
                  </a:tcPr>
                </a:tc>
              </a:tr>
              <a:tr h="650530">
                <a:tc>
                  <a:txBody>
                    <a:bodyPr wrap="square"/>
                    <a:lstStyle/>
                    <a:p>
                      <a:r>
                        <a:rPr sz="1100" b="0">
                          <a:solidFill>
                            <a:srgbClr val="4B4B4B"/>
                          </a:solidFill>
                          <a:latin typeface="Arial"/>
                        </a:rPr>
                        <a:t>23</a:t>
                      </a:r>
                    </a:p>
                  </a:txBody>
                  <a:tcPr marL="64008" marR="64008" marT="27432" marB="27432" anchor="ctr">
                    <a:solidFill>
                      <a:srgbClr val="FFFFFF"/>
                    </a:solidFill>
                  </a:tcPr>
                </a:tc>
                <a:tc>
                  <a:txBody>
                    <a:bodyPr wrap="square"/>
                    <a:lstStyle/>
                    <a:p>
                      <a:r>
                        <a:rPr sz="1100" b="1">
                          <a:solidFill>
                            <a:srgbClr val="4B4B4B"/>
                          </a:solidFill>
                          <a:latin typeface="Arial"/>
                        </a:rPr>
                        <a:t>DCR-210</a:t>
                      </a:r>
                    </a:p>
                  </a:txBody>
                  <a:tcPr marL="64008" marR="64008" marT="27432" marB="27432" anchor="ctr">
                    <a:solidFill>
                      <a:srgbClr val="FFFFFF"/>
                    </a:solidFill>
                  </a:tcPr>
                </a:tc>
                <a:tc>
                  <a:txBody>
                    <a:bodyPr wrap="square"/>
                    <a:lstStyle/>
                    <a:p>
                      <a:r>
                        <a:rPr sz="1100" b="0">
                          <a:solidFill>
                            <a:srgbClr val="4B4B4B"/>
                          </a:solidFill>
                          <a:latin typeface="Arial"/>
                        </a:rPr>
                        <a:t>Reinsurance</a:t>
                      </a:r>
                    </a:p>
                  </a:txBody>
                  <a:tcPr marL="64008" marR="64008" marT="27432" marB="27432" anchor="ctr">
                    <a:solidFill>
                      <a:srgbClr val="FFFFFF"/>
                    </a:solidFill>
                  </a:tcPr>
                </a:tc>
                <a:tc>
                  <a:txBody>
                    <a:bodyPr wrap="square"/>
                    <a:lstStyle/>
                    <a:p>
                      <a:r>
                        <a:rPr sz="1100" b="0">
                          <a:solidFill>
                            <a:srgbClr val="4B4B4B"/>
                          </a:solidFill>
                          <a:latin typeface="Arial"/>
                        </a:rPr>
                        <a:t>Reinsurance transactions Remittance handles in Drop 1</a:t>
                      </a:r>
                    </a:p>
                  </a:txBody>
                  <a:tcPr marL="64008" marR="64008" marT="27432" marB="27432" anchor="ctr">
                    <a:solidFill>
                      <a:srgbClr val="FFFFFF"/>
                    </a:solidFill>
                  </a:tcPr>
                </a:tc>
                <a:tc>
                  <a:txBody>
                    <a:bodyPr wrap="square"/>
                    <a:lstStyle/>
                    <a:p>
                      <a:r>
                        <a:rPr sz="1100" b="0">
                          <a:solidFill>
                            <a:srgbClr val="4B4B4B"/>
                          </a:solidFill>
                          <a:latin typeface="Arial"/>
                        </a:rPr>
                        <a:t>RI, Operations</a:t>
                      </a:r>
                    </a:p>
                  </a:txBody>
                  <a:tcPr marL="64008" marR="64008" marT="27432" marB="27432" anchor="ctr">
                    <a:solidFill>
                      <a:srgbClr val="FFFF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What we ask of BDOI</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Business Process Reverse KT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Each department confirms or corrects its chapter: As-Is swimlanes, pain points, rules and values (by 9-Oct-2026)</a:t>
            </a:r>
          </a:p>
          <a:p>
            <a:pPr>
              <a:spcAft>
                <a:spcPts val="600"/>
              </a:spcAft>
            </a:pPr>
            <a:r>
              <a:rPr sz="1800">
                <a:solidFill>
                  <a:srgbClr val="004EA8"/>
                </a:solidFill>
                <a:latin typeface="Arial"/>
              </a:rPr>
              <a:t>•  </a:t>
            </a:r>
            <a:r>
              <a:rPr sz="1800">
                <a:solidFill>
                  <a:srgbClr val="4B4B4B"/>
                </a:solidFill>
                <a:latin typeface="Arial"/>
              </a:rPr>
              <a:t>Decide the 23 open points, starting with the credit policy, the direct-pay rule, e-signature and the one reference</a:t>
            </a:r>
          </a:p>
          <a:p>
            <a:pPr>
              <a:spcAft>
                <a:spcPts val="600"/>
              </a:spcAft>
            </a:pPr>
            <a:r>
              <a:rPr sz="1800">
                <a:solidFill>
                  <a:srgbClr val="004EA8"/>
                </a:solidFill>
                <a:latin typeface="Arial"/>
              </a:rPr>
              <a:t>•  </a:t>
            </a:r>
            <a:r>
              <a:rPr sz="1800">
                <a:solidFill>
                  <a:srgbClr val="4B4B4B"/>
                </a:solidFill>
                <a:latin typeface="Arial"/>
              </a:rPr>
              <a:t>Choose the best practices BDOI wants on the roadmap (H0 to H3)</a:t>
            </a:r>
          </a:p>
          <a:p>
            <a:pPr>
              <a:spcAft>
                <a:spcPts val="600"/>
              </a:spcAft>
            </a:pPr>
            <a:r>
              <a:rPr sz="1800">
                <a:solidFill>
                  <a:srgbClr val="004EA8"/>
                </a:solidFill>
                <a:latin typeface="Arial"/>
              </a:rPr>
              <a:t>•  </a:t>
            </a:r>
            <a:r>
              <a:rPr sz="1800">
                <a:solidFill>
                  <a:srgbClr val="4B4B4B"/>
                </a:solidFill>
                <a:latin typeface="Arial"/>
              </a:rPr>
              <a:t>Name the data owners and stewards per migration object; start the clean-up at source</a:t>
            </a:r>
          </a:p>
          <a:p>
            <a:pPr>
              <a:spcAft>
                <a:spcPts val="600"/>
              </a:spcAft>
            </a:pPr>
            <a:r>
              <a:rPr sz="1800">
                <a:solidFill>
                  <a:srgbClr val="004EA8"/>
                </a:solidFill>
                <a:latin typeface="Arial"/>
              </a:rPr>
              <a:t>•  </a:t>
            </a:r>
            <a:r>
              <a:rPr sz="1800">
                <a:solidFill>
                  <a:srgbClr val="4B4B4B"/>
                </a:solidFill>
                <a:latin typeface="Arial"/>
              </a:rPr>
              <a:t>BDO IT: specifications for the insurer, bank, government and enterprise interfaces by 31-Jan-2027</a:t>
            </a:r>
          </a:p>
          <a:p>
            <a:pPr>
              <a:spcAft>
                <a:spcPts val="600"/>
              </a:spcAft>
            </a:pPr>
            <a:r>
              <a:rPr sz="1800">
                <a:solidFill>
                  <a:srgbClr val="004EA8"/>
                </a:solidFill>
                <a:latin typeface="Arial"/>
              </a:rPr>
              <a:t>•  </a:t>
            </a:r>
            <a:r>
              <a:rPr sz="1800">
                <a:solidFill>
                  <a:srgbClr val="4B4B4B"/>
                </a:solidFill>
                <a:latin typeface="Arial"/>
              </a:rPr>
              <a:t>Confirmed gaps enter the discrepancy register or become change requests; the FRS of each BRD follows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BDOI Business Process Reverse KT</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