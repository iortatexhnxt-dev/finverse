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Reverse knowledge transfer from the iorta TechNXT team to BDOI, based only on what we saw and heard: the Day 1 business overview of 21-Sep-2026, the floor walks of 22 and 23-Sep with the designated process owners, the discovery sessions of 23 to 25-Sep and our notes of them, and the business process flows BDOI shared. The deck plays back our understanding of how each department works today, where the users feel the pain, what they asked for, and the practices and roadmap we suggest. It deliberately leaves out the BRD review and build status; those are in the end-to-end deck (v2.0). Reinsurance, Sanction Screening and User Access are not in this edition because they were not part of the floor walk.</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purpose is validation: each department confirms or corrects the As-Is, the pain points and what we understood the business wants. Corrections go into our floor-walk notes.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messages of the floor walk; each is developed in the chapters.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sources: the Day 1 business overview BDOI presented on 21-Sep; the floor walks of 22 and 23-Sep with the designated process owners; the discovery sessions of 21, 23, 24 and 25-Sep and our notes of them; and the process flows BDOI shared (HL Process Overview pack).</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designated process owners of the floor-walk POC schedule and the discovery sessions.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0 is the enterprise view. Parts A to E follow the departments we walked; each chapter has the same slides: at a glance, what we heard, the As-Is swimlane(s), the pain points, what the business wants, and best practice. Part F covers data, integrations and shared needs; Part G the roadmap and the open points.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Refs: floor-walk notes carry the row number of our floor-walk notes workbook (OV-, NB-, PM-, CA-...); "Day 1 p.n" is a page of the BDOI Day 1 overview; "NB flow", "Renewal flow" and so on are the process flows BDOI shared.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department chapters, the enterprise view: BDOI at a glance, who does what, the broking lifecycle, the end-to-end flow today, the tools each area depends on, the reference problem, the hand-offs between departments, the business challenges BDOI named, and what the business asked for across departments.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is the insurance brokerage arm of BDO, serving retail and corporate customers across the full broking lifecycle (Day 1 p.6).</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BDOI functions as we met them on the floor (Day 1 p.4-8 and the floor-walk schedule), with the chapter of this deck that covers each.</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BDOI's own view of the lifecycle (Day 1 p.6), with the systems and owners we saw at each stage. Information, decisions and money move together; today each crosses several tools and e-mail.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half of BDOI's end-to-end flow. Marketing works the prospect and decides package or non-package; TSU sources non-package terms. The quotation is prepared in Excel templates, QPS or ISYS; after acceptance and payment the client is created in Broker, the account in ISYS and both are migrated to QPS by IT. Processing places with the insurer, handles returns and hold covers, receives the e-policy, delivers it through COG, the officer or the contact centre, and books and invoices in EBIX.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half. The client pays through bills payment, over the counter, CLPC, autopay or directly to the insurer; Cashiering applies the payment and monitors checks and PDCs; Collections follows unpaid premium with the AO. Every week Remittance prepares the settlement net of commission, Disbursement pays the insurer and FRBS books it; commission on direct payments is billed to the insurer; ACSL reconciles the insurer statements and adjusts the sub-ledger; FRBS closes the books. After booking three servicing paths start: adjustment or cancellation (with a refund), renewal from the expiring list 140 days ahead, and claims.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area works in its own mix of systems and files. New Business alone touches Excel templates, Broker, ISYS, QPS, EBIX, bank files and SFTP. Operations and Comptrollership run on EBIX with Excel, Teams and SharePoint around it; Collections uses ICS; the contact centre CLS and CC Nav. The yellow number on each area is the count of pain points in its chapter.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deal carries an ISYS invoice number (the client pays against it), a QPS reference, an EBIX reference and a payment reference; QPS holds all three. It was the most repeated friction on the floor: it slows every trace, forces manual receipts and VLOOKUPs, and it matters for the data migration.</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row is a hand-off we saw on the floor or in a BDOI process flow, where work waits, is re-keyed or is lost.</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challenge areas of the Day 1 overview (p.15), each with the evidence we saw on the floor.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To-Be as the business users voiced it on the floor, gathered from the "What the business wants" column of our notes.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renewal, submitted policies and employee benefits: the front office and its hand-off to Processing</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New Business turns a customer need into an issued, booked and delivered policy, and every other area reads the client, the account and the invoice it creates. The journey differs by segment and by product type: package products follow fixed terms, non-package risks go through TSU. On the floor one deal crossed five tools: Excel templates, Broker, ISYS, QPS and EBIX, with an IT migration between ISYS and QPS.</a:t>
            </a:r>
          </a:p>
          <a:p/>
          <a:p>
            <a:r>
              <a:t>Floor walk: 22-Sep-2026 (New Business 9-10 am; Placement and Booking 2-3:30 pm, 43F) and 25-Sep-2026; Rose Lique, Marla Apostol, Grace Tordesillas, Kin Ysaac Flores, Justine Malonzo, Jhosven Awa, Lyka Palomeno, Regina Matutina; Ramoncito Manalo, Cherry Ann Catayas, Jean Deam Dela Cruz, Cristina Labrador, Mae Anne B. Roque, John Ray Bellen, Rey Mark Magsael.</a:t>
            </a:r>
          </a:p>
          <a:p>
            <a:r>
              <a:t>Sources: New Business process flow (CBG Motor, CBG Fire, Non-CBG Corporate, Non-CBG Retail, Branches); BDOI Day 1 overview p.11 and p.18; Floor-walk notes NB-01 to NB-15, DC-01, TR-01, TR-02</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New Business sessions of 22 and 25-Sep. NB-01 has two versions from two sessions and is an open point.</a:t>
            </a:r>
          </a:p>
          <a:p>
            <a:r>
              <a:t>NB-01 Routing (Open point): Package goes quote to policy; non-package goes direct to policy issuance; some package products go straight to placement. On 25-Sep: the TSU step is for non-package only. Wants: Confirm routing per product type.</a:t>
            </a:r>
          </a:p>
          <a:p>
            <a:r>
              <a:t>NB-02 Premium confirmation (As-Is): Marketing shares the premium computation with the client; placement follows once the client confirms.</a:t>
            </a:r>
          </a:p>
          <a:p>
            <a:r>
              <a:t>NB-03 Quote validity (Business rule): A quote is valid 30 days for all products, retail and corporate. Wants: The system applies 30-day validity on every quote.</a:t>
            </a:r>
          </a:p>
          <a:p>
            <a:r>
              <a:t>NB-04 KYC, AMLA (Open point): Insurance declaration form and KYC done outside the system, for every new customer; then the AMLA check. Wants: Confirm whether KYC and AMLA come into the system.</a:t>
            </a:r>
          </a:p>
          <a:p>
            <a:r>
              <a:t>NB-05 Risk survey (Business rule): A risk survey is required above 500M. Wants: Confirm the basis (sum insured? PHP?).</a:t>
            </a:r>
          </a:p>
          <a:p>
            <a:r>
              <a:t>NB-06 Quote to insurer (As-Is): Non-life lines (Motor, Property, Marine): the quote request goes to the insurer with recommended terms.</a:t>
            </a:r>
          </a:p>
          <a:p>
            <a:r>
              <a:t>NB-07 SLA (User aspiration): Complex risk 7 days, normal risk 3 days. Wants: SLA tracking available.</a:t>
            </a:r>
          </a:p>
          <a:p>
            <a:r>
              <a:t>NB-08 TSU step (Business rule): Non-package: TSU before the quotation; after acceptance to the Placement team.</a:t>
            </a:r>
          </a:p>
          <a:p>
            <a:r>
              <a:t>NB-09 Package flow (Pain point): Client created in Broker, proposal in EBIX, then QPS for the package policy: one deal keyed in three systems.</a:t>
            </a:r>
          </a:p>
          <a:p>
            <a:r>
              <a:t>NB-10 TOR (As-Is): Terms of reference kept per product.</a:t>
            </a:r>
          </a:p>
          <a:p>
            <a:r>
              <a:t>NB-11 Pipeline (User aspiration): TSU outstanding items and risk profile in a pipeline report; sources are the bank and direct clients. Wants: Pipeline for Retail and Corporate accounts.</a:t>
            </a:r>
          </a:p>
          <a:p>
            <a:r>
              <a:t>NB-12 CBG quick quote (As-Is): CBG gives quick-quote details; allocation by branch or area and by region to the handler; placement once agreed.</a:t>
            </a:r>
          </a:p>
          <a:p>
            <a:r>
              <a:t>NB-13 CBG Motor (Business rule): CBG is Motor and package only, so TSU is not involved.</a:t>
            </a:r>
          </a:p>
          <a:p>
            <a:r>
              <a:t>NB-14 Non-CBG from the bank (Open point): The bank gives details and premium; the first year premium is free; the process stops when the COC is received from PGA. Wants: Commission on the free first year (Cashiering).</a:t>
            </a:r>
          </a:p>
          <a:p>
            <a:r>
              <a:t>NB-15 Kept for renewal (As-Is): Client code created and kept in Broker so it can be retrieved at renewal.</a:t>
            </a:r>
          </a:p>
          <a:p>
            <a:r>
              <a:t>DC-01 Documents (Business rule): Policy schedules follow insurer templates; no BDOI template for NB or endorsement; the renewal advice uses the BDOI template.</a:t>
            </a:r>
          </a:p>
          <a:p>
            <a:r>
              <a:t>TR-01, 02 Trade and Marine (As-Is): Clients import with bank trade loans; business from the bank is mostly Marine Open Policy declarations; accumulation to track by location.</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Requests reach the Marketing AO by e-mail: individual requests from bank AOs, branches, IBG or clients, and for CBG Fire a daily list of approved loans from CBG LAD. The AO builds the insurance report from HLS, CLAS and CTS and sanitises it by hand. Quotations are prepared in the IDF Excel templates (or ISYS for package accounts), saved as PDF and e-mailed; non-package risks go to TSU. There is no control on quote validity or SLA. Once the client accepts with proof of payment, KYC and the insurance declaration are done outside the system, the client is created in Broker and the account in ISYS. The Processing Officer then asks IT to migrate client and account from ISYS to QPS; when the migration fails the account is fixed and re-migrated, then pushed to the core system. Marketing submits the GRF / ARF and the TL reviews it.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Processing Officer sends the placement slip to each insurer by SFTP or, for insurers without SFTP, as a PDF by e-mail, and handles returns (revision, more documents, cancellation) with Marketing. Hold covers go by e-mail and the PDF is saved on the shared drive with the link in the e-mail. The insurer issues the e-policy. When SFTP works, IT updates the policy number in EBIX by batch and COG-OPRM sends the e-policy to the client; when the insurer is not on SFTP or the transfer falls out, the officer creates a text file for the policy-number update, IT runs an e-policy exception report, and Marketing fixes the fall-out and passes the e-policy to the BDOI contact centre to send. Placement and booking are done in ISYS or EBIX depending on who has access. For CBG Fire the AO prepares the billing file for CLPC and checks the CLPC masterlist to see whether billed accounts are paid. Status is kept in the NB masterlist in Excel.</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segment variants of the New Business process flow (confirmed by the CBG Motor, CBG Fire, Non-CBG Corporate, Non-CBG Retail and Branches process owners, Dec 2025 - Mar 2026) and of the 25-Sep session (NB-12 to NB-15).</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5 are on the request-to-account swimlane, 6 to 12 on the placement-to-booking swimlane.</a:t>
            </a:r>
          </a:p>
          <a:p>
            <a:r>
              <a:t>1. Requests and bank lists by hand: Requests arrive by e-mail; HLS, CLAS and CTS reports are sanitised by hand. (NB flow)</a:t>
            </a:r>
          </a:p>
          <a:p>
            <a:r>
              <a:t>2. Quotations in Excel templates: IDF templates filled, converted to PDF, shared by drive link. (NB flow)</a:t>
            </a:r>
          </a:p>
          <a:p>
            <a:r>
              <a:t>3. No validity or SLA control: 30-day validity and 7 / 3-day SLA are tracked by memory. (NB-03, NB-07)</a:t>
            </a:r>
          </a:p>
          <a:p>
            <a:r>
              <a:t>4. KYC outside the system: Insurance declaration form and KYC done on paper before the AMLA check. (NB-04)</a:t>
            </a:r>
          </a:p>
          <a:p>
            <a:r>
              <a:t>5. One deal keyed in three systems: Broker, then ISYS, then an IT migration to QPS with a fall-out loop. (NB-09; NB flow; OV-02)</a:t>
            </a:r>
          </a:p>
          <a:p>
            <a:r>
              <a:t>6. Placement per insurer by e-mail: Slips by SFTP only for enrolled insurers; the rest by e-mail. (NB flow; OV-01)</a:t>
            </a:r>
          </a:p>
          <a:p>
            <a:r>
              <a:t>7. Returns and hold covers by e-mail: Revisions, hold covers and PDFs travel by e-mail and shared drive. (NB flow)</a:t>
            </a:r>
          </a:p>
          <a:p>
            <a:r>
              <a:t>8. E-policy fall-outs: Text files, an IT exception report and a batch update of policy numbers. (NB flow)</a:t>
            </a:r>
          </a:p>
          <a:p>
            <a:r>
              <a:t>9. Three senders of the e-policy: COG-OPRM, the Processing Officer or the contact centre after a fall-out. (NB flow)</a:t>
            </a:r>
          </a:p>
          <a:p>
            <a:r>
              <a:t>10. Booking depends on access: Placement and booking done in ISYS or EBIX by whoever has access. (NB flow)</a:t>
            </a:r>
          </a:p>
          <a:p>
            <a:r>
              <a:t>11. CBG Fire billing by hand: CLPC billing file prepared and paid list checked manually. (NB flow)</a:t>
            </a:r>
          </a:p>
          <a:p>
            <a:r>
              <a:t>12. Pipeline and status in Excel: NB masterlist and status reports compiled by hand. (NB-11)</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users asked for, and the lever we suggest.</a:t>
            </a:r>
          </a:p>
          <a:p>
            <a:r>
              <a:t>1. Requests and bank lists by hand -&gt; Bank lists and e-mailed requests captured once, in bulk where the bank sends a list Lever: Bulk intake.</a:t>
            </a:r>
          </a:p>
          <a:p>
            <a:r>
              <a:t>2. Quotations in Excel templates -&gt; Quotations produced from one rated template, versioned and approved before sending Lever: Rating rules.</a:t>
            </a:r>
          </a:p>
          <a:p>
            <a:r>
              <a:t>3. No validity or SLA control -&gt; 30-day validity and the 7 / 3-day SLA tracked on every quote (NB-03, NB-07) Lever: SLA clocks.</a:t>
            </a:r>
          </a:p>
          <a:p>
            <a:r>
              <a:t>4. KYC outside the system -&gt; Decide whether KYC and AMLA move into the system (NB-04) Lever: To confirm.</a:t>
            </a:r>
          </a:p>
          <a:p>
            <a:r>
              <a:t>5. One deal keyed in three systems -&gt; One client and one account created once, used by placement, booking and renewal Lever: Key once.</a:t>
            </a:r>
          </a:p>
          <a:p>
            <a:r>
              <a:t>6. Placement per insurer by e-mail -&gt; One way of sending placement slips to every insurer, with a record of what was sent Lever: Insurer standard.</a:t>
            </a:r>
          </a:p>
          <a:p>
            <a:r>
              <a:t>7. Returns and hold covers by e-mail -&gt; Returns and hold covers tracked with the placement, documents stored with the account Lever: Document store.</a:t>
            </a:r>
          </a:p>
          <a:p>
            <a:r>
              <a:t>8. E-policy fall-outs -&gt; E-policy fall-outs visible in one queue with an owner, no text files Lever: Exception queue.</a:t>
            </a:r>
          </a:p>
          <a:p>
            <a:r>
              <a:t>9. Three senders of the e-policy -&gt; One team sends every e-policy Lever: One sender.</a:t>
            </a:r>
          </a:p>
          <a:p>
            <a:r>
              <a:t>10. Booking depends on access -&gt; Booking by role, not by who has access to which system Lever: Access by role.</a:t>
            </a:r>
          </a:p>
          <a:p>
            <a:r>
              <a:t>11. CBG Fire billing by hand -&gt; CLPC billing file produced and the paid list matched automatically Lever: Auto matching.</a:t>
            </a:r>
          </a:p>
          <a:p>
            <a:r>
              <a:t>12. Pipeline and status in Excel -&gt; Pipeline for Retail and Corporate, by source, without Excel (NB-11) Lever: Live dashboard.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Digital placement exchange. Placement, returns and e-policies exchanged through one standard channel (API or SFTP with a common layout). For BDOI: Agree a BDOI insurer data standard and on-board insurers in waves.</a:t>
            </a:r>
          </a:p>
          <a:p>
            <a:r>
              <a:t>Broker CRM and pipeline. Leads from bank referrals, funnel stages, hit ratio and cross-sell per client. For BDOI: Add lead source and funnel KPIs to the dashboard.</a:t>
            </a:r>
          </a:p>
          <a:p>
            <a:r>
              <a:t>E-policy ingestion with OCR. E-policies read, matched to the account and filed automatically; exceptions in a queue. For BDOI: Start with the top insurers by volume.</a:t>
            </a:r>
          </a:p>
          <a:p>
            <a:r>
              <a:t>Reuse of bank KYC. Client data and KYC reused from the bank CIF for bank-referred clients. For BDOI: Confirm with Compliance and BDO IT.</a:t>
            </a:r>
          </a:p>
          <a:p>
            <a:r>
              <a:t>Quote lifecycle control. Validity, auto-expiry, SLA clocks and reminders on every quote. For BDOI: Add validity and SLA values (NB-03, NB-07).</a:t>
            </a:r>
          </a:p>
          <a:p>
            <a:r>
              <a:t>Digital acceptance and payment link. Client accepts the proposal online with e-signature and pays by link. For BDOI: After go-live, with the e-signature decision (CP-01).</a:t>
            </a:r>
          </a:p>
          <a:p>
            <a:r>
              <a:t>Straight-through bank business. Bank loan files (HLS, LAD) become quotations and accounts in bulk without re-keying. For BDOI: Specify the HLS, CLAS and CTS feeds.</a:t>
            </a:r>
          </a:p>
          <a:p>
            <a:r>
              <a:t>Marine declarations portal. Declarations by portal or API with e-certificates and QR verification. For BDOI: Specify open covers first (TR-01).</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Renewal starts 140 days before expiry with the RMEL extract from EBIX. Handlers and Marketing decide whether and how each account renews in Excel, BDOI sends the renewal advice on its own template, accepted accounts go to the insurers and the renewal is booked like new business. Review and disposition in Excel was called a major pain point (RN-01).</a:t>
            </a:r>
          </a:p>
          <a:p/>
          <a:p>
            <a:r>
              <a:t>Floor walk: 22-Sep-2026 (Renewal Marketing 10-11 am, 43F; Renewal Processing 1:30-3 pm, 44F); Amara Cruz, Rose Lique, Joy Ilagan, Tina Fajardo, Grace Tordesillas, Kin Ysaac Flores, Criffson Rendon, Joyce Aritao, Ma. Christena Cezar, Cezssane Canarias, Jeramie Ramos; Angelo Alibuyog, Ces Remodo, Berna Corpuz, Norberto Fulo.</a:t>
            </a:r>
          </a:p>
          <a:p>
            <a:r>
              <a:t>Sources: Renewal process flow (CBG automated RMEL; Non-CBG; non-package and exceptions); BDOI Day 1 overview p.14; Floor-walk notes RN-01, RN-02, PM-04, DC-01</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Renewal Marketing and Processing floor walks (22-Sep).</a:t>
            </a:r>
          </a:p>
          <a:p>
            <a:r>
              <a:t>RN-01 Review and disposition (Pain point): Renewal review and dispositions are done in Excel; the renewal master expiry list is sent and the renewal advice goes to the client. Wants: Major pain point: move it into the system.</a:t>
            </a:r>
          </a:p>
          <a:p>
            <a:r>
              <a:t>RN-02 Pro-forma entries (User aspiration): Renewal accounting is not real time, so adjustments are made later for additional remittance or recovery. Wants: Pro-forma accounting entries for renewals.</a:t>
            </a:r>
          </a:p>
          <a:p>
            <a:r>
              <a:t>PM-04 Package switch (User aspiration): At renewal a policy can move from package to non-package or back. Wants: The system allows the switch at renewal.</a:t>
            </a:r>
          </a:p>
          <a:p>
            <a:r>
              <a:t>DC-01 Renewal advice template (Business rule): Policy schedules follow insurer templates; the renewal advice uses the BDOI template. Wants: RA generated from the BDOI template.</a:t>
            </a:r>
          </a:p>
          <a:p>
            <a:r>
              <a:t>Day 1 p.14 Servicing path (As-Is): Send the sanitised renewal master expiry list; generate the renewal advice letter and send it to the client.</a:t>
            </a:r>
          </a:p>
          <a:p>
            <a:r>
              <a:t>Renewal flow Notice days (Business rule): RMEL at -140 days; first notice at -70 days; final notice at -40 days (CBG) or -45 days (Non-CBG); CBG letters also by snail mail.</a:t>
            </a:r>
          </a:p>
          <a:p>
            <a:r>
              <a:t>Renewal flow Non-package and exceptions (As-Is): Accounts with no QPS set-up are booked directly in EBIX; Processing computes, prepares the dispositioned files and coordinates with the AO when the insurer does not approve.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IT extracts the RMEL from EBIX 140 days before the expiry month. For CBG the head-office sanitation handler tells the branch handlers; for Non-CBG the Marketing Admin TL tells Marketing Admin, who splits the file per segment for the Marketing TL, who passes it to the AO. The handlers identify the accounts for renewal, update the details and compute the premium in Excel; the AO gives a disposition and the TL reviews it by e-mail. The files are dropped in a folder for upload, and failed rows are corrected and re-uploaded. IT generates the RA text file into the ES-COG-OPRM folder; COG generates the RA letters at -70 and -40 or -45 days and sends them by e-mail and, for CBG, by snail mail. When the client accepts, the AO updates the account, Marketing Admin validates the payment and applies the changes, and Processing prepares the placement file in Excel and e-mails it to each insurer. The e-policy then follows the New Business path, and renewal accounting is adjusted after the fact.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paths of the Renewal process flow confirmed by the CBG Motor, CBG Fire, Non-CBG Corporate, Non-CBG Marketing and Branches owners.</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ten points are on the Renewal swimlane.</a:t>
            </a:r>
          </a:p>
          <a:p>
            <a:r>
              <a:t>1. IT extracts the expiring list: The RMEL is an IT extract from EBIX; business cannot run it. (Renewal flow)</a:t>
            </a:r>
          </a:p>
          <a:p>
            <a:r>
              <a:t>2. Many hand-offs before work starts: MA TL, MA, MTL and AO (or head-office and branch SHs) pass the file on. (Renewal flow)</a:t>
            </a:r>
          </a:p>
          <a:p>
            <a:r>
              <a:t>3. Sanitation in Excel: Handlers identify accounts, update details and compute premium in Excel. (Renewal flow)</a:t>
            </a:r>
          </a:p>
          <a:p>
            <a:r>
              <a:t>4. Disposition in Excel: AO dispositions in a spreadsheet, reviewed by e-mail. (RN-01)</a:t>
            </a:r>
          </a:p>
          <a:p>
            <a:r>
              <a:t>5. Upload and correction loop: Files dropped in a folder; failed rows found and re-worked. (Renewal flow)</a:t>
            </a:r>
          </a:p>
          <a:p>
            <a:r>
              <a:t>6. RA through text files and COG: IT text file, COG print; snail mail for CBG; notice days differ by segment. (Renewal flow; DC-01)</a:t>
            </a:r>
          </a:p>
          <a:p>
            <a:r>
              <a:t>7. Accepted renewals re-keyed: AO updates the account; payment and changes validated by hand. (Renewal flow)</a:t>
            </a:r>
          </a:p>
          <a:p>
            <a:r>
              <a:t>8. Insurer lists from Excel: Placement files prepared in Excel and e-mailed to each insurer. (Renewal flow)</a:t>
            </a:r>
          </a:p>
          <a:p>
            <a:r>
              <a:t>9. Accounting after the fact: No real-time renewal accounting; additional remittance or recovery adjusted later. (RN-02)</a:t>
            </a:r>
          </a:p>
          <a:p>
            <a:r>
              <a:t>10. E-policy fall-outs again: The e-policy leg repeats the New Business fall-out chain. (Renewal flow)</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users asked for, and the lever we suggest.</a:t>
            </a:r>
          </a:p>
          <a:p>
            <a:r>
              <a:t>1. IT extracts the expiring list -&gt; Expiring list available to the business without an IT extract Lever: Scheduled list.</a:t>
            </a:r>
          </a:p>
          <a:p>
            <a:r>
              <a:t>2. Many hand-offs before work starts -&gt; Work assigned straight to the handler or AO, not passed through four hands Lever: Assignment rules.</a:t>
            </a:r>
          </a:p>
          <a:p>
            <a:r>
              <a:t>3. Sanitation in Excel -&gt; Sanitation checks and premium computed by rule Lever: Rules.</a:t>
            </a:r>
          </a:p>
          <a:p>
            <a:r>
              <a:t>4. Disposition in Excel -&gt; Review and disposition out of Excel (RN-01) Lever: Online disposition.</a:t>
            </a:r>
          </a:p>
          <a:p>
            <a:r>
              <a:t>5. Upload and correction loop -&gt; No upload step, so no failed rows to re-work Lever: No file upload.</a:t>
            </a:r>
          </a:p>
          <a:p>
            <a:r>
              <a:t>6. RA through text files and COG -&gt; Renewal advice from the BDOI template (DC-01), by e-mail and print, per client preference Lever: Batch RA.</a:t>
            </a:r>
          </a:p>
          <a:p>
            <a:r>
              <a:t>7. Accepted renewals re-keyed -&gt; Acceptance carries the account straight to placement Lever: Key once.</a:t>
            </a:r>
          </a:p>
          <a:p>
            <a:r>
              <a:t>8. Insurer lists from Excel -&gt; Insurer lists produced per insurer, not built in Excel Lever: Insurer standard.</a:t>
            </a:r>
          </a:p>
          <a:p>
            <a:r>
              <a:t>9. Accounting after the fact -&gt; Pro-forma accounting entries for renewals (RN-02) Lever: Pro-forma.</a:t>
            </a:r>
          </a:p>
          <a:p>
            <a:r>
              <a:t>10. E-policy fall-outs again -&gt; Same e-policy exception queue as New Business Lever: Exception queue.</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Straight-through renewals. A decision matrix renews clean accounts automatically; people handle exceptions only. For BDOI: Agree the rules with Marketing so most CBG renewals pass untouched.</a:t>
            </a:r>
          </a:p>
          <a:p>
            <a:r>
              <a:t>Omnichannel renewal notices. E-mail, SMS, print and portal notices with delivery tracking. For BDOI: Add SMS and a print batch to the RA.</a:t>
            </a:r>
          </a:p>
          <a:p>
            <a:r>
              <a:t>Pay-to-renew link. The RA carries a payment link; payment is the acceptance. For BDOI: Add a payment reference and link to the RA template.</a:t>
            </a:r>
          </a:p>
          <a:p>
            <a:r>
              <a:t>Experience-based renewal pricing. Claims and payment history feed the renewal terms and insurer choice. For BDOI: Show loss experience at sanitation.</a:t>
            </a:r>
          </a:p>
          <a:p>
            <a:r>
              <a:t>Retention analytics. Lapse-risk scores, persistency and lost-business reasons per segment. For BDOI: Track reasons for non-renewal in the disposition list.</a:t>
            </a:r>
          </a:p>
          <a:p>
            <a:r>
              <a:t>Early renewal window. Terms agreed with insurers before the RMEL so RAs go out on day one. For BDOI: Negotiate renewal terms per package yearly with TSU.</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bank client (home loan, auto loan, leasing) buys insurance elsewhere and submits the policy to the bank, BDOI checks the cover, issues an IAAF to the bank unit, monitors the policy on a masterlist and tries to win the business at renewal. It is tracked outside any system today (SP-01), on masterlists on Drive H and SharePoint.</a:t>
            </a:r>
          </a:p>
          <a:p/>
          <a:p>
            <a:r>
              <a:t>Floor walk: Discovery 24-Sep-2026; process flow walked with Marketing (Submitted Policies); CBG and Non-CBG Marketing process owners (Submitted Policies).</a:t>
            </a:r>
          </a:p>
          <a:p>
            <a:r>
              <a:t>Sources: Submitted Policies process flow (5 pages: intake, handling fee, three renewal paths); Floor-walk note SP-01</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 of the 24-Sep session and the steps of the Submitted Policies process flow.</a:t>
            </a:r>
          </a:p>
          <a:p>
            <a:r>
              <a:t>SP-01 Leasing and mortgage (Pain point): Leasing and mortgage accounts are "submitted policies"; they are tracked manually, not in a system.</a:t>
            </a:r>
          </a:p>
          <a:p>
            <a:r>
              <a:t>SP flow p.1 Intake (As-Is): Policy details extracted from LFS and CIU and the daily HLS insurance report; documents from the Home Loan AO and IBG / Leasing; validated and consolidated in the Submitted Masterlist on Drive H within 30 days; IAAF (PDF) issued when there are findings.</a:t>
            </a:r>
          </a:p>
          <a:p>
            <a:r>
              <a:t>SP flow p.2 Handling fee (CBG Motor) (As-Is): UPP list on SharePoint filtered for handling-fee billing; NB TL assigns to the AO; disposition fed back by e-mail; client IDs saved in a shared folder.</a:t>
            </a:r>
          </a:p>
          <a:p>
            <a:r>
              <a:t>SP flow p.3 Renewal CBG Motor (As-Is): SPI list from Drive H mapped to NB and Renewal databases; matched with LAMD; FFY, BDO / SM employees and No Touch excluded; loan status updated; RA by snail mail at 90 days; NRNS list to COG and to AOs for call-outs.</a:t>
            </a:r>
          </a:p>
          <a:p>
            <a:r>
              <a:t>SP flow p.4 Renewal CBG Fire (Business rule): Assign an insurer different from the expiring one; proposal with a 30-day hold cover by e-mail; accepted within 3-5 days or re-assigned.</a:t>
            </a:r>
          </a:p>
          <a:p>
            <a:r>
              <a:t>SP flow p.5 Renewal Non-CBG Retail (As-Is): AO asks the insurer to quote on expiring terms, quotes the employee, prepares the ARF in ISYS; NRNS letter by e-mail if declined.</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Policy details are extracted from LFS and CIU and from the daily HLS insurance report, and policy documents come from the Home Loan AO and IBG / Leasing. The Submitted Handler validates, matches and consolidates them into the Submitted Masterlist on Drive H within 30 days, reviews the adequacy of the cover, has a checker validate it and issues an IAAF (PDF) by e-mail when there are findings. 150 days before expiry the masterlist goes to the Sanitation Handler, who matches it with LAMD, excludes free-first-year, BDO / SM employee and No Touch accounts, updates the loan status, computes the premium and asks an insurer for a 30-day hold cover by e-mail; if the insurer does not accept in 3-5 days the account is re-assigned. COG sends the RA and reminder letters by snail mail (CBG Motor at 90 days) and blasts the NRNS list; AOs call the clients. The handling fee for CBG Motor is worked from the UPP list on SharePoint.</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five pages of the Submitted Policies process flow.</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eight points are on the Submitted Policies swimlane.</a:t>
            </a:r>
          </a:p>
          <a:p>
            <a:r>
              <a:t>1. Policy details consolidated by hand: Extracts and documents from several bank units validated and merged manually. (SP flow p.1; SP-01)</a:t>
            </a:r>
          </a:p>
          <a:p>
            <a:r>
              <a:t>2. Masterlists on a shared drive: Masterlists per segment on Drive H; status monitored in them. (SP flow p.1, p.3)</a:t>
            </a:r>
          </a:p>
          <a:p>
            <a:r>
              <a:t>3. Review and IAAF by e-mail: Adequacy reviewed by hand; IAAF issued as a PDF by e-mail. (SP flow p.1)</a:t>
            </a:r>
          </a:p>
          <a:p>
            <a:r>
              <a:t>4. Timelines do not line up: Masterlist at 150 days, RMEL at 140, RA at 90 days. (SP flow p.3; Renewal flow)</a:t>
            </a:r>
          </a:p>
          <a:p>
            <a:r>
              <a:t>5. LAMD matching by hand: Exclusions and loan status updated manually. (SP flow p.3)</a:t>
            </a:r>
          </a:p>
          <a:p>
            <a:r>
              <a:t>6. Insurers chased by e-mail: Hold-cover requests; accept in 3-5 days or re-assign by hand. (SP flow p.4)</a:t>
            </a:r>
          </a:p>
          <a:p>
            <a:r>
              <a:t>7. Letters by snail mail: RA and reminders printed and mailed by COG; NRNS lists blasted. (SP flow p.3)</a:t>
            </a:r>
          </a:p>
          <a:p>
            <a:r>
              <a:t>8. Handling fee from a SharePoint list: UPP list filtered; AO disposition by e-mail. (SP flow p.2)</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needs, and the lever we suggest.</a:t>
            </a:r>
          </a:p>
          <a:p>
            <a:r>
              <a:t>1. Policy details consolidated by hand -&gt; Bank extracts and documents captured once, matched by rule Lever: Rules.</a:t>
            </a:r>
          </a:p>
          <a:p>
            <a:r>
              <a:t>2. Masterlists on a shared drive -&gt; One masterlist with history, no shared-drive copies Lever: One record.</a:t>
            </a:r>
          </a:p>
          <a:p>
            <a:r>
              <a:t>3. Review and IAAF by e-mail -&gt; Review, checker and IAAF in one flow, sent and logged Lever: Workflow.</a:t>
            </a:r>
          </a:p>
          <a:p>
            <a:r>
              <a:t>4. Timelines do not line up -&gt; One renewal timeline shared with Renewal Lever: One calendar.</a:t>
            </a:r>
          </a:p>
          <a:p>
            <a:r>
              <a:t>5. LAMD matching by hand -&gt; Loan status and exclusions applied by rule Lever: Rules.</a:t>
            </a:r>
          </a:p>
          <a:p>
            <a:r>
              <a:t>6. Insurers chased by e-mail -&gt; Hold-cover requests tracked with the 3-5 day clock Lever: SLA clock.</a:t>
            </a:r>
          </a:p>
          <a:p>
            <a:r>
              <a:t>7. Letters by snail mail -&gt; Letters by e-mail or a tracked print batch Lever: Print batch.</a:t>
            </a:r>
          </a:p>
          <a:p>
            <a:r>
              <a:t>8. Handling fee from a SharePoint list -&gt; Handling fee billed from the masterlist Lever: Billing rule.</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Live bank loan feeds. Loan, collateral and paid-off status received from the bank systems daily. For BDOI: Agree feeds for LFS, CIU, HLS and LAMD with BDO IT.</a:t>
            </a:r>
          </a:p>
          <a:p>
            <a:r>
              <a:t>Rule-based adequacy check. Sum insured against loan, mortgagee clause and expiry checked by rule on extracted data. For BDOI: Start with CBG Motor and Fire.</a:t>
            </a:r>
          </a:p>
          <a:p>
            <a:r>
              <a:t>Deficiency notices to the bank. Automatic notices and escalation to the bank unit when cover is short or lapsed. For BDOI: Use the IAAF as the notice, sent from the system.</a:t>
            </a:r>
          </a:p>
          <a:p>
            <a:r>
              <a:t>Conversion programme. Submitted policies targeted for conversion with offers at renewal, tracked per segment. For BDOI: Report conversion rate per segment.</a:t>
            </a:r>
          </a:p>
          <a:p>
            <a:r>
              <a:t>E-signature on IAAF. IAAF and terms of reference signed electronically. For BDOI: Decide with Legal and Compliance (CP-01).</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Employee Benefits places group life, HMO and accident programmes for corporate clients. It works like non-life business with more parties: client HR sends the master list, BDOI obtains the broker of record and the insurers' franchise, sends the terms of reference, compares the proposals and presents a recommendation; after the client confirms, Processing receives the employee details and places the programme. More than 50,000 members today.</a:t>
            </a:r>
          </a:p>
          <a:p/>
          <a:p>
            <a:r>
              <a:t>Floor walk: 23-Sep-2026, 9-10 am, 43F; discovery 21-Sep-2026; Marianne Alpapara, Jyneffer Liansing, Edwin Garcia.</a:t>
            </a:r>
          </a:p>
          <a:p>
            <a:r>
              <a:t>Sources: Employee Benefits process flow shared by BDOI (new business and renewal); Floor-walk notes EB-01 to EB-03</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EB floor walk (23-Sep).</a:t>
            </a:r>
          </a:p>
          <a:p>
            <a:r>
              <a:t>EB-01 Quote and placement (User aspiration): Like non-life: Marketing gets the master list from the customer (headcount only at quote stage), sends it to insurers and negotiates; Processing then gets the employee details and places. More than 50,000 members today. Wants: The system handles large member volumes (50K+).</a:t>
            </a:r>
          </a:p>
          <a:p>
            <a:r>
              <a:t>EB-02 EB claims (As-Is): Claims are validated by the provider; BDOI only captures the details from the provider.</a:t>
            </a:r>
          </a:p>
          <a:p>
            <a:r>
              <a:t>EB-03 Broker of record (Business rule): The broker of record is kept for corporate EB renewal.</a:t>
            </a:r>
          </a:p>
          <a:p>
            <a:r>
              <a:t>EB flow Renewal (As-Is): Renewal advice before expiry; BOR, master list, utilization and indicative proposal secured; indicative renewal from the incumbent; client feedback; comparative; approval above the internal threshold; placement after confirmation.</a:t>
            </a:r>
          </a:p>
          <a:p>
            <a:r>
              <a:t>EB flow New business (Business rule): New client tagged as prospect; BOR to insurers for franchise approval; TOR from existing benefits; TOR, master list and utilization released to the insurers with franchise; ISACOM approval if awarded to a non-accredited provider.</a:t>
            </a:r>
          </a:p>
          <a:p>
            <a:r>
              <a:t>EB flow Portals (User aspiration): Insurer portal for uploads and management; client portal for uploads and policy management. Wants: Portals for insurers and client HR.</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receives the master list from the client (headcount only at quote stage) and the broker of record, sends them to the insurers and negotiates; proposals come back by e-mail and the comparative is prepared by hand. After the client confirms, Processing gets the employee details and places the programme; member lists of more than 50,000 members travel as files. Above-threshold awards and awards to a non-accredited provider need management or ISACOM approval. EB claims are validated by the provider and BDOI captures the details.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are on the EB swimlane.</a:t>
            </a:r>
          </a:p>
          <a:p>
            <a:r>
              <a:t>1. Master lists and BOR by e-mail: Headcount lists and the broker of record travel by e-mail. (EB-01, EB-03)</a:t>
            </a:r>
          </a:p>
          <a:p>
            <a:r>
              <a:t>2. Proposals by e-mail: Insurers and HMOs send proposals and revisions by e-mail. (EB-01; EB flow)</a:t>
            </a:r>
          </a:p>
          <a:p>
            <a:r>
              <a:t>3. Comparative by hand: Premiums, benefits and provider capabilities compared manually. (EB flow)</a:t>
            </a:r>
          </a:p>
          <a:p>
            <a:r>
              <a:t>4. 50K+ members in files: Employee details for placement handled as spreadsheets. (EB-01)</a:t>
            </a:r>
          </a:p>
          <a:p>
            <a:r>
              <a:t>5. Claims captured from providers: Provider validates; BDOI re-captures the details. (EB-02)</a:t>
            </a:r>
          </a:p>
          <a:p>
            <a:r>
              <a:t>6. Approvals outside the system: Above-threshold and ISACOM approvals handled offline. (EB flow)</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needs; the next slide is BDOI's own EB flow.</a:t>
            </a:r>
          </a:p>
          <a:p>
            <a:r>
              <a:t>1. Master lists and BOR by e-mail -&gt; Master list, utilization and BOR uploaded once and kept per programme Lever: Upload.</a:t>
            </a:r>
          </a:p>
          <a:p>
            <a:r>
              <a:t>2. Proposals by e-mail -&gt; Insurers upload proposals themselves (insurer portal in BDOI's flow) Lever: Insurer portal.</a:t>
            </a:r>
          </a:p>
          <a:p>
            <a:r>
              <a:t>3. Comparative by hand -&gt; Comparative generated on premiums, benefits and capabilities Lever: Generated comparative.</a:t>
            </a:r>
          </a:p>
          <a:p>
            <a:r>
              <a:t>4. 50K+ members in files -&gt; The system handles 50K+ members (EB-01) Lever: Volume.</a:t>
            </a:r>
          </a:p>
          <a:p>
            <a:r>
              <a:t>5. Claims captured from providers -&gt; Provider claims captured per programme Lever: Claims capture.</a:t>
            </a:r>
          </a:p>
          <a:p>
            <a:r>
              <a:t>6. Approvals outside the system -&gt; Approval triggered by the internal threshold; ISACOM when needed Lever: Workflow.</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EB process flow BDOI shared. It describes how BDOI wants EB to run, so it is the business aspiration for this chapter.</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HR self-service census. Client HR uploads the census; the system checks duplicates, eligibility and changes. For BDOI: Start with an upload template and checks; portal later.</a:t>
            </a:r>
          </a:p>
          <a:p>
            <a:r>
              <a:t>Automatic member endorsements. Additions and deletions billed pro rata and reconciled to the insurer invoice. For BDOI: Start with the largest programmes.</a:t>
            </a:r>
          </a:p>
          <a:p>
            <a:r>
              <a:t>Utilization analytics. Claims and utilization per programme drive the renewal negotiation. For BDOI: Capture provider claims (EB-02).</a:t>
            </a:r>
          </a:p>
          <a:p>
            <a:r>
              <a:t>Digital member cards. HMO and life cards issued digitally to members. For BDOI: With the HMOs after go-live.</a:t>
            </a:r>
          </a:p>
          <a:p>
            <a:r>
              <a:t>Privacy by design. Masking, need-to-know access and retention for member data. For BDOI: Agree the rules with the Data Protection Officer.</a:t>
            </a:r>
          </a:p>
          <a:p>
            <a:r>
              <a:t>Provider scorecard. Insurer and HMO service levels, network and claims turnaround scored in the comparative. For BDOI: Add capability scores to the comparative.</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Package and non-package products and insurer terms</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TSU is the technical desk between Marketing and the insurers. Marketing decides whether a need is served by a package (fixed rates and conditions that BDOI designs and the insurer follows) or a non-package placement (terms per deal). TSU checks the request, assesses the risk, prepares the quotation slip, negotiates with insurers, builds the comparative and prepares the proposal and sign-off; MBS and IT set packages up. Product maintenance was named a key pain point (PM-01).</a:t>
            </a:r>
          </a:p>
          <a:p/>
          <a:p>
            <a:r>
              <a:t>Floor walk: 22-Sep-2026, 1-1:30 pm, 44F; discovery 21 and 25-Sep-2026; Cherry Ann Manalo, Joy Intia.</a:t>
            </a:r>
          </a:p>
          <a:p>
            <a:r>
              <a:t>Sources: Product Maintenance TSU process flow (package and non-package); BDOI Day 1 overview p.9 (data and reference maintenance); Floor-walk notes PM-01 to PM-04, NB-06, NB-08</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the Product Maintenance floor walk (22-Sep) and the 25-Sep session.</a:t>
            </a:r>
          </a:p>
          <a:p>
            <a:r>
              <a:t>PM-01 Package and non-package (User aspiration): Marketing decides package or non-package from the customer need; BDOI defines the product and the insurer follows. Wants: Product maintenance in the system for both package and non-package.</a:t>
            </a:r>
          </a:p>
          <a:p>
            <a:r>
              <a:t>PM-02 Design and rates (Business rule): Marketing gives the requirement; the product team designs and negotiates with the insurer, incl. incentives for packages; commission rate as agreed by Marketing. Wants: Package = fixed rates and conditions; non-package rates differ per deal.</a:t>
            </a:r>
          </a:p>
          <a:p>
            <a:r>
              <a:t>PM-03 Package set-up (Pain point): Packages are defined and maintained manually, starting from a customer-specific requirement of Marketing. Wants: Packages defined and maintained in the system.</a:t>
            </a:r>
          </a:p>
          <a:p>
            <a:r>
              <a:t>PM-04 Change at renewal (User aspiration): At renewal a policy can move from package to non-package or back. Wants: Allow the switch at renewal.</a:t>
            </a:r>
          </a:p>
          <a:p>
            <a:r>
              <a:t>NB-08 TSU step (Business rule): Non-package: the request goes to TSU before the quotation; once the customer accepts, to Placement.</a:t>
            </a:r>
          </a:p>
          <a:p>
            <a:r>
              <a:t>TSU flow Tracking and evidence (Pain point): Request encoded in an Excel monitoring file; acceptance evidence (signed slip, stamped slip or explicit e-mail) checked by hand; placement status tracker kept by hand; comparative table built manually in Excel.</a:t>
            </a:r>
          </a:p>
          <a:p>
            <a:r>
              <a:t>TSU flow Reinsurance loop (As-Is): Large sum insured, special risks or non-standard cover go to the Reinsurance team; RI comments come back to Marketing, who revises terms or closes the request.</a:t>
            </a:r>
          </a:p>
          <a:p>
            <a:r>
              <a:t>TSU flow Set-up dependency (Pain point): Package creation needs a maintenance request to MBS / IT; screenshots kept as evidence; TSU validates rates and conditions; release advisory to Marketing, Operations and TSU.</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sends the PRF (package) or TSU request form (non-package) by e-mail; TSU checks completeness, returns incomplete requests and logs the request in an Excel monitoring file. TSU reviews the risk, prepares the quotation slip for the TL's approval (large or special risks go to Reinsurance), sends it to insurers, follows up and escalates after the SLA, and records accepted, declined or conditional answers, checking the acceptance evidence by hand. The comparative is built in Excel; the sign-off sheet goes to ManCom (package) or the TL / Head (non-package) on paper; the proposal goes to Marketing and the client. Packages are then set up through a maintenance request to MBS / IT, with screenshots as evidence, and released with an advisory.</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steps of the Product Maintenance TSU process flow (09-Jul).</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are on the TSU swimlane.</a:t>
            </a:r>
          </a:p>
          <a:p>
            <a:r>
              <a:t>1. Requests by e-mail: PRF and TSU request forms arrive by e-mail; incomplete ones go back. (TSU flow)</a:t>
            </a:r>
          </a:p>
          <a:p>
            <a:r>
              <a:t>2. Tracker in Excel: Every request is encoded in an Excel monitoring file. (TSU flow)</a:t>
            </a:r>
          </a:p>
          <a:p>
            <a:r>
              <a:t>3. Insurers chased by e-mail: Slips, follow-ups and escalations by e-mail per insurer. (TSU flow)</a:t>
            </a:r>
          </a:p>
          <a:p>
            <a:r>
              <a:t>4. Evidence and status by hand: Signed or stamped slips checked by hand; status tracker kept manually. (TSU flow)</a:t>
            </a:r>
          </a:p>
          <a:p>
            <a:r>
              <a:t>5. Comparative in Excel: Premium, cover, conditions and exclusions compiled manually. (TSU flow)</a:t>
            </a:r>
          </a:p>
          <a:p>
            <a:r>
              <a:t>6. Paper sign-off: ManCom and TL / Head sign the sign-off sheet on paper. (TSU flow)</a:t>
            </a:r>
          </a:p>
          <a:p>
            <a:r>
              <a:t>7. Set-up depends on MBS and IT: Packages defined and maintained manually through IT requests. (PM-03; TSU flow)</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users asked for, and the lever we suggest.</a:t>
            </a:r>
          </a:p>
          <a:p>
            <a:r>
              <a:t>1. Requests by e-mail -&gt; Requests raised in the system with the required fields checked Lever: Workflow.</a:t>
            </a:r>
          </a:p>
          <a:p>
            <a:r>
              <a:t>2. Tracker in Excel -&gt; Request tracker kept by the system Lever: No Excel.</a:t>
            </a:r>
          </a:p>
          <a:p>
            <a:r>
              <a:t>3. Insurers chased by e-mail -&gt; Slips sent and answers recorded per insurer, with SLA escalation Lever: SLA clock.</a:t>
            </a:r>
          </a:p>
          <a:p>
            <a:r>
              <a:t>4. Evidence and status by hand -&gt; Acceptance evidence attached before placement Lever: Evidence gate.</a:t>
            </a:r>
          </a:p>
          <a:p>
            <a:r>
              <a:t>5. Comparative in Excel -&gt; Comparative built from the recorded answers Lever: Generated comparative.</a:t>
            </a:r>
          </a:p>
          <a:p>
            <a:r>
              <a:t>6. Paper sign-off -&gt; Sign-off in the workflow Lever: E-sign-off.</a:t>
            </a:r>
          </a:p>
          <a:p>
            <a:r>
              <a:t>7. Set-up depends on MBS and IT -&gt; Package and non-package products maintained in the system (PM-01, PM-03); switch at renewal (PM-04) Lever: Product catalogue.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Business-maintained rating rules. Rates, factors and formulas maintained by TSU with approval and versions, without IT. For BDOI: A rules screen with test premiums before release.</a:t>
            </a:r>
          </a:p>
          <a:p>
            <a:r>
              <a:t>Insurer appetite and capacity register. Per insurer: lines, limits, appetite, accreditation, commission, remittance terms. For BDOI: Build on the insurer records of Day 1 p.9.</a:t>
            </a:r>
          </a:p>
          <a:p>
            <a:r>
              <a:t>Test premiums before release. Automatic test cases run on every package before it goes live. For BDOI: Turn the set-up validation into test cases.</a:t>
            </a:r>
          </a:p>
          <a:p>
            <a:r>
              <a:t>Package performance analytics. Take-up, loss ratio and retention per package reviewed yearly. For BDOI: Report per package from booking and claims data.</a:t>
            </a:r>
          </a:p>
          <a:p>
            <a:r>
              <a:t>E-sign-off. ManCom sign-off and slips signed electronically. For BDOI: With the e-signature decision (CP-01).</a:t>
            </a:r>
          </a:p>
          <a:p>
            <a:r>
              <a:t>One product catalogue. Package and non-package products, terms of reference and documents in one catalogue. For BDOI: Cover both product types (PM-01).</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money after booking: cashiering, remittance, adjustments, commission, reconciliation, collections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Operations takes over every booked invoice and follows its money until the insurer is paid and every difference is closed. BDOI collects premium for about 55 insurers and remits it net of commission. Seven sub-processes run side by side. The floor walk gave the volumes: 20-30 thousand production lines per insurer a month and bulk payment files of about 2,000 records.</a:t>
            </a:r>
          </a:p>
          <a:p/>
          <a:p>
            <a:r>
              <a:t>Floor walk: 23-Sep-2026, 1:00-5:00 pm, 44F; discovery 21 and 23-Sep-2026; Perjelyn Joy Gutierrez, Shirley Catapang, Ronna Marie Go, Aimee Medina, Renque Galos, Carolyn Pasia Baloto, Joy Ebuenga, Mark Andrew Francisco.</a:t>
            </a:r>
          </a:p>
          <a:p>
            <a:r>
              <a:t>Sources: Operations process flow (Cashiering, Remittance, Adjustment, Commission receivables, Production recon, DPPR / PR2307 reversal, Invoicing); BDOI Day 1 overview p.20-25; Floor-walk notes CA-01 to CA-05, CM-01 to CM-03, IC-01, IC-02, EN-01, EN-02, OV-03</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notes of the discovery sessions (21 and 23-Sep) and of the Operations floor walk (23-Sep). Joy was the single point of contact for the Cashiering items.</a:t>
            </a:r>
          </a:p>
          <a:p>
            <a:r>
              <a:t>OV-03 Three references (Pain point): One transaction carries three numbers: ISYS invoice no., QPS reference and EBIX reference, plus the payment reference. QPS holds all three. Wants: One reference across the lifecycle (to confirm).</a:t>
            </a:r>
          </a:p>
          <a:p>
            <a:r>
              <a:t>CA-01 Receipts (Pain point): The client pays against the ISYS invoice number; QPS has the insurer reference and EBIX its own. Receipts are created by hand. Wants: Receipts generated by the system.</a:t>
            </a:r>
          </a:p>
          <a:p>
            <a:r>
              <a:t>CA-02 Threshold account (Business rule): Amounts below PHP 0.99 go to a separate adjustment (threshold) account, e.g. the .99 of 8,787.99. Wants: Threshold and variance handling configurable.</a:t>
            </a:r>
          </a:p>
          <a:p>
            <a:r>
              <a:t>CA-03 Direct pay (Pain point): A direct-pay policy is tagged, so only commission entries exist. If the insured still pays BDOI, no accounting entry is created. Wants: A solution, e.g. allow the direct-pay tag to be changed.</a:t>
            </a:r>
          </a:p>
          <a:p>
            <a:r>
              <a:t>CA-04 Receipt types (Business rule): Two receipts: AR to the client for premium, OR to the insurer for commission. Wants: Both AR and OR generated from the system.</a:t>
            </a:r>
          </a:p>
          <a:p>
            <a:r>
              <a:t>CA-05 Bulk payment (As-Is): Bulk payment files of about 2,000 records. Wants: Walk through bulk payment on the floor (open point).</a:t>
            </a:r>
          </a:p>
          <a:p>
            <a:r>
              <a:t>Day 1 p.20 Payment files (As-Is): Bills Payment, CLPC, PMS, Trade, Direct Credit and FS04 files; 4-day check hold, bounced-check list, QPS / EBIX reference and zero-PR checks; exact, excess or actual-payment files; Autopay; unapplied report.</a:t>
            </a:r>
          </a:p>
          <a:p>
            <a:r>
              <a:t>Day 1 p.21 Remittance (As-Is): Weekly EBIX extract of applied payments (Monday to Friday); DPPR reversal, endorsement / knock-off and invalid accounts removed; settlement approved on an MS Teams list; signed copy kept for audit; Disbursement posts.</a:t>
            </a:r>
          </a:p>
          <a:p>
            <a:r>
              <a:t>EN-01 Endorsement (User aspiration): Marketing e-mails the request with documents; Operations validates, keys it in the EBIX endorsement module; TL / TH checker-poster; posting one by one; entries flow to Comptrollership. Wants: Endorsement computes the premium from the adjustment, like New Business, not just captures it.</a:t>
            </a:r>
          </a:p>
          <a:p>
            <a:r>
              <a:t>EN-02 Cancellation (Open point): Cancellation with refund of premium including applicable tax. Wants: Tax treatment on refund to confirm.</a:t>
            </a:r>
          </a:p>
          <a:p>
            <a:r>
              <a:t>CM-01 Commission trigger (Business rule): Commission is confirmed from premium collected (Collections) and only after the full premium is collected, also for instalment and multi-year policies.</a:t>
            </a:r>
          </a:p>
          <a:p>
            <a:r>
              <a:t>CM-02 Co-insurance (Business rule): Co-insurance: commission can be processed when one insurer has paid. Direct policy: partial commission payment is not accepted.</a:t>
            </a:r>
          </a:p>
          <a:p>
            <a:r>
              <a:t>CM-03 Excess commission (Business rule): Excess commission is computed differently for Motor and Fire and kept in the incentive module.</a:t>
            </a:r>
          </a:p>
          <a:p>
            <a:r>
              <a:t>IC-01 Early-remittance incentive (Business rule): Insurers pay an incentive for early remittance, only on premium sold within credit terms. Rates agreed with each insurer; posted to Other Income (IC-02). Wants: Incentive by insurer to walk through (open point).</a:t>
            </a:r>
          </a:p>
          <a:p>
            <a:r>
              <a:t>Day 1 p.23-24 DP commission, reversal (Pain point): DP lists per unit in a shared folder, consolidated in Excel, billed by e-mail; production recon of 20-30K lines per insurer; DPPR / PR2307 reversal through SharePoint, Teams, IT extract and VLOOKUP, with a 0.01-0.99 variance.</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Payment files arrive from bills payment, CLPC, PMS (post-dated checks), Trade, direct credit and the FS04 batch; cash is received at the counter. Before a payment is applied the cashier checks the 4-day hold on checks, the bounced-check list and the exclusion list, and whether the account is in QPS with an EBIX reference. Zero-PR accounts are tagged, and exact-payment, excess-payment and actual-payment files are built before upload or Autopay; items that do not apply end in the unapplied report. Receipts (AR to the client, OR to the insurer) are prepared by hand. When a direct-pay policy is paid to BDOI no premium entry is created (CA-03). Every week Remittance extracts the applied payments of Monday to Friday from EBIX, removes DPPR reversals, knock-offs and invalid accounts in Excel, and has the settlement list approved on an MS Teams list with a signed copy kept for audit; Disbursement then posts and pays the insurer.</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a client pays the insurer directly, BDOI's commission is still due. Each unit lists these direct-payment (DP) transactions in a shared folder; the CRU consolidates the lists in Excel, removes duplicates and validates them against production reports and commission trackers, bills each insurer by e-mail and follows up by e-mail, phone and messaging. When the insurer pays, the CRU asks Cashiering for the OR, sends it to the insurer and prepares the DP reversal by hand. Endorsements and cancellations start with an e-mail from Marketing; Operations checks the documents, keys the request in the EBIX endorsement module and the TL or TH checks and posts each one individually; the entries flow to Comptrollership. Policy-fee (service) invoices are keyed in the EBIX report menu from the schedule of the requestor. Reports are requested from IT.</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the first week of each month IT extracts the accounts booked in the previous month. Operations filters the file per insurer, protects it with a password and e-mails it. The insurer marks matched accounts and discrepancies and adds a file of accounts it has but BDOI has not booked; the handler classifies 20-30 thousand lines per insurer as matched, matched with discrepancies or unbooked, sends the unbooked and discrepancy files to Marketing and Processing and keeps a ManCom masterlist in Excel. For the DPPR / PR2307 reversal the CRU uploads a reversal list to SharePoint and notifies IT on Teams; IT extracts the reversal and knock-off file; Cashiering matches it by invoice number with a VLOOKUP and a variance of 0.01 to 0.99, posts the EBIX sub-ledger reversal and the commission knock-off, copies the journal register to Excel and creates a zero-value remittance workfile for Disbursement.</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sub-processes BDOI showed on 23-Sep (Day 1 overview p.20-25 and the Operations process flow); volumes, frequencies and tolerances as heard on the floor.</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7 are on the Cashiering and Remittance swimlane, 8, 11 and 12 on the Commission and Adjustment swimlane, 9 and 10 on the Reconciliation and Reversal swimlane.</a:t>
            </a:r>
          </a:p>
          <a:p>
            <a:r>
              <a:t>1. Intake checks by hand: 4-day check hold, bounced-check list and exclusion list are checked before each payment is applied. (Operations flow (Cashiering); Day 1 p.20)</a:t>
            </a:r>
          </a:p>
          <a:p>
            <a:r>
              <a:t>2. Three references per transaction: ISYS invoice no., QPS reference, EBIX reference and payment reference; tracing is slow. (OV-03, CA-01)</a:t>
            </a:r>
          </a:p>
          <a:p>
            <a:r>
              <a:t>3. Payment files split in Excel: Zero-PR tagging and exact, excess and actual-payment files are built by hand. (Operations flow (Cashiering))</a:t>
            </a:r>
          </a:p>
          <a:p>
            <a:r>
              <a:t>4. Manual receipts and unapplied: AR and OR are prepared by hand; unapplied items are followed offline. (CA-01, CA-04)</a:t>
            </a:r>
          </a:p>
          <a:p>
            <a:r>
              <a:t>5. Direct-pay money without entries: A client payment on a DP-tagged policy creates no premium entry. (CA-03)</a:t>
            </a:r>
          </a:p>
          <a:p>
            <a:r>
              <a:t>6. Remittance sanitised by hand: Weekly EBIX extract cleaned of reversals, knock-offs and invalid accounts in Excel. (Day 1 p.21)</a:t>
            </a:r>
          </a:p>
          <a:p>
            <a:r>
              <a:t>7. Approval on Teams, signed paper copy: The settlement list is approved on an MS Teams list; a signed copy is kept for audit. (Day 1 p.21)</a:t>
            </a:r>
          </a:p>
          <a:p>
            <a:r>
              <a:t>8. DP commission billed from Excel: Unit lists consolidated by hand, billed by e-mail, chased by phone and chat. (Day 1 p.23)</a:t>
            </a:r>
          </a:p>
          <a:p>
            <a:r>
              <a:t>9. Insurer reconciliation in Excel: 20-30K lines per insurer a month, password e-mails, manual classification. (Day 1 p.24)</a:t>
            </a:r>
          </a:p>
          <a:p>
            <a:r>
              <a:t>10. Reversals through IT and VLOOKUP: SharePoint and Teams hand-offs, IT extract, manual SL journals, zero-value workfile. (Day 1 p.24; TX-02)</a:t>
            </a:r>
          </a:p>
          <a:p>
            <a:r>
              <a:t>11. Endorsements by e-mail and keyed: Requests arrive by e-mail; premium is computed outside; posting one by one. (EN-01)</a:t>
            </a:r>
          </a:p>
          <a:p>
            <a:r>
              <a:t>12. Invoices keyed, reports from IT: Policy-fee invoices keyed in a report menu; reports need IT. (Day 1 p.25; RP-01)</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users asked for, and the lever we suggest.</a:t>
            </a:r>
          </a:p>
          <a:p>
            <a:r>
              <a:t>1. Intake checks by hand -&gt; Clearing period, bounced checks and exclusions checked automatically at acceptance Lever: Checks at entry.</a:t>
            </a:r>
          </a:p>
          <a:p>
            <a:r>
              <a:t>2. Three references per transaction -&gt; One reference across the lifecycle (OV-03, to confirm) Lever: One reference.</a:t>
            </a:r>
          </a:p>
          <a:p>
            <a:r>
              <a:t>3. Payment files split in Excel -&gt; Payments matched and applied without split files Lever: Auto application.</a:t>
            </a:r>
          </a:p>
          <a:p>
            <a:r>
              <a:t>4. Manual receipts and unapplied -&gt; AR and OR generated by the system (CA-01, CA-04) Lever: System receipts.</a:t>
            </a:r>
          </a:p>
          <a:p>
            <a:r>
              <a:t>5. Direct-pay money without entries -&gt; A rule for payments on direct-pay policies, e.g. allow the tag to change (CA-03) Lever: To decide.</a:t>
            </a:r>
          </a:p>
          <a:p>
            <a:r>
              <a:t>6. Remittance sanitised by hand -&gt; Weekly remittance extract ready, already cleaned of reversals and invalid accounts Lever: Scheduled batches.</a:t>
            </a:r>
          </a:p>
          <a:p>
            <a:r>
              <a:t>7. Approval on Teams, signed paper copy -&gt; Approval in the workflow with an audit trail instead of a Teams list and paper Lever: E-approval.</a:t>
            </a:r>
          </a:p>
          <a:p>
            <a:r>
              <a:t>8. DP commission billed from Excel -&gt; DP billing per insurer tracked to collection Lever: Worklist.</a:t>
            </a:r>
          </a:p>
          <a:p>
            <a:r>
              <a:t>9. Insurer reconciliation in Excel -&gt; Insurer feedback matched automatically; unbooked items followed Lever: Auto matching.</a:t>
            </a:r>
          </a:p>
          <a:p>
            <a:r>
              <a:t>10. Reversals through IT and VLOOKUP -&gt; Reversals and knock-offs without IT extracts or VLOOKUP Lever: Entries at source.</a:t>
            </a:r>
          </a:p>
          <a:p>
            <a:r>
              <a:t>11. Endorsements by e-mail and keyed -&gt; Endorsement computes the premium like New Business (EN-01) Lever: Rated endorsement.</a:t>
            </a:r>
          </a:p>
          <a:p>
            <a:r>
              <a:t>12. Invoices keyed, reports from IT -&gt; Other income registered through invoicing; users run their own reports (OI-01, RP-01) Lever: Self-service.</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Unique payment reference. A check-digit reference or virtual account per client or invoice, printed on invoices and SOAs and carried in bank files. For BDOI: Generate it at booking and ask the bank channels to carry it (OBPCS, direct credit).</a:t>
            </a:r>
          </a:p>
          <a:p>
            <a:r>
              <a:t>Automated cash application. Rule and fuzzy matching (payor name, amount tolerance, many-to-one) with confidence scores; the system learns from manual matches. For BDOI: Extend exact matching with scored suggestions on the unapplied workbench.</a:t>
            </a:r>
          </a:p>
          <a:p>
            <a:r>
              <a:t>Bank host-to-host collections. Collections through bank APIs, InstaPay / PESONet and QR Ph with intraday notices instead of text files run by IT. For BDOI: Plan with BDO IT after go-live (CMS / BOB, OBPCS).</a:t>
            </a:r>
          </a:p>
          <a:p>
            <a:r>
              <a:t>Premium trust account discipline. Premium held in trust for insurers is reconciled daily: bank, unapplied plus amounts due to insurers, and the sub-ledger. For BDOI: Add a daily three-way reconciliation report; confirm the Insurance Commission rules with Compliance.</a:t>
            </a:r>
          </a:p>
          <a:p>
            <a:r>
              <a:t>One tolerance and write-off matrix. Tolerances by component, amount band and approver in one table, each with its GL account. For BDOI: Replace the four values seen today.</a:t>
            </a:r>
          </a:p>
          <a:p>
            <a:r>
              <a:t>Remittance calendar per insurer. Remittance dates per insurer, an automatic remittance advice and the insurer OR returned electronically. For BDOI: Use the calendar to meet the early-remittance window and earn the incentive.</a:t>
            </a:r>
          </a:p>
          <a:p>
            <a:r>
              <a:t>Insurer statement reconciliation. Insurer statements of account and commission statements matched automatically, differences routed to owners. For BDOI: Extend production matching to commission statements.</a:t>
            </a:r>
          </a:p>
          <a:p>
            <a:r>
              <a:t>Commission recognition under PFRS 15. Commission recognised when the placement is done, with a provision for cancellations; collection tracked separately. For BDOI: Agree the policy with Comptrollership and the auditors.</a:t>
            </a:r>
          </a:p>
          <a:p>
            <a:r>
              <a:t>Incentive accruals. Contingent and incentive commission estimated and accrued monthly, trued up when the insurer pays. For BDOI: Add a monthly accrual to the incentive schemes.</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Collections follows every unpaid premium from booking until the payment is confirmed and handed to Cashiering. The Marketing AO owns the client and records the payment instruction in the Marketing Diary; the Collection Handler follows up, secures a commitment and checks the credit term; the AO asks the insurer for a credit term extension when needed. ICS tracks premium and commission collection today.</a:t>
            </a:r>
          </a:p>
          <a:p/>
          <a:p>
            <a:r>
              <a:t>Floor walk: 22-Sep-2026, 3:30-5:00 pm, 43F and 44F; discovery 21 and 24-Sep-2026; Sheryne Hernaez, Pia Pinili.</a:t>
            </a:r>
          </a:p>
          <a:p>
            <a:r>
              <a:t>Sources: Marketing Collections process flow (current end-to-end manual flow); BDOI Day 1 overview p.19; Floor-walk notes CO-01 to CO-03</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Collections floor walk (22-Sep) and of the Collections and Commission session (24-Sep).</a:t>
            </a:r>
          </a:p>
          <a:p>
            <a:r>
              <a:t>CO-01 Outstanding per client (Pain point): Collection information is captured in a separate system; the outstanding amount per customer is not shown properly. Wants: The correct outstanding amount per customer.</a:t>
            </a:r>
          </a:p>
          <a:p>
            <a:r>
              <a:t>CO-02 ICS status and ageing (Pain point): ICS (Internal Collection System) tracks premium and commission collection; data flows from EBIX; the handler updates the contact status. After collection the status stays on the last action and ageing keeps running. Wants: Status closes on payment; ageing stops.</a:t>
            </a:r>
          </a:p>
          <a:p>
            <a:r>
              <a:t>CO-03 Credit policy (Open point): Credit policy to be defined. Wants: BDOI to confirm the credit policy.</a:t>
            </a:r>
          </a:p>
          <a:p>
            <a:r>
              <a:t>Day 1 p.19 Follow-up rules (Business rule): Newly booked and unpaid: collect within 10-15 days from booking; secure a payment commitment within 60 days; payment by deposit, bills payment or direct payment.</a:t>
            </a:r>
          </a:p>
          <a:p>
            <a:r>
              <a:t>Day 1 p.19 Friction named by BDOI (Pain point): Manual diary and status updates; e-mail-based CTE coordination; several payment-validation sources; follow-up that depends on the handler.</a:t>
            </a:r>
          </a:p>
          <a:p>
            <a:r>
              <a:t>Collections flow Payment check (As-Is): Deposit: check with Cashiering. Bills payment: look in the Unapplied screen. Direct payment: check with the insurer. Then proceed to Cashiering.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AO records the client's payment instruction in the Marketing Diary in ISYS. The Collection Handler takes the outstanding-PR list of the market segment and follows up each account as the diary says: new bookings within 10 to 15 days, a payment commitment within 60 days. A commitment outside the credit term goes to the AO by e-mail; the AO asks the insurer for a credit term extension and escalates to the Unit Head. The handler updates the category and remarks and checks the payment by channel with Cashiering, the Unapplied screen or the insurer. In ICS the status stays on the last action and the ageing keeps running after the premium is paid, and the outstanding amount per client is not reliable. CWT 2307 tagging moves from Marketing to Operations by hand, and Operations extracts the Direct Payment report every month for PR reversal.</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10 are on the Collections swimlane.</a:t>
            </a:r>
          </a:p>
          <a:p>
            <a:r>
              <a:t>1. PR list and diary in two systems: The handler takes the EBIX list and checks the ISYS Marketing Diary per account. (Collections flow)</a:t>
            </a:r>
          </a:p>
          <a:p>
            <a:r>
              <a:t>2. Follow-up by hand: New bookings within 10-15 days, commitment within 60 days, tracked by the handler. (Collections flow; Day 1 p.19)</a:t>
            </a:r>
          </a:p>
          <a:p>
            <a:r>
              <a:t>3. CTE and escalation by e-mail: The AO asks the insurer for a credit term extension and escalates to the Unit Head. (Collections flow; Day 1 p.19)</a:t>
            </a:r>
          </a:p>
          <a:p>
            <a:r>
              <a:t>4. Dispositions kept by hand: Day-60 disposition, category A / B / C and remarks are updated manually. (Collections flow)</a:t>
            </a:r>
          </a:p>
          <a:p>
            <a:r>
              <a:t>5. Payment status by channel: Deposit with Cashiering, bills payment on the Unapplied screen, direct payment with the insurer. (Collections flow)</a:t>
            </a:r>
          </a:p>
          <a:p>
            <a:r>
              <a:t>6. 2307 tagging handed over: A net-of-CWT payment stays a Marketing action until the BIR 2307 is collected. (Collections flow)</a:t>
            </a:r>
          </a:p>
          <a:p>
            <a:r>
              <a:t>7. DP report extracted monthly: Operations extracts the Direct Payment report as the basis for PR reversal. (Collections flow)</a:t>
            </a:r>
          </a:p>
          <a:p>
            <a:r>
              <a:t>8. Side tasks by e-mail: Cheque pick-up requests and 2307 certificates received by e-mail. (Collections flow)</a:t>
            </a:r>
          </a:p>
          <a:p>
            <a:r>
              <a:t>9. ICS status and ageing wrong: Status stays on the last action and ageing runs after payment; balance per client unreliable. (CO-01, CO-02)</a:t>
            </a:r>
          </a:p>
          <a:p>
            <a:r>
              <a:t>10. No written credit policy: Credit terms, CTE and cancellation for non-payment are decided case by case. (CO-03)</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users asked for, and the lever we suggest.</a:t>
            </a:r>
          </a:p>
          <a:p>
            <a:r>
              <a:t>1. PR list and diary in two systems -&gt; One worklist with the Marketing Diary in view Lever: One record.</a:t>
            </a:r>
          </a:p>
          <a:p>
            <a:r>
              <a:t>2. Follow-up by hand -&gt; The 10-15 and 60-day rules applied by the system, with reminders Lever: Rules.</a:t>
            </a:r>
          </a:p>
          <a:p>
            <a:r>
              <a:t>3. CTE and escalation by e-mail -&gt; CTE requested and answered on the account, not by e-mail Lever: CTE record.</a:t>
            </a:r>
          </a:p>
          <a:p>
            <a:r>
              <a:t>4. Dispositions kept by hand -&gt; Dispositions and categories kept with their history Lever: History.</a:t>
            </a:r>
          </a:p>
          <a:p>
            <a:r>
              <a:t>5. Payment status by channel -&gt; Payment status visible whatever the payment route Lever: One view.</a:t>
            </a:r>
          </a:p>
          <a:p>
            <a:r>
              <a:t>6. 2307 tagging handed over -&gt; 2307 tagging handed over in the system Lever: No e-mail.</a:t>
            </a:r>
          </a:p>
          <a:p>
            <a:r>
              <a:t>7. DP report extracted monthly -&gt; Direct-payment report ready on the first working day Lever: Scheduled.</a:t>
            </a:r>
          </a:p>
          <a:p>
            <a:r>
              <a:t>8. Side tasks by e-mail -&gt; Cheque pick-ups requested from the account Lever: Tracked requests.</a:t>
            </a:r>
          </a:p>
          <a:p>
            <a:r>
              <a:t>9. ICS status and ageing wrong -&gt; Correct outstanding per customer; status closes and ageing stops on payment (CO-01, CO-02) Lever: Accurate ageing.</a:t>
            </a:r>
          </a:p>
          <a:p>
            <a:r>
              <a:t>10. No written credit policy -&gt; A written credit policy (CO-03, BDOI to confirm) Lever: To decide.</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Segmented dunning strategies. Pre-due and overdue reminders by SMS and e-mail, with a strategy per segment and risk. For BDOI: Add client-facing reminders to the escalation rules.</a:t>
            </a:r>
          </a:p>
          <a:p>
            <a:r>
              <a:t>Written credit policy in the system. Credit terms per segment and product, CTE workflow with the insurer, automatic cancellation request at day N. For BDOI: Approve the policy, then configure it (CO-03).</a:t>
            </a:r>
          </a:p>
          <a:p>
            <a:r>
              <a:t>Pay-by-link, QR Ph, e-wallets. Payment links in reminders and SOAs, applied straight through. For BDOI: Add after go-live with the bank channels.</a:t>
            </a:r>
          </a:p>
          <a:p>
            <a:r>
              <a:t>Collection KPIs. Days sales outstanding, collection effectiveness, promises kept, roll rates; prioritise by likelihood to pay. For BDOI: Build a Collections dashboard on the worklist.</a:t>
            </a:r>
          </a:p>
          <a:p>
            <a:r>
              <a:t>Client self-service statement. Clients see their statement and payment history online or through the contact centre. For BDOI: Start with the SOA through the contact centre.</a:t>
            </a:r>
          </a:p>
          <a:p>
            <a:r>
              <a:t>Promise-to-pay discipline. Promises per instalment with reminders and broken-promise escalation. For BDOI: Agree the escalation days per segment.</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Disbursement, FRBS accounting, ACSL, refunds, tax and BIR</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turns every business event into accounting and pays everyone BDOI owes: insurers, clients, suppliers, employees and the government. Disbursement runs four routes with three levels of signed approval; FRBS keeps the chart of accounts, reviews the reports IT prepares, reconciles, posts manual journals and closes the books; ACSL keeps the sub-ledger clean. Refund requests start in Marketing with five approval chains.</a:t>
            </a:r>
          </a:p>
          <a:p/>
          <a:p>
            <a:r>
              <a:t>Floor walk: 23-Sep-2026, 10:00 am-12:00 nn, 44F; discovery 21 and 23-Sep-2026; Rodrigo Dela Cruz, Cherry Francisco, Lineth Santos, Guada Jane Pelo (Disbursement); Iris Marquez, Fatima Joy Aguas, Cherie Jocson (FRBS); Jeniffer Lugtu, Mario Sabangan, Jennifer Carinan, Freddie Atanque (ACSL).</a:t>
            </a:r>
          </a:p>
          <a:p>
            <a:r>
              <a:t>Sources: Process flows: Disbursement (in the system, online banking, outside the system, government), Refund Request (five segments), FRBS GL, ACSL; BDOI Day 1 overview p.26-27; Floor-walk notes DS-01 to DS-05, TX-01 to TX-05, RC-01, RC-02, FN-01, RP-01, OI-01 to OI-03</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Cashiering, Other Income, Disbursement and Tax session (23-Sep) and of the Comptrollership floor walk.</a:t>
            </a:r>
          </a:p>
          <a:p>
            <a:r>
              <a:t>DS-01 Approval (Business rule): Multi-level approval with maker and checker.</a:t>
            </a:r>
          </a:p>
          <a:p>
            <a:r>
              <a:t>DS-02 Settlement types (As-Is): Remittance and settlement cover insurer payments, customer payments and sundry creditors; client premium refunds are also settled here.</a:t>
            </a:r>
          </a:p>
          <a:p>
            <a:r>
              <a:t>DS-03 Working file (Pain point): For individual companies a working file is prepared and sent to the Disbursement team.</a:t>
            </a:r>
          </a:p>
          <a:p>
            <a:r>
              <a:t>DS-04 Payment mode (Pain point): Remittance is always processed in batch. The mode of payment is captured outside the system, as most modes are not in the system.</a:t>
            </a:r>
          </a:p>
          <a:p>
            <a:r>
              <a:t>DS-05 Entries (User aspiration): Remittance entries pass through intermediate accounts. Wants: Debit Cash in Bank and credit the insurance company directly.</a:t>
            </a:r>
          </a:p>
          <a:p>
            <a:r>
              <a:t>TX-01 WHT on commission (Business rule): WHT on commission is 15% during remittance processing.</a:t>
            </a:r>
          </a:p>
          <a:p>
            <a:r>
              <a:t>TX-03 WHT certificate (User aspiration): Certificates prepared outside the system. Wants: 2% WHT certificate (BIR 2307) generated for suppliers.</a:t>
            </a:r>
          </a:p>
          <a:p>
            <a:r>
              <a:t>TX-04 BIR reports (Business rule): Monthly, from the trial balance and sub-ledger; WHT based on disbursements; the tax code changes by supplier.</a:t>
            </a:r>
          </a:p>
          <a:p>
            <a:r>
              <a:t>TX-05 VAT (Business rule): Input VAT quarterly from the sub-ledger; output VAT the same.</a:t>
            </a:r>
          </a:p>
          <a:p>
            <a:r>
              <a:t>RC-01 Reconciliation (Open point): Bank reconciliation and insurer reconciliation (premium and commission). Wants: Detail during the floor walk.</a:t>
            </a:r>
          </a:p>
          <a:p>
            <a:r>
              <a:t>RC-02 Insurer reconciliation (User aspiration): Done on statements of account. Wants: Insurer reconciliation account-wise.</a:t>
            </a:r>
          </a:p>
          <a:p>
            <a:r>
              <a:t>FN-01 Branches (User aspiration): BDOI has 8 branches. Wants: Profit centre and cost centre tagged and mapped.</a:t>
            </a:r>
          </a:p>
          <a:p>
            <a:r>
              <a:t>RP-01 Reports (Pain point): Reports are made by hand: data pulled from several systems and consolidated, with IT help. Wants: Business units run reports themselves.</a:t>
            </a:r>
          </a:p>
          <a:p>
            <a:r>
              <a:t>OI-01 Other income (User aspiration): Other income recorded outside a standard invoice. Wants: Other income registered through invoicing.</a:t>
            </a:r>
          </a:p>
          <a:p>
            <a:r>
              <a:t>OI-02 Service fee (Business rule): A service invoice records other income; WHT rate differs by income type; VAT applies; OR issued after.</a:t>
            </a:r>
          </a:p>
          <a:p>
            <a:r>
              <a:t>OI-03 Referral fee (Pain point): Referral is treated as a service fee, credited from an Excel list.</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refund starts with a Refund Request Form (client ID, CA / SA or check details, amount, reason) that the AO fills in; depending on the segment it goes through four to six signatures, and Marketing Admin, Collections or UPP fills an Excel template and keys the CA / SA in EBIX. Disbursement receives requests through the EBIX flow-in, by e-mail or on paper. Payee details are kept by MBS (insurers), the UPP handler (clients) and the DTL (sundry creditors). The DPO prepares the Excel disbursement template and bank forms; the DTL, DSH and DUH sign in turn. In-system payments run from EBIX to QPS by an IT batch, and the credit file is sent through WinSCP to the Transaction Processing Department (TPD); checks are printed in QPS. Credit tickets, ATDs, manager's checks, demand drafts and telegraphic transfers are bank forms done at a BDO branch. The signed documents go to FRBS for the GL entry. FRBS files taxes in EFPS and pays SSS, Pag-IBIG and PhilHealth through BancNet, then watches the government websites.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FRBS team leads add GL accounts in the EBIX account maintenance; EBIX creates entries from the source transactions and FRBS adds manual entries; sub-ledgers post automatically. IT generates the required reports and saves them in a shared folder; the accounting assistant reviews them, reconciles and prepares manual journals that the TL or TH reviews and posts. At day, month and year end IT extracts the output reports and closes the broking transactions before FRBS triggers the closing of the books and the balances are carried forward. ACSL receives reports from IT (PR, DTIP, CRU), looks for abnormal balances, analyses the invoices, prints the adjustment for the AP TL and routes it to an FRBS approver for posting; Cashiering e-mails invoices due for AR refund adjustment.</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Refund Request and Disbursement process flows confirmed by the process owners.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Points 1 to 8 are on the Disbursement and Refund swimlane, 9 to 12 on the GL and ACSL swimlane.</a:t>
            </a:r>
          </a:p>
          <a:p>
            <a:r>
              <a:t>1. Refunds on paper, five chains: RRF signed by 4-6 people; Excel template; CA / SA re-keyed in EBIX. (Refund Request flow)</a:t>
            </a:r>
          </a:p>
          <a:p>
            <a:r>
              <a:t>2. Requests by e-mail and paper: Disbursement receives EBIX flow-in, e-mails and hard copies. (Disbursement flow; Day 1 p.27)</a:t>
            </a:r>
          </a:p>
          <a:p>
            <a:r>
              <a:t>3. Payees kept in three places: MBS (insurers), UPP handler (clients), DTL (sundry) keep payee details. (Disbursement flow)</a:t>
            </a:r>
          </a:p>
          <a:p>
            <a:r>
              <a:t>4. Three levels of wet signature: DTL, DSH and DUH sign; online banking adds a second DTL. (DS-01; Disbursement flow)</a:t>
            </a:r>
          </a:p>
          <a:p>
            <a:r>
              <a:t>5. File chain through IT and QPS: EBIX to QPS batch, credit file by WinSCP to TPD, checks printed in QPS. (Disbursement flow; DS-04)</a:t>
            </a:r>
          </a:p>
          <a:p>
            <a:r>
              <a:t>6. Payment modes outside the system: Credit tickets, ATD, MC, DD and TT are bank forms at a branch. (DS-04; Disbursement flow)</a:t>
            </a:r>
          </a:p>
          <a:p>
            <a:r>
              <a:t>7. GL entries by another unit: Signed documents go to FRBS, who enters the GL entry. (Disbursement flow)</a:t>
            </a:r>
          </a:p>
          <a:p>
            <a:r>
              <a:t>8. Government payments by hand: EFPS filing and BancNet payments with a 24-hour posting; websites watched. (Disbursement flow (government))</a:t>
            </a:r>
          </a:p>
          <a:p>
            <a:r>
              <a:t>9. Reports prepared by IT: IT saves reports in a shared folder; business cannot run them. (FRBS flow; RP-01)</a:t>
            </a:r>
          </a:p>
          <a:p>
            <a:r>
              <a:t>10. Reconciliation and journals by hand: Bank and insurer reconciliation and manual journals in Excel. (FRBS flow; RC-01)</a:t>
            </a:r>
          </a:p>
          <a:p>
            <a:r>
              <a:t>11. IT needed to close: IT runs end-of-day, month and year and closes broking transactions. (FRBS flow)</a:t>
            </a:r>
          </a:p>
          <a:p>
            <a:r>
              <a:t>12. Abnormal balances found by reading: ACSL scans IT reports; adjustments printed for review. (ACSL flow)</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users asked for, and the lever we suggest.</a:t>
            </a:r>
          </a:p>
          <a:p>
            <a:r>
              <a:t>1. Refunds on paper, five chains -&gt; One refund request with routing by segment and fewer signatures Lever: Workflow.</a:t>
            </a:r>
          </a:p>
          <a:p>
            <a:r>
              <a:t>2. Requests by e-mail and paper -&gt; Every disbursement request in one intake, none on paper Lever: One queue.</a:t>
            </a:r>
          </a:p>
          <a:p>
            <a:r>
              <a:t>3. Payees kept in three places -&gt; Payee details kept once for every payment type Lever: One payee master.</a:t>
            </a:r>
          </a:p>
          <a:p>
            <a:r>
              <a:t>4. Three levels of wet signature -&gt; Maker-checker kept, with approval limits instead of wet signatures (DS-01) Lever: DOA matrix.</a:t>
            </a:r>
          </a:p>
          <a:p>
            <a:r>
              <a:t>5. File chain through IT and QPS -&gt; Credit files and checks produced without QPS and WinSCP Lever: Host-to-host.</a:t>
            </a:r>
          </a:p>
          <a:p>
            <a:r>
              <a:t>6. Payment modes outside the system -&gt; Mode of payment captured in the system (DS-04) Lever: Mode recorded.</a:t>
            </a:r>
          </a:p>
          <a:p>
            <a:r>
              <a:t>7. GL entries by another unit -&gt; Entry Debit Cash in Bank / Credit Insurance Company, posted at approval (DS-05) Lever: Entries at source.</a:t>
            </a:r>
          </a:p>
          <a:p>
            <a:r>
              <a:t>8. Government payments by hand -&gt; Tax and contribution due dates tracked; filing and payment confirmed Lever: Calendar.</a:t>
            </a:r>
          </a:p>
          <a:p>
            <a:r>
              <a:t>9. Reports prepared by IT -&gt; Business units run reports themselves (RP-01) Lever: Self-service.</a:t>
            </a:r>
          </a:p>
          <a:p>
            <a:r>
              <a:t>10. Reconciliation and journals by hand -&gt; Bank and insurer reconciliation account-wise, automated (RC-01, RC-02) Lever: Auto matching.</a:t>
            </a:r>
          </a:p>
          <a:p>
            <a:r>
              <a:t>11. IT needed to close -&gt; Close run by Comptrollership, not IT Lever: Scheduled close.</a:t>
            </a:r>
          </a:p>
          <a:p>
            <a:r>
              <a:t>12. Abnormal balances found by reading -&gt; Abnormal balances flagged by rule Lever: Exception queue.</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Payment hub with the bank. Host-to-host payments for credit to account, MC, TT and online banking, with digital signing and status back. For BDOI: Replace WinSCP and branch forms with BDO host-to-host (CMS / New BOB).</a:t>
            </a:r>
          </a:p>
          <a:p>
            <a:r>
              <a:t>Delegation of authority in the workflow. Approval limits by amount and type, e-approval, no wet signatures. For BDOI: Approve a DOA matrix; the audit trail replaces the signed copy.</a:t>
            </a:r>
          </a:p>
          <a:p>
            <a:r>
              <a:t>Payee account validation. Name match, test credit and dual control on bank-detail changes. For BDOI: Apply to refunds and new payees.</a:t>
            </a:r>
          </a:p>
          <a:p>
            <a:r>
              <a:t>Government payments calendar. Due dates, filing and payment through eFPS / eGov, confirmation captured. For BDOI: Add a calendar and confirmation to Disbursement.</a:t>
            </a:r>
          </a:p>
          <a:p>
            <a:r>
              <a:t>Straight-through refunds. Refund computed from the cancellation or excess and paid to a validated account. For BDOI: Link cancellation, refund request and payment.</a:t>
            </a:r>
          </a:p>
          <a:p>
            <a:r>
              <a:t>Continuous close. Daily SL-GL reconciliation, close calendar and checklist, variance analysis. For BDOI: Add a close checklist and daily reconciliation report.</a:t>
            </a:r>
          </a:p>
          <a:p>
            <a:r>
              <a:t>Automated tax certificates. 2307 for every payee and a register of certificates received, reconciled to SAWT. For BDOI: Extend 2307 generation to all payees.</a:t>
            </a:r>
          </a:p>
          <a:p>
            <a:r>
              <a:t>BIR e-invoicing readiness. CAS-registered books and electronic invoicing (EIS) when it applies. For BDOI: Confirm applicability with Tax and plan the format.</a:t>
            </a:r>
          </a:p>
          <a:p>
            <a:r>
              <a:t>Multi-dimensional chart of accounts. Branch, profit centre, cost centre, product, insurer and segment on every entry. For BDOI: Map the 8 branches and centres before go-live.</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Serving the client after the sale: claims, the contact centre and case management</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 supports the client from the notice of loss to settlement, as the client's advocate with the insurer. Motor claims end with a letter of authority to a repair shop or dealer, or a cash offer; Non-Motor claims go through the claims reporting form, the formal loss advice, an adjuster's inspection and an offer that the client accepts or contests. Claims are handled outside any system today (CL-01).</a:t>
            </a:r>
          </a:p>
          <a:p/>
          <a:p>
            <a:r>
              <a:t>Floor walk: 22-Sep-2026, 5-6 pm, 44F; discovery 21-Sep-2026; Elmar O. Alvarez Jr., Richard Castanares.</a:t>
            </a:r>
          </a:p>
          <a:p>
            <a:r>
              <a:t>Sources: Claims process flow (Motor and Non-Motor swimlanes); BDOI Day 1 overview p.8 and p.14; Floor-walk note CL-01</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Notes of the business overview (21-Sep) and of the Claims floor walk (22-Sep).</a:t>
            </a:r>
          </a:p>
          <a:p>
            <a:r>
              <a:t>CL-01 Claims handling (Pain point): Claims are handled outside the system and manually. Wants: Major pain point: claims in the system.</a:t>
            </a:r>
          </a:p>
          <a:p>
            <a:r>
              <a:t>Day 1 p.8 What BDOI needs to see (User aspiration): How a claim links to the policy; required documents and status values; who can update, review or approve; how customer communication is recorded.</a:t>
            </a:r>
          </a:p>
          <a:p>
            <a:r>
              <a:t>Claims flow Motor (As-Is): Client, AO or branch sends the notice and PLA; handler completes the documents and sends them to the insurer; insurer issues an LOA to the preferred CASA / dealer or evaluates a cash offer; assured signs; repair monitored offline; claim tagged settled.</a:t>
            </a:r>
          </a:p>
          <a:p>
            <a:r>
              <a:t>Claims flow Non-Motor (As-Is): Claims reporting form (CRF); formal loss advice to the insurer; initial assessment; adjuster inspection when needed; evaluation; offer reviewed and sent to the insured; accept, or contest and re-evaluate; payment; claim closed.</a:t>
            </a:r>
          </a:p>
          <a:p>
            <a:r>
              <a:t>Day 1 p.14 Servicing path (As-Is): Receive the claim from the client; submit documents to the insurer; inform the client of settlement or declination.</a:t>
            </a:r>
          </a:p>
          <a:p>
            <a:r>
              <a:t>EB-02 EB claims (As-Is): Employee Benefits claims are validated by the provider; BDOI captures the details (see chapter 4).</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client, the AO or the branch sends the notice of loss; Claims prepares the preliminary loss advice (Motor) or the claims reporting form (Non-Motor) and chases the documents until complete, then sends them with the loss advice to the insurer by e-mail. The insurer assesses the loss, with an adjuster's inspection when needed, and makes an offer, or for Motor issues a letter of authority to the preferred repair shop or dealer. Claims reviews the offer and sends it to the insured, who signs or contests; a contested offer goes back for re-evaluation. Repairs are monitored offline, and the claim is tagged settled or closed. None of it is in a system.</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Claims process flow (swimlane version), confirmed by the Claims team on 13-Feb-2026.</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six points are on the Claims swimlane.</a:t>
            </a:r>
          </a:p>
          <a:p>
            <a:r>
              <a:t>1. Notice and forms by hand: Notice by e-mail or call; PLA or claims form prepared manually. (Claims flow)</a:t>
            </a:r>
          </a:p>
          <a:p>
            <a:r>
              <a:t>2. Documents chased by hand: No checklist; the handler follows up until the file is complete. (Claims flow)</a:t>
            </a:r>
          </a:p>
          <a:p>
            <a:r>
              <a:t>3. Loss advice by e-mail: Loss advice and documents e-mailed to each insurer. (Claims flow)</a:t>
            </a:r>
          </a:p>
          <a:p>
            <a:r>
              <a:t>4. Offer and contest by e-mail: Offers reviewed, sent, accepted or contested outside a system. (Claims flow)</a:t>
            </a:r>
          </a:p>
          <a:p>
            <a:r>
              <a:t>5. Repairs monitored offline: After the LOA, repair progress is followed by phone and e-mail. (Claims flow)</a:t>
            </a:r>
          </a:p>
          <a:p>
            <a:r>
              <a:t>6. Claims outside the system: Claims are handled manually; status and history kept offline. (CL-01)</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the business needs, and the lever we suggest.</a:t>
            </a:r>
          </a:p>
          <a:p>
            <a:r>
              <a:t>1. Notice and forms by hand -&gt; The claim linked to its policy from the first notice (Day 1 p.8) Lever: Claim on the policy.</a:t>
            </a:r>
          </a:p>
          <a:p>
            <a:r>
              <a:t>2. Documents chased by hand -&gt; Required documents and status values per claim type (Day 1 p.8) Lever: Checklist.</a:t>
            </a:r>
          </a:p>
          <a:p>
            <a:r>
              <a:t>3. Loss advice by e-mail -&gt; Loss advice generated and sent from the claim, with a record Lever: Send log.</a:t>
            </a:r>
          </a:p>
          <a:p>
            <a:r>
              <a:t>4. Offer and contest by e-mail -&gt; Who can update, review or approve, recorded on the claim (Day 1 p.8) Lever: Roles.</a:t>
            </a:r>
          </a:p>
          <a:p>
            <a:r>
              <a:t>5. Repairs monitored offline -&gt; Repair milestones followed to completion Lever: Milestones.</a:t>
            </a:r>
          </a:p>
          <a:p>
            <a:r>
              <a:t>6. Claims outside the system -&gt; Claims handled in the system, with customer communication recorded (CL-01; Day 1 p.8) Lever: One record.</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Digital first notice of loss. Notice by web, app or contact centre with photos and automatic policy lookup. For BDOI: Start with a contact-centre form that creates the claim.</a:t>
            </a:r>
          </a:p>
          <a:p>
            <a:r>
              <a:t>Client status updates. Automatic SMS or e-mail at each status change. For BDOI: Send notices on the key statuses.</a:t>
            </a:r>
          </a:p>
          <a:p>
            <a:r>
              <a:t>Insurer SLA scorecards. Days from notice to offer and offer to payment, per insurer and line. For BDOI: Build from the ageing reports.</a:t>
            </a:r>
          </a:p>
          <a:p>
            <a:r>
              <a:t>Repair network integration. LOA and repair status exchanged with accredited shops and dealers. For BDOI: After go-live with the main dealers.</a:t>
            </a:r>
          </a:p>
          <a:p>
            <a:r>
              <a:t>Document checklist with chasing. Checklist per claim type and automatic reminders to the client. For BDOI: Define the checklists with the Claims team.</a:t>
            </a:r>
          </a:p>
          <a:p>
            <a:r>
              <a:t>Claims analytics for renewals. Loss ratio and claims-prone locations feed renewals and risk advice. For BDOI: Share loss experience with Renewal and TSU.</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Insure contact centre answers clients by phone, e-mail and digital channels: searching accounts, answering inquiries, updating contact details, resending documents and referring what it cannot close to the Marketing unit that manages the account. Every contact is logged by hand in CLS. BDOI has drawn its own case-management To-Be (15-Jul-2026), shown after the pain points.</a:t>
            </a:r>
          </a:p>
          <a:p/>
          <a:p>
            <a:r>
              <a:t>Floor walk: Process flows shared by BDOI; the contact centre was not in the September floor-walk slots; Contact Center Management (BDO Insure).</a:t>
            </a:r>
          </a:p>
          <a:p>
            <a:r>
              <a:t>Sources: Customer Servicing Facility process flow; BDOI Case Management To-Be process flow, 15-Jul-2026; New Business and Renewal flows (e-policy after a fall-out)</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Steps of the Customer Servicing flow and of BDOI's case-management To-Be flow.</a:t>
            </a:r>
          </a:p>
          <a:p>
            <a:r>
              <a:t>CSF flow Search (As-Is): Account inquiry by invoice number, PN number, last, first or full name (CBG); client inquiry by name for Non-CBG; open the account from the invoice or client code; view contact and insurance details.</a:t>
            </a:r>
          </a:p>
          <a:p>
            <a:r>
              <a:t>CSF flow Contact update (Pain point): When contact details change, the agent updates them and the system migration updates the source databases (QPS, EBIX).</a:t>
            </a:r>
          </a:p>
          <a:p>
            <a:r>
              <a:t>Case To-Be Case logging (User aspiration): Agent identifies the client and the concern; logs every concern in CLS by typing it in; general inquiries answered from CC Nav and closed. Wants: Client details filled in automatically in the case form.</a:t>
            </a:r>
          </a:p>
          <a:p>
            <a:r>
              <a:t>Case To-Be Positive identification (User aspiration): Positive identification (PID) of the client before any account transaction; failed PID closes the case. Wants: PID as a step of the case.</a:t>
            </a:r>
          </a:p>
          <a:p>
            <a:r>
              <a:t>Case To-Be Referral and TAT (User aspiration): Concerns not solved at the first contact are referred to the fulfilment unit by e-mail and a CLS prompt. Wants: Cases routed automatically to the Marketing unit of the account; open cases within or past TAT visible; invalid returns re-logged by BDO CCC.</a:t>
            </a:r>
          </a:p>
          <a:p>
            <a:r>
              <a:t>NB and RN flows E-policy after fall-out (Pain point): After an SFTP fall-out Marketing fixes the e-policy and the BDOI contact centre sends it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client contacts the BDO Insure contact centre. The agent identifies the client and the concern, searches CBG accounts by invoice number, PN or name and non-CBG accounts by name only, and answers general inquiries from CC Nav. For an account concern the agent checks the client's identity (PID). Contact changes are updated and pushed to the QPS and EBIX databases. Every concern is typed into CLS; concerns that cannot be closed are referred to the fulfilment unit by e-mail and a CLS prompt, without a TAT view, and cases returned as erroneous are re-logged by BDO CCC. After an e-policy fall-out the contact centre also sends the e-policy to the client.</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seven points are on the Customer Servicing swimlane.</a:t>
            </a:r>
          </a:p>
          <a:p>
            <a:r>
              <a:t>1. Two search paths: CBG accounts by invoice or PN; non-CBG accounts by name only. (CSF flow)</a:t>
            </a:r>
          </a:p>
          <a:p>
            <a:r>
              <a:t>2. PID and answers by hand: Identity checked by questions; answers looked up in CC Nav. (Case Management flow)</a:t>
            </a:r>
          </a:p>
          <a:p>
            <a:r>
              <a:t>3. Updates pushed to legacy: Contact changes written to the QPS and EBIX databases. (CSF flow)</a:t>
            </a:r>
          </a:p>
          <a:p>
            <a:r>
              <a:t>4. Every concern keyed into CLS: Agents type every contact into CLS, even resolved ones. (Case Management flow)</a:t>
            </a:r>
          </a:p>
          <a:p>
            <a:r>
              <a:t>5. Referrals by e-mail: Fulfilment units are told by e-mail; no view of TAT. (Case Management flow)</a:t>
            </a:r>
          </a:p>
          <a:p>
            <a:r>
              <a:t>6. Returned cases re-logged: Erroneous cases go back and BDO CCC logs them again. (Case Management flow)</a:t>
            </a:r>
          </a:p>
          <a:p>
            <a:r>
              <a:t>7. Contact centre sends fall-outs: E-policies fixed by Marketing are sent by the contact centre. (NB flow)</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pain point: what BDOI's case-management To-Be asks for.</a:t>
            </a:r>
          </a:p>
          <a:p>
            <a:r>
              <a:t>1. Two search paths -&gt; One search across every account, CBG and non-CBG Lever: One view.</a:t>
            </a:r>
          </a:p>
          <a:p>
            <a:r>
              <a:t>2. PID and answers by hand -&gt; PID as a step of the case; answers at hand Lever: PID step.</a:t>
            </a:r>
          </a:p>
          <a:p>
            <a:r>
              <a:t>3. Updates pushed to legacy -&gt; Contact changes made once in one client record Lever: One client.</a:t>
            </a:r>
          </a:p>
          <a:p>
            <a:r>
              <a:t>4. Every concern keyed into CLS -&gt; Case form filled with the client's details automatically Lever: Case management.</a:t>
            </a:r>
          </a:p>
          <a:p>
            <a:r>
              <a:t>5. Referrals by e-mail -&gt; Cases routed automatically to the Marketing unit of the account; TAT visible Lever: Routing and TAT.</a:t>
            </a:r>
          </a:p>
          <a:p>
            <a:r>
              <a:t>6. Returned cases re-logged -&gt; Return loop in the case, without re-logging Lever: Case history.</a:t>
            </a:r>
          </a:p>
          <a:p>
            <a:r>
              <a:t>7. Contact centre sends fall-outs -&gt; One e-policy sender (see chapter 1) Lever: One sender.</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BDOI's case-management To-Be flow of 15-Jul-2026: how the business wants the contact centre to work.</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Practices of insurance brokers that fit what we saw at BDOI; each card says what the practice is and where BDOI could start.</a:t>
            </a:r>
          </a:p>
          <a:p>
            <a:r>
              <a:t>Omnichannel case management. Every call, e-mail and chat is a case with SLA, routing and history on the client record. For BDOI: Adopt BDOI's 15-Jul To-Be.</a:t>
            </a:r>
          </a:p>
          <a:p>
            <a:r>
              <a:t>Screen-pop and assisted PID. Caller recognised from the number; PID by OTP or questions from the client record. For BDOI: Add PID to the servicing view.</a:t>
            </a:r>
          </a:p>
          <a:p>
            <a:r>
              <a:t>Self-service. Clients get RA, e-policy, SOA and payment status online or by chatbot. For BDOI: Phase after go-live; start with document download.</a:t>
            </a:r>
          </a:p>
          <a:p>
            <a:r>
              <a:t>Knowledge base and scripts. Answers and call scripts per concern type, kept by the contact centre. For BDOI: Move CC Nav content into the case tool.</a:t>
            </a:r>
          </a:p>
          <a:p>
            <a:r>
              <a:t>First-contact resolution metrics. First-contact resolution, TAT met and satisfaction per unit. For BDOI: Report from case data.</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topics cut across the chapters: where the data lives today, how BDOI exchanges with insurers, banks and the government, and the needs every department raised.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place the floor walk and the process flows showed business data being kept. All of it matters for the move to one system.</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What the floor walk tells us about the data quality and the effort to move it.</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external exchange the floor walk and the process flows showed. Today most are e-mail, files moved by IT, or forms.</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floor walk and the process flows.</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Needs that are not one department's; the floor walk raised each of them in several sessions.</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roadmap does not wait for the system. Some improvements are decisions BDOI can take now; automation follows once the platform is live.</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Automating a broken process only makes it fail faster. These five levers, applied in order, are how insurance brokers usually take cost and delay out of operations; each has BDOI examples from the floor walk.</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benefit is our estimate of effort removed and control gained, from what we saw on the floor.</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H0 is what BDOI can decide and prepare now; H1 is one system at go-live; H2 and H3 build on it. The enablers make every horizon possible.</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Targets are suggestions for BDOI to set; the baseline is what we heard on the floor.</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17 open points of our floor-walk notes.</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reverse KT is complete when each department has confirmed or corrected its chapter. We propose one 60-minute session per part (A to E) in the first two weeks of October, and a review of Parts F and G with the programme leads.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2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2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9.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30.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3.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5.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3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8.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9.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4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5.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6.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8.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9.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5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4.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5.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8.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60.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61.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6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3.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4.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6.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8.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notesSlide" Target="../notesSlides/notesSlide69.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png"/><Relationship Id="rId4" Type="http://schemas.openxmlformats.org/officeDocument/2006/relationships/notesSlide" Target="../notesSlides/notesSlide76.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7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notesSlide" Target="../notesSlides/notesSlide85.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8.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9.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0.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1.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png"/><Relationship Id="rId4" Type="http://schemas.openxmlformats.org/officeDocument/2006/relationships/notesSlide" Target="../notesSlides/notesSlide9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3.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4.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5.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6.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8.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9.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0.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1.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3.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4.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5.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6.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8.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9.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bdo-insure.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BDOI Reverse KT - Floor Walk</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What we saw and heard on the floor: As-Is, pain points and the way forward</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3.0 | 27 September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Why this reverse KT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234440"/>
            <a:ext cx="11094415" cy="457200"/>
          </a:xfrm>
          <a:prstGeom prst="rect">
            <a:avLst/>
          </a:prstGeom>
          <a:noFill/>
        </p:spPr>
        <p:txBody>
          <a:bodyPr wrap="square" anchor="t" lIns="45720" rIns="45720" tIns="18288" bIns="18288">
            <a:spAutoFit/>
          </a:bodyPr>
          <a:lstStyle/>
          <a:p>
            <a:pPr>
              <a:spcAft>
                <a:spcPts val="0"/>
              </a:spcAft>
            </a:pPr>
            <a:r>
              <a:rPr sz="1300" b="0">
                <a:solidFill>
                  <a:srgbClr val="2E2E2E"/>
                </a:solidFill>
                <a:latin typeface="Arial"/>
              </a:rPr>
              <a:t>We walked the floor with 40+ process owners. This deck gives back what we saw and heard, so BDOI can correct it.</a:t>
            </a:r>
          </a:p>
        </p:txBody>
      </p:sp>
      <p:sp>
        <p:nvSpPr>
          <p:cNvPr id="10" name="Rounded Rectangle 9"/>
          <p:cNvSpPr/>
          <p:nvPr/>
        </p:nvSpPr>
        <p:spPr>
          <a:xfrm>
            <a:off x="548640"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548640"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1737360"/>
            <a:ext cx="3442106" cy="457200"/>
          </a:xfrm>
          <a:prstGeom prst="rect">
            <a:avLst/>
          </a:prstGeom>
          <a:noFill/>
        </p:spPr>
        <p:txBody>
          <a:bodyPr wrap="square" anchor="ctr" lIns="45720" rIns="45720" tIns="18288" bIns="18288">
            <a:spAutoFit/>
          </a:bodyPr>
          <a:lstStyle/>
          <a:p>
            <a:pPr>
              <a:spcAft>
                <a:spcPts val="0"/>
              </a:spcAft>
            </a:pPr>
            <a:r>
              <a:rPr sz="1500" b="1">
                <a:solidFill>
                  <a:srgbClr val="FFFFFF"/>
                </a:solidFill>
                <a:latin typeface="Arial"/>
              </a:rPr>
              <a:t>What this deck is</a:t>
            </a:r>
          </a:p>
        </p:txBody>
      </p:sp>
      <p:sp>
        <p:nvSpPr>
          <p:cNvPr id="13" name="TextBox 12"/>
          <p:cNvSpPr txBox="1"/>
          <p:nvPr/>
        </p:nvSpPr>
        <p:spPr>
          <a:xfrm>
            <a:off x="621792" y="2267712"/>
            <a:ext cx="3442106" cy="3895344"/>
          </a:xfrm>
          <a:prstGeom prst="rect">
            <a:avLst/>
          </a:prstGeom>
          <a:noFill/>
        </p:spPr>
        <p:txBody>
          <a:bodyPr wrap="square" anchor="t" lIns="45720" rIns="45720" tIns="18288" bIns="18288">
            <a:spAutoFit/>
          </a:bodyPr>
          <a:lstStyle/>
          <a:p>
            <a:pPr>
              <a:spcAft>
                <a:spcPts val="300"/>
              </a:spcAft>
            </a:pPr>
            <a:r>
              <a:rPr sz="1500" b="0">
                <a:solidFill>
                  <a:srgbClr val="004EA8"/>
                </a:solidFill>
                <a:latin typeface="Arial"/>
              </a:rPr>
              <a:t>•  </a:t>
            </a:r>
            <a:r>
              <a:rPr sz="1500" b="0">
                <a:solidFill>
                  <a:srgbClr val="4B4B4B"/>
                </a:solidFill>
                <a:latin typeface="Arial"/>
              </a:rPr>
              <a:t>How each department works today, as we saw it on the floor</a:t>
            </a:r>
          </a:p>
          <a:p>
            <a:pPr>
              <a:spcAft>
                <a:spcPts val="300"/>
              </a:spcAft>
            </a:pPr>
            <a:r>
              <a:rPr sz="1500" b="0">
                <a:solidFill>
                  <a:srgbClr val="004EA8"/>
                </a:solidFill>
                <a:latin typeface="Arial"/>
              </a:rPr>
              <a:t>•  </a:t>
            </a:r>
            <a:r>
              <a:rPr sz="1500" b="0">
                <a:solidFill>
                  <a:srgbClr val="4B4B4B"/>
                </a:solidFill>
                <a:latin typeface="Arial"/>
              </a:rPr>
              <a:t>The pain points the business users raised, in their words</a:t>
            </a:r>
          </a:p>
          <a:p>
            <a:pPr>
              <a:spcAft>
                <a:spcPts val="300"/>
              </a:spcAft>
            </a:pPr>
            <a:r>
              <a:rPr sz="1500" b="0">
                <a:solidFill>
                  <a:srgbClr val="004EA8"/>
                </a:solidFill>
                <a:latin typeface="Arial"/>
              </a:rPr>
              <a:t>•  </a:t>
            </a:r>
            <a:r>
              <a:rPr sz="1500" b="0">
                <a:solidFill>
                  <a:srgbClr val="4B4B4B"/>
                </a:solidFill>
                <a:latin typeface="Arial"/>
              </a:rPr>
              <a:t>What the users asked for, and the practices we suggest</a:t>
            </a:r>
          </a:p>
          <a:p>
            <a:pPr>
              <a:spcAft>
                <a:spcPts val="300"/>
              </a:spcAft>
            </a:pPr>
            <a:r>
              <a:rPr sz="1500" b="0">
                <a:solidFill>
                  <a:srgbClr val="004EA8"/>
                </a:solidFill>
                <a:latin typeface="Arial"/>
              </a:rPr>
              <a:t>•  </a:t>
            </a:r>
            <a:r>
              <a:rPr sz="1500" b="0">
                <a:solidFill>
                  <a:srgbClr val="4B4B4B"/>
                </a:solidFill>
                <a:latin typeface="Arial"/>
              </a:rPr>
              <a:t>The end-to-end view across departments</a:t>
            </a:r>
          </a:p>
        </p:txBody>
      </p:sp>
      <p:sp>
        <p:nvSpPr>
          <p:cNvPr id="14" name="Rounded Rectangle 13"/>
          <p:cNvSpPr/>
          <p:nvPr/>
        </p:nvSpPr>
        <p:spPr>
          <a:xfrm>
            <a:off x="4301642"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737360"/>
            <a:ext cx="3442106" cy="457200"/>
          </a:xfrm>
          <a:prstGeom prst="rect">
            <a:avLst/>
          </a:prstGeom>
          <a:noFill/>
        </p:spPr>
        <p:txBody>
          <a:bodyPr wrap="square" anchor="ctr" lIns="45720" rIns="45720" tIns="18288" bIns="18288">
            <a:spAutoFit/>
          </a:bodyPr>
          <a:lstStyle/>
          <a:p>
            <a:pPr>
              <a:spcAft>
                <a:spcPts val="0"/>
              </a:spcAft>
            </a:pPr>
            <a:r>
              <a:rPr sz="1500" b="1">
                <a:solidFill>
                  <a:srgbClr val="FFFFFF"/>
                </a:solidFill>
                <a:latin typeface="Arial"/>
              </a:rPr>
              <a:t>What we ask of each department</a:t>
            </a:r>
          </a:p>
        </p:txBody>
      </p:sp>
      <p:sp>
        <p:nvSpPr>
          <p:cNvPr id="17" name="TextBox 16"/>
          <p:cNvSpPr txBox="1"/>
          <p:nvPr/>
        </p:nvSpPr>
        <p:spPr>
          <a:xfrm>
            <a:off x="4374794" y="2267712"/>
            <a:ext cx="3442106" cy="3895344"/>
          </a:xfrm>
          <a:prstGeom prst="rect">
            <a:avLst/>
          </a:prstGeom>
          <a:noFill/>
        </p:spPr>
        <p:txBody>
          <a:bodyPr wrap="square" anchor="t" lIns="45720" rIns="45720" tIns="18288" bIns="18288">
            <a:spAutoFit/>
          </a:bodyPr>
          <a:lstStyle/>
          <a:p>
            <a:pPr>
              <a:spcAft>
                <a:spcPts val="300"/>
              </a:spcAft>
            </a:pPr>
            <a:r>
              <a:rPr sz="1500" b="0">
                <a:solidFill>
                  <a:srgbClr val="004EA8"/>
                </a:solidFill>
                <a:latin typeface="Arial"/>
              </a:rPr>
              <a:t>•  </a:t>
            </a:r>
            <a:r>
              <a:rPr sz="1500" b="0">
                <a:solidFill>
                  <a:srgbClr val="4B4B4B"/>
                </a:solidFill>
                <a:latin typeface="Arial"/>
              </a:rPr>
              <a:t>Confirm or correct the As-Is swimlanes and pain points</a:t>
            </a:r>
          </a:p>
          <a:p>
            <a:pPr>
              <a:spcAft>
                <a:spcPts val="300"/>
              </a:spcAft>
            </a:pPr>
            <a:r>
              <a:rPr sz="1500" b="0">
                <a:solidFill>
                  <a:srgbClr val="004EA8"/>
                </a:solidFill>
                <a:latin typeface="Arial"/>
              </a:rPr>
              <a:t>•  </a:t>
            </a:r>
            <a:r>
              <a:rPr sz="1500" b="0">
                <a:solidFill>
                  <a:srgbClr val="4B4B4B"/>
                </a:solidFill>
                <a:latin typeface="Arial"/>
              </a:rPr>
              <a:t>Confirm the rules and values we heard (days, rates, volumes)</a:t>
            </a:r>
          </a:p>
          <a:p>
            <a:pPr>
              <a:spcAft>
                <a:spcPts val="300"/>
              </a:spcAft>
            </a:pPr>
            <a:r>
              <a:rPr sz="1500" b="0">
                <a:solidFill>
                  <a:srgbClr val="004EA8"/>
                </a:solidFill>
                <a:latin typeface="Arial"/>
              </a:rPr>
              <a:t>•  </a:t>
            </a:r>
            <a:r>
              <a:rPr sz="1500" b="0">
                <a:solidFill>
                  <a:srgbClr val="4B4B4B"/>
                </a:solidFill>
                <a:latin typeface="Arial"/>
              </a:rPr>
              <a:t>Answer the 17 open points of the floor walk</a:t>
            </a:r>
          </a:p>
          <a:p>
            <a:pPr>
              <a:spcAft>
                <a:spcPts val="300"/>
              </a:spcAft>
            </a:pPr>
            <a:r>
              <a:rPr sz="1500" b="0">
                <a:solidFill>
                  <a:srgbClr val="004EA8"/>
                </a:solidFill>
                <a:latin typeface="Arial"/>
              </a:rPr>
              <a:t>•  </a:t>
            </a:r>
            <a:r>
              <a:rPr sz="1500" b="0">
                <a:solidFill>
                  <a:srgbClr val="4B4B4B"/>
                </a:solidFill>
                <a:latin typeface="Arial"/>
              </a:rPr>
              <a:t>Say which suggestions BDOI wants on the roadmap</a:t>
            </a:r>
          </a:p>
        </p:txBody>
      </p:sp>
      <p:sp>
        <p:nvSpPr>
          <p:cNvPr id="18" name="Rounded Rectangle 17"/>
          <p:cNvSpPr/>
          <p:nvPr/>
        </p:nvSpPr>
        <p:spPr>
          <a:xfrm>
            <a:off x="8054644" y="1737360"/>
            <a:ext cx="3588410" cy="4462272"/>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8054644" y="17373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127796" y="1737360"/>
            <a:ext cx="3442106" cy="457200"/>
          </a:xfrm>
          <a:prstGeom prst="rect">
            <a:avLst/>
          </a:prstGeom>
          <a:noFill/>
        </p:spPr>
        <p:txBody>
          <a:bodyPr wrap="square" anchor="ctr" lIns="45720" rIns="45720" tIns="18288" bIns="18288">
            <a:spAutoFit/>
          </a:bodyPr>
          <a:lstStyle/>
          <a:p>
            <a:pPr>
              <a:spcAft>
                <a:spcPts val="0"/>
              </a:spcAft>
            </a:pPr>
            <a:r>
              <a:rPr sz="1500" b="1">
                <a:solidFill>
                  <a:srgbClr val="FFFFFF"/>
                </a:solidFill>
                <a:latin typeface="Arial"/>
              </a:rPr>
              <a:t>What this deck is not</a:t>
            </a:r>
          </a:p>
        </p:txBody>
      </p:sp>
      <p:sp>
        <p:nvSpPr>
          <p:cNvPr id="21" name="TextBox 20"/>
          <p:cNvSpPr txBox="1"/>
          <p:nvPr/>
        </p:nvSpPr>
        <p:spPr>
          <a:xfrm>
            <a:off x="8127796" y="2267712"/>
            <a:ext cx="3442106" cy="3895344"/>
          </a:xfrm>
          <a:prstGeom prst="rect">
            <a:avLst/>
          </a:prstGeom>
          <a:noFill/>
        </p:spPr>
        <p:txBody>
          <a:bodyPr wrap="square" anchor="t" lIns="45720" rIns="45720" tIns="18288" bIns="18288">
            <a:spAutoFit/>
          </a:bodyPr>
          <a:lstStyle/>
          <a:p>
            <a:pPr>
              <a:spcAft>
                <a:spcPts val="300"/>
              </a:spcAft>
            </a:pPr>
            <a:r>
              <a:rPr sz="1500" b="0">
                <a:solidFill>
                  <a:srgbClr val="004EA8"/>
                </a:solidFill>
                <a:latin typeface="Arial"/>
              </a:rPr>
              <a:t>•  </a:t>
            </a:r>
            <a:r>
              <a:rPr sz="1500" b="0">
                <a:solidFill>
                  <a:srgbClr val="4B4B4B"/>
                </a:solidFill>
                <a:latin typeface="Arial"/>
              </a:rPr>
              <a:t>Not a review of the BRDs</a:t>
            </a:r>
          </a:p>
          <a:p>
            <a:pPr>
              <a:spcAft>
                <a:spcPts val="300"/>
              </a:spcAft>
            </a:pPr>
            <a:r>
              <a:rPr sz="1500" b="0">
                <a:solidFill>
                  <a:srgbClr val="004EA8"/>
                </a:solidFill>
                <a:latin typeface="Arial"/>
              </a:rPr>
              <a:t>•  </a:t>
            </a:r>
            <a:r>
              <a:rPr sz="1500" b="0">
                <a:solidFill>
                  <a:srgbClr val="4B4B4B"/>
                </a:solidFill>
                <a:latin typeface="Arial"/>
              </a:rPr>
              <a:t>Not a build status or test report</a:t>
            </a:r>
          </a:p>
          <a:p>
            <a:pPr>
              <a:spcAft>
                <a:spcPts val="300"/>
              </a:spcAft>
            </a:pPr>
            <a:r>
              <a:rPr sz="1500" b="0">
                <a:solidFill>
                  <a:srgbClr val="004EA8"/>
                </a:solidFill>
                <a:latin typeface="Arial"/>
              </a:rPr>
              <a:t>•  </a:t>
            </a:r>
            <a:r>
              <a:rPr sz="1500" b="0">
                <a:solidFill>
                  <a:srgbClr val="4B4B4B"/>
                </a:solidFill>
                <a:latin typeface="Arial"/>
              </a:rPr>
              <a:t>Not a design: it describes today and the business's wishes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What we learned, in six messages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ounded Rectangle 8"/>
          <p:cNvSpPr/>
          <p:nvPr/>
        </p:nvSpPr>
        <p:spPr>
          <a:xfrm>
            <a:off x="548640"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1. One deal, five tools, three references</a:t>
            </a:r>
          </a:p>
        </p:txBody>
      </p:sp>
      <p:sp>
        <p:nvSpPr>
          <p:cNvPr id="12" name="TextBox 11"/>
          <p:cNvSpPr txBox="1"/>
          <p:nvPr/>
        </p:nvSpPr>
        <p:spPr>
          <a:xfrm>
            <a:off x="621792"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Excel templates, Broker, ISYS, QPS and EBIX for one policy (NB flow)</a:t>
            </a:r>
          </a:p>
          <a:p>
            <a:pPr>
              <a:spcAft>
                <a:spcPts val="300"/>
              </a:spcAft>
            </a:pPr>
            <a:r>
              <a:rPr sz="1400" b="0">
                <a:solidFill>
                  <a:srgbClr val="004EA8"/>
                </a:solidFill>
                <a:latin typeface="Arial"/>
              </a:rPr>
              <a:t>•  </a:t>
            </a:r>
            <a:r>
              <a:rPr sz="1400" b="0">
                <a:solidFill>
                  <a:srgbClr val="4B4B4B"/>
                </a:solidFill>
                <a:latin typeface="Arial"/>
              </a:rPr>
              <a:t>ISYS, QPS and EBIX numbers on the same transaction (OV-03)</a:t>
            </a:r>
          </a:p>
          <a:p>
            <a:pPr>
              <a:spcAft>
                <a:spcPts val="300"/>
              </a:spcAft>
            </a:pPr>
            <a:r>
              <a:rPr sz="1400" b="0">
                <a:solidFill>
                  <a:srgbClr val="004EA8"/>
                </a:solidFill>
                <a:latin typeface="Arial"/>
              </a:rPr>
              <a:t>•  </a:t>
            </a:r>
            <a:r>
              <a:rPr sz="1400" b="0">
                <a:solidFill>
                  <a:srgbClr val="4B4B4B"/>
                </a:solidFill>
                <a:latin typeface="Arial"/>
              </a:rPr>
              <a:t>IT migrates accounts from ISYS to QPS</a:t>
            </a:r>
          </a:p>
        </p:txBody>
      </p:sp>
      <p:sp>
        <p:nvSpPr>
          <p:cNvPr id="13" name="Rounded Rectangle 12"/>
          <p:cNvSpPr/>
          <p:nvPr/>
        </p:nvSpPr>
        <p:spPr>
          <a:xfrm>
            <a:off x="4301642"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642"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4794"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2. E-mail and Excel carry the work</a:t>
            </a:r>
          </a:p>
        </p:txBody>
      </p:sp>
      <p:sp>
        <p:nvSpPr>
          <p:cNvPr id="16" name="TextBox 15"/>
          <p:cNvSpPr txBox="1"/>
          <p:nvPr/>
        </p:nvSpPr>
        <p:spPr>
          <a:xfrm>
            <a:off x="4374794"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15 hand-offs between teams by e-mail, file, Teams or paper</a:t>
            </a:r>
          </a:p>
          <a:p>
            <a:pPr>
              <a:spcAft>
                <a:spcPts val="300"/>
              </a:spcAft>
            </a:pPr>
            <a:r>
              <a:rPr sz="1400" b="0">
                <a:solidFill>
                  <a:srgbClr val="004EA8"/>
                </a:solidFill>
                <a:latin typeface="Arial"/>
              </a:rPr>
              <a:t>•  </a:t>
            </a:r>
            <a:r>
              <a:rPr sz="1400" b="0">
                <a:solidFill>
                  <a:srgbClr val="4B4B4B"/>
                </a:solidFill>
                <a:latin typeface="Arial"/>
              </a:rPr>
              <a:t>Dispositions, recon, DP lists and trackers in Excel</a:t>
            </a:r>
          </a:p>
          <a:p>
            <a:pPr>
              <a:spcAft>
                <a:spcPts val="300"/>
              </a:spcAft>
            </a:pPr>
            <a:r>
              <a:rPr sz="1400" b="0">
                <a:solidFill>
                  <a:srgbClr val="004EA8"/>
                </a:solidFill>
                <a:latin typeface="Arial"/>
              </a:rPr>
              <a:t>•  </a:t>
            </a:r>
            <a:r>
              <a:rPr sz="1400" b="0">
                <a:solidFill>
                  <a:srgbClr val="4B4B4B"/>
                </a:solidFill>
                <a:latin typeface="Arial"/>
              </a:rPr>
              <a:t>Masterlists on Drive H and SharePoint</a:t>
            </a:r>
          </a:p>
        </p:txBody>
      </p:sp>
      <p:sp>
        <p:nvSpPr>
          <p:cNvPr id="17" name="Rounded Rectangle 16"/>
          <p:cNvSpPr/>
          <p:nvPr/>
        </p:nvSpPr>
        <p:spPr>
          <a:xfrm>
            <a:off x="8054644"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4644"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7796"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3. Controls rely on people</a:t>
            </a:r>
          </a:p>
        </p:txBody>
      </p:sp>
      <p:sp>
        <p:nvSpPr>
          <p:cNvPr id="20" name="TextBox 19"/>
          <p:cNvSpPr txBox="1"/>
          <p:nvPr/>
        </p:nvSpPr>
        <p:spPr>
          <a:xfrm>
            <a:off x="8127796"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Wet signatures at 3-6 levels; checker-poster one by one</a:t>
            </a:r>
          </a:p>
          <a:p>
            <a:pPr>
              <a:spcAft>
                <a:spcPts val="300"/>
              </a:spcAft>
            </a:pPr>
            <a:r>
              <a:rPr sz="1400" b="0">
                <a:solidFill>
                  <a:srgbClr val="004EA8"/>
                </a:solidFill>
                <a:latin typeface="Arial"/>
              </a:rPr>
              <a:t>•  </a:t>
            </a:r>
            <a:r>
              <a:rPr sz="1400" b="0">
                <a:solidFill>
                  <a:srgbClr val="4B4B4B"/>
                </a:solidFill>
                <a:latin typeface="Arial"/>
              </a:rPr>
              <a:t>Intake checks, reversals and journals by hand</a:t>
            </a:r>
          </a:p>
          <a:p>
            <a:pPr>
              <a:spcAft>
                <a:spcPts val="300"/>
              </a:spcAft>
            </a:pPr>
            <a:r>
              <a:rPr sz="1400" b="0">
                <a:solidFill>
                  <a:srgbClr val="004EA8"/>
                </a:solidFill>
                <a:latin typeface="Arial"/>
              </a:rPr>
              <a:t>•  </a:t>
            </a:r>
            <a:r>
              <a:rPr sz="1400" b="0">
                <a:solidFill>
                  <a:srgbClr val="4B4B4B"/>
                </a:solidFill>
                <a:latin typeface="Arial"/>
              </a:rPr>
              <a:t>Approvals on Teams lists with signed copies</a:t>
            </a:r>
          </a:p>
        </p:txBody>
      </p:sp>
      <p:sp>
        <p:nvSpPr>
          <p:cNvPr id="21" name="Rounded Rectangle 20"/>
          <p:cNvSpPr/>
          <p:nvPr/>
        </p:nvSpPr>
        <p:spPr>
          <a:xfrm>
            <a:off x="548640"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4. IT is in the business path</a:t>
            </a:r>
          </a:p>
        </p:txBody>
      </p:sp>
      <p:sp>
        <p:nvSpPr>
          <p:cNvPr id="24" name="TextBox 23"/>
          <p:cNvSpPr txBox="1"/>
          <p:nvPr/>
        </p:nvSpPr>
        <p:spPr>
          <a:xfrm>
            <a:off x="621792"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Extracts (RMEL, production recon), migrations, batches</a:t>
            </a:r>
          </a:p>
          <a:p>
            <a:pPr>
              <a:spcAft>
                <a:spcPts val="300"/>
              </a:spcAft>
            </a:pPr>
            <a:r>
              <a:rPr sz="1400" b="0">
                <a:solidFill>
                  <a:srgbClr val="004EA8"/>
                </a:solidFill>
                <a:latin typeface="Arial"/>
              </a:rPr>
              <a:t>•  </a:t>
            </a:r>
            <a:r>
              <a:rPr sz="1400" b="0">
                <a:solidFill>
                  <a:srgbClr val="4B4B4B"/>
                </a:solidFill>
                <a:latin typeface="Arial"/>
              </a:rPr>
              <a:t>Reports and the close need IT (RP-01)</a:t>
            </a:r>
          </a:p>
          <a:p>
            <a:pPr>
              <a:spcAft>
                <a:spcPts val="300"/>
              </a:spcAft>
            </a:pPr>
            <a:r>
              <a:rPr sz="1400" b="0">
                <a:solidFill>
                  <a:srgbClr val="004EA8"/>
                </a:solidFill>
                <a:latin typeface="Arial"/>
              </a:rPr>
              <a:t>•  </a:t>
            </a:r>
            <a:r>
              <a:rPr sz="1400" b="0">
                <a:solidFill>
                  <a:srgbClr val="4B4B4B"/>
                </a:solidFill>
                <a:latin typeface="Arial"/>
              </a:rPr>
              <a:t>WinSCP and text files between systems</a:t>
            </a:r>
          </a:p>
        </p:txBody>
      </p:sp>
      <p:sp>
        <p:nvSpPr>
          <p:cNvPr id="25" name="Rounded Rectangle 24"/>
          <p:cNvSpPr/>
          <p:nvPr/>
        </p:nvSpPr>
        <p:spPr>
          <a:xfrm>
            <a:off x="4301642"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01642"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4794"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5. Volumes are real</a:t>
            </a:r>
          </a:p>
        </p:txBody>
      </p:sp>
      <p:sp>
        <p:nvSpPr>
          <p:cNvPr id="28" name="TextBox 27"/>
          <p:cNvSpPr txBox="1"/>
          <p:nvPr/>
        </p:nvSpPr>
        <p:spPr>
          <a:xfrm>
            <a:off x="4374794"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50,000+ EB members (EB-01)</a:t>
            </a:r>
          </a:p>
          <a:p>
            <a:pPr>
              <a:spcAft>
                <a:spcPts val="300"/>
              </a:spcAft>
            </a:pPr>
            <a:r>
              <a:rPr sz="1400" b="0">
                <a:solidFill>
                  <a:srgbClr val="004EA8"/>
                </a:solidFill>
                <a:latin typeface="Arial"/>
              </a:rPr>
              <a:t>•  </a:t>
            </a:r>
            <a:r>
              <a:rPr sz="1400" b="0">
                <a:solidFill>
                  <a:srgbClr val="4B4B4B"/>
                </a:solidFill>
                <a:latin typeface="Arial"/>
              </a:rPr>
              <a:t>20-30K production lines per insurer a month</a:t>
            </a:r>
          </a:p>
          <a:p>
            <a:pPr>
              <a:spcAft>
                <a:spcPts val="300"/>
              </a:spcAft>
            </a:pPr>
            <a:r>
              <a:rPr sz="1400" b="0">
                <a:solidFill>
                  <a:srgbClr val="004EA8"/>
                </a:solidFill>
                <a:latin typeface="Arial"/>
              </a:rPr>
              <a:t>•  </a:t>
            </a:r>
            <a:r>
              <a:rPr sz="1400" b="0">
                <a:solidFill>
                  <a:srgbClr val="4B4B4B"/>
                </a:solidFill>
                <a:latin typeface="Arial"/>
              </a:rPr>
              <a:t>About 2,000 records in a bulk payment file (CA-05)</a:t>
            </a:r>
          </a:p>
        </p:txBody>
      </p:sp>
      <p:sp>
        <p:nvSpPr>
          <p:cNvPr id="29" name="Rounded Rectangle 28"/>
          <p:cNvSpPr/>
          <p:nvPr/>
        </p:nvSpPr>
        <p:spPr>
          <a:xfrm>
            <a:off x="8054644"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54644"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7796"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6. The business knows what it wants</a:t>
            </a:r>
          </a:p>
        </p:txBody>
      </p:sp>
      <p:sp>
        <p:nvSpPr>
          <p:cNvPr id="32" name="TextBox 31"/>
          <p:cNvSpPr txBox="1"/>
          <p:nvPr/>
        </p:nvSpPr>
        <p:spPr>
          <a:xfrm>
            <a:off x="8127796"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Product maintenance, claims and renewals in a system</a:t>
            </a:r>
          </a:p>
          <a:p>
            <a:pPr>
              <a:spcAft>
                <a:spcPts val="300"/>
              </a:spcAft>
            </a:pPr>
            <a:r>
              <a:rPr sz="1400" b="0">
                <a:solidFill>
                  <a:srgbClr val="004EA8"/>
                </a:solidFill>
                <a:latin typeface="Arial"/>
              </a:rPr>
              <a:t>•  </a:t>
            </a:r>
            <a:r>
              <a:rPr sz="1400" b="0">
                <a:solidFill>
                  <a:srgbClr val="4B4B4B"/>
                </a:solidFill>
                <a:latin typeface="Arial"/>
              </a:rPr>
              <a:t>Receipts, endorsements and reports without manual work</a:t>
            </a:r>
          </a:p>
          <a:p>
            <a:pPr>
              <a:spcAft>
                <a:spcPts val="300"/>
              </a:spcAft>
            </a:pPr>
            <a:r>
              <a:rPr sz="1400" b="0">
                <a:solidFill>
                  <a:srgbClr val="004EA8"/>
                </a:solidFill>
                <a:latin typeface="Arial"/>
              </a:rPr>
              <a:t>•  </a:t>
            </a:r>
            <a:r>
              <a:rPr sz="1400" b="0">
                <a:solidFill>
                  <a:srgbClr val="4B4B4B"/>
                </a:solidFill>
                <a:latin typeface="Arial"/>
              </a:rPr>
              <a:t>One way to connect to about 55 insurers (OV-01)</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we built our understanding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53312"/>
            <a:ext cx="2362123" cy="685800"/>
          </a:xfrm>
          <a:prstGeom prst="rect">
            <a:avLst/>
          </a:prstGeom>
          <a:noFill/>
        </p:spPr>
        <p:txBody>
          <a:bodyPr wrap="square" anchor="t" lIns="45720" rIns="45720">
            <a:spAutoFit/>
          </a:bodyPr>
          <a:lstStyle/>
          <a:p>
            <a:r>
              <a:rPr sz="3000" b="1" i="0">
                <a:solidFill>
                  <a:srgbClr val="004EA8"/>
                </a:solidFill>
                <a:latin typeface="Arial"/>
              </a:rPr>
              <a:t>21-25 Sep</a:t>
            </a:r>
          </a:p>
        </p:txBody>
      </p:sp>
      <p:sp>
        <p:nvSpPr>
          <p:cNvPr id="11" name="TextBox 10"/>
          <p:cNvSpPr txBox="1"/>
          <p:nvPr/>
        </p:nvSpPr>
        <p:spPr>
          <a:xfrm>
            <a:off x="685800"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Day 1 business overview, floor walks and discovery sessions</a:t>
            </a:r>
          </a:p>
        </p:txBody>
      </p:sp>
      <p:sp>
        <p:nvSpPr>
          <p:cNvPr id="12" name="TextBox 11"/>
          <p:cNvSpPr txBox="1"/>
          <p:nvPr/>
        </p:nvSpPr>
        <p:spPr>
          <a:xfrm>
            <a:off x="685800"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BDOI Day 1 deck; floor-walk schedule</a:t>
            </a:r>
          </a:p>
        </p:txBody>
      </p:sp>
      <p:sp>
        <p:nvSpPr>
          <p:cNvPr id="13" name="Rounded Rectangle 12"/>
          <p:cNvSpPr/>
          <p:nvPr/>
        </p:nvSpPr>
        <p:spPr>
          <a:xfrm>
            <a:off x="3367963"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353312"/>
            <a:ext cx="2362123" cy="685800"/>
          </a:xfrm>
          <a:prstGeom prst="rect">
            <a:avLst/>
          </a:prstGeom>
          <a:noFill/>
        </p:spPr>
        <p:txBody>
          <a:bodyPr wrap="square" anchor="t" lIns="45720" rIns="45720">
            <a:spAutoFit/>
          </a:bodyPr>
          <a:lstStyle/>
          <a:p>
            <a:r>
              <a:rPr sz="3000" b="1" i="0">
                <a:solidFill>
                  <a:srgbClr val="004EA8"/>
                </a:solidFill>
                <a:latin typeface="Arial"/>
              </a:rPr>
              <a:t>12</a:t>
            </a:r>
          </a:p>
        </p:txBody>
      </p:sp>
      <p:sp>
        <p:nvSpPr>
          <p:cNvPr id="15" name="TextBox 14"/>
          <p:cNvSpPr txBox="1"/>
          <p:nvPr/>
        </p:nvSpPr>
        <p:spPr>
          <a:xfrm>
            <a:off x="3505123"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floor-walk sessions with designated process owners (22-23 Sep)</a:t>
            </a:r>
          </a:p>
        </p:txBody>
      </p:sp>
      <p:sp>
        <p:nvSpPr>
          <p:cNvPr id="16" name="TextBox 15"/>
          <p:cNvSpPr txBox="1"/>
          <p:nvPr/>
        </p:nvSpPr>
        <p:spPr>
          <a:xfrm>
            <a:off x="3505123"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Floor-walk POC schedule</a:t>
            </a:r>
          </a:p>
        </p:txBody>
      </p:sp>
      <p:sp>
        <p:nvSpPr>
          <p:cNvPr id="17" name="Rounded Rectangle 16"/>
          <p:cNvSpPr/>
          <p:nvPr/>
        </p:nvSpPr>
        <p:spPr>
          <a:xfrm>
            <a:off x="6187287"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1353312"/>
            <a:ext cx="2362123" cy="685800"/>
          </a:xfrm>
          <a:prstGeom prst="rect">
            <a:avLst/>
          </a:prstGeom>
          <a:noFill/>
        </p:spPr>
        <p:txBody>
          <a:bodyPr wrap="square" anchor="t" lIns="45720" rIns="45720">
            <a:spAutoFit/>
          </a:bodyPr>
          <a:lstStyle/>
          <a:p>
            <a:r>
              <a:rPr sz="3000" b="1" i="0">
                <a:solidFill>
                  <a:srgbClr val="004EA8"/>
                </a:solidFill>
                <a:latin typeface="Arial"/>
              </a:rPr>
              <a:t>66</a:t>
            </a:r>
          </a:p>
        </p:txBody>
      </p:sp>
      <p:sp>
        <p:nvSpPr>
          <p:cNvPr id="19" name="TextBox 18"/>
          <p:cNvSpPr txBox="1"/>
          <p:nvPr/>
        </p:nvSpPr>
        <p:spPr>
          <a:xfrm>
            <a:off x="6324447"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floor-walk notes: As-Is, wants, pain points</a:t>
            </a:r>
          </a:p>
        </p:txBody>
      </p:sp>
      <p:sp>
        <p:nvSpPr>
          <p:cNvPr id="20" name="TextBox 19"/>
          <p:cNvSpPr txBox="1"/>
          <p:nvPr/>
        </p:nvSpPr>
        <p:spPr>
          <a:xfrm>
            <a:off x="6324447"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Our floor-walk notes</a:t>
            </a:r>
          </a:p>
        </p:txBody>
      </p:sp>
      <p:sp>
        <p:nvSpPr>
          <p:cNvPr id="21" name="Rounded Rectangle 20"/>
          <p:cNvSpPr/>
          <p:nvPr/>
        </p:nvSpPr>
        <p:spPr>
          <a:xfrm>
            <a:off x="9006611"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3771" y="1353312"/>
            <a:ext cx="2362123" cy="685800"/>
          </a:xfrm>
          <a:prstGeom prst="rect">
            <a:avLst/>
          </a:prstGeom>
          <a:noFill/>
        </p:spPr>
        <p:txBody>
          <a:bodyPr wrap="square" anchor="t" lIns="45720" rIns="45720">
            <a:spAutoFit/>
          </a:bodyPr>
          <a:lstStyle/>
          <a:p>
            <a:r>
              <a:rPr sz="3000" b="1" i="0">
                <a:solidFill>
                  <a:srgbClr val="004EA8"/>
                </a:solidFill>
                <a:latin typeface="Arial"/>
              </a:rPr>
              <a:t>17</a:t>
            </a:r>
          </a:p>
        </p:txBody>
      </p:sp>
      <p:sp>
        <p:nvSpPr>
          <p:cNvPr id="23" name="TextBox 22"/>
          <p:cNvSpPr txBox="1"/>
          <p:nvPr/>
        </p:nvSpPr>
        <p:spPr>
          <a:xfrm>
            <a:off x="9143771"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open points raised on the floor</a:t>
            </a:r>
          </a:p>
        </p:txBody>
      </p:sp>
      <p:sp>
        <p:nvSpPr>
          <p:cNvPr id="24" name="TextBox 23"/>
          <p:cNvSpPr txBox="1"/>
          <p:nvPr/>
        </p:nvSpPr>
        <p:spPr>
          <a:xfrm>
            <a:off x="9143771"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Floor-walk notes, open points</a:t>
            </a:r>
          </a:p>
        </p:txBody>
      </p:sp>
      <p:sp>
        <p:nvSpPr>
          <p:cNvPr id="25" name="Rounded Rectangle 24"/>
          <p:cNvSpPr/>
          <p:nvPr/>
        </p:nvSpPr>
        <p:spPr>
          <a:xfrm>
            <a:off x="548640"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721608"/>
            <a:ext cx="2362123" cy="685800"/>
          </a:xfrm>
          <a:prstGeom prst="rect">
            <a:avLst/>
          </a:prstGeom>
          <a:noFill/>
        </p:spPr>
        <p:txBody>
          <a:bodyPr wrap="square" anchor="t" lIns="45720" rIns="45720">
            <a:spAutoFit/>
          </a:bodyPr>
          <a:lstStyle/>
          <a:p>
            <a:r>
              <a:rPr sz="3000" b="1" i="0">
                <a:solidFill>
                  <a:srgbClr val="004EA8"/>
                </a:solidFill>
                <a:latin typeface="Arial"/>
              </a:rPr>
              <a:t>15</a:t>
            </a:r>
          </a:p>
        </p:txBody>
      </p:sp>
      <p:sp>
        <p:nvSpPr>
          <p:cNvPr id="27" name="TextBox 26"/>
          <p:cNvSpPr txBox="1"/>
          <p:nvPr/>
        </p:nvSpPr>
        <p:spPr>
          <a:xfrm>
            <a:off x="685800"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business process flows shared by BDOI</a:t>
            </a:r>
          </a:p>
        </p:txBody>
      </p:sp>
      <p:sp>
        <p:nvSpPr>
          <p:cNvPr id="28" name="TextBox 27"/>
          <p:cNvSpPr txBox="1"/>
          <p:nvPr/>
        </p:nvSpPr>
        <p:spPr>
          <a:xfrm>
            <a:off x="685800"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HL Process Overview pack</a:t>
            </a:r>
          </a:p>
        </p:txBody>
      </p:sp>
      <p:sp>
        <p:nvSpPr>
          <p:cNvPr id="29" name="Rounded Rectangle 28"/>
          <p:cNvSpPr/>
          <p:nvPr/>
        </p:nvSpPr>
        <p:spPr>
          <a:xfrm>
            <a:off x="3367963"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05123" y="3721608"/>
            <a:ext cx="2362123" cy="685800"/>
          </a:xfrm>
          <a:prstGeom prst="rect">
            <a:avLst/>
          </a:prstGeom>
          <a:noFill/>
        </p:spPr>
        <p:txBody>
          <a:bodyPr wrap="square" anchor="t" lIns="45720" rIns="45720">
            <a:spAutoFit/>
          </a:bodyPr>
          <a:lstStyle/>
          <a:p>
            <a:r>
              <a:rPr sz="3000" b="1" i="0">
                <a:solidFill>
                  <a:srgbClr val="004EA8"/>
                </a:solidFill>
                <a:latin typeface="Arial"/>
              </a:rPr>
              <a:t>10</a:t>
            </a:r>
          </a:p>
        </p:txBody>
      </p:sp>
      <p:sp>
        <p:nvSpPr>
          <p:cNvPr id="31" name="TextBox 30"/>
          <p:cNvSpPr txBox="1"/>
          <p:nvPr/>
        </p:nvSpPr>
        <p:spPr>
          <a:xfrm>
            <a:off x="3505123"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business areas in this deck, in 5 department parts</a:t>
            </a:r>
          </a:p>
        </p:txBody>
      </p:sp>
      <p:sp>
        <p:nvSpPr>
          <p:cNvPr id="32" name="TextBox 31"/>
          <p:cNvSpPr txBox="1"/>
          <p:nvPr/>
        </p:nvSpPr>
        <p:spPr>
          <a:xfrm>
            <a:off x="3505123"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This deck</a:t>
            </a:r>
          </a:p>
        </p:txBody>
      </p:sp>
      <p:sp>
        <p:nvSpPr>
          <p:cNvPr id="33" name="Rounded Rectangle 32"/>
          <p:cNvSpPr/>
          <p:nvPr/>
        </p:nvSpPr>
        <p:spPr>
          <a:xfrm>
            <a:off x="6187287"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4447" y="3721608"/>
            <a:ext cx="2362123" cy="685800"/>
          </a:xfrm>
          <a:prstGeom prst="rect">
            <a:avLst/>
          </a:prstGeom>
          <a:noFill/>
        </p:spPr>
        <p:txBody>
          <a:bodyPr wrap="square" anchor="t" lIns="45720" rIns="45720">
            <a:spAutoFit/>
          </a:bodyPr>
          <a:lstStyle/>
          <a:p>
            <a:r>
              <a:rPr sz="3000" b="1" i="0">
                <a:solidFill>
                  <a:srgbClr val="004EA8"/>
                </a:solidFill>
                <a:latin typeface="Arial"/>
              </a:rPr>
              <a:t>59</a:t>
            </a:r>
          </a:p>
        </p:txBody>
      </p:sp>
      <p:sp>
        <p:nvSpPr>
          <p:cNvPr id="35" name="TextBox 34"/>
          <p:cNvSpPr txBox="1"/>
          <p:nvPr/>
        </p:nvSpPr>
        <p:spPr>
          <a:xfrm>
            <a:off x="6324447"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change champions (21) and additional POCs / SMEs (38)</a:t>
            </a:r>
          </a:p>
        </p:txBody>
      </p:sp>
      <p:sp>
        <p:nvSpPr>
          <p:cNvPr id="36" name="TextBox 35"/>
          <p:cNvSpPr txBox="1"/>
          <p:nvPr/>
        </p:nvSpPr>
        <p:spPr>
          <a:xfrm>
            <a:off x="6324447"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Day 1 p.5</a:t>
            </a:r>
          </a:p>
        </p:txBody>
      </p:sp>
      <p:sp>
        <p:nvSpPr>
          <p:cNvPr id="37" name="Rounded Rectangle 36"/>
          <p:cNvSpPr/>
          <p:nvPr/>
        </p:nvSpPr>
        <p:spPr>
          <a:xfrm>
            <a:off x="9006611"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3771" y="3721608"/>
            <a:ext cx="2362123" cy="685800"/>
          </a:xfrm>
          <a:prstGeom prst="rect">
            <a:avLst/>
          </a:prstGeom>
          <a:noFill/>
        </p:spPr>
        <p:txBody>
          <a:bodyPr wrap="square" anchor="t" lIns="45720" rIns="45720">
            <a:spAutoFit/>
          </a:bodyPr>
          <a:lstStyle/>
          <a:p>
            <a:r>
              <a:rPr sz="3000" b="1" i="0">
                <a:solidFill>
                  <a:srgbClr val="004EA8"/>
                </a:solidFill>
                <a:latin typeface="Arial"/>
              </a:rPr>
              <a:t>40+</a:t>
            </a:r>
          </a:p>
        </p:txBody>
      </p:sp>
      <p:sp>
        <p:nvSpPr>
          <p:cNvPr id="39" name="TextBox 38"/>
          <p:cNvSpPr txBox="1"/>
          <p:nvPr/>
        </p:nvSpPr>
        <p:spPr>
          <a:xfrm>
            <a:off x="9143771"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process owners met on the floor</a:t>
            </a:r>
          </a:p>
        </p:txBody>
      </p:sp>
      <p:sp>
        <p:nvSpPr>
          <p:cNvPr id="40" name="TextBox 39"/>
          <p:cNvSpPr txBox="1"/>
          <p:nvPr/>
        </p:nvSpPr>
        <p:spPr>
          <a:xfrm>
            <a:off x="9143771"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Floor-walk POC schedule</a:t>
            </a:r>
          </a:p>
        </p:txBody>
      </p:sp>
      <p:sp>
        <p:nvSpPr>
          <p:cNvPr id="41" name="TextBox 40"/>
          <p:cNvSpPr txBox="1"/>
          <p:nvPr/>
        </p:nvSpPr>
        <p:spPr>
          <a:xfrm>
            <a:off x="548640" y="5879592"/>
            <a:ext cx="11094415" cy="365760"/>
          </a:xfrm>
          <a:prstGeom prst="rect">
            <a:avLst/>
          </a:prstGeom>
          <a:noFill/>
        </p:spPr>
        <p:txBody>
          <a:bodyPr wrap="square" anchor="t" lIns="45720" rIns="45720" tIns="18288" bIns="18288">
            <a:spAutoFit/>
          </a:bodyPr>
          <a:lstStyle/>
          <a:p>
            <a:pPr>
              <a:spcAft>
                <a:spcPts val="0"/>
              </a:spcAft>
            </a:pPr>
            <a:r>
              <a:rPr sz="1100" b="0">
                <a:solidFill>
                  <a:srgbClr val="656565"/>
                </a:solidFill>
                <a:latin typeface="Arial"/>
              </a:rPr>
              <a:t>Process flows shared by BDOI: end to end, New Business, Renewal, Submitted Policies, Employee Benefits, TSU, Operations, Collections, Disbursement, Refund, FRBS, ACSL, Claims, Customer Servicing, Case Management.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Floor-walk coverage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984181"/>
                <a:gridCol w="1163124"/>
                <a:gridCol w="2147306"/>
                <a:gridCol w="715768"/>
                <a:gridCol w="6084034"/>
              </a:tblGrid>
              <a:tr h="365760">
                <a:tc>
                  <a:txBody>
                    <a:bodyPr wrap="square"/>
                    <a:lstStyle/>
                    <a:p>
                      <a:r>
                        <a:rPr sz="1100" b="1">
                          <a:solidFill>
                            <a:srgbClr val="FFFFFF"/>
                          </a:solidFill>
                          <a:latin typeface="Arial"/>
                        </a:rPr>
                        <a:t>Date</a:t>
                      </a:r>
                    </a:p>
                  </a:txBody>
                  <a:tcPr marL="64008" marR="64008" marT="27432" marB="27432" anchor="ctr">
                    <a:solidFill>
                      <a:srgbClr val="004EA8"/>
                    </a:solidFill>
                  </a:tcPr>
                </a:tc>
                <a:tc>
                  <a:txBody>
                    <a:bodyPr wrap="square"/>
                    <a:lstStyle/>
                    <a:p>
                      <a:r>
                        <a:rPr sz="1100" b="1">
                          <a:solidFill>
                            <a:srgbClr val="FFFFFF"/>
                          </a:solidFill>
                          <a:latin typeface="Arial"/>
                        </a:rPr>
                        <a:t>Time</a:t>
                      </a:r>
                    </a:p>
                  </a:txBody>
                  <a:tcPr marL="64008" marR="64008" marT="27432" marB="27432" anchor="ctr">
                    <a:solidFill>
                      <a:srgbClr val="004EA8"/>
                    </a:solidFill>
                  </a:tcPr>
                </a:tc>
                <a:tc>
                  <a:txBody>
                    <a:bodyPr wrap="square"/>
                    <a:lstStyle/>
                    <a:p>
                      <a:r>
                        <a:rPr sz="1100" b="1">
                          <a:solidFill>
                            <a:srgbClr val="FFFFFF"/>
                          </a:solidFill>
                          <a:latin typeface="Arial"/>
                        </a:rPr>
                        <a:t>Process</a:t>
                      </a:r>
                    </a:p>
                  </a:txBody>
                  <a:tcPr marL="64008" marR="64008" marT="27432" marB="27432" anchor="ctr">
                    <a:solidFill>
                      <a:srgbClr val="004EA8"/>
                    </a:solidFill>
                  </a:tcPr>
                </a:tc>
                <a:tc>
                  <a:txBody>
                    <a:bodyPr wrap="square"/>
                    <a:lstStyle/>
                    <a:p>
                      <a:r>
                        <a:rPr sz="1100" b="1">
                          <a:solidFill>
                            <a:srgbClr val="FFFFFF"/>
                          </a:solidFill>
                          <a:latin typeface="Arial"/>
                        </a:rPr>
                        <a:t>Floor</a:t>
                      </a:r>
                    </a:p>
                  </a:txBody>
                  <a:tcPr marL="64008" marR="64008" marT="27432" marB="27432" anchor="ctr">
                    <a:solidFill>
                      <a:srgbClr val="004EA8"/>
                    </a:solidFill>
                  </a:tcPr>
                </a:tc>
                <a:tc>
                  <a:txBody>
                    <a:bodyPr wrap="square"/>
                    <a:lstStyle/>
                    <a:p>
                      <a:r>
                        <a:rPr sz="1100" b="1">
                          <a:solidFill>
                            <a:srgbClr val="FFFFFF"/>
                          </a:solidFill>
                          <a:latin typeface="Arial"/>
                        </a:rPr>
                        <a:t>Process owners</a:t>
                      </a:r>
                    </a:p>
                  </a:txBody>
                  <a:tcPr marL="64008" marR="64008" marT="27432" marB="27432" anchor="ctr">
                    <a:solidFill>
                      <a:srgbClr val="004EA8"/>
                    </a:solidFill>
                  </a:tcPr>
                </a:tc>
              </a:tr>
              <a:tr h="650530">
                <a:tc>
                  <a:txBody>
                    <a:bodyPr wrap="square"/>
                    <a:lstStyle/>
                    <a:p>
                      <a:r>
                        <a:rPr sz="1100" b="0">
                          <a:solidFill>
                            <a:srgbClr val="4B4B4B"/>
                          </a:solidFill>
                          <a:latin typeface="Arial"/>
                        </a:rPr>
                        <a:t>21 Sep</a:t>
                      </a:r>
                    </a:p>
                  </a:txBody>
                  <a:tcPr marL="64008" marR="64008" marT="27432" marB="27432" anchor="ctr">
                    <a:solidFill>
                      <a:srgbClr val="FFFFFF"/>
                    </a:solidFill>
                  </a:tcPr>
                </a:tc>
                <a:tc>
                  <a:txBody>
                    <a:bodyPr wrap="square"/>
                    <a:lstStyle/>
                    <a:p>
                      <a:r>
                        <a:rPr sz="1100" b="0">
                          <a:solidFill>
                            <a:srgbClr val="4B4B4B"/>
                          </a:solidFill>
                          <a:latin typeface="Arial"/>
                        </a:rPr>
                        <a:t>Full day</a:t>
                      </a:r>
                    </a:p>
                  </a:txBody>
                  <a:tcPr marL="64008" marR="64008" marT="27432" marB="27432" anchor="ctr">
                    <a:solidFill>
                      <a:srgbClr val="FFFFFF"/>
                    </a:solidFill>
                  </a:tcPr>
                </a:tc>
                <a:tc>
                  <a:txBody>
                    <a:bodyPr wrap="square"/>
                    <a:lstStyle/>
                    <a:p>
                      <a:r>
                        <a:rPr sz="1100" b="1">
                          <a:solidFill>
                            <a:srgbClr val="4B4B4B"/>
                          </a:solidFill>
                          <a:latin typeface="Arial"/>
                        </a:rPr>
                        <a:t>Business overview; discovery</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c>
                  <a:txBody>
                    <a:bodyPr wrap="square"/>
                    <a:lstStyle/>
                    <a:p>
                      <a:r>
                        <a:rPr sz="1100" b="0">
                          <a:solidFill>
                            <a:srgbClr val="4B4B4B"/>
                          </a:solidFill>
                          <a:latin typeface="Arial"/>
                        </a:rPr>
                        <a:t>BDOI programme, BU and IT leads (Day 1 deck)</a:t>
                      </a:r>
                    </a:p>
                  </a:txBody>
                  <a:tcPr marL="64008" marR="64008" marT="27432" marB="27432" anchor="ctr">
                    <a:solidFill>
                      <a:srgbClr val="FFFFFF"/>
                    </a:solidFill>
                  </a:tcPr>
                </a:tc>
              </a:tr>
              <a:tr h="65053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9-10 am</a:t>
                      </a:r>
                    </a:p>
                  </a:txBody>
                  <a:tcPr marL="64008" marR="64008" marT="27432" marB="27432" anchor="ctr">
                    <a:solidFill>
                      <a:srgbClr val="E5F5FF"/>
                    </a:solidFill>
                  </a:tcPr>
                </a:tc>
                <a:tc>
                  <a:txBody>
                    <a:bodyPr wrap="square"/>
                    <a:lstStyle/>
                    <a:p>
                      <a:r>
                        <a:rPr sz="1100" b="1">
                          <a:solidFill>
                            <a:srgbClr val="4B4B4B"/>
                          </a:solidFill>
                          <a:latin typeface="Arial"/>
                        </a:rPr>
                        <a:t>New Business</a:t>
                      </a:r>
                    </a:p>
                  </a:txBody>
                  <a:tcPr marL="64008" marR="64008" marT="27432" marB="27432" anchor="ctr">
                    <a:solidFill>
                      <a:srgbClr val="E5F5FF"/>
                    </a:solidFill>
                  </a:tcPr>
                </a:tc>
                <a:tc>
                  <a:txBody>
                    <a:bodyPr wrap="square"/>
                    <a:lstStyle/>
                    <a:p>
                      <a:r>
                        <a:rPr sz="1100" b="0">
                          <a:solidFill>
                            <a:srgbClr val="4B4B4B"/>
                          </a:solidFill>
                          <a:latin typeface="Arial"/>
                        </a:rPr>
                        <a:t>43F</a:t>
                      </a:r>
                    </a:p>
                  </a:txBody>
                  <a:tcPr marL="64008" marR="64008" marT="27432" marB="27432" anchor="ctr">
                    <a:solidFill>
                      <a:srgbClr val="E5F5FF"/>
                    </a:solidFill>
                  </a:tcPr>
                </a:tc>
                <a:tc>
                  <a:txBody>
                    <a:bodyPr wrap="square"/>
                    <a:lstStyle/>
                    <a:p>
                      <a:r>
                        <a:rPr sz="1100" b="0">
                          <a:solidFill>
                            <a:srgbClr val="4B4B4B"/>
                          </a:solidFill>
                          <a:latin typeface="Arial"/>
                        </a:rPr>
                        <a:t>Rose Lique, Marla Apostol (Corporate); Grace Tordesillas, Kin Ysaac Flores (Non-CBG Retail); Justine Malonzo, Jhosven Awa (CBG Motor); Lyka Palomeno, Regina Matutina</a:t>
                      </a:r>
                    </a:p>
                  </a:txBody>
                  <a:tcPr marL="64008" marR="64008" marT="27432" marB="27432" anchor="ctr">
                    <a:solidFill>
                      <a:srgbClr val="E5F5FF"/>
                    </a:solidFill>
                  </a:tcPr>
                </a:tc>
              </a:tr>
              <a:tr h="65053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10-11 am</a:t>
                      </a:r>
                    </a:p>
                  </a:txBody>
                  <a:tcPr marL="64008" marR="64008" marT="27432" marB="27432" anchor="ctr">
                    <a:solidFill>
                      <a:srgbClr val="FFFFFF"/>
                    </a:solidFill>
                  </a:tcPr>
                </a:tc>
                <a:tc>
                  <a:txBody>
                    <a:bodyPr wrap="square"/>
                    <a:lstStyle/>
                    <a:p>
                      <a:r>
                        <a:rPr sz="1100" b="1">
                          <a:solidFill>
                            <a:srgbClr val="4B4B4B"/>
                          </a:solidFill>
                          <a:latin typeface="Arial"/>
                        </a:rPr>
                        <a:t>Renewal Marketing</a:t>
                      </a:r>
                    </a:p>
                  </a:txBody>
                  <a:tcPr marL="64008" marR="64008" marT="27432" marB="27432" anchor="ctr">
                    <a:solidFill>
                      <a:srgbClr val="FFFFFF"/>
                    </a:solidFill>
                  </a:tcPr>
                </a:tc>
                <a:tc>
                  <a:txBody>
                    <a:bodyPr wrap="square"/>
                    <a:lstStyle/>
                    <a:p>
                      <a:r>
                        <a:rPr sz="1100" b="0">
                          <a:solidFill>
                            <a:srgbClr val="4B4B4B"/>
                          </a:solidFill>
                          <a:latin typeface="Arial"/>
                        </a:rPr>
                        <a:t>43F</a:t>
                      </a:r>
                    </a:p>
                  </a:txBody>
                  <a:tcPr marL="64008" marR="64008" marT="27432" marB="27432" anchor="ctr">
                    <a:solidFill>
                      <a:srgbClr val="FFFFFF"/>
                    </a:solidFill>
                  </a:tcPr>
                </a:tc>
                <a:tc>
                  <a:txBody>
                    <a:bodyPr wrap="square"/>
                    <a:lstStyle/>
                    <a:p>
                      <a:r>
                        <a:rPr sz="1100" b="0">
                          <a:solidFill>
                            <a:srgbClr val="4B4B4B"/>
                          </a:solidFill>
                          <a:latin typeface="Arial"/>
                        </a:rPr>
                        <a:t>Amara Cruz, Rose Lique, Joy Ilagan, Tina Fajardo; Grace Tordesillas, Kin Ysaac Flores; Criffson Rendon, Joyce Aritao; Ma. Christena Cezar; Cezssane Canarias, Jeramie Ramos</a:t>
                      </a:r>
                    </a:p>
                  </a:txBody>
                  <a:tcPr marL="64008" marR="64008" marT="27432" marB="27432" anchor="ctr">
                    <a:solidFill>
                      <a:srgbClr val="FFFFFF"/>
                    </a:solidFill>
                  </a:tcPr>
                </a:tc>
              </a:tr>
              <a:tr h="65053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11-11:30 am</a:t>
                      </a:r>
                    </a:p>
                  </a:txBody>
                  <a:tcPr marL="64008" marR="64008" marT="27432" marB="27432" anchor="ctr">
                    <a:solidFill>
                      <a:srgbClr val="E5F5FF"/>
                    </a:solidFill>
                  </a:tcPr>
                </a:tc>
                <a:tc>
                  <a:txBody>
                    <a:bodyPr wrap="square"/>
                    <a:lstStyle/>
                    <a:p>
                      <a:r>
                        <a:rPr sz="1100" b="1">
                          <a:solidFill>
                            <a:srgbClr val="4B4B4B"/>
                          </a:solidFill>
                          <a:latin typeface="Arial"/>
                        </a:rPr>
                        <a:t>Marketing Admin</a:t>
                      </a:r>
                    </a:p>
                  </a:txBody>
                  <a:tcPr marL="64008" marR="64008" marT="27432" marB="27432" anchor="ctr">
                    <a:solidFill>
                      <a:srgbClr val="E5F5FF"/>
                    </a:solidFill>
                  </a:tcPr>
                </a:tc>
                <a:tc>
                  <a:txBody>
                    <a:bodyPr wrap="square"/>
                    <a:lstStyle/>
                    <a:p>
                      <a:r>
                        <a:rPr sz="1100" b="0">
                          <a:solidFill>
                            <a:srgbClr val="4B4B4B"/>
                          </a:solidFill>
                          <a:latin typeface="Arial"/>
                        </a:rPr>
                        <a:t>43F</a:t>
                      </a:r>
                    </a:p>
                  </a:txBody>
                  <a:tcPr marL="64008" marR="64008" marT="27432" marB="27432" anchor="ctr">
                    <a:solidFill>
                      <a:srgbClr val="E5F5FF"/>
                    </a:solidFill>
                  </a:tcPr>
                </a:tc>
                <a:tc>
                  <a:txBody>
                    <a:bodyPr wrap="square"/>
                    <a:lstStyle/>
                    <a:p>
                      <a:r>
                        <a:rPr sz="1100" b="0">
                          <a:solidFill>
                            <a:srgbClr val="4B4B4B"/>
                          </a:solidFill>
                          <a:latin typeface="Arial"/>
                        </a:rPr>
                        <a:t>Rose Lique, Reymark Marcelo; Nina Odvina, Kim Nayve, Mae Varron, Grace Tordesillas, Jordan Lambino</a:t>
                      </a:r>
                    </a:p>
                  </a:txBody>
                  <a:tcPr marL="64008" marR="64008" marT="27432" marB="27432" anchor="ctr">
                    <a:solidFill>
                      <a:srgbClr val="E5F5FF"/>
                    </a:solidFill>
                  </a:tcPr>
                </a:tc>
              </a:tr>
              <a:tr h="65053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1-1:30 pm</a:t>
                      </a:r>
                    </a:p>
                  </a:txBody>
                  <a:tcPr marL="64008" marR="64008" marT="27432" marB="27432" anchor="ctr">
                    <a:solidFill>
                      <a:srgbClr val="FFFFFF"/>
                    </a:solidFill>
                  </a:tcPr>
                </a:tc>
                <a:tc>
                  <a:txBody>
                    <a:bodyPr wrap="square"/>
                    <a:lstStyle/>
                    <a:p>
                      <a:r>
                        <a:rPr sz="1100" b="1">
                          <a:solidFill>
                            <a:srgbClr val="4B4B4B"/>
                          </a:solidFill>
                          <a:latin typeface="Arial"/>
                        </a:rPr>
                        <a:t>Product Maintenance (TSU)</a:t>
                      </a:r>
                    </a:p>
                  </a:txBody>
                  <a:tcPr marL="64008" marR="64008" marT="27432" marB="27432" anchor="ctr">
                    <a:solidFill>
                      <a:srgbClr val="FFFFFF"/>
                    </a:solidFill>
                  </a:tcPr>
                </a:tc>
                <a:tc>
                  <a:txBody>
                    <a:bodyPr wrap="square"/>
                    <a:lstStyle/>
                    <a:p>
                      <a:r>
                        <a:rPr sz="1100" b="0">
                          <a:solidFill>
                            <a:srgbClr val="4B4B4B"/>
                          </a:solidFill>
                          <a:latin typeface="Arial"/>
                        </a:rPr>
                        <a:t>44F</a:t>
                      </a:r>
                    </a:p>
                  </a:txBody>
                  <a:tcPr marL="64008" marR="64008" marT="27432" marB="27432" anchor="ctr">
                    <a:solidFill>
                      <a:srgbClr val="FFFFFF"/>
                    </a:solidFill>
                  </a:tcPr>
                </a:tc>
                <a:tc>
                  <a:txBody>
                    <a:bodyPr wrap="square"/>
                    <a:lstStyle/>
                    <a:p>
                      <a:r>
                        <a:rPr sz="1100" b="0">
                          <a:solidFill>
                            <a:srgbClr val="4B4B4B"/>
                          </a:solidFill>
                          <a:latin typeface="Arial"/>
                        </a:rPr>
                        <a:t>Cherry Ann Manalo, Joy Intia</a:t>
                      </a:r>
                    </a:p>
                  </a:txBody>
                  <a:tcPr marL="64008" marR="64008" marT="27432" marB="27432" anchor="ctr">
                    <a:solidFill>
                      <a:srgbClr val="FFFFFF"/>
                    </a:solidFill>
                  </a:tcPr>
                </a:tc>
              </a:tr>
              <a:tr h="65053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1:30-3 pm</a:t>
                      </a:r>
                    </a:p>
                  </a:txBody>
                  <a:tcPr marL="64008" marR="64008" marT="27432" marB="27432" anchor="ctr">
                    <a:solidFill>
                      <a:srgbClr val="E5F5FF"/>
                    </a:solidFill>
                  </a:tcPr>
                </a:tc>
                <a:tc>
                  <a:txBody>
                    <a:bodyPr wrap="square"/>
                    <a:lstStyle/>
                    <a:p>
                      <a:r>
                        <a:rPr sz="1100" b="1">
                          <a:solidFill>
                            <a:srgbClr val="4B4B4B"/>
                          </a:solidFill>
                          <a:latin typeface="Arial"/>
                        </a:rPr>
                        <a:t>Renewal Processing</a:t>
                      </a:r>
                    </a:p>
                  </a:txBody>
                  <a:tcPr marL="64008" marR="64008" marT="27432" marB="27432" anchor="ctr">
                    <a:solidFill>
                      <a:srgbClr val="E5F5FF"/>
                    </a:solidFill>
                  </a:tcPr>
                </a:tc>
                <a:tc>
                  <a:txBody>
                    <a:bodyPr wrap="square"/>
                    <a:lstStyle/>
                    <a:p>
                      <a:r>
                        <a:rPr sz="1100" b="0">
                          <a:solidFill>
                            <a:srgbClr val="4B4B4B"/>
                          </a:solidFill>
                          <a:latin typeface="Arial"/>
                        </a:rPr>
                        <a:t>44F</a:t>
                      </a:r>
                    </a:p>
                  </a:txBody>
                  <a:tcPr marL="64008" marR="64008" marT="27432" marB="27432" anchor="ctr">
                    <a:solidFill>
                      <a:srgbClr val="E5F5FF"/>
                    </a:solidFill>
                  </a:tcPr>
                </a:tc>
                <a:tc>
                  <a:txBody>
                    <a:bodyPr wrap="square"/>
                    <a:lstStyle/>
                    <a:p>
                      <a:r>
                        <a:rPr sz="1100" b="0">
                          <a:solidFill>
                            <a:srgbClr val="4B4B4B"/>
                          </a:solidFill>
                          <a:latin typeface="Arial"/>
                        </a:rPr>
                        <a:t>Angelo Alibuyog (CBG Fire), Ces Remodo (CBG Motor), Berna Corpuz (Non-CBG Corporate), Norberto Fulo (Non-CBG Retail)</a:t>
                      </a:r>
                    </a:p>
                  </a:txBody>
                  <a:tcPr marL="64008" marR="64008" marT="27432" marB="27432" anchor="ctr">
                    <a:solidFill>
                      <a:srgbClr val="E5F5FF"/>
                    </a:solidFill>
                  </a:tcPr>
                </a:tc>
              </a:tr>
              <a:tr h="65053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2-3:30 pm</a:t>
                      </a:r>
                    </a:p>
                  </a:txBody>
                  <a:tcPr marL="64008" marR="64008" marT="27432" marB="27432" anchor="ctr">
                    <a:solidFill>
                      <a:srgbClr val="FFFFFF"/>
                    </a:solidFill>
                  </a:tcPr>
                </a:tc>
                <a:tc>
                  <a:txBody>
                    <a:bodyPr wrap="square"/>
                    <a:lstStyle/>
                    <a:p>
                      <a:r>
                        <a:rPr sz="1100" b="1">
                          <a:solidFill>
                            <a:srgbClr val="4B4B4B"/>
                          </a:solidFill>
                          <a:latin typeface="Arial"/>
                        </a:rPr>
                        <a:t>Placement and Booking</a:t>
                      </a:r>
                    </a:p>
                  </a:txBody>
                  <a:tcPr marL="64008" marR="64008" marT="27432" marB="27432" anchor="ctr">
                    <a:solidFill>
                      <a:srgbClr val="FFFFFF"/>
                    </a:solidFill>
                  </a:tcPr>
                </a:tc>
                <a:tc>
                  <a:txBody>
                    <a:bodyPr wrap="square"/>
                    <a:lstStyle/>
                    <a:p>
                      <a:r>
                        <a:rPr sz="1100" b="0">
                          <a:solidFill>
                            <a:srgbClr val="4B4B4B"/>
                          </a:solidFill>
                          <a:latin typeface="Arial"/>
                        </a:rPr>
                        <a:t>43F</a:t>
                      </a:r>
                    </a:p>
                  </a:txBody>
                  <a:tcPr marL="64008" marR="64008" marT="27432" marB="27432" anchor="ctr">
                    <a:solidFill>
                      <a:srgbClr val="FFFFFF"/>
                    </a:solidFill>
                  </a:tcPr>
                </a:tc>
                <a:tc>
                  <a:txBody>
                    <a:bodyPr wrap="square"/>
                    <a:lstStyle/>
                    <a:p>
                      <a:r>
                        <a:rPr sz="1100" b="0">
                          <a:solidFill>
                            <a:srgbClr val="4B4B4B"/>
                          </a:solidFill>
                          <a:latin typeface="Arial"/>
                        </a:rPr>
                        <a:t>Ramoncito Manalo, Cherry Ann Catayas; Jean Deam Dela Cruz, Cristina Labrador, Mae Anne B. Roque; John Ray Bellen, Rey Mark Magsael</a:t>
                      </a:r>
                    </a:p>
                  </a:txBody>
                  <a:tcPr marL="64008" marR="64008" marT="27432" marB="27432" anchor="ctr">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Floor-walk coverage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984181"/>
                <a:gridCol w="1163124"/>
                <a:gridCol w="2147306"/>
                <a:gridCol w="715768"/>
                <a:gridCol w="6084034"/>
              </a:tblGrid>
              <a:tr h="365760">
                <a:tc>
                  <a:txBody>
                    <a:bodyPr wrap="square"/>
                    <a:lstStyle/>
                    <a:p>
                      <a:r>
                        <a:rPr sz="1100" b="1">
                          <a:solidFill>
                            <a:srgbClr val="FFFFFF"/>
                          </a:solidFill>
                          <a:latin typeface="Arial"/>
                        </a:rPr>
                        <a:t>Date</a:t>
                      </a:r>
                    </a:p>
                  </a:txBody>
                  <a:tcPr marL="64008" marR="64008" marT="27432" marB="27432" anchor="ctr">
                    <a:solidFill>
                      <a:srgbClr val="004EA8"/>
                    </a:solidFill>
                  </a:tcPr>
                </a:tc>
                <a:tc>
                  <a:txBody>
                    <a:bodyPr wrap="square"/>
                    <a:lstStyle/>
                    <a:p>
                      <a:r>
                        <a:rPr sz="1100" b="1">
                          <a:solidFill>
                            <a:srgbClr val="FFFFFF"/>
                          </a:solidFill>
                          <a:latin typeface="Arial"/>
                        </a:rPr>
                        <a:t>Time</a:t>
                      </a:r>
                    </a:p>
                  </a:txBody>
                  <a:tcPr marL="64008" marR="64008" marT="27432" marB="27432" anchor="ctr">
                    <a:solidFill>
                      <a:srgbClr val="004EA8"/>
                    </a:solidFill>
                  </a:tcPr>
                </a:tc>
                <a:tc>
                  <a:txBody>
                    <a:bodyPr wrap="square"/>
                    <a:lstStyle/>
                    <a:p>
                      <a:r>
                        <a:rPr sz="1100" b="1">
                          <a:solidFill>
                            <a:srgbClr val="FFFFFF"/>
                          </a:solidFill>
                          <a:latin typeface="Arial"/>
                        </a:rPr>
                        <a:t>Process</a:t>
                      </a:r>
                    </a:p>
                  </a:txBody>
                  <a:tcPr marL="64008" marR="64008" marT="27432" marB="27432" anchor="ctr">
                    <a:solidFill>
                      <a:srgbClr val="004EA8"/>
                    </a:solidFill>
                  </a:tcPr>
                </a:tc>
                <a:tc>
                  <a:txBody>
                    <a:bodyPr wrap="square"/>
                    <a:lstStyle/>
                    <a:p>
                      <a:r>
                        <a:rPr sz="1100" b="1">
                          <a:solidFill>
                            <a:srgbClr val="FFFFFF"/>
                          </a:solidFill>
                          <a:latin typeface="Arial"/>
                        </a:rPr>
                        <a:t>Floor</a:t>
                      </a:r>
                    </a:p>
                  </a:txBody>
                  <a:tcPr marL="64008" marR="64008" marT="27432" marB="27432" anchor="ctr">
                    <a:solidFill>
                      <a:srgbClr val="004EA8"/>
                    </a:solidFill>
                  </a:tcPr>
                </a:tc>
                <a:tc>
                  <a:txBody>
                    <a:bodyPr wrap="square"/>
                    <a:lstStyle/>
                    <a:p>
                      <a:r>
                        <a:rPr sz="1100" b="1">
                          <a:solidFill>
                            <a:srgbClr val="FFFFFF"/>
                          </a:solidFill>
                          <a:latin typeface="Arial"/>
                        </a:rPr>
                        <a:t>Process owners</a:t>
                      </a:r>
                    </a:p>
                  </a:txBody>
                  <a:tcPr marL="64008" marR="64008" marT="27432" marB="27432" anchor="ctr">
                    <a:solidFill>
                      <a:srgbClr val="004EA8"/>
                    </a:solidFill>
                  </a:tcPr>
                </a:tc>
              </a:tr>
              <a:tr h="731520">
                <a:tc>
                  <a:txBody>
                    <a:bodyPr wrap="square"/>
                    <a:lstStyle/>
                    <a:p>
                      <a:r>
                        <a:rPr sz="1100" b="0">
                          <a:solidFill>
                            <a:srgbClr val="4B4B4B"/>
                          </a:solidFill>
                          <a:latin typeface="Arial"/>
                        </a:rPr>
                        <a:t>22 Sep</a:t>
                      </a:r>
                    </a:p>
                  </a:txBody>
                  <a:tcPr marL="64008" marR="64008" marT="27432" marB="27432" anchor="ctr">
                    <a:solidFill>
                      <a:srgbClr val="FFFFFF"/>
                    </a:solidFill>
                  </a:tcPr>
                </a:tc>
                <a:tc>
                  <a:txBody>
                    <a:bodyPr wrap="square"/>
                    <a:lstStyle/>
                    <a:p>
                      <a:r>
                        <a:rPr sz="1100" b="0">
                          <a:solidFill>
                            <a:srgbClr val="4B4B4B"/>
                          </a:solidFill>
                          <a:latin typeface="Arial"/>
                        </a:rPr>
                        <a:t>3:30-5 pm</a:t>
                      </a:r>
                    </a:p>
                  </a:txBody>
                  <a:tcPr marL="64008" marR="64008" marT="27432" marB="27432" anchor="ctr">
                    <a:solidFill>
                      <a:srgbClr val="FFFFFF"/>
                    </a:solidFill>
                  </a:tcPr>
                </a:tc>
                <a:tc>
                  <a:txBody>
                    <a:bodyPr wrap="square"/>
                    <a:lstStyle/>
                    <a:p>
                      <a:r>
                        <a:rPr sz="1100" b="1">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43F, 44F</a:t>
                      </a:r>
                    </a:p>
                  </a:txBody>
                  <a:tcPr marL="64008" marR="64008" marT="27432" marB="27432" anchor="ctr">
                    <a:solidFill>
                      <a:srgbClr val="FFFFFF"/>
                    </a:solidFill>
                  </a:tcPr>
                </a:tc>
                <a:tc>
                  <a:txBody>
                    <a:bodyPr wrap="square"/>
                    <a:lstStyle/>
                    <a:p>
                      <a:r>
                        <a:rPr sz="1100" b="0">
                          <a:solidFill>
                            <a:srgbClr val="4B4B4B"/>
                          </a:solidFill>
                          <a:latin typeface="Arial"/>
                        </a:rPr>
                        <a:t>Sheryne Hernaez, Pia Pinili</a:t>
                      </a:r>
                    </a:p>
                  </a:txBody>
                  <a:tcPr marL="64008" marR="64008" marT="27432" marB="27432" anchor="ctr">
                    <a:solidFill>
                      <a:srgbClr val="FFFFFF"/>
                    </a:solidFill>
                  </a:tcPr>
                </a:tc>
              </a:tr>
              <a:tr h="731520">
                <a:tc>
                  <a:txBody>
                    <a:bodyPr wrap="square"/>
                    <a:lstStyle/>
                    <a:p>
                      <a:r>
                        <a:rPr sz="1100" b="0">
                          <a:solidFill>
                            <a:srgbClr val="4B4B4B"/>
                          </a:solidFill>
                          <a:latin typeface="Arial"/>
                        </a:rPr>
                        <a:t>22 Sep</a:t>
                      </a:r>
                    </a:p>
                  </a:txBody>
                  <a:tcPr marL="64008" marR="64008" marT="27432" marB="27432" anchor="ctr">
                    <a:solidFill>
                      <a:srgbClr val="E5F5FF"/>
                    </a:solidFill>
                  </a:tcPr>
                </a:tc>
                <a:tc>
                  <a:txBody>
                    <a:bodyPr wrap="square"/>
                    <a:lstStyle/>
                    <a:p>
                      <a:r>
                        <a:rPr sz="1100" b="0">
                          <a:solidFill>
                            <a:srgbClr val="4B4B4B"/>
                          </a:solidFill>
                          <a:latin typeface="Arial"/>
                        </a:rPr>
                        <a:t>5-6 pm</a:t>
                      </a:r>
                    </a:p>
                  </a:txBody>
                  <a:tcPr marL="64008" marR="64008" marT="27432" marB="27432" anchor="ctr">
                    <a:solidFill>
                      <a:srgbClr val="E5F5FF"/>
                    </a:solidFill>
                  </a:tcPr>
                </a:tc>
                <a:tc>
                  <a:txBody>
                    <a:bodyPr wrap="square"/>
                    <a:lstStyle/>
                    <a:p>
                      <a:r>
                        <a:rPr sz="1100" b="1">
                          <a:solidFill>
                            <a:srgbClr val="4B4B4B"/>
                          </a:solidFill>
                          <a:latin typeface="Arial"/>
                        </a:rPr>
                        <a:t>Claims</a:t>
                      </a:r>
                    </a:p>
                  </a:txBody>
                  <a:tcPr marL="64008" marR="64008" marT="27432" marB="27432" anchor="ctr">
                    <a:solidFill>
                      <a:srgbClr val="E5F5FF"/>
                    </a:solidFill>
                  </a:tcPr>
                </a:tc>
                <a:tc>
                  <a:txBody>
                    <a:bodyPr wrap="square"/>
                    <a:lstStyle/>
                    <a:p>
                      <a:r>
                        <a:rPr sz="1100" b="0">
                          <a:solidFill>
                            <a:srgbClr val="4B4B4B"/>
                          </a:solidFill>
                          <a:latin typeface="Arial"/>
                        </a:rPr>
                        <a:t>44F</a:t>
                      </a:r>
                    </a:p>
                  </a:txBody>
                  <a:tcPr marL="64008" marR="64008" marT="27432" marB="27432" anchor="ctr">
                    <a:solidFill>
                      <a:srgbClr val="E5F5FF"/>
                    </a:solidFill>
                  </a:tcPr>
                </a:tc>
                <a:tc>
                  <a:txBody>
                    <a:bodyPr wrap="square"/>
                    <a:lstStyle/>
                    <a:p>
                      <a:r>
                        <a:rPr sz="1100" b="0">
                          <a:solidFill>
                            <a:srgbClr val="4B4B4B"/>
                          </a:solidFill>
                          <a:latin typeface="Arial"/>
                        </a:rPr>
                        <a:t>Elmar O. Alvarez Jr., Richard Castanares</a:t>
                      </a:r>
                    </a:p>
                  </a:txBody>
                  <a:tcPr marL="64008" marR="64008" marT="27432" marB="27432" anchor="ctr">
                    <a:solidFill>
                      <a:srgbClr val="E5F5FF"/>
                    </a:solidFill>
                  </a:tcPr>
                </a:tc>
              </a:tr>
              <a:tr h="731520">
                <a:tc>
                  <a:txBody>
                    <a:bodyPr wrap="square"/>
                    <a:lstStyle/>
                    <a:p>
                      <a:r>
                        <a:rPr sz="1100" b="0">
                          <a:solidFill>
                            <a:srgbClr val="4B4B4B"/>
                          </a:solidFill>
                          <a:latin typeface="Arial"/>
                        </a:rPr>
                        <a:t>23 Sep</a:t>
                      </a:r>
                    </a:p>
                  </a:txBody>
                  <a:tcPr marL="64008" marR="64008" marT="27432" marB="27432" anchor="ctr">
                    <a:solidFill>
                      <a:srgbClr val="FFFFFF"/>
                    </a:solidFill>
                  </a:tcPr>
                </a:tc>
                <a:tc>
                  <a:txBody>
                    <a:bodyPr wrap="square"/>
                    <a:lstStyle/>
                    <a:p>
                      <a:r>
                        <a:rPr sz="1100" b="0">
                          <a:solidFill>
                            <a:srgbClr val="4B4B4B"/>
                          </a:solidFill>
                          <a:latin typeface="Arial"/>
                        </a:rPr>
                        <a:t>9-10 am</a:t>
                      </a:r>
                    </a:p>
                  </a:txBody>
                  <a:tcPr marL="64008" marR="64008" marT="27432" marB="27432" anchor="ctr">
                    <a:solidFill>
                      <a:srgbClr val="FFFFFF"/>
                    </a:solidFill>
                  </a:tcPr>
                </a:tc>
                <a:tc>
                  <a:txBody>
                    <a:bodyPr wrap="square"/>
                    <a:lstStyle/>
                    <a:p>
                      <a:r>
                        <a:rPr sz="1100" b="1">
                          <a:solidFill>
                            <a:srgbClr val="4B4B4B"/>
                          </a:solidFill>
                          <a:latin typeface="Arial"/>
                        </a:rPr>
                        <a:t>Employee Benefits</a:t>
                      </a:r>
                    </a:p>
                  </a:txBody>
                  <a:tcPr marL="64008" marR="64008" marT="27432" marB="27432" anchor="ctr">
                    <a:solidFill>
                      <a:srgbClr val="FFFFFF"/>
                    </a:solidFill>
                  </a:tcPr>
                </a:tc>
                <a:tc>
                  <a:txBody>
                    <a:bodyPr wrap="square"/>
                    <a:lstStyle/>
                    <a:p>
                      <a:r>
                        <a:rPr sz="1100" b="0">
                          <a:solidFill>
                            <a:srgbClr val="4B4B4B"/>
                          </a:solidFill>
                          <a:latin typeface="Arial"/>
                        </a:rPr>
                        <a:t>43F</a:t>
                      </a:r>
                    </a:p>
                  </a:txBody>
                  <a:tcPr marL="64008" marR="64008" marT="27432" marB="27432" anchor="ctr">
                    <a:solidFill>
                      <a:srgbClr val="FFFFFF"/>
                    </a:solidFill>
                  </a:tcPr>
                </a:tc>
                <a:tc>
                  <a:txBody>
                    <a:bodyPr wrap="square"/>
                    <a:lstStyle/>
                    <a:p>
                      <a:r>
                        <a:rPr sz="1100" b="0">
                          <a:solidFill>
                            <a:srgbClr val="4B4B4B"/>
                          </a:solidFill>
                          <a:latin typeface="Arial"/>
                        </a:rPr>
                        <a:t>Marianne Alpapara, Jyneffer Liansing, Edwin Garcia</a:t>
                      </a:r>
                    </a:p>
                  </a:txBody>
                  <a:tcPr marL="64008" marR="64008" marT="27432" marB="27432" anchor="ctr">
                    <a:solidFill>
                      <a:srgbClr val="FFFFFF"/>
                    </a:solidFill>
                  </a:tcPr>
                </a:tc>
              </a:tr>
              <a:tr h="731520">
                <a:tc>
                  <a:txBody>
                    <a:bodyPr wrap="square"/>
                    <a:lstStyle/>
                    <a:p>
                      <a:r>
                        <a:rPr sz="1100" b="0">
                          <a:solidFill>
                            <a:srgbClr val="4B4B4B"/>
                          </a:solidFill>
                          <a:latin typeface="Arial"/>
                        </a:rPr>
                        <a:t>23 Sep</a:t>
                      </a:r>
                    </a:p>
                  </a:txBody>
                  <a:tcPr marL="64008" marR="64008" marT="27432" marB="27432" anchor="ctr">
                    <a:solidFill>
                      <a:srgbClr val="E5F5FF"/>
                    </a:solidFill>
                  </a:tcPr>
                </a:tc>
                <a:tc>
                  <a:txBody>
                    <a:bodyPr wrap="square"/>
                    <a:lstStyle/>
                    <a:p>
                      <a:r>
                        <a:rPr sz="1100" b="0">
                          <a:solidFill>
                            <a:srgbClr val="4B4B4B"/>
                          </a:solidFill>
                          <a:latin typeface="Arial"/>
                        </a:rPr>
                        <a:t>10 am-12 nn</a:t>
                      </a:r>
                    </a:p>
                  </a:txBody>
                  <a:tcPr marL="64008" marR="64008" marT="27432" marB="27432" anchor="ctr">
                    <a:solidFill>
                      <a:srgbClr val="E5F5FF"/>
                    </a:solidFill>
                  </a:tcPr>
                </a:tc>
                <a:tc>
                  <a:txBody>
                    <a:bodyPr wrap="square"/>
                    <a:lstStyle/>
                    <a:p>
                      <a:r>
                        <a:rPr sz="1100" b="1">
                          <a:solidFill>
                            <a:srgbClr val="4B4B4B"/>
                          </a:solidFill>
                          <a:latin typeface="Arial"/>
                        </a:rPr>
                        <a:t>Disbursement, FRBS, ACSL</a:t>
                      </a:r>
                    </a:p>
                  </a:txBody>
                  <a:tcPr marL="64008" marR="64008" marT="27432" marB="27432" anchor="ctr">
                    <a:solidFill>
                      <a:srgbClr val="E5F5FF"/>
                    </a:solidFill>
                  </a:tcPr>
                </a:tc>
                <a:tc>
                  <a:txBody>
                    <a:bodyPr wrap="square"/>
                    <a:lstStyle/>
                    <a:p>
                      <a:r>
                        <a:rPr sz="1100" b="0">
                          <a:solidFill>
                            <a:srgbClr val="4B4B4B"/>
                          </a:solidFill>
                          <a:latin typeface="Arial"/>
                        </a:rPr>
                        <a:t>44F</a:t>
                      </a:r>
                    </a:p>
                  </a:txBody>
                  <a:tcPr marL="64008" marR="64008" marT="27432" marB="27432" anchor="ctr">
                    <a:solidFill>
                      <a:srgbClr val="E5F5FF"/>
                    </a:solidFill>
                  </a:tcPr>
                </a:tc>
                <a:tc>
                  <a:txBody>
                    <a:bodyPr wrap="square"/>
                    <a:lstStyle/>
                    <a:p>
                      <a:r>
                        <a:rPr sz="1100" b="0">
                          <a:solidFill>
                            <a:srgbClr val="4B4B4B"/>
                          </a:solidFill>
                          <a:latin typeface="Arial"/>
                        </a:rPr>
                        <a:t>Rodrigo Dela Cruz, Cherry Francisco, Lineth Santos, Guada Jane Pelo; Iris Marquez, Fatima Joy Aguas, Cherie Jocson; Jeniffer Lugtu, Mario Sabangan, Jennifer Carinan, Freddie Atanque</a:t>
                      </a:r>
                    </a:p>
                  </a:txBody>
                  <a:tcPr marL="64008" marR="64008" marT="27432" marB="27432" anchor="ctr">
                    <a:solidFill>
                      <a:srgbClr val="E5F5FF"/>
                    </a:solidFill>
                  </a:tcPr>
                </a:tc>
              </a:tr>
              <a:tr h="731520">
                <a:tc>
                  <a:txBody>
                    <a:bodyPr wrap="square"/>
                    <a:lstStyle/>
                    <a:p>
                      <a:r>
                        <a:rPr sz="1100" b="0">
                          <a:solidFill>
                            <a:srgbClr val="4B4B4B"/>
                          </a:solidFill>
                          <a:latin typeface="Arial"/>
                        </a:rPr>
                        <a:t>23 Sep</a:t>
                      </a:r>
                    </a:p>
                  </a:txBody>
                  <a:tcPr marL="64008" marR="64008" marT="27432" marB="27432" anchor="ctr">
                    <a:solidFill>
                      <a:srgbClr val="FFFFFF"/>
                    </a:solidFill>
                  </a:tcPr>
                </a:tc>
                <a:tc>
                  <a:txBody>
                    <a:bodyPr wrap="square"/>
                    <a:lstStyle/>
                    <a:p>
                      <a:r>
                        <a:rPr sz="1100" b="0">
                          <a:solidFill>
                            <a:srgbClr val="4B4B4B"/>
                          </a:solidFill>
                          <a:latin typeface="Arial"/>
                        </a:rPr>
                        <a:t>1-5 pm</a:t>
                      </a:r>
                    </a:p>
                  </a:txBody>
                  <a:tcPr marL="64008" marR="64008" marT="27432" marB="27432" anchor="ctr">
                    <a:solidFill>
                      <a:srgbClr val="FFFFFF"/>
                    </a:solidFill>
                  </a:tcPr>
                </a:tc>
                <a:tc>
                  <a:txBody>
                    <a:bodyPr wrap="square"/>
                    <a:lstStyle/>
                    <a:p>
                      <a:r>
                        <a:rPr sz="1100" b="1">
                          <a:solidFill>
                            <a:srgbClr val="4B4B4B"/>
                          </a:solidFill>
                          <a:latin typeface="Arial"/>
                        </a:rPr>
                        <a:t>Operations: Cashiering, Remittance, Adjustment, Prod Recon</a:t>
                      </a:r>
                    </a:p>
                  </a:txBody>
                  <a:tcPr marL="64008" marR="64008" marT="27432" marB="27432" anchor="ctr">
                    <a:solidFill>
                      <a:srgbClr val="FFFFFF"/>
                    </a:solidFill>
                  </a:tcPr>
                </a:tc>
                <a:tc>
                  <a:txBody>
                    <a:bodyPr wrap="square"/>
                    <a:lstStyle/>
                    <a:p>
                      <a:r>
                        <a:rPr sz="1100" b="0">
                          <a:solidFill>
                            <a:srgbClr val="4B4B4B"/>
                          </a:solidFill>
                          <a:latin typeface="Arial"/>
                        </a:rPr>
                        <a:t>44F</a:t>
                      </a:r>
                    </a:p>
                  </a:txBody>
                  <a:tcPr marL="64008" marR="64008" marT="27432" marB="27432" anchor="ctr">
                    <a:solidFill>
                      <a:srgbClr val="FFFFFF"/>
                    </a:solidFill>
                  </a:tcPr>
                </a:tc>
                <a:tc>
                  <a:txBody>
                    <a:bodyPr wrap="square"/>
                    <a:lstStyle/>
                    <a:p>
                      <a:r>
                        <a:rPr sz="1100" b="0">
                          <a:solidFill>
                            <a:srgbClr val="4B4B4B"/>
                          </a:solidFill>
                          <a:latin typeface="Arial"/>
                        </a:rPr>
                        <a:t>Perjelyn Joy Gutierrez, Shirley Catapang, Ronna Marie Go, Aimee Medina, Renque Galos, Carolyn Pasia Baloto, Joy Ebuenga, Mark Andrew Francisco</a:t>
                      </a:r>
                    </a:p>
                  </a:txBody>
                  <a:tcPr marL="64008" marR="64008" marT="27432" marB="27432" anchor="ctr">
                    <a:solidFill>
                      <a:srgbClr val="FFFFFF"/>
                    </a:solidFill>
                  </a:tcPr>
                </a:tc>
              </a:tr>
              <a:tr h="731520">
                <a:tc>
                  <a:txBody>
                    <a:bodyPr wrap="square"/>
                    <a:lstStyle/>
                    <a:p>
                      <a:r>
                        <a:rPr sz="1100" b="0">
                          <a:solidFill>
                            <a:srgbClr val="4B4B4B"/>
                          </a:solidFill>
                          <a:latin typeface="Arial"/>
                        </a:rPr>
                        <a:t>23-25 Sep</a:t>
                      </a:r>
                    </a:p>
                  </a:txBody>
                  <a:tcPr marL="64008" marR="64008" marT="27432" marB="27432" anchor="ctr">
                    <a:solidFill>
                      <a:srgbClr val="E5F5FF"/>
                    </a:solidFill>
                  </a:tcPr>
                </a:tc>
                <a:tc>
                  <a:txBody>
                    <a:bodyPr wrap="square"/>
                    <a:lstStyle/>
                    <a:p>
                      <a:r>
                        <a:rPr sz="1100" b="0">
                          <a:solidFill>
                            <a:srgbClr val="4B4B4B"/>
                          </a:solidFill>
                          <a:latin typeface="Arial"/>
                        </a:rPr>
                        <a:t>Sessions</a:t>
                      </a:r>
                    </a:p>
                  </a:txBody>
                  <a:tcPr marL="64008" marR="64008" marT="27432" marB="27432" anchor="ctr">
                    <a:solidFill>
                      <a:srgbClr val="E5F5FF"/>
                    </a:solidFill>
                  </a:tcPr>
                </a:tc>
                <a:tc>
                  <a:txBody>
                    <a:bodyPr wrap="square"/>
                    <a:lstStyle/>
                    <a:p>
                      <a:r>
                        <a:rPr sz="1100" b="1">
                          <a:solidFill>
                            <a:srgbClr val="4B4B4B"/>
                          </a:solidFill>
                          <a:latin typeface="Arial"/>
                        </a:rPr>
                        <a:t>Cashiering, Other Income, Tax (23); Collections, Commission (24); NB, Trade, Product (25)</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c>
                  <a:txBody>
                    <a:bodyPr wrap="square"/>
                    <a:lstStyle/>
                    <a:p>
                      <a:r>
                        <a:rPr sz="1100" b="0">
                          <a:solidFill>
                            <a:srgbClr val="4B4B4B"/>
                          </a:solidFill>
                          <a:latin typeface="Arial"/>
                        </a:rPr>
                        <a:t>Operations, Comptrollership, Marketing and TSU process owners</a:t>
                      </a:r>
                    </a:p>
                  </a:txBody>
                  <a:tcPr marL="64008" marR="64008" marT="27432" marB="27432" anchor="ctr">
                    <a:solidFill>
                      <a:srgbClr val="E5F5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Agenda</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sp>
        <p:nvSpPr>
          <p:cNvPr id="9" name="Rounded Rectangle 8"/>
          <p:cNvSpPr/>
          <p:nvPr/>
        </p:nvSpPr>
        <p:spPr>
          <a:xfrm>
            <a:off x="548640" y="1280160"/>
            <a:ext cx="2663875"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1792" y="1316736"/>
            <a:ext cx="566928" cy="457200"/>
          </a:xfrm>
          <a:prstGeom prst="rect">
            <a:avLst/>
          </a:prstGeom>
          <a:noFill/>
        </p:spPr>
        <p:txBody>
          <a:bodyPr wrap="square" anchor="t" lIns="45720" rIns="45720">
            <a:spAutoFit/>
          </a:bodyPr>
          <a:lstStyle/>
          <a:p>
            <a:r>
              <a:rPr sz="2000" b="1" i="0">
                <a:solidFill>
                  <a:srgbClr val="FDB913"/>
                </a:solidFill>
                <a:latin typeface="Arial"/>
              </a:rPr>
              <a:t>0</a:t>
            </a:r>
          </a:p>
        </p:txBody>
      </p:sp>
      <p:sp>
        <p:nvSpPr>
          <p:cNvPr id="11" name="TextBox 10"/>
          <p:cNvSpPr txBox="1"/>
          <p:nvPr/>
        </p:nvSpPr>
        <p:spPr>
          <a:xfrm>
            <a:off x="1152144" y="1335024"/>
            <a:ext cx="2005507" cy="713232"/>
          </a:xfrm>
          <a:prstGeom prst="rect">
            <a:avLst/>
          </a:prstGeom>
          <a:noFill/>
        </p:spPr>
        <p:txBody>
          <a:bodyPr wrap="square" anchor="t" lIns="45720" rIns="45720" tIns="18288" bIns="18288">
            <a:spAutoFit/>
          </a:bodyPr>
          <a:lstStyle/>
          <a:p>
            <a:pPr>
              <a:spcAft>
                <a:spcPts val="400"/>
              </a:spcAft>
            </a:pPr>
            <a:r>
              <a:rPr sz="1300" b="1">
                <a:solidFill>
                  <a:srgbClr val="FFFFFF"/>
                </a:solidFill>
                <a:latin typeface="Arial"/>
              </a:rPr>
              <a:t>Our understanding of BDOI, end to end</a:t>
            </a:r>
          </a:p>
        </p:txBody>
      </p:sp>
      <p:sp>
        <p:nvSpPr>
          <p:cNvPr id="12" name="TextBox 11"/>
          <p:cNvSpPr txBox="1"/>
          <p:nvPr/>
        </p:nvSpPr>
        <p:spPr>
          <a:xfrm>
            <a:off x="640080" y="2029968"/>
            <a:ext cx="2480995" cy="292608"/>
          </a:xfrm>
          <a:prstGeom prst="rect">
            <a:avLst/>
          </a:prstGeom>
          <a:noFill/>
        </p:spPr>
        <p:txBody>
          <a:bodyPr wrap="square" anchor="t" lIns="45720" rIns="45720">
            <a:spAutoFit/>
          </a:bodyPr>
          <a:lstStyle/>
          <a:p>
            <a:r>
              <a:rPr sz="1100" b="0" i="0">
                <a:solidFill>
                  <a:srgbClr val="E5F5FF"/>
                </a:solidFill>
                <a:latin typeface="Arial"/>
              </a:rPr>
              <a:t>Holistic view</a:t>
            </a:r>
          </a:p>
        </p:txBody>
      </p:sp>
      <p:sp>
        <p:nvSpPr>
          <p:cNvPr id="13" name="Rounded Rectangle 12"/>
          <p:cNvSpPr/>
          <p:nvPr/>
        </p:nvSpPr>
        <p:spPr>
          <a:xfrm>
            <a:off x="3358819" y="1280160"/>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31971" y="1316736"/>
            <a:ext cx="566928" cy="457200"/>
          </a:xfrm>
          <a:prstGeom prst="rect">
            <a:avLst/>
          </a:prstGeom>
          <a:noFill/>
        </p:spPr>
        <p:txBody>
          <a:bodyPr wrap="square" anchor="t" lIns="45720" rIns="45720">
            <a:spAutoFit/>
          </a:bodyPr>
          <a:lstStyle/>
          <a:p>
            <a:r>
              <a:rPr sz="2000" b="1" i="0">
                <a:solidFill>
                  <a:srgbClr val="0072D8"/>
                </a:solidFill>
                <a:latin typeface="Arial"/>
              </a:rPr>
              <a:t>1</a:t>
            </a:r>
          </a:p>
        </p:txBody>
      </p:sp>
      <p:sp>
        <p:nvSpPr>
          <p:cNvPr id="15" name="TextBox 14"/>
          <p:cNvSpPr txBox="1"/>
          <p:nvPr/>
        </p:nvSpPr>
        <p:spPr>
          <a:xfrm>
            <a:off x="3962323" y="1335024"/>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New Business</a:t>
            </a:r>
          </a:p>
        </p:txBody>
      </p:sp>
      <p:sp>
        <p:nvSpPr>
          <p:cNvPr id="16" name="TextBox 15"/>
          <p:cNvSpPr txBox="1"/>
          <p:nvPr/>
        </p:nvSpPr>
        <p:spPr>
          <a:xfrm>
            <a:off x="3450259" y="2029968"/>
            <a:ext cx="2480995" cy="292608"/>
          </a:xfrm>
          <a:prstGeom prst="rect">
            <a:avLst/>
          </a:prstGeom>
          <a:noFill/>
        </p:spPr>
        <p:txBody>
          <a:bodyPr wrap="square" anchor="t" lIns="45720" rIns="45720">
            <a:spAutoFit/>
          </a:bodyPr>
          <a:lstStyle/>
          <a:p>
            <a:r>
              <a:rPr sz="1100" b="0" i="0">
                <a:solidFill>
                  <a:srgbClr val="656565"/>
                </a:solidFill>
                <a:latin typeface="Arial"/>
              </a:rPr>
              <a:t>Part A</a:t>
            </a:r>
          </a:p>
        </p:txBody>
      </p:sp>
      <p:sp>
        <p:nvSpPr>
          <p:cNvPr id="17" name="Rounded Rectangle 16"/>
          <p:cNvSpPr/>
          <p:nvPr/>
        </p:nvSpPr>
        <p:spPr>
          <a:xfrm>
            <a:off x="6168999" y="1280160"/>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42151" y="1316736"/>
            <a:ext cx="566928" cy="457200"/>
          </a:xfrm>
          <a:prstGeom prst="rect">
            <a:avLst/>
          </a:prstGeom>
          <a:noFill/>
        </p:spPr>
        <p:txBody>
          <a:bodyPr wrap="square" anchor="t" lIns="45720" rIns="45720">
            <a:spAutoFit/>
          </a:bodyPr>
          <a:lstStyle/>
          <a:p>
            <a:r>
              <a:rPr sz="2000" b="1" i="0">
                <a:solidFill>
                  <a:srgbClr val="0072D8"/>
                </a:solidFill>
                <a:latin typeface="Arial"/>
              </a:rPr>
              <a:t>2</a:t>
            </a:r>
          </a:p>
        </p:txBody>
      </p:sp>
      <p:sp>
        <p:nvSpPr>
          <p:cNvPr id="19" name="TextBox 18"/>
          <p:cNvSpPr txBox="1"/>
          <p:nvPr/>
        </p:nvSpPr>
        <p:spPr>
          <a:xfrm>
            <a:off x="6772503" y="1335024"/>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Renewal</a:t>
            </a:r>
          </a:p>
        </p:txBody>
      </p:sp>
      <p:sp>
        <p:nvSpPr>
          <p:cNvPr id="20" name="TextBox 19"/>
          <p:cNvSpPr txBox="1"/>
          <p:nvPr/>
        </p:nvSpPr>
        <p:spPr>
          <a:xfrm>
            <a:off x="6260439" y="2029968"/>
            <a:ext cx="2480995" cy="292608"/>
          </a:xfrm>
          <a:prstGeom prst="rect">
            <a:avLst/>
          </a:prstGeom>
          <a:noFill/>
        </p:spPr>
        <p:txBody>
          <a:bodyPr wrap="square" anchor="t" lIns="45720" rIns="45720">
            <a:spAutoFit/>
          </a:bodyPr>
          <a:lstStyle/>
          <a:p>
            <a:r>
              <a:rPr sz="1100" b="0" i="0">
                <a:solidFill>
                  <a:srgbClr val="656565"/>
                </a:solidFill>
                <a:latin typeface="Arial"/>
              </a:rPr>
              <a:t>Part A</a:t>
            </a:r>
          </a:p>
        </p:txBody>
      </p:sp>
      <p:sp>
        <p:nvSpPr>
          <p:cNvPr id="21" name="Rounded Rectangle 20"/>
          <p:cNvSpPr/>
          <p:nvPr/>
        </p:nvSpPr>
        <p:spPr>
          <a:xfrm>
            <a:off x="8979179" y="1280160"/>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52331" y="1316736"/>
            <a:ext cx="566928" cy="457200"/>
          </a:xfrm>
          <a:prstGeom prst="rect">
            <a:avLst/>
          </a:prstGeom>
          <a:noFill/>
        </p:spPr>
        <p:txBody>
          <a:bodyPr wrap="square" anchor="t" lIns="45720" rIns="45720">
            <a:spAutoFit/>
          </a:bodyPr>
          <a:lstStyle/>
          <a:p>
            <a:r>
              <a:rPr sz="2000" b="1" i="0">
                <a:solidFill>
                  <a:srgbClr val="0072D8"/>
                </a:solidFill>
                <a:latin typeface="Arial"/>
              </a:rPr>
              <a:t>3</a:t>
            </a:r>
          </a:p>
        </p:txBody>
      </p:sp>
      <p:sp>
        <p:nvSpPr>
          <p:cNvPr id="23" name="TextBox 22"/>
          <p:cNvSpPr txBox="1"/>
          <p:nvPr/>
        </p:nvSpPr>
        <p:spPr>
          <a:xfrm>
            <a:off x="9582683" y="1335024"/>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Submitted Policies</a:t>
            </a:r>
          </a:p>
        </p:txBody>
      </p:sp>
      <p:sp>
        <p:nvSpPr>
          <p:cNvPr id="24" name="TextBox 23"/>
          <p:cNvSpPr txBox="1"/>
          <p:nvPr/>
        </p:nvSpPr>
        <p:spPr>
          <a:xfrm>
            <a:off x="9070619" y="2029968"/>
            <a:ext cx="2480995" cy="292608"/>
          </a:xfrm>
          <a:prstGeom prst="rect">
            <a:avLst/>
          </a:prstGeom>
          <a:noFill/>
        </p:spPr>
        <p:txBody>
          <a:bodyPr wrap="square" anchor="t" lIns="45720" rIns="45720">
            <a:spAutoFit/>
          </a:bodyPr>
          <a:lstStyle/>
          <a:p>
            <a:r>
              <a:rPr sz="1100" b="0" i="0">
                <a:solidFill>
                  <a:srgbClr val="656565"/>
                </a:solidFill>
                <a:latin typeface="Arial"/>
              </a:rPr>
              <a:t>Part A</a:t>
            </a:r>
          </a:p>
        </p:txBody>
      </p:sp>
      <p:sp>
        <p:nvSpPr>
          <p:cNvPr id="25" name="Rounded Rectangle 24"/>
          <p:cNvSpPr/>
          <p:nvPr/>
        </p:nvSpPr>
        <p:spPr>
          <a:xfrm>
            <a:off x="548640"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2542032"/>
            <a:ext cx="566928" cy="457200"/>
          </a:xfrm>
          <a:prstGeom prst="rect">
            <a:avLst/>
          </a:prstGeom>
          <a:noFill/>
        </p:spPr>
        <p:txBody>
          <a:bodyPr wrap="square" anchor="t" lIns="45720" rIns="45720">
            <a:spAutoFit/>
          </a:bodyPr>
          <a:lstStyle/>
          <a:p>
            <a:r>
              <a:rPr sz="2000" b="1" i="0">
                <a:solidFill>
                  <a:srgbClr val="0072D8"/>
                </a:solidFill>
                <a:latin typeface="Arial"/>
              </a:rPr>
              <a:t>4</a:t>
            </a:r>
          </a:p>
        </p:txBody>
      </p:sp>
      <p:sp>
        <p:nvSpPr>
          <p:cNvPr id="27" name="TextBox 26"/>
          <p:cNvSpPr txBox="1"/>
          <p:nvPr/>
        </p:nvSpPr>
        <p:spPr>
          <a:xfrm>
            <a:off x="1152144"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Employee Benefits</a:t>
            </a:r>
          </a:p>
        </p:txBody>
      </p:sp>
      <p:sp>
        <p:nvSpPr>
          <p:cNvPr id="28" name="TextBox 27"/>
          <p:cNvSpPr txBox="1"/>
          <p:nvPr/>
        </p:nvSpPr>
        <p:spPr>
          <a:xfrm>
            <a:off x="640080" y="3255264"/>
            <a:ext cx="2480995" cy="292608"/>
          </a:xfrm>
          <a:prstGeom prst="rect">
            <a:avLst/>
          </a:prstGeom>
          <a:noFill/>
        </p:spPr>
        <p:txBody>
          <a:bodyPr wrap="square" anchor="t" lIns="45720" rIns="45720">
            <a:spAutoFit/>
          </a:bodyPr>
          <a:lstStyle/>
          <a:p>
            <a:r>
              <a:rPr sz="1100" b="0" i="0">
                <a:solidFill>
                  <a:srgbClr val="656565"/>
                </a:solidFill>
                <a:latin typeface="Arial"/>
              </a:rPr>
              <a:t>Part A</a:t>
            </a:r>
          </a:p>
        </p:txBody>
      </p:sp>
      <p:sp>
        <p:nvSpPr>
          <p:cNvPr id="29" name="Rounded Rectangle 28"/>
          <p:cNvSpPr/>
          <p:nvPr/>
        </p:nvSpPr>
        <p:spPr>
          <a:xfrm>
            <a:off x="3358819"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431971" y="2542032"/>
            <a:ext cx="566928" cy="457200"/>
          </a:xfrm>
          <a:prstGeom prst="rect">
            <a:avLst/>
          </a:prstGeom>
          <a:noFill/>
        </p:spPr>
        <p:txBody>
          <a:bodyPr wrap="square" anchor="t" lIns="45720" rIns="45720">
            <a:spAutoFit/>
          </a:bodyPr>
          <a:lstStyle/>
          <a:p>
            <a:r>
              <a:rPr sz="2000" b="1" i="0">
                <a:solidFill>
                  <a:srgbClr val="0072D8"/>
                </a:solidFill>
                <a:latin typeface="Arial"/>
              </a:rPr>
              <a:t>5</a:t>
            </a:r>
          </a:p>
        </p:txBody>
      </p:sp>
      <p:sp>
        <p:nvSpPr>
          <p:cNvPr id="31" name="TextBox 30"/>
          <p:cNvSpPr txBox="1"/>
          <p:nvPr/>
        </p:nvSpPr>
        <p:spPr>
          <a:xfrm>
            <a:off x="3962323"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Product Maintenance and TSU</a:t>
            </a:r>
          </a:p>
        </p:txBody>
      </p:sp>
      <p:sp>
        <p:nvSpPr>
          <p:cNvPr id="32" name="TextBox 31"/>
          <p:cNvSpPr txBox="1"/>
          <p:nvPr/>
        </p:nvSpPr>
        <p:spPr>
          <a:xfrm>
            <a:off x="3450259" y="3255264"/>
            <a:ext cx="2480995" cy="292608"/>
          </a:xfrm>
          <a:prstGeom prst="rect">
            <a:avLst/>
          </a:prstGeom>
          <a:noFill/>
        </p:spPr>
        <p:txBody>
          <a:bodyPr wrap="square" anchor="t" lIns="45720" rIns="45720">
            <a:spAutoFit/>
          </a:bodyPr>
          <a:lstStyle/>
          <a:p>
            <a:r>
              <a:rPr sz="1100" b="0" i="0">
                <a:solidFill>
                  <a:srgbClr val="656565"/>
                </a:solidFill>
                <a:latin typeface="Arial"/>
              </a:rPr>
              <a:t>Part B</a:t>
            </a:r>
          </a:p>
        </p:txBody>
      </p:sp>
      <p:sp>
        <p:nvSpPr>
          <p:cNvPr id="33" name="Rounded Rectangle 32"/>
          <p:cNvSpPr/>
          <p:nvPr/>
        </p:nvSpPr>
        <p:spPr>
          <a:xfrm>
            <a:off x="6168999"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242151" y="2542032"/>
            <a:ext cx="566928" cy="457200"/>
          </a:xfrm>
          <a:prstGeom prst="rect">
            <a:avLst/>
          </a:prstGeom>
          <a:noFill/>
        </p:spPr>
        <p:txBody>
          <a:bodyPr wrap="square" anchor="t" lIns="45720" rIns="45720">
            <a:spAutoFit/>
          </a:bodyPr>
          <a:lstStyle/>
          <a:p>
            <a:r>
              <a:rPr sz="2000" b="1" i="0">
                <a:solidFill>
                  <a:srgbClr val="0072D8"/>
                </a:solidFill>
                <a:latin typeface="Arial"/>
              </a:rPr>
              <a:t>6</a:t>
            </a:r>
          </a:p>
        </p:txBody>
      </p:sp>
      <p:sp>
        <p:nvSpPr>
          <p:cNvPr id="35" name="TextBox 34"/>
          <p:cNvSpPr txBox="1"/>
          <p:nvPr/>
        </p:nvSpPr>
        <p:spPr>
          <a:xfrm>
            <a:off x="6772503"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Operations</a:t>
            </a:r>
          </a:p>
        </p:txBody>
      </p:sp>
      <p:sp>
        <p:nvSpPr>
          <p:cNvPr id="36" name="TextBox 35"/>
          <p:cNvSpPr txBox="1"/>
          <p:nvPr/>
        </p:nvSpPr>
        <p:spPr>
          <a:xfrm>
            <a:off x="6260439" y="3255264"/>
            <a:ext cx="2480995" cy="292608"/>
          </a:xfrm>
          <a:prstGeom prst="rect">
            <a:avLst/>
          </a:prstGeom>
          <a:noFill/>
        </p:spPr>
        <p:txBody>
          <a:bodyPr wrap="square" anchor="t" lIns="45720" rIns="45720">
            <a:spAutoFit/>
          </a:bodyPr>
          <a:lstStyle/>
          <a:p>
            <a:r>
              <a:rPr sz="1100" b="0" i="0">
                <a:solidFill>
                  <a:srgbClr val="656565"/>
                </a:solidFill>
                <a:latin typeface="Arial"/>
              </a:rPr>
              <a:t>Part C</a:t>
            </a:r>
          </a:p>
        </p:txBody>
      </p:sp>
      <p:sp>
        <p:nvSpPr>
          <p:cNvPr id="37" name="Rounded Rectangle 36"/>
          <p:cNvSpPr/>
          <p:nvPr/>
        </p:nvSpPr>
        <p:spPr>
          <a:xfrm>
            <a:off x="8979179" y="2505456"/>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052331" y="2542032"/>
            <a:ext cx="566928" cy="457200"/>
          </a:xfrm>
          <a:prstGeom prst="rect">
            <a:avLst/>
          </a:prstGeom>
          <a:noFill/>
        </p:spPr>
        <p:txBody>
          <a:bodyPr wrap="square" anchor="t" lIns="45720" rIns="45720">
            <a:spAutoFit/>
          </a:bodyPr>
          <a:lstStyle/>
          <a:p>
            <a:r>
              <a:rPr sz="2000" b="1" i="0">
                <a:solidFill>
                  <a:srgbClr val="0072D8"/>
                </a:solidFill>
                <a:latin typeface="Arial"/>
              </a:rPr>
              <a:t>7</a:t>
            </a:r>
          </a:p>
        </p:txBody>
      </p:sp>
      <p:sp>
        <p:nvSpPr>
          <p:cNvPr id="39" name="TextBox 38"/>
          <p:cNvSpPr txBox="1"/>
          <p:nvPr/>
        </p:nvSpPr>
        <p:spPr>
          <a:xfrm>
            <a:off x="9582683" y="2560320"/>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Collections</a:t>
            </a:r>
          </a:p>
        </p:txBody>
      </p:sp>
      <p:sp>
        <p:nvSpPr>
          <p:cNvPr id="40" name="TextBox 39"/>
          <p:cNvSpPr txBox="1"/>
          <p:nvPr/>
        </p:nvSpPr>
        <p:spPr>
          <a:xfrm>
            <a:off x="9070619" y="3255264"/>
            <a:ext cx="2480995" cy="292608"/>
          </a:xfrm>
          <a:prstGeom prst="rect">
            <a:avLst/>
          </a:prstGeom>
          <a:noFill/>
        </p:spPr>
        <p:txBody>
          <a:bodyPr wrap="square" anchor="t" lIns="45720" rIns="45720">
            <a:spAutoFit/>
          </a:bodyPr>
          <a:lstStyle/>
          <a:p>
            <a:r>
              <a:rPr sz="1100" b="0" i="0">
                <a:solidFill>
                  <a:srgbClr val="656565"/>
                </a:solidFill>
                <a:latin typeface="Arial"/>
              </a:rPr>
              <a:t>Part C</a:t>
            </a:r>
          </a:p>
        </p:txBody>
      </p:sp>
      <p:sp>
        <p:nvSpPr>
          <p:cNvPr id="41" name="Rounded Rectangle 40"/>
          <p:cNvSpPr/>
          <p:nvPr/>
        </p:nvSpPr>
        <p:spPr>
          <a:xfrm>
            <a:off x="548640"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1792" y="3767328"/>
            <a:ext cx="566928" cy="457200"/>
          </a:xfrm>
          <a:prstGeom prst="rect">
            <a:avLst/>
          </a:prstGeom>
          <a:noFill/>
        </p:spPr>
        <p:txBody>
          <a:bodyPr wrap="square" anchor="t" lIns="45720" rIns="45720">
            <a:spAutoFit/>
          </a:bodyPr>
          <a:lstStyle/>
          <a:p>
            <a:r>
              <a:rPr sz="2000" b="1" i="0">
                <a:solidFill>
                  <a:srgbClr val="0072D8"/>
                </a:solidFill>
                <a:latin typeface="Arial"/>
              </a:rPr>
              <a:t>8</a:t>
            </a:r>
          </a:p>
        </p:txBody>
      </p:sp>
      <p:sp>
        <p:nvSpPr>
          <p:cNvPr id="43" name="TextBox 42"/>
          <p:cNvSpPr txBox="1"/>
          <p:nvPr/>
        </p:nvSpPr>
        <p:spPr>
          <a:xfrm>
            <a:off x="1152144"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Comptrollership</a:t>
            </a:r>
          </a:p>
        </p:txBody>
      </p:sp>
      <p:sp>
        <p:nvSpPr>
          <p:cNvPr id="44" name="TextBox 43"/>
          <p:cNvSpPr txBox="1"/>
          <p:nvPr/>
        </p:nvSpPr>
        <p:spPr>
          <a:xfrm>
            <a:off x="640080" y="4480560"/>
            <a:ext cx="2480995" cy="292608"/>
          </a:xfrm>
          <a:prstGeom prst="rect">
            <a:avLst/>
          </a:prstGeom>
          <a:noFill/>
        </p:spPr>
        <p:txBody>
          <a:bodyPr wrap="square" anchor="t" lIns="45720" rIns="45720">
            <a:spAutoFit/>
          </a:bodyPr>
          <a:lstStyle/>
          <a:p>
            <a:r>
              <a:rPr sz="1100" b="0" i="0">
                <a:solidFill>
                  <a:srgbClr val="656565"/>
                </a:solidFill>
                <a:latin typeface="Arial"/>
              </a:rPr>
              <a:t>Part D</a:t>
            </a:r>
          </a:p>
        </p:txBody>
      </p:sp>
      <p:sp>
        <p:nvSpPr>
          <p:cNvPr id="45" name="Rounded Rectangle 44"/>
          <p:cNvSpPr/>
          <p:nvPr/>
        </p:nvSpPr>
        <p:spPr>
          <a:xfrm>
            <a:off x="3358819"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431971" y="3767328"/>
            <a:ext cx="566928" cy="457200"/>
          </a:xfrm>
          <a:prstGeom prst="rect">
            <a:avLst/>
          </a:prstGeom>
          <a:noFill/>
        </p:spPr>
        <p:txBody>
          <a:bodyPr wrap="square" anchor="t" lIns="45720" rIns="45720">
            <a:spAutoFit/>
          </a:bodyPr>
          <a:lstStyle/>
          <a:p>
            <a:r>
              <a:rPr sz="2000" b="1" i="0">
                <a:solidFill>
                  <a:srgbClr val="0072D8"/>
                </a:solidFill>
                <a:latin typeface="Arial"/>
              </a:rPr>
              <a:t>9</a:t>
            </a:r>
          </a:p>
        </p:txBody>
      </p:sp>
      <p:sp>
        <p:nvSpPr>
          <p:cNvPr id="47" name="TextBox 46"/>
          <p:cNvSpPr txBox="1"/>
          <p:nvPr/>
        </p:nvSpPr>
        <p:spPr>
          <a:xfrm>
            <a:off x="3962323"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Claims</a:t>
            </a:r>
          </a:p>
        </p:txBody>
      </p:sp>
      <p:sp>
        <p:nvSpPr>
          <p:cNvPr id="48" name="TextBox 47"/>
          <p:cNvSpPr txBox="1"/>
          <p:nvPr/>
        </p:nvSpPr>
        <p:spPr>
          <a:xfrm>
            <a:off x="3450259" y="4480560"/>
            <a:ext cx="2480995" cy="292608"/>
          </a:xfrm>
          <a:prstGeom prst="rect">
            <a:avLst/>
          </a:prstGeom>
          <a:noFill/>
        </p:spPr>
        <p:txBody>
          <a:bodyPr wrap="square" anchor="t" lIns="45720" rIns="45720">
            <a:spAutoFit/>
          </a:bodyPr>
          <a:lstStyle/>
          <a:p>
            <a:r>
              <a:rPr sz="1100" b="0" i="0">
                <a:solidFill>
                  <a:srgbClr val="656565"/>
                </a:solidFill>
                <a:latin typeface="Arial"/>
              </a:rPr>
              <a:t>Part E</a:t>
            </a:r>
          </a:p>
        </p:txBody>
      </p:sp>
      <p:sp>
        <p:nvSpPr>
          <p:cNvPr id="49" name="Rounded Rectangle 48"/>
          <p:cNvSpPr/>
          <p:nvPr/>
        </p:nvSpPr>
        <p:spPr>
          <a:xfrm>
            <a:off x="6168999" y="3730752"/>
            <a:ext cx="2663875" cy="1078992"/>
          </a:xfrm>
          <a:prstGeom prst="roundRect">
            <a:avLst>
              <a:gd name="adj" fmla="val 8000"/>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6242151" y="3767328"/>
            <a:ext cx="566928" cy="457200"/>
          </a:xfrm>
          <a:prstGeom prst="rect">
            <a:avLst/>
          </a:prstGeom>
          <a:noFill/>
        </p:spPr>
        <p:txBody>
          <a:bodyPr wrap="square" anchor="t" lIns="45720" rIns="45720">
            <a:spAutoFit/>
          </a:bodyPr>
          <a:lstStyle/>
          <a:p>
            <a:r>
              <a:rPr sz="2000" b="1" i="0">
                <a:solidFill>
                  <a:srgbClr val="0072D8"/>
                </a:solidFill>
                <a:latin typeface="Arial"/>
              </a:rPr>
              <a:t>10</a:t>
            </a:r>
          </a:p>
        </p:txBody>
      </p:sp>
      <p:sp>
        <p:nvSpPr>
          <p:cNvPr id="51" name="TextBox 50"/>
          <p:cNvSpPr txBox="1"/>
          <p:nvPr/>
        </p:nvSpPr>
        <p:spPr>
          <a:xfrm>
            <a:off x="6772503" y="3785616"/>
            <a:ext cx="2005507" cy="713232"/>
          </a:xfrm>
          <a:prstGeom prst="rect">
            <a:avLst/>
          </a:prstGeom>
          <a:noFill/>
        </p:spPr>
        <p:txBody>
          <a:bodyPr wrap="square" anchor="t" lIns="45720" rIns="45720" tIns="18288" bIns="18288">
            <a:spAutoFit/>
          </a:bodyPr>
          <a:lstStyle/>
          <a:p>
            <a:pPr>
              <a:spcAft>
                <a:spcPts val="400"/>
              </a:spcAft>
            </a:pPr>
            <a:r>
              <a:rPr sz="1300" b="1">
                <a:solidFill>
                  <a:srgbClr val="004EA8"/>
                </a:solidFill>
                <a:latin typeface="Arial"/>
              </a:rPr>
              <a:t>Customer Servicing and Case Management</a:t>
            </a:r>
          </a:p>
        </p:txBody>
      </p:sp>
      <p:sp>
        <p:nvSpPr>
          <p:cNvPr id="52" name="TextBox 51"/>
          <p:cNvSpPr txBox="1"/>
          <p:nvPr/>
        </p:nvSpPr>
        <p:spPr>
          <a:xfrm>
            <a:off x="6260439" y="4480560"/>
            <a:ext cx="2480995" cy="292608"/>
          </a:xfrm>
          <a:prstGeom prst="rect">
            <a:avLst/>
          </a:prstGeom>
          <a:noFill/>
        </p:spPr>
        <p:txBody>
          <a:bodyPr wrap="square" anchor="t" lIns="45720" rIns="45720">
            <a:spAutoFit/>
          </a:bodyPr>
          <a:lstStyle/>
          <a:p>
            <a:r>
              <a:rPr sz="1100" b="0" i="0">
                <a:solidFill>
                  <a:srgbClr val="656565"/>
                </a:solidFill>
                <a:latin typeface="Arial"/>
              </a:rPr>
              <a:t>Part E</a:t>
            </a:r>
          </a:p>
        </p:txBody>
      </p:sp>
      <p:sp>
        <p:nvSpPr>
          <p:cNvPr id="53" name="Rounded Rectangle 52"/>
          <p:cNvSpPr/>
          <p:nvPr/>
        </p:nvSpPr>
        <p:spPr>
          <a:xfrm>
            <a:off x="8979179" y="3730752"/>
            <a:ext cx="2663875"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052331" y="3767328"/>
            <a:ext cx="566928" cy="457200"/>
          </a:xfrm>
          <a:prstGeom prst="rect">
            <a:avLst/>
          </a:prstGeom>
          <a:noFill/>
        </p:spPr>
        <p:txBody>
          <a:bodyPr wrap="square" anchor="t" lIns="45720" rIns="45720">
            <a:spAutoFit/>
          </a:bodyPr>
          <a:lstStyle/>
          <a:p>
            <a:r>
              <a:rPr sz="2000" b="1" i="0">
                <a:solidFill>
                  <a:srgbClr val="FDB913"/>
                </a:solidFill>
                <a:latin typeface="Arial"/>
              </a:rPr>
              <a:t>11-13</a:t>
            </a:r>
          </a:p>
        </p:txBody>
      </p:sp>
      <p:sp>
        <p:nvSpPr>
          <p:cNvPr id="55" name="TextBox 54"/>
          <p:cNvSpPr txBox="1"/>
          <p:nvPr/>
        </p:nvSpPr>
        <p:spPr>
          <a:xfrm>
            <a:off x="9582683" y="3785616"/>
            <a:ext cx="2005507" cy="713232"/>
          </a:xfrm>
          <a:prstGeom prst="rect">
            <a:avLst/>
          </a:prstGeom>
          <a:noFill/>
        </p:spPr>
        <p:txBody>
          <a:bodyPr wrap="square" anchor="t" lIns="45720" rIns="45720" tIns="18288" bIns="18288">
            <a:spAutoFit/>
          </a:bodyPr>
          <a:lstStyle/>
          <a:p>
            <a:pPr>
              <a:spcAft>
                <a:spcPts val="400"/>
              </a:spcAft>
            </a:pPr>
            <a:r>
              <a:rPr sz="1300" b="1">
                <a:solidFill>
                  <a:srgbClr val="FFFFFF"/>
                </a:solidFill>
                <a:latin typeface="Arial"/>
              </a:rPr>
              <a:t>Data, integrations, shared needs</a:t>
            </a:r>
          </a:p>
        </p:txBody>
      </p:sp>
      <p:sp>
        <p:nvSpPr>
          <p:cNvPr id="56" name="TextBox 55"/>
          <p:cNvSpPr txBox="1"/>
          <p:nvPr/>
        </p:nvSpPr>
        <p:spPr>
          <a:xfrm>
            <a:off x="9070619" y="4480560"/>
            <a:ext cx="2480995" cy="292608"/>
          </a:xfrm>
          <a:prstGeom prst="rect">
            <a:avLst/>
          </a:prstGeom>
          <a:noFill/>
        </p:spPr>
        <p:txBody>
          <a:bodyPr wrap="square" anchor="t" lIns="45720" rIns="45720">
            <a:spAutoFit/>
          </a:bodyPr>
          <a:lstStyle/>
          <a:p>
            <a:r>
              <a:rPr sz="1100" b="0" i="0">
                <a:solidFill>
                  <a:srgbClr val="E5F5FF"/>
                </a:solidFill>
                <a:latin typeface="Arial"/>
              </a:rPr>
              <a:t>Part F | cross-cutting</a:t>
            </a:r>
          </a:p>
        </p:txBody>
      </p:sp>
      <p:sp>
        <p:nvSpPr>
          <p:cNvPr id="57" name="Rounded Rectangle 56"/>
          <p:cNvSpPr/>
          <p:nvPr/>
        </p:nvSpPr>
        <p:spPr>
          <a:xfrm>
            <a:off x="548640" y="4956048"/>
            <a:ext cx="2663875" cy="1078992"/>
          </a:xfrm>
          <a:prstGeom prst="roundRect">
            <a:avLst>
              <a:gd name="adj" fmla="val 8000"/>
            </a:avLst>
          </a:prstGeom>
          <a:solidFill>
            <a:srgbClr val="004EA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621792" y="4992624"/>
            <a:ext cx="566928" cy="457200"/>
          </a:xfrm>
          <a:prstGeom prst="rect">
            <a:avLst/>
          </a:prstGeom>
          <a:noFill/>
        </p:spPr>
        <p:txBody>
          <a:bodyPr wrap="square" anchor="t" lIns="45720" rIns="45720">
            <a:spAutoFit/>
          </a:bodyPr>
          <a:lstStyle/>
          <a:p>
            <a:r>
              <a:rPr sz="2000" b="1" i="0">
                <a:solidFill>
                  <a:srgbClr val="FDB913"/>
                </a:solidFill>
                <a:latin typeface="Arial"/>
              </a:rPr>
              <a:t>14</a:t>
            </a:r>
          </a:p>
        </p:txBody>
      </p:sp>
      <p:sp>
        <p:nvSpPr>
          <p:cNvPr id="59" name="TextBox 58"/>
          <p:cNvSpPr txBox="1"/>
          <p:nvPr/>
        </p:nvSpPr>
        <p:spPr>
          <a:xfrm>
            <a:off x="1152144" y="5010912"/>
            <a:ext cx="2005507" cy="713232"/>
          </a:xfrm>
          <a:prstGeom prst="rect">
            <a:avLst/>
          </a:prstGeom>
          <a:noFill/>
        </p:spPr>
        <p:txBody>
          <a:bodyPr wrap="square" anchor="t" lIns="45720" rIns="45720" tIns="18288" bIns="18288">
            <a:spAutoFit/>
          </a:bodyPr>
          <a:lstStyle/>
          <a:p>
            <a:pPr>
              <a:spcAft>
                <a:spcPts val="400"/>
              </a:spcAft>
            </a:pPr>
            <a:r>
              <a:rPr sz="1300" b="1">
                <a:solidFill>
                  <a:srgbClr val="FFFFFF"/>
                </a:solidFill>
                <a:latin typeface="Arial"/>
              </a:rPr>
              <a:t>Roadmap and open points</a:t>
            </a:r>
          </a:p>
        </p:txBody>
      </p:sp>
      <p:sp>
        <p:nvSpPr>
          <p:cNvPr id="60" name="TextBox 59"/>
          <p:cNvSpPr txBox="1"/>
          <p:nvPr/>
        </p:nvSpPr>
        <p:spPr>
          <a:xfrm>
            <a:off x="640080" y="5705856"/>
            <a:ext cx="2480995" cy="292608"/>
          </a:xfrm>
          <a:prstGeom prst="rect">
            <a:avLst/>
          </a:prstGeom>
          <a:noFill/>
        </p:spPr>
        <p:txBody>
          <a:bodyPr wrap="square" anchor="t" lIns="45720" rIns="45720">
            <a:spAutoFit/>
          </a:bodyPr>
          <a:lstStyle/>
          <a:p>
            <a:r>
              <a:rPr sz="1100" b="0" i="0">
                <a:solidFill>
                  <a:srgbClr val="E5F5FF"/>
                </a:solidFill>
                <a:latin typeface="Arial"/>
              </a:rPr>
              <a:t>Part 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to read this deck</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statement comes from the floor walk, our notes or a process flow BDOI shared; the ref says which</a:t>
            </a:r>
          </a:p>
          <a:p>
            <a:pPr>
              <a:spcAft>
                <a:spcPts val="600"/>
              </a:spcAft>
            </a:pPr>
            <a:r>
              <a:rPr sz="1600">
                <a:solidFill>
                  <a:srgbClr val="004EA8"/>
                </a:solidFill>
                <a:latin typeface="Arial"/>
              </a:rPr>
              <a:t>•  </a:t>
            </a:r>
            <a:r>
              <a:rPr sz="1600">
                <a:solidFill>
                  <a:srgbClr val="4B4B4B"/>
                </a:solidFill>
                <a:latin typeface="Arial"/>
              </a:rPr>
              <a:t>Each department chapter: at a glance, what we heard, the As-Is flow, the pain points, what the business wants, best practice</a:t>
            </a:r>
          </a:p>
          <a:p>
            <a:pPr>
              <a:spcAft>
                <a:spcPts val="600"/>
              </a:spcAft>
            </a:pPr>
            <a:r>
              <a:rPr sz="1600">
                <a:solidFill>
                  <a:srgbClr val="004EA8"/>
                </a:solidFill>
                <a:latin typeface="Arial"/>
              </a:rPr>
              <a:t>•  </a:t>
            </a:r>
            <a:r>
              <a:rPr sz="1600">
                <a:solidFill>
                  <a:srgbClr val="4B4B4B"/>
                </a:solidFill>
                <a:latin typeface="Arial"/>
              </a:rPr>
              <a:t>Swimlanes: one lane per BDOI role, external party (grey) or system (light blue); dashed boxes are steps in today's systems or files</a:t>
            </a:r>
          </a:p>
          <a:p>
            <a:pPr>
              <a:spcAft>
                <a:spcPts val="600"/>
              </a:spcAft>
            </a:pPr>
            <a:r>
              <a:rPr sz="1600">
                <a:solidFill>
                  <a:srgbClr val="004EA8"/>
                </a:solidFill>
                <a:latin typeface="Arial"/>
              </a:rPr>
              <a:t>•  </a:t>
            </a:r>
            <a:r>
              <a:rPr sz="1600">
                <a:solidFill>
                  <a:srgbClr val="4B4B4B"/>
                </a:solidFill>
                <a:latin typeface="Arial"/>
              </a:rPr>
              <a:t>Yellow numbered circles are pain points; the slide after the swimlanes explains each one</a:t>
            </a:r>
          </a:p>
          <a:p>
            <a:pPr>
              <a:spcAft>
                <a:spcPts val="600"/>
              </a:spcAft>
            </a:pPr>
            <a:r>
              <a:rPr sz="1600">
                <a:solidFill>
                  <a:srgbClr val="004EA8"/>
                </a:solidFill>
                <a:latin typeface="Arial"/>
              </a:rPr>
              <a:t>•  </a:t>
            </a:r>
            <a:r>
              <a:rPr sz="1600">
                <a:solidFill>
                  <a:srgbClr val="4B4B4B"/>
                </a:solidFill>
                <a:latin typeface="Arial"/>
              </a:rPr>
              <a:t>"What the business wants" pairs each pain point with what users asked for, and the lever we suggest</a:t>
            </a:r>
          </a:p>
          <a:p>
            <a:pPr>
              <a:spcAft>
                <a:spcPts val="600"/>
              </a:spcAft>
            </a:pPr>
            <a:r>
              <a:rPr sz="1600">
                <a:solidFill>
                  <a:srgbClr val="004EA8"/>
                </a:solidFill>
                <a:latin typeface="Arial"/>
              </a:rPr>
              <a:t>•  </a:t>
            </a:r>
            <a:r>
              <a:rPr sz="1600">
                <a:solidFill>
                  <a:srgbClr val="4B4B4B"/>
                </a:solidFill>
                <a:latin typeface="Arial"/>
              </a:rPr>
              <a:t>Not in this deck: the BRD review, build status, Reinsurance, Sanction Screening, User Access (not walked)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0. Our understanding of BDOI</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enterprise as we saw it on the floor</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BDOI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sp>
        <p:nvSpPr>
          <p:cNvPr id="9" name="Rounded Rectangle 8"/>
          <p:cNvSpPr/>
          <p:nvPr/>
        </p:nvSpPr>
        <p:spPr>
          <a:xfrm>
            <a:off x="548640"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1353312"/>
            <a:ext cx="2362123" cy="685800"/>
          </a:xfrm>
          <a:prstGeom prst="rect">
            <a:avLst/>
          </a:prstGeom>
          <a:noFill/>
        </p:spPr>
        <p:txBody>
          <a:bodyPr wrap="square" anchor="t" lIns="45720" rIns="45720">
            <a:spAutoFit/>
          </a:bodyPr>
          <a:lstStyle/>
          <a:p>
            <a:r>
              <a:rPr sz="3000" b="1" i="0">
                <a:solidFill>
                  <a:srgbClr val="004EA8"/>
                </a:solidFill>
                <a:latin typeface="Arial"/>
              </a:rPr>
              <a:t>~55</a:t>
            </a:r>
          </a:p>
        </p:txBody>
      </p:sp>
      <p:sp>
        <p:nvSpPr>
          <p:cNvPr id="11" name="TextBox 10"/>
          <p:cNvSpPr txBox="1"/>
          <p:nvPr/>
        </p:nvSpPr>
        <p:spPr>
          <a:xfrm>
            <a:off x="685800"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insurer partners, each connected and handled differently</a:t>
            </a:r>
          </a:p>
        </p:txBody>
      </p:sp>
      <p:sp>
        <p:nvSpPr>
          <p:cNvPr id="12" name="TextBox 11"/>
          <p:cNvSpPr txBox="1"/>
          <p:nvPr/>
        </p:nvSpPr>
        <p:spPr>
          <a:xfrm>
            <a:off x="685800"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OV-01</a:t>
            </a:r>
          </a:p>
        </p:txBody>
      </p:sp>
      <p:sp>
        <p:nvSpPr>
          <p:cNvPr id="13" name="Rounded Rectangle 12"/>
          <p:cNvSpPr/>
          <p:nvPr/>
        </p:nvSpPr>
        <p:spPr>
          <a:xfrm>
            <a:off x="3367963"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505123" y="1353312"/>
            <a:ext cx="2362123" cy="685800"/>
          </a:xfrm>
          <a:prstGeom prst="rect">
            <a:avLst/>
          </a:prstGeom>
          <a:noFill/>
        </p:spPr>
        <p:txBody>
          <a:bodyPr wrap="square" anchor="t" lIns="45720" rIns="45720">
            <a:spAutoFit/>
          </a:bodyPr>
          <a:lstStyle/>
          <a:p>
            <a:r>
              <a:rPr sz="3000" b="1" i="0">
                <a:solidFill>
                  <a:srgbClr val="004EA8"/>
                </a:solidFill>
                <a:latin typeface="Arial"/>
              </a:rPr>
              <a:t>8</a:t>
            </a:r>
          </a:p>
        </p:txBody>
      </p:sp>
      <p:sp>
        <p:nvSpPr>
          <p:cNvPr id="15" name="TextBox 14"/>
          <p:cNvSpPr txBox="1"/>
          <p:nvPr/>
        </p:nvSpPr>
        <p:spPr>
          <a:xfrm>
            <a:off x="3505123"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branches, plus head office units</a:t>
            </a:r>
          </a:p>
        </p:txBody>
      </p:sp>
      <p:sp>
        <p:nvSpPr>
          <p:cNvPr id="16" name="TextBox 15"/>
          <p:cNvSpPr txBox="1"/>
          <p:nvPr/>
        </p:nvSpPr>
        <p:spPr>
          <a:xfrm>
            <a:off x="3505123"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FN-01</a:t>
            </a:r>
          </a:p>
        </p:txBody>
      </p:sp>
      <p:sp>
        <p:nvSpPr>
          <p:cNvPr id="17" name="Rounded Rectangle 16"/>
          <p:cNvSpPr/>
          <p:nvPr/>
        </p:nvSpPr>
        <p:spPr>
          <a:xfrm>
            <a:off x="6187287"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324447" y="1353312"/>
            <a:ext cx="2362123" cy="685800"/>
          </a:xfrm>
          <a:prstGeom prst="rect">
            <a:avLst/>
          </a:prstGeom>
          <a:noFill/>
        </p:spPr>
        <p:txBody>
          <a:bodyPr wrap="square" anchor="t" lIns="45720" rIns="45720">
            <a:spAutoFit/>
          </a:bodyPr>
          <a:lstStyle/>
          <a:p>
            <a:r>
              <a:rPr sz="3000" b="1" i="0">
                <a:solidFill>
                  <a:srgbClr val="004EA8"/>
                </a:solidFill>
                <a:latin typeface="Arial"/>
              </a:rPr>
              <a:t>3</a:t>
            </a:r>
          </a:p>
        </p:txBody>
      </p:sp>
      <p:sp>
        <p:nvSpPr>
          <p:cNvPr id="19" name="TextBox 18"/>
          <p:cNvSpPr txBox="1"/>
          <p:nvPr/>
        </p:nvSpPr>
        <p:spPr>
          <a:xfrm>
            <a:off x="6324447"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core systems: ISYS / Broker, QPS, EBIX Evolution, plus Excel</a:t>
            </a:r>
          </a:p>
        </p:txBody>
      </p:sp>
      <p:sp>
        <p:nvSpPr>
          <p:cNvPr id="20" name="TextBox 19"/>
          <p:cNvSpPr txBox="1"/>
          <p:nvPr/>
        </p:nvSpPr>
        <p:spPr>
          <a:xfrm>
            <a:off x="6324447"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Day 1 p.10</a:t>
            </a:r>
          </a:p>
        </p:txBody>
      </p:sp>
      <p:sp>
        <p:nvSpPr>
          <p:cNvPr id="21" name="Rounded Rectangle 20"/>
          <p:cNvSpPr/>
          <p:nvPr/>
        </p:nvSpPr>
        <p:spPr>
          <a:xfrm>
            <a:off x="9006611" y="1280160"/>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143771" y="1353312"/>
            <a:ext cx="2362123" cy="685800"/>
          </a:xfrm>
          <a:prstGeom prst="rect">
            <a:avLst/>
          </a:prstGeom>
          <a:noFill/>
        </p:spPr>
        <p:txBody>
          <a:bodyPr wrap="square" anchor="t" lIns="45720" rIns="45720">
            <a:spAutoFit/>
          </a:bodyPr>
          <a:lstStyle/>
          <a:p>
            <a:r>
              <a:rPr sz="3000" b="1" i="0">
                <a:solidFill>
                  <a:srgbClr val="004EA8"/>
                </a:solidFill>
                <a:latin typeface="Arial"/>
              </a:rPr>
              <a:t>3</a:t>
            </a:r>
          </a:p>
        </p:txBody>
      </p:sp>
      <p:sp>
        <p:nvSpPr>
          <p:cNvPr id="23" name="TextBox 22"/>
          <p:cNvSpPr txBox="1"/>
          <p:nvPr/>
        </p:nvSpPr>
        <p:spPr>
          <a:xfrm>
            <a:off x="9143771" y="2057400"/>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references for one transaction (ISYS, QPS, EBIX), plus the payment reference</a:t>
            </a:r>
          </a:p>
        </p:txBody>
      </p:sp>
      <p:sp>
        <p:nvSpPr>
          <p:cNvPr id="24" name="TextBox 23"/>
          <p:cNvSpPr txBox="1"/>
          <p:nvPr/>
        </p:nvSpPr>
        <p:spPr>
          <a:xfrm>
            <a:off x="9143771" y="3081528"/>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OV-03</a:t>
            </a:r>
          </a:p>
        </p:txBody>
      </p:sp>
      <p:sp>
        <p:nvSpPr>
          <p:cNvPr id="25" name="Rounded Rectangle 24"/>
          <p:cNvSpPr/>
          <p:nvPr/>
        </p:nvSpPr>
        <p:spPr>
          <a:xfrm>
            <a:off x="548640"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85800" y="3721608"/>
            <a:ext cx="2362123" cy="685800"/>
          </a:xfrm>
          <a:prstGeom prst="rect">
            <a:avLst/>
          </a:prstGeom>
          <a:noFill/>
        </p:spPr>
        <p:txBody>
          <a:bodyPr wrap="square" anchor="t" lIns="45720" rIns="45720">
            <a:spAutoFit/>
          </a:bodyPr>
          <a:lstStyle/>
          <a:p>
            <a:r>
              <a:rPr sz="3000" b="1" i="0">
                <a:solidFill>
                  <a:srgbClr val="004EA8"/>
                </a:solidFill>
                <a:latin typeface="Arial"/>
              </a:rPr>
              <a:t>50,000+</a:t>
            </a:r>
          </a:p>
        </p:txBody>
      </p:sp>
      <p:sp>
        <p:nvSpPr>
          <p:cNvPr id="27" name="TextBox 26"/>
          <p:cNvSpPr txBox="1"/>
          <p:nvPr/>
        </p:nvSpPr>
        <p:spPr>
          <a:xfrm>
            <a:off x="685800"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Employee Benefits members</a:t>
            </a:r>
          </a:p>
        </p:txBody>
      </p:sp>
      <p:sp>
        <p:nvSpPr>
          <p:cNvPr id="28" name="TextBox 27"/>
          <p:cNvSpPr txBox="1"/>
          <p:nvPr/>
        </p:nvSpPr>
        <p:spPr>
          <a:xfrm>
            <a:off x="685800"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EB-01</a:t>
            </a:r>
          </a:p>
        </p:txBody>
      </p:sp>
      <p:sp>
        <p:nvSpPr>
          <p:cNvPr id="29" name="Rounded Rectangle 28"/>
          <p:cNvSpPr/>
          <p:nvPr/>
        </p:nvSpPr>
        <p:spPr>
          <a:xfrm>
            <a:off x="3367963"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505123" y="3721608"/>
            <a:ext cx="2362123" cy="685800"/>
          </a:xfrm>
          <a:prstGeom prst="rect">
            <a:avLst/>
          </a:prstGeom>
          <a:noFill/>
        </p:spPr>
        <p:txBody>
          <a:bodyPr wrap="square" anchor="t" lIns="45720" rIns="45720">
            <a:spAutoFit/>
          </a:bodyPr>
          <a:lstStyle/>
          <a:p>
            <a:r>
              <a:rPr sz="3000" b="1" i="0">
                <a:solidFill>
                  <a:srgbClr val="004EA8"/>
                </a:solidFill>
                <a:latin typeface="Arial"/>
              </a:rPr>
              <a:t>20-30K</a:t>
            </a:r>
          </a:p>
        </p:txBody>
      </p:sp>
      <p:sp>
        <p:nvSpPr>
          <p:cNvPr id="31" name="TextBox 30"/>
          <p:cNvSpPr txBox="1"/>
          <p:nvPr/>
        </p:nvSpPr>
        <p:spPr>
          <a:xfrm>
            <a:off x="3505123"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production lines per insurer a month to reconcile</a:t>
            </a:r>
          </a:p>
        </p:txBody>
      </p:sp>
      <p:sp>
        <p:nvSpPr>
          <p:cNvPr id="32" name="TextBox 31"/>
          <p:cNvSpPr txBox="1"/>
          <p:nvPr/>
        </p:nvSpPr>
        <p:spPr>
          <a:xfrm>
            <a:off x="3505123"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Day 1 p.24</a:t>
            </a:r>
          </a:p>
        </p:txBody>
      </p:sp>
      <p:sp>
        <p:nvSpPr>
          <p:cNvPr id="33" name="Rounded Rectangle 32"/>
          <p:cNvSpPr/>
          <p:nvPr/>
        </p:nvSpPr>
        <p:spPr>
          <a:xfrm>
            <a:off x="6187287"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324447" y="3721608"/>
            <a:ext cx="2362123" cy="685800"/>
          </a:xfrm>
          <a:prstGeom prst="rect">
            <a:avLst/>
          </a:prstGeom>
          <a:noFill/>
        </p:spPr>
        <p:txBody>
          <a:bodyPr wrap="square" anchor="t" lIns="45720" rIns="45720">
            <a:spAutoFit/>
          </a:bodyPr>
          <a:lstStyle/>
          <a:p>
            <a:r>
              <a:rPr sz="3000" b="1" i="0">
                <a:solidFill>
                  <a:srgbClr val="004EA8"/>
                </a:solidFill>
                <a:latin typeface="Arial"/>
              </a:rPr>
              <a:t>~2,000</a:t>
            </a:r>
          </a:p>
        </p:txBody>
      </p:sp>
      <p:sp>
        <p:nvSpPr>
          <p:cNvPr id="35" name="TextBox 34"/>
          <p:cNvSpPr txBox="1"/>
          <p:nvPr/>
        </p:nvSpPr>
        <p:spPr>
          <a:xfrm>
            <a:off x="6324447"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records in one bulk payment file</a:t>
            </a:r>
          </a:p>
        </p:txBody>
      </p:sp>
      <p:sp>
        <p:nvSpPr>
          <p:cNvPr id="36" name="TextBox 35"/>
          <p:cNvSpPr txBox="1"/>
          <p:nvPr/>
        </p:nvSpPr>
        <p:spPr>
          <a:xfrm>
            <a:off x="6324447"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CA-05</a:t>
            </a:r>
          </a:p>
        </p:txBody>
      </p:sp>
      <p:sp>
        <p:nvSpPr>
          <p:cNvPr id="37" name="Rounded Rectangle 36"/>
          <p:cNvSpPr/>
          <p:nvPr/>
        </p:nvSpPr>
        <p:spPr>
          <a:xfrm>
            <a:off x="9006611" y="3648456"/>
            <a:ext cx="2636443" cy="2185416"/>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143771" y="3721608"/>
            <a:ext cx="2362123" cy="685800"/>
          </a:xfrm>
          <a:prstGeom prst="rect">
            <a:avLst/>
          </a:prstGeom>
          <a:noFill/>
        </p:spPr>
        <p:txBody>
          <a:bodyPr wrap="square" anchor="t" lIns="45720" rIns="45720">
            <a:spAutoFit/>
          </a:bodyPr>
          <a:lstStyle/>
          <a:p>
            <a:r>
              <a:rPr sz="3000" b="1" i="0">
                <a:solidFill>
                  <a:srgbClr val="004EA8"/>
                </a:solidFill>
                <a:latin typeface="Arial"/>
              </a:rPr>
              <a:t>59</a:t>
            </a:r>
          </a:p>
        </p:txBody>
      </p:sp>
      <p:sp>
        <p:nvSpPr>
          <p:cNvPr id="39" name="TextBox 38"/>
          <p:cNvSpPr txBox="1"/>
          <p:nvPr/>
        </p:nvSpPr>
        <p:spPr>
          <a:xfrm>
            <a:off x="9143771" y="4425696"/>
            <a:ext cx="2362123" cy="1042416"/>
          </a:xfrm>
          <a:prstGeom prst="rect">
            <a:avLst/>
          </a:prstGeom>
          <a:noFill/>
        </p:spPr>
        <p:txBody>
          <a:bodyPr wrap="square" anchor="t" lIns="45720" rIns="45720" tIns="18288" bIns="18288">
            <a:spAutoFit/>
          </a:bodyPr>
          <a:lstStyle/>
          <a:p>
            <a:pPr>
              <a:spcAft>
                <a:spcPts val="0"/>
              </a:spcAft>
            </a:pPr>
            <a:r>
              <a:rPr sz="1300" b="1">
                <a:solidFill>
                  <a:srgbClr val="2E2E2E"/>
                </a:solidFill>
                <a:latin typeface="Arial"/>
              </a:rPr>
              <a:t>change champions and SMEs across the units</a:t>
            </a:r>
          </a:p>
        </p:txBody>
      </p:sp>
      <p:sp>
        <p:nvSpPr>
          <p:cNvPr id="40" name="TextBox 39"/>
          <p:cNvSpPr txBox="1"/>
          <p:nvPr/>
        </p:nvSpPr>
        <p:spPr>
          <a:xfrm>
            <a:off x="9143771" y="5449824"/>
            <a:ext cx="2362123" cy="347472"/>
          </a:xfrm>
          <a:prstGeom prst="rect">
            <a:avLst/>
          </a:prstGeom>
          <a:noFill/>
        </p:spPr>
        <p:txBody>
          <a:bodyPr wrap="square" anchor="b" lIns="45720" rIns="45720" tIns="18288" bIns="18288">
            <a:spAutoFit/>
          </a:bodyPr>
          <a:lstStyle/>
          <a:p>
            <a:pPr>
              <a:spcAft>
                <a:spcPts val="0"/>
              </a:spcAft>
            </a:pPr>
            <a:r>
              <a:rPr sz="1000" b="0">
                <a:solidFill>
                  <a:srgbClr val="656565"/>
                </a:solidFill>
                <a:latin typeface="Arial"/>
              </a:rPr>
              <a:t>Day 1 p.5</a:t>
            </a:r>
          </a:p>
        </p:txBody>
      </p:sp>
      <p:sp>
        <p:nvSpPr>
          <p:cNvPr id="41" name="TextBox 40"/>
          <p:cNvSpPr txBox="1"/>
          <p:nvPr/>
        </p:nvSpPr>
        <p:spPr>
          <a:xfrm>
            <a:off x="548640" y="5879592"/>
            <a:ext cx="11094415" cy="365760"/>
          </a:xfrm>
          <a:prstGeom prst="rect">
            <a:avLst/>
          </a:prstGeom>
          <a:noFill/>
        </p:spPr>
        <p:txBody>
          <a:bodyPr wrap="square" anchor="t" lIns="45720" rIns="45720" tIns="18288" bIns="18288">
            <a:spAutoFit/>
          </a:bodyPr>
          <a:lstStyle/>
          <a:p>
            <a:pPr>
              <a:spcAft>
                <a:spcPts val="0"/>
              </a:spcAft>
            </a:pPr>
            <a:r>
              <a:rPr sz="1100" b="0">
                <a:solidFill>
                  <a:srgbClr val="656565"/>
                </a:solidFill>
                <a:latin typeface="Arial"/>
              </a:rPr>
              <a:t>Sources: floor-walk notes OV-01, OV-03, FN-01, EB-01, CA-05; Day 1 p.5, p.10 and p.24.</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Who does what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sp>
        <p:nvSpPr>
          <p:cNvPr id="9" name="Rounded Rectangle 8"/>
          <p:cNvSpPr/>
          <p:nvPr/>
        </p:nvSpPr>
        <p:spPr>
          <a:xfrm>
            <a:off x="548640"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Marketing: Corporate and IBG</a:t>
            </a:r>
          </a:p>
        </p:txBody>
      </p:sp>
      <p:sp>
        <p:nvSpPr>
          <p:cNvPr id="12" name="TextBox 11"/>
          <p:cNvSpPr txBox="1"/>
          <p:nvPr/>
        </p:nvSpPr>
        <p:spPr>
          <a:xfrm>
            <a:off x="621792"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Corporate and institutional clients; IBG referrals</a:t>
            </a:r>
          </a:p>
          <a:p>
            <a:pPr>
              <a:spcAft>
                <a:spcPts val="300"/>
              </a:spcAft>
            </a:pPr>
            <a:r>
              <a:rPr sz="1100" b="0">
                <a:solidFill>
                  <a:srgbClr val="004EA8"/>
                </a:solidFill>
                <a:latin typeface="Arial"/>
              </a:rPr>
              <a:t>•  </a:t>
            </a:r>
            <a:r>
              <a:rPr sz="1100" b="0">
                <a:solidFill>
                  <a:srgbClr val="4B4B4B"/>
                </a:solidFill>
                <a:latin typeface="Arial"/>
              </a:rPr>
              <a:t>Quotations, proposals, renewals, collections follow-up</a:t>
            </a:r>
          </a:p>
          <a:p>
            <a:pPr>
              <a:spcAft>
                <a:spcPts val="300"/>
              </a:spcAft>
            </a:pPr>
            <a:r>
              <a:rPr sz="1100" b="0">
                <a:solidFill>
                  <a:srgbClr val="004EA8"/>
                </a:solidFill>
                <a:latin typeface="Arial"/>
              </a:rPr>
              <a:t>•  </a:t>
            </a:r>
            <a:r>
              <a:rPr sz="1100" b="0">
                <a:solidFill>
                  <a:srgbClr val="4B4B4B"/>
                </a:solidFill>
                <a:latin typeface="Arial"/>
              </a:rPr>
              <a:t>Chapters 1, 2, 7</a:t>
            </a:r>
          </a:p>
        </p:txBody>
      </p:sp>
      <p:sp>
        <p:nvSpPr>
          <p:cNvPr id="13" name="Rounded Rectangle 12"/>
          <p:cNvSpPr/>
          <p:nvPr/>
        </p:nvSpPr>
        <p:spPr>
          <a:xfrm>
            <a:off x="3363391"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363391"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36543"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Marketing: Retail and Branches</a:t>
            </a:r>
          </a:p>
        </p:txBody>
      </p:sp>
      <p:sp>
        <p:nvSpPr>
          <p:cNvPr id="16" name="TextBox 15"/>
          <p:cNvSpPr txBox="1"/>
          <p:nvPr/>
        </p:nvSpPr>
        <p:spPr>
          <a:xfrm>
            <a:off x="3436543"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CBG Motor, Fire, Home; Non-CBG Retail; 8 branches</a:t>
            </a:r>
          </a:p>
          <a:p>
            <a:pPr>
              <a:spcAft>
                <a:spcPts val="300"/>
              </a:spcAft>
            </a:pPr>
            <a:r>
              <a:rPr sz="1100" b="0">
                <a:solidFill>
                  <a:srgbClr val="004EA8"/>
                </a:solidFill>
                <a:latin typeface="Arial"/>
              </a:rPr>
              <a:t>•  </a:t>
            </a:r>
            <a:r>
              <a:rPr sz="1100" b="0">
                <a:solidFill>
                  <a:srgbClr val="4B4B4B"/>
                </a:solidFill>
                <a:latin typeface="Arial"/>
              </a:rPr>
              <a:t>Bank-referred and bulk business (HLS, LAD)</a:t>
            </a:r>
          </a:p>
          <a:p>
            <a:pPr>
              <a:spcAft>
                <a:spcPts val="300"/>
              </a:spcAft>
            </a:pPr>
            <a:r>
              <a:rPr sz="1100" b="0">
                <a:solidFill>
                  <a:srgbClr val="004EA8"/>
                </a:solidFill>
                <a:latin typeface="Arial"/>
              </a:rPr>
              <a:t>•  </a:t>
            </a:r>
            <a:r>
              <a:rPr sz="1100" b="0">
                <a:solidFill>
                  <a:srgbClr val="4B4B4B"/>
                </a:solidFill>
                <a:latin typeface="Arial"/>
              </a:rPr>
              <a:t>Chapters 1, 2, 3</a:t>
            </a:r>
          </a:p>
        </p:txBody>
      </p:sp>
      <p:sp>
        <p:nvSpPr>
          <p:cNvPr id="17" name="Rounded Rectangle 16"/>
          <p:cNvSpPr/>
          <p:nvPr/>
        </p:nvSpPr>
        <p:spPr>
          <a:xfrm>
            <a:off x="6178143"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178143"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51295"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Marketing Admin and Support</a:t>
            </a:r>
          </a:p>
        </p:txBody>
      </p:sp>
      <p:sp>
        <p:nvSpPr>
          <p:cNvPr id="20" name="TextBox 19"/>
          <p:cNvSpPr txBox="1"/>
          <p:nvPr/>
        </p:nvSpPr>
        <p:spPr>
          <a:xfrm>
            <a:off x="6251295"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RMEL split and dispositions; refunds (RRF)</a:t>
            </a:r>
          </a:p>
          <a:p>
            <a:pPr>
              <a:spcAft>
                <a:spcPts val="300"/>
              </a:spcAft>
            </a:pPr>
            <a:r>
              <a:rPr sz="1100" b="0">
                <a:solidFill>
                  <a:srgbClr val="004EA8"/>
                </a:solidFill>
                <a:latin typeface="Arial"/>
              </a:rPr>
              <a:t>•  </a:t>
            </a:r>
            <a:r>
              <a:rPr sz="1100" b="0">
                <a:solidFill>
                  <a:srgbClr val="4B4B4B"/>
                </a:solidFill>
                <a:latin typeface="Arial"/>
              </a:rPr>
              <a:t>Account Support for Combank; UPP handling</a:t>
            </a:r>
          </a:p>
          <a:p>
            <a:pPr>
              <a:spcAft>
                <a:spcPts val="300"/>
              </a:spcAft>
            </a:pPr>
            <a:r>
              <a:rPr sz="1100" b="0">
                <a:solidFill>
                  <a:srgbClr val="004EA8"/>
                </a:solidFill>
                <a:latin typeface="Arial"/>
              </a:rPr>
              <a:t>•  </a:t>
            </a:r>
            <a:r>
              <a:rPr sz="1100" b="0">
                <a:solidFill>
                  <a:srgbClr val="4B4B4B"/>
                </a:solidFill>
                <a:latin typeface="Arial"/>
              </a:rPr>
              <a:t>Chapters 2, 8</a:t>
            </a:r>
          </a:p>
        </p:txBody>
      </p:sp>
      <p:sp>
        <p:nvSpPr>
          <p:cNvPr id="21" name="Rounded Rectangle 20"/>
          <p:cNvSpPr/>
          <p:nvPr/>
        </p:nvSpPr>
        <p:spPr>
          <a:xfrm>
            <a:off x="8992895" y="1280160"/>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992895" y="1280160"/>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066047" y="1280160"/>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Employee Benefits</a:t>
            </a:r>
          </a:p>
        </p:txBody>
      </p:sp>
      <p:sp>
        <p:nvSpPr>
          <p:cNvPr id="24" name="TextBox 23"/>
          <p:cNvSpPr txBox="1"/>
          <p:nvPr/>
        </p:nvSpPr>
        <p:spPr>
          <a:xfrm>
            <a:off x="9066047" y="1810512"/>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Group life, HMO and accident programmes</a:t>
            </a:r>
          </a:p>
          <a:p>
            <a:pPr>
              <a:spcAft>
                <a:spcPts val="300"/>
              </a:spcAft>
            </a:pPr>
            <a:r>
              <a:rPr sz="1100" b="0">
                <a:solidFill>
                  <a:srgbClr val="004EA8"/>
                </a:solidFill>
                <a:latin typeface="Arial"/>
              </a:rPr>
              <a:t>•  </a:t>
            </a:r>
            <a:r>
              <a:rPr sz="1100" b="0">
                <a:solidFill>
                  <a:srgbClr val="4B4B4B"/>
                </a:solidFill>
                <a:latin typeface="Arial"/>
              </a:rPr>
              <a:t>BOR, TOR, proposals, comparative, placement</a:t>
            </a:r>
          </a:p>
          <a:p>
            <a:pPr>
              <a:spcAft>
                <a:spcPts val="300"/>
              </a:spcAft>
            </a:pPr>
            <a:r>
              <a:rPr sz="1100" b="0">
                <a:solidFill>
                  <a:srgbClr val="004EA8"/>
                </a:solidFill>
                <a:latin typeface="Arial"/>
              </a:rPr>
              <a:t>•  </a:t>
            </a:r>
            <a:r>
              <a:rPr sz="1100" b="0">
                <a:solidFill>
                  <a:srgbClr val="4B4B4B"/>
                </a:solidFill>
                <a:latin typeface="Arial"/>
              </a:rPr>
              <a:t>Chapter 4</a:t>
            </a:r>
          </a:p>
        </p:txBody>
      </p:sp>
      <p:sp>
        <p:nvSpPr>
          <p:cNvPr id="25" name="Rounded Rectangle 24"/>
          <p:cNvSpPr/>
          <p:nvPr/>
        </p:nvSpPr>
        <p:spPr>
          <a:xfrm>
            <a:off x="548640"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548640"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621792"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TSU and MBS</a:t>
            </a:r>
          </a:p>
        </p:txBody>
      </p:sp>
      <p:sp>
        <p:nvSpPr>
          <p:cNvPr id="28" name="TextBox 27"/>
          <p:cNvSpPr txBox="1"/>
          <p:nvPr/>
        </p:nvSpPr>
        <p:spPr>
          <a:xfrm>
            <a:off x="621792"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Non-package terms; quotation slips; comparative</a:t>
            </a:r>
          </a:p>
          <a:p>
            <a:pPr>
              <a:spcAft>
                <a:spcPts val="300"/>
              </a:spcAft>
            </a:pPr>
            <a:r>
              <a:rPr sz="1100" b="0">
                <a:solidFill>
                  <a:srgbClr val="004EA8"/>
                </a:solidFill>
                <a:latin typeface="Arial"/>
              </a:rPr>
              <a:t>•  </a:t>
            </a:r>
            <a:r>
              <a:rPr sz="1100" b="0">
                <a:solidFill>
                  <a:srgbClr val="4B4B4B"/>
                </a:solidFill>
                <a:latin typeface="Arial"/>
              </a:rPr>
              <a:t>Package design, set-up and release</a:t>
            </a:r>
          </a:p>
          <a:p>
            <a:pPr>
              <a:spcAft>
                <a:spcPts val="300"/>
              </a:spcAft>
            </a:pPr>
            <a:r>
              <a:rPr sz="1100" b="0">
                <a:solidFill>
                  <a:srgbClr val="004EA8"/>
                </a:solidFill>
                <a:latin typeface="Arial"/>
              </a:rPr>
              <a:t>•  </a:t>
            </a:r>
            <a:r>
              <a:rPr sz="1100" b="0">
                <a:solidFill>
                  <a:srgbClr val="4B4B4B"/>
                </a:solidFill>
                <a:latin typeface="Arial"/>
              </a:rPr>
              <a:t>Chapter 5</a:t>
            </a:r>
          </a:p>
        </p:txBody>
      </p:sp>
      <p:sp>
        <p:nvSpPr>
          <p:cNvPr id="29" name="Rounded Rectangle 28"/>
          <p:cNvSpPr/>
          <p:nvPr/>
        </p:nvSpPr>
        <p:spPr>
          <a:xfrm>
            <a:off x="3363391"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3363391"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3436543"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Processing</a:t>
            </a:r>
          </a:p>
        </p:txBody>
      </p:sp>
      <p:sp>
        <p:nvSpPr>
          <p:cNvPr id="32" name="TextBox 31"/>
          <p:cNvSpPr txBox="1"/>
          <p:nvPr/>
        </p:nvSpPr>
        <p:spPr>
          <a:xfrm>
            <a:off x="3436543"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Client and account set-up; placement; booking</a:t>
            </a:r>
          </a:p>
          <a:p>
            <a:pPr>
              <a:spcAft>
                <a:spcPts val="300"/>
              </a:spcAft>
            </a:pPr>
            <a:r>
              <a:rPr sz="1100" b="0">
                <a:solidFill>
                  <a:srgbClr val="004EA8"/>
                </a:solidFill>
                <a:latin typeface="Arial"/>
              </a:rPr>
              <a:t>•  </a:t>
            </a:r>
            <a:r>
              <a:rPr sz="1100" b="0">
                <a:solidFill>
                  <a:srgbClr val="4B4B4B"/>
                </a:solidFill>
                <a:latin typeface="Arial"/>
              </a:rPr>
              <a:t>Renewal sanitation (CBG Fire and Motor)</a:t>
            </a:r>
          </a:p>
          <a:p>
            <a:pPr>
              <a:spcAft>
                <a:spcPts val="300"/>
              </a:spcAft>
            </a:pPr>
            <a:r>
              <a:rPr sz="1100" b="0">
                <a:solidFill>
                  <a:srgbClr val="004EA8"/>
                </a:solidFill>
                <a:latin typeface="Arial"/>
              </a:rPr>
              <a:t>•  </a:t>
            </a:r>
            <a:r>
              <a:rPr sz="1100" b="0">
                <a:solidFill>
                  <a:srgbClr val="4B4B4B"/>
                </a:solidFill>
                <a:latin typeface="Arial"/>
              </a:rPr>
              <a:t>Chapters 1, 2</a:t>
            </a:r>
          </a:p>
        </p:txBody>
      </p:sp>
      <p:sp>
        <p:nvSpPr>
          <p:cNvPr id="33" name="Rounded Rectangle 32"/>
          <p:cNvSpPr/>
          <p:nvPr/>
        </p:nvSpPr>
        <p:spPr>
          <a:xfrm>
            <a:off x="6178143"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78143"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251295"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Operations</a:t>
            </a:r>
          </a:p>
        </p:txBody>
      </p:sp>
      <p:sp>
        <p:nvSpPr>
          <p:cNvPr id="36" name="TextBox 35"/>
          <p:cNvSpPr txBox="1"/>
          <p:nvPr/>
        </p:nvSpPr>
        <p:spPr>
          <a:xfrm>
            <a:off x="6251295"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Cashiering, Remittance, Adjustment and Collateral Release</a:t>
            </a:r>
          </a:p>
          <a:p>
            <a:pPr>
              <a:spcAft>
                <a:spcPts val="300"/>
              </a:spcAft>
            </a:pPr>
            <a:r>
              <a:rPr sz="1100" b="0">
                <a:solidFill>
                  <a:srgbClr val="004EA8"/>
                </a:solidFill>
                <a:latin typeface="Arial"/>
              </a:rPr>
              <a:t>•  </a:t>
            </a:r>
            <a:r>
              <a:rPr sz="1100" b="0">
                <a:solidFill>
                  <a:srgbClr val="4B4B4B"/>
                </a:solidFill>
                <a:latin typeface="Arial"/>
              </a:rPr>
              <a:t>Production recon, CRU, invoicing</a:t>
            </a:r>
          </a:p>
          <a:p>
            <a:pPr>
              <a:spcAft>
                <a:spcPts val="300"/>
              </a:spcAft>
            </a:pPr>
            <a:r>
              <a:rPr sz="1100" b="0">
                <a:solidFill>
                  <a:srgbClr val="004EA8"/>
                </a:solidFill>
                <a:latin typeface="Arial"/>
              </a:rPr>
              <a:t>•  </a:t>
            </a:r>
            <a:r>
              <a:rPr sz="1100" b="0">
                <a:solidFill>
                  <a:srgbClr val="4B4B4B"/>
                </a:solidFill>
                <a:latin typeface="Arial"/>
              </a:rPr>
              <a:t>Chapter 6</a:t>
            </a:r>
          </a:p>
        </p:txBody>
      </p:sp>
      <p:sp>
        <p:nvSpPr>
          <p:cNvPr id="37" name="Rounded Rectangle 36"/>
          <p:cNvSpPr/>
          <p:nvPr/>
        </p:nvSpPr>
        <p:spPr>
          <a:xfrm>
            <a:off x="8992895" y="2974848"/>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Rectangle 37"/>
          <p:cNvSpPr/>
          <p:nvPr/>
        </p:nvSpPr>
        <p:spPr>
          <a:xfrm>
            <a:off x="8992895" y="2974848"/>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066047" y="2974848"/>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Collections</a:t>
            </a:r>
          </a:p>
        </p:txBody>
      </p:sp>
      <p:sp>
        <p:nvSpPr>
          <p:cNvPr id="40" name="TextBox 39"/>
          <p:cNvSpPr txBox="1"/>
          <p:nvPr/>
        </p:nvSpPr>
        <p:spPr>
          <a:xfrm>
            <a:off x="9066047" y="3505200"/>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Premium receivable follow-up with Marketing AOs</a:t>
            </a:r>
          </a:p>
          <a:p>
            <a:pPr>
              <a:spcAft>
                <a:spcPts val="300"/>
              </a:spcAft>
            </a:pPr>
            <a:r>
              <a:rPr sz="1100" b="0">
                <a:solidFill>
                  <a:srgbClr val="004EA8"/>
                </a:solidFill>
                <a:latin typeface="Arial"/>
              </a:rPr>
              <a:t>•  </a:t>
            </a:r>
            <a:r>
              <a:rPr sz="1100" b="0">
                <a:solidFill>
                  <a:srgbClr val="4B4B4B"/>
                </a:solidFill>
                <a:latin typeface="Arial"/>
              </a:rPr>
              <a:t>ICS, commitments, CTE, dispositions</a:t>
            </a:r>
          </a:p>
          <a:p>
            <a:pPr>
              <a:spcAft>
                <a:spcPts val="300"/>
              </a:spcAft>
            </a:pPr>
            <a:r>
              <a:rPr sz="1100" b="0">
                <a:solidFill>
                  <a:srgbClr val="004EA8"/>
                </a:solidFill>
                <a:latin typeface="Arial"/>
              </a:rPr>
              <a:t>•  </a:t>
            </a:r>
            <a:r>
              <a:rPr sz="1100" b="0">
                <a:solidFill>
                  <a:srgbClr val="4B4B4B"/>
                </a:solidFill>
                <a:latin typeface="Arial"/>
              </a:rPr>
              <a:t>Chapter 7</a:t>
            </a:r>
          </a:p>
        </p:txBody>
      </p:sp>
      <p:sp>
        <p:nvSpPr>
          <p:cNvPr id="41" name="Rounded Rectangle 40"/>
          <p:cNvSpPr/>
          <p:nvPr/>
        </p:nvSpPr>
        <p:spPr>
          <a:xfrm>
            <a:off x="548640"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Rectangle 41"/>
          <p:cNvSpPr/>
          <p:nvPr/>
        </p:nvSpPr>
        <p:spPr>
          <a:xfrm>
            <a:off x="548640"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21792"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Comptrollership</a:t>
            </a:r>
          </a:p>
        </p:txBody>
      </p:sp>
      <p:sp>
        <p:nvSpPr>
          <p:cNvPr id="44" name="TextBox 43"/>
          <p:cNvSpPr txBox="1"/>
          <p:nvPr/>
        </p:nvSpPr>
        <p:spPr>
          <a:xfrm>
            <a:off x="621792"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FRBS: GL, reconciliation, close, BIR</a:t>
            </a:r>
          </a:p>
          <a:p>
            <a:pPr>
              <a:spcAft>
                <a:spcPts val="300"/>
              </a:spcAft>
            </a:pPr>
            <a:r>
              <a:rPr sz="1100" b="0">
                <a:solidFill>
                  <a:srgbClr val="004EA8"/>
                </a:solidFill>
                <a:latin typeface="Arial"/>
              </a:rPr>
              <a:t>•  </a:t>
            </a:r>
            <a:r>
              <a:rPr sz="1100" b="0">
                <a:solidFill>
                  <a:srgbClr val="4B4B4B"/>
                </a:solidFill>
                <a:latin typeface="Arial"/>
              </a:rPr>
              <a:t>Disbursement; ACSL sub-ledger</a:t>
            </a:r>
          </a:p>
          <a:p>
            <a:pPr>
              <a:spcAft>
                <a:spcPts val="300"/>
              </a:spcAft>
            </a:pPr>
            <a:r>
              <a:rPr sz="1100" b="0">
                <a:solidFill>
                  <a:srgbClr val="004EA8"/>
                </a:solidFill>
                <a:latin typeface="Arial"/>
              </a:rPr>
              <a:t>•  </a:t>
            </a:r>
            <a:r>
              <a:rPr sz="1100" b="0">
                <a:solidFill>
                  <a:srgbClr val="4B4B4B"/>
                </a:solidFill>
                <a:latin typeface="Arial"/>
              </a:rPr>
              <a:t>Chapter 8</a:t>
            </a:r>
          </a:p>
        </p:txBody>
      </p:sp>
      <p:sp>
        <p:nvSpPr>
          <p:cNvPr id="45" name="Rounded Rectangle 44"/>
          <p:cNvSpPr/>
          <p:nvPr/>
        </p:nvSpPr>
        <p:spPr>
          <a:xfrm>
            <a:off x="3363391"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Rectangle 45"/>
          <p:cNvSpPr/>
          <p:nvPr/>
        </p:nvSpPr>
        <p:spPr>
          <a:xfrm>
            <a:off x="3363391"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3436543"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Claims</a:t>
            </a:r>
          </a:p>
        </p:txBody>
      </p:sp>
      <p:sp>
        <p:nvSpPr>
          <p:cNvPr id="48" name="TextBox 47"/>
          <p:cNvSpPr txBox="1"/>
          <p:nvPr/>
        </p:nvSpPr>
        <p:spPr>
          <a:xfrm>
            <a:off x="3436543"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Motor and Non-Motor claims, client advocacy</a:t>
            </a:r>
          </a:p>
          <a:p>
            <a:pPr>
              <a:spcAft>
                <a:spcPts val="300"/>
              </a:spcAft>
            </a:pPr>
            <a:r>
              <a:rPr sz="1100" b="0">
                <a:solidFill>
                  <a:srgbClr val="004EA8"/>
                </a:solidFill>
                <a:latin typeface="Arial"/>
              </a:rPr>
              <a:t>•  </a:t>
            </a:r>
            <a:r>
              <a:rPr sz="1100" b="0">
                <a:solidFill>
                  <a:srgbClr val="4B4B4B"/>
                </a:solidFill>
                <a:latin typeface="Arial"/>
              </a:rPr>
              <a:t>Insurers, adjusters, repair shops</a:t>
            </a:r>
          </a:p>
          <a:p>
            <a:pPr>
              <a:spcAft>
                <a:spcPts val="300"/>
              </a:spcAft>
            </a:pPr>
            <a:r>
              <a:rPr sz="1100" b="0">
                <a:solidFill>
                  <a:srgbClr val="004EA8"/>
                </a:solidFill>
                <a:latin typeface="Arial"/>
              </a:rPr>
              <a:t>•  </a:t>
            </a:r>
            <a:r>
              <a:rPr sz="1100" b="0">
                <a:solidFill>
                  <a:srgbClr val="4B4B4B"/>
                </a:solidFill>
                <a:latin typeface="Arial"/>
              </a:rPr>
              <a:t>Chapter 9</a:t>
            </a:r>
          </a:p>
        </p:txBody>
      </p:sp>
      <p:sp>
        <p:nvSpPr>
          <p:cNvPr id="49" name="Rounded Rectangle 48"/>
          <p:cNvSpPr/>
          <p:nvPr/>
        </p:nvSpPr>
        <p:spPr>
          <a:xfrm>
            <a:off x="6178143"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Rectangle 49"/>
          <p:cNvSpPr/>
          <p:nvPr/>
        </p:nvSpPr>
        <p:spPr>
          <a:xfrm>
            <a:off x="6178143"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6251295"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Contact centre and COG</a:t>
            </a:r>
          </a:p>
        </p:txBody>
      </p:sp>
      <p:sp>
        <p:nvSpPr>
          <p:cNvPr id="52" name="TextBox 51"/>
          <p:cNvSpPr txBox="1"/>
          <p:nvPr/>
        </p:nvSpPr>
        <p:spPr>
          <a:xfrm>
            <a:off x="6251295"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Contact centre: inquiries, updates, resends, cases</a:t>
            </a:r>
          </a:p>
          <a:p>
            <a:pPr>
              <a:spcAft>
                <a:spcPts val="300"/>
              </a:spcAft>
            </a:pPr>
            <a:r>
              <a:rPr sz="1100" b="0">
                <a:solidFill>
                  <a:srgbClr val="004EA8"/>
                </a:solidFill>
                <a:latin typeface="Arial"/>
              </a:rPr>
              <a:t>•  </a:t>
            </a:r>
            <a:r>
              <a:rPr sz="1100" b="0">
                <a:solidFill>
                  <a:srgbClr val="4B4B4B"/>
                </a:solidFill>
                <a:latin typeface="Arial"/>
              </a:rPr>
              <a:t>COG-OPRM: RA letters, e-policies</a:t>
            </a:r>
          </a:p>
          <a:p>
            <a:pPr>
              <a:spcAft>
                <a:spcPts val="300"/>
              </a:spcAft>
            </a:pPr>
            <a:r>
              <a:rPr sz="1100" b="0">
                <a:solidFill>
                  <a:srgbClr val="004EA8"/>
                </a:solidFill>
                <a:latin typeface="Arial"/>
              </a:rPr>
              <a:t>•  </a:t>
            </a:r>
            <a:r>
              <a:rPr sz="1100" b="0">
                <a:solidFill>
                  <a:srgbClr val="4B4B4B"/>
                </a:solidFill>
                <a:latin typeface="Arial"/>
              </a:rPr>
              <a:t>Chapters 2, 10</a:t>
            </a:r>
          </a:p>
        </p:txBody>
      </p:sp>
      <p:sp>
        <p:nvSpPr>
          <p:cNvPr id="53" name="Rounded Rectangle 52"/>
          <p:cNvSpPr/>
          <p:nvPr/>
        </p:nvSpPr>
        <p:spPr>
          <a:xfrm>
            <a:off x="8992895" y="4669536"/>
            <a:ext cx="2650159" cy="1530096"/>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Rectangle 53"/>
          <p:cNvSpPr/>
          <p:nvPr/>
        </p:nvSpPr>
        <p:spPr>
          <a:xfrm>
            <a:off x="8992895" y="4669536"/>
            <a:ext cx="2650159"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9066047" y="4669536"/>
            <a:ext cx="2503855" cy="457200"/>
          </a:xfrm>
          <a:prstGeom prst="rect">
            <a:avLst/>
          </a:prstGeom>
          <a:noFill/>
        </p:spPr>
        <p:txBody>
          <a:bodyPr wrap="square" anchor="ctr" lIns="45720" rIns="45720" tIns="18288" bIns="18288">
            <a:spAutoFit/>
          </a:bodyPr>
          <a:lstStyle/>
          <a:p>
            <a:pPr>
              <a:spcAft>
                <a:spcPts val="0"/>
              </a:spcAft>
            </a:pPr>
            <a:r>
              <a:rPr sz="1200" b="1">
                <a:solidFill>
                  <a:srgbClr val="FFFFFF"/>
                </a:solidFill>
                <a:latin typeface="Arial"/>
              </a:rPr>
              <a:t>IT</a:t>
            </a:r>
          </a:p>
        </p:txBody>
      </p:sp>
      <p:sp>
        <p:nvSpPr>
          <p:cNvPr id="56" name="TextBox 55"/>
          <p:cNvSpPr txBox="1"/>
          <p:nvPr/>
        </p:nvSpPr>
        <p:spPr>
          <a:xfrm>
            <a:off x="9066047" y="5199888"/>
            <a:ext cx="2503855" cy="963168"/>
          </a:xfrm>
          <a:prstGeom prst="rect">
            <a:avLst/>
          </a:prstGeom>
          <a:noFill/>
        </p:spPr>
        <p:txBody>
          <a:bodyPr wrap="square" anchor="t" lIns="45720" rIns="45720" tIns="18288" bIns="18288">
            <a:spAutoFit/>
          </a:bodyPr>
          <a:lstStyle/>
          <a:p>
            <a:pPr>
              <a:spcAft>
                <a:spcPts val="300"/>
              </a:spcAft>
            </a:pPr>
            <a:r>
              <a:rPr sz="1100" b="0">
                <a:solidFill>
                  <a:srgbClr val="004EA8"/>
                </a:solidFill>
                <a:latin typeface="Arial"/>
              </a:rPr>
              <a:t>•  </a:t>
            </a:r>
            <a:r>
              <a:rPr sz="1100" b="0">
                <a:solidFill>
                  <a:srgbClr val="4B4B4B"/>
                </a:solidFill>
                <a:latin typeface="Arial"/>
              </a:rPr>
              <a:t>Extracts, migrations, batches and reports</a:t>
            </a:r>
          </a:p>
          <a:p>
            <a:pPr>
              <a:spcAft>
                <a:spcPts val="300"/>
              </a:spcAft>
            </a:pPr>
            <a:r>
              <a:rPr sz="1100" b="0">
                <a:solidFill>
                  <a:srgbClr val="004EA8"/>
                </a:solidFill>
                <a:latin typeface="Arial"/>
              </a:rPr>
              <a:t>•  </a:t>
            </a:r>
            <a:r>
              <a:rPr sz="1100" b="0">
                <a:solidFill>
                  <a:srgbClr val="4B4B4B"/>
                </a:solidFill>
                <a:latin typeface="Arial"/>
              </a:rPr>
              <a:t>In the business path of most departments</a:t>
            </a:r>
          </a:p>
          <a:p>
            <a:pPr>
              <a:spcAft>
                <a:spcPts val="300"/>
              </a:spcAft>
            </a:pPr>
            <a:r>
              <a:rPr sz="1100" b="0">
                <a:solidFill>
                  <a:srgbClr val="004EA8"/>
                </a:solidFill>
                <a:latin typeface="Arial"/>
              </a:rPr>
              <a:t>•  </a:t>
            </a:r>
            <a:r>
              <a:rPr sz="1100" b="0">
                <a:solidFill>
                  <a:srgbClr val="4B4B4B"/>
                </a:solidFill>
                <a:latin typeface="Arial"/>
              </a:rPr>
              <a:t>All chapters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The broking lifecycle and its three flows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sp>
        <p:nvSpPr>
          <p:cNvPr id="9" name="Pentagon 8"/>
          <p:cNvSpPr/>
          <p:nvPr/>
        </p:nvSpPr>
        <p:spPr>
          <a:xfrm>
            <a:off x="548640" y="1280160"/>
            <a:ext cx="1694644" cy="731520"/>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85216"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Market, find the opportunity</a:t>
            </a:r>
          </a:p>
        </p:txBody>
      </p:sp>
      <p:sp>
        <p:nvSpPr>
          <p:cNvPr id="11" name="Chevron 10"/>
          <p:cNvSpPr/>
          <p:nvPr/>
        </p:nvSpPr>
        <p:spPr>
          <a:xfrm>
            <a:off x="2133556"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316436"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Understand the need</a:t>
            </a:r>
          </a:p>
        </p:txBody>
      </p:sp>
      <p:sp>
        <p:nvSpPr>
          <p:cNvPr id="13" name="Chevron 12"/>
          <p:cNvSpPr/>
          <p:nvPr/>
        </p:nvSpPr>
        <p:spPr>
          <a:xfrm>
            <a:off x="3718472"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901352"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Source quotes and terms</a:t>
            </a:r>
          </a:p>
        </p:txBody>
      </p:sp>
      <p:sp>
        <p:nvSpPr>
          <p:cNvPr id="15" name="Chevron 14"/>
          <p:cNvSpPr/>
          <p:nvPr/>
        </p:nvSpPr>
        <p:spPr>
          <a:xfrm>
            <a:off x="5303389"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269"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Present, confirm</a:t>
            </a:r>
          </a:p>
        </p:txBody>
      </p:sp>
      <p:sp>
        <p:nvSpPr>
          <p:cNvPr id="17" name="Chevron 16"/>
          <p:cNvSpPr/>
          <p:nvPr/>
        </p:nvSpPr>
        <p:spPr>
          <a:xfrm>
            <a:off x="6888305"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7071185"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 and book</a:t>
            </a:r>
          </a:p>
        </p:txBody>
      </p:sp>
      <p:sp>
        <p:nvSpPr>
          <p:cNvPr id="19" name="Chevron 18"/>
          <p:cNvSpPr/>
          <p:nvPr/>
        </p:nvSpPr>
        <p:spPr>
          <a:xfrm>
            <a:off x="8473222" y="1280160"/>
            <a:ext cx="1694644" cy="731520"/>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656102"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Collect, reconcile</a:t>
            </a:r>
          </a:p>
        </p:txBody>
      </p:sp>
      <p:sp>
        <p:nvSpPr>
          <p:cNvPr id="21" name="Chevron 20"/>
          <p:cNvSpPr/>
          <p:nvPr/>
        </p:nvSpPr>
        <p:spPr>
          <a:xfrm>
            <a:off x="10058138" y="1280160"/>
            <a:ext cx="1694644" cy="731520"/>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0241018" y="1280160"/>
            <a:ext cx="1365460" cy="731520"/>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Service, adjust, renew, claims</a:t>
            </a:r>
          </a:p>
        </p:txBody>
      </p:sp>
      <p:sp>
        <p:nvSpPr>
          <p:cNvPr id="23" name="TextBox 22"/>
          <p:cNvSpPr txBox="1"/>
          <p:nvPr/>
        </p:nvSpPr>
        <p:spPr>
          <a:xfrm>
            <a:off x="548640" y="2103120"/>
            <a:ext cx="11094415" cy="274320"/>
          </a:xfrm>
          <a:prstGeom prst="rect">
            <a:avLst/>
          </a:prstGeom>
          <a:noFill/>
        </p:spPr>
        <p:txBody>
          <a:bodyPr wrap="square" anchor="t" lIns="45720" rIns="45720">
            <a:spAutoFit/>
          </a:bodyPr>
          <a:lstStyle/>
          <a:p>
            <a:r>
              <a:rPr sz="1200" b="1" i="0">
                <a:solidFill>
                  <a:srgbClr val="656565"/>
                </a:solidFill>
                <a:latin typeface="Arial"/>
              </a:rPr>
              <a:t>Systems and tools used today</a:t>
            </a:r>
          </a:p>
        </p:txBody>
      </p:sp>
      <p:sp>
        <p:nvSpPr>
          <p:cNvPr id="24" name="Rounded Rectangle 23"/>
          <p:cNvSpPr/>
          <p:nvPr/>
        </p:nvSpPr>
        <p:spPr>
          <a:xfrm>
            <a:off x="585216"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21792"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ISYS / Broker; bank lists (HLS, LAD)</a:t>
            </a:r>
          </a:p>
        </p:txBody>
      </p:sp>
      <p:sp>
        <p:nvSpPr>
          <p:cNvPr id="26" name="Rounded Rectangle 25"/>
          <p:cNvSpPr/>
          <p:nvPr/>
        </p:nvSpPr>
        <p:spPr>
          <a:xfrm>
            <a:off x="2170132"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206708"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E-mail; Broker; declaration form</a:t>
            </a:r>
          </a:p>
        </p:txBody>
      </p:sp>
      <p:sp>
        <p:nvSpPr>
          <p:cNvPr id="28" name="Rounded Rectangle 27"/>
          <p:cNvSpPr/>
          <p:nvPr/>
        </p:nvSpPr>
        <p:spPr>
          <a:xfrm>
            <a:off x="3755048"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791624"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IDF Excel, QPS, ISYS; TSU Excel</a:t>
            </a:r>
          </a:p>
        </p:txBody>
      </p:sp>
      <p:sp>
        <p:nvSpPr>
          <p:cNvPr id="30" name="Rounded Rectangle 29"/>
          <p:cNvSpPr/>
          <p:nvPr/>
        </p:nvSpPr>
        <p:spPr>
          <a:xfrm>
            <a:off x="5339965"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376541"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E-mail, PDF, shared drive</a:t>
            </a:r>
          </a:p>
        </p:txBody>
      </p:sp>
      <p:sp>
        <p:nvSpPr>
          <p:cNvPr id="32" name="Rounded Rectangle 31"/>
          <p:cNvSpPr/>
          <p:nvPr/>
        </p:nvSpPr>
        <p:spPr>
          <a:xfrm>
            <a:off x="6924881"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961457"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ISYS, QPS, EBIX; SFTP, e-mail</a:t>
            </a:r>
          </a:p>
        </p:txBody>
      </p:sp>
      <p:sp>
        <p:nvSpPr>
          <p:cNvPr id="34" name="Rounded Rectangle 33"/>
          <p:cNvSpPr/>
          <p:nvPr/>
        </p:nvSpPr>
        <p:spPr>
          <a:xfrm>
            <a:off x="8509798"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546374"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EBIX, ICS, Autopay, Excel, Teams</a:t>
            </a:r>
          </a:p>
        </p:txBody>
      </p:sp>
      <p:sp>
        <p:nvSpPr>
          <p:cNvPr id="36" name="Rounded Rectangle 35"/>
          <p:cNvSpPr/>
          <p:nvPr/>
        </p:nvSpPr>
        <p:spPr>
          <a:xfrm>
            <a:off x="10094714" y="2395728"/>
            <a:ext cx="1511764" cy="658368"/>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10131290" y="2395728"/>
            <a:ext cx="1438612" cy="658368"/>
          </a:xfrm>
          <a:prstGeom prst="rect">
            <a:avLst/>
          </a:prstGeom>
          <a:noFill/>
        </p:spPr>
        <p:txBody>
          <a:bodyPr wrap="square" anchor="ctr" lIns="45720" rIns="45720" tIns="18288" bIns="18288">
            <a:spAutoFit/>
          </a:bodyPr>
          <a:lstStyle/>
          <a:p>
            <a:pPr algn="ctr">
              <a:spcAft>
                <a:spcPts val="0"/>
              </a:spcAft>
            </a:pPr>
            <a:r>
              <a:rPr sz="1100" b="0">
                <a:solidFill>
                  <a:srgbClr val="4B4B4B"/>
                </a:solidFill>
                <a:latin typeface="Arial"/>
              </a:rPr>
              <a:t>EBIX, Excel, CLS, e-mail</a:t>
            </a:r>
          </a:p>
        </p:txBody>
      </p:sp>
      <p:sp>
        <p:nvSpPr>
          <p:cNvPr id="38" name="TextBox 37"/>
          <p:cNvSpPr txBox="1"/>
          <p:nvPr/>
        </p:nvSpPr>
        <p:spPr>
          <a:xfrm>
            <a:off x="548640" y="3182112"/>
            <a:ext cx="11094415" cy="274320"/>
          </a:xfrm>
          <a:prstGeom prst="rect">
            <a:avLst/>
          </a:prstGeom>
          <a:noFill/>
        </p:spPr>
        <p:txBody>
          <a:bodyPr wrap="square" anchor="t" lIns="45720" rIns="45720">
            <a:spAutoFit/>
          </a:bodyPr>
          <a:lstStyle/>
          <a:p>
            <a:r>
              <a:rPr sz="1200" b="1" i="0">
                <a:solidFill>
                  <a:srgbClr val="656565"/>
                </a:solidFill>
                <a:latin typeface="Arial"/>
              </a:rPr>
              <a:t>Owner</a:t>
            </a:r>
          </a:p>
        </p:txBody>
      </p:sp>
      <p:sp>
        <p:nvSpPr>
          <p:cNvPr id="39" name="TextBox 38"/>
          <p:cNvSpPr txBox="1"/>
          <p:nvPr/>
        </p:nvSpPr>
        <p:spPr>
          <a:xfrm>
            <a:off x="585216"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 AO</a:t>
            </a:r>
          </a:p>
        </p:txBody>
      </p:sp>
      <p:sp>
        <p:nvSpPr>
          <p:cNvPr id="40" name="TextBox 39"/>
          <p:cNvSpPr txBox="1"/>
          <p:nvPr/>
        </p:nvSpPr>
        <p:spPr>
          <a:xfrm>
            <a:off x="2170132"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 AO</a:t>
            </a:r>
          </a:p>
        </p:txBody>
      </p:sp>
      <p:sp>
        <p:nvSpPr>
          <p:cNvPr id="41" name="TextBox 40"/>
          <p:cNvSpPr txBox="1"/>
          <p:nvPr/>
        </p:nvSpPr>
        <p:spPr>
          <a:xfrm>
            <a:off x="3755048"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 TSU</a:t>
            </a:r>
          </a:p>
        </p:txBody>
      </p:sp>
      <p:sp>
        <p:nvSpPr>
          <p:cNvPr id="42" name="TextBox 41"/>
          <p:cNvSpPr txBox="1"/>
          <p:nvPr/>
        </p:nvSpPr>
        <p:spPr>
          <a:xfrm>
            <a:off x="5339965"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Marketing</a:t>
            </a:r>
          </a:p>
        </p:txBody>
      </p:sp>
      <p:sp>
        <p:nvSpPr>
          <p:cNvPr id="43" name="TextBox 42"/>
          <p:cNvSpPr txBox="1"/>
          <p:nvPr/>
        </p:nvSpPr>
        <p:spPr>
          <a:xfrm>
            <a:off x="6924881"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Processing, IT</a:t>
            </a:r>
          </a:p>
        </p:txBody>
      </p:sp>
      <p:sp>
        <p:nvSpPr>
          <p:cNvPr id="44" name="TextBox 43"/>
          <p:cNvSpPr txBox="1"/>
          <p:nvPr/>
        </p:nvSpPr>
        <p:spPr>
          <a:xfrm>
            <a:off x="8509798"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Operations, Collections, Comptrollership</a:t>
            </a:r>
          </a:p>
        </p:txBody>
      </p:sp>
      <p:sp>
        <p:nvSpPr>
          <p:cNvPr id="45" name="TextBox 44"/>
          <p:cNvSpPr txBox="1"/>
          <p:nvPr/>
        </p:nvSpPr>
        <p:spPr>
          <a:xfrm>
            <a:off x="10094714" y="3438144"/>
            <a:ext cx="1511764" cy="457200"/>
          </a:xfrm>
          <a:prstGeom prst="rect">
            <a:avLst/>
          </a:prstGeom>
          <a:noFill/>
        </p:spPr>
        <p:txBody>
          <a:bodyPr wrap="square" anchor="t" lIns="45720" rIns="45720" tIns="18288" bIns="18288">
            <a:spAutoFit/>
          </a:bodyPr>
          <a:lstStyle/>
          <a:p>
            <a:pPr algn="ctr">
              <a:spcAft>
                <a:spcPts val="0"/>
              </a:spcAft>
            </a:pPr>
            <a:r>
              <a:rPr sz="1100" b="1">
                <a:solidFill>
                  <a:srgbClr val="004EA8"/>
                </a:solidFill>
                <a:latin typeface="Arial"/>
              </a:rPr>
              <a:t>Operations, Renewal, Claims, contact centre</a:t>
            </a:r>
          </a:p>
        </p:txBody>
      </p:sp>
      <p:sp>
        <p:nvSpPr>
          <p:cNvPr id="46" name="Rounded Rectangle 45"/>
          <p:cNvSpPr/>
          <p:nvPr/>
        </p:nvSpPr>
        <p:spPr>
          <a:xfrm>
            <a:off x="548640"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548640"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621792"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Information flow</a:t>
            </a:r>
          </a:p>
        </p:txBody>
      </p:sp>
      <p:sp>
        <p:nvSpPr>
          <p:cNvPr id="49" name="TextBox 48"/>
          <p:cNvSpPr txBox="1"/>
          <p:nvPr/>
        </p:nvSpPr>
        <p:spPr>
          <a:xfrm>
            <a:off x="621792"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Client and policy data keyed in Broker, ISYS, QPS and EBIX</a:t>
            </a:r>
          </a:p>
          <a:p>
            <a:pPr>
              <a:spcAft>
                <a:spcPts val="300"/>
              </a:spcAft>
            </a:pPr>
            <a:r>
              <a:rPr sz="1200" b="0">
                <a:solidFill>
                  <a:srgbClr val="004EA8"/>
                </a:solidFill>
                <a:latin typeface="Arial"/>
              </a:rPr>
              <a:t>•  </a:t>
            </a:r>
            <a:r>
              <a:rPr sz="1200" b="0">
                <a:solidFill>
                  <a:srgbClr val="4B4B4B"/>
                </a:solidFill>
                <a:latin typeface="Arial"/>
              </a:rPr>
              <a:t>Quotations, instructions and documents by e-mail and shared drive</a:t>
            </a:r>
          </a:p>
          <a:p>
            <a:pPr>
              <a:spcAft>
                <a:spcPts val="300"/>
              </a:spcAft>
            </a:pPr>
            <a:r>
              <a:rPr sz="1200" b="0">
                <a:solidFill>
                  <a:srgbClr val="004EA8"/>
                </a:solidFill>
                <a:latin typeface="Arial"/>
              </a:rPr>
              <a:t>•  </a:t>
            </a:r>
            <a:r>
              <a:rPr sz="1200" b="0">
                <a:solidFill>
                  <a:srgbClr val="4B4B4B"/>
                </a:solidFill>
                <a:latin typeface="Arial"/>
              </a:rPr>
              <a:t>Three references per transaction (OV-03)</a:t>
            </a:r>
          </a:p>
        </p:txBody>
      </p:sp>
      <p:sp>
        <p:nvSpPr>
          <p:cNvPr id="50" name="Rounded Rectangle 49"/>
          <p:cNvSpPr/>
          <p:nvPr/>
        </p:nvSpPr>
        <p:spPr>
          <a:xfrm>
            <a:off x="4301642"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4301642"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374794"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Decision flow</a:t>
            </a:r>
          </a:p>
        </p:txBody>
      </p:sp>
      <p:sp>
        <p:nvSpPr>
          <p:cNvPr id="53" name="TextBox 52"/>
          <p:cNvSpPr txBox="1"/>
          <p:nvPr/>
        </p:nvSpPr>
        <p:spPr>
          <a:xfrm>
            <a:off x="4374794"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Reviews and approvals by e-mail, Teams and wet signature</a:t>
            </a:r>
          </a:p>
          <a:p>
            <a:pPr>
              <a:spcAft>
                <a:spcPts val="300"/>
              </a:spcAft>
            </a:pPr>
            <a:r>
              <a:rPr sz="1200" b="0">
                <a:solidFill>
                  <a:srgbClr val="004EA8"/>
                </a:solidFill>
                <a:latin typeface="Arial"/>
              </a:rPr>
              <a:t>•  </a:t>
            </a:r>
            <a:r>
              <a:rPr sz="1200" b="0">
                <a:solidFill>
                  <a:srgbClr val="4B4B4B"/>
                </a:solidFill>
                <a:latin typeface="Arial"/>
              </a:rPr>
              <a:t>Insurer and customer confirmations by e-mail</a:t>
            </a:r>
          </a:p>
          <a:p>
            <a:pPr>
              <a:spcAft>
                <a:spcPts val="300"/>
              </a:spcAft>
            </a:pPr>
            <a:r>
              <a:rPr sz="1200" b="0">
                <a:solidFill>
                  <a:srgbClr val="004EA8"/>
                </a:solidFill>
                <a:latin typeface="Arial"/>
              </a:rPr>
              <a:t>•  </a:t>
            </a:r>
            <a:r>
              <a:rPr sz="1200" b="0">
                <a:solidFill>
                  <a:srgbClr val="4B4B4B"/>
                </a:solidFill>
                <a:latin typeface="Arial"/>
              </a:rPr>
              <a:t>SLA and validity kept by memory (NB-03, NB-07)</a:t>
            </a:r>
          </a:p>
        </p:txBody>
      </p:sp>
      <p:sp>
        <p:nvSpPr>
          <p:cNvPr id="54" name="Rounded Rectangle 53"/>
          <p:cNvSpPr/>
          <p:nvPr/>
        </p:nvSpPr>
        <p:spPr>
          <a:xfrm>
            <a:off x="8054644" y="3959352"/>
            <a:ext cx="3588410" cy="22402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Rectangle 54"/>
          <p:cNvSpPr/>
          <p:nvPr/>
        </p:nvSpPr>
        <p:spPr>
          <a:xfrm>
            <a:off x="8054644" y="3959352"/>
            <a:ext cx="3588410" cy="38404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8127796" y="3959352"/>
            <a:ext cx="3442106" cy="38404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Financial flow</a:t>
            </a:r>
          </a:p>
        </p:txBody>
      </p:sp>
      <p:sp>
        <p:nvSpPr>
          <p:cNvPr id="57" name="TextBox 56"/>
          <p:cNvSpPr txBox="1"/>
          <p:nvPr/>
        </p:nvSpPr>
        <p:spPr>
          <a:xfrm>
            <a:off x="8127796" y="4416552"/>
            <a:ext cx="3442106" cy="1746504"/>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Premium receipts, application and reconciliation across payment routes</a:t>
            </a:r>
          </a:p>
          <a:p>
            <a:pPr>
              <a:spcAft>
                <a:spcPts val="300"/>
              </a:spcAft>
            </a:pPr>
            <a:r>
              <a:rPr sz="1200" b="0">
                <a:solidFill>
                  <a:srgbClr val="004EA8"/>
                </a:solidFill>
                <a:latin typeface="Arial"/>
              </a:rPr>
              <a:t>•  </a:t>
            </a:r>
            <a:r>
              <a:rPr sz="1200" b="0">
                <a:solidFill>
                  <a:srgbClr val="4B4B4B"/>
                </a:solidFill>
                <a:latin typeface="Arial"/>
              </a:rPr>
              <a:t>Commission after full premium; remittance weekly</a:t>
            </a:r>
          </a:p>
          <a:p>
            <a:pPr>
              <a:spcAft>
                <a:spcPts val="300"/>
              </a:spcAft>
            </a:pPr>
            <a:r>
              <a:rPr sz="1200" b="0">
                <a:solidFill>
                  <a:srgbClr val="004EA8"/>
                </a:solidFill>
                <a:latin typeface="Arial"/>
              </a:rPr>
              <a:t>•  </a:t>
            </a:r>
            <a:r>
              <a:rPr sz="1200" b="0">
                <a:solidFill>
                  <a:srgbClr val="4B4B4B"/>
                </a:solidFill>
                <a:latin typeface="Arial"/>
              </a:rPr>
              <a:t>Entries, reversals and adjustments partly by hand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End to end today (1/2): prospect to booked policy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pic>
        <p:nvPicPr>
          <p:cNvPr id="9" name="Picture 8" descr="holistic_fw_e2e_1.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From the client's need to a booked policy (BDOIR end-to-end process flow; Day 1 p.11, p.18)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End to end today (2/2): premium to books, and servicing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holistic_e2e_2.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Money and servicing after booking (BDOIR end-to-end process flow; Day 1 p.12-14)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Today: ten areas and the tools they depend 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holistic_fw_asis_map.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Each line is a system, file or channel an area depends on today (floor walk and BDOI process flows)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One transaction, several references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sp>
        <p:nvSpPr>
          <p:cNvPr id="9" name="Rounded Rectangle 8"/>
          <p:cNvSpPr/>
          <p:nvPr/>
        </p:nvSpPr>
        <p:spPr>
          <a:xfrm>
            <a:off x="54864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0350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ISYS / Broker</a:t>
            </a:r>
          </a:p>
          <a:p>
            <a:pPr algn="ctr">
              <a:spcAft>
                <a:spcPts val="200"/>
              </a:spcAft>
            </a:pPr>
            <a:r>
              <a:rPr sz="1200" b="1">
                <a:solidFill>
                  <a:srgbClr val="2E2E2E"/>
                </a:solidFill>
                <a:latin typeface="Arial"/>
              </a:rPr>
              <a:t>Invoice number</a:t>
            </a:r>
          </a:p>
          <a:p>
            <a:pPr algn="ctr">
              <a:spcAft>
                <a:spcPts val="200"/>
              </a:spcAft>
            </a:pPr>
            <a:r>
              <a:rPr sz="1200" b="0">
                <a:solidFill>
                  <a:srgbClr val="656565"/>
                </a:solidFill>
                <a:latin typeface="Arial"/>
              </a:rPr>
              <a:t>Marketing; the client pays against it</a:t>
            </a:r>
          </a:p>
        </p:txBody>
      </p:sp>
      <p:sp>
        <p:nvSpPr>
          <p:cNvPr id="11" name="Right Arrow 10"/>
          <p:cNvSpPr/>
          <p:nvPr/>
        </p:nvSpPr>
        <p:spPr>
          <a:xfrm>
            <a:off x="2173986" y="1938528"/>
            <a:ext cx="246888" cy="237744"/>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245745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51231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QPS</a:t>
            </a:r>
          </a:p>
          <a:p>
            <a:pPr algn="ctr">
              <a:spcAft>
                <a:spcPts val="200"/>
              </a:spcAft>
            </a:pPr>
            <a:r>
              <a:rPr sz="1200" b="1">
                <a:solidFill>
                  <a:srgbClr val="2E2E2E"/>
                </a:solidFill>
                <a:latin typeface="Arial"/>
              </a:rPr>
              <a:t>QPS reference</a:t>
            </a:r>
          </a:p>
          <a:p>
            <a:pPr algn="ctr">
              <a:spcAft>
                <a:spcPts val="200"/>
              </a:spcAft>
            </a:pPr>
            <a:r>
              <a:rPr sz="1200" b="0">
                <a:solidFill>
                  <a:srgbClr val="656565"/>
                </a:solidFill>
                <a:latin typeface="Arial"/>
              </a:rPr>
              <a:t>Processing; holds all three numbers</a:t>
            </a:r>
          </a:p>
        </p:txBody>
      </p:sp>
      <p:sp>
        <p:nvSpPr>
          <p:cNvPr id="14" name="Right Arrow 13"/>
          <p:cNvSpPr/>
          <p:nvPr/>
        </p:nvSpPr>
        <p:spPr>
          <a:xfrm>
            <a:off x="4082796" y="1938528"/>
            <a:ext cx="246888" cy="237744"/>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436626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112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EBIX</a:t>
            </a:r>
          </a:p>
          <a:p>
            <a:pPr algn="ctr">
              <a:spcAft>
                <a:spcPts val="200"/>
              </a:spcAft>
            </a:pPr>
            <a:r>
              <a:rPr sz="1200" b="1">
                <a:solidFill>
                  <a:srgbClr val="2E2E2E"/>
                </a:solidFill>
                <a:latin typeface="Arial"/>
              </a:rPr>
              <a:t>EBIX reference</a:t>
            </a:r>
          </a:p>
          <a:p>
            <a:pPr algn="ctr">
              <a:spcAft>
                <a:spcPts val="200"/>
              </a:spcAft>
            </a:pPr>
            <a:r>
              <a:rPr sz="1200" b="0">
                <a:solidFill>
                  <a:srgbClr val="656565"/>
                </a:solidFill>
                <a:latin typeface="Arial"/>
              </a:rPr>
              <a:t>Booking, accounting, remittance</a:t>
            </a:r>
          </a:p>
        </p:txBody>
      </p:sp>
      <p:sp>
        <p:nvSpPr>
          <p:cNvPr id="17" name="Right Arrow 16"/>
          <p:cNvSpPr/>
          <p:nvPr/>
        </p:nvSpPr>
        <p:spPr>
          <a:xfrm>
            <a:off x="5991606" y="1938528"/>
            <a:ext cx="246888" cy="237744"/>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ounded Rectangle 17"/>
          <p:cNvSpPr/>
          <p:nvPr/>
        </p:nvSpPr>
        <p:spPr>
          <a:xfrm>
            <a:off x="6275070" y="1371600"/>
            <a:ext cx="1588770" cy="13716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29934" y="1426464"/>
            <a:ext cx="1479042" cy="1280160"/>
          </a:xfrm>
          <a:prstGeom prst="rect">
            <a:avLst/>
          </a:prstGeom>
          <a:noFill/>
        </p:spPr>
        <p:txBody>
          <a:bodyPr wrap="square" anchor="t" lIns="45720" rIns="45720" tIns="18288" bIns="18288">
            <a:spAutoFit/>
          </a:bodyPr>
          <a:lstStyle/>
          <a:p>
            <a:pPr algn="ctr">
              <a:spcAft>
                <a:spcPts val="200"/>
              </a:spcAft>
            </a:pPr>
            <a:r>
              <a:rPr sz="1200" b="1">
                <a:solidFill>
                  <a:srgbClr val="004EA8"/>
                </a:solidFill>
                <a:latin typeface="Arial"/>
              </a:rPr>
              <a:t>Bank, Cashiering</a:t>
            </a:r>
          </a:p>
          <a:p>
            <a:pPr algn="ctr">
              <a:spcAft>
                <a:spcPts val="200"/>
              </a:spcAft>
            </a:pPr>
            <a:r>
              <a:rPr sz="1200" b="1">
                <a:solidFill>
                  <a:srgbClr val="2E2E2E"/>
                </a:solidFill>
                <a:latin typeface="Arial"/>
              </a:rPr>
              <a:t>Payment reference</a:t>
            </a:r>
          </a:p>
          <a:p>
            <a:pPr algn="ctr">
              <a:spcAft>
                <a:spcPts val="200"/>
              </a:spcAft>
            </a:pPr>
            <a:r>
              <a:rPr sz="1200" b="0">
                <a:solidFill>
                  <a:srgbClr val="656565"/>
                </a:solidFill>
                <a:latin typeface="Arial"/>
              </a:rPr>
              <a:t>Bills payment, CLPC, Autopay</a:t>
            </a:r>
          </a:p>
        </p:txBody>
      </p:sp>
      <p:sp>
        <p:nvSpPr>
          <p:cNvPr id="20" name="TextBox 19"/>
          <p:cNvSpPr txBox="1"/>
          <p:nvPr/>
        </p:nvSpPr>
        <p:spPr>
          <a:xfrm>
            <a:off x="548640" y="2834640"/>
            <a:ext cx="7315200" cy="365760"/>
          </a:xfrm>
          <a:prstGeom prst="rect">
            <a:avLst/>
          </a:prstGeom>
          <a:noFill/>
        </p:spPr>
        <p:txBody>
          <a:bodyPr wrap="square" anchor="t" lIns="45720" rIns="45720" tIns="18288" bIns="18288">
            <a:spAutoFit/>
          </a:bodyPr>
          <a:lstStyle/>
          <a:p>
            <a:pPr>
              <a:spcAft>
                <a:spcPts val="0"/>
              </a:spcAft>
            </a:pPr>
            <a:r>
              <a:rPr sz="1100" b="0">
                <a:solidFill>
                  <a:srgbClr val="656565"/>
                </a:solidFill>
                <a:latin typeface="Arial"/>
              </a:rPr>
              <a:t>Seen in Cashiering (CA-01), the overview (OV-03), the e-policy text files (NB flow) and the reversal lists (Day 1 p.24).</a:t>
            </a:r>
          </a:p>
        </p:txBody>
      </p:sp>
      <p:sp>
        <p:nvSpPr>
          <p:cNvPr id="21" name="TextBox 20"/>
          <p:cNvSpPr txBox="1"/>
          <p:nvPr/>
        </p:nvSpPr>
        <p:spPr>
          <a:xfrm>
            <a:off x="548640" y="3291840"/>
            <a:ext cx="7315200" cy="320040"/>
          </a:xfrm>
          <a:prstGeom prst="rect">
            <a:avLst/>
          </a:prstGeom>
          <a:noFill/>
        </p:spPr>
        <p:txBody>
          <a:bodyPr wrap="square" anchor="t" lIns="45720" rIns="45720">
            <a:spAutoFit/>
          </a:bodyPr>
          <a:lstStyle/>
          <a:p>
            <a:r>
              <a:rPr sz="1400" b="1" i="0">
                <a:solidFill>
                  <a:srgbClr val="004EA8"/>
                </a:solidFill>
                <a:latin typeface="Arial"/>
              </a:rPr>
              <a:t>What it causes today</a:t>
            </a:r>
          </a:p>
        </p:txBody>
      </p:sp>
      <p:sp>
        <p:nvSpPr>
          <p:cNvPr id="22" name="TextBox 21"/>
          <p:cNvSpPr txBox="1"/>
          <p:nvPr/>
        </p:nvSpPr>
        <p:spPr>
          <a:xfrm>
            <a:off x="548640" y="3657600"/>
            <a:ext cx="7315200" cy="2542032"/>
          </a:xfrm>
          <a:prstGeom prst="rect">
            <a:avLst/>
          </a:prstGeom>
          <a:noFill/>
        </p:spPr>
        <p:txBody>
          <a:bodyPr wrap="square" anchor="t" lIns="45720" rIns="45720" tIns="18288" bIns="18288">
            <a:spAutoFit/>
          </a:bodyPr>
          <a:lstStyle/>
          <a:p>
            <a:pPr>
              <a:spcAft>
                <a:spcPts val="400"/>
              </a:spcAft>
            </a:pPr>
            <a:r>
              <a:rPr sz="1300" b="0">
                <a:solidFill>
                  <a:srgbClr val="004EA8"/>
                </a:solidFill>
                <a:latin typeface="Arial"/>
              </a:rPr>
              <a:t>•  </a:t>
            </a:r>
            <a:r>
              <a:rPr sz="1300" b="0">
                <a:solidFill>
                  <a:srgbClr val="4B4B4B"/>
                </a:solidFill>
                <a:latin typeface="Arial"/>
              </a:rPr>
              <a:t>Tracing one transaction across systems is slow (OV-03)</a:t>
            </a:r>
          </a:p>
          <a:p>
            <a:pPr>
              <a:spcAft>
                <a:spcPts val="400"/>
              </a:spcAft>
            </a:pPr>
            <a:r>
              <a:rPr sz="1300" b="0">
                <a:solidFill>
                  <a:srgbClr val="004EA8"/>
                </a:solidFill>
                <a:latin typeface="Arial"/>
              </a:rPr>
              <a:t>•  </a:t>
            </a:r>
            <a:r>
              <a:rPr sz="1300" b="0">
                <a:solidFill>
                  <a:srgbClr val="4B4B4B"/>
                </a:solidFill>
                <a:latin typeface="Arial"/>
              </a:rPr>
              <a:t>Receipts are created by hand against three numbers (CA-01)</a:t>
            </a:r>
          </a:p>
          <a:p>
            <a:pPr>
              <a:spcAft>
                <a:spcPts val="400"/>
              </a:spcAft>
            </a:pPr>
            <a:r>
              <a:rPr sz="1300" b="0">
                <a:solidFill>
                  <a:srgbClr val="004EA8"/>
                </a:solidFill>
                <a:latin typeface="Arial"/>
              </a:rPr>
              <a:t>•  </a:t>
            </a:r>
            <a:r>
              <a:rPr sz="1300" b="0">
                <a:solidFill>
                  <a:srgbClr val="4B4B4B"/>
                </a:solidFill>
                <a:latin typeface="Arial"/>
              </a:rPr>
              <a:t>Each payment is checked: "in QPS with an EBIX reference?" (Cashiering flow)</a:t>
            </a:r>
          </a:p>
          <a:p>
            <a:pPr>
              <a:spcAft>
                <a:spcPts val="400"/>
              </a:spcAft>
            </a:pPr>
            <a:r>
              <a:rPr sz="1300" b="0">
                <a:solidFill>
                  <a:srgbClr val="004EA8"/>
                </a:solidFill>
                <a:latin typeface="Arial"/>
              </a:rPr>
              <a:t>•  </a:t>
            </a:r>
            <a:r>
              <a:rPr sz="1300" b="0">
                <a:solidFill>
                  <a:srgbClr val="4B4B4B"/>
                </a:solidFill>
                <a:latin typeface="Arial"/>
              </a:rPr>
              <a:t>Reversal lists are matched to IT extracts by VLOOKUP on the invoice number (Day 1 p.24)</a:t>
            </a:r>
          </a:p>
          <a:p>
            <a:pPr>
              <a:spcAft>
                <a:spcPts val="400"/>
              </a:spcAft>
            </a:pPr>
            <a:r>
              <a:rPr sz="1300" b="0">
                <a:solidFill>
                  <a:srgbClr val="004EA8"/>
                </a:solidFill>
                <a:latin typeface="Arial"/>
              </a:rPr>
              <a:t>•  </a:t>
            </a:r>
            <a:r>
              <a:rPr sz="1300" b="0">
                <a:solidFill>
                  <a:srgbClr val="4B4B4B"/>
                </a:solidFill>
                <a:latin typeface="Arial"/>
              </a:rPr>
              <a:t>E-policy updates need text files with the policy, ISYS, EBIX and QPS numbers (NB flow)</a:t>
            </a:r>
          </a:p>
        </p:txBody>
      </p:sp>
      <p:sp>
        <p:nvSpPr>
          <p:cNvPr id="23" name="Rounded Rectangle 22"/>
          <p:cNvSpPr/>
          <p:nvPr/>
        </p:nvSpPr>
        <p:spPr>
          <a:xfrm>
            <a:off x="8138160" y="1280160"/>
            <a:ext cx="3504895"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138160" y="1280160"/>
            <a:ext cx="3504895"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211312" y="1280160"/>
            <a:ext cx="3358591" cy="41148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What the business asked</a:t>
            </a:r>
          </a:p>
        </p:txBody>
      </p:sp>
      <p:sp>
        <p:nvSpPr>
          <p:cNvPr id="26" name="TextBox 25"/>
          <p:cNvSpPr txBox="1"/>
          <p:nvPr/>
        </p:nvSpPr>
        <p:spPr>
          <a:xfrm>
            <a:off x="8211312" y="1764792"/>
            <a:ext cx="3358591" cy="185623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Does BDOI expect one common reference across the lifecycle? (open point OV-03)</a:t>
            </a:r>
          </a:p>
          <a:p>
            <a:pPr>
              <a:spcAft>
                <a:spcPts val="300"/>
              </a:spcAft>
            </a:pPr>
            <a:r>
              <a:rPr sz="1200" b="0">
                <a:solidFill>
                  <a:srgbClr val="004EA8"/>
                </a:solidFill>
                <a:latin typeface="Arial"/>
              </a:rPr>
              <a:t>•  </a:t>
            </a:r>
            <a:r>
              <a:rPr sz="1200" b="0">
                <a:solidFill>
                  <a:srgbClr val="4B4B4B"/>
                </a:solidFill>
                <a:latin typeface="Arial"/>
              </a:rPr>
              <a:t>Receipts generated from the system (CA-01, CA-04)</a:t>
            </a:r>
          </a:p>
        </p:txBody>
      </p:sp>
      <p:sp>
        <p:nvSpPr>
          <p:cNvPr id="27" name="Rounded Rectangle 26"/>
          <p:cNvSpPr/>
          <p:nvPr/>
        </p:nvSpPr>
        <p:spPr>
          <a:xfrm>
            <a:off x="8138160" y="3822192"/>
            <a:ext cx="3504895"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8138160" y="3822192"/>
            <a:ext cx="3504895" cy="411480"/>
          </a:xfrm>
          <a:prstGeom prst="rect">
            <a:avLst/>
          </a:prstGeom>
          <a:solidFill>
            <a:srgbClr val="0072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8211312" y="3822192"/>
            <a:ext cx="3358591" cy="41148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Our suggestion</a:t>
            </a:r>
          </a:p>
        </p:txBody>
      </p:sp>
      <p:sp>
        <p:nvSpPr>
          <p:cNvPr id="30" name="TextBox 29"/>
          <p:cNvSpPr txBox="1"/>
          <p:nvPr/>
        </p:nvSpPr>
        <p:spPr>
          <a:xfrm>
            <a:off x="8211312" y="4306824"/>
            <a:ext cx="3358591" cy="1856232"/>
          </a:xfrm>
          <a:prstGeom prst="rect">
            <a:avLst/>
          </a:prstGeom>
          <a:noFill/>
        </p:spPr>
        <p:txBody>
          <a:bodyPr wrap="square" anchor="t" lIns="45720" rIns="45720" tIns="18288" bIns="18288">
            <a:spAutoFit/>
          </a:bodyPr>
          <a:lstStyle/>
          <a:p>
            <a:pPr>
              <a:spcAft>
                <a:spcPts val="300"/>
              </a:spcAft>
            </a:pPr>
            <a:r>
              <a:rPr sz="1200" b="0">
                <a:solidFill>
                  <a:srgbClr val="004EA8"/>
                </a:solidFill>
                <a:latin typeface="Arial"/>
              </a:rPr>
              <a:t>•  </a:t>
            </a:r>
            <a:r>
              <a:rPr sz="1200" b="0">
                <a:solidFill>
                  <a:srgbClr val="4B4B4B"/>
                </a:solidFill>
                <a:latin typeface="Arial"/>
              </a:rPr>
              <a:t>One lifecycle reference printed on quotation, invoice, AR / OR, SOA and e-policy letter</a:t>
            </a:r>
          </a:p>
          <a:p>
            <a:pPr>
              <a:spcAft>
                <a:spcPts val="300"/>
              </a:spcAft>
            </a:pPr>
            <a:r>
              <a:rPr sz="1200" b="0">
                <a:solidFill>
                  <a:srgbClr val="004EA8"/>
                </a:solidFill>
                <a:latin typeface="Arial"/>
              </a:rPr>
              <a:t>•  </a:t>
            </a:r>
            <a:r>
              <a:rPr sz="1200" b="0">
                <a:solidFill>
                  <a:srgbClr val="4B4B4B"/>
                </a:solidFill>
                <a:latin typeface="Arial"/>
              </a:rPr>
              <a:t>A payment reference with a check digit derived from it, carried in bank files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Hand-offs between departments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graphicFrame>
        <p:nvGraphicFramePr>
          <p:cNvPr id="9" name="Table 8"/>
          <p:cNvGraphicFramePr>
            <a:graphicFrameLocks noGrp="1"/>
          </p:cNvGraphicFramePr>
          <p:nvPr/>
        </p:nvGraphicFramePr>
        <p:xfrm>
          <a:off x="548640" y="1280160"/>
          <a:ext cx="11094411" cy="4919472"/>
        </p:xfrm>
        <a:graphic>
          <a:graphicData uri="http://schemas.openxmlformats.org/drawingml/2006/table">
            <a:tbl>
              <a:tblPr firstRow="1" bandRow="1">
                <a:tableStyleId>{5C22544A-7EE6-4342-B048-85BDC9FD1C3A}</a:tableStyleId>
              </a:tblPr>
              <a:tblGrid>
                <a:gridCol w="1699950"/>
                <a:gridCol w="1699950"/>
                <a:gridCol w="2863074"/>
                <a:gridCol w="1968363"/>
                <a:gridCol w="2863074"/>
              </a:tblGrid>
              <a:tr h="365760">
                <a:tc>
                  <a:txBody>
                    <a:bodyPr wrap="square"/>
                    <a:lstStyle/>
                    <a:p>
                      <a:r>
                        <a:rPr sz="1100" b="1">
                          <a:solidFill>
                            <a:srgbClr val="FFFFFF"/>
                          </a:solidFill>
                          <a:latin typeface="Arial"/>
                        </a:rPr>
                        <a:t>From</a:t>
                      </a:r>
                    </a:p>
                  </a:txBody>
                  <a:tcPr marL="64008" marR="64008" marT="27432" marB="27432" anchor="ctr">
                    <a:solidFill>
                      <a:srgbClr val="004EA8"/>
                    </a:solidFill>
                  </a:tcPr>
                </a:tc>
                <a:tc>
                  <a:txBody>
                    <a:bodyPr wrap="square"/>
                    <a:lstStyle/>
                    <a:p>
                      <a:r>
                        <a:rPr sz="1100" b="1">
                          <a:solidFill>
                            <a:srgbClr val="FFFFFF"/>
                          </a:solidFill>
                          <a:latin typeface="Arial"/>
                        </a:rPr>
                        <a:t>To</a:t>
                      </a:r>
                    </a:p>
                  </a:txBody>
                  <a:tcPr marL="64008" marR="64008" marT="27432" marB="27432" anchor="ctr">
                    <a:solidFill>
                      <a:srgbClr val="004EA8"/>
                    </a:solidFill>
                  </a:tcPr>
                </a:tc>
                <a:tc>
                  <a:txBody>
                    <a:bodyPr wrap="square"/>
                    <a:lstStyle/>
                    <a:p>
                      <a:r>
                        <a:rPr sz="1100" b="1">
                          <a:solidFill>
                            <a:srgbClr val="FFFFFF"/>
                          </a:solidFill>
                          <a:latin typeface="Arial"/>
                        </a:rPr>
                        <a:t>What passes</a:t>
                      </a:r>
                    </a:p>
                  </a:txBody>
                  <a:tcPr marL="64008" marR="64008" marT="27432" marB="27432" anchor="ctr">
                    <a:solidFill>
                      <a:srgbClr val="004EA8"/>
                    </a:solidFill>
                  </a:tcPr>
                </a:tc>
                <a:tc>
                  <a:txBody>
                    <a:bodyPr wrap="square"/>
                    <a:lstStyle/>
                    <a:p>
                      <a:r>
                        <a:rPr sz="1100" b="1">
                          <a:solidFill>
                            <a:srgbClr val="FFFFFF"/>
                          </a:solidFill>
                          <a:latin typeface="Arial"/>
                        </a:rPr>
                        <a:t>Channel today</a:t>
                      </a:r>
                    </a:p>
                  </a:txBody>
                  <a:tcPr marL="64008" marR="64008" marT="27432" marB="27432" anchor="ctr">
                    <a:solidFill>
                      <a:srgbClr val="004EA8"/>
                    </a:solidFill>
                  </a:tcPr>
                </a:tc>
                <a:tc>
                  <a:txBody>
                    <a:bodyPr wrap="square"/>
                    <a:lstStyle/>
                    <a:p>
                      <a:r>
                        <a:rPr sz="1100" b="1">
                          <a:solidFill>
                            <a:srgbClr val="FFFFFF"/>
                          </a:solidFill>
                          <a:latin typeface="Arial"/>
                        </a:rPr>
                        <a:t>What it causes</a:t>
                      </a:r>
                    </a:p>
                  </a:txBody>
                  <a:tcPr marL="64008" marR="64008" marT="27432" marB="27432" anchor="ctr">
                    <a:solidFill>
                      <a:srgbClr val="004EA8"/>
                    </a:solidFill>
                  </a:tcPr>
                </a:tc>
              </a:tr>
              <a:tr h="569214">
                <a:tc>
                  <a:txBody>
                    <a:bodyPr wrap="square"/>
                    <a:lstStyle/>
                    <a:p>
                      <a:r>
                        <a:rPr sz="1100" b="1">
                          <a:solidFill>
                            <a:srgbClr val="4B4B4B"/>
                          </a:solidFill>
                          <a:latin typeface="Arial"/>
                        </a:rPr>
                        <a:t>Marketing</a:t>
                      </a:r>
                    </a:p>
                  </a:txBody>
                  <a:tcPr marL="64008" marR="64008" marT="27432" marB="27432" anchor="ctr">
                    <a:solidFill>
                      <a:srgbClr val="FFFFFF"/>
                    </a:solidFill>
                  </a:tcPr>
                </a:tc>
                <a:tc>
                  <a:txBody>
                    <a:bodyPr wrap="square"/>
                    <a:lstStyle/>
                    <a:p>
                      <a:r>
                        <a:rPr sz="1100" b="0">
                          <a:solidFill>
                            <a:srgbClr val="4B4B4B"/>
                          </a:solidFill>
                          <a:latin typeface="Arial"/>
                        </a:rPr>
                        <a:t>TSU</a:t>
                      </a:r>
                    </a:p>
                  </a:txBody>
                  <a:tcPr marL="64008" marR="64008" marT="27432" marB="27432" anchor="ctr">
                    <a:solidFill>
                      <a:srgbClr val="FFFFFF"/>
                    </a:solidFill>
                  </a:tcPr>
                </a:tc>
                <a:tc>
                  <a:txBody>
                    <a:bodyPr wrap="square"/>
                    <a:lstStyle/>
                    <a:p>
                      <a:r>
                        <a:rPr sz="1100" b="0">
                          <a:solidFill>
                            <a:srgbClr val="4B4B4B"/>
                          </a:solidFill>
                          <a:latin typeface="Arial"/>
                        </a:rPr>
                        <a:t>Non-package request (PRF / TSU form)</a:t>
                      </a:r>
                    </a:p>
                  </a:txBody>
                  <a:tcPr marL="64008" marR="64008" marT="27432" marB="27432" anchor="ctr">
                    <a:solidFill>
                      <a:srgbClr val="FFFFFF"/>
                    </a:solidFill>
                  </a:tcPr>
                </a:tc>
                <a:tc>
                  <a:txBody>
                    <a:bodyPr wrap="square"/>
                    <a:lstStyle/>
                    <a:p>
                      <a:r>
                        <a:rPr sz="1100" b="0">
                          <a:solidFill>
                            <a:srgbClr val="4B4B4B"/>
                          </a:solidFill>
                          <a:latin typeface="Arial"/>
                        </a:rPr>
                        <a:t>E-mail</a:t>
                      </a:r>
                    </a:p>
                  </a:txBody>
                  <a:tcPr marL="64008" marR="64008" marT="27432" marB="27432" anchor="ctr">
                    <a:solidFill>
                      <a:srgbClr val="FFFFFF"/>
                    </a:solidFill>
                  </a:tcPr>
                </a:tc>
                <a:tc>
                  <a:txBody>
                    <a:bodyPr wrap="square"/>
                    <a:lstStyle/>
                    <a:p>
                      <a:r>
                        <a:rPr sz="1100" b="0">
                          <a:solidFill>
                            <a:srgbClr val="4B4B4B"/>
                          </a:solidFill>
                          <a:latin typeface="Arial"/>
                        </a:rPr>
                        <a:t>Incomplete requests returned; tracked in Excel</a:t>
                      </a:r>
                    </a:p>
                  </a:txBody>
                  <a:tcPr marL="64008" marR="64008" marT="27432" marB="27432" anchor="ctr">
                    <a:solidFill>
                      <a:srgbClr val="FFFFFF"/>
                    </a:solidFill>
                  </a:tcPr>
                </a:tc>
              </a:tr>
              <a:tr h="569214">
                <a:tc>
                  <a:txBody>
                    <a:bodyPr wrap="square"/>
                    <a:lstStyle/>
                    <a:p>
                      <a:r>
                        <a:rPr sz="1100" b="1">
                          <a:solidFill>
                            <a:srgbClr val="4B4B4B"/>
                          </a:solidFill>
                          <a:latin typeface="Arial"/>
                        </a:rPr>
                        <a:t>Marketing</a:t>
                      </a:r>
                    </a:p>
                  </a:txBody>
                  <a:tcPr marL="64008" marR="64008" marT="27432" marB="27432" anchor="ctr">
                    <a:solidFill>
                      <a:srgbClr val="E5F5FF"/>
                    </a:solidFill>
                  </a:tcPr>
                </a:tc>
                <a:tc>
                  <a:txBody>
                    <a:bodyPr wrap="square"/>
                    <a:lstStyle/>
                    <a:p>
                      <a:r>
                        <a:rPr sz="1100" b="0">
                          <a:solidFill>
                            <a:srgbClr val="4B4B4B"/>
                          </a:solidFill>
                          <a:latin typeface="Arial"/>
                        </a:rPr>
                        <a:t>Processing</a:t>
                      </a:r>
                    </a:p>
                  </a:txBody>
                  <a:tcPr marL="64008" marR="64008" marT="27432" marB="27432" anchor="ctr">
                    <a:solidFill>
                      <a:srgbClr val="E5F5FF"/>
                    </a:solidFill>
                  </a:tcPr>
                </a:tc>
                <a:tc>
                  <a:txBody>
                    <a:bodyPr wrap="square"/>
                    <a:lstStyle/>
                    <a:p>
                      <a:r>
                        <a:rPr sz="1100" b="0">
                          <a:solidFill>
                            <a:srgbClr val="4B4B4B"/>
                          </a:solidFill>
                          <a:latin typeface="Arial"/>
                        </a:rPr>
                        <a:t>Accepted quote, GRF / ARF, proof of payment</a:t>
                      </a:r>
                    </a:p>
                  </a:txBody>
                  <a:tcPr marL="64008" marR="64008" marT="27432" marB="27432" anchor="ctr">
                    <a:solidFill>
                      <a:srgbClr val="E5F5FF"/>
                    </a:solidFill>
                  </a:tcPr>
                </a:tc>
                <a:tc>
                  <a:txBody>
                    <a:bodyPr wrap="square"/>
                    <a:lstStyle/>
                    <a:p>
                      <a:r>
                        <a:rPr sz="1100" b="0">
                          <a:solidFill>
                            <a:srgbClr val="4B4B4B"/>
                          </a:solidFill>
                          <a:latin typeface="Arial"/>
                        </a:rPr>
                        <a:t>E-mail, ISYS ARF</a:t>
                      </a:r>
                    </a:p>
                  </a:txBody>
                  <a:tcPr marL="64008" marR="64008" marT="27432" marB="27432" anchor="ctr">
                    <a:solidFill>
                      <a:srgbClr val="E5F5FF"/>
                    </a:solidFill>
                  </a:tcPr>
                </a:tc>
                <a:tc>
                  <a:txBody>
                    <a:bodyPr wrap="square"/>
                    <a:lstStyle/>
                    <a:p>
                      <a:r>
                        <a:rPr sz="1100" b="0">
                          <a:solidFill>
                            <a:srgbClr val="4B4B4B"/>
                          </a:solidFill>
                          <a:latin typeface="Arial"/>
                        </a:rPr>
                        <a:t>Re-keying; waiting for documents</a:t>
                      </a:r>
                    </a:p>
                  </a:txBody>
                  <a:tcPr marL="64008" marR="64008" marT="27432" marB="27432" anchor="ctr">
                    <a:solidFill>
                      <a:srgbClr val="E5F5FF"/>
                    </a:solidFill>
                  </a:tcPr>
                </a:tc>
              </a:tr>
              <a:tr h="569214">
                <a:tc>
                  <a:txBody>
                    <a:bodyPr wrap="square"/>
                    <a:lstStyle/>
                    <a:p>
                      <a:r>
                        <a:rPr sz="1100" b="1">
                          <a:solidFill>
                            <a:srgbClr val="4B4B4B"/>
                          </a:solidFill>
                          <a:latin typeface="Arial"/>
                        </a:rPr>
                        <a:t>Processing</a:t>
                      </a:r>
                    </a:p>
                  </a:txBody>
                  <a:tcPr marL="64008" marR="64008" marT="27432" marB="27432" anchor="ctr">
                    <a:solidFill>
                      <a:srgbClr val="FFFFFF"/>
                    </a:solidFill>
                  </a:tcPr>
                </a:tc>
                <a:tc>
                  <a:txBody>
                    <a:bodyPr wrap="square"/>
                    <a:lstStyle/>
                    <a:p>
                      <a:r>
                        <a:rPr sz="1100" b="0">
                          <a:solidFill>
                            <a:srgbClr val="4B4B4B"/>
                          </a:solidFill>
                          <a:latin typeface="Arial"/>
                        </a:rPr>
                        <a:t>IT</a:t>
                      </a:r>
                    </a:p>
                  </a:txBody>
                  <a:tcPr marL="64008" marR="64008" marT="27432" marB="27432" anchor="ctr">
                    <a:solidFill>
                      <a:srgbClr val="FFFFFF"/>
                    </a:solidFill>
                  </a:tcPr>
                </a:tc>
                <a:tc>
                  <a:txBody>
                    <a:bodyPr wrap="square"/>
                    <a:lstStyle/>
                    <a:p>
                      <a:r>
                        <a:rPr sz="1100" b="0">
                          <a:solidFill>
                            <a:srgbClr val="4B4B4B"/>
                          </a:solidFill>
                          <a:latin typeface="Arial"/>
                        </a:rPr>
                        <a:t>ISYS to QPS migration; policy-number text files</a:t>
                      </a:r>
                    </a:p>
                  </a:txBody>
                  <a:tcPr marL="64008" marR="64008" marT="27432" marB="27432" anchor="ctr">
                    <a:solidFill>
                      <a:srgbClr val="FFFFFF"/>
                    </a:solidFill>
                  </a:tcPr>
                </a:tc>
                <a:tc>
                  <a:txBody>
                    <a:bodyPr wrap="square"/>
                    <a:lstStyle/>
                    <a:p>
                      <a:r>
                        <a:rPr sz="1100" b="0">
                          <a:solidFill>
                            <a:srgbClr val="4B4B4B"/>
                          </a:solidFill>
                          <a:latin typeface="Arial"/>
                        </a:rPr>
                        <a:t>Request, text file</a:t>
                      </a:r>
                    </a:p>
                  </a:txBody>
                  <a:tcPr marL="64008" marR="64008" marT="27432" marB="27432" anchor="ctr">
                    <a:solidFill>
                      <a:srgbClr val="FFFFFF"/>
                    </a:solidFill>
                  </a:tcPr>
                </a:tc>
                <a:tc>
                  <a:txBody>
                    <a:bodyPr wrap="square"/>
                    <a:lstStyle/>
                    <a:p>
                      <a:r>
                        <a:rPr sz="1100" b="0">
                          <a:solidFill>
                            <a:srgbClr val="4B4B4B"/>
                          </a:solidFill>
                          <a:latin typeface="Arial"/>
                        </a:rPr>
                        <a:t>Fall-out loops; delay to placement</a:t>
                      </a:r>
                    </a:p>
                  </a:txBody>
                  <a:tcPr marL="64008" marR="64008" marT="27432" marB="27432" anchor="ctr">
                    <a:solidFill>
                      <a:srgbClr val="FFFFFF"/>
                    </a:solidFill>
                  </a:tcPr>
                </a:tc>
              </a:tr>
              <a:tr h="569214">
                <a:tc>
                  <a:txBody>
                    <a:bodyPr wrap="square"/>
                    <a:lstStyle/>
                    <a:p>
                      <a:r>
                        <a:rPr sz="1100" b="1">
                          <a:solidFill>
                            <a:srgbClr val="4B4B4B"/>
                          </a:solidFill>
                          <a:latin typeface="Arial"/>
                        </a:rPr>
                        <a:t>Processing</a:t>
                      </a:r>
                    </a:p>
                  </a:txBody>
                  <a:tcPr marL="64008" marR="64008" marT="27432" marB="27432" anchor="ctr">
                    <a:solidFill>
                      <a:srgbClr val="E5F5FF"/>
                    </a:solidFill>
                  </a:tcPr>
                </a:tc>
                <a:tc>
                  <a:txBody>
                    <a:bodyPr wrap="square"/>
                    <a:lstStyle/>
                    <a:p>
                      <a:r>
                        <a:rPr sz="1100" b="0">
                          <a:solidFill>
                            <a:srgbClr val="4B4B4B"/>
                          </a:solidFill>
                          <a:latin typeface="Arial"/>
                        </a:rPr>
                        <a:t>Insurers</a:t>
                      </a:r>
                    </a:p>
                  </a:txBody>
                  <a:tcPr marL="64008" marR="64008" marT="27432" marB="27432" anchor="ctr">
                    <a:solidFill>
                      <a:srgbClr val="E5F5FF"/>
                    </a:solidFill>
                  </a:tcPr>
                </a:tc>
                <a:tc>
                  <a:txBody>
                    <a:bodyPr wrap="square"/>
                    <a:lstStyle/>
                    <a:p>
                      <a:r>
                        <a:rPr sz="1100" b="0">
                          <a:solidFill>
                            <a:srgbClr val="4B4B4B"/>
                          </a:solidFill>
                          <a:latin typeface="Arial"/>
                        </a:rPr>
                        <a:t>Placement slips, hold covers, returns</a:t>
                      </a:r>
                    </a:p>
                  </a:txBody>
                  <a:tcPr marL="64008" marR="64008" marT="27432" marB="27432" anchor="ctr">
                    <a:solidFill>
                      <a:srgbClr val="E5F5FF"/>
                    </a:solidFill>
                  </a:tcPr>
                </a:tc>
                <a:tc>
                  <a:txBody>
                    <a:bodyPr wrap="square"/>
                    <a:lstStyle/>
                    <a:p>
                      <a:r>
                        <a:rPr sz="1100" b="0">
                          <a:solidFill>
                            <a:srgbClr val="4B4B4B"/>
                          </a:solidFill>
                          <a:latin typeface="Arial"/>
                        </a:rPr>
                        <a:t>E-mail, SFTP</a:t>
                      </a:r>
                    </a:p>
                  </a:txBody>
                  <a:tcPr marL="64008" marR="64008" marT="27432" marB="27432" anchor="ctr">
                    <a:solidFill>
                      <a:srgbClr val="E5F5FF"/>
                    </a:solidFill>
                  </a:tcPr>
                </a:tc>
                <a:tc>
                  <a:txBody>
                    <a:bodyPr wrap="square"/>
                    <a:lstStyle/>
                    <a:p>
                      <a:r>
                        <a:rPr sz="1100" b="0">
                          <a:solidFill>
                            <a:srgbClr val="4B4B4B"/>
                          </a:solidFill>
                          <a:latin typeface="Arial"/>
                        </a:rPr>
                        <a:t>Each insurer different; no send record</a:t>
                      </a:r>
                    </a:p>
                  </a:txBody>
                  <a:tcPr marL="64008" marR="64008" marT="27432" marB="27432" anchor="ctr">
                    <a:solidFill>
                      <a:srgbClr val="E5F5FF"/>
                    </a:solidFill>
                  </a:tcPr>
                </a:tc>
              </a:tr>
              <a:tr h="569214">
                <a:tc>
                  <a:txBody>
                    <a:bodyPr wrap="square"/>
                    <a:lstStyle/>
                    <a:p>
                      <a:r>
                        <a:rPr sz="1100" b="1">
                          <a:solidFill>
                            <a:srgbClr val="4B4B4B"/>
                          </a:solidFill>
                          <a:latin typeface="Arial"/>
                        </a:rPr>
                        <a:t>Processing, IT</a:t>
                      </a:r>
                    </a:p>
                  </a:txBody>
                  <a:tcPr marL="64008" marR="64008" marT="27432" marB="27432" anchor="ctr">
                    <a:solidFill>
                      <a:srgbClr val="FFFFFF"/>
                    </a:solidFill>
                  </a:tcPr>
                </a:tc>
                <a:tc>
                  <a:txBody>
                    <a:bodyPr wrap="square"/>
                    <a:lstStyle/>
                    <a:p>
                      <a:r>
                        <a:rPr sz="1100" b="0">
                          <a:solidFill>
                            <a:srgbClr val="4B4B4B"/>
                          </a:solidFill>
                          <a:latin typeface="Arial"/>
                        </a:rPr>
                        <a:t>COG, contact centre</a:t>
                      </a:r>
                    </a:p>
                  </a:txBody>
                  <a:tcPr marL="64008" marR="64008" marT="27432" marB="27432" anchor="ctr">
                    <a:solidFill>
                      <a:srgbClr val="FFFFFF"/>
                    </a:solidFill>
                  </a:tcPr>
                </a:tc>
                <a:tc>
                  <a:txBody>
                    <a:bodyPr wrap="square"/>
                    <a:lstStyle/>
                    <a:p>
                      <a:r>
                        <a:rPr sz="1100" b="0">
                          <a:solidFill>
                            <a:srgbClr val="4B4B4B"/>
                          </a:solidFill>
                          <a:latin typeface="Arial"/>
                        </a:rPr>
                        <a:t>E-policy delivery and fall-outs</a:t>
                      </a:r>
                    </a:p>
                  </a:txBody>
                  <a:tcPr marL="64008" marR="64008" marT="27432" marB="27432" anchor="ctr">
                    <a:solidFill>
                      <a:srgbClr val="FFFFFF"/>
                    </a:solidFill>
                  </a:tcPr>
                </a:tc>
                <a:tc>
                  <a:txBody>
                    <a:bodyPr wrap="square"/>
                    <a:lstStyle/>
                    <a:p>
                      <a:r>
                        <a:rPr sz="1100" b="0">
                          <a:solidFill>
                            <a:srgbClr val="4B4B4B"/>
                          </a:solidFill>
                          <a:latin typeface="Arial"/>
                        </a:rPr>
                        <a:t>SFTP, e-mail</a:t>
                      </a:r>
                    </a:p>
                  </a:txBody>
                  <a:tcPr marL="64008" marR="64008" marT="27432" marB="27432" anchor="ctr">
                    <a:solidFill>
                      <a:srgbClr val="FFFFFF"/>
                    </a:solidFill>
                  </a:tcPr>
                </a:tc>
                <a:tc>
                  <a:txBody>
                    <a:bodyPr wrap="square"/>
                    <a:lstStyle/>
                    <a:p>
                      <a:r>
                        <a:rPr sz="1100" b="0">
                          <a:solidFill>
                            <a:srgbClr val="4B4B4B"/>
                          </a:solidFill>
                          <a:latin typeface="Arial"/>
                        </a:rPr>
                        <a:t>Three senders; exception report</a:t>
                      </a:r>
                    </a:p>
                  </a:txBody>
                  <a:tcPr marL="64008" marR="64008" marT="27432" marB="27432" anchor="ctr">
                    <a:solidFill>
                      <a:srgbClr val="FFFFFF"/>
                    </a:solidFill>
                  </a:tcPr>
                </a:tc>
              </a:tr>
              <a:tr h="569214">
                <a:tc>
                  <a:txBody>
                    <a:bodyPr wrap="square"/>
                    <a:lstStyle/>
                    <a:p>
                      <a:r>
                        <a:rPr sz="1100" b="1">
                          <a:solidFill>
                            <a:srgbClr val="4B4B4B"/>
                          </a:solidFill>
                          <a:latin typeface="Arial"/>
                        </a:rPr>
                        <a:t>Marketing</a:t>
                      </a:r>
                    </a:p>
                  </a:txBody>
                  <a:tcPr marL="64008" marR="64008" marT="27432" marB="27432" anchor="ctr">
                    <a:solidFill>
                      <a:srgbClr val="E5F5FF"/>
                    </a:solidFill>
                  </a:tcPr>
                </a:tc>
                <a:tc>
                  <a:txBody>
                    <a:bodyPr wrap="square"/>
                    <a:lstStyle/>
                    <a:p>
                      <a:r>
                        <a:rPr sz="1100" b="0">
                          <a:solidFill>
                            <a:srgbClr val="4B4B4B"/>
                          </a:solidFill>
                          <a:latin typeface="Arial"/>
                        </a:rPr>
                        <a:t>Operations</a:t>
                      </a:r>
                    </a:p>
                  </a:txBody>
                  <a:tcPr marL="64008" marR="64008" marT="27432" marB="27432" anchor="ctr">
                    <a:solidFill>
                      <a:srgbClr val="E5F5FF"/>
                    </a:solidFill>
                  </a:tcPr>
                </a:tc>
                <a:tc>
                  <a:txBody>
                    <a:bodyPr wrap="square"/>
                    <a:lstStyle/>
                    <a:p>
                      <a:r>
                        <a:rPr sz="1100" b="0">
                          <a:solidFill>
                            <a:srgbClr val="4B4B4B"/>
                          </a:solidFill>
                          <a:latin typeface="Arial"/>
                        </a:rPr>
                        <a:t>Endorsement and cancellation requests</a:t>
                      </a:r>
                    </a:p>
                  </a:txBody>
                  <a:tcPr marL="64008" marR="64008" marT="27432" marB="27432" anchor="ctr">
                    <a:solidFill>
                      <a:srgbClr val="E5F5FF"/>
                    </a:solidFill>
                  </a:tcPr>
                </a:tc>
                <a:tc>
                  <a:txBody>
                    <a:bodyPr wrap="square"/>
                    <a:lstStyle/>
                    <a:p>
                      <a:r>
                        <a:rPr sz="1100" b="0">
                          <a:solidFill>
                            <a:srgbClr val="4B4B4B"/>
                          </a:solidFill>
                          <a:latin typeface="Arial"/>
                        </a:rPr>
                        <a:t>E-mail with documents</a:t>
                      </a:r>
                    </a:p>
                  </a:txBody>
                  <a:tcPr marL="64008" marR="64008" marT="27432" marB="27432" anchor="ctr">
                    <a:solidFill>
                      <a:srgbClr val="E5F5FF"/>
                    </a:solidFill>
                  </a:tcPr>
                </a:tc>
                <a:tc>
                  <a:txBody>
                    <a:bodyPr wrap="square"/>
                    <a:lstStyle/>
                    <a:p>
                      <a:r>
                        <a:rPr sz="1100" b="0">
                          <a:solidFill>
                            <a:srgbClr val="4B4B4B"/>
                          </a:solidFill>
                          <a:latin typeface="Arial"/>
                        </a:rPr>
                        <a:t>Validation and keying by hand</a:t>
                      </a:r>
                    </a:p>
                  </a:txBody>
                  <a:tcPr marL="64008" marR="64008" marT="27432" marB="27432" anchor="ctr">
                    <a:solidFill>
                      <a:srgbClr val="E5F5FF"/>
                    </a:solidFill>
                  </a:tcPr>
                </a:tc>
              </a:tr>
              <a:tr h="569214">
                <a:tc>
                  <a:txBody>
                    <a:bodyPr wrap="square"/>
                    <a:lstStyle/>
                    <a:p>
                      <a:r>
                        <a:rPr sz="1100" b="1">
                          <a:solidFill>
                            <a:srgbClr val="4B4B4B"/>
                          </a:solidFill>
                          <a:latin typeface="Arial"/>
                        </a:rPr>
                        <a:t>Marketing, units</a:t>
                      </a:r>
                    </a:p>
                  </a:txBody>
                  <a:tcPr marL="64008" marR="64008" marT="27432" marB="27432" anchor="ctr">
                    <a:solidFill>
                      <a:srgbClr val="FFFFFF"/>
                    </a:solidFill>
                  </a:tcPr>
                </a:tc>
                <a:tc>
                  <a:txBody>
                    <a:bodyPr wrap="square"/>
                    <a:lstStyle/>
                    <a:p>
                      <a:r>
                        <a:rPr sz="1100" b="0">
                          <a:solidFill>
                            <a:srgbClr val="4B4B4B"/>
                          </a:solidFill>
                          <a:latin typeface="Arial"/>
                        </a:rPr>
                        <a:t>CRU</a:t>
                      </a:r>
                    </a:p>
                  </a:txBody>
                  <a:tcPr marL="64008" marR="64008" marT="27432" marB="27432" anchor="ctr">
                    <a:solidFill>
                      <a:srgbClr val="FFFFFF"/>
                    </a:solidFill>
                  </a:tcPr>
                </a:tc>
                <a:tc>
                  <a:txBody>
                    <a:bodyPr wrap="square"/>
                    <a:lstStyle/>
                    <a:p>
                      <a:r>
                        <a:rPr sz="1100" b="0">
                          <a:solidFill>
                            <a:srgbClr val="4B4B4B"/>
                          </a:solidFill>
                          <a:latin typeface="Arial"/>
                        </a:rPr>
                        <a:t>Direct-payment lists</a:t>
                      </a:r>
                    </a:p>
                  </a:txBody>
                  <a:tcPr marL="64008" marR="64008" marT="27432" marB="27432" anchor="ctr">
                    <a:solidFill>
                      <a:srgbClr val="FFFFFF"/>
                    </a:solidFill>
                  </a:tcPr>
                </a:tc>
                <a:tc>
                  <a:txBody>
                    <a:bodyPr wrap="square"/>
                    <a:lstStyle/>
                    <a:p>
                      <a:r>
                        <a:rPr sz="1100" b="0">
                          <a:solidFill>
                            <a:srgbClr val="4B4B4B"/>
                          </a:solidFill>
                          <a:latin typeface="Arial"/>
                        </a:rPr>
                        <a:t>Shared folder</a:t>
                      </a:r>
                    </a:p>
                  </a:txBody>
                  <a:tcPr marL="64008" marR="64008" marT="27432" marB="27432" anchor="ctr">
                    <a:solidFill>
                      <a:srgbClr val="FFFFFF"/>
                    </a:solidFill>
                  </a:tcPr>
                </a:tc>
                <a:tc>
                  <a:txBody>
                    <a:bodyPr wrap="square"/>
                    <a:lstStyle/>
                    <a:p>
                      <a:r>
                        <a:rPr sz="1100" b="0">
                          <a:solidFill>
                            <a:srgbClr val="4B4B4B"/>
                          </a:solidFill>
                          <a:latin typeface="Arial"/>
                        </a:rPr>
                        <a:t>Consolidation and duplicates in Excel</a:t>
                      </a:r>
                    </a:p>
                  </a:txBody>
                  <a:tcPr marL="64008" marR="64008" marT="27432" marB="27432" anchor="ctr">
                    <a:solidFill>
                      <a:srgbClr val="FFFFFF"/>
                    </a:solidFill>
                  </a:tcPr>
                </a:tc>
              </a:tr>
              <a:tr h="569214">
                <a:tc>
                  <a:txBody>
                    <a:bodyPr wrap="square"/>
                    <a:lstStyle/>
                    <a:p>
                      <a:r>
                        <a:rPr sz="1100" b="1">
                          <a:solidFill>
                            <a:srgbClr val="4B4B4B"/>
                          </a:solidFill>
                          <a:latin typeface="Arial"/>
                        </a:rPr>
                        <a:t>Collections</a:t>
                      </a:r>
                    </a:p>
                  </a:txBody>
                  <a:tcPr marL="64008" marR="64008" marT="27432" marB="27432" anchor="ctr">
                    <a:solidFill>
                      <a:srgbClr val="E5F5FF"/>
                    </a:solidFill>
                  </a:tcPr>
                </a:tc>
                <a:tc>
                  <a:txBody>
                    <a:bodyPr wrap="square"/>
                    <a:lstStyle/>
                    <a:p>
                      <a:r>
                        <a:rPr sz="1100" b="0">
                          <a:solidFill>
                            <a:srgbClr val="4B4B4B"/>
                          </a:solidFill>
                          <a:latin typeface="Arial"/>
                        </a:rPr>
                        <a:t>Marketing AO</a:t>
                      </a:r>
                    </a:p>
                  </a:txBody>
                  <a:tcPr marL="64008" marR="64008" marT="27432" marB="27432" anchor="ctr">
                    <a:solidFill>
                      <a:srgbClr val="E5F5FF"/>
                    </a:solidFill>
                  </a:tcPr>
                </a:tc>
                <a:tc>
                  <a:txBody>
                    <a:bodyPr wrap="square"/>
                    <a:lstStyle/>
                    <a:p>
                      <a:r>
                        <a:rPr sz="1100" b="0">
                          <a:solidFill>
                            <a:srgbClr val="4B4B4B"/>
                          </a:solidFill>
                          <a:latin typeface="Arial"/>
                        </a:rPr>
                        <a:t>CTE, escalation, day-60 outcome</a:t>
                      </a:r>
                    </a:p>
                  </a:txBody>
                  <a:tcPr marL="64008" marR="64008" marT="27432" marB="27432" anchor="ctr">
                    <a:solidFill>
                      <a:srgbClr val="E5F5FF"/>
                    </a:solidFill>
                  </a:tcPr>
                </a:tc>
                <a:tc>
                  <a:txBody>
                    <a:bodyPr wrap="square"/>
                    <a:lstStyle/>
                    <a:p>
                      <a:r>
                        <a:rPr sz="1100" b="0">
                          <a:solidFill>
                            <a:srgbClr val="4B4B4B"/>
                          </a:solidFill>
                          <a:latin typeface="Arial"/>
                        </a:rPr>
                        <a:t>E-mail</a:t>
                      </a:r>
                    </a:p>
                  </a:txBody>
                  <a:tcPr marL="64008" marR="64008" marT="27432" marB="27432" anchor="ctr">
                    <a:solidFill>
                      <a:srgbClr val="E5F5FF"/>
                    </a:solidFill>
                  </a:tcPr>
                </a:tc>
                <a:tc>
                  <a:txBody>
                    <a:bodyPr wrap="square"/>
                    <a:lstStyle/>
                    <a:p>
                      <a:r>
                        <a:rPr sz="1100" b="0">
                          <a:solidFill>
                            <a:srgbClr val="4B4B4B"/>
                          </a:solidFill>
                          <a:latin typeface="Arial"/>
                        </a:rPr>
                        <a:t>Follow-up depends on the handler</a:t>
                      </a:r>
                    </a:p>
                  </a:txBody>
                  <a:tcPr marL="64008" marR="64008" marT="27432" marB="27432" anchor="ctr">
                    <a:solidFill>
                      <a:srgbClr val="E5F5FF"/>
                    </a:solidFill>
                  </a:tcPr>
                </a:tc>
              </a:tr>
            </a:tbl>
          </a:graphicData>
        </a:graphic>
      </p:graphicFrame>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Hand-offs between departments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graphicFrame>
        <p:nvGraphicFramePr>
          <p:cNvPr id="9" name="Table 8"/>
          <p:cNvGraphicFramePr>
            <a:graphicFrameLocks noGrp="1"/>
          </p:cNvGraphicFramePr>
          <p:nvPr/>
        </p:nvGraphicFramePr>
        <p:xfrm>
          <a:off x="548640" y="1280160"/>
          <a:ext cx="11094411" cy="4919470"/>
        </p:xfrm>
        <a:graphic>
          <a:graphicData uri="http://schemas.openxmlformats.org/drawingml/2006/table">
            <a:tbl>
              <a:tblPr firstRow="1" bandRow="1">
                <a:tableStyleId>{5C22544A-7EE6-4342-B048-85BDC9FD1C3A}</a:tableStyleId>
              </a:tblPr>
              <a:tblGrid>
                <a:gridCol w="1699950"/>
                <a:gridCol w="1699950"/>
                <a:gridCol w="2863074"/>
                <a:gridCol w="1968363"/>
                <a:gridCol w="2863074"/>
              </a:tblGrid>
              <a:tr h="365760">
                <a:tc>
                  <a:txBody>
                    <a:bodyPr wrap="square"/>
                    <a:lstStyle/>
                    <a:p>
                      <a:r>
                        <a:rPr sz="1100" b="1">
                          <a:solidFill>
                            <a:srgbClr val="FFFFFF"/>
                          </a:solidFill>
                          <a:latin typeface="Arial"/>
                        </a:rPr>
                        <a:t>From</a:t>
                      </a:r>
                    </a:p>
                  </a:txBody>
                  <a:tcPr marL="64008" marR="64008" marT="27432" marB="27432" anchor="ctr">
                    <a:solidFill>
                      <a:srgbClr val="004EA8"/>
                    </a:solidFill>
                  </a:tcPr>
                </a:tc>
                <a:tc>
                  <a:txBody>
                    <a:bodyPr wrap="square"/>
                    <a:lstStyle/>
                    <a:p>
                      <a:r>
                        <a:rPr sz="1100" b="1">
                          <a:solidFill>
                            <a:srgbClr val="FFFFFF"/>
                          </a:solidFill>
                          <a:latin typeface="Arial"/>
                        </a:rPr>
                        <a:t>To</a:t>
                      </a:r>
                    </a:p>
                  </a:txBody>
                  <a:tcPr marL="64008" marR="64008" marT="27432" marB="27432" anchor="ctr">
                    <a:solidFill>
                      <a:srgbClr val="004EA8"/>
                    </a:solidFill>
                  </a:tcPr>
                </a:tc>
                <a:tc>
                  <a:txBody>
                    <a:bodyPr wrap="square"/>
                    <a:lstStyle/>
                    <a:p>
                      <a:r>
                        <a:rPr sz="1100" b="1">
                          <a:solidFill>
                            <a:srgbClr val="FFFFFF"/>
                          </a:solidFill>
                          <a:latin typeface="Arial"/>
                        </a:rPr>
                        <a:t>What passes</a:t>
                      </a:r>
                    </a:p>
                  </a:txBody>
                  <a:tcPr marL="64008" marR="64008" marT="27432" marB="27432" anchor="ctr">
                    <a:solidFill>
                      <a:srgbClr val="004EA8"/>
                    </a:solidFill>
                  </a:tcPr>
                </a:tc>
                <a:tc>
                  <a:txBody>
                    <a:bodyPr wrap="square"/>
                    <a:lstStyle/>
                    <a:p>
                      <a:r>
                        <a:rPr sz="1100" b="1">
                          <a:solidFill>
                            <a:srgbClr val="FFFFFF"/>
                          </a:solidFill>
                          <a:latin typeface="Arial"/>
                        </a:rPr>
                        <a:t>Channel today</a:t>
                      </a:r>
                    </a:p>
                  </a:txBody>
                  <a:tcPr marL="64008" marR="64008" marT="27432" marB="27432" anchor="ctr">
                    <a:solidFill>
                      <a:srgbClr val="004EA8"/>
                    </a:solidFill>
                  </a:tcPr>
                </a:tc>
                <a:tc>
                  <a:txBody>
                    <a:bodyPr wrap="square"/>
                    <a:lstStyle/>
                    <a:p>
                      <a:r>
                        <a:rPr sz="1100" b="1">
                          <a:solidFill>
                            <a:srgbClr val="FFFFFF"/>
                          </a:solidFill>
                          <a:latin typeface="Arial"/>
                        </a:rPr>
                        <a:t>What it causes</a:t>
                      </a:r>
                    </a:p>
                  </a:txBody>
                  <a:tcPr marL="64008" marR="64008" marT="27432" marB="27432" anchor="ctr">
                    <a:solidFill>
                      <a:srgbClr val="004EA8"/>
                    </a:solidFill>
                  </a:tcPr>
                </a:tc>
              </a:tr>
              <a:tr h="650530">
                <a:tc>
                  <a:txBody>
                    <a:bodyPr wrap="square"/>
                    <a:lstStyle/>
                    <a:p>
                      <a:r>
                        <a:rPr sz="1100" b="1">
                          <a:solidFill>
                            <a:srgbClr val="4B4B4B"/>
                          </a:solidFill>
                          <a:latin typeface="Arial"/>
                        </a:rPr>
                        <a:t>Remittance</a:t>
                      </a:r>
                    </a:p>
                  </a:txBody>
                  <a:tcPr marL="64008" marR="64008" marT="27432" marB="27432" anchor="ctr">
                    <a:solidFill>
                      <a:srgbClr val="FFFFFF"/>
                    </a:solidFill>
                  </a:tcPr>
                </a:tc>
                <a:tc>
                  <a:txBody>
                    <a:bodyPr wrap="square"/>
                    <a:lstStyle/>
                    <a:p>
                      <a:r>
                        <a:rPr sz="1100" b="0">
                          <a:solidFill>
                            <a:srgbClr val="4B4B4B"/>
                          </a:solidFill>
                          <a:latin typeface="Arial"/>
                        </a:rPr>
                        <a:t>Disbursement</a:t>
                      </a:r>
                    </a:p>
                  </a:txBody>
                  <a:tcPr marL="64008" marR="64008" marT="27432" marB="27432" anchor="ctr">
                    <a:solidFill>
                      <a:srgbClr val="FFFFFF"/>
                    </a:solidFill>
                  </a:tcPr>
                </a:tc>
                <a:tc>
                  <a:txBody>
                    <a:bodyPr wrap="square"/>
                    <a:lstStyle/>
                    <a:p>
                      <a:r>
                        <a:rPr sz="1100" b="0">
                          <a:solidFill>
                            <a:srgbClr val="4B4B4B"/>
                          </a:solidFill>
                          <a:latin typeface="Arial"/>
                        </a:rPr>
                        <a:t>Weekly settlement list</a:t>
                      </a:r>
                    </a:p>
                  </a:txBody>
                  <a:tcPr marL="64008" marR="64008" marT="27432" marB="27432" anchor="ctr">
                    <a:solidFill>
                      <a:srgbClr val="FFFFFF"/>
                    </a:solidFill>
                  </a:tcPr>
                </a:tc>
                <a:tc>
                  <a:txBody>
                    <a:bodyPr wrap="square"/>
                    <a:lstStyle/>
                    <a:p>
                      <a:r>
                        <a:rPr sz="1100" b="0">
                          <a:solidFill>
                            <a:srgbClr val="4B4B4B"/>
                          </a:solidFill>
                          <a:latin typeface="Arial"/>
                        </a:rPr>
                        <a:t>Teams list, signed copy</a:t>
                      </a:r>
                    </a:p>
                  </a:txBody>
                  <a:tcPr marL="64008" marR="64008" marT="27432" marB="27432" anchor="ctr">
                    <a:solidFill>
                      <a:srgbClr val="FFFFFF"/>
                    </a:solidFill>
                  </a:tcPr>
                </a:tc>
                <a:tc>
                  <a:txBody>
                    <a:bodyPr wrap="square"/>
                    <a:lstStyle/>
                    <a:p>
                      <a:r>
                        <a:rPr sz="1100" b="0">
                          <a:solidFill>
                            <a:srgbClr val="4B4B4B"/>
                          </a:solidFill>
                          <a:latin typeface="Arial"/>
                        </a:rPr>
                        <a:t>Paper kept for audit</a:t>
                      </a:r>
                    </a:p>
                  </a:txBody>
                  <a:tcPr marL="64008" marR="64008" marT="27432" marB="27432" anchor="ctr">
                    <a:solidFill>
                      <a:srgbClr val="FFFFFF"/>
                    </a:solidFill>
                  </a:tcPr>
                </a:tc>
              </a:tr>
              <a:tr h="650530">
                <a:tc>
                  <a:txBody>
                    <a:bodyPr wrap="square"/>
                    <a:lstStyle/>
                    <a:p>
                      <a:r>
                        <a:rPr sz="1100" b="1">
                          <a:solidFill>
                            <a:srgbClr val="4B4B4B"/>
                          </a:solidFill>
                          <a:latin typeface="Arial"/>
                        </a:rPr>
                        <a:t>Marketing</a:t>
                      </a:r>
                    </a:p>
                  </a:txBody>
                  <a:tcPr marL="64008" marR="64008" marT="27432" marB="27432" anchor="ctr">
                    <a:solidFill>
                      <a:srgbClr val="E5F5FF"/>
                    </a:solidFill>
                  </a:tcPr>
                </a:tc>
                <a:tc>
                  <a:txBody>
                    <a:bodyPr wrap="square"/>
                    <a:lstStyle/>
                    <a:p>
                      <a:r>
                        <a:rPr sz="1100" b="0">
                          <a:solidFill>
                            <a:srgbClr val="4B4B4B"/>
                          </a:solidFill>
                          <a:latin typeface="Arial"/>
                        </a:rPr>
                        <a:t>Disbursement</a:t>
                      </a:r>
                    </a:p>
                  </a:txBody>
                  <a:tcPr marL="64008" marR="64008" marT="27432" marB="27432" anchor="ctr">
                    <a:solidFill>
                      <a:srgbClr val="E5F5FF"/>
                    </a:solidFill>
                  </a:tcPr>
                </a:tc>
                <a:tc>
                  <a:txBody>
                    <a:bodyPr wrap="square"/>
                    <a:lstStyle/>
                    <a:p>
                      <a:r>
                        <a:rPr sz="1100" b="0">
                          <a:solidFill>
                            <a:srgbClr val="4B4B4B"/>
                          </a:solidFill>
                          <a:latin typeface="Arial"/>
                        </a:rPr>
                        <a:t>Refund requests (RRF)</a:t>
                      </a:r>
                    </a:p>
                  </a:txBody>
                  <a:tcPr marL="64008" marR="64008" marT="27432" marB="27432" anchor="ctr">
                    <a:solidFill>
                      <a:srgbClr val="E5F5FF"/>
                    </a:solidFill>
                  </a:tcPr>
                </a:tc>
                <a:tc>
                  <a:txBody>
                    <a:bodyPr wrap="square"/>
                    <a:lstStyle/>
                    <a:p>
                      <a:r>
                        <a:rPr sz="1100" b="0">
                          <a:solidFill>
                            <a:srgbClr val="4B4B4B"/>
                          </a:solidFill>
                          <a:latin typeface="Arial"/>
                        </a:rPr>
                        <a:t>Paper, scanned copies</a:t>
                      </a:r>
                    </a:p>
                  </a:txBody>
                  <a:tcPr marL="64008" marR="64008" marT="27432" marB="27432" anchor="ctr">
                    <a:solidFill>
                      <a:srgbClr val="E5F5FF"/>
                    </a:solidFill>
                  </a:tcPr>
                </a:tc>
                <a:tc>
                  <a:txBody>
                    <a:bodyPr wrap="square"/>
                    <a:lstStyle/>
                    <a:p>
                      <a:r>
                        <a:rPr sz="1100" b="0">
                          <a:solidFill>
                            <a:srgbClr val="4B4B4B"/>
                          </a:solidFill>
                          <a:latin typeface="Arial"/>
                        </a:rPr>
                        <a:t>4-6 signatures; re-keying in EBIX</a:t>
                      </a:r>
                    </a:p>
                  </a:txBody>
                  <a:tcPr marL="64008" marR="64008" marT="27432" marB="27432" anchor="ctr">
                    <a:solidFill>
                      <a:srgbClr val="E5F5FF"/>
                    </a:solidFill>
                  </a:tcPr>
                </a:tc>
              </a:tr>
              <a:tr h="650530">
                <a:tc>
                  <a:txBody>
                    <a:bodyPr wrap="square"/>
                    <a:lstStyle/>
                    <a:p>
                      <a:r>
                        <a:rPr sz="1100" b="1">
                          <a:solidFill>
                            <a:srgbClr val="4B4B4B"/>
                          </a:solidFill>
                          <a:latin typeface="Arial"/>
                        </a:rPr>
                        <a:t>Disbursement</a:t>
                      </a:r>
                    </a:p>
                  </a:txBody>
                  <a:tcPr marL="64008" marR="64008" marT="27432" marB="27432" anchor="ctr">
                    <a:solidFill>
                      <a:srgbClr val="FFFFFF"/>
                    </a:solidFill>
                  </a:tcPr>
                </a:tc>
                <a:tc>
                  <a:txBody>
                    <a:bodyPr wrap="square"/>
                    <a:lstStyle/>
                    <a:p>
                      <a:r>
                        <a:rPr sz="1100" b="0">
                          <a:solidFill>
                            <a:srgbClr val="4B4B4B"/>
                          </a:solidFill>
                          <a:latin typeface="Arial"/>
                        </a:rPr>
                        <a:t>FRBS</a:t>
                      </a:r>
                    </a:p>
                  </a:txBody>
                  <a:tcPr marL="64008" marR="64008" marT="27432" marB="27432" anchor="ctr">
                    <a:solidFill>
                      <a:srgbClr val="FFFFFF"/>
                    </a:solidFill>
                  </a:tcPr>
                </a:tc>
                <a:tc>
                  <a:txBody>
                    <a:bodyPr wrap="square"/>
                    <a:lstStyle/>
                    <a:p>
                      <a:r>
                        <a:rPr sz="1100" b="0">
                          <a:solidFill>
                            <a:srgbClr val="4B4B4B"/>
                          </a:solidFill>
                          <a:latin typeface="Arial"/>
                        </a:rPr>
                        <a:t>Signed documents for the GL entry</a:t>
                      </a:r>
                    </a:p>
                  </a:txBody>
                  <a:tcPr marL="64008" marR="64008" marT="27432" marB="27432" anchor="ctr">
                    <a:solidFill>
                      <a:srgbClr val="FFFFFF"/>
                    </a:solidFill>
                  </a:tcPr>
                </a:tc>
                <a:tc>
                  <a:txBody>
                    <a:bodyPr wrap="square"/>
                    <a:lstStyle/>
                    <a:p>
                      <a:r>
                        <a:rPr sz="1100" b="0">
                          <a:solidFill>
                            <a:srgbClr val="4B4B4B"/>
                          </a:solidFill>
                          <a:latin typeface="Arial"/>
                        </a:rPr>
                        <a:t>Paper</a:t>
                      </a:r>
                    </a:p>
                  </a:txBody>
                  <a:tcPr marL="64008" marR="64008" marT="27432" marB="27432" anchor="ctr">
                    <a:solidFill>
                      <a:srgbClr val="FFFFFF"/>
                    </a:solidFill>
                  </a:tcPr>
                </a:tc>
                <a:tc>
                  <a:txBody>
                    <a:bodyPr wrap="square"/>
                    <a:lstStyle/>
                    <a:p>
                      <a:r>
                        <a:rPr sz="1100" b="0">
                          <a:solidFill>
                            <a:srgbClr val="4B4B4B"/>
                          </a:solidFill>
                          <a:latin typeface="Arial"/>
                        </a:rPr>
                        <a:t>Entries made by another unit</a:t>
                      </a:r>
                    </a:p>
                  </a:txBody>
                  <a:tcPr marL="64008" marR="64008" marT="27432" marB="27432" anchor="ctr">
                    <a:solidFill>
                      <a:srgbClr val="FFFFFF"/>
                    </a:solidFill>
                  </a:tcPr>
                </a:tc>
              </a:tr>
              <a:tr h="650530">
                <a:tc>
                  <a:txBody>
                    <a:bodyPr wrap="square"/>
                    <a:lstStyle/>
                    <a:p>
                      <a:r>
                        <a:rPr sz="1100" b="1">
                          <a:solidFill>
                            <a:srgbClr val="4B4B4B"/>
                          </a:solidFill>
                          <a:latin typeface="Arial"/>
                        </a:rPr>
                        <a:t>IT</a:t>
                      </a:r>
                    </a:p>
                  </a:txBody>
                  <a:tcPr marL="64008" marR="64008" marT="27432" marB="27432" anchor="ctr">
                    <a:solidFill>
                      <a:srgbClr val="E5F5FF"/>
                    </a:solidFill>
                  </a:tcPr>
                </a:tc>
                <a:tc>
                  <a:txBody>
                    <a:bodyPr wrap="square"/>
                    <a:lstStyle/>
                    <a:p>
                      <a:r>
                        <a:rPr sz="1100" b="0">
                          <a:solidFill>
                            <a:srgbClr val="4B4B4B"/>
                          </a:solidFill>
                          <a:latin typeface="Arial"/>
                        </a:rPr>
                        <a:t>FRBS, ACSL, units</a:t>
                      </a:r>
                    </a:p>
                  </a:txBody>
                  <a:tcPr marL="64008" marR="64008" marT="27432" marB="27432" anchor="ctr">
                    <a:solidFill>
                      <a:srgbClr val="E5F5FF"/>
                    </a:solidFill>
                  </a:tcPr>
                </a:tc>
                <a:tc>
                  <a:txBody>
                    <a:bodyPr wrap="square"/>
                    <a:lstStyle/>
                    <a:p>
                      <a:r>
                        <a:rPr sz="1100" b="0">
                          <a:solidFill>
                            <a:srgbClr val="4B4B4B"/>
                          </a:solidFill>
                          <a:latin typeface="Arial"/>
                        </a:rPr>
                        <a:t>Reports and extracts</a:t>
                      </a:r>
                    </a:p>
                  </a:txBody>
                  <a:tcPr marL="64008" marR="64008" marT="27432" marB="27432" anchor="ctr">
                    <a:solidFill>
                      <a:srgbClr val="E5F5FF"/>
                    </a:solidFill>
                  </a:tcPr>
                </a:tc>
                <a:tc>
                  <a:txBody>
                    <a:bodyPr wrap="square"/>
                    <a:lstStyle/>
                    <a:p>
                      <a:r>
                        <a:rPr sz="1100" b="0">
                          <a:solidFill>
                            <a:srgbClr val="4B4B4B"/>
                          </a:solidFill>
                          <a:latin typeface="Arial"/>
                        </a:rPr>
                        <a:t>Shared folder</a:t>
                      </a:r>
                    </a:p>
                  </a:txBody>
                  <a:tcPr marL="64008" marR="64008" marT="27432" marB="27432" anchor="ctr">
                    <a:solidFill>
                      <a:srgbClr val="E5F5FF"/>
                    </a:solidFill>
                  </a:tcPr>
                </a:tc>
                <a:tc>
                  <a:txBody>
                    <a:bodyPr wrap="square"/>
                    <a:lstStyle/>
                    <a:p>
                      <a:r>
                        <a:rPr sz="1100" b="0">
                          <a:solidFill>
                            <a:srgbClr val="4B4B4B"/>
                          </a:solidFill>
                          <a:latin typeface="Arial"/>
                        </a:rPr>
                        <a:t>Business waits for IT</a:t>
                      </a:r>
                    </a:p>
                  </a:txBody>
                  <a:tcPr marL="64008" marR="64008" marT="27432" marB="27432" anchor="ctr">
                    <a:solidFill>
                      <a:srgbClr val="E5F5FF"/>
                    </a:solidFill>
                  </a:tcPr>
                </a:tc>
              </a:tr>
              <a:tr h="650530">
                <a:tc>
                  <a:txBody>
                    <a:bodyPr wrap="square"/>
                    <a:lstStyle/>
                    <a:p>
                      <a:r>
                        <a:rPr sz="1100" b="1">
                          <a:solidFill>
                            <a:srgbClr val="4B4B4B"/>
                          </a:solidFill>
                          <a:latin typeface="Arial"/>
                        </a:rPr>
                        <a:t>CRU</a:t>
                      </a:r>
                    </a:p>
                  </a:txBody>
                  <a:tcPr marL="64008" marR="64008" marT="27432" marB="27432" anchor="ctr">
                    <a:solidFill>
                      <a:srgbClr val="FFFFFF"/>
                    </a:solidFill>
                  </a:tcPr>
                </a:tc>
                <a:tc>
                  <a:txBody>
                    <a:bodyPr wrap="square"/>
                    <a:lstStyle/>
                    <a:p>
                      <a:r>
                        <a:rPr sz="1100" b="0">
                          <a:solidFill>
                            <a:srgbClr val="4B4B4B"/>
                          </a:solidFill>
                          <a:latin typeface="Arial"/>
                        </a:rPr>
                        <a:t>IT, Cashiering</a:t>
                      </a:r>
                    </a:p>
                  </a:txBody>
                  <a:tcPr marL="64008" marR="64008" marT="27432" marB="27432" anchor="ctr">
                    <a:solidFill>
                      <a:srgbClr val="FFFFFF"/>
                    </a:solidFill>
                  </a:tcPr>
                </a:tc>
                <a:tc>
                  <a:txBody>
                    <a:bodyPr wrap="square"/>
                    <a:lstStyle/>
                    <a:p>
                      <a:r>
                        <a:rPr sz="1100" b="0">
                          <a:solidFill>
                            <a:srgbClr val="4B4B4B"/>
                          </a:solidFill>
                          <a:latin typeface="Arial"/>
                        </a:rPr>
                        <a:t>DPPR / PR2307 reversal lists</a:t>
                      </a:r>
                    </a:p>
                  </a:txBody>
                  <a:tcPr marL="64008" marR="64008" marT="27432" marB="27432" anchor="ctr">
                    <a:solidFill>
                      <a:srgbClr val="FFFFFF"/>
                    </a:solidFill>
                  </a:tcPr>
                </a:tc>
                <a:tc>
                  <a:txBody>
                    <a:bodyPr wrap="square"/>
                    <a:lstStyle/>
                    <a:p>
                      <a:r>
                        <a:rPr sz="1100" b="0">
                          <a:solidFill>
                            <a:srgbClr val="4B4B4B"/>
                          </a:solidFill>
                          <a:latin typeface="Arial"/>
                        </a:rPr>
                        <a:t>SharePoint, Teams</a:t>
                      </a:r>
                    </a:p>
                  </a:txBody>
                  <a:tcPr marL="64008" marR="64008" marT="27432" marB="27432" anchor="ctr">
                    <a:solidFill>
                      <a:srgbClr val="FFFFFF"/>
                    </a:solidFill>
                  </a:tcPr>
                </a:tc>
                <a:tc>
                  <a:txBody>
                    <a:bodyPr wrap="square"/>
                    <a:lstStyle/>
                    <a:p>
                      <a:r>
                        <a:rPr sz="1100" b="0">
                          <a:solidFill>
                            <a:srgbClr val="4B4B4B"/>
                          </a:solidFill>
                          <a:latin typeface="Arial"/>
                        </a:rPr>
                        <a:t>VLOOKUP and manual journals</a:t>
                      </a:r>
                    </a:p>
                  </a:txBody>
                  <a:tcPr marL="64008" marR="64008" marT="27432" marB="27432" anchor="ctr">
                    <a:solidFill>
                      <a:srgbClr val="FFFFFF"/>
                    </a:solidFill>
                  </a:tcPr>
                </a:tc>
              </a:tr>
              <a:tr h="650530">
                <a:tc>
                  <a:txBody>
                    <a:bodyPr wrap="square"/>
                    <a:lstStyle/>
                    <a:p>
                      <a:r>
                        <a:rPr sz="1100" b="1">
                          <a:solidFill>
                            <a:srgbClr val="4B4B4B"/>
                          </a:solidFill>
                          <a:latin typeface="Arial"/>
                        </a:rPr>
                        <a:t>IT</a:t>
                      </a:r>
                    </a:p>
                  </a:txBody>
                  <a:tcPr marL="64008" marR="64008" marT="27432" marB="27432" anchor="ctr">
                    <a:solidFill>
                      <a:srgbClr val="E5F5FF"/>
                    </a:solidFill>
                  </a:tcPr>
                </a:tc>
                <a:tc>
                  <a:txBody>
                    <a:bodyPr wrap="square"/>
                    <a:lstStyle/>
                    <a:p>
                      <a:r>
                        <a:rPr sz="1100" b="0">
                          <a:solidFill>
                            <a:srgbClr val="4B4B4B"/>
                          </a:solidFill>
                          <a:latin typeface="Arial"/>
                        </a:rPr>
                        <a:t>Marketing Admin, AO</a:t>
                      </a:r>
                    </a:p>
                  </a:txBody>
                  <a:tcPr marL="64008" marR="64008" marT="27432" marB="27432" anchor="ctr">
                    <a:solidFill>
                      <a:srgbClr val="E5F5FF"/>
                    </a:solidFill>
                  </a:tcPr>
                </a:tc>
                <a:tc>
                  <a:txBody>
                    <a:bodyPr wrap="square"/>
                    <a:lstStyle/>
                    <a:p>
                      <a:r>
                        <a:rPr sz="1100" b="0">
                          <a:solidFill>
                            <a:srgbClr val="4B4B4B"/>
                          </a:solidFill>
                          <a:latin typeface="Arial"/>
                        </a:rPr>
                        <a:t>Expiring list (RMEL) and dispositions</a:t>
                      </a:r>
                    </a:p>
                  </a:txBody>
                  <a:tcPr marL="64008" marR="64008" marT="27432" marB="27432" anchor="ctr">
                    <a:solidFill>
                      <a:srgbClr val="E5F5FF"/>
                    </a:solidFill>
                  </a:tcPr>
                </a:tc>
                <a:tc>
                  <a:txBody>
                    <a:bodyPr wrap="square"/>
                    <a:lstStyle/>
                    <a:p>
                      <a:r>
                        <a:rPr sz="1100" b="0">
                          <a:solidFill>
                            <a:srgbClr val="4B4B4B"/>
                          </a:solidFill>
                          <a:latin typeface="Arial"/>
                        </a:rPr>
                        <a:t>Excel, e-mail</a:t>
                      </a:r>
                    </a:p>
                  </a:txBody>
                  <a:tcPr marL="64008" marR="64008" marT="27432" marB="27432" anchor="ctr">
                    <a:solidFill>
                      <a:srgbClr val="E5F5FF"/>
                    </a:solidFill>
                  </a:tcPr>
                </a:tc>
                <a:tc>
                  <a:txBody>
                    <a:bodyPr wrap="square"/>
                    <a:lstStyle/>
                    <a:p>
                      <a:r>
                        <a:rPr sz="1100" b="0">
                          <a:solidFill>
                            <a:srgbClr val="4B4B4B"/>
                          </a:solidFill>
                          <a:latin typeface="Arial"/>
                        </a:rPr>
                        <a:t>Four hands before work starts</a:t>
                      </a:r>
                    </a:p>
                  </a:txBody>
                  <a:tcPr marL="64008" marR="64008" marT="27432" marB="27432" anchor="ctr">
                    <a:solidFill>
                      <a:srgbClr val="E5F5FF"/>
                    </a:solidFill>
                  </a:tcPr>
                </a:tc>
              </a:tr>
              <a:tr h="650530">
                <a:tc>
                  <a:txBody>
                    <a:bodyPr wrap="square"/>
                    <a:lstStyle/>
                    <a:p>
                      <a:r>
                        <a:rPr sz="1100" b="1">
                          <a:solidFill>
                            <a:srgbClr val="4B4B4B"/>
                          </a:solidFill>
                          <a:latin typeface="Arial"/>
                        </a:rPr>
                        <a:t>Contact centre</a:t>
                      </a:r>
                    </a:p>
                  </a:txBody>
                  <a:tcPr marL="64008" marR="64008" marT="27432" marB="27432" anchor="ctr">
                    <a:solidFill>
                      <a:srgbClr val="FFFFFF"/>
                    </a:solidFill>
                  </a:tcPr>
                </a:tc>
                <a:tc>
                  <a:txBody>
                    <a:bodyPr wrap="square"/>
                    <a:lstStyle/>
                    <a:p>
                      <a:r>
                        <a:rPr sz="1100" b="0">
                          <a:solidFill>
                            <a:srgbClr val="4B4B4B"/>
                          </a:solidFill>
                          <a:latin typeface="Arial"/>
                        </a:rPr>
                        <a:t>Fulfilment unit</a:t>
                      </a:r>
                    </a:p>
                  </a:txBody>
                  <a:tcPr marL="64008" marR="64008" marT="27432" marB="27432" anchor="ctr">
                    <a:solidFill>
                      <a:srgbClr val="FFFFFF"/>
                    </a:solidFill>
                  </a:tcPr>
                </a:tc>
                <a:tc>
                  <a:txBody>
                    <a:bodyPr wrap="square"/>
                    <a:lstStyle/>
                    <a:p>
                      <a:r>
                        <a:rPr sz="1100" b="0">
                          <a:solidFill>
                            <a:srgbClr val="4B4B4B"/>
                          </a:solidFill>
                          <a:latin typeface="Arial"/>
                        </a:rPr>
                        <a:t>Referred client concerns</a:t>
                      </a:r>
                    </a:p>
                  </a:txBody>
                  <a:tcPr marL="64008" marR="64008" marT="27432" marB="27432" anchor="ctr">
                    <a:solidFill>
                      <a:srgbClr val="FFFFFF"/>
                    </a:solidFill>
                  </a:tcPr>
                </a:tc>
                <a:tc>
                  <a:txBody>
                    <a:bodyPr wrap="square"/>
                    <a:lstStyle/>
                    <a:p>
                      <a:r>
                        <a:rPr sz="1100" b="0">
                          <a:solidFill>
                            <a:srgbClr val="4B4B4B"/>
                          </a:solidFill>
                          <a:latin typeface="Arial"/>
                        </a:rPr>
                        <a:t>E-mail, CLS prompt</a:t>
                      </a:r>
                    </a:p>
                  </a:txBody>
                  <a:tcPr marL="64008" marR="64008" marT="27432" marB="27432" anchor="ctr">
                    <a:solidFill>
                      <a:srgbClr val="FFFFFF"/>
                    </a:solidFill>
                  </a:tcPr>
                </a:tc>
                <a:tc>
                  <a:txBody>
                    <a:bodyPr wrap="square"/>
                    <a:lstStyle/>
                    <a:p>
                      <a:r>
                        <a:rPr sz="1100" b="0">
                          <a:solidFill>
                            <a:srgbClr val="4B4B4B"/>
                          </a:solidFill>
                          <a:latin typeface="Arial"/>
                        </a:rPr>
                        <a:t>No TAT view; re-logging</a:t>
                      </a:r>
                    </a:p>
                  </a:txBody>
                  <a:tcPr marL="64008" marR="64008" marT="27432" marB="27432" anchor="ctr">
                    <a:solidFill>
                      <a:srgbClr val="FFFFFF"/>
                    </a:solidFill>
                  </a:tcPr>
                </a:tc>
              </a:tr>
            </a:tbl>
          </a:graphicData>
        </a:graphic>
      </p:graphicFrame>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Business challenges BDOI named, and what we saw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sp>
        <p:nvSpPr>
          <p:cNvPr id="9" name="Rounded Rectangle 8"/>
          <p:cNvSpPr/>
          <p:nvPr/>
        </p:nvSpPr>
        <p:spPr>
          <a:xfrm>
            <a:off x="548640" y="1280160"/>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Operational bottlenecks</a:t>
            </a:r>
          </a:p>
        </p:txBody>
      </p:sp>
      <p:sp>
        <p:nvSpPr>
          <p:cNvPr id="12" name="TextBox 11"/>
          <p:cNvSpPr txBox="1"/>
          <p:nvPr/>
        </p:nvSpPr>
        <p:spPr>
          <a:xfrm>
            <a:off x="621792" y="1810512"/>
            <a:ext cx="5318607"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Multiple hand-offs: 15 department hand-offs by e-mail, file or paper</a:t>
            </a:r>
          </a:p>
          <a:p>
            <a:pPr>
              <a:spcAft>
                <a:spcPts val="300"/>
              </a:spcAft>
            </a:pPr>
            <a:r>
              <a:rPr sz="1400" b="0">
                <a:solidFill>
                  <a:srgbClr val="004EA8"/>
                </a:solidFill>
                <a:latin typeface="Arial"/>
              </a:rPr>
              <a:t>•  </a:t>
            </a:r>
            <a:r>
              <a:rPr sz="1400" b="0">
                <a:solidFill>
                  <a:srgbClr val="4B4B4B"/>
                </a:solidFill>
                <a:latin typeface="Arial"/>
              </a:rPr>
              <a:t>Waiting for approval: 3-6 signatures on refunds and disbursements</a:t>
            </a:r>
          </a:p>
          <a:p>
            <a:pPr>
              <a:spcAft>
                <a:spcPts val="300"/>
              </a:spcAft>
            </a:pPr>
            <a:r>
              <a:rPr sz="1400" b="0">
                <a:solidFill>
                  <a:srgbClr val="004EA8"/>
                </a:solidFill>
                <a:latin typeface="Arial"/>
              </a:rPr>
              <a:t>•  </a:t>
            </a:r>
            <a:r>
              <a:rPr sz="1400" b="0">
                <a:solidFill>
                  <a:srgbClr val="4B4B4B"/>
                </a:solidFill>
                <a:latin typeface="Arial"/>
              </a:rPr>
              <a:t>Peak workload: 20-30K recon lines per insurer a month; renewals from 140 days out</a:t>
            </a:r>
          </a:p>
        </p:txBody>
      </p:sp>
      <p:sp>
        <p:nvSpPr>
          <p:cNvPr id="13" name="Rounded Rectangle 12"/>
          <p:cNvSpPr/>
          <p:nvPr/>
        </p:nvSpPr>
        <p:spPr>
          <a:xfrm>
            <a:off x="6178143" y="1280160"/>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78143" y="1280160"/>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251295" y="1280160"/>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Data quality</a:t>
            </a:r>
          </a:p>
        </p:txBody>
      </p:sp>
      <p:sp>
        <p:nvSpPr>
          <p:cNvPr id="16" name="TextBox 15"/>
          <p:cNvSpPr txBox="1"/>
          <p:nvPr/>
        </p:nvSpPr>
        <p:spPr>
          <a:xfrm>
            <a:off x="6251295" y="1810512"/>
            <a:ext cx="5318607"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Three references per transaction (OV-03)</a:t>
            </a:r>
          </a:p>
          <a:p>
            <a:pPr>
              <a:spcAft>
                <a:spcPts val="300"/>
              </a:spcAft>
            </a:pPr>
            <a:r>
              <a:rPr sz="1400" b="0">
                <a:solidFill>
                  <a:srgbClr val="004EA8"/>
                </a:solidFill>
                <a:latin typeface="Arial"/>
              </a:rPr>
              <a:t>•  </a:t>
            </a:r>
            <a:r>
              <a:rPr sz="1400" b="0">
                <a:solidFill>
                  <a:srgbClr val="4B4B4B"/>
                </a:solidFill>
                <a:latin typeface="Arial"/>
              </a:rPr>
              <a:t>Leads and existing customers in one category (OV-04)</a:t>
            </a:r>
          </a:p>
          <a:p>
            <a:pPr>
              <a:spcAft>
                <a:spcPts val="300"/>
              </a:spcAft>
            </a:pPr>
            <a:r>
              <a:rPr sz="1400" b="0">
                <a:solidFill>
                  <a:srgbClr val="004EA8"/>
                </a:solidFill>
                <a:latin typeface="Arial"/>
              </a:rPr>
              <a:t>•  </a:t>
            </a:r>
            <a:r>
              <a:rPr sz="1400" b="0">
                <a:solidFill>
                  <a:srgbClr val="4B4B4B"/>
                </a:solidFill>
                <a:latin typeface="Arial"/>
              </a:rPr>
              <a:t>Outstanding per client not reliable; ageing runs after payment (CO-01, CO-02)</a:t>
            </a:r>
          </a:p>
        </p:txBody>
      </p:sp>
      <p:sp>
        <p:nvSpPr>
          <p:cNvPr id="17" name="Rounded Rectangle 16"/>
          <p:cNvSpPr/>
          <p:nvPr/>
        </p:nvSpPr>
        <p:spPr>
          <a:xfrm>
            <a:off x="548640" y="3822192"/>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822192"/>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21792" y="3822192"/>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Manual workarounds</a:t>
            </a:r>
          </a:p>
        </p:txBody>
      </p:sp>
      <p:sp>
        <p:nvSpPr>
          <p:cNvPr id="20" name="TextBox 19"/>
          <p:cNvSpPr txBox="1"/>
          <p:nvPr/>
        </p:nvSpPr>
        <p:spPr>
          <a:xfrm>
            <a:off x="621792" y="4352544"/>
            <a:ext cx="5318607"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Excel for quotes, dispositions, recon, DP lists and trackers</a:t>
            </a:r>
          </a:p>
          <a:p>
            <a:pPr>
              <a:spcAft>
                <a:spcPts val="300"/>
              </a:spcAft>
            </a:pPr>
            <a:r>
              <a:rPr sz="1400" b="0">
                <a:solidFill>
                  <a:srgbClr val="004EA8"/>
                </a:solidFill>
                <a:latin typeface="Arial"/>
              </a:rPr>
              <a:t>•  </a:t>
            </a:r>
            <a:r>
              <a:rPr sz="1400" b="0">
                <a:solidFill>
                  <a:srgbClr val="4B4B4B"/>
                </a:solidFill>
                <a:latin typeface="Arial"/>
              </a:rPr>
              <a:t>E-mail for requests, returns and CTE; Teams for approvals</a:t>
            </a:r>
          </a:p>
          <a:p>
            <a:pPr>
              <a:spcAft>
                <a:spcPts val="300"/>
              </a:spcAft>
            </a:pPr>
            <a:r>
              <a:rPr sz="1400" b="0">
                <a:solidFill>
                  <a:srgbClr val="004EA8"/>
                </a:solidFill>
                <a:latin typeface="Arial"/>
              </a:rPr>
              <a:t>•  </a:t>
            </a:r>
            <a:r>
              <a:rPr sz="1400" b="0">
                <a:solidFill>
                  <a:srgbClr val="4B4B4B"/>
                </a:solidFill>
                <a:latin typeface="Arial"/>
              </a:rPr>
              <a:t>Receipts, reversals, invoices and journals by hand</a:t>
            </a:r>
          </a:p>
        </p:txBody>
      </p:sp>
      <p:sp>
        <p:nvSpPr>
          <p:cNvPr id="21" name="Rounded Rectangle 20"/>
          <p:cNvSpPr/>
          <p:nvPr/>
        </p:nvSpPr>
        <p:spPr>
          <a:xfrm>
            <a:off x="6178143" y="3822192"/>
            <a:ext cx="5464911"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78143" y="3822192"/>
            <a:ext cx="5464911"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51295" y="3822192"/>
            <a:ext cx="5318607"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Reporting limitations</a:t>
            </a:r>
          </a:p>
        </p:txBody>
      </p:sp>
      <p:sp>
        <p:nvSpPr>
          <p:cNvPr id="24" name="TextBox 23"/>
          <p:cNvSpPr txBox="1"/>
          <p:nvPr/>
        </p:nvSpPr>
        <p:spPr>
          <a:xfrm>
            <a:off x="6251295" y="4352544"/>
            <a:ext cx="5318607"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Reports need IT and a consolidation from several systems (RP-01)</a:t>
            </a:r>
          </a:p>
          <a:p>
            <a:pPr>
              <a:spcAft>
                <a:spcPts val="300"/>
              </a:spcAft>
            </a:pPr>
            <a:r>
              <a:rPr sz="1400" b="0">
                <a:solidFill>
                  <a:srgbClr val="004EA8"/>
                </a:solidFill>
                <a:latin typeface="Arial"/>
              </a:rPr>
              <a:t>•  </a:t>
            </a:r>
            <a:r>
              <a:rPr sz="1400" b="0">
                <a:solidFill>
                  <a:srgbClr val="4B4B4B"/>
                </a:solidFill>
                <a:latin typeface="Arial"/>
              </a:rPr>
              <a:t>No real-time pipeline or status; ManCom lists in Excel</a:t>
            </a:r>
          </a:p>
          <a:p>
            <a:pPr>
              <a:spcAft>
                <a:spcPts val="300"/>
              </a:spcAft>
            </a:pPr>
            <a:r>
              <a:rPr sz="1400" b="0">
                <a:solidFill>
                  <a:srgbClr val="004EA8"/>
                </a:solidFill>
                <a:latin typeface="Arial"/>
              </a:rPr>
              <a:t>•  </a:t>
            </a:r>
            <a:r>
              <a:rPr sz="1400" b="0">
                <a:solidFill>
                  <a:srgbClr val="4B4B4B"/>
                </a:solidFill>
                <a:latin typeface="Arial"/>
              </a:rPr>
              <a:t>Hard to trace figures back to source transactions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What the business asked for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graphicFrame>
        <p:nvGraphicFramePr>
          <p:cNvPr id="9" name="Table 8"/>
          <p:cNvGraphicFramePr>
            <a:graphicFrameLocks noGrp="1"/>
          </p:cNvGraphicFramePr>
          <p:nvPr/>
        </p:nvGraphicFramePr>
        <p:xfrm>
          <a:off x="548640" y="1280160"/>
          <a:ext cx="11094413" cy="4919472"/>
        </p:xfrm>
        <a:graphic>
          <a:graphicData uri="http://schemas.openxmlformats.org/drawingml/2006/table">
            <a:tbl>
              <a:tblPr firstRow="1" bandRow="1">
                <a:tableStyleId>{5C22544A-7EE6-4342-B048-85BDC9FD1C3A}</a:tableStyleId>
              </a:tblPr>
              <a:tblGrid>
                <a:gridCol w="2000632"/>
                <a:gridCol w="6001896"/>
                <a:gridCol w="1636880"/>
                <a:gridCol w="1455005"/>
              </a:tblGrid>
              <a:tr h="365760">
                <a:tc>
                  <a:txBody>
                    <a:bodyPr wrap="square"/>
                    <a:lstStyle/>
                    <a:p>
                      <a:r>
                        <a:rPr sz="1100" b="1">
                          <a:solidFill>
                            <a:srgbClr val="FFFFFF"/>
                          </a:solidFill>
                          <a:latin typeface="Arial"/>
                        </a:rPr>
                        <a:t>Theme</a:t>
                      </a:r>
                    </a:p>
                  </a:txBody>
                  <a:tcPr marL="64008" marR="64008" marT="27432" marB="27432" anchor="ctr">
                    <a:solidFill>
                      <a:srgbClr val="004EA8"/>
                    </a:solidFill>
                  </a:tcPr>
                </a:tc>
                <a:tc>
                  <a:txBody>
                    <a:bodyPr wrap="square"/>
                    <a:lstStyle/>
                    <a:p>
                      <a:r>
                        <a:rPr sz="1100" b="1">
                          <a:solidFill>
                            <a:srgbClr val="FFFFFF"/>
                          </a:solidFill>
                          <a:latin typeface="Arial"/>
                        </a:rPr>
                        <a:t>What the users asked for</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Chapter</a:t>
                      </a:r>
                    </a:p>
                  </a:txBody>
                  <a:tcPr marL="64008" marR="64008" marT="27432" marB="27432" anchor="ctr">
                    <a:solidFill>
                      <a:srgbClr val="004EA8"/>
                    </a:solidFill>
                  </a:tcPr>
                </a:tc>
              </a:tr>
              <a:tr h="505968">
                <a:tc>
                  <a:txBody>
                    <a:bodyPr wrap="square"/>
                    <a:lstStyle/>
                    <a:p>
                      <a:r>
                        <a:rPr sz="1100" b="1">
                          <a:solidFill>
                            <a:srgbClr val="4B4B4B"/>
                          </a:solidFill>
                          <a:latin typeface="Arial"/>
                        </a:rPr>
                        <a:t>Connecting insurers</a:t>
                      </a:r>
                    </a:p>
                  </a:txBody>
                  <a:tcPr marL="64008" marR="64008" marT="27432" marB="27432" anchor="ctr">
                    <a:solidFill>
                      <a:srgbClr val="FFFFFF"/>
                    </a:solidFill>
                  </a:tcPr>
                </a:tc>
                <a:tc>
                  <a:txBody>
                    <a:bodyPr wrap="square"/>
                    <a:lstStyle/>
                    <a:p>
                      <a:r>
                        <a:rPr sz="1100" b="0">
                          <a:solidFill>
                            <a:srgbClr val="4B4B4B"/>
                          </a:solidFill>
                          <a:latin typeface="Arial"/>
                        </a:rPr>
                        <a:t>One common way to connect with every insurer partner</a:t>
                      </a:r>
                    </a:p>
                  </a:txBody>
                  <a:tcPr marL="64008" marR="64008" marT="27432" marB="27432" anchor="ctr">
                    <a:solidFill>
                      <a:srgbClr val="FFFFFF"/>
                    </a:solidFill>
                  </a:tcPr>
                </a:tc>
                <a:tc>
                  <a:txBody>
                    <a:bodyPr wrap="square"/>
                    <a:lstStyle/>
                    <a:p>
                      <a:r>
                        <a:rPr sz="1100" b="0">
                          <a:solidFill>
                            <a:srgbClr val="4B4B4B"/>
                          </a:solidFill>
                          <a:latin typeface="Arial"/>
                        </a:rPr>
                        <a:t>OV-01</a:t>
                      </a:r>
                    </a:p>
                  </a:txBody>
                  <a:tcPr marL="64008" marR="64008" marT="27432" marB="27432" anchor="ctr">
                    <a:solidFill>
                      <a:srgbClr val="FFFFFF"/>
                    </a:solidFill>
                  </a:tcPr>
                </a:tc>
                <a:tc>
                  <a:txBody>
                    <a:bodyPr wrap="square"/>
                    <a:lstStyle/>
                    <a:p>
                      <a:r>
                        <a:rPr sz="1100" b="0">
                          <a:solidFill>
                            <a:srgbClr val="4B4B4B"/>
                          </a:solidFill>
                          <a:latin typeface="Arial"/>
                        </a:rPr>
                        <a:t>All</a:t>
                      </a:r>
                    </a:p>
                  </a:txBody>
                  <a:tcPr marL="64008" marR="64008" marT="27432" marB="27432" anchor="ctr">
                    <a:solidFill>
                      <a:srgbClr val="FFFFFF"/>
                    </a:solidFill>
                  </a:tcPr>
                </a:tc>
              </a:tr>
              <a:tr h="505968">
                <a:tc>
                  <a:txBody>
                    <a:bodyPr wrap="square"/>
                    <a:lstStyle/>
                    <a:p>
                      <a:r>
                        <a:rPr sz="1100" b="1">
                          <a:solidFill>
                            <a:srgbClr val="4B4B4B"/>
                          </a:solidFill>
                          <a:latin typeface="Arial"/>
                        </a:rPr>
                        <a:t>One reference</a:t>
                      </a:r>
                    </a:p>
                  </a:txBody>
                  <a:tcPr marL="64008" marR="64008" marT="27432" marB="27432" anchor="ctr">
                    <a:solidFill>
                      <a:srgbClr val="E5F5FF"/>
                    </a:solidFill>
                  </a:tcPr>
                </a:tc>
                <a:tc>
                  <a:txBody>
                    <a:bodyPr wrap="square"/>
                    <a:lstStyle/>
                    <a:p>
                      <a:r>
                        <a:rPr sz="1100" b="0">
                          <a:solidFill>
                            <a:srgbClr val="4B4B4B"/>
                          </a:solidFill>
                          <a:latin typeface="Arial"/>
                        </a:rPr>
                        <a:t>One common reference across the lifecycle (to confirm)</a:t>
                      </a:r>
                    </a:p>
                  </a:txBody>
                  <a:tcPr marL="64008" marR="64008" marT="27432" marB="27432" anchor="ctr">
                    <a:solidFill>
                      <a:srgbClr val="E5F5FF"/>
                    </a:solidFill>
                  </a:tcPr>
                </a:tc>
                <a:tc>
                  <a:txBody>
                    <a:bodyPr wrap="square"/>
                    <a:lstStyle/>
                    <a:p>
                      <a:r>
                        <a:rPr sz="1100" b="0">
                          <a:solidFill>
                            <a:srgbClr val="4B4B4B"/>
                          </a:solidFill>
                          <a:latin typeface="Arial"/>
                        </a:rPr>
                        <a:t>OV-03</a:t>
                      </a:r>
                    </a:p>
                  </a:txBody>
                  <a:tcPr marL="64008" marR="64008" marT="27432" marB="27432" anchor="ctr">
                    <a:solidFill>
                      <a:srgbClr val="E5F5FF"/>
                    </a:solidFill>
                  </a:tcPr>
                </a:tc>
                <a:tc>
                  <a:txBody>
                    <a:bodyPr wrap="square"/>
                    <a:lstStyle/>
                    <a:p>
                      <a:r>
                        <a:rPr sz="1100" b="0">
                          <a:solidFill>
                            <a:srgbClr val="4B4B4B"/>
                          </a:solidFill>
                          <a:latin typeface="Arial"/>
                        </a:rPr>
                        <a:t>All</a:t>
                      </a:r>
                    </a:p>
                  </a:txBody>
                  <a:tcPr marL="64008" marR="64008" marT="27432" marB="27432" anchor="ctr">
                    <a:solidFill>
                      <a:srgbClr val="E5F5FF"/>
                    </a:solidFill>
                  </a:tcPr>
                </a:tc>
              </a:tr>
              <a:tr h="505968">
                <a:tc>
                  <a:txBody>
                    <a:bodyPr wrap="square"/>
                    <a:lstStyle/>
                    <a:p>
                      <a:r>
                        <a:rPr sz="1100" b="1">
                          <a:solidFill>
                            <a:srgbClr val="4B4B4B"/>
                          </a:solidFill>
                          <a:latin typeface="Arial"/>
                        </a:rPr>
                        <a:t>Client categories</a:t>
                      </a:r>
                    </a:p>
                  </a:txBody>
                  <a:tcPr marL="64008" marR="64008" marT="27432" marB="27432" anchor="ctr">
                    <a:solidFill>
                      <a:srgbClr val="FFFFFF"/>
                    </a:solidFill>
                  </a:tcPr>
                </a:tc>
                <a:tc>
                  <a:txBody>
                    <a:bodyPr wrap="square"/>
                    <a:lstStyle/>
                    <a:p>
                      <a:r>
                        <a:rPr sz="1100" b="0">
                          <a:solidFill>
                            <a:srgbClr val="4B4B4B"/>
                          </a:solidFill>
                          <a:latin typeface="Arial"/>
                        </a:rPr>
                        <a:t>Leads, prospects and existing clients; retail and corporate (to confirm)</a:t>
                      </a:r>
                    </a:p>
                  </a:txBody>
                  <a:tcPr marL="64008" marR="64008" marT="27432" marB="27432" anchor="ctr">
                    <a:solidFill>
                      <a:srgbClr val="FFFFFF"/>
                    </a:solidFill>
                  </a:tcPr>
                </a:tc>
                <a:tc>
                  <a:txBody>
                    <a:bodyPr wrap="square"/>
                    <a:lstStyle/>
                    <a:p>
                      <a:r>
                        <a:rPr sz="1100" b="0">
                          <a:solidFill>
                            <a:srgbClr val="4B4B4B"/>
                          </a:solidFill>
                          <a:latin typeface="Arial"/>
                        </a:rPr>
                        <a:t>OV-04</a:t>
                      </a:r>
                    </a:p>
                  </a:txBody>
                  <a:tcPr marL="64008" marR="64008" marT="27432" marB="27432" anchor="ctr">
                    <a:solidFill>
                      <a:srgbClr val="FFFFFF"/>
                    </a:solidFill>
                  </a:tcPr>
                </a:tc>
                <a:tc>
                  <a:txBody>
                    <a:bodyPr wrap="square"/>
                    <a:lstStyle/>
                    <a:p>
                      <a:r>
                        <a:rPr sz="1100" b="0">
                          <a:solidFill>
                            <a:srgbClr val="4B4B4B"/>
                          </a:solidFill>
                          <a:latin typeface="Arial"/>
                        </a:rPr>
                        <a:t>1</a:t>
                      </a:r>
                    </a:p>
                  </a:txBody>
                  <a:tcPr marL="64008" marR="64008" marT="27432" marB="27432" anchor="ctr">
                    <a:solidFill>
                      <a:srgbClr val="FFFFFF"/>
                    </a:solidFill>
                  </a:tcPr>
                </a:tc>
              </a:tr>
              <a:tr h="505968">
                <a:tc>
                  <a:txBody>
                    <a:bodyPr wrap="square"/>
                    <a:lstStyle/>
                    <a:p>
                      <a:r>
                        <a:rPr sz="1100" b="1">
                          <a:solidFill>
                            <a:srgbClr val="4B4B4B"/>
                          </a:solidFill>
                          <a:latin typeface="Arial"/>
                        </a:rPr>
                        <a:t>Product maintenance</a:t>
                      </a:r>
                    </a:p>
                  </a:txBody>
                  <a:tcPr marL="64008" marR="64008" marT="27432" marB="27432" anchor="ctr">
                    <a:solidFill>
                      <a:srgbClr val="E5F5FF"/>
                    </a:solidFill>
                  </a:tcPr>
                </a:tc>
                <a:tc>
                  <a:txBody>
                    <a:bodyPr wrap="square"/>
                    <a:lstStyle/>
                    <a:p>
                      <a:r>
                        <a:rPr sz="1100" b="0">
                          <a:solidFill>
                            <a:srgbClr val="4B4B4B"/>
                          </a:solidFill>
                          <a:latin typeface="Arial"/>
                        </a:rPr>
                        <a:t>Package and non-package products maintained in the system; switch at renewal</a:t>
                      </a:r>
                    </a:p>
                  </a:txBody>
                  <a:tcPr marL="64008" marR="64008" marT="27432" marB="27432" anchor="ctr">
                    <a:solidFill>
                      <a:srgbClr val="E5F5FF"/>
                    </a:solidFill>
                  </a:tcPr>
                </a:tc>
                <a:tc>
                  <a:txBody>
                    <a:bodyPr wrap="square"/>
                    <a:lstStyle/>
                    <a:p>
                      <a:r>
                        <a:rPr sz="1100" b="0">
                          <a:solidFill>
                            <a:srgbClr val="4B4B4B"/>
                          </a:solidFill>
                          <a:latin typeface="Arial"/>
                        </a:rPr>
                        <a:t>PM-01, 03, 04</a:t>
                      </a:r>
                    </a:p>
                  </a:txBody>
                  <a:tcPr marL="64008" marR="64008" marT="27432" marB="27432" anchor="ctr">
                    <a:solidFill>
                      <a:srgbClr val="E5F5FF"/>
                    </a:solidFill>
                  </a:tcPr>
                </a:tc>
                <a:tc>
                  <a:txBody>
                    <a:bodyPr wrap="square"/>
                    <a:lstStyle/>
                    <a:p>
                      <a:r>
                        <a:rPr sz="1100" b="0">
                          <a:solidFill>
                            <a:srgbClr val="4B4B4B"/>
                          </a:solidFill>
                          <a:latin typeface="Arial"/>
                        </a:rPr>
                        <a:t>5</a:t>
                      </a:r>
                    </a:p>
                  </a:txBody>
                  <a:tcPr marL="64008" marR="64008" marT="27432" marB="27432" anchor="ctr">
                    <a:solidFill>
                      <a:srgbClr val="E5F5FF"/>
                    </a:solidFill>
                  </a:tcPr>
                </a:tc>
              </a:tr>
              <a:tr h="505968">
                <a:tc>
                  <a:txBody>
                    <a:bodyPr wrap="square"/>
                    <a:lstStyle/>
                    <a:p>
                      <a:r>
                        <a:rPr sz="1100" b="1">
                          <a:solidFill>
                            <a:srgbClr val="4B4B4B"/>
                          </a:solidFill>
                          <a:latin typeface="Arial"/>
                        </a:rPr>
                        <a:t>Quotes</a:t>
                      </a:r>
                    </a:p>
                  </a:txBody>
                  <a:tcPr marL="64008" marR="64008" marT="27432" marB="27432" anchor="ctr">
                    <a:solidFill>
                      <a:srgbClr val="FFFFFF"/>
                    </a:solidFill>
                  </a:tcPr>
                </a:tc>
                <a:tc>
                  <a:txBody>
                    <a:bodyPr wrap="square"/>
                    <a:lstStyle/>
                    <a:p>
                      <a:r>
                        <a:rPr sz="1100" b="0">
                          <a:solidFill>
                            <a:srgbClr val="4B4B4B"/>
                          </a:solidFill>
                          <a:latin typeface="Arial"/>
                        </a:rPr>
                        <a:t>30-day validity applied; SLA tracking; pipeline for Retail and Corporate</a:t>
                      </a:r>
                    </a:p>
                  </a:txBody>
                  <a:tcPr marL="64008" marR="64008" marT="27432" marB="27432" anchor="ctr">
                    <a:solidFill>
                      <a:srgbClr val="FFFFFF"/>
                    </a:solidFill>
                  </a:tcPr>
                </a:tc>
                <a:tc>
                  <a:txBody>
                    <a:bodyPr wrap="square"/>
                    <a:lstStyle/>
                    <a:p>
                      <a:r>
                        <a:rPr sz="1100" b="0">
                          <a:solidFill>
                            <a:srgbClr val="4B4B4B"/>
                          </a:solidFill>
                          <a:latin typeface="Arial"/>
                        </a:rPr>
                        <a:t>NB-03, 07, 11</a:t>
                      </a:r>
                    </a:p>
                  </a:txBody>
                  <a:tcPr marL="64008" marR="64008" marT="27432" marB="27432" anchor="ctr">
                    <a:solidFill>
                      <a:srgbClr val="FFFFFF"/>
                    </a:solidFill>
                  </a:tcPr>
                </a:tc>
                <a:tc>
                  <a:txBody>
                    <a:bodyPr wrap="square"/>
                    <a:lstStyle/>
                    <a:p>
                      <a:r>
                        <a:rPr sz="1100" b="0">
                          <a:solidFill>
                            <a:srgbClr val="4B4B4B"/>
                          </a:solidFill>
                          <a:latin typeface="Arial"/>
                        </a:rPr>
                        <a:t>1</a:t>
                      </a:r>
                    </a:p>
                  </a:txBody>
                  <a:tcPr marL="64008" marR="64008" marT="27432" marB="27432" anchor="ctr">
                    <a:solidFill>
                      <a:srgbClr val="FFFFFF"/>
                    </a:solidFill>
                  </a:tcPr>
                </a:tc>
              </a:tr>
              <a:tr h="505968">
                <a:tc>
                  <a:txBody>
                    <a:bodyPr wrap="square"/>
                    <a:lstStyle/>
                    <a:p>
                      <a:r>
                        <a:rPr sz="1100" b="1">
                          <a:solidFill>
                            <a:srgbClr val="4B4B4B"/>
                          </a:solidFill>
                          <a:latin typeface="Arial"/>
                        </a:rPr>
                        <a:t>Renewals</a:t>
                      </a:r>
                    </a:p>
                  </a:txBody>
                  <a:tcPr marL="64008" marR="64008" marT="27432" marB="27432" anchor="ctr">
                    <a:solidFill>
                      <a:srgbClr val="E5F5FF"/>
                    </a:solidFill>
                  </a:tcPr>
                </a:tc>
                <a:tc>
                  <a:txBody>
                    <a:bodyPr wrap="square"/>
                    <a:lstStyle/>
                    <a:p>
                      <a:r>
                        <a:rPr sz="1100" b="0">
                          <a:solidFill>
                            <a:srgbClr val="4B4B4B"/>
                          </a:solidFill>
                          <a:latin typeface="Arial"/>
                        </a:rPr>
                        <a:t>Renewal advice from the BDOI template; pro-forma accounting entries</a:t>
                      </a:r>
                    </a:p>
                  </a:txBody>
                  <a:tcPr marL="64008" marR="64008" marT="27432" marB="27432" anchor="ctr">
                    <a:solidFill>
                      <a:srgbClr val="E5F5FF"/>
                    </a:solidFill>
                  </a:tcPr>
                </a:tc>
                <a:tc>
                  <a:txBody>
                    <a:bodyPr wrap="square"/>
                    <a:lstStyle/>
                    <a:p>
                      <a:r>
                        <a:rPr sz="1100" b="0">
                          <a:solidFill>
                            <a:srgbClr val="4B4B4B"/>
                          </a:solidFill>
                          <a:latin typeface="Arial"/>
                        </a:rPr>
                        <a:t>DC-01, RN-02</a:t>
                      </a:r>
                    </a:p>
                  </a:txBody>
                  <a:tcPr marL="64008" marR="64008" marT="27432" marB="27432" anchor="ctr">
                    <a:solidFill>
                      <a:srgbClr val="E5F5FF"/>
                    </a:solidFill>
                  </a:tcPr>
                </a:tc>
                <a:tc>
                  <a:txBody>
                    <a:bodyPr wrap="square"/>
                    <a:lstStyle/>
                    <a:p>
                      <a:r>
                        <a:rPr sz="1100" b="0">
                          <a:solidFill>
                            <a:srgbClr val="4B4B4B"/>
                          </a:solidFill>
                          <a:latin typeface="Arial"/>
                        </a:rPr>
                        <a:t>2</a:t>
                      </a:r>
                    </a:p>
                  </a:txBody>
                  <a:tcPr marL="64008" marR="64008" marT="27432" marB="27432" anchor="ctr">
                    <a:solidFill>
                      <a:srgbClr val="E5F5FF"/>
                    </a:solidFill>
                  </a:tcPr>
                </a:tc>
              </a:tr>
              <a:tr h="505968">
                <a:tc>
                  <a:txBody>
                    <a:bodyPr wrap="square"/>
                    <a:lstStyle/>
                    <a:p>
                      <a:r>
                        <a:rPr sz="1100" b="1">
                          <a:solidFill>
                            <a:srgbClr val="4B4B4B"/>
                          </a:solidFill>
                          <a:latin typeface="Arial"/>
                        </a:rPr>
                        <a:t>Endorsements</a:t>
                      </a:r>
                    </a:p>
                  </a:txBody>
                  <a:tcPr marL="64008" marR="64008" marT="27432" marB="27432" anchor="ctr">
                    <a:solidFill>
                      <a:srgbClr val="FFFFFF"/>
                    </a:solidFill>
                  </a:tcPr>
                </a:tc>
                <a:tc>
                  <a:txBody>
                    <a:bodyPr wrap="square"/>
                    <a:lstStyle/>
                    <a:p>
                      <a:r>
                        <a:rPr sz="1100" b="0">
                          <a:solidFill>
                            <a:srgbClr val="4B4B4B"/>
                          </a:solidFill>
                          <a:latin typeface="Arial"/>
                        </a:rPr>
                        <a:t>Endorsement computes the premium like New Business</a:t>
                      </a:r>
                    </a:p>
                  </a:txBody>
                  <a:tcPr marL="64008" marR="64008" marT="27432" marB="27432" anchor="ctr">
                    <a:solidFill>
                      <a:srgbClr val="FFFFFF"/>
                    </a:solidFill>
                  </a:tcPr>
                </a:tc>
                <a:tc>
                  <a:txBody>
                    <a:bodyPr wrap="square"/>
                    <a:lstStyle/>
                    <a:p>
                      <a:r>
                        <a:rPr sz="1100" b="0">
                          <a:solidFill>
                            <a:srgbClr val="4B4B4B"/>
                          </a:solidFill>
                          <a:latin typeface="Arial"/>
                        </a:rPr>
                        <a:t>EN-01</a:t>
                      </a:r>
                    </a:p>
                  </a:txBody>
                  <a:tcPr marL="64008" marR="64008" marT="27432" marB="27432" anchor="ctr">
                    <a:solidFill>
                      <a:srgbClr val="FFFFFF"/>
                    </a:solidFill>
                  </a:tcPr>
                </a:tc>
                <a:tc>
                  <a:txBody>
                    <a:bodyPr wrap="square"/>
                    <a:lstStyle/>
                    <a:p>
                      <a:r>
                        <a:rPr sz="1100" b="0">
                          <a:solidFill>
                            <a:srgbClr val="4B4B4B"/>
                          </a:solidFill>
                          <a:latin typeface="Arial"/>
                        </a:rPr>
                        <a:t>6</a:t>
                      </a:r>
                    </a:p>
                  </a:txBody>
                  <a:tcPr marL="64008" marR="64008" marT="27432" marB="27432" anchor="ctr">
                    <a:solidFill>
                      <a:srgbClr val="FFFFFF"/>
                    </a:solidFill>
                  </a:tcPr>
                </a:tc>
              </a:tr>
              <a:tr h="505968">
                <a:tc>
                  <a:txBody>
                    <a:bodyPr wrap="square"/>
                    <a:lstStyle/>
                    <a:p>
                      <a:r>
                        <a:rPr sz="1100" b="1">
                          <a:solidFill>
                            <a:srgbClr val="4B4B4B"/>
                          </a:solidFill>
                          <a:latin typeface="Arial"/>
                        </a:rPr>
                        <a:t>Cashiering</a:t>
                      </a:r>
                    </a:p>
                  </a:txBody>
                  <a:tcPr marL="64008" marR="64008" marT="27432" marB="27432" anchor="ctr">
                    <a:solidFill>
                      <a:srgbClr val="E5F5FF"/>
                    </a:solidFill>
                  </a:tcPr>
                </a:tc>
                <a:tc>
                  <a:txBody>
                    <a:bodyPr wrap="square"/>
                    <a:lstStyle/>
                    <a:p>
                      <a:r>
                        <a:rPr sz="1100" b="0">
                          <a:solidFill>
                            <a:srgbClr val="4B4B4B"/>
                          </a:solidFill>
                          <a:latin typeface="Arial"/>
                        </a:rPr>
                        <a:t>AR and OR from the system; configurable threshold; a direct-pay solution</a:t>
                      </a:r>
                    </a:p>
                  </a:txBody>
                  <a:tcPr marL="64008" marR="64008" marT="27432" marB="27432" anchor="ctr">
                    <a:solidFill>
                      <a:srgbClr val="E5F5FF"/>
                    </a:solidFill>
                  </a:tcPr>
                </a:tc>
                <a:tc>
                  <a:txBody>
                    <a:bodyPr wrap="square"/>
                    <a:lstStyle/>
                    <a:p>
                      <a:r>
                        <a:rPr sz="1100" b="0">
                          <a:solidFill>
                            <a:srgbClr val="4B4B4B"/>
                          </a:solidFill>
                          <a:latin typeface="Arial"/>
                        </a:rPr>
                        <a:t>CA-02, 03, 04</a:t>
                      </a:r>
                    </a:p>
                  </a:txBody>
                  <a:tcPr marL="64008" marR="64008" marT="27432" marB="27432" anchor="ctr">
                    <a:solidFill>
                      <a:srgbClr val="E5F5FF"/>
                    </a:solidFill>
                  </a:tcPr>
                </a:tc>
                <a:tc>
                  <a:txBody>
                    <a:bodyPr wrap="square"/>
                    <a:lstStyle/>
                    <a:p>
                      <a:r>
                        <a:rPr sz="1100" b="0">
                          <a:solidFill>
                            <a:srgbClr val="4B4B4B"/>
                          </a:solidFill>
                          <a:latin typeface="Arial"/>
                        </a:rPr>
                        <a:t>6</a:t>
                      </a:r>
                    </a:p>
                  </a:txBody>
                  <a:tcPr marL="64008" marR="64008" marT="27432" marB="27432" anchor="ctr">
                    <a:solidFill>
                      <a:srgbClr val="E5F5FF"/>
                    </a:solidFill>
                  </a:tcPr>
                </a:tc>
              </a:tr>
              <a:tr h="505968">
                <a:tc>
                  <a:txBody>
                    <a:bodyPr wrap="square"/>
                    <a:lstStyle/>
                    <a:p>
                      <a:r>
                        <a:rPr sz="1100" b="1">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Correct outstanding per customer</a:t>
                      </a:r>
                    </a:p>
                  </a:txBody>
                  <a:tcPr marL="64008" marR="64008" marT="27432" marB="27432" anchor="ctr">
                    <a:solidFill>
                      <a:srgbClr val="FFFFFF"/>
                    </a:solidFill>
                  </a:tcPr>
                </a:tc>
                <a:tc>
                  <a:txBody>
                    <a:bodyPr wrap="square"/>
                    <a:lstStyle/>
                    <a:p>
                      <a:r>
                        <a:rPr sz="1100" b="0">
                          <a:solidFill>
                            <a:srgbClr val="4B4B4B"/>
                          </a:solidFill>
                          <a:latin typeface="Arial"/>
                        </a:rPr>
                        <a:t>CO-01</a:t>
                      </a:r>
                    </a:p>
                  </a:txBody>
                  <a:tcPr marL="64008" marR="64008" marT="27432" marB="27432" anchor="ctr">
                    <a:solidFill>
                      <a:srgbClr val="FFFFFF"/>
                    </a:solidFill>
                  </a:tcPr>
                </a:tc>
                <a:tc>
                  <a:txBody>
                    <a:bodyPr wrap="square"/>
                    <a:lstStyle/>
                    <a:p>
                      <a:r>
                        <a:rPr sz="1100" b="0">
                          <a:solidFill>
                            <a:srgbClr val="4B4B4B"/>
                          </a:solidFill>
                          <a:latin typeface="Arial"/>
                        </a:rPr>
                        <a:t>7</a:t>
                      </a:r>
                    </a:p>
                  </a:txBody>
                  <a:tcPr marL="64008" marR="64008" marT="27432" marB="27432" anchor="ctr">
                    <a:solidFill>
                      <a:srgbClr val="FFFFFF"/>
                    </a:solidFill>
                  </a:tcPr>
                </a:tc>
              </a:tr>
            </a:tbl>
          </a:graphicData>
        </a:graphic>
      </p:graphicFrame>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What the business asked for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graphicFrame>
        <p:nvGraphicFramePr>
          <p:cNvPr id="9" name="Table 8"/>
          <p:cNvGraphicFramePr>
            <a:graphicFrameLocks noGrp="1"/>
          </p:cNvGraphicFramePr>
          <p:nvPr/>
        </p:nvGraphicFramePr>
        <p:xfrm>
          <a:off x="548640" y="1280160"/>
          <a:ext cx="11094413" cy="4919472"/>
        </p:xfrm>
        <a:graphic>
          <a:graphicData uri="http://schemas.openxmlformats.org/drawingml/2006/table">
            <a:tbl>
              <a:tblPr firstRow="1" bandRow="1">
                <a:tableStyleId>{5C22544A-7EE6-4342-B048-85BDC9FD1C3A}</a:tableStyleId>
              </a:tblPr>
              <a:tblGrid>
                <a:gridCol w="2000632"/>
                <a:gridCol w="6001896"/>
                <a:gridCol w="1636880"/>
                <a:gridCol w="1455005"/>
              </a:tblGrid>
              <a:tr h="365760">
                <a:tc>
                  <a:txBody>
                    <a:bodyPr wrap="square"/>
                    <a:lstStyle/>
                    <a:p>
                      <a:r>
                        <a:rPr sz="1100" b="1">
                          <a:solidFill>
                            <a:srgbClr val="FFFFFF"/>
                          </a:solidFill>
                          <a:latin typeface="Arial"/>
                        </a:rPr>
                        <a:t>Theme</a:t>
                      </a:r>
                    </a:p>
                  </a:txBody>
                  <a:tcPr marL="64008" marR="64008" marT="27432" marB="27432" anchor="ctr">
                    <a:solidFill>
                      <a:srgbClr val="004EA8"/>
                    </a:solidFill>
                  </a:tcPr>
                </a:tc>
                <a:tc>
                  <a:txBody>
                    <a:bodyPr wrap="square"/>
                    <a:lstStyle/>
                    <a:p>
                      <a:r>
                        <a:rPr sz="1100" b="1">
                          <a:solidFill>
                            <a:srgbClr val="FFFFFF"/>
                          </a:solidFill>
                          <a:latin typeface="Arial"/>
                        </a:rPr>
                        <a:t>What the users asked for</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Chapter</a:t>
                      </a:r>
                    </a:p>
                  </a:txBody>
                  <a:tcPr marL="64008" marR="64008" marT="27432" marB="27432" anchor="ctr">
                    <a:solidFill>
                      <a:srgbClr val="004EA8"/>
                    </a:solidFill>
                  </a:tcPr>
                </a:tc>
              </a:tr>
              <a:tr h="569214">
                <a:tc>
                  <a:txBody>
                    <a:bodyPr wrap="square"/>
                    <a:lstStyle/>
                    <a:p>
                      <a:r>
                        <a:rPr sz="1100" b="1">
                          <a:solidFill>
                            <a:srgbClr val="4B4B4B"/>
                          </a:solidFill>
                          <a:latin typeface="Arial"/>
                        </a:rPr>
                        <a:t>Employee Benefits</a:t>
                      </a:r>
                    </a:p>
                  </a:txBody>
                  <a:tcPr marL="64008" marR="64008" marT="27432" marB="27432" anchor="ctr">
                    <a:solidFill>
                      <a:srgbClr val="FFFFFF"/>
                    </a:solidFill>
                  </a:tcPr>
                </a:tc>
                <a:tc>
                  <a:txBody>
                    <a:bodyPr wrap="square"/>
                    <a:lstStyle/>
                    <a:p>
                      <a:r>
                        <a:rPr sz="1100" b="0">
                          <a:solidFill>
                            <a:srgbClr val="4B4B4B"/>
                          </a:solidFill>
                          <a:latin typeface="Arial"/>
                        </a:rPr>
                        <a:t>The system handles 50K+ members</a:t>
                      </a:r>
                    </a:p>
                  </a:txBody>
                  <a:tcPr marL="64008" marR="64008" marT="27432" marB="27432" anchor="ctr">
                    <a:solidFill>
                      <a:srgbClr val="FFFFFF"/>
                    </a:solidFill>
                  </a:tcPr>
                </a:tc>
                <a:tc>
                  <a:txBody>
                    <a:bodyPr wrap="square"/>
                    <a:lstStyle/>
                    <a:p>
                      <a:r>
                        <a:rPr sz="1100" b="0">
                          <a:solidFill>
                            <a:srgbClr val="4B4B4B"/>
                          </a:solidFill>
                          <a:latin typeface="Arial"/>
                        </a:rPr>
                        <a:t>EB-01</a:t>
                      </a:r>
                    </a:p>
                  </a:txBody>
                  <a:tcPr marL="64008" marR="64008" marT="27432" marB="27432" anchor="ctr">
                    <a:solidFill>
                      <a:srgbClr val="FFFFFF"/>
                    </a:solidFill>
                  </a:tcPr>
                </a:tc>
                <a:tc>
                  <a:txBody>
                    <a:bodyPr wrap="square"/>
                    <a:lstStyle/>
                    <a:p>
                      <a:r>
                        <a:rPr sz="1100" b="0">
                          <a:solidFill>
                            <a:srgbClr val="4B4B4B"/>
                          </a:solidFill>
                          <a:latin typeface="Arial"/>
                        </a:rPr>
                        <a:t>4</a:t>
                      </a:r>
                    </a:p>
                  </a:txBody>
                  <a:tcPr marL="64008" marR="64008" marT="27432" marB="27432" anchor="ctr">
                    <a:solidFill>
                      <a:srgbClr val="FFFFFF"/>
                    </a:solidFill>
                  </a:tcPr>
                </a:tc>
              </a:tr>
              <a:tr h="569214">
                <a:tc>
                  <a:txBody>
                    <a:bodyPr wrap="square"/>
                    <a:lstStyle/>
                    <a:p>
                      <a:r>
                        <a:rPr sz="1100" b="1">
                          <a:solidFill>
                            <a:srgbClr val="4B4B4B"/>
                          </a:solidFill>
                          <a:latin typeface="Arial"/>
                        </a:rPr>
                        <a:t>Accounting</a:t>
                      </a:r>
                    </a:p>
                  </a:txBody>
                  <a:tcPr marL="64008" marR="64008" marT="27432" marB="27432" anchor="ctr">
                    <a:solidFill>
                      <a:srgbClr val="E5F5FF"/>
                    </a:solidFill>
                  </a:tcPr>
                </a:tc>
                <a:tc>
                  <a:txBody>
                    <a:bodyPr wrap="square"/>
                    <a:lstStyle/>
                    <a:p>
                      <a:r>
                        <a:rPr sz="1100" b="0">
                          <a:solidFill>
                            <a:srgbClr val="4B4B4B"/>
                          </a:solidFill>
                          <a:latin typeface="Arial"/>
                        </a:rPr>
                        <a:t>Debit Cash in Bank, credit the insurer directly; profit and cost centres; 2% WHT certificates</a:t>
                      </a:r>
                    </a:p>
                  </a:txBody>
                  <a:tcPr marL="64008" marR="64008" marT="27432" marB="27432" anchor="ctr">
                    <a:solidFill>
                      <a:srgbClr val="E5F5FF"/>
                    </a:solidFill>
                  </a:tcPr>
                </a:tc>
                <a:tc>
                  <a:txBody>
                    <a:bodyPr wrap="square"/>
                    <a:lstStyle/>
                    <a:p>
                      <a:r>
                        <a:rPr sz="1100" b="0">
                          <a:solidFill>
                            <a:srgbClr val="4B4B4B"/>
                          </a:solidFill>
                          <a:latin typeface="Arial"/>
                        </a:rPr>
                        <a:t>DS-05, FN-01, TX-03</a:t>
                      </a:r>
                    </a:p>
                  </a:txBody>
                  <a:tcPr marL="64008" marR="64008" marT="27432" marB="27432" anchor="ctr">
                    <a:solidFill>
                      <a:srgbClr val="E5F5FF"/>
                    </a:solidFill>
                  </a:tcPr>
                </a:tc>
                <a:tc>
                  <a:txBody>
                    <a:bodyPr wrap="square"/>
                    <a:lstStyle/>
                    <a:p>
                      <a:r>
                        <a:rPr sz="1100" b="0">
                          <a:solidFill>
                            <a:srgbClr val="4B4B4B"/>
                          </a:solidFill>
                          <a:latin typeface="Arial"/>
                        </a:rPr>
                        <a:t>8</a:t>
                      </a:r>
                    </a:p>
                  </a:txBody>
                  <a:tcPr marL="64008" marR="64008" marT="27432" marB="27432" anchor="ctr">
                    <a:solidFill>
                      <a:srgbClr val="E5F5FF"/>
                    </a:solidFill>
                  </a:tcPr>
                </a:tc>
              </a:tr>
              <a:tr h="569214">
                <a:tc>
                  <a:txBody>
                    <a:bodyPr wrap="square"/>
                    <a:lstStyle/>
                    <a:p>
                      <a:r>
                        <a:rPr sz="1100" b="1">
                          <a:solidFill>
                            <a:srgbClr val="4B4B4B"/>
                          </a:solidFill>
                          <a:latin typeface="Arial"/>
                        </a:rPr>
                        <a:t>Reconciliation</a:t>
                      </a:r>
                    </a:p>
                  </a:txBody>
                  <a:tcPr marL="64008" marR="64008" marT="27432" marB="27432" anchor="ctr">
                    <a:solidFill>
                      <a:srgbClr val="FFFFFF"/>
                    </a:solidFill>
                  </a:tcPr>
                </a:tc>
                <a:tc>
                  <a:txBody>
                    <a:bodyPr wrap="square"/>
                    <a:lstStyle/>
                    <a:p>
                      <a:r>
                        <a:rPr sz="1100" b="0">
                          <a:solidFill>
                            <a:srgbClr val="4B4B4B"/>
                          </a:solidFill>
                          <a:latin typeface="Arial"/>
                        </a:rPr>
                        <a:t>Insurer reconciliation account-wise</a:t>
                      </a:r>
                    </a:p>
                  </a:txBody>
                  <a:tcPr marL="64008" marR="64008" marT="27432" marB="27432" anchor="ctr">
                    <a:solidFill>
                      <a:srgbClr val="FFFFFF"/>
                    </a:solidFill>
                  </a:tcPr>
                </a:tc>
                <a:tc>
                  <a:txBody>
                    <a:bodyPr wrap="square"/>
                    <a:lstStyle/>
                    <a:p>
                      <a:r>
                        <a:rPr sz="1100" b="0">
                          <a:solidFill>
                            <a:srgbClr val="4B4B4B"/>
                          </a:solidFill>
                          <a:latin typeface="Arial"/>
                        </a:rPr>
                        <a:t>RC-02</a:t>
                      </a:r>
                    </a:p>
                  </a:txBody>
                  <a:tcPr marL="64008" marR="64008" marT="27432" marB="27432" anchor="ctr">
                    <a:solidFill>
                      <a:srgbClr val="FFFFFF"/>
                    </a:solidFill>
                  </a:tcPr>
                </a:tc>
                <a:tc>
                  <a:txBody>
                    <a:bodyPr wrap="square"/>
                    <a:lstStyle/>
                    <a:p>
                      <a:r>
                        <a:rPr sz="1100" b="0">
                          <a:solidFill>
                            <a:srgbClr val="4B4B4B"/>
                          </a:solidFill>
                          <a:latin typeface="Arial"/>
                        </a:rPr>
                        <a:t>8</a:t>
                      </a:r>
                    </a:p>
                  </a:txBody>
                  <a:tcPr marL="64008" marR="64008" marT="27432" marB="27432" anchor="ctr">
                    <a:solidFill>
                      <a:srgbClr val="FFFFFF"/>
                    </a:solidFill>
                  </a:tcPr>
                </a:tc>
              </a:tr>
              <a:tr h="569214">
                <a:tc>
                  <a:txBody>
                    <a:bodyPr wrap="square"/>
                    <a:lstStyle/>
                    <a:p>
                      <a:r>
                        <a:rPr sz="1100" b="1">
                          <a:solidFill>
                            <a:srgbClr val="4B4B4B"/>
                          </a:solidFill>
                          <a:latin typeface="Arial"/>
                        </a:rPr>
                        <a:t>Other income</a:t>
                      </a:r>
                    </a:p>
                  </a:txBody>
                  <a:tcPr marL="64008" marR="64008" marT="27432" marB="27432" anchor="ctr">
                    <a:solidFill>
                      <a:srgbClr val="E5F5FF"/>
                    </a:solidFill>
                  </a:tcPr>
                </a:tc>
                <a:tc>
                  <a:txBody>
                    <a:bodyPr wrap="square"/>
                    <a:lstStyle/>
                    <a:p>
                      <a:r>
                        <a:rPr sz="1100" b="0">
                          <a:solidFill>
                            <a:srgbClr val="4B4B4B"/>
                          </a:solidFill>
                          <a:latin typeface="Arial"/>
                        </a:rPr>
                        <a:t>Other income registered through invoicing</a:t>
                      </a:r>
                    </a:p>
                  </a:txBody>
                  <a:tcPr marL="64008" marR="64008" marT="27432" marB="27432" anchor="ctr">
                    <a:solidFill>
                      <a:srgbClr val="E5F5FF"/>
                    </a:solidFill>
                  </a:tcPr>
                </a:tc>
                <a:tc>
                  <a:txBody>
                    <a:bodyPr wrap="square"/>
                    <a:lstStyle/>
                    <a:p>
                      <a:r>
                        <a:rPr sz="1100" b="0">
                          <a:solidFill>
                            <a:srgbClr val="4B4B4B"/>
                          </a:solidFill>
                          <a:latin typeface="Arial"/>
                        </a:rPr>
                        <a:t>OI-01</a:t>
                      </a:r>
                    </a:p>
                  </a:txBody>
                  <a:tcPr marL="64008" marR="64008" marT="27432" marB="27432" anchor="ctr">
                    <a:solidFill>
                      <a:srgbClr val="E5F5FF"/>
                    </a:solidFill>
                  </a:tcPr>
                </a:tc>
                <a:tc>
                  <a:txBody>
                    <a:bodyPr wrap="square"/>
                    <a:lstStyle/>
                    <a:p>
                      <a:r>
                        <a:rPr sz="1100" b="0">
                          <a:solidFill>
                            <a:srgbClr val="4B4B4B"/>
                          </a:solidFill>
                          <a:latin typeface="Arial"/>
                        </a:rPr>
                        <a:t>8</a:t>
                      </a:r>
                    </a:p>
                  </a:txBody>
                  <a:tcPr marL="64008" marR="64008" marT="27432" marB="27432" anchor="ctr">
                    <a:solidFill>
                      <a:srgbClr val="E5F5FF"/>
                    </a:solidFill>
                  </a:tcPr>
                </a:tc>
              </a:tr>
              <a:tr h="569214">
                <a:tc>
                  <a:txBody>
                    <a:bodyPr wrap="square"/>
                    <a:lstStyle/>
                    <a:p>
                      <a:r>
                        <a:rPr sz="1100" b="1">
                          <a:solidFill>
                            <a:srgbClr val="4B4B4B"/>
                          </a:solidFill>
                          <a:latin typeface="Arial"/>
                        </a:rPr>
                        <a:t>Reports</a:t>
                      </a:r>
                    </a:p>
                  </a:txBody>
                  <a:tcPr marL="64008" marR="64008" marT="27432" marB="27432" anchor="ctr">
                    <a:solidFill>
                      <a:srgbClr val="FFFFFF"/>
                    </a:solidFill>
                  </a:tcPr>
                </a:tc>
                <a:tc>
                  <a:txBody>
                    <a:bodyPr wrap="square"/>
                    <a:lstStyle/>
                    <a:p>
                      <a:r>
                        <a:rPr sz="1100" b="0">
                          <a:solidFill>
                            <a:srgbClr val="4B4B4B"/>
                          </a:solidFill>
                          <a:latin typeface="Arial"/>
                        </a:rPr>
                        <a:t>Business units run reports themselves</a:t>
                      </a:r>
                    </a:p>
                  </a:txBody>
                  <a:tcPr marL="64008" marR="64008" marT="27432" marB="27432" anchor="ctr">
                    <a:solidFill>
                      <a:srgbClr val="FFFFFF"/>
                    </a:solidFill>
                  </a:tcPr>
                </a:tc>
                <a:tc>
                  <a:txBody>
                    <a:bodyPr wrap="square"/>
                    <a:lstStyle/>
                    <a:p>
                      <a:r>
                        <a:rPr sz="1100" b="0">
                          <a:solidFill>
                            <a:srgbClr val="4B4B4B"/>
                          </a:solidFill>
                          <a:latin typeface="Arial"/>
                        </a:rPr>
                        <a:t>RP-01</a:t>
                      </a:r>
                    </a:p>
                  </a:txBody>
                  <a:tcPr marL="64008" marR="64008" marT="27432" marB="27432" anchor="ctr">
                    <a:solidFill>
                      <a:srgbClr val="FFFFFF"/>
                    </a:solidFill>
                  </a:tcPr>
                </a:tc>
                <a:tc>
                  <a:txBody>
                    <a:bodyPr wrap="square"/>
                    <a:lstStyle/>
                    <a:p>
                      <a:r>
                        <a:rPr sz="1100" b="0">
                          <a:solidFill>
                            <a:srgbClr val="4B4B4B"/>
                          </a:solidFill>
                          <a:latin typeface="Arial"/>
                        </a:rPr>
                        <a:t>All</a:t>
                      </a:r>
                    </a:p>
                  </a:txBody>
                  <a:tcPr marL="64008" marR="64008" marT="27432" marB="27432" anchor="ctr">
                    <a:solidFill>
                      <a:srgbClr val="FFFFFF"/>
                    </a:solidFill>
                  </a:tcPr>
                </a:tc>
              </a:tr>
              <a:tr h="569214">
                <a:tc>
                  <a:txBody>
                    <a:bodyPr wrap="square"/>
                    <a:lstStyle/>
                    <a:p>
                      <a:r>
                        <a:rPr sz="1100" b="1">
                          <a:solidFill>
                            <a:srgbClr val="4B4B4B"/>
                          </a:solidFill>
                          <a:latin typeface="Arial"/>
                        </a:rPr>
                        <a:t>Claims</a:t>
                      </a:r>
                    </a:p>
                  </a:txBody>
                  <a:tcPr marL="64008" marR="64008" marT="27432" marB="27432" anchor="ctr">
                    <a:solidFill>
                      <a:srgbClr val="E5F5FF"/>
                    </a:solidFill>
                  </a:tcPr>
                </a:tc>
                <a:tc>
                  <a:txBody>
                    <a:bodyPr wrap="square"/>
                    <a:lstStyle/>
                    <a:p>
                      <a:r>
                        <a:rPr sz="1100" b="0">
                          <a:solidFill>
                            <a:srgbClr val="4B4B4B"/>
                          </a:solidFill>
                          <a:latin typeface="Arial"/>
                        </a:rPr>
                        <a:t>Claims in a system, linked to the policy</a:t>
                      </a:r>
                    </a:p>
                  </a:txBody>
                  <a:tcPr marL="64008" marR="64008" marT="27432" marB="27432" anchor="ctr">
                    <a:solidFill>
                      <a:srgbClr val="E5F5FF"/>
                    </a:solidFill>
                  </a:tcPr>
                </a:tc>
                <a:tc>
                  <a:txBody>
                    <a:bodyPr wrap="square"/>
                    <a:lstStyle/>
                    <a:p>
                      <a:r>
                        <a:rPr sz="1100" b="0">
                          <a:solidFill>
                            <a:srgbClr val="4B4B4B"/>
                          </a:solidFill>
                          <a:latin typeface="Arial"/>
                        </a:rPr>
                        <a:t>CL-01; Day 1 p.8</a:t>
                      </a:r>
                    </a:p>
                  </a:txBody>
                  <a:tcPr marL="64008" marR="64008" marT="27432" marB="27432" anchor="ctr">
                    <a:solidFill>
                      <a:srgbClr val="E5F5FF"/>
                    </a:solidFill>
                  </a:tcPr>
                </a:tc>
                <a:tc>
                  <a:txBody>
                    <a:bodyPr wrap="square"/>
                    <a:lstStyle/>
                    <a:p>
                      <a:r>
                        <a:rPr sz="1100" b="0">
                          <a:solidFill>
                            <a:srgbClr val="4B4B4B"/>
                          </a:solidFill>
                          <a:latin typeface="Arial"/>
                        </a:rPr>
                        <a:t>9</a:t>
                      </a:r>
                    </a:p>
                  </a:txBody>
                  <a:tcPr marL="64008" marR="64008" marT="27432" marB="27432" anchor="ctr">
                    <a:solidFill>
                      <a:srgbClr val="E5F5FF"/>
                    </a:solidFill>
                  </a:tcPr>
                </a:tc>
              </a:tr>
              <a:tr h="569214">
                <a:tc>
                  <a:txBody>
                    <a:bodyPr wrap="square"/>
                    <a:lstStyle/>
                    <a:p>
                      <a:r>
                        <a:rPr sz="1100" b="1">
                          <a:solidFill>
                            <a:srgbClr val="4B4B4B"/>
                          </a:solidFill>
                          <a:latin typeface="Arial"/>
                        </a:rPr>
                        <a:t>Case management</a:t>
                      </a:r>
                    </a:p>
                  </a:txBody>
                  <a:tcPr marL="64008" marR="64008" marT="27432" marB="27432" anchor="ctr">
                    <a:solidFill>
                      <a:srgbClr val="FFFFFF"/>
                    </a:solidFill>
                  </a:tcPr>
                </a:tc>
                <a:tc>
                  <a:txBody>
                    <a:bodyPr wrap="square"/>
                    <a:lstStyle/>
                    <a:p>
                      <a:r>
                        <a:rPr sz="1100" b="0">
                          <a:solidFill>
                            <a:srgbClr val="4B4B4B"/>
                          </a:solidFill>
                          <a:latin typeface="Arial"/>
                        </a:rPr>
                        <a:t>Cases routed to the account's unit, TAT visible (BDOI's To-Be)</a:t>
                      </a:r>
                    </a:p>
                  </a:txBody>
                  <a:tcPr marL="64008" marR="64008" marT="27432" marB="27432" anchor="ctr">
                    <a:solidFill>
                      <a:srgbClr val="FFFFFF"/>
                    </a:solidFill>
                  </a:tcPr>
                </a:tc>
                <a:tc>
                  <a:txBody>
                    <a:bodyPr wrap="square"/>
                    <a:lstStyle/>
                    <a:p>
                      <a:r>
                        <a:rPr sz="1100" b="0">
                          <a:solidFill>
                            <a:srgbClr val="4B4B4B"/>
                          </a:solidFill>
                          <a:latin typeface="Arial"/>
                        </a:rPr>
                        <a:t>Case Management flow</a:t>
                      </a:r>
                    </a:p>
                  </a:txBody>
                  <a:tcPr marL="64008" marR="64008" marT="27432" marB="27432" anchor="ctr">
                    <a:solidFill>
                      <a:srgbClr val="FFFFFF"/>
                    </a:solidFill>
                  </a:tcPr>
                </a:tc>
                <a:tc>
                  <a:txBody>
                    <a:bodyPr wrap="square"/>
                    <a:lstStyle/>
                    <a:p>
                      <a:r>
                        <a:rPr sz="1100" b="0">
                          <a:solidFill>
                            <a:srgbClr val="4B4B4B"/>
                          </a:solidFill>
                          <a:latin typeface="Arial"/>
                        </a:rPr>
                        <a:t>10</a:t>
                      </a:r>
                    </a:p>
                  </a:txBody>
                  <a:tcPr marL="64008" marR="64008" marT="27432" marB="27432" anchor="ctr">
                    <a:solidFill>
                      <a:srgbClr val="FFFFFF"/>
                    </a:solidFill>
                  </a:tcPr>
                </a:tc>
              </a:tr>
              <a:tr h="569214">
                <a:tc>
                  <a:txBody>
                    <a:bodyPr wrap="square"/>
                    <a:lstStyle/>
                    <a:p>
                      <a:r>
                        <a:rPr sz="1100" b="1">
                          <a:solidFill>
                            <a:srgbClr val="4B4B4B"/>
                          </a:solidFill>
                          <a:latin typeface="Arial"/>
                        </a:rPr>
                        <a:t>E-signature</a:t>
                      </a:r>
                    </a:p>
                  </a:txBody>
                  <a:tcPr marL="64008" marR="64008" marT="27432" marB="27432" anchor="ctr">
                    <a:solidFill>
                      <a:srgbClr val="E5F5FF"/>
                    </a:solidFill>
                  </a:tcPr>
                </a:tc>
                <a:tc>
                  <a:txBody>
                    <a:bodyPr wrap="square"/>
                    <a:lstStyle/>
                    <a:p>
                      <a:r>
                        <a:rPr sz="1100" b="0">
                          <a:solidFill>
                            <a:srgbClr val="4B4B4B"/>
                          </a:solidFill>
                          <a:latin typeface="Arial"/>
                        </a:rPr>
                        <a:t>E-signature, to check with Legal and Compliance</a:t>
                      </a:r>
                    </a:p>
                  </a:txBody>
                  <a:tcPr marL="64008" marR="64008" marT="27432" marB="27432" anchor="ctr">
                    <a:solidFill>
                      <a:srgbClr val="E5F5FF"/>
                    </a:solidFill>
                  </a:tcPr>
                </a:tc>
                <a:tc>
                  <a:txBody>
                    <a:bodyPr wrap="square"/>
                    <a:lstStyle/>
                    <a:p>
                      <a:r>
                        <a:rPr sz="1100" b="0">
                          <a:solidFill>
                            <a:srgbClr val="4B4B4B"/>
                          </a:solidFill>
                          <a:latin typeface="Arial"/>
                        </a:rPr>
                        <a:t>CP-01</a:t>
                      </a:r>
                    </a:p>
                  </a:txBody>
                  <a:tcPr marL="64008" marR="64008" marT="27432" marB="27432" anchor="ctr">
                    <a:solidFill>
                      <a:srgbClr val="E5F5FF"/>
                    </a:solidFill>
                  </a:tcPr>
                </a:tc>
                <a:tc>
                  <a:txBody>
                    <a:bodyPr wrap="square"/>
                    <a:lstStyle/>
                    <a:p>
                      <a:r>
                        <a:rPr sz="1100" b="0">
                          <a:solidFill>
                            <a:srgbClr val="4B4B4B"/>
                          </a:solidFill>
                          <a:latin typeface="Arial"/>
                        </a:rPr>
                        <a:t>All</a:t>
                      </a:r>
                    </a:p>
                  </a:txBody>
                  <a:tcPr marL="64008" marR="64008" marT="27432" marB="27432" anchor="ctr">
                    <a:solidFill>
                      <a:srgbClr val="E5F5FF"/>
                    </a:solidFill>
                  </a:tcPr>
                </a:tc>
              </a:tr>
            </a:tbl>
          </a:graphicData>
        </a:graphic>
      </p:graphicFrame>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A</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Marketing and Sales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New business, renewal, submitted policies and employee benefits: the front office and its hand-off to Processing</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  </a:t>
            </a:r>
            <a:r>
              <a:rPr sz="1500" b="1">
                <a:solidFill>
                  <a:srgbClr val="FFFFFF"/>
                </a:solidFill>
                <a:latin typeface="Arial"/>
              </a:rPr>
              <a:t>New Business</a:t>
            </a:r>
            <a:r>
              <a:rPr sz="1500" b="0">
                <a:solidFill>
                  <a:srgbClr val="99C1E7"/>
                </a:solidFill>
                <a:latin typeface="Arial"/>
              </a:rPr>
              <a:t>   Marketing (CBG, Non-CBG Retail, Corporate, Branches) and Processing (Placement and Booking)</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2.  </a:t>
            </a:r>
            <a:r>
              <a:rPr sz="1500" b="1">
                <a:solidFill>
                  <a:srgbClr val="FFFFFF"/>
                </a:solidFill>
                <a:latin typeface="Arial"/>
              </a:rPr>
              <a:t>Renewal</a:t>
            </a:r>
            <a:r>
              <a:rPr sz="1500" b="0">
                <a:solidFill>
                  <a:srgbClr val="99C1E7"/>
                </a:solidFill>
                <a:latin typeface="Arial"/>
              </a:rPr>
              <a:t>   Marketing (renewal AOs, Marketing Admin) and Processing (renewal sanitation and placement)</a:t>
            </a:r>
          </a:p>
        </p:txBody>
      </p:sp>
      <p:sp>
        <p:nvSpPr>
          <p:cNvPr id="9" name="TextBox 8"/>
          <p:cNvSpPr txBox="1"/>
          <p:nvPr/>
        </p:nvSpPr>
        <p:spPr>
          <a:xfrm>
            <a:off x="548640" y="4745735"/>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3.  </a:t>
            </a:r>
            <a:r>
              <a:rPr sz="1500" b="1">
                <a:solidFill>
                  <a:srgbClr val="FFFFFF"/>
                </a:solidFill>
                <a:latin typeface="Arial"/>
              </a:rPr>
              <a:t>Submitted Policies</a:t>
            </a:r>
            <a:r>
              <a:rPr sz="1500" b="0">
                <a:solidFill>
                  <a:srgbClr val="99C1E7"/>
                </a:solidFill>
                <a:latin typeface="Arial"/>
              </a:rPr>
              <a:t>   CBG and Non-CBG Marketing - Submitted Policies</a:t>
            </a:r>
          </a:p>
        </p:txBody>
      </p:sp>
      <p:sp>
        <p:nvSpPr>
          <p:cNvPr id="10" name="TextBox 9"/>
          <p:cNvSpPr txBox="1"/>
          <p:nvPr/>
        </p:nvSpPr>
        <p:spPr>
          <a:xfrm>
            <a:off x="548640" y="5129783"/>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4.  </a:t>
            </a:r>
            <a:r>
              <a:rPr sz="1500" b="1">
                <a:solidFill>
                  <a:srgbClr val="FFFFFF"/>
                </a:solidFill>
                <a:latin typeface="Arial"/>
              </a:rPr>
              <a:t>Employee Benefits</a:t>
            </a:r>
            <a:r>
              <a:rPr sz="1500" b="0">
                <a:solidFill>
                  <a:srgbClr val="99C1E7"/>
                </a:solidFill>
                <a:latin typeface="Arial"/>
              </a:rPr>
              <a:t>   Employee Benefits: Marketing, Processing and Collection</a:t>
            </a:r>
          </a:p>
        </p:txBody>
      </p:sp>
      <p:sp>
        <p:nvSpPr>
          <p:cNvPr id="11" name="TextBox 10"/>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(CBG, Non-CBG Retail, Corporate, Branches) and Processing (Placement and Booking)</a:t>
            </a:r>
          </a:p>
          <a:p>
            <a:pPr>
              <a:spcAft>
                <a:spcPts val="300"/>
              </a:spcAft>
            </a:pPr>
            <a:r>
              <a:rPr sz="1200" b="0">
                <a:solidFill>
                  <a:srgbClr val="004EA8"/>
                </a:solidFill>
                <a:latin typeface="Arial"/>
              </a:rPr>
              <a:t>•  </a:t>
            </a:r>
            <a:r>
              <a:rPr sz="1200" b="0">
                <a:solidFill>
                  <a:srgbClr val="4B4B4B"/>
                </a:solidFill>
                <a:latin typeface="Arial"/>
              </a:rPr>
              <a:t>Marketing AO, TL, TH, UH per segment; Marketing Account Support (Combank)</a:t>
            </a:r>
          </a:p>
          <a:p>
            <a:pPr>
              <a:spcAft>
                <a:spcPts val="300"/>
              </a:spcAft>
            </a:pPr>
            <a:r>
              <a:rPr sz="1200" b="0">
                <a:solidFill>
                  <a:srgbClr val="004EA8"/>
                </a:solidFill>
                <a:latin typeface="Arial"/>
              </a:rPr>
              <a:t>•  </a:t>
            </a:r>
            <a:r>
              <a:rPr sz="1200" b="0">
                <a:solidFill>
                  <a:srgbClr val="4B4B4B"/>
                </a:solidFill>
                <a:latin typeface="Arial"/>
              </a:rPr>
              <a:t>TSU (non-package proposals; see chapter 5)</a:t>
            </a:r>
          </a:p>
          <a:p>
            <a:pPr>
              <a:spcAft>
                <a:spcPts val="300"/>
              </a:spcAft>
            </a:pPr>
            <a:r>
              <a:rPr sz="1200" b="0">
                <a:solidFill>
                  <a:srgbClr val="004EA8"/>
                </a:solidFill>
                <a:latin typeface="Arial"/>
              </a:rPr>
              <a:t>•  </a:t>
            </a:r>
            <a:r>
              <a:rPr sz="1200" b="0">
                <a:solidFill>
                  <a:srgbClr val="4B4B4B"/>
                </a:solidFill>
                <a:latin typeface="Arial"/>
              </a:rPr>
              <a:t>Processing Team (client and account set-up), Processing Officer and TL (placement, booking)</a:t>
            </a:r>
          </a:p>
          <a:p>
            <a:pPr>
              <a:spcAft>
                <a:spcPts val="300"/>
              </a:spcAft>
            </a:pPr>
            <a:r>
              <a:rPr sz="1200" b="0">
                <a:solidFill>
                  <a:srgbClr val="004EA8"/>
                </a:solidFill>
                <a:latin typeface="Arial"/>
              </a:rPr>
              <a:t>•  </a:t>
            </a:r>
            <a:r>
              <a:rPr sz="1200" b="0">
                <a:solidFill>
                  <a:srgbClr val="4B4B4B"/>
                </a:solidFill>
                <a:latin typeface="Arial"/>
              </a:rPr>
              <a:t>IT (ISYS to QPS migration, e-policy batch, exception report); COG-OPRM (e-policy sending)</a:t>
            </a:r>
          </a:p>
          <a:p>
            <a:pPr>
              <a:spcAft>
                <a:spcPts val="300"/>
              </a:spcAft>
            </a:pPr>
            <a:r>
              <a:rPr sz="1200" b="0">
                <a:solidFill>
                  <a:srgbClr val="004EA8"/>
                </a:solidFill>
                <a:latin typeface="Arial"/>
              </a:rPr>
              <a:t>•  </a:t>
            </a:r>
            <a:r>
              <a:rPr sz="1200" b="0">
                <a:solidFill>
                  <a:srgbClr val="4B4B4B"/>
                </a:solidFill>
                <a:latin typeface="Arial"/>
              </a:rPr>
              <a:t>BDOI contact centre (e-policy after a fall-out); Adjustment Team (cancellations)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30 days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quote validity for every product, retail and corporate (NB-03)</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7 / 3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SLA for complex / normal corporate risks (NB-07)</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500M</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value above which a risk survey is required (NB-05)</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5 tools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for one deal: Excel templates, Broker, ISYS, QPS, EBIX (NB flow)</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(New Business 9-10 am; Placement and Booking 2-3:30 pm, 43F) and 25-Sep-2026</a:t>
            </a:r>
          </a:p>
          <a:p>
            <a:pPr>
              <a:spcAft>
                <a:spcPts val="400"/>
              </a:spcAft>
            </a:pPr>
            <a:r>
              <a:rPr sz="1100" b="1">
                <a:solidFill>
                  <a:srgbClr val="004EA8"/>
                </a:solidFill>
                <a:latin typeface="Arial"/>
              </a:rPr>
              <a:t>Process owners: </a:t>
            </a:r>
            <a:r>
              <a:rPr sz="1100" b="0">
                <a:solidFill>
                  <a:srgbClr val="4B4B4B"/>
                </a:solidFill>
                <a:latin typeface="Arial"/>
              </a:rPr>
              <a:t>Rose Lique, Marla Apostol, Grace Tordesillas, Kin Ysaac Flores, Justine Malonzo, Jhosven Awa and 9 more (floor-walk coverage slide)</a:t>
            </a:r>
          </a:p>
          <a:p>
            <a:pPr>
              <a:spcAft>
                <a:spcPts val="400"/>
              </a:spcAft>
            </a:pPr>
            <a:r>
              <a:rPr sz="1100" b="0">
                <a:solidFill>
                  <a:srgbClr val="004EA8"/>
                </a:solidFill>
                <a:latin typeface="Arial"/>
              </a:rPr>
              <a:t>•  </a:t>
            </a:r>
            <a:r>
              <a:rPr sz="1100" b="0">
                <a:solidFill>
                  <a:srgbClr val="4B4B4B"/>
                </a:solidFill>
                <a:latin typeface="Arial"/>
              </a:rPr>
              <a:t>New Business process flow (CBG Motor, CBG Fire, Non-CBG Corporate, Non-CBG Retail, Branches)</a:t>
            </a:r>
          </a:p>
          <a:p>
            <a:pPr>
              <a:spcAft>
                <a:spcPts val="400"/>
              </a:spcAft>
            </a:pPr>
            <a:r>
              <a:rPr sz="1100" b="0">
                <a:solidFill>
                  <a:srgbClr val="004EA8"/>
                </a:solidFill>
                <a:latin typeface="Arial"/>
              </a:rPr>
              <a:t>•  </a:t>
            </a:r>
            <a:r>
              <a:rPr sz="1100" b="0">
                <a:solidFill>
                  <a:srgbClr val="4B4B4B"/>
                </a:solidFill>
                <a:latin typeface="Arial"/>
              </a:rPr>
              <a:t>BDOI Day 1 overview p.11 and p.18</a:t>
            </a:r>
          </a:p>
          <a:p>
            <a:pPr>
              <a:spcAft>
                <a:spcPts val="400"/>
              </a:spcAft>
            </a:pPr>
            <a:r>
              <a:rPr sz="1100" b="0">
                <a:solidFill>
                  <a:srgbClr val="004EA8"/>
                </a:solidFill>
                <a:latin typeface="Arial"/>
              </a:rPr>
              <a:t>•  </a:t>
            </a:r>
            <a:r>
              <a:rPr sz="1100" b="0">
                <a:solidFill>
                  <a:srgbClr val="4B4B4B"/>
                </a:solidFill>
                <a:latin typeface="Arial"/>
              </a:rPr>
              <a:t>Floor-walk notes NB-01 to NB-15, DC-01, TR-01, TR-02</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Quotation</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Acceptance</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and account</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Migration</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E-policy</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we heard on the floor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NB-01</a:t>
                      </a:r>
                    </a:p>
                  </a:txBody>
                  <a:tcPr marL="64008" marR="64008" marT="27432" marB="27432" anchor="ctr">
                    <a:solidFill>
                      <a:srgbClr val="FFFFFF"/>
                    </a:solidFill>
                  </a:tcPr>
                </a:tc>
                <a:tc>
                  <a:txBody>
                    <a:bodyPr wrap="square"/>
                    <a:lstStyle/>
                    <a:p>
                      <a:r>
                        <a:rPr sz="1100" b="0">
                          <a:solidFill>
                            <a:srgbClr val="4B4B4B"/>
                          </a:solidFill>
                          <a:latin typeface="Arial"/>
                        </a:rPr>
                        <a:t>Routing</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Package goes quote to policy; non-package goes direct to policy issuance; some package products go straight to placement. On 25-Sep: the TSU step is for non-package only.</a:t>
                      </a:r>
                    </a:p>
                  </a:txBody>
                  <a:tcPr marL="64008" marR="64008" marT="27432" marB="27432" anchor="ctr">
                    <a:solidFill>
                      <a:srgbClr val="FFFFFF"/>
                    </a:solidFill>
                  </a:tcPr>
                </a:tc>
                <a:tc>
                  <a:txBody>
                    <a:bodyPr wrap="square"/>
                    <a:lstStyle/>
                    <a:p>
                      <a:r>
                        <a:rPr sz="1100" b="0">
                          <a:solidFill>
                            <a:srgbClr val="4B4B4B"/>
                          </a:solidFill>
                          <a:latin typeface="Arial"/>
                        </a:rPr>
                        <a:t>Confirm routing per product type.</a:t>
                      </a:r>
                    </a:p>
                  </a:txBody>
                  <a:tcPr marL="64008" marR="64008" marT="27432" marB="27432" anchor="ctr">
                    <a:solidFill>
                      <a:srgbClr val="FFFFFF"/>
                    </a:solidFill>
                  </a:tcPr>
                </a:tc>
              </a:tr>
              <a:tr h="758952">
                <a:tc>
                  <a:txBody>
                    <a:bodyPr wrap="square"/>
                    <a:lstStyle/>
                    <a:p>
                      <a:r>
                        <a:rPr sz="1100" b="1">
                          <a:solidFill>
                            <a:srgbClr val="4B4B4B"/>
                          </a:solidFill>
                          <a:latin typeface="Arial"/>
                        </a:rPr>
                        <a:t>NB-02</a:t>
                      </a:r>
                    </a:p>
                  </a:txBody>
                  <a:tcPr marL="64008" marR="64008" marT="27432" marB="27432" anchor="ctr">
                    <a:solidFill>
                      <a:srgbClr val="E5F5FF"/>
                    </a:solidFill>
                  </a:tcPr>
                </a:tc>
                <a:tc>
                  <a:txBody>
                    <a:bodyPr wrap="square"/>
                    <a:lstStyle/>
                    <a:p>
                      <a:r>
                        <a:rPr sz="1100" b="0">
                          <a:solidFill>
                            <a:srgbClr val="4B4B4B"/>
                          </a:solidFill>
                          <a:latin typeface="Arial"/>
                        </a:rPr>
                        <a:t>Premium confirmation</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Marketing shares the premium computation with the client; placement follows once the client confirms.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NB-03</a:t>
                      </a:r>
                    </a:p>
                  </a:txBody>
                  <a:tcPr marL="64008" marR="64008" marT="27432" marB="27432" anchor="ctr">
                    <a:solidFill>
                      <a:srgbClr val="FFFFFF"/>
                    </a:solidFill>
                  </a:tcPr>
                </a:tc>
                <a:tc>
                  <a:txBody>
                    <a:bodyPr wrap="square"/>
                    <a:lstStyle/>
                    <a:p>
                      <a:r>
                        <a:rPr sz="1100" b="0">
                          <a:solidFill>
                            <a:srgbClr val="4B4B4B"/>
                          </a:solidFill>
                          <a:latin typeface="Arial"/>
                        </a:rPr>
                        <a:t>Quote validity</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 quote is valid 30 days for all products, retail and corporate.</a:t>
                      </a:r>
                    </a:p>
                  </a:txBody>
                  <a:tcPr marL="64008" marR="64008" marT="27432" marB="27432" anchor="ctr">
                    <a:solidFill>
                      <a:srgbClr val="FFFFFF"/>
                    </a:solidFill>
                  </a:tcPr>
                </a:tc>
                <a:tc>
                  <a:txBody>
                    <a:bodyPr wrap="square"/>
                    <a:lstStyle/>
                    <a:p>
                      <a:r>
                        <a:rPr sz="1100" b="0">
                          <a:solidFill>
                            <a:srgbClr val="4B4B4B"/>
                          </a:solidFill>
                          <a:latin typeface="Arial"/>
                        </a:rPr>
                        <a:t>The system applies 30-day validity on every quote.</a:t>
                      </a:r>
                    </a:p>
                  </a:txBody>
                  <a:tcPr marL="64008" marR="64008" marT="27432" marB="27432" anchor="ctr">
                    <a:solidFill>
                      <a:srgbClr val="FFFFFF"/>
                    </a:solidFill>
                  </a:tcPr>
                </a:tc>
              </a:tr>
              <a:tr h="758952">
                <a:tc>
                  <a:txBody>
                    <a:bodyPr wrap="square"/>
                    <a:lstStyle/>
                    <a:p>
                      <a:r>
                        <a:rPr sz="1100" b="1">
                          <a:solidFill>
                            <a:srgbClr val="4B4B4B"/>
                          </a:solidFill>
                          <a:latin typeface="Arial"/>
                        </a:rPr>
                        <a:t>NB-04</a:t>
                      </a:r>
                    </a:p>
                  </a:txBody>
                  <a:tcPr marL="64008" marR="64008" marT="27432" marB="27432" anchor="ctr">
                    <a:solidFill>
                      <a:srgbClr val="E5F5FF"/>
                    </a:solidFill>
                  </a:tcPr>
                </a:tc>
                <a:tc>
                  <a:txBody>
                    <a:bodyPr wrap="square"/>
                    <a:lstStyle/>
                    <a:p>
                      <a:r>
                        <a:rPr sz="1100" b="0">
                          <a:solidFill>
                            <a:srgbClr val="4B4B4B"/>
                          </a:solidFill>
                          <a:latin typeface="Arial"/>
                        </a:rPr>
                        <a:t>KYC, AMLA</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Insurance declaration form and KYC done outside the system, for every new customer; then the AMLA check.</a:t>
                      </a:r>
                    </a:p>
                  </a:txBody>
                  <a:tcPr marL="64008" marR="64008" marT="27432" marB="27432" anchor="ctr">
                    <a:solidFill>
                      <a:srgbClr val="E5F5FF"/>
                    </a:solidFill>
                  </a:tcPr>
                </a:tc>
                <a:tc>
                  <a:txBody>
                    <a:bodyPr wrap="square"/>
                    <a:lstStyle/>
                    <a:p>
                      <a:r>
                        <a:rPr sz="1100" b="0">
                          <a:solidFill>
                            <a:srgbClr val="4B4B4B"/>
                          </a:solidFill>
                          <a:latin typeface="Arial"/>
                        </a:rPr>
                        <a:t>Confirm whether KYC and AMLA come into the system.</a:t>
                      </a:r>
                    </a:p>
                  </a:txBody>
                  <a:tcPr marL="64008" marR="64008" marT="27432" marB="27432" anchor="ctr">
                    <a:solidFill>
                      <a:srgbClr val="E5F5FF"/>
                    </a:solidFill>
                  </a:tcPr>
                </a:tc>
              </a:tr>
              <a:tr h="758952">
                <a:tc>
                  <a:txBody>
                    <a:bodyPr wrap="square"/>
                    <a:lstStyle/>
                    <a:p>
                      <a:r>
                        <a:rPr sz="1100" b="1">
                          <a:solidFill>
                            <a:srgbClr val="4B4B4B"/>
                          </a:solidFill>
                          <a:latin typeface="Arial"/>
                        </a:rPr>
                        <a:t>NB-05</a:t>
                      </a:r>
                    </a:p>
                  </a:txBody>
                  <a:tcPr marL="64008" marR="64008" marT="27432" marB="27432" anchor="ctr">
                    <a:solidFill>
                      <a:srgbClr val="FFFFFF"/>
                    </a:solidFill>
                  </a:tcPr>
                </a:tc>
                <a:tc>
                  <a:txBody>
                    <a:bodyPr wrap="square"/>
                    <a:lstStyle/>
                    <a:p>
                      <a:r>
                        <a:rPr sz="1100" b="0">
                          <a:solidFill>
                            <a:srgbClr val="4B4B4B"/>
                          </a:solidFill>
                          <a:latin typeface="Arial"/>
                        </a:rPr>
                        <a:t>Risk survey</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 risk survey is required above 500M.</a:t>
                      </a:r>
                    </a:p>
                  </a:txBody>
                  <a:tcPr marL="64008" marR="64008" marT="27432" marB="27432" anchor="ctr">
                    <a:solidFill>
                      <a:srgbClr val="FFFFFF"/>
                    </a:solidFill>
                  </a:tcPr>
                </a:tc>
                <a:tc>
                  <a:txBody>
                    <a:bodyPr wrap="square"/>
                    <a:lstStyle/>
                    <a:p>
                      <a:r>
                        <a:rPr sz="1100" b="0">
                          <a:solidFill>
                            <a:srgbClr val="4B4B4B"/>
                          </a:solidFill>
                          <a:latin typeface="Arial"/>
                        </a:rPr>
                        <a:t>Confirm the basis (sum insured? PHP?).</a:t>
                      </a:r>
                    </a:p>
                  </a:txBody>
                  <a:tcPr marL="64008" marR="64008" marT="27432" marB="27432" anchor="ctr">
                    <a:solidFill>
                      <a:srgbClr val="FFFFFF"/>
                    </a:solidFill>
                  </a:tcPr>
                </a:tc>
              </a:tr>
              <a:tr h="758952">
                <a:tc>
                  <a:txBody>
                    <a:bodyPr wrap="square"/>
                    <a:lstStyle/>
                    <a:p>
                      <a:r>
                        <a:rPr sz="1100" b="1">
                          <a:solidFill>
                            <a:srgbClr val="4B4B4B"/>
                          </a:solidFill>
                          <a:latin typeface="Arial"/>
                        </a:rPr>
                        <a:t>NB-06</a:t>
                      </a:r>
                    </a:p>
                  </a:txBody>
                  <a:tcPr marL="64008" marR="64008" marT="27432" marB="27432" anchor="ctr">
                    <a:solidFill>
                      <a:srgbClr val="E5F5FF"/>
                    </a:solidFill>
                  </a:tcPr>
                </a:tc>
                <a:tc>
                  <a:txBody>
                    <a:bodyPr wrap="square"/>
                    <a:lstStyle/>
                    <a:p>
                      <a:r>
                        <a:rPr sz="1100" b="0">
                          <a:solidFill>
                            <a:srgbClr val="4B4B4B"/>
                          </a:solidFill>
                          <a:latin typeface="Arial"/>
                        </a:rPr>
                        <a:t>Quote to insurer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Non-life lines (Motor, Property, Marine): the quote request goes to the insurer with recommended terms.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we heard on the floor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NB-07</a:t>
                      </a:r>
                    </a:p>
                  </a:txBody>
                  <a:tcPr marL="64008" marR="64008" marT="27432" marB="27432" anchor="ctr">
                    <a:solidFill>
                      <a:srgbClr val="FFFFFF"/>
                    </a:solidFill>
                  </a:tcPr>
                </a:tc>
                <a:tc>
                  <a:txBody>
                    <a:bodyPr wrap="square"/>
                    <a:lstStyle/>
                    <a:p>
                      <a:r>
                        <a:rPr sz="1100" b="0">
                          <a:solidFill>
                            <a:srgbClr val="4B4B4B"/>
                          </a:solidFill>
                          <a:latin typeface="Arial"/>
                        </a:rPr>
                        <a:t>SLA</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Complex risk 7 days, normal risk 3 days.</a:t>
                      </a:r>
                    </a:p>
                  </a:txBody>
                  <a:tcPr marL="64008" marR="64008" marT="27432" marB="27432" anchor="ctr">
                    <a:solidFill>
                      <a:srgbClr val="FFFFFF"/>
                    </a:solidFill>
                  </a:tcPr>
                </a:tc>
                <a:tc>
                  <a:txBody>
                    <a:bodyPr wrap="square"/>
                    <a:lstStyle/>
                    <a:p>
                      <a:r>
                        <a:rPr sz="1100" b="0">
                          <a:solidFill>
                            <a:srgbClr val="4B4B4B"/>
                          </a:solidFill>
                          <a:latin typeface="Arial"/>
                        </a:rPr>
                        <a:t>SLA tracking available.</a:t>
                      </a:r>
                    </a:p>
                  </a:txBody>
                  <a:tcPr marL="64008" marR="64008" marT="27432" marB="27432" anchor="ctr">
                    <a:solidFill>
                      <a:srgbClr val="FFFFFF"/>
                    </a:solidFill>
                  </a:tcPr>
                </a:tc>
              </a:tr>
              <a:tr h="758952">
                <a:tc>
                  <a:txBody>
                    <a:bodyPr wrap="square"/>
                    <a:lstStyle/>
                    <a:p>
                      <a:r>
                        <a:rPr sz="1100" b="1">
                          <a:solidFill>
                            <a:srgbClr val="4B4B4B"/>
                          </a:solidFill>
                          <a:latin typeface="Arial"/>
                        </a:rPr>
                        <a:t>NB-08</a:t>
                      </a:r>
                    </a:p>
                  </a:txBody>
                  <a:tcPr marL="64008" marR="64008" marT="27432" marB="27432" anchor="ctr">
                    <a:solidFill>
                      <a:srgbClr val="E5F5FF"/>
                    </a:solidFill>
                  </a:tcPr>
                </a:tc>
                <a:tc>
                  <a:txBody>
                    <a:bodyPr wrap="square"/>
                    <a:lstStyle/>
                    <a:p>
                      <a:r>
                        <a:rPr sz="1100" b="0">
                          <a:solidFill>
                            <a:srgbClr val="4B4B4B"/>
                          </a:solidFill>
                          <a:latin typeface="Arial"/>
                        </a:rPr>
                        <a:t>TSU step</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Non-package: TSU before the quotation; after acceptance to the Placement team.</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NB-09</a:t>
                      </a:r>
                    </a:p>
                  </a:txBody>
                  <a:tcPr marL="64008" marR="64008" marT="27432" marB="27432" anchor="ctr">
                    <a:solidFill>
                      <a:srgbClr val="FFFFFF"/>
                    </a:solidFill>
                  </a:tcPr>
                </a:tc>
                <a:tc>
                  <a:txBody>
                    <a:bodyPr wrap="square"/>
                    <a:lstStyle/>
                    <a:p>
                      <a:r>
                        <a:rPr sz="1100" b="0">
                          <a:solidFill>
                            <a:srgbClr val="4B4B4B"/>
                          </a:solidFill>
                          <a:latin typeface="Arial"/>
                        </a:rPr>
                        <a:t>Package flow</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Client created in Broker, proposal in EBIX, then QPS for the package policy: one deal keyed in three systems.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NB-10</a:t>
                      </a:r>
                    </a:p>
                  </a:txBody>
                  <a:tcPr marL="64008" marR="64008" marT="27432" marB="27432" anchor="ctr">
                    <a:solidFill>
                      <a:srgbClr val="E5F5FF"/>
                    </a:solidFill>
                  </a:tcPr>
                </a:tc>
                <a:tc>
                  <a:txBody>
                    <a:bodyPr wrap="square"/>
                    <a:lstStyle/>
                    <a:p>
                      <a:r>
                        <a:rPr sz="1100" b="0">
                          <a:solidFill>
                            <a:srgbClr val="4B4B4B"/>
                          </a:solidFill>
                          <a:latin typeface="Arial"/>
                        </a:rPr>
                        <a:t>TOR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Terms of reference kept per product.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NB-11</a:t>
                      </a:r>
                    </a:p>
                  </a:txBody>
                  <a:tcPr marL="64008" marR="64008" marT="27432" marB="27432" anchor="ctr">
                    <a:solidFill>
                      <a:srgbClr val="FFFFFF"/>
                    </a:solidFill>
                  </a:tcPr>
                </a:tc>
                <a:tc>
                  <a:txBody>
                    <a:bodyPr wrap="square"/>
                    <a:lstStyle/>
                    <a:p>
                      <a:r>
                        <a:rPr sz="1100" b="0">
                          <a:solidFill>
                            <a:srgbClr val="4B4B4B"/>
                          </a:solidFill>
                          <a:latin typeface="Arial"/>
                        </a:rPr>
                        <a:t>Pipeline</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TSU outstanding items and risk profile in a pipeline report; sources are the bank and direct clients.</a:t>
                      </a:r>
                    </a:p>
                  </a:txBody>
                  <a:tcPr marL="64008" marR="64008" marT="27432" marB="27432" anchor="ctr">
                    <a:solidFill>
                      <a:srgbClr val="FFFFFF"/>
                    </a:solidFill>
                  </a:tcPr>
                </a:tc>
                <a:tc>
                  <a:txBody>
                    <a:bodyPr wrap="square"/>
                    <a:lstStyle/>
                    <a:p>
                      <a:r>
                        <a:rPr sz="1100" b="0">
                          <a:solidFill>
                            <a:srgbClr val="4B4B4B"/>
                          </a:solidFill>
                          <a:latin typeface="Arial"/>
                        </a:rPr>
                        <a:t>Pipeline for Retail and Corporate accounts.</a:t>
                      </a:r>
                    </a:p>
                  </a:txBody>
                  <a:tcPr marL="64008" marR="64008" marT="27432" marB="27432" anchor="ctr">
                    <a:solidFill>
                      <a:srgbClr val="FFFFFF"/>
                    </a:solidFill>
                  </a:tcPr>
                </a:tc>
              </a:tr>
              <a:tr h="758952">
                <a:tc>
                  <a:txBody>
                    <a:bodyPr wrap="square"/>
                    <a:lstStyle/>
                    <a:p>
                      <a:r>
                        <a:rPr sz="1100" b="1">
                          <a:solidFill>
                            <a:srgbClr val="4B4B4B"/>
                          </a:solidFill>
                          <a:latin typeface="Arial"/>
                        </a:rPr>
                        <a:t>NB-12</a:t>
                      </a:r>
                    </a:p>
                  </a:txBody>
                  <a:tcPr marL="64008" marR="64008" marT="27432" marB="27432" anchor="ctr">
                    <a:solidFill>
                      <a:srgbClr val="E5F5FF"/>
                    </a:solidFill>
                  </a:tcPr>
                </a:tc>
                <a:tc>
                  <a:txBody>
                    <a:bodyPr wrap="square"/>
                    <a:lstStyle/>
                    <a:p>
                      <a:r>
                        <a:rPr sz="1100" b="0">
                          <a:solidFill>
                            <a:srgbClr val="4B4B4B"/>
                          </a:solidFill>
                          <a:latin typeface="Arial"/>
                        </a:rPr>
                        <a:t>CBG quick quote</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CBG gives quick-quote details; allocation by branch or area and by region to the handler; placement once agreed.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we heard on the floor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NB-13</a:t>
                      </a:r>
                    </a:p>
                  </a:txBody>
                  <a:tcPr marL="64008" marR="64008" marT="27432" marB="27432" anchor="ctr">
                    <a:solidFill>
                      <a:srgbClr val="FFFFFF"/>
                    </a:solidFill>
                  </a:tcPr>
                </a:tc>
                <a:tc>
                  <a:txBody>
                    <a:bodyPr wrap="square"/>
                    <a:lstStyle/>
                    <a:p>
                      <a:r>
                        <a:rPr sz="1100" b="0">
                          <a:solidFill>
                            <a:srgbClr val="4B4B4B"/>
                          </a:solidFill>
                          <a:latin typeface="Arial"/>
                        </a:rPr>
                        <a:t>CBG Motor</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CBG is Motor and package only, so TSU is not involved.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NB-14</a:t>
                      </a:r>
                    </a:p>
                  </a:txBody>
                  <a:tcPr marL="64008" marR="64008" marT="27432" marB="27432" anchor="ctr">
                    <a:solidFill>
                      <a:srgbClr val="E5F5FF"/>
                    </a:solidFill>
                  </a:tcPr>
                </a:tc>
                <a:tc>
                  <a:txBody>
                    <a:bodyPr wrap="square"/>
                    <a:lstStyle/>
                    <a:p>
                      <a:r>
                        <a:rPr sz="1100" b="0">
                          <a:solidFill>
                            <a:srgbClr val="4B4B4B"/>
                          </a:solidFill>
                          <a:latin typeface="Arial"/>
                        </a:rPr>
                        <a:t>Non-CBG from the bank</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The bank gives details and premium; the first year premium is free; the process stops when the COC is received from PGA.</a:t>
                      </a:r>
                    </a:p>
                  </a:txBody>
                  <a:tcPr marL="64008" marR="64008" marT="27432" marB="27432" anchor="ctr">
                    <a:solidFill>
                      <a:srgbClr val="E5F5FF"/>
                    </a:solidFill>
                  </a:tcPr>
                </a:tc>
                <a:tc>
                  <a:txBody>
                    <a:bodyPr wrap="square"/>
                    <a:lstStyle/>
                    <a:p>
                      <a:r>
                        <a:rPr sz="1100" b="0">
                          <a:solidFill>
                            <a:srgbClr val="4B4B4B"/>
                          </a:solidFill>
                          <a:latin typeface="Arial"/>
                        </a:rPr>
                        <a:t>Commission on the free first year (Cashiering).</a:t>
                      </a:r>
                    </a:p>
                  </a:txBody>
                  <a:tcPr marL="64008" marR="64008" marT="27432" marB="27432" anchor="ctr">
                    <a:solidFill>
                      <a:srgbClr val="E5F5FF"/>
                    </a:solidFill>
                  </a:tcPr>
                </a:tc>
              </a:tr>
              <a:tr h="822960">
                <a:tc>
                  <a:txBody>
                    <a:bodyPr wrap="square"/>
                    <a:lstStyle/>
                    <a:p>
                      <a:r>
                        <a:rPr sz="1100" b="1">
                          <a:solidFill>
                            <a:srgbClr val="4B4B4B"/>
                          </a:solidFill>
                          <a:latin typeface="Arial"/>
                        </a:rPr>
                        <a:t>NB-15</a:t>
                      </a:r>
                    </a:p>
                  </a:txBody>
                  <a:tcPr marL="64008" marR="64008" marT="27432" marB="27432" anchor="ctr">
                    <a:solidFill>
                      <a:srgbClr val="FFFFFF"/>
                    </a:solidFill>
                  </a:tcPr>
                </a:tc>
                <a:tc>
                  <a:txBody>
                    <a:bodyPr wrap="square"/>
                    <a:lstStyle/>
                    <a:p>
                      <a:r>
                        <a:rPr sz="1100" b="0">
                          <a:solidFill>
                            <a:srgbClr val="4B4B4B"/>
                          </a:solidFill>
                          <a:latin typeface="Arial"/>
                        </a:rPr>
                        <a:t>Kept for renewal</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Client code created and kept in Broker so it can be retrieved at renewal.</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DC-01</a:t>
                      </a:r>
                    </a:p>
                  </a:txBody>
                  <a:tcPr marL="64008" marR="64008" marT="27432" marB="27432" anchor="ctr">
                    <a:solidFill>
                      <a:srgbClr val="E5F5FF"/>
                    </a:solidFill>
                  </a:tcPr>
                </a:tc>
                <a:tc>
                  <a:txBody>
                    <a:bodyPr wrap="square"/>
                    <a:lstStyle/>
                    <a:p>
                      <a:r>
                        <a:rPr sz="1100" b="0">
                          <a:solidFill>
                            <a:srgbClr val="4B4B4B"/>
                          </a:solidFill>
                          <a:latin typeface="Arial"/>
                        </a:rPr>
                        <a:t>Documents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Policy schedules follow insurer templates; no BDOI template for NB or endorsement; the renewal advice uses the BDOI template.</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TR-01, 02</a:t>
                      </a:r>
                    </a:p>
                  </a:txBody>
                  <a:tcPr marL="64008" marR="64008" marT="27432" marB="27432" anchor="ctr">
                    <a:solidFill>
                      <a:srgbClr val="FFFFFF"/>
                    </a:solidFill>
                  </a:tcPr>
                </a:tc>
                <a:tc>
                  <a:txBody>
                    <a:bodyPr wrap="square"/>
                    <a:lstStyle/>
                    <a:p>
                      <a:r>
                        <a:rPr sz="1100" b="0">
                          <a:solidFill>
                            <a:srgbClr val="4B4B4B"/>
                          </a:solidFill>
                          <a:latin typeface="Arial"/>
                        </a:rPr>
                        <a:t>Trade and Marine</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Clients import with bank trade loans; business from the bank is mostly Marine Open Policy declarations; accumulation to track by location.</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As-Is process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a:t>
            </a:r>
          </a:p>
        </p:txBody>
      </p:sp>
      <p:pic>
        <p:nvPicPr>
          <p:cNvPr id="9" name="Picture 8" descr="brd01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Request to account today (New Business process flow; Day 1 p.18; NB-01 to NB-15)</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As-Is process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pic>
        <p:nvPicPr>
          <p:cNvPr id="9" name="Picture 8" descr="brd01_asis_2.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Placement to booking and e-policy delivery today (New Business process flow; Day 1 p.18)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1. New Business: one process, seven segment variants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graphicFrame>
        <p:nvGraphicFramePr>
          <p:cNvPr id="9" name="Table 8"/>
          <p:cNvGraphicFramePr>
            <a:graphicFrameLocks noGrp="1"/>
          </p:cNvGraphicFramePr>
          <p:nvPr/>
        </p:nvGraphicFramePr>
        <p:xfrm>
          <a:off x="548640" y="1280160"/>
          <a:ext cx="11094411" cy="4919470"/>
        </p:xfrm>
        <a:graphic>
          <a:graphicData uri="http://schemas.openxmlformats.org/drawingml/2006/table">
            <a:tbl>
              <a:tblPr firstRow="1" bandRow="1">
                <a:tableStyleId>{5C22544A-7EE6-4342-B048-85BDC9FD1C3A}</a:tableStyleId>
              </a:tblPr>
              <a:tblGrid>
                <a:gridCol w="1747151"/>
                <a:gridCol w="2183939"/>
                <a:gridCol w="2271297"/>
                <a:gridCol w="2446012"/>
                <a:gridCol w="2446012"/>
              </a:tblGrid>
              <a:tr h="365760">
                <a:tc>
                  <a:txBody>
                    <a:bodyPr wrap="square"/>
                    <a:lstStyle/>
                    <a:p>
                      <a:r>
                        <a:rPr sz="1100" b="1">
                          <a:solidFill>
                            <a:srgbClr val="FFFFFF"/>
                          </a:solidFill>
                          <a:latin typeface="Arial"/>
                        </a:rPr>
                        <a:t>Segment</a:t>
                      </a:r>
                    </a:p>
                  </a:txBody>
                  <a:tcPr marL="64008" marR="64008" marT="27432" marB="27432" anchor="ctr">
                    <a:solidFill>
                      <a:srgbClr val="004EA8"/>
                    </a:solidFill>
                  </a:tcPr>
                </a:tc>
                <a:tc>
                  <a:txBody>
                    <a:bodyPr wrap="square"/>
                    <a:lstStyle/>
                    <a:p>
                      <a:r>
                        <a:rPr sz="1100" b="1">
                          <a:solidFill>
                            <a:srgbClr val="FFFFFF"/>
                          </a:solidFill>
                          <a:latin typeface="Arial"/>
                        </a:rPr>
                        <a:t>Request from</a:t>
                      </a:r>
                    </a:p>
                  </a:txBody>
                  <a:tcPr marL="64008" marR="64008" marT="27432" marB="27432" anchor="ctr">
                    <a:solidFill>
                      <a:srgbClr val="004EA8"/>
                    </a:solidFill>
                  </a:tcPr>
                </a:tc>
                <a:tc>
                  <a:txBody>
                    <a:bodyPr wrap="square"/>
                    <a:lstStyle/>
                    <a:p>
                      <a:r>
                        <a:rPr sz="1100" b="1">
                          <a:solidFill>
                            <a:srgbClr val="FFFFFF"/>
                          </a:solidFill>
                          <a:latin typeface="Arial"/>
                        </a:rPr>
                        <a:t>Quotation</a:t>
                      </a:r>
                    </a:p>
                  </a:txBody>
                  <a:tcPr marL="64008" marR="64008" marT="27432" marB="27432" anchor="ctr">
                    <a:solidFill>
                      <a:srgbClr val="004EA8"/>
                    </a:solidFill>
                  </a:tcPr>
                </a:tc>
                <a:tc>
                  <a:txBody>
                    <a:bodyPr wrap="square"/>
                    <a:lstStyle/>
                    <a:p>
                      <a:r>
                        <a:rPr sz="1100" b="1">
                          <a:solidFill>
                            <a:srgbClr val="FFFFFF"/>
                          </a:solidFill>
                          <a:latin typeface="Arial"/>
                        </a:rPr>
                        <a:t>Client and account</a:t>
                      </a:r>
                    </a:p>
                  </a:txBody>
                  <a:tcPr marL="64008" marR="64008" marT="27432" marB="27432" anchor="ctr">
                    <a:solidFill>
                      <a:srgbClr val="004EA8"/>
                    </a:solidFill>
                  </a:tcPr>
                </a:tc>
                <a:tc>
                  <a:txBody>
                    <a:bodyPr wrap="square"/>
                    <a:lstStyle/>
                    <a:p>
                      <a:r>
                        <a:rPr sz="1100" b="1">
                          <a:solidFill>
                            <a:srgbClr val="FFFFFF"/>
                          </a:solidFill>
                          <a:latin typeface="Arial"/>
                        </a:rPr>
                        <a:t>Placement, e-policy</a:t>
                      </a:r>
                    </a:p>
                  </a:txBody>
                  <a:tcPr marL="64008" marR="64008" marT="27432" marB="27432" anchor="ctr">
                    <a:solidFill>
                      <a:srgbClr val="004EA8"/>
                    </a:solidFill>
                  </a:tcPr>
                </a:tc>
              </a:tr>
              <a:tr h="650530">
                <a:tc>
                  <a:txBody>
                    <a:bodyPr wrap="square"/>
                    <a:lstStyle/>
                    <a:p>
                      <a:r>
                        <a:rPr sz="1100" b="1">
                          <a:solidFill>
                            <a:srgbClr val="4B4B4B"/>
                          </a:solidFill>
                          <a:latin typeface="Arial"/>
                        </a:rPr>
                        <a:t>CBG Motor (package)</a:t>
                      </a:r>
                    </a:p>
                  </a:txBody>
                  <a:tcPr marL="64008" marR="64008" marT="27432" marB="27432" anchor="ctr">
                    <a:solidFill>
                      <a:srgbClr val="FFFFFF"/>
                    </a:solidFill>
                  </a:tcPr>
                </a:tc>
                <a:tc>
                  <a:txBody>
                    <a:bodyPr wrap="square"/>
                    <a:lstStyle/>
                    <a:p>
                      <a:r>
                        <a:rPr sz="1100" b="0">
                          <a:solidFill>
                            <a:srgbClr val="4B4B4B"/>
                          </a:solidFill>
                          <a:latin typeface="Arial"/>
                        </a:rPr>
                        <a:t>BDO branch or CBG Auto Loans AO, by e-mail</a:t>
                      </a:r>
                    </a:p>
                  </a:txBody>
                  <a:tcPr marL="64008" marR="64008" marT="27432" marB="27432" anchor="ctr">
                    <a:solidFill>
                      <a:srgbClr val="FFFFFF"/>
                    </a:solidFill>
                  </a:tcPr>
                </a:tc>
                <a:tc>
                  <a:txBody>
                    <a:bodyPr wrap="square"/>
                    <a:lstStyle/>
                    <a:p>
                      <a:r>
                        <a:rPr sz="1100" b="0">
                          <a:solidFill>
                            <a:srgbClr val="4B4B4B"/>
                          </a:solidFill>
                          <a:latin typeface="Arial"/>
                        </a:rPr>
                        <a:t>Excel template with ISYS reference; quick quote</a:t>
                      </a:r>
                    </a:p>
                  </a:txBody>
                  <a:tcPr marL="64008" marR="64008" marT="27432" marB="27432" anchor="ctr">
                    <a:solidFill>
                      <a:srgbClr val="FFFFFF"/>
                    </a:solidFill>
                  </a:tcPr>
                </a:tc>
                <a:tc>
                  <a:txBody>
                    <a:bodyPr wrap="square"/>
                    <a:lstStyle/>
                    <a:p>
                      <a:r>
                        <a:rPr sz="1100" b="0">
                          <a:solidFill>
                            <a:srgbClr val="4B4B4B"/>
                          </a:solidFill>
                          <a:latin typeface="Arial"/>
                        </a:rPr>
                        <a:t>Client in Broker; account in ISYS; IT migration to QPS</a:t>
                      </a:r>
                    </a:p>
                  </a:txBody>
                  <a:tcPr marL="64008" marR="64008" marT="27432" marB="27432" anchor="ctr">
                    <a:solidFill>
                      <a:srgbClr val="FFFFFF"/>
                    </a:solidFill>
                  </a:tcPr>
                </a:tc>
                <a:tc>
                  <a:txBody>
                    <a:bodyPr wrap="square"/>
                    <a:lstStyle/>
                    <a:p>
                      <a:r>
                        <a:rPr sz="1100" b="0">
                          <a:solidFill>
                            <a:srgbClr val="4B4B4B"/>
                          </a:solidFill>
                          <a:latin typeface="Arial"/>
                        </a:rPr>
                        <a:t>Slip by SFTP or e-mail; IT batch policy number; COG or PO sends</a:t>
                      </a:r>
                    </a:p>
                  </a:txBody>
                  <a:tcPr marL="64008" marR="64008" marT="27432" marB="27432" anchor="ctr">
                    <a:solidFill>
                      <a:srgbClr val="FFFFFF"/>
                    </a:solidFill>
                  </a:tcPr>
                </a:tc>
              </a:tr>
              <a:tr h="650530">
                <a:tc>
                  <a:txBody>
                    <a:bodyPr wrap="square"/>
                    <a:lstStyle/>
                    <a:p>
                      <a:r>
                        <a:rPr sz="1100" b="1">
                          <a:solidFill>
                            <a:srgbClr val="4B4B4B"/>
                          </a:solidFill>
                          <a:latin typeface="Arial"/>
                        </a:rPr>
                        <a:t>CBG Fire and Home</a:t>
                      </a:r>
                    </a:p>
                  </a:txBody>
                  <a:tcPr marL="64008" marR="64008" marT="27432" marB="27432" anchor="ctr">
                    <a:solidFill>
                      <a:srgbClr val="E5F5FF"/>
                    </a:solidFill>
                  </a:tcPr>
                </a:tc>
                <a:tc>
                  <a:txBody>
                    <a:bodyPr wrap="square"/>
                    <a:lstStyle/>
                    <a:p>
                      <a:r>
                        <a:rPr sz="1100" b="0">
                          <a:solidFill>
                            <a:srgbClr val="4B4B4B"/>
                          </a:solidFill>
                          <a:latin typeface="Arial"/>
                        </a:rPr>
                        <a:t>CBG AO; CBG LAD daily approved-loan list from HLS</a:t>
                      </a:r>
                    </a:p>
                  </a:txBody>
                  <a:tcPr marL="64008" marR="64008" marT="27432" marB="27432" anchor="ctr">
                    <a:solidFill>
                      <a:srgbClr val="E5F5FF"/>
                    </a:solidFill>
                  </a:tcPr>
                </a:tc>
                <a:tc>
                  <a:txBody>
                    <a:bodyPr wrap="square"/>
                    <a:lstStyle/>
                    <a:p>
                      <a:r>
                        <a:rPr sz="1100" b="0">
                          <a:solidFill>
                            <a:srgbClr val="4B4B4B"/>
                          </a:solidFill>
                          <a:latin typeface="Arial"/>
                        </a:rPr>
                        <a:t>IDF Excel template converted to PDF</a:t>
                      </a:r>
                    </a:p>
                  </a:txBody>
                  <a:tcPr marL="64008" marR="64008" marT="27432" marB="27432" anchor="ctr">
                    <a:solidFill>
                      <a:srgbClr val="E5F5FF"/>
                    </a:solidFill>
                  </a:tcPr>
                </a:tc>
                <a:tc>
                  <a:txBody>
                    <a:bodyPr wrap="square"/>
                    <a:lstStyle/>
                    <a:p>
                      <a:r>
                        <a:rPr sz="1100" b="0">
                          <a:solidFill>
                            <a:srgbClr val="4B4B4B"/>
                          </a:solidFill>
                          <a:latin typeface="Arial"/>
                        </a:rPr>
                        <a:t>Processing bulk upload into Broker from the insurance report</a:t>
                      </a:r>
                    </a:p>
                  </a:txBody>
                  <a:tcPr marL="64008" marR="64008" marT="27432" marB="27432" anchor="ctr">
                    <a:solidFill>
                      <a:srgbClr val="E5F5FF"/>
                    </a:solidFill>
                  </a:tcPr>
                </a:tc>
                <a:tc>
                  <a:txBody>
                    <a:bodyPr wrap="square"/>
                    <a:lstStyle/>
                    <a:p>
                      <a:r>
                        <a:rPr sz="1100" b="0">
                          <a:solidFill>
                            <a:srgbClr val="4B4B4B"/>
                          </a:solidFill>
                          <a:latin typeface="Arial"/>
                        </a:rPr>
                        <a:t>GRF to Placement; hold cover by e-mail; CLPC billing and paid list</a:t>
                      </a:r>
                    </a:p>
                  </a:txBody>
                  <a:tcPr marL="64008" marR="64008" marT="27432" marB="27432" anchor="ctr">
                    <a:solidFill>
                      <a:srgbClr val="E5F5FF"/>
                    </a:solidFill>
                  </a:tcPr>
                </a:tc>
              </a:tr>
              <a:tr h="650530">
                <a:tc>
                  <a:txBody>
                    <a:bodyPr wrap="square"/>
                    <a:lstStyle/>
                    <a:p>
                      <a:r>
                        <a:rPr sz="1100" b="1">
                          <a:solidFill>
                            <a:srgbClr val="4B4B4B"/>
                          </a:solidFill>
                          <a:latin typeface="Arial"/>
                        </a:rPr>
                        <a:t>Non-CBG Corporate, all lines</a:t>
                      </a:r>
                    </a:p>
                  </a:txBody>
                  <a:tcPr marL="64008" marR="64008" marT="27432" marB="27432" anchor="ctr">
                    <a:solidFill>
                      <a:srgbClr val="FFFFFF"/>
                    </a:solidFill>
                  </a:tcPr>
                </a:tc>
                <a:tc>
                  <a:txBody>
                    <a:bodyPr wrap="square"/>
                    <a:lstStyle/>
                    <a:p>
                      <a:r>
                        <a:rPr sz="1100" b="0">
                          <a:solidFill>
                            <a:srgbClr val="4B4B4B"/>
                          </a:solidFill>
                          <a:latin typeface="Arial"/>
                        </a:rPr>
                        <a:t>IBG or client, by e-mail</a:t>
                      </a:r>
                    </a:p>
                  </a:txBody>
                  <a:tcPr marL="64008" marR="64008" marT="27432" marB="27432" anchor="ctr">
                    <a:solidFill>
                      <a:srgbClr val="FFFFFF"/>
                    </a:solidFill>
                  </a:tcPr>
                </a:tc>
                <a:tc>
                  <a:txBody>
                    <a:bodyPr wrap="square"/>
                    <a:lstStyle/>
                    <a:p>
                      <a:r>
                        <a:rPr sz="1100" b="0">
                          <a:solidFill>
                            <a:srgbClr val="4B4B4B"/>
                          </a:solidFill>
                          <a:latin typeface="Arial"/>
                        </a:rPr>
                        <a:t>ISYS full quote (package); Excel or TSU proposal (non-package)</a:t>
                      </a:r>
                    </a:p>
                  </a:txBody>
                  <a:tcPr marL="64008" marR="64008" marT="27432" marB="27432" anchor="ctr">
                    <a:solidFill>
                      <a:srgbClr val="FFFFFF"/>
                    </a:solidFill>
                  </a:tcPr>
                </a:tc>
                <a:tc>
                  <a:txBody>
                    <a:bodyPr wrap="square"/>
                    <a:lstStyle/>
                    <a:p>
                      <a:r>
                        <a:rPr sz="1100" b="0">
                          <a:solidFill>
                            <a:srgbClr val="4B4B4B"/>
                          </a:solidFill>
                          <a:latin typeface="Arial"/>
                        </a:rPr>
                        <a:t>Broker and ISYS; IT migration to QPS</a:t>
                      </a:r>
                    </a:p>
                  </a:txBody>
                  <a:tcPr marL="64008" marR="64008" marT="27432" marB="27432" anchor="ctr">
                    <a:solidFill>
                      <a:srgbClr val="FFFFFF"/>
                    </a:solidFill>
                  </a:tcPr>
                </a:tc>
                <a:tc>
                  <a:txBody>
                    <a:bodyPr wrap="square"/>
                    <a:lstStyle/>
                    <a:p>
                      <a:r>
                        <a:rPr sz="1100" b="0">
                          <a:solidFill>
                            <a:srgbClr val="4B4B4B"/>
                          </a:solidFill>
                          <a:latin typeface="Arial"/>
                        </a:rPr>
                        <a:t>Placement PDF by e-mail per insurer; SFTP or PO sends</a:t>
                      </a:r>
                    </a:p>
                  </a:txBody>
                  <a:tcPr marL="64008" marR="64008" marT="27432" marB="27432" anchor="ctr">
                    <a:solidFill>
                      <a:srgbClr val="FFFFFF"/>
                    </a:solidFill>
                  </a:tcPr>
                </a:tc>
              </a:tr>
              <a:tr h="650530">
                <a:tc>
                  <a:txBody>
                    <a:bodyPr wrap="square"/>
                    <a:lstStyle/>
                    <a:p>
                      <a:r>
                        <a:rPr sz="1100" b="1">
                          <a:solidFill>
                            <a:srgbClr val="4B4B4B"/>
                          </a:solidFill>
                          <a:latin typeface="Arial"/>
                        </a:rPr>
                        <a:t>Non-CBG Retail</a:t>
                      </a:r>
                    </a:p>
                  </a:txBody>
                  <a:tcPr marL="64008" marR="64008" marT="27432" marB="27432" anchor="ctr">
                    <a:solidFill>
                      <a:srgbClr val="E5F5FF"/>
                    </a:solidFill>
                  </a:tcPr>
                </a:tc>
                <a:tc>
                  <a:txBody>
                    <a:bodyPr wrap="square"/>
                    <a:lstStyle/>
                    <a:p>
                      <a:r>
                        <a:rPr sz="1100" b="0">
                          <a:solidFill>
                            <a:srgbClr val="4B4B4B"/>
                          </a:solidFill>
                          <a:latin typeface="Arial"/>
                        </a:rPr>
                        <a:t>BDO branch, by e-mail</a:t>
                      </a:r>
                    </a:p>
                  </a:txBody>
                  <a:tcPr marL="64008" marR="64008" marT="27432" marB="27432" anchor="ctr">
                    <a:solidFill>
                      <a:srgbClr val="E5F5FF"/>
                    </a:solidFill>
                  </a:tcPr>
                </a:tc>
                <a:tc>
                  <a:txBody>
                    <a:bodyPr wrap="square"/>
                    <a:lstStyle/>
                    <a:p>
                      <a:r>
                        <a:rPr sz="1100" b="0">
                          <a:solidFill>
                            <a:srgbClr val="4B4B4B"/>
                          </a:solidFill>
                          <a:latin typeface="Arial"/>
                        </a:rPr>
                        <a:t>Excel quick quote; ISYS for package and motor</a:t>
                      </a:r>
                    </a:p>
                  </a:txBody>
                  <a:tcPr marL="64008" marR="64008" marT="27432" marB="27432" anchor="ctr">
                    <a:solidFill>
                      <a:srgbClr val="E5F5FF"/>
                    </a:solidFill>
                  </a:tcPr>
                </a:tc>
                <a:tc>
                  <a:txBody>
                    <a:bodyPr wrap="square"/>
                    <a:lstStyle/>
                    <a:p>
                      <a:r>
                        <a:rPr sz="1100" b="0">
                          <a:solidFill>
                            <a:srgbClr val="4B4B4B"/>
                          </a:solidFill>
                          <a:latin typeface="Arial"/>
                        </a:rPr>
                        <a:t>Broker; ISYS ARF module</a:t>
                      </a:r>
                    </a:p>
                  </a:txBody>
                  <a:tcPr marL="64008" marR="64008" marT="27432" marB="27432" anchor="ctr">
                    <a:solidFill>
                      <a:srgbClr val="E5F5FF"/>
                    </a:solidFill>
                  </a:tcPr>
                </a:tc>
                <a:tc>
                  <a:txBody>
                    <a:bodyPr wrap="square"/>
                    <a:lstStyle/>
                    <a:p>
                      <a:r>
                        <a:rPr sz="1100" b="0">
                          <a:solidFill>
                            <a:srgbClr val="4B4B4B"/>
                          </a:solidFill>
                          <a:latin typeface="Arial"/>
                        </a:rPr>
                        <a:t>Slip PDF by e-mail; e-policy as above</a:t>
                      </a:r>
                    </a:p>
                  </a:txBody>
                  <a:tcPr marL="64008" marR="64008" marT="27432" marB="27432" anchor="ctr">
                    <a:solidFill>
                      <a:srgbClr val="E5F5FF"/>
                    </a:solidFill>
                  </a:tcPr>
                </a:tc>
              </a:tr>
              <a:tr h="650530">
                <a:tc>
                  <a:txBody>
                    <a:bodyPr wrap="square"/>
                    <a:lstStyle/>
                    <a:p>
                      <a:r>
                        <a:rPr sz="1100" b="1">
                          <a:solidFill>
                            <a:srgbClr val="4B4B4B"/>
                          </a:solidFill>
                          <a:latin typeface="Arial"/>
                        </a:rPr>
                        <a:t>Branches</a:t>
                      </a:r>
                    </a:p>
                  </a:txBody>
                  <a:tcPr marL="64008" marR="64008" marT="27432" marB="27432" anchor="ctr">
                    <a:solidFill>
                      <a:srgbClr val="FFFFFF"/>
                    </a:solidFill>
                  </a:tcPr>
                </a:tc>
                <a:tc>
                  <a:txBody>
                    <a:bodyPr wrap="square"/>
                    <a:lstStyle/>
                    <a:p>
                      <a:r>
                        <a:rPr sz="1100" b="0">
                          <a:solidFill>
                            <a:srgbClr val="4B4B4B"/>
                          </a:solidFill>
                          <a:latin typeface="Arial"/>
                        </a:rPr>
                        <a:t>Bank AO or client; single or bulk</a:t>
                      </a:r>
                    </a:p>
                  </a:txBody>
                  <a:tcPr marL="64008" marR="64008" marT="27432" marB="27432" anchor="ctr">
                    <a:solidFill>
                      <a:srgbClr val="FFFFFF"/>
                    </a:solidFill>
                  </a:tcPr>
                </a:tc>
                <a:tc>
                  <a:txBody>
                    <a:bodyPr wrap="square"/>
                    <a:lstStyle/>
                    <a:p>
                      <a:r>
                        <a:rPr sz="1100" b="0">
                          <a:solidFill>
                            <a:srgbClr val="4B4B4B"/>
                          </a:solidFill>
                          <a:latin typeface="Arial"/>
                        </a:rPr>
                        <a:t>Excel quick quote; ISYS for package</a:t>
                      </a:r>
                    </a:p>
                  </a:txBody>
                  <a:tcPr marL="64008" marR="64008" marT="27432" marB="27432" anchor="ctr">
                    <a:solidFill>
                      <a:srgbClr val="FFFFFF"/>
                    </a:solidFill>
                  </a:tcPr>
                </a:tc>
                <a:tc>
                  <a:txBody>
                    <a:bodyPr wrap="square"/>
                    <a:lstStyle/>
                    <a:p>
                      <a:r>
                        <a:rPr sz="1100" b="0">
                          <a:solidFill>
                            <a:srgbClr val="4B4B4B"/>
                          </a:solidFill>
                          <a:latin typeface="Arial"/>
                        </a:rPr>
                        <a:t>Broker; ISYS</a:t>
                      </a:r>
                    </a:p>
                  </a:txBody>
                  <a:tcPr marL="64008" marR="64008" marT="27432" marB="27432" anchor="ctr">
                    <a:solidFill>
                      <a:srgbClr val="FFFFFF"/>
                    </a:solidFill>
                  </a:tcPr>
                </a:tc>
                <a:tc>
                  <a:txBody>
                    <a:bodyPr wrap="square"/>
                    <a:lstStyle/>
                    <a:p>
                      <a:r>
                        <a:rPr sz="1100" b="0">
                          <a:solidFill>
                            <a:srgbClr val="4B4B4B"/>
                          </a:solidFill>
                          <a:latin typeface="Arial"/>
                        </a:rPr>
                        <a:t>Slip PDF by e-mail; e-policy as above</a:t>
                      </a:r>
                    </a:p>
                  </a:txBody>
                  <a:tcPr marL="64008" marR="64008" marT="27432" marB="27432" anchor="ctr">
                    <a:solidFill>
                      <a:srgbClr val="FFFFFF"/>
                    </a:solidFill>
                  </a:tcPr>
                </a:tc>
              </a:tr>
              <a:tr h="650530">
                <a:tc>
                  <a:txBody>
                    <a:bodyPr wrap="square"/>
                    <a:lstStyle/>
                    <a:p>
                      <a:r>
                        <a:rPr sz="1100" b="1">
                          <a:solidFill>
                            <a:srgbClr val="4B4B4B"/>
                          </a:solidFill>
                          <a:latin typeface="Arial"/>
                        </a:rPr>
                        <a:t>Bank-referred, free first year</a:t>
                      </a:r>
                    </a:p>
                  </a:txBody>
                  <a:tcPr marL="64008" marR="64008" marT="27432" marB="27432" anchor="ctr">
                    <a:solidFill>
                      <a:srgbClr val="E5F5FF"/>
                    </a:solidFill>
                  </a:tcPr>
                </a:tc>
                <a:tc>
                  <a:txBody>
                    <a:bodyPr wrap="square"/>
                    <a:lstStyle/>
                    <a:p>
                      <a:r>
                        <a:rPr sz="1100" b="0">
                          <a:solidFill>
                            <a:srgbClr val="4B4B4B"/>
                          </a:solidFill>
                          <a:latin typeface="Arial"/>
                        </a:rPr>
                        <a:t>Bank gives details and premium</a:t>
                      </a:r>
                    </a:p>
                  </a:txBody>
                  <a:tcPr marL="64008" marR="64008" marT="27432" marB="27432" anchor="ctr">
                    <a:solidFill>
                      <a:srgbClr val="E5F5FF"/>
                    </a:solidFill>
                  </a:tcPr>
                </a:tc>
                <a:tc>
                  <a:txBody>
                    <a:bodyPr wrap="square"/>
                    <a:lstStyle/>
                    <a:p>
                      <a:r>
                        <a:rPr sz="1100" b="0">
                          <a:solidFill>
                            <a:srgbClr val="4B4B4B"/>
                          </a:solidFill>
                          <a:latin typeface="Arial"/>
                        </a:rPr>
                        <a:t>None; premium from the bank</a:t>
                      </a:r>
                    </a:p>
                  </a:txBody>
                  <a:tcPr marL="64008" marR="64008" marT="27432" marB="27432" anchor="ctr">
                    <a:solidFill>
                      <a:srgbClr val="E5F5FF"/>
                    </a:solidFill>
                  </a:tcPr>
                </a:tc>
                <a:tc>
                  <a:txBody>
                    <a:bodyPr wrap="square"/>
                    <a:lstStyle/>
                    <a:p>
                      <a:r>
                        <a:rPr sz="1100" b="0">
                          <a:solidFill>
                            <a:srgbClr val="4B4B4B"/>
                          </a:solidFill>
                          <a:latin typeface="Arial"/>
                        </a:rPr>
                        <a:t>Client code in Broker for renewal</a:t>
                      </a:r>
                    </a:p>
                  </a:txBody>
                  <a:tcPr marL="64008" marR="64008" marT="27432" marB="27432" anchor="ctr">
                    <a:solidFill>
                      <a:srgbClr val="E5F5FF"/>
                    </a:solidFill>
                  </a:tcPr>
                </a:tc>
                <a:tc>
                  <a:txBody>
                    <a:bodyPr wrap="square"/>
                    <a:lstStyle/>
                    <a:p>
                      <a:r>
                        <a:rPr sz="1100" b="0">
                          <a:solidFill>
                            <a:srgbClr val="4B4B4B"/>
                          </a:solidFill>
                          <a:latin typeface="Arial"/>
                        </a:rPr>
                        <a:t>Stops at the COC from PGA; handled at renewal</a:t>
                      </a:r>
                    </a:p>
                  </a:txBody>
                  <a:tcPr marL="64008" marR="64008" marT="27432" marB="27432" anchor="ctr">
                    <a:solidFill>
                      <a:srgbClr val="E5F5FF"/>
                    </a:solidFill>
                  </a:tcPr>
                </a:tc>
              </a:tr>
              <a:tr h="650530">
                <a:tc>
                  <a:txBody>
                    <a:bodyPr wrap="square"/>
                    <a:lstStyle/>
                    <a:p>
                      <a:r>
                        <a:rPr sz="1100" b="1">
                          <a:solidFill>
                            <a:srgbClr val="4B4B4B"/>
                          </a:solidFill>
                          <a:latin typeface="Arial"/>
                        </a:rPr>
                        <a:t>TSU accounts, EB, SM Construction, Combank</a:t>
                      </a:r>
                    </a:p>
                  </a:txBody>
                  <a:tcPr marL="64008" marR="64008" marT="27432" marB="27432" anchor="ctr">
                    <a:solidFill>
                      <a:srgbClr val="FFFFFF"/>
                    </a:solidFill>
                  </a:tcPr>
                </a:tc>
                <a:tc>
                  <a:txBody>
                    <a:bodyPr wrap="square"/>
                    <a:lstStyle/>
                    <a:p>
                      <a:r>
                        <a:rPr sz="1100" b="0">
                          <a:solidFill>
                            <a:srgbClr val="4B4B4B"/>
                          </a:solidFill>
                          <a:latin typeface="Arial"/>
                        </a:rPr>
                        <a:t>Via TSU, EB or Marketing Account Support</a:t>
                      </a:r>
                    </a:p>
                  </a:txBody>
                  <a:tcPr marL="64008" marR="64008" marT="27432" marB="27432" anchor="ctr">
                    <a:solidFill>
                      <a:srgbClr val="FFFFFF"/>
                    </a:solidFill>
                  </a:tcPr>
                </a:tc>
                <a:tc>
                  <a:txBody>
                    <a:bodyPr wrap="square"/>
                    <a:lstStyle/>
                    <a:p>
                      <a:r>
                        <a:rPr sz="1100" b="0">
                          <a:solidFill>
                            <a:srgbClr val="4B4B4B"/>
                          </a:solidFill>
                          <a:latin typeface="Arial"/>
                        </a:rPr>
                        <a:t>TSU proposal or insurer terms</a:t>
                      </a:r>
                    </a:p>
                  </a:txBody>
                  <a:tcPr marL="64008" marR="64008" marT="27432" marB="27432" anchor="ctr">
                    <a:solidFill>
                      <a:srgbClr val="FFFFFF"/>
                    </a:solidFill>
                  </a:tcPr>
                </a:tc>
                <a:tc>
                  <a:txBody>
                    <a:bodyPr wrap="square"/>
                    <a:lstStyle/>
                    <a:p>
                      <a:r>
                        <a:rPr sz="1100" b="0">
                          <a:solidFill>
                            <a:srgbClr val="4B4B4B"/>
                          </a:solidFill>
                          <a:latin typeface="Arial"/>
                        </a:rPr>
                        <a:t>Encoded in EBIX directly</a:t>
                      </a:r>
                    </a:p>
                  </a:txBody>
                  <a:tcPr marL="64008" marR="64008" marT="27432" marB="27432" anchor="ctr">
                    <a:solidFill>
                      <a:srgbClr val="FFFFFF"/>
                    </a:solidFill>
                  </a:tcPr>
                </a:tc>
                <a:tc>
                  <a:txBody>
                    <a:bodyPr wrap="square"/>
                    <a:lstStyle/>
                    <a:p>
                      <a:r>
                        <a:rPr sz="1100" b="0">
                          <a:solidFill>
                            <a:srgbClr val="4B4B4B"/>
                          </a:solidFill>
                          <a:latin typeface="Arial"/>
                        </a:rPr>
                        <a:t>PO places; insurer SOA before booking and invoicing</a:t>
                      </a:r>
                    </a:p>
                  </a:txBody>
                  <a:tcPr marL="64008" marR="64008" marT="27432" marB="27432" anchor="ctr">
                    <a:solidFill>
                      <a:srgbClr val="FFFFFF"/>
                    </a:solidFill>
                  </a:tcPr>
                </a:tc>
              </a:tr>
            </a:tbl>
          </a:graphicData>
        </a:graphic>
      </p:graphicFrame>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and bank lists by hand</a:t>
            </a:r>
          </a:p>
          <a:p>
            <a:pPr>
              <a:spcAft>
                <a:spcPts val="100"/>
              </a:spcAft>
            </a:pPr>
            <a:r>
              <a:rPr sz="1200" b="0">
                <a:solidFill>
                  <a:srgbClr val="4B4B4B"/>
                </a:solidFill>
                <a:latin typeface="Arial"/>
              </a:rPr>
              <a:t>Requests arrive by e-mail; HLS, CLAS and CTS reports are sanitised by hand.</a:t>
            </a:r>
          </a:p>
          <a:p>
            <a:pPr>
              <a:spcAft>
                <a:spcPts val="100"/>
              </a:spcAft>
            </a:pPr>
            <a:r>
              <a:rPr sz="1200" b="0">
                <a:solidFill>
                  <a:srgbClr val="0072D8"/>
                </a:solidFill>
                <a:latin typeface="Arial"/>
              </a:rPr>
              <a:t>NB flow</a:t>
            </a:r>
          </a:p>
        </p:txBody>
      </p:sp>
      <p:sp>
        <p:nvSpPr>
          <p:cNvPr id="11" name="Oval 10"/>
          <p:cNvSpPr/>
          <p:nvPr/>
        </p:nvSpPr>
        <p:spPr>
          <a:xfrm>
            <a:off x="548640"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Quotations in Excel templates</a:t>
            </a:r>
          </a:p>
          <a:p>
            <a:pPr>
              <a:spcAft>
                <a:spcPts val="100"/>
              </a:spcAft>
            </a:pPr>
            <a:r>
              <a:rPr sz="1200" b="0">
                <a:solidFill>
                  <a:srgbClr val="4B4B4B"/>
                </a:solidFill>
                <a:latin typeface="Arial"/>
              </a:rPr>
              <a:t>IDF templates filled, converted to PDF, shared by drive link.</a:t>
            </a:r>
          </a:p>
          <a:p>
            <a:pPr>
              <a:spcAft>
                <a:spcPts val="100"/>
              </a:spcAft>
            </a:pPr>
            <a:r>
              <a:rPr sz="1200" b="0">
                <a:solidFill>
                  <a:srgbClr val="0072D8"/>
                </a:solidFill>
                <a:latin typeface="Arial"/>
              </a:rPr>
              <a:t>NB flow</a:t>
            </a:r>
          </a:p>
        </p:txBody>
      </p:sp>
      <p:sp>
        <p:nvSpPr>
          <p:cNvPr id="13" name="Oval 12"/>
          <p:cNvSpPr/>
          <p:nvPr/>
        </p:nvSpPr>
        <p:spPr>
          <a:xfrm>
            <a:off x="548640"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validity or SLA control</a:t>
            </a:r>
          </a:p>
          <a:p>
            <a:pPr>
              <a:spcAft>
                <a:spcPts val="100"/>
              </a:spcAft>
            </a:pPr>
            <a:r>
              <a:rPr sz="1200" b="0">
                <a:solidFill>
                  <a:srgbClr val="4B4B4B"/>
                </a:solidFill>
                <a:latin typeface="Arial"/>
              </a:rPr>
              <a:t>30-day validity and 7 / 3-day SLA are tracked by memory.</a:t>
            </a:r>
          </a:p>
          <a:p>
            <a:pPr>
              <a:spcAft>
                <a:spcPts val="100"/>
              </a:spcAft>
            </a:pPr>
            <a:r>
              <a:rPr sz="1200" b="0">
                <a:solidFill>
                  <a:srgbClr val="0072D8"/>
                </a:solidFill>
                <a:latin typeface="Arial"/>
              </a:rPr>
              <a:t>NB-03, NB-07</a:t>
            </a:r>
          </a:p>
        </p:txBody>
      </p:sp>
      <p:sp>
        <p:nvSpPr>
          <p:cNvPr id="15" name="Oval 14"/>
          <p:cNvSpPr/>
          <p:nvPr/>
        </p:nvSpPr>
        <p:spPr>
          <a:xfrm>
            <a:off x="548640"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KYC outside the system</a:t>
            </a:r>
          </a:p>
          <a:p>
            <a:pPr>
              <a:spcAft>
                <a:spcPts val="100"/>
              </a:spcAft>
            </a:pPr>
            <a:r>
              <a:rPr sz="1200" b="0">
                <a:solidFill>
                  <a:srgbClr val="4B4B4B"/>
                </a:solidFill>
                <a:latin typeface="Arial"/>
              </a:rPr>
              <a:t>Insurance declaration form and KYC done on paper before the AMLA check.</a:t>
            </a:r>
          </a:p>
          <a:p>
            <a:pPr>
              <a:spcAft>
                <a:spcPts val="100"/>
              </a:spcAft>
            </a:pPr>
            <a:r>
              <a:rPr sz="1200" b="0">
                <a:solidFill>
                  <a:srgbClr val="0072D8"/>
                </a:solidFill>
                <a:latin typeface="Arial"/>
              </a:rPr>
              <a:t>NB-04</a:t>
            </a:r>
          </a:p>
        </p:txBody>
      </p:sp>
      <p:sp>
        <p:nvSpPr>
          <p:cNvPr id="17" name="Oval 16"/>
          <p:cNvSpPr/>
          <p:nvPr/>
        </p:nvSpPr>
        <p:spPr>
          <a:xfrm>
            <a:off x="548640"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One deal keyed in three systems</a:t>
            </a:r>
          </a:p>
          <a:p>
            <a:pPr>
              <a:spcAft>
                <a:spcPts val="100"/>
              </a:spcAft>
            </a:pPr>
            <a:r>
              <a:rPr sz="1200" b="0">
                <a:solidFill>
                  <a:srgbClr val="4B4B4B"/>
                </a:solidFill>
                <a:latin typeface="Arial"/>
              </a:rPr>
              <a:t>Broker, then ISYS, then an IT migration to QPS with a fall-out loop.</a:t>
            </a:r>
          </a:p>
          <a:p>
            <a:pPr>
              <a:spcAft>
                <a:spcPts val="100"/>
              </a:spcAft>
            </a:pPr>
            <a:r>
              <a:rPr sz="1200" b="0">
                <a:solidFill>
                  <a:srgbClr val="0072D8"/>
                </a:solidFill>
                <a:latin typeface="Arial"/>
              </a:rPr>
              <a:t>NB-09; NB flow; OV-02</a:t>
            </a:r>
          </a:p>
        </p:txBody>
      </p:sp>
      <p:sp>
        <p:nvSpPr>
          <p:cNvPr id="19" name="Oval 18"/>
          <p:cNvSpPr/>
          <p:nvPr/>
        </p:nvSpPr>
        <p:spPr>
          <a:xfrm>
            <a:off x="548640"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1024128"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Placement per insurer by e-mail</a:t>
            </a:r>
          </a:p>
          <a:p>
            <a:pPr>
              <a:spcAft>
                <a:spcPts val="100"/>
              </a:spcAft>
            </a:pPr>
            <a:r>
              <a:rPr sz="1200" b="0">
                <a:solidFill>
                  <a:srgbClr val="4B4B4B"/>
                </a:solidFill>
                <a:latin typeface="Arial"/>
              </a:rPr>
              <a:t>Slips by SFTP only for enrolled insurers; the rest by e-mail.</a:t>
            </a:r>
          </a:p>
          <a:p>
            <a:pPr>
              <a:spcAft>
                <a:spcPts val="100"/>
              </a:spcAft>
            </a:pPr>
            <a:r>
              <a:rPr sz="1200" b="0">
                <a:solidFill>
                  <a:srgbClr val="0072D8"/>
                </a:solidFill>
                <a:latin typeface="Arial"/>
              </a:rPr>
              <a:t>NB flow; OV-01</a:t>
            </a:r>
          </a:p>
        </p:txBody>
      </p:sp>
      <p:sp>
        <p:nvSpPr>
          <p:cNvPr id="21" name="Oval 20"/>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Returns and hold covers by e-mail</a:t>
            </a:r>
          </a:p>
          <a:p>
            <a:pPr>
              <a:spcAft>
                <a:spcPts val="100"/>
              </a:spcAft>
            </a:pPr>
            <a:r>
              <a:rPr sz="1200" b="0">
                <a:solidFill>
                  <a:srgbClr val="4B4B4B"/>
                </a:solidFill>
                <a:latin typeface="Arial"/>
              </a:rPr>
              <a:t>Revisions, hold covers and PDFs travel by e-mail and shared drive.</a:t>
            </a:r>
          </a:p>
          <a:p>
            <a:pPr>
              <a:spcAft>
                <a:spcPts val="100"/>
              </a:spcAft>
            </a:pPr>
            <a:r>
              <a:rPr sz="1200" b="0">
                <a:solidFill>
                  <a:srgbClr val="0072D8"/>
                </a:solidFill>
                <a:latin typeface="Arial"/>
              </a:rPr>
              <a:t>NB flow</a:t>
            </a:r>
          </a:p>
        </p:txBody>
      </p:sp>
      <p:sp>
        <p:nvSpPr>
          <p:cNvPr id="23" name="Oval 22"/>
          <p:cNvSpPr/>
          <p:nvPr/>
        </p:nvSpPr>
        <p:spPr>
          <a:xfrm>
            <a:off x="6233007"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E-policy fall-outs</a:t>
            </a:r>
          </a:p>
          <a:p>
            <a:pPr>
              <a:spcAft>
                <a:spcPts val="100"/>
              </a:spcAft>
            </a:pPr>
            <a:r>
              <a:rPr sz="1200" b="0">
                <a:solidFill>
                  <a:srgbClr val="4B4B4B"/>
                </a:solidFill>
                <a:latin typeface="Arial"/>
              </a:rPr>
              <a:t>Text files, an IT exception report and a batch update of policy numbers.</a:t>
            </a:r>
          </a:p>
          <a:p>
            <a:pPr>
              <a:spcAft>
                <a:spcPts val="100"/>
              </a:spcAft>
            </a:pPr>
            <a:r>
              <a:rPr sz="1200" b="0">
                <a:solidFill>
                  <a:srgbClr val="0072D8"/>
                </a:solidFill>
                <a:latin typeface="Arial"/>
              </a:rPr>
              <a:t>NB flow</a:t>
            </a:r>
          </a:p>
        </p:txBody>
      </p:sp>
      <p:sp>
        <p:nvSpPr>
          <p:cNvPr id="25" name="Oval 24"/>
          <p:cNvSpPr/>
          <p:nvPr/>
        </p:nvSpPr>
        <p:spPr>
          <a:xfrm>
            <a:off x="6233007"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Three senders of the e-policy</a:t>
            </a:r>
          </a:p>
          <a:p>
            <a:pPr>
              <a:spcAft>
                <a:spcPts val="100"/>
              </a:spcAft>
            </a:pPr>
            <a:r>
              <a:rPr sz="1200" b="0">
                <a:solidFill>
                  <a:srgbClr val="4B4B4B"/>
                </a:solidFill>
                <a:latin typeface="Arial"/>
              </a:rPr>
              <a:t>COG-OPRM, the Processing Officer or the contact centre after a fall-out.</a:t>
            </a:r>
          </a:p>
          <a:p>
            <a:pPr>
              <a:spcAft>
                <a:spcPts val="100"/>
              </a:spcAft>
            </a:pPr>
            <a:r>
              <a:rPr sz="1200" b="0">
                <a:solidFill>
                  <a:srgbClr val="0072D8"/>
                </a:solidFill>
                <a:latin typeface="Arial"/>
              </a:rPr>
              <a:t>NB flow</a:t>
            </a:r>
          </a:p>
        </p:txBody>
      </p:sp>
      <p:sp>
        <p:nvSpPr>
          <p:cNvPr id="27" name="Oval 26"/>
          <p:cNvSpPr/>
          <p:nvPr/>
        </p:nvSpPr>
        <p:spPr>
          <a:xfrm>
            <a:off x="6233007"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Booking depends on access</a:t>
            </a:r>
          </a:p>
          <a:p>
            <a:pPr>
              <a:spcAft>
                <a:spcPts val="100"/>
              </a:spcAft>
            </a:pPr>
            <a:r>
              <a:rPr sz="1200" b="0">
                <a:solidFill>
                  <a:srgbClr val="4B4B4B"/>
                </a:solidFill>
                <a:latin typeface="Arial"/>
              </a:rPr>
              <a:t>Placement and booking done in ISYS or EBIX by whoever has access.</a:t>
            </a:r>
          </a:p>
          <a:p>
            <a:pPr>
              <a:spcAft>
                <a:spcPts val="100"/>
              </a:spcAft>
            </a:pPr>
            <a:r>
              <a:rPr sz="1200" b="0">
                <a:solidFill>
                  <a:srgbClr val="0072D8"/>
                </a:solidFill>
                <a:latin typeface="Arial"/>
              </a:rPr>
              <a:t>NB flow</a:t>
            </a:r>
          </a:p>
        </p:txBody>
      </p:sp>
      <p:sp>
        <p:nvSpPr>
          <p:cNvPr id="29" name="Oval 28"/>
          <p:cNvSpPr/>
          <p:nvPr/>
        </p:nvSpPr>
        <p:spPr>
          <a:xfrm>
            <a:off x="6233007"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11</a:t>
            </a:r>
          </a:p>
        </p:txBody>
      </p:sp>
      <p:sp>
        <p:nvSpPr>
          <p:cNvPr id="30" name="TextBox 29"/>
          <p:cNvSpPr txBox="1"/>
          <p:nvPr/>
        </p:nvSpPr>
        <p:spPr>
          <a:xfrm>
            <a:off x="6708495"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CBG Fire billing by hand</a:t>
            </a:r>
          </a:p>
          <a:p>
            <a:pPr>
              <a:spcAft>
                <a:spcPts val="100"/>
              </a:spcAft>
            </a:pPr>
            <a:r>
              <a:rPr sz="1200" b="0">
                <a:solidFill>
                  <a:srgbClr val="4B4B4B"/>
                </a:solidFill>
                <a:latin typeface="Arial"/>
              </a:rPr>
              <a:t>CLPC billing file prepared and paid list checked manually.</a:t>
            </a:r>
          </a:p>
          <a:p>
            <a:pPr>
              <a:spcAft>
                <a:spcPts val="100"/>
              </a:spcAft>
            </a:pPr>
            <a:r>
              <a:rPr sz="1200" b="0">
                <a:solidFill>
                  <a:srgbClr val="0072D8"/>
                </a:solidFill>
                <a:latin typeface="Arial"/>
              </a:rPr>
              <a:t>NB flow</a:t>
            </a:r>
          </a:p>
        </p:txBody>
      </p:sp>
      <p:sp>
        <p:nvSpPr>
          <p:cNvPr id="31" name="Oval 30"/>
          <p:cNvSpPr/>
          <p:nvPr/>
        </p:nvSpPr>
        <p:spPr>
          <a:xfrm>
            <a:off x="6233007"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12</a:t>
            </a:r>
          </a:p>
        </p:txBody>
      </p:sp>
      <p:sp>
        <p:nvSpPr>
          <p:cNvPr id="32" name="TextBox 31"/>
          <p:cNvSpPr txBox="1"/>
          <p:nvPr/>
        </p:nvSpPr>
        <p:spPr>
          <a:xfrm>
            <a:off x="6708495"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Pipeline and status in Excel</a:t>
            </a:r>
          </a:p>
          <a:p>
            <a:pPr>
              <a:spcAft>
                <a:spcPts val="100"/>
              </a:spcAft>
            </a:pPr>
            <a:r>
              <a:rPr sz="1200" b="0">
                <a:solidFill>
                  <a:srgbClr val="4B4B4B"/>
                </a:solidFill>
                <a:latin typeface="Arial"/>
              </a:rPr>
              <a:t>NB masterlist and status reports compiled by hand.</a:t>
            </a:r>
          </a:p>
          <a:p>
            <a:pPr>
              <a:spcAft>
                <a:spcPts val="100"/>
              </a:spcAft>
            </a:pPr>
            <a:r>
              <a:rPr sz="1200" b="0">
                <a:solidFill>
                  <a:srgbClr val="0072D8"/>
                </a:solidFill>
                <a:latin typeface="Arial"/>
              </a:rPr>
              <a:t>NB-11</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the business wants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and bank lists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Bank lists and e-mailed requests captured once, in bulk where the bank sends a list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Bulk intake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Quotations in Excel templates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Quotations produced from one rated template, versioned and approved before sending</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Rating rules</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validity or SLA control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30-day validity and the 7 / 3-day SLA tracked on every quote (NB-03, NB-07)</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SLA clocks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KYC outside the system</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Decide whether KYC and AMLA move into the system (NB-04)</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To confirm</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One deal keyed in three systems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client and one account created once, used by placement, booking and renewal</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Key once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Placement per insurer by e-mail</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way of sending placement slips to every insurer, with a record of what was sent</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Insurer standard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what the business wants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Returns and hold covers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Returns and hold covers tracked with the placement, documents stored with the account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Document store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E-policy fall-outs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E-policy fall-outs visible in one queue with an owner, no text files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Exception queue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Three senders of the e-policy</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team sends every e-policy</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sender</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Booking depends on access</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Booking by role, not by who has access to which system</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Access by role</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11</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Fire billing by hand</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CLPC billing file produced and the paid list matched automatically</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Auto matching</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12</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Pipeline and status in Excel</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Pipeline for Retail and Corporate, by source, without Excel (NB-11)</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Live dashboard</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best practice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placement exchange</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pattern for ~55 insurers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Placement, returns and e-policies exchanged through one standard channel (API or SFTP with a common layout).</a:t>
            </a:r>
          </a:p>
          <a:p>
            <a:pPr>
              <a:spcAft>
                <a:spcPts val="400"/>
              </a:spcAft>
            </a:pPr>
            <a:r>
              <a:rPr sz="1200" b="1">
                <a:solidFill>
                  <a:srgbClr val="004EA8"/>
                </a:solidFill>
                <a:latin typeface="Arial"/>
              </a:rPr>
              <a:t>For BDOI: </a:t>
            </a:r>
            <a:r>
              <a:rPr sz="1200" b="0">
                <a:solidFill>
                  <a:srgbClr val="4B4B4B"/>
                </a:solidFill>
                <a:latin typeface="Arial"/>
              </a:rPr>
              <a:t>Agree a BDOI insurer data standard and on-board insurers in waves.</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Broker CRM and pipeline</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Sales productivity</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Leads from bank referrals, funnel stages, hit ratio and cross-sell per client.</a:t>
            </a:r>
          </a:p>
          <a:p>
            <a:pPr>
              <a:spcAft>
                <a:spcPts val="400"/>
              </a:spcAft>
            </a:pPr>
            <a:r>
              <a:rPr sz="1200" b="1">
                <a:solidFill>
                  <a:srgbClr val="004EA8"/>
                </a:solidFill>
                <a:latin typeface="Arial"/>
              </a:rPr>
              <a:t>For BDOI: </a:t>
            </a:r>
            <a:r>
              <a:rPr sz="1200" b="0">
                <a:solidFill>
                  <a:srgbClr val="4B4B4B"/>
                </a:solidFill>
                <a:latin typeface="Arial"/>
              </a:rPr>
              <a:t>Add lead source and funnel KPIs to the dashboard.</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E-policy ingestion with OCR</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fall-out text files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E-policies read, matched to the account and filed automatically; exceptions in a queue.</a:t>
            </a:r>
          </a:p>
          <a:p>
            <a:pPr>
              <a:spcAft>
                <a:spcPts val="400"/>
              </a:spcAft>
            </a:pPr>
            <a:r>
              <a:rPr sz="1200" b="1">
                <a:solidFill>
                  <a:srgbClr val="004EA8"/>
                </a:solidFill>
                <a:latin typeface="Arial"/>
              </a:rPr>
              <a:t>For BDOI: </a:t>
            </a:r>
            <a:r>
              <a:rPr sz="1200" b="0">
                <a:solidFill>
                  <a:srgbClr val="4B4B4B"/>
                </a:solidFill>
                <a:latin typeface="Arial"/>
              </a:rPr>
              <a:t>Start with the top insurers by volume.</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Reuse of bank KYC</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onboarding</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 data and KYC reused from the bank CIF for bank-referred clients.</a:t>
            </a:r>
          </a:p>
          <a:p>
            <a:pPr>
              <a:spcAft>
                <a:spcPts val="400"/>
              </a:spcAft>
            </a:pPr>
            <a:r>
              <a:rPr sz="1200" b="1">
                <a:solidFill>
                  <a:srgbClr val="004EA8"/>
                </a:solidFill>
                <a:latin typeface="Arial"/>
              </a:rPr>
              <a:t>For BDOI: </a:t>
            </a:r>
            <a:r>
              <a:rPr sz="1200" b="0">
                <a:solidFill>
                  <a:srgbClr val="4B4B4B"/>
                </a:solidFill>
                <a:latin typeface="Arial"/>
              </a:rPr>
              <a:t>Confirm with Compliance and BDO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 New Business: best practice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Quote lifecycle control</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stale quotes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Validity, auto-expiry, SLA clocks and reminders on every quote.</a:t>
            </a:r>
          </a:p>
          <a:p>
            <a:pPr>
              <a:spcAft>
                <a:spcPts val="400"/>
              </a:spcAft>
            </a:pPr>
            <a:r>
              <a:rPr sz="1200" b="1">
                <a:solidFill>
                  <a:srgbClr val="004EA8"/>
                </a:solidFill>
                <a:latin typeface="Arial"/>
              </a:rPr>
              <a:t>For BDOI: </a:t>
            </a:r>
            <a:r>
              <a:rPr sz="1200" b="0">
                <a:solidFill>
                  <a:srgbClr val="4B4B4B"/>
                </a:solidFill>
                <a:latin typeface="Arial"/>
              </a:rPr>
              <a:t>Add validity and SLA values (NB-03, NB-07).</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acceptance and payment link</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cycle</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 accepts the proposal online with e-signature and pays by link.</a:t>
            </a:r>
          </a:p>
          <a:p>
            <a:pPr>
              <a:spcAft>
                <a:spcPts val="400"/>
              </a:spcAft>
            </a:pPr>
            <a:r>
              <a:rPr sz="1200" b="1">
                <a:solidFill>
                  <a:srgbClr val="004EA8"/>
                </a:solidFill>
                <a:latin typeface="Arial"/>
              </a:rPr>
              <a:t>For BDOI: </a:t>
            </a:r>
            <a:r>
              <a:rPr sz="1200" b="0">
                <a:solidFill>
                  <a:srgbClr val="4B4B4B"/>
                </a:solidFill>
                <a:latin typeface="Arial"/>
              </a:rPr>
              <a:t>After go-live, with the e-signature decision (CP-01).</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bank business</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Volume at low cost</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Bank loan files (HLS, LAD) become quotations and accounts in bulk without re-keying.</a:t>
            </a:r>
          </a:p>
          <a:p>
            <a:pPr>
              <a:spcAft>
                <a:spcPts val="400"/>
              </a:spcAft>
            </a:pPr>
            <a:r>
              <a:rPr sz="1200" b="1">
                <a:solidFill>
                  <a:srgbClr val="004EA8"/>
                </a:solidFill>
                <a:latin typeface="Arial"/>
              </a:rPr>
              <a:t>For BDOI: </a:t>
            </a:r>
            <a:r>
              <a:rPr sz="1200" b="0">
                <a:solidFill>
                  <a:srgbClr val="4B4B4B"/>
                </a:solidFill>
                <a:latin typeface="Arial"/>
              </a:rPr>
              <a:t>Specify the HLS, CLAS and CTS feeds.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Marine declarations portal</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Trade growth</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Declarations by portal or API with e-certificates and QR verification.</a:t>
            </a:r>
          </a:p>
          <a:p>
            <a:pPr>
              <a:spcAft>
                <a:spcPts val="400"/>
              </a:spcAft>
            </a:pPr>
            <a:r>
              <a:rPr sz="1200" b="1">
                <a:solidFill>
                  <a:srgbClr val="004EA8"/>
                </a:solidFill>
                <a:latin typeface="Arial"/>
              </a:rPr>
              <a:t>For BDOI: </a:t>
            </a:r>
            <a:r>
              <a:rPr sz="1200" b="0">
                <a:solidFill>
                  <a:srgbClr val="4B4B4B"/>
                </a:solidFill>
                <a:latin typeface="Arial"/>
              </a:rPr>
              <a:t>Specify open covers first (TR-01).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Marketing (renewal AOs, Marketing Admin) and Processing (renewal sanitation and placement)</a:t>
            </a:r>
          </a:p>
          <a:p>
            <a:pPr>
              <a:spcAft>
                <a:spcPts val="300"/>
              </a:spcAft>
            </a:pPr>
            <a:r>
              <a:rPr sz="1200" b="0">
                <a:solidFill>
                  <a:srgbClr val="004EA8"/>
                </a:solidFill>
                <a:latin typeface="Arial"/>
              </a:rPr>
              <a:t>•  </a:t>
            </a:r>
            <a:r>
              <a:rPr sz="1200" b="0">
                <a:solidFill>
                  <a:srgbClr val="4B4B4B"/>
                </a:solidFill>
                <a:latin typeface="Arial"/>
              </a:rPr>
              <a:t>Marketing Admin (MA) and Marketing Admin TL; Marketing TL, TH and AO</a:t>
            </a:r>
          </a:p>
          <a:p>
            <a:pPr>
              <a:spcAft>
                <a:spcPts val="300"/>
              </a:spcAft>
            </a:pPr>
            <a:r>
              <a:rPr sz="1200" b="0">
                <a:solidFill>
                  <a:srgbClr val="004EA8"/>
                </a:solidFill>
                <a:latin typeface="Arial"/>
              </a:rPr>
              <a:t>•  </a:t>
            </a:r>
            <a:r>
              <a:rPr sz="1200" b="0">
                <a:solidFill>
                  <a:srgbClr val="4B4B4B"/>
                </a:solidFill>
                <a:latin typeface="Arial"/>
              </a:rPr>
              <a:t>Sanitation Handler (SH) and head-office SH (CBG Fire, CBG Motor)</a:t>
            </a:r>
          </a:p>
          <a:p>
            <a:pPr>
              <a:spcAft>
                <a:spcPts val="300"/>
              </a:spcAft>
            </a:pPr>
            <a:r>
              <a:rPr sz="1200" b="0">
                <a:solidFill>
                  <a:srgbClr val="004EA8"/>
                </a:solidFill>
                <a:latin typeface="Arial"/>
              </a:rPr>
              <a:t>•  </a:t>
            </a:r>
            <a:r>
              <a:rPr sz="1200" b="0">
                <a:solidFill>
                  <a:srgbClr val="4B4B4B"/>
                </a:solidFill>
                <a:latin typeface="Arial"/>
              </a:rPr>
              <a:t>Processing Officer and TL (Non-CBG corporate and retail)</a:t>
            </a:r>
          </a:p>
          <a:p>
            <a:pPr>
              <a:spcAft>
                <a:spcPts val="300"/>
              </a:spcAft>
            </a:pPr>
            <a:r>
              <a:rPr sz="1200" b="0">
                <a:solidFill>
                  <a:srgbClr val="004EA8"/>
                </a:solidFill>
                <a:latin typeface="Arial"/>
              </a:rPr>
              <a:t>•  </a:t>
            </a:r>
            <a:r>
              <a:rPr sz="1200" b="0">
                <a:solidFill>
                  <a:srgbClr val="4B4B4B"/>
                </a:solidFill>
                <a:latin typeface="Arial"/>
              </a:rPr>
              <a:t>IT (RMEL extract, RA text file); ES-COG-OPRM (RA letters); contact centre</a:t>
            </a:r>
          </a:p>
          <a:p>
            <a:pPr>
              <a:spcAft>
                <a:spcPts val="300"/>
              </a:spcAft>
            </a:pPr>
            <a:r>
              <a:rPr sz="1200" b="0">
                <a:solidFill>
                  <a:srgbClr val="004EA8"/>
                </a:solidFill>
                <a:latin typeface="Arial"/>
              </a:rPr>
              <a:t>•  </a:t>
            </a:r>
            <a:r>
              <a:rPr sz="1200" b="0">
                <a:solidFill>
                  <a:srgbClr val="4B4B4B"/>
                </a:solidFill>
                <a:latin typeface="Arial"/>
              </a:rPr>
              <a:t>Clients and insurers (external)</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-140 days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the expiring list (RMEL) is extracted from EBIX (Renewal flow)</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-70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first renewal notice to the client</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-40 / -45</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days: final notice for CBG / Non-CBG</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 paths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CBG automated RMEL, Non-CBG, non-package and exceptions</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(Renewal Marketing 10-11 am, 43F; Renewal Processing 1:30-3 pm, 44F)</a:t>
            </a:r>
          </a:p>
          <a:p>
            <a:pPr>
              <a:spcAft>
                <a:spcPts val="400"/>
              </a:spcAft>
            </a:pPr>
            <a:r>
              <a:rPr sz="1100" b="1">
                <a:solidFill>
                  <a:srgbClr val="004EA8"/>
                </a:solidFill>
                <a:latin typeface="Arial"/>
              </a:rPr>
              <a:t>Process owners: </a:t>
            </a:r>
            <a:r>
              <a:rPr sz="1100" b="0">
                <a:solidFill>
                  <a:srgbClr val="4B4B4B"/>
                </a:solidFill>
                <a:latin typeface="Arial"/>
              </a:rPr>
              <a:t>Amara Cruz, Rose Lique, Joy Ilagan, Tina Fajardo, Grace Tordesillas, Kin Ysaac Flores and 9 more (floor-walk coverage slide)</a:t>
            </a:r>
          </a:p>
          <a:p>
            <a:pPr>
              <a:spcAft>
                <a:spcPts val="400"/>
              </a:spcAft>
            </a:pPr>
            <a:r>
              <a:rPr sz="1100" b="0">
                <a:solidFill>
                  <a:srgbClr val="004EA8"/>
                </a:solidFill>
                <a:latin typeface="Arial"/>
              </a:rPr>
              <a:t>•  </a:t>
            </a:r>
            <a:r>
              <a:rPr sz="1100" b="0">
                <a:solidFill>
                  <a:srgbClr val="4B4B4B"/>
                </a:solidFill>
                <a:latin typeface="Arial"/>
              </a:rPr>
              <a:t>Renewal process flow (CBG automated RMEL; Non-CBG; non-package and exceptions)</a:t>
            </a:r>
          </a:p>
          <a:p>
            <a:pPr>
              <a:spcAft>
                <a:spcPts val="400"/>
              </a:spcAft>
            </a:pPr>
            <a:r>
              <a:rPr sz="1100" b="0">
                <a:solidFill>
                  <a:srgbClr val="004EA8"/>
                </a:solidFill>
                <a:latin typeface="Arial"/>
              </a:rPr>
              <a:t>•  </a:t>
            </a:r>
            <a:r>
              <a:rPr sz="1100" b="0">
                <a:solidFill>
                  <a:srgbClr val="4B4B4B"/>
                </a:solidFill>
                <a:latin typeface="Arial"/>
              </a:rPr>
              <a:t>BDOI Day 1 overview p.14</a:t>
            </a:r>
          </a:p>
          <a:p>
            <a:pPr>
              <a:spcAft>
                <a:spcPts val="400"/>
              </a:spcAft>
            </a:pPr>
            <a:r>
              <a:rPr sz="1100" b="0">
                <a:solidFill>
                  <a:srgbClr val="004EA8"/>
                </a:solidFill>
                <a:latin typeface="Arial"/>
              </a:rPr>
              <a:t>•  </a:t>
            </a:r>
            <a:r>
              <a:rPr sz="1100" b="0">
                <a:solidFill>
                  <a:srgbClr val="4B4B4B"/>
                </a:solidFill>
                <a:latin typeface="Arial"/>
              </a:rPr>
              <a:t>Floor-walk notes RN-01, RN-02, PM-04, DC-01</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Expiring list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Sanitation</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Disposition</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Review</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 advice</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decision</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650530">
                <a:tc>
                  <a:txBody>
                    <a:bodyPr wrap="square"/>
                    <a:lstStyle/>
                    <a:p>
                      <a:r>
                        <a:rPr sz="1100" b="1">
                          <a:solidFill>
                            <a:srgbClr val="4B4B4B"/>
                          </a:solidFill>
                          <a:latin typeface="Arial"/>
                        </a:rPr>
                        <a:t>RN-01</a:t>
                      </a:r>
                    </a:p>
                  </a:txBody>
                  <a:tcPr marL="64008" marR="64008" marT="27432" marB="27432" anchor="ctr">
                    <a:solidFill>
                      <a:srgbClr val="FFFFFF"/>
                    </a:solidFill>
                  </a:tcPr>
                </a:tc>
                <a:tc>
                  <a:txBody>
                    <a:bodyPr wrap="square"/>
                    <a:lstStyle/>
                    <a:p>
                      <a:r>
                        <a:rPr sz="1100" b="0">
                          <a:solidFill>
                            <a:srgbClr val="4B4B4B"/>
                          </a:solidFill>
                          <a:latin typeface="Arial"/>
                        </a:rPr>
                        <a:t>Review and disposition</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Renewal review and dispositions are done in Excel; the renewal master expiry list is sent and the renewal advice goes to the client.</a:t>
                      </a:r>
                    </a:p>
                  </a:txBody>
                  <a:tcPr marL="64008" marR="64008" marT="27432" marB="27432" anchor="ctr">
                    <a:solidFill>
                      <a:srgbClr val="FFFFFF"/>
                    </a:solidFill>
                  </a:tcPr>
                </a:tc>
                <a:tc>
                  <a:txBody>
                    <a:bodyPr wrap="square"/>
                    <a:lstStyle/>
                    <a:p>
                      <a:r>
                        <a:rPr sz="1100" b="0">
                          <a:solidFill>
                            <a:srgbClr val="4B4B4B"/>
                          </a:solidFill>
                          <a:latin typeface="Arial"/>
                        </a:rPr>
                        <a:t>Major pain point: move it into the system.</a:t>
                      </a:r>
                    </a:p>
                  </a:txBody>
                  <a:tcPr marL="64008" marR="64008" marT="27432" marB="27432" anchor="ctr">
                    <a:solidFill>
                      <a:srgbClr val="FFFFFF"/>
                    </a:solidFill>
                  </a:tcPr>
                </a:tc>
              </a:tr>
              <a:tr h="650530">
                <a:tc>
                  <a:txBody>
                    <a:bodyPr wrap="square"/>
                    <a:lstStyle/>
                    <a:p>
                      <a:r>
                        <a:rPr sz="1100" b="1">
                          <a:solidFill>
                            <a:srgbClr val="4B4B4B"/>
                          </a:solidFill>
                          <a:latin typeface="Arial"/>
                        </a:rPr>
                        <a:t>RN-02</a:t>
                      </a:r>
                    </a:p>
                  </a:txBody>
                  <a:tcPr marL="64008" marR="64008" marT="27432" marB="27432" anchor="ctr">
                    <a:solidFill>
                      <a:srgbClr val="E5F5FF"/>
                    </a:solidFill>
                  </a:tcPr>
                </a:tc>
                <a:tc>
                  <a:txBody>
                    <a:bodyPr wrap="square"/>
                    <a:lstStyle/>
                    <a:p>
                      <a:r>
                        <a:rPr sz="1100" b="0">
                          <a:solidFill>
                            <a:srgbClr val="4B4B4B"/>
                          </a:solidFill>
                          <a:latin typeface="Arial"/>
                        </a:rPr>
                        <a:t>Pro-forma entries</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Renewal accounting is not real time, so adjustments are made later for additional remittance or recovery.</a:t>
                      </a:r>
                    </a:p>
                  </a:txBody>
                  <a:tcPr marL="64008" marR="64008" marT="27432" marB="27432" anchor="ctr">
                    <a:solidFill>
                      <a:srgbClr val="E5F5FF"/>
                    </a:solidFill>
                  </a:tcPr>
                </a:tc>
                <a:tc>
                  <a:txBody>
                    <a:bodyPr wrap="square"/>
                    <a:lstStyle/>
                    <a:p>
                      <a:r>
                        <a:rPr sz="1100" b="0">
                          <a:solidFill>
                            <a:srgbClr val="4B4B4B"/>
                          </a:solidFill>
                          <a:latin typeface="Arial"/>
                        </a:rPr>
                        <a:t>Pro-forma accounting entries for renewals.</a:t>
                      </a:r>
                    </a:p>
                  </a:txBody>
                  <a:tcPr marL="64008" marR="64008" marT="27432" marB="27432" anchor="ctr">
                    <a:solidFill>
                      <a:srgbClr val="E5F5FF"/>
                    </a:solidFill>
                  </a:tcPr>
                </a:tc>
              </a:tr>
              <a:tr h="650530">
                <a:tc>
                  <a:txBody>
                    <a:bodyPr wrap="square"/>
                    <a:lstStyle/>
                    <a:p>
                      <a:r>
                        <a:rPr sz="1100" b="1">
                          <a:solidFill>
                            <a:srgbClr val="4B4B4B"/>
                          </a:solidFill>
                          <a:latin typeface="Arial"/>
                        </a:rPr>
                        <a:t>PM-04</a:t>
                      </a:r>
                    </a:p>
                  </a:txBody>
                  <a:tcPr marL="64008" marR="64008" marT="27432" marB="27432" anchor="ctr">
                    <a:solidFill>
                      <a:srgbClr val="FFFFFF"/>
                    </a:solidFill>
                  </a:tcPr>
                </a:tc>
                <a:tc>
                  <a:txBody>
                    <a:bodyPr wrap="square"/>
                    <a:lstStyle/>
                    <a:p>
                      <a:r>
                        <a:rPr sz="1100" b="0">
                          <a:solidFill>
                            <a:srgbClr val="4B4B4B"/>
                          </a:solidFill>
                          <a:latin typeface="Arial"/>
                        </a:rPr>
                        <a:t>Package switch</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At renewal a policy can move from package to non-package or back.</a:t>
                      </a:r>
                    </a:p>
                  </a:txBody>
                  <a:tcPr marL="64008" marR="64008" marT="27432" marB="27432" anchor="ctr">
                    <a:solidFill>
                      <a:srgbClr val="FFFFFF"/>
                    </a:solidFill>
                  </a:tcPr>
                </a:tc>
                <a:tc>
                  <a:txBody>
                    <a:bodyPr wrap="square"/>
                    <a:lstStyle/>
                    <a:p>
                      <a:r>
                        <a:rPr sz="1100" b="0">
                          <a:solidFill>
                            <a:srgbClr val="4B4B4B"/>
                          </a:solidFill>
                          <a:latin typeface="Arial"/>
                        </a:rPr>
                        <a:t>The system allows the switch at renewal.</a:t>
                      </a:r>
                    </a:p>
                  </a:txBody>
                  <a:tcPr marL="64008" marR="64008" marT="27432" marB="27432" anchor="ctr">
                    <a:solidFill>
                      <a:srgbClr val="FFFFFF"/>
                    </a:solidFill>
                  </a:tcPr>
                </a:tc>
              </a:tr>
              <a:tr h="650530">
                <a:tc>
                  <a:txBody>
                    <a:bodyPr wrap="square"/>
                    <a:lstStyle/>
                    <a:p>
                      <a:r>
                        <a:rPr sz="1100" b="1">
                          <a:solidFill>
                            <a:srgbClr val="4B4B4B"/>
                          </a:solidFill>
                          <a:latin typeface="Arial"/>
                        </a:rPr>
                        <a:t>DC-01</a:t>
                      </a:r>
                    </a:p>
                  </a:txBody>
                  <a:tcPr marL="64008" marR="64008" marT="27432" marB="27432" anchor="ctr">
                    <a:solidFill>
                      <a:srgbClr val="E5F5FF"/>
                    </a:solidFill>
                  </a:tcPr>
                </a:tc>
                <a:tc>
                  <a:txBody>
                    <a:bodyPr wrap="square"/>
                    <a:lstStyle/>
                    <a:p>
                      <a:r>
                        <a:rPr sz="1100" b="0">
                          <a:solidFill>
                            <a:srgbClr val="4B4B4B"/>
                          </a:solidFill>
                          <a:latin typeface="Arial"/>
                        </a:rPr>
                        <a:t>Renewal advice template</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Policy schedules follow insurer templates; the renewal advice uses the BDOI template.</a:t>
                      </a:r>
                    </a:p>
                  </a:txBody>
                  <a:tcPr marL="64008" marR="64008" marT="27432" marB="27432" anchor="ctr">
                    <a:solidFill>
                      <a:srgbClr val="E5F5FF"/>
                    </a:solidFill>
                  </a:tcPr>
                </a:tc>
                <a:tc>
                  <a:txBody>
                    <a:bodyPr wrap="square"/>
                    <a:lstStyle/>
                    <a:p>
                      <a:r>
                        <a:rPr sz="1100" b="0">
                          <a:solidFill>
                            <a:srgbClr val="4B4B4B"/>
                          </a:solidFill>
                          <a:latin typeface="Arial"/>
                        </a:rPr>
                        <a:t>RA generated from the BDOI template.</a:t>
                      </a:r>
                    </a:p>
                  </a:txBody>
                  <a:tcPr marL="64008" marR="64008" marT="27432" marB="27432" anchor="ctr">
                    <a:solidFill>
                      <a:srgbClr val="E5F5FF"/>
                    </a:solidFill>
                  </a:tcPr>
                </a:tc>
              </a:tr>
              <a:tr h="650530">
                <a:tc>
                  <a:txBody>
                    <a:bodyPr wrap="square"/>
                    <a:lstStyle/>
                    <a:p>
                      <a:r>
                        <a:rPr sz="1100" b="1">
                          <a:solidFill>
                            <a:srgbClr val="4B4B4B"/>
                          </a:solidFill>
                          <a:latin typeface="Arial"/>
                        </a:rPr>
                        <a:t>Day 1 p.14</a:t>
                      </a:r>
                    </a:p>
                  </a:txBody>
                  <a:tcPr marL="64008" marR="64008" marT="27432" marB="27432" anchor="ctr">
                    <a:solidFill>
                      <a:srgbClr val="FFFFFF"/>
                    </a:solidFill>
                  </a:tcPr>
                </a:tc>
                <a:tc>
                  <a:txBody>
                    <a:bodyPr wrap="square"/>
                    <a:lstStyle/>
                    <a:p>
                      <a:r>
                        <a:rPr sz="1100" b="0">
                          <a:solidFill>
                            <a:srgbClr val="4B4B4B"/>
                          </a:solidFill>
                          <a:latin typeface="Arial"/>
                        </a:rPr>
                        <a:t>Servicing path</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Send the sanitised renewal master expiry list; generate the renewal advice letter and send it to the client.</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650530">
                <a:tc>
                  <a:txBody>
                    <a:bodyPr wrap="square"/>
                    <a:lstStyle/>
                    <a:p>
                      <a:r>
                        <a:rPr sz="1100" b="1">
                          <a:solidFill>
                            <a:srgbClr val="4B4B4B"/>
                          </a:solidFill>
                          <a:latin typeface="Arial"/>
                        </a:rPr>
                        <a:t>Renewal flow</a:t>
                      </a:r>
                    </a:p>
                  </a:txBody>
                  <a:tcPr marL="64008" marR="64008" marT="27432" marB="27432" anchor="ctr">
                    <a:solidFill>
                      <a:srgbClr val="E5F5FF"/>
                    </a:solidFill>
                  </a:tcPr>
                </a:tc>
                <a:tc>
                  <a:txBody>
                    <a:bodyPr wrap="square"/>
                    <a:lstStyle/>
                    <a:p>
                      <a:r>
                        <a:rPr sz="1100" b="0">
                          <a:solidFill>
                            <a:srgbClr val="4B4B4B"/>
                          </a:solidFill>
                          <a:latin typeface="Arial"/>
                        </a:rPr>
                        <a:t>Notice days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RMEL at -140 days; first notice at -70 days; final notice at -40 days (CBG) or -45 days (Non-CBG); CBG letters also by snail mail.</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650530">
                <a:tc>
                  <a:txBody>
                    <a:bodyPr wrap="square"/>
                    <a:lstStyle/>
                    <a:p>
                      <a:r>
                        <a:rPr sz="1100" b="1">
                          <a:solidFill>
                            <a:srgbClr val="4B4B4B"/>
                          </a:solidFill>
                          <a:latin typeface="Arial"/>
                        </a:rPr>
                        <a:t>Renewal flow</a:t>
                      </a:r>
                    </a:p>
                  </a:txBody>
                  <a:tcPr marL="64008" marR="64008" marT="27432" marB="27432" anchor="ctr">
                    <a:solidFill>
                      <a:srgbClr val="FFFFFF"/>
                    </a:solidFill>
                  </a:tcPr>
                </a:tc>
                <a:tc>
                  <a:txBody>
                    <a:bodyPr wrap="square"/>
                    <a:lstStyle/>
                    <a:p>
                      <a:r>
                        <a:rPr sz="1100" b="0">
                          <a:solidFill>
                            <a:srgbClr val="4B4B4B"/>
                          </a:solidFill>
                          <a:latin typeface="Arial"/>
                        </a:rPr>
                        <a:t>Non-package and exceptions</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Accounts with no QPS set-up are booked directly in EBIX; Processing computes, prepares the dispositioned files and coordinates with the AO when the insurer does not approve.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pic>
        <p:nvPicPr>
          <p:cNvPr id="9" name="Picture 8" descr="brd06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Renewal today (Renewal process flow: CBG automated RMEL, Non-CBG, exceptions; Day 1 p.14; RN-01, RN-02)</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three renewal paths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graphicFrame>
        <p:nvGraphicFramePr>
          <p:cNvPr id="9" name="Table 8"/>
          <p:cNvGraphicFramePr>
            <a:graphicFrameLocks noGrp="1"/>
          </p:cNvGraphicFramePr>
          <p:nvPr/>
        </p:nvGraphicFramePr>
        <p:xfrm>
          <a:off x="548640" y="1280160"/>
          <a:ext cx="11094412" cy="4023360"/>
        </p:xfrm>
        <a:graphic>
          <a:graphicData uri="http://schemas.openxmlformats.org/drawingml/2006/table">
            <a:tbl>
              <a:tblPr firstRow="1" bandRow="1">
                <a:tableStyleId>{5C22544A-7EE6-4342-B048-85BDC9FD1C3A}</a:tableStyleId>
              </a:tblPr>
              <a:tblGrid>
                <a:gridCol w="1693803"/>
                <a:gridCol w="2117254"/>
                <a:gridCol w="2710086"/>
                <a:gridCol w="2371325"/>
                <a:gridCol w="2201944"/>
              </a:tblGrid>
              <a:tr h="365760">
                <a:tc>
                  <a:txBody>
                    <a:bodyPr wrap="square"/>
                    <a:lstStyle/>
                    <a:p>
                      <a:r>
                        <a:rPr sz="1100" b="1">
                          <a:solidFill>
                            <a:srgbClr val="FFFFFF"/>
                          </a:solidFill>
                          <a:latin typeface="Arial"/>
                        </a:rPr>
                        <a:t>Path</a:t>
                      </a:r>
                    </a:p>
                  </a:txBody>
                  <a:tcPr marL="64008" marR="64008" marT="27432" marB="27432" anchor="ctr">
                    <a:solidFill>
                      <a:srgbClr val="004EA8"/>
                    </a:solidFill>
                  </a:tcPr>
                </a:tc>
                <a:tc>
                  <a:txBody>
                    <a:bodyPr wrap="square"/>
                    <a:lstStyle/>
                    <a:p>
                      <a:r>
                        <a:rPr sz="1100" b="1">
                          <a:solidFill>
                            <a:srgbClr val="FFFFFF"/>
                          </a:solidFill>
                          <a:latin typeface="Arial"/>
                        </a:rPr>
                        <a:t>Who starts</a:t>
                      </a:r>
                    </a:p>
                  </a:txBody>
                  <a:tcPr marL="64008" marR="64008" marT="27432" marB="27432" anchor="ctr">
                    <a:solidFill>
                      <a:srgbClr val="004EA8"/>
                    </a:solidFill>
                  </a:tcPr>
                </a:tc>
                <a:tc>
                  <a:txBody>
                    <a:bodyPr wrap="square"/>
                    <a:lstStyle/>
                    <a:p>
                      <a:r>
                        <a:rPr sz="1100" b="1">
                          <a:solidFill>
                            <a:srgbClr val="FFFFFF"/>
                          </a:solidFill>
                          <a:latin typeface="Arial"/>
                        </a:rPr>
                        <a:t>Sanitation and disposition</a:t>
                      </a:r>
                    </a:p>
                  </a:txBody>
                  <a:tcPr marL="64008" marR="64008" marT="27432" marB="27432" anchor="ctr">
                    <a:solidFill>
                      <a:srgbClr val="004EA8"/>
                    </a:solidFill>
                  </a:tcPr>
                </a:tc>
                <a:tc>
                  <a:txBody>
                    <a:bodyPr wrap="square"/>
                    <a:lstStyle/>
                    <a:p>
                      <a:r>
                        <a:rPr sz="1100" b="1">
                          <a:solidFill>
                            <a:srgbClr val="FFFFFF"/>
                          </a:solidFill>
                          <a:latin typeface="Arial"/>
                        </a:rPr>
                        <a:t>Renewal advice</a:t>
                      </a:r>
                    </a:p>
                  </a:txBody>
                  <a:tcPr marL="64008" marR="64008" marT="27432" marB="27432" anchor="ctr">
                    <a:solidFill>
                      <a:srgbClr val="004EA8"/>
                    </a:solidFill>
                  </a:tcPr>
                </a:tc>
                <a:tc>
                  <a:txBody>
                    <a:bodyPr wrap="square"/>
                    <a:lstStyle/>
                    <a:p>
                      <a:r>
                        <a:rPr sz="1100" b="1">
                          <a:solidFill>
                            <a:srgbClr val="FFFFFF"/>
                          </a:solidFill>
                          <a:latin typeface="Arial"/>
                        </a:rPr>
                        <a:t>Placement</a:t>
                      </a:r>
                    </a:p>
                  </a:txBody>
                  <a:tcPr marL="64008" marR="64008" marT="27432" marB="27432" anchor="ctr">
                    <a:solidFill>
                      <a:srgbClr val="004EA8"/>
                    </a:solidFill>
                  </a:tcPr>
                </a:tc>
              </a:tr>
              <a:tr h="731520">
                <a:tc>
                  <a:txBody>
                    <a:bodyPr wrap="square"/>
                    <a:lstStyle/>
                    <a:p>
                      <a:r>
                        <a:rPr sz="1100" b="1">
                          <a:solidFill>
                            <a:srgbClr val="4B4B4B"/>
                          </a:solidFill>
                          <a:latin typeface="Arial"/>
                        </a:rPr>
                        <a:t>CBG Fire and Motor (automated RMEL)</a:t>
                      </a:r>
                    </a:p>
                  </a:txBody>
                  <a:tcPr marL="64008" marR="64008" marT="27432" marB="27432" anchor="ctr">
                    <a:solidFill>
                      <a:srgbClr val="FFFFFF"/>
                    </a:solidFill>
                  </a:tcPr>
                </a:tc>
                <a:tc>
                  <a:txBody>
                    <a:bodyPr wrap="square"/>
                    <a:lstStyle/>
                    <a:p>
                      <a:r>
                        <a:rPr sz="1100" b="0">
                          <a:solidFill>
                            <a:srgbClr val="4B4B4B"/>
                          </a:solidFill>
                          <a:latin typeface="Arial"/>
                        </a:rPr>
                        <a:t>Head-office SH advises branch SHs</a:t>
                      </a:r>
                    </a:p>
                  </a:txBody>
                  <a:tcPr marL="64008" marR="64008" marT="27432" marB="27432" anchor="ctr">
                    <a:solidFill>
                      <a:srgbClr val="FFFFFF"/>
                    </a:solidFill>
                  </a:tcPr>
                </a:tc>
                <a:tc>
                  <a:txBody>
                    <a:bodyPr wrap="square"/>
                    <a:lstStyle/>
                    <a:p>
                      <a:r>
                        <a:rPr sz="1100" b="0">
                          <a:solidFill>
                            <a:srgbClr val="4B4B4B"/>
                          </a:solidFill>
                          <a:latin typeface="Arial"/>
                        </a:rPr>
                        <a:t>SH identifies, updates, computes; MTL / MTH review by e-mail</a:t>
                      </a:r>
                    </a:p>
                  </a:txBody>
                  <a:tcPr marL="64008" marR="64008" marT="27432" marB="27432" anchor="ctr">
                    <a:solidFill>
                      <a:srgbClr val="FFFFFF"/>
                    </a:solidFill>
                  </a:tcPr>
                </a:tc>
                <a:tc>
                  <a:txBody>
                    <a:bodyPr wrap="square"/>
                    <a:lstStyle/>
                    <a:p>
                      <a:r>
                        <a:rPr sz="1100" b="0">
                          <a:solidFill>
                            <a:srgbClr val="4B4B4B"/>
                          </a:solidFill>
                          <a:latin typeface="Arial"/>
                        </a:rPr>
                        <a:t>IT RA text file; COG e-mail and snail mail; -70 / -40 days</a:t>
                      </a:r>
                    </a:p>
                  </a:txBody>
                  <a:tcPr marL="64008" marR="64008" marT="27432" marB="27432" anchor="ctr">
                    <a:solidFill>
                      <a:srgbClr val="FFFFFF"/>
                    </a:solidFill>
                  </a:tcPr>
                </a:tc>
                <a:tc>
                  <a:txBody>
                    <a:bodyPr wrap="square"/>
                    <a:lstStyle/>
                    <a:p>
                      <a:r>
                        <a:rPr sz="1100" b="0">
                          <a:solidFill>
                            <a:srgbClr val="4B4B4B"/>
                          </a:solidFill>
                          <a:latin typeface="Arial"/>
                        </a:rPr>
                        <a:t>MA validates payment; GRF; slip by SFTP or e-mail</a:t>
                      </a:r>
                    </a:p>
                  </a:txBody>
                  <a:tcPr marL="64008" marR="64008" marT="27432" marB="27432" anchor="ctr">
                    <a:solidFill>
                      <a:srgbClr val="FFFFFF"/>
                    </a:solidFill>
                  </a:tcPr>
                </a:tc>
              </a:tr>
              <a:tr h="731520">
                <a:tc>
                  <a:txBody>
                    <a:bodyPr wrap="square"/>
                    <a:lstStyle/>
                    <a:p>
                      <a:r>
                        <a:rPr sz="1100" b="1">
                          <a:solidFill>
                            <a:srgbClr val="4B4B4B"/>
                          </a:solidFill>
                          <a:latin typeface="Arial"/>
                        </a:rPr>
                        <a:t>Non-CBG (package)</a:t>
                      </a:r>
                    </a:p>
                  </a:txBody>
                  <a:tcPr marL="64008" marR="64008" marT="27432" marB="27432" anchor="ctr">
                    <a:solidFill>
                      <a:srgbClr val="E5F5FF"/>
                    </a:solidFill>
                  </a:tcPr>
                </a:tc>
                <a:tc>
                  <a:txBody>
                    <a:bodyPr wrap="square"/>
                    <a:lstStyle/>
                    <a:p>
                      <a:r>
                        <a:rPr sz="1100" b="0">
                          <a:solidFill>
                            <a:srgbClr val="4B4B4B"/>
                          </a:solidFill>
                          <a:latin typeface="Arial"/>
                        </a:rPr>
                        <a:t>MA TL advises MA; MA splits per segment</a:t>
                      </a:r>
                    </a:p>
                  </a:txBody>
                  <a:tcPr marL="64008" marR="64008" marT="27432" marB="27432" anchor="ctr">
                    <a:solidFill>
                      <a:srgbClr val="E5F5FF"/>
                    </a:solidFill>
                  </a:tcPr>
                </a:tc>
                <a:tc>
                  <a:txBody>
                    <a:bodyPr wrap="square"/>
                    <a:lstStyle/>
                    <a:p>
                      <a:r>
                        <a:rPr sz="1100" b="0">
                          <a:solidFill>
                            <a:srgbClr val="4B4B4B"/>
                          </a:solidFill>
                          <a:latin typeface="Arial"/>
                        </a:rPr>
                        <a:t>AO dispositions, TL reviews; PO sanitises per insurer</a:t>
                      </a:r>
                    </a:p>
                  </a:txBody>
                  <a:tcPr marL="64008" marR="64008" marT="27432" marB="27432" anchor="ctr">
                    <a:solidFill>
                      <a:srgbClr val="E5F5FF"/>
                    </a:solidFill>
                  </a:tcPr>
                </a:tc>
                <a:tc>
                  <a:txBody>
                    <a:bodyPr wrap="square"/>
                    <a:lstStyle/>
                    <a:p>
                      <a:r>
                        <a:rPr sz="1100" b="0">
                          <a:solidFill>
                            <a:srgbClr val="4B4B4B"/>
                          </a:solidFill>
                          <a:latin typeface="Arial"/>
                        </a:rPr>
                        <a:t>IT RA text file; COG e-mail; -70 / -45 days</a:t>
                      </a:r>
                    </a:p>
                  </a:txBody>
                  <a:tcPr marL="64008" marR="64008" marT="27432" marB="27432" anchor="ctr">
                    <a:solidFill>
                      <a:srgbClr val="E5F5FF"/>
                    </a:solidFill>
                  </a:tcPr>
                </a:tc>
                <a:tc>
                  <a:txBody>
                    <a:bodyPr wrap="square"/>
                    <a:lstStyle/>
                    <a:p>
                      <a:r>
                        <a:rPr sz="1100" b="0">
                          <a:solidFill>
                            <a:srgbClr val="4B4B4B"/>
                          </a:solidFill>
                          <a:latin typeface="Arial"/>
                        </a:rPr>
                        <a:t>MTL submits; PO places by Excel file per insurer</a:t>
                      </a:r>
                    </a:p>
                  </a:txBody>
                  <a:tcPr marL="64008" marR="64008" marT="27432" marB="27432" anchor="ctr">
                    <a:solidFill>
                      <a:srgbClr val="E5F5FF"/>
                    </a:solidFill>
                  </a:tcPr>
                </a:tc>
              </a:tr>
              <a:tr h="731520">
                <a:tc>
                  <a:txBody>
                    <a:bodyPr wrap="square"/>
                    <a:lstStyle/>
                    <a:p>
                      <a:r>
                        <a:rPr sz="1100" b="1">
                          <a:solidFill>
                            <a:srgbClr val="4B4B4B"/>
                          </a:solidFill>
                          <a:latin typeface="Arial"/>
                        </a:rPr>
                        <a:t>Non-CBG non-package and exceptions</a:t>
                      </a:r>
                    </a:p>
                  </a:txBody>
                  <a:tcPr marL="64008" marR="64008" marT="27432" marB="27432" anchor="ctr">
                    <a:solidFill>
                      <a:srgbClr val="FFFFFF"/>
                    </a:solidFill>
                  </a:tcPr>
                </a:tc>
                <a:tc>
                  <a:txBody>
                    <a:bodyPr wrap="square"/>
                    <a:lstStyle/>
                    <a:p>
                      <a:r>
                        <a:rPr sz="1100" b="0">
                          <a:solidFill>
                            <a:srgbClr val="4B4B4B"/>
                          </a:solidFill>
                          <a:latin typeface="Arial"/>
                        </a:rPr>
                        <a:t>MA TL advises MA</a:t>
                      </a:r>
                    </a:p>
                  </a:txBody>
                  <a:tcPr marL="64008" marR="64008" marT="27432" marB="27432" anchor="ctr">
                    <a:solidFill>
                      <a:srgbClr val="FFFFFF"/>
                    </a:solidFill>
                  </a:tcPr>
                </a:tc>
                <a:tc>
                  <a:txBody>
                    <a:bodyPr wrap="square"/>
                    <a:lstStyle/>
                    <a:p>
                      <a:r>
                        <a:rPr sz="1100" b="0">
                          <a:solidFill>
                            <a:srgbClr val="4B4B4B"/>
                          </a:solidFill>
                          <a:latin typeface="Arial"/>
                        </a:rPr>
                        <a:t>PO computes and prepares the dispositioned files</a:t>
                      </a:r>
                    </a:p>
                  </a:txBody>
                  <a:tcPr marL="64008" marR="64008" marT="27432" marB="27432" anchor="ctr">
                    <a:solidFill>
                      <a:srgbClr val="FFFFFF"/>
                    </a:solidFill>
                  </a:tcPr>
                </a:tc>
                <a:tc>
                  <a:txBody>
                    <a:bodyPr wrap="square"/>
                    <a:lstStyle/>
                    <a:p>
                      <a:r>
                        <a:rPr sz="1100" b="0">
                          <a:solidFill>
                            <a:srgbClr val="4B4B4B"/>
                          </a:solidFill>
                          <a:latin typeface="Arial"/>
                        </a:rPr>
                        <a:t>PO drops RA text files for COG; -70 / -45 days</a:t>
                      </a:r>
                    </a:p>
                  </a:txBody>
                  <a:tcPr marL="64008" marR="64008" marT="27432" marB="27432" anchor="ctr">
                    <a:solidFill>
                      <a:srgbClr val="FFFFFF"/>
                    </a:solidFill>
                  </a:tcPr>
                </a:tc>
                <a:tc>
                  <a:txBody>
                    <a:bodyPr wrap="square"/>
                    <a:lstStyle/>
                    <a:p>
                      <a:r>
                        <a:rPr sz="1100" b="0">
                          <a:solidFill>
                            <a:srgbClr val="4B4B4B"/>
                          </a:solidFill>
                          <a:latin typeface="Arial"/>
                        </a:rPr>
                        <a:t>PO coordinates with the AO when the insurer declines</a:t>
                      </a:r>
                    </a:p>
                  </a:txBody>
                  <a:tcPr marL="64008" marR="64008" marT="27432" marB="27432" anchor="ctr">
                    <a:solidFill>
                      <a:srgbClr val="FFFFFF"/>
                    </a:solidFill>
                  </a:tcPr>
                </a:tc>
              </a:tr>
              <a:tr h="731520">
                <a:tc>
                  <a:txBody>
                    <a:bodyPr wrap="square"/>
                    <a:lstStyle/>
                    <a:p>
                      <a:r>
                        <a:rPr sz="1100" b="1">
                          <a:solidFill>
                            <a:srgbClr val="4B4B4B"/>
                          </a:solidFill>
                          <a:latin typeface="Arial"/>
                        </a:rPr>
                        <a:t>CBG Home only</a:t>
                      </a:r>
                    </a:p>
                  </a:txBody>
                  <a:tcPr marL="64008" marR="64008" marT="27432" marB="27432" anchor="ctr">
                    <a:solidFill>
                      <a:srgbClr val="E5F5FF"/>
                    </a:solidFill>
                  </a:tcPr>
                </a:tc>
                <a:tc>
                  <a:txBody>
                    <a:bodyPr wrap="square"/>
                    <a:lstStyle/>
                    <a:p>
                      <a:r>
                        <a:rPr sz="1100" b="0">
                          <a:solidFill>
                            <a:srgbClr val="4B4B4B"/>
                          </a:solidFill>
                          <a:latin typeface="Arial"/>
                        </a:rPr>
                        <a:t>Head-office SH</a:t>
                      </a:r>
                    </a:p>
                  </a:txBody>
                  <a:tcPr marL="64008" marR="64008" marT="27432" marB="27432" anchor="ctr">
                    <a:solidFill>
                      <a:srgbClr val="E5F5FF"/>
                    </a:solidFill>
                  </a:tcPr>
                </a:tc>
                <a:tc>
                  <a:txBody>
                    <a:bodyPr wrap="square"/>
                    <a:lstStyle/>
                    <a:p>
                      <a:r>
                        <a:rPr sz="1100" b="0">
                          <a:solidFill>
                            <a:srgbClr val="4B4B4B"/>
                          </a:solidFill>
                          <a:latin typeface="Arial"/>
                        </a:rPr>
                        <a:t>As CBG; PO coordinates insurer and Marketing by e-mail</a:t>
                      </a:r>
                    </a:p>
                  </a:txBody>
                  <a:tcPr marL="64008" marR="64008" marT="27432" marB="27432" anchor="ctr">
                    <a:solidFill>
                      <a:srgbClr val="E5F5FF"/>
                    </a:solidFill>
                  </a:tcPr>
                </a:tc>
                <a:tc>
                  <a:txBody>
                    <a:bodyPr wrap="square"/>
                    <a:lstStyle/>
                    <a:p>
                      <a:r>
                        <a:rPr sz="1100" b="0">
                          <a:solidFill>
                            <a:srgbClr val="4B4B4B"/>
                          </a:solidFill>
                          <a:latin typeface="Arial"/>
                        </a:rPr>
                        <a:t>As CBG</a:t>
                      </a:r>
                    </a:p>
                  </a:txBody>
                  <a:tcPr marL="64008" marR="64008" marT="27432" marB="27432" anchor="ctr">
                    <a:solidFill>
                      <a:srgbClr val="E5F5FF"/>
                    </a:solidFill>
                  </a:tcPr>
                </a:tc>
                <a:tc>
                  <a:txBody>
                    <a:bodyPr wrap="square"/>
                    <a:lstStyle/>
                    <a:p>
                      <a:r>
                        <a:rPr sz="1100" b="0">
                          <a:solidFill>
                            <a:srgbClr val="4B4B4B"/>
                          </a:solidFill>
                          <a:latin typeface="Arial"/>
                        </a:rPr>
                        <a:t>MA TL reviews and sends to PO</a:t>
                      </a:r>
                    </a:p>
                  </a:txBody>
                  <a:tcPr marL="64008" marR="64008" marT="27432" marB="27432" anchor="ctr">
                    <a:solidFill>
                      <a:srgbClr val="E5F5FF"/>
                    </a:solidFill>
                  </a:tcPr>
                </a:tc>
              </a:tr>
              <a:tr h="731520">
                <a:tc>
                  <a:txBody>
                    <a:bodyPr wrap="square"/>
                    <a:lstStyle/>
                    <a:p>
                      <a:r>
                        <a:rPr sz="1100" b="1">
                          <a:solidFill>
                            <a:srgbClr val="4B4B4B"/>
                          </a:solidFill>
                          <a:latin typeface="Arial"/>
                        </a:rPr>
                        <a:t>Branches without an MA TL</a:t>
                      </a:r>
                    </a:p>
                  </a:txBody>
                  <a:tcPr marL="64008" marR="64008" marT="27432" marB="27432" anchor="ctr">
                    <a:solidFill>
                      <a:srgbClr val="FFFFFF"/>
                    </a:solidFill>
                  </a:tcPr>
                </a:tc>
                <a:tc>
                  <a:txBody>
                    <a:bodyPr wrap="square"/>
                    <a:lstStyle/>
                    <a:p>
                      <a:r>
                        <a:rPr sz="1100" b="0">
                          <a:solidFill>
                            <a:srgbClr val="4B4B4B"/>
                          </a:solidFill>
                          <a:latin typeface="Arial"/>
                        </a:rPr>
                        <a:t>MTL does the MA TL steps</a:t>
                      </a:r>
                    </a:p>
                  </a:txBody>
                  <a:tcPr marL="64008" marR="64008" marT="27432" marB="27432" anchor="ctr">
                    <a:solidFill>
                      <a:srgbClr val="FFFFFF"/>
                    </a:solidFill>
                  </a:tcPr>
                </a:tc>
                <a:tc>
                  <a:txBody>
                    <a:bodyPr wrap="square"/>
                    <a:lstStyle/>
                    <a:p>
                      <a:r>
                        <a:rPr sz="1100" b="0">
                          <a:solidFill>
                            <a:srgbClr val="4B4B4B"/>
                          </a:solidFill>
                          <a:latin typeface="Arial"/>
                        </a:rPr>
                        <a:t>As Non-CBG</a:t>
                      </a:r>
                    </a:p>
                  </a:txBody>
                  <a:tcPr marL="64008" marR="64008" marT="27432" marB="27432" anchor="ctr">
                    <a:solidFill>
                      <a:srgbClr val="FFFFFF"/>
                    </a:solidFill>
                  </a:tcPr>
                </a:tc>
                <a:tc>
                  <a:txBody>
                    <a:bodyPr wrap="square"/>
                    <a:lstStyle/>
                    <a:p>
                      <a:r>
                        <a:rPr sz="1100" b="0">
                          <a:solidFill>
                            <a:srgbClr val="4B4B4B"/>
                          </a:solidFill>
                          <a:latin typeface="Arial"/>
                        </a:rPr>
                        <a:t>As Non-CBG</a:t>
                      </a:r>
                    </a:p>
                  </a:txBody>
                  <a:tcPr marL="64008" marR="64008" marT="27432" marB="27432" anchor="ctr">
                    <a:solidFill>
                      <a:srgbClr val="FFFFFF"/>
                    </a:solidFill>
                  </a:tcPr>
                </a:tc>
                <a:tc>
                  <a:txBody>
                    <a:bodyPr wrap="square"/>
                    <a:lstStyle/>
                    <a:p>
                      <a:r>
                        <a:rPr sz="1100" b="0">
                          <a:solidFill>
                            <a:srgbClr val="4B4B4B"/>
                          </a:solidFill>
                          <a:latin typeface="Arial"/>
                        </a:rPr>
                        <a:t>As Non-CBG</a:t>
                      </a:r>
                    </a:p>
                  </a:txBody>
                  <a:tcPr marL="64008" marR="64008" marT="27432" marB="27432" anchor="ctr">
                    <a:solidFill>
                      <a:srgbClr val="FFFFFF"/>
                    </a:solid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extracts the expiring list</a:t>
            </a:r>
          </a:p>
          <a:p>
            <a:pPr>
              <a:spcAft>
                <a:spcPts val="100"/>
              </a:spcAft>
            </a:pPr>
            <a:r>
              <a:rPr sz="1200" b="0">
                <a:solidFill>
                  <a:srgbClr val="4B4B4B"/>
                </a:solidFill>
                <a:latin typeface="Arial"/>
              </a:rPr>
              <a:t>The RMEL is an IT extract from EBIX; business cannot run it.</a:t>
            </a:r>
          </a:p>
          <a:p>
            <a:pPr>
              <a:spcAft>
                <a:spcPts val="100"/>
              </a:spcAft>
            </a:pPr>
            <a:r>
              <a:rPr sz="1200" b="0">
                <a:solidFill>
                  <a:srgbClr val="0072D8"/>
                </a:solidFill>
                <a:latin typeface="Arial"/>
              </a:rPr>
              <a:t>Renewal flow</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Many hand-offs before work starts</a:t>
            </a:r>
          </a:p>
          <a:p>
            <a:pPr>
              <a:spcAft>
                <a:spcPts val="100"/>
              </a:spcAft>
            </a:pPr>
            <a:r>
              <a:rPr sz="1200" b="0">
                <a:solidFill>
                  <a:srgbClr val="4B4B4B"/>
                </a:solidFill>
                <a:latin typeface="Arial"/>
              </a:rPr>
              <a:t>MA TL, MA, MTL and AO (or head-office and branch SHs) pass the file on.</a:t>
            </a:r>
          </a:p>
          <a:p>
            <a:pPr>
              <a:spcAft>
                <a:spcPts val="100"/>
              </a:spcAft>
            </a:pPr>
            <a:r>
              <a:rPr sz="1200" b="0">
                <a:solidFill>
                  <a:srgbClr val="0072D8"/>
                </a:solidFill>
                <a:latin typeface="Arial"/>
              </a:rPr>
              <a:t>Renewal flow</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Sanitation in Excel</a:t>
            </a:r>
          </a:p>
          <a:p>
            <a:pPr>
              <a:spcAft>
                <a:spcPts val="100"/>
              </a:spcAft>
            </a:pPr>
            <a:r>
              <a:rPr sz="1200" b="0">
                <a:solidFill>
                  <a:srgbClr val="4B4B4B"/>
                </a:solidFill>
                <a:latin typeface="Arial"/>
              </a:rPr>
              <a:t>Handlers identify accounts, update details and compute premium in Excel.</a:t>
            </a:r>
          </a:p>
          <a:p>
            <a:pPr>
              <a:spcAft>
                <a:spcPts val="100"/>
              </a:spcAft>
            </a:pPr>
            <a:r>
              <a:rPr sz="1200" b="0">
                <a:solidFill>
                  <a:srgbClr val="0072D8"/>
                </a:solidFill>
                <a:latin typeface="Arial"/>
              </a:rPr>
              <a:t>Renewal flow</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 in Excel</a:t>
            </a:r>
          </a:p>
          <a:p>
            <a:pPr>
              <a:spcAft>
                <a:spcPts val="100"/>
              </a:spcAft>
            </a:pPr>
            <a:r>
              <a:rPr sz="1200" b="0">
                <a:solidFill>
                  <a:srgbClr val="4B4B4B"/>
                </a:solidFill>
                <a:latin typeface="Arial"/>
              </a:rPr>
              <a:t>AO dispositions in a spreadsheet, reviewed by e-mail.</a:t>
            </a:r>
          </a:p>
          <a:p>
            <a:pPr>
              <a:spcAft>
                <a:spcPts val="100"/>
              </a:spcAft>
            </a:pPr>
            <a:r>
              <a:rPr sz="1200" b="0">
                <a:solidFill>
                  <a:srgbClr val="0072D8"/>
                </a:solidFill>
                <a:latin typeface="Arial"/>
              </a:rPr>
              <a:t>RN-01</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Upload and correction loop</a:t>
            </a:r>
          </a:p>
          <a:p>
            <a:pPr>
              <a:spcAft>
                <a:spcPts val="100"/>
              </a:spcAft>
            </a:pPr>
            <a:r>
              <a:rPr sz="1200" b="0">
                <a:solidFill>
                  <a:srgbClr val="4B4B4B"/>
                </a:solidFill>
                <a:latin typeface="Arial"/>
              </a:rPr>
              <a:t>Files dropped in a folder; failed rows found and re-worked.</a:t>
            </a:r>
          </a:p>
          <a:p>
            <a:pPr>
              <a:spcAft>
                <a:spcPts val="100"/>
              </a:spcAft>
            </a:pPr>
            <a:r>
              <a:rPr sz="1200" b="0">
                <a:solidFill>
                  <a:srgbClr val="0072D8"/>
                </a:solidFill>
                <a:latin typeface="Arial"/>
              </a:rPr>
              <a:t>Renewal flow</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RA through text files and COG</a:t>
            </a:r>
          </a:p>
          <a:p>
            <a:pPr>
              <a:spcAft>
                <a:spcPts val="100"/>
              </a:spcAft>
            </a:pPr>
            <a:r>
              <a:rPr sz="1200" b="0">
                <a:solidFill>
                  <a:srgbClr val="4B4B4B"/>
                </a:solidFill>
                <a:latin typeface="Arial"/>
              </a:rPr>
              <a:t>IT text file, COG print; snail mail for CBG; notice days differ by segment.</a:t>
            </a:r>
          </a:p>
          <a:p>
            <a:pPr>
              <a:spcAft>
                <a:spcPts val="100"/>
              </a:spcAft>
            </a:pPr>
            <a:r>
              <a:rPr sz="1200" b="0">
                <a:solidFill>
                  <a:srgbClr val="0072D8"/>
                </a:solidFill>
                <a:latin typeface="Arial"/>
              </a:rPr>
              <a:t>Renewal flow; DC-01</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Accepted renewals re-keyed</a:t>
            </a:r>
          </a:p>
          <a:p>
            <a:pPr>
              <a:spcAft>
                <a:spcPts val="100"/>
              </a:spcAft>
            </a:pPr>
            <a:r>
              <a:rPr sz="1200" b="0">
                <a:solidFill>
                  <a:srgbClr val="4B4B4B"/>
                </a:solidFill>
                <a:latin typeface="Arial"/>
              </a:rPr>
              <a:t>AO updates the account; payment and changes validated by hand.</a:t>
            </a:r>
          </a:p>
          <a:p>
            <a:pPr>
              <a:spcAft>
                <a:spcPts val="100"/>
              </a:spcAft>
            </a:pPr>
            <a:r>
              <a:rPr sz="1200" b="0">
                <a:solidFill>
                  <a:srgbClr val="0072D8"/>
                </a:solidFill>
                <a:latin typeface="Arial"/>
              </a:rPr>
              <a:t>Renewal flow</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lists from Excel</a:t>
            </a:r>
          </a:p>
          <a:p>
            <a:pPr>
              <a:spcAft>
                <a:spcPts val="100"/>
              </a:spcAft>
            </a:pPr>
            <a:r>
              <a:rPr sz="1200" b="0">
                <a:solidFill>
                  <a:srgbClr val="4B4B4B"/>
                </a:solidFill>
                <a:latin typeface="Arial"/>
              </a:rPr>
              <a:t>Placement files prepared in Excel and e-mailed to each insurer.</a:t>
            </a:r>
          </a:p>
          <a:p>
            <a:pPr>
              <a:spcAft>
                <a:spcPts val="100"/>
              </a:spcAft>
            </a:pPr>
            <a:r>
              <a:rPr sz="1200" b="0">
                <a:solidFill>
                  <a:srgbClr val="0072D8"/>
                </a:solidFill>
                <a:latin typeface="Arial"/>
              </a:rPr>
              <a:t>Renewal flow</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Accounting after the fact</a:t>
            </a:r>
          </a:p>
          <a:p>
            <a:pPr>
              <a:spcAft>
                <a:spcPts val="100"/>
              </a:spcAft>
            </a:pPr>
            <a:r>
              <a:rPr sz="1200" b="0">
                <a:solidFill>
                  <a:srgbClr val="4B4B4B"/>
                </a:solidFill>
                <a:latin typeface="Arial"/>
              </a:rPr>
              <a:t>No real-time renewal accounting; additional remittance or recovery adjusted later.</a:t>
            </a:r>
          </a:p>
          <a:p>
            <a:pPr>
              <a:spcAft>
                <a:spcPts val="100"/>
              </a:spcAft>
            </a:pPr>
            <a:r>
              <a:rPr sz="1200" b="0">
                <a:solidFill>
                  <a:srgbClr val="0072D8"/>
                </a:solidFill>
                <a:latin typeface="Arial"/>
              </a:rPr>
              <a:t>RN-02</a:t>
            </a:r>
          </a:p>
        </p:txBody>
      </p:sp>
      <p:sp>
        <p:nvSpPr>
          <p:cNvPr id="27" name="Oval 26"/>
          <p:cNvSpPr/>
          <p:nvPr/>
        </p:nvSpPr>
        <p:spPr>
          <a:xfrm>
            <a:off x="6233007"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E-policy fall-outs again</a:t>
            </a:r>
          </a:p>
          <a:p>
            <a:pPr>
              <a:spcAft>
                <a:spcPts val="100"/>
              </a:spcAft>
            </a:pPr>
            <a:r>
              <a:rPr sz="1200" b="0">
                <a:solidFill>
                  <a:srgbClr val="4B4B4B"/>
                </a:solidFill>
                <a:latin typeface="Arial"/>
              </a:rPr>
              <a:t>The e-policy leg repeats the New Business fall-out chain.</a:t>
            </a:r>
          </a:p>
          <a:p>
            <a:pPr>
              <a:spcAft>
                <a:spcPts val="100"/>
              </a:spcAft>
            </a:pPr>
            <a:r>
              <a:rPr sz="1200" b="0">
                <a:solidFill>
                  <a:srgbClr val="0072D8"/>
                </a:solidFill>
                <a:latin typeface="Arial"/>
              </a:rPr>
              <a:t>Renewal flow</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what the business wants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extracts the expiring list</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Expiring list available to the business without an IT extract</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Scheduled list</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Many hand-offs before work starts</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Work assigned straight to the handler or AO, not passed through four hands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Assignment rules</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Sanitation in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Sanitation checks and premium computed by rule</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Rules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 in Excel</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Review and disposition out of Excel (RN-01)</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Online disposition</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Upload and correction loop</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No upload step, so no failed rows to re-work</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file upload</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what the business wants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RA through text files and COG</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Renewal advice from the BDOI template (DC-01), by e-mail and print, per client preference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Batch RA</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Accepted renewals re-keyed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Acceptance carries the account straight to placement</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Key once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lists from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Insurer lists produced per insurer, not built in Excel</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Insurer standard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Accounting after the fact</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Pro-forma accounting entries for renewals (RN-02)</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Pro-forma</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E-policy fall-outs again</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Same e-policy exception queue as New Business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Exception queue</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2. Renewal: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renewals</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Volume without headcount</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 decision matrix renews clean accounts automatically; people handle exceptions only.</a:t>
            </a:r>
          </a:p>
          <a:p>
            <a:pPr>
              <a:spcAft>
                <a:spcPts val="400"/>
              </a:spcAft>
            </a:pPr>
            <a:r>
              <a:rPr sz="1200" b="1">
                <a:solidFill>
                  <a:srgbClr val="004EA8"/>
                </a:solidFill>
                <a:latin typeface="Arial"/>
              </a:rPr>
              <a:t>For BDOI: </a:t>
            </a:r>
            <a:r>
              <a:rPr sz="1200" b="0">
                <a:solidFill>
                  <a:srgbClr val="4B4B4B"/>
                </a:solidFill>
                <a:latin typeface="Arial"/>
              </a:rPr>
              <a:t>Agree the rules with Marketing so most CBG renewals pass untouched.</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Omnichannel renewal notices</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Retention</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E-mail, SMS, print and portal notices with delivery tracking.</a:t>
            </a:r>
          </a:p>
          <a:p>
            <a:pPr>
              <a:spcAft>
                <a:spcPts val="400"/>
              </a:spcAft>
            </a:pPr>
            <a:r>
              <a:rPr sz="1200" b="1">
                <a:solidFill>
                  <a:srgbClr val="004EA8"/>
                </a:solidFill>
                <a:latin typeface="Arial"/>
              </a:rPr>
              <a:t>For BDOI: </a:t>
            </a:r>
            <a:r>
              <a:rPr sz="1200" b="0">
                <a:solidFill>
                  <a:srgbClr val="4B4B4B"/>
                </a:solidFill>
                <a:latin typeface="Arial"/>
              </a:rPr>
              <a:t>Add SMS and a print batch to the RA.</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Pay-to-renew link</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acceptance</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The RA carries a payment link; payment is the acceptance.</a:t>
            </a:r>
          </a:p>
          <a:p>
            <a:pPr>
              <a:spcAft>
                <a:spcPts val="400"/>
              </a:spcAft>
            </a:pPr>
            <a:r>
              <a:rPr sz="1200" b="1">
                <a:solidFill>
                  <a:srgbClr val="004EA8"/>
                </a:solidFill>
                <a:latin typeface="Arial"/>
              </a:rPr>
              <a:t>For BDOI: </a:t>
            </a:r>
            <a:r>
              <a:rPr sz="1200" b="0">
                <a:solidFill>
                  <a:srgbClr val="4B4B4B"/>
                </a:solidFill>
                <a:latin typeface="Arial"/>
              </a:rPr>
              <a:t>Add a payment reference and link to the RA template.</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Experience-based renewal pricing</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terms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Claims and payment history feed the renewal terms and insurer choice.</a:t>
            </a:r>
          </a:p>
          <a:p>
            <a:pPr>
              <a:spcAft>
                <a:spcPts val="400"/>
              </a:spcAft>
            </a:pPr>
            <a:r>
              <a:rPr sz="1200" b="1">
                <a:solidFill>
                  <a:srgbClr val="004EA8"/>
                </a:solidFill>
                <a:latin typeface="Arial"/>
              </a:rPr>
              <a:t>For BDOI: </a:t>
            </a:r>
            <a:r>
              <a:rPr sz="1200" b="0">
                <a:solidFill>
                  <a:srgbClr val="4B4B4B"/>
                </a:solidFill>
                <a:latin typeface="Arial"/>
              </a:rPr>
              <a:t>Show loss experience at sanitation.</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Retention analytics</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Persistency</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Lapse-risk scores, persistency and lost-business reasons per segment.</a:t>
            </a:r>
          </a:p>
          <a:p>
            <a:pPr>
              <a:spcAft>
                <a:spcPts val="400"/>
              </a:spcAft>
            </a:pPr>
            <a:r>
              <a:rPr sz="1200" b="1">
                <a:solidFill>
                  <a:srgbClr val="004EA8"/>
                </a:solidFill>
                <a:latin typeface="Arial"/>
              </a:rPr>
              <a:t>For BDOI: </a:t>
            </a:r>
            <a:r>
              <a:rPr sz="1200" b="0">
                <a:solidFill>
                  <a:srgbClr val="4B4B4B"/>
                </a:solidFill>
                <a:latin typeface="Arial"/>
              </a:rPr>
              <a:t>Track reasons for non-renewal in the disposition list.</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Early renewal window</a:t>
            </a:r>
          </a:p>
        </p:txBody>
      </p:sp>
      <p:sp>
        <p:nvSpPr>
          <p:cNvPr id="37" name="TextBox 36"/>
          <p:cNvSpPr txBox="1"/>
          <p:nvPr/>
        </p:nvSpPr>
        <p:spPr>
          <a:xfrm>
            <a:off x="8146084"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last-minute cases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Terms agreed with insurers before the RMEL so RAs go out on day one.</a:t>
            </a:r>
          </a:p>
          <a:p>
            <a:pPr>
              <a:spcAft>
                <a:spcPts val="400"/>
              </a:spcAft>
            </a:pPr>
            <a:r>
              <a:rPr sz="1200" b="1">
                <a:solidFill>
                  <a:srgbClr val="004EA8"/>
                </a:solidFill>
                <a:latin typeface="Arial"/>
              </a:rPr>
              <a:t>For BDOI: </a:t>
            </a:r>
            <a:r>
              <a:rPr sz="1200" b="0">
                <a:solidFill>
                  <a:srgbClr val="4B4B4B"/>
                </a:solidFill>
                <a:latin typeface="Arial"/>
              </a:rPr>
              <a:t>Negotiate renewal terms per package yearly with TSU.</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CBG and Non-CBG Marketing - Submitted Policies</a:t>
            </a:r>
          </a:p>
          <a:p>
            <a:pPr>
              <a:spcAft>
                <a:spcPts val="300"/>
              </a:spcAft>
            </a:pPr>
            <a:r>
              <a:rPr sz="1200" b="0">
                <a:solidFill>
                  <a:srgbClr val="004EA8"/>
                </a:solidFill>
                <a:latin typeface="Arial"/>
              </a:rPr>
              <a:t>•  </a:t>
            </a:r>
            <a:r>
              <a:rPr sz="1200" b="0">
                <a:solidFill>
                  <a:srgbClr val="4B4B4B"/>
                </a:solidFill>
                <a:latin typeface="Arial"/>
              </a:rPr>
              <a:t>Submitted Handler and Submitted Checker (CBG)</a:t>
            </a:r>
          </a:p>
          <a:p>
            <a:pPr>
              <a:spcAft>
                <a:spcPts val="300"/>
              </a:spcAft>
            </a:pPr>
            <a:r>
              <a:rPr sz="1200" b="0">
                <a:solidFill>
                  <a:srgbClr val="004EA8"/>
                </a:solidFill>
                <a:latin typeface="Arial"/>
              </a:rPr>
              <a:t>•  </a:t>
            </a:r>
            <a:r>
              <a:rPr sz="1200" b="0">
                <a:solidFill>
                  <a:srgbClr val="4B4B4B"/>
                </a:solidFill>
                <a:latin typeface="Arial"/>
              </a:rPr>
              <a:t>Sanitation Handler; Team Lead</a:t>
            </a:r>
          </a:p>
          <a:p>
            <a:pPr>
              <a:spcAft>
                <a:spcPts val="300"/>
              </a:spcAft>
            </a:pPr>
            <a:r>
              <a:rPr sz="1200" b="0">
                <a:solidFill>
                  <a:srgbClr val="004EA8"/>
                </a:solidFill>
                <a:latin typeface="Arial"/>
              </a:rPr>
              <a:t>•  </a:t>
            </a:r>
            <a:r>
              <a:rPr sz="1200" b="0">
                <a:solidFill>
                  <a:srgbClr val="4B4B4B"/>
                </a:solidFill>
                <a:latin typeface="Arial"/>
              </a:rPr>
              <a:t>Policy Reviewer (Non-CBG Corporate); Marketing AO; NB AO and TL</a:t>
            </a:r>
          </a:p>
          <a:p>
            <a:pPr>
              <a:spcAft>
                <a:spcPts val="300"/>
              </a:spcAft>
            </a:pPr>
            <a:r>
              <a:rPr sz="1200" b="0">
                <a:solidFill>
                  <a:srgbClr val="004EA8"/>
                </a:solidFill>
                <a:latin typeface="Arial"/>
              </a:rPr>
              <a:t>•  </a:t>
            </a:r>
            <a:r>
              <a:rPr sz="1200" b="0">
                <a:solidFill>
                  <a:srgbClr val="4B4B4B"/>
                </a:solidFill>
                <a:latin typeface="Arial"/>
              </a:rPr>
              <a:t>Admin Team UPP handler (handling fee)</a:t>
            </a:r>
          </a:p>
          <a:p>
            <a:pPr>
              <a:spcAft>
                <a:spcPts val="300"/>
              </a:spcAft>
            </a:pPr>
            <a:r>
              <a:rPr sz="1200" b="0">
                <a:solidFill>
                  <a:srgbClr val="004EA8"/>
                </a:solidFill>
                <a:latin typeface="Arial"/>
              </a:rPr>
              <a:t>•  </a:t>
            </a:r>
            <a:r>
              <a:rPr sz="1200" b="0">
                <a:solidFill>
                  <a:srgbClr val="4B4B4B"/>
                </a:solidFill>
                <a:latin typeface="Arial"/>
              </a:rPr>
              <a:t>Bank units: Home Loan AO, IBG / Leasing, LFS, CIU, LAMD; COG</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30 days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 consolidate the submitted masterlist after extraction (SP flow)</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150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before expiry: masterlist to the Sanitation Handler (SP flow)</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90 days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before expiry: RA by snail mail for CBG Motor (SP flow)</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3-5 days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for the insurer to accept the 30-day hold cover, else re-assign</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Discovery 24-Sep-2026; process flow walked with Marketing (Submitted Policies)</a:t>
            </a:r>
          </a:p>
          <a:p>
            <a:pPr>
              <a:spcAft>
                <a:spcPts val="400"/>
              </a:spcAft>
            </a:pPr>
            <a:r>
              <a:rPr sz="1100" b="1">
                <a:solidFill>
                  <a:srgbClr val="004EA8"/>
                </a:solidFill>
                <a:latin typeface="Arial"/>
              </a:rPr>
              <a:t>Process owners: </a:t>
            </a:r>
            <a:r>
              <a:rPr sz="1100" b="0">
                <a:solidFill>
                  <a:srgbClr val="4B4B4B"/>
                </a:solidFill>
                <a:latin typeface="Arial"/>
              </a:rPr>
              <a:t>CBG and Non-CBG Marketing process owners (Submitted Policies)</a:t>
            </a:r>
          </a:p>
          <a:p>
            <a:pPr>
              <a:spcAft>
                <a:spcPts val="400"/>
              </a:spcAft>
            </a:pPr>
            <a:r>
              <a:rPr sz="1100" b="0">
                <a:solidFill>
                  <a:srgbClr val="004EA8"/>
                </a:solidFill>
                <a:latin typeface="Arial"/>
              </a:rPr>
              <a:t>•  </a:t>
            </a:r>
            <a:r>
              <a:rPr sz="1100" b="0">
                <a:solidFill>
                  <a:srgbClr val="4B4B4B"/>
                </a:solidFill>
                <a:latin typeface="Arial"/>
              </a:rPr>
              <a:t>Submitted Policies process flow (5 pages: intake, handling fee, three renewal paths)</a:t>
            </a:r>
          </a:p>
          <a:p>
            <a:pPr>
              <a:spcAft>
                <a:spcPts val="400"/>
              </a:spcAft>
            </a:pPr>
            <a:r>
              <a:rPr sz="1100" b="0">
                <a:solidFill>
                  <a:srgbClr val="004EA8"/>
                </a:solidFill>
                <a:latin typeface="Arial"/>
              </a:rPr>
              <a:t>•  </a:t>
            </a:r>
            <a:r>
              <a:rPr sz="1100" b="0">
                <a:solidFill>
                  <a:srgbClr val="4B4B4B"/>
                </a:solidFill>
                <a:latin typeface="Arial"/>
              </a:rPr>
              <a:t>Floor-walk note SP-01</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Bank extract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Documents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Masterlist</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Review</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IAAF</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Loan match</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Expiry</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Conversion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SP-01</a:t>
                      </a:r>
                    </a:p>
                  </a:txBody>
                  <a:tcPr marL="64008" marR="64008" marT="27432" marB="27432" anchor="ctr">
                    <a:solidFill>
                      <a:srgbClr val="FFFFFF"/>
                    </a:solidFill>
                  </a:tcPr>
                </a:tc>
                <a:tc>
                  <a:txBody>
                    <a:bodyPr wrap="square"/>
                    <a:lstStyle/>
                    <a:p>
                      <a:r>
                        <a:rPr sz="1100" b="0">
                          <a:solidFill>
                            <a:srgbClr val="4B4B4B"/>
                          </a:solidFill>
                          <a:latin typeface="Arial"/>
                        </a:rPr>
                        <a:t>Leasing and mortgage</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Leasing and mortgage accounts are "submitted policies"; they are tracked manually, not in a system.</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SP flow p.1</a:t>
                      </a:r>
                    </a:p>
                  </a:txBody>
                  <a:tcPr marL="64008" marR="64008" marT="27432" marB="27432" anchor="ctr">
                    <a:solidFill>
                      <a:srgbClr val="E5F5FF"/>
                    </a:solidFill>
                  </a:tcPr>
                </a:tc>
                <a:tc>
                  <a:txBody>
                    <a:bodyPr wrap="square"/>
                    <a:lstStyle/>
                    <a:p>
                      <a:r>
                        <a:rPr sz="1100" b="0">
                          <a:solidFill>
                            <a:srgbClr val="4B4B4B"/>
                          </a:solidFill>
                          <a:latin typeface="Arial"/>
                        </a:rPr>
                        <a:t>Intake</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Policy details extracted from LFS and CIU and the daily HLS insurance report; documents from the Home Loan AO and IBG / Leasing; validated and consolidated in the Submitted Masterlist on Drive H within 30 days; IAAF (PDF) issued when there are findings.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SP flow p.2</a:t>
                      </a:r>
                    </a:p>
                  </a:txBody>
                  <a:tcPr marL="64008" marR="64008" marT="27432" marB="27432" anchor="ctr">
                    <a:solidFill>
                      <a:srgbClr val="FFFFFF"/>
                    </a:solidFill>
                  </a:tcPr>
                </a:tc>
                <a:tc>
                  <a:txBody>
                    <a:bodyPr wrap="square"/>
                    <a:lstStyle/>
                    <a:p>
                      <a:r>
                        <a:rPr sz="1100" b="0">
                          <a:solidFill>
                            <a:srgbClr val="4B4B4B"/>
                          </a:solidFill>
                          <a:latin typeface="Arial"/>
                        </a:rPr>
                        <a:t>Handling fee (CBG Motor)</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UPP list on SharePoint filtered for handling-fee billing; NB TL assigns to the AO; disposition fed back by e-mail; client IDs saved in a shared folder.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SP flow p.3</a:t>
                      </a:r>
                    </a:p>
                  </a:txBody>
                  <a:tcPr marL="64008" marR="64008" marT="27432" marB="27432" anchor="ctr">
                    <a:solidFill>
                      <a:srgbClr val="E5F5FF"/>
                    </a:solidFill>
                  </a:tcPr>
                </a:tc>
                <a:tc>
                  <a:txBody>
                    <a:bodyPr wrap="square"/>
                    <a:lstStyle/>
                    <a:p>
                      <a:r>
                        <a:rPr sz="1100" b="0">
                          <a:solidFill>
                            <a:srgbClr val="4B4B4B"/>
                          </a:solidFill>
                          <a:latin typeface="Arial"/>
                        </a:rPr>
                        <a:t>Renewal CBG Motor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SPI list from Drive H mapped to NB and Renewal databases; matched with LAMD; FFY, BDO / SM employees and No Touch excluded; loan status updated; RA by snail mail at 90 days; NRNS list to COG and to AOs for call-outs.</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SP flow p.4</a:t>
                      </a:r>
                    </a:p>
                  </a:txBody>
                  <a:tcPr marL="64008" marR="64008" marT="27432" marB="27432" anchor="ctr">
                    <a:solidFill>
                      <a:srgbClr val="FFFFFF"/>
                    </a:solidFill>
                  </a:tcPr>
                </a:tc>
                <a:tc>
                  <a:txBody>
                    <a:bodyPr wrap="square"/>
                    <a:lstStyle/>
                    <a:p>
                      <a:r>
                        <a:rPr sz="1100" b="0">
                          <a:solidFill>
                            <a:srgbClr val="4B4B4B"/>
                          </a:solidFill>
                          <a:latin typeface="Arial"/>
                        </a:rPr>
                        <a:t>Renewal CBG Fire</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Assign an insurer different from the expiring one; proposal with a 30-day hold cover by e-mail; accepted within 3-5 days or re-assigned.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SP flow p.5</a:t>
                      </a:r>
                    </a:p>
                  </a:txBody>
                  <a:tcPr marL="64008" marR="64008" marT="27432" marB="27432" anchor="ctr">
                    <a:solidFill>
                      <a:srgbClr val="E5F5FF"/>
                    </a:solidFill>
                  </a:tcPr>
                </a:tc>
                <a:tc>
                  <a:txBody>
                    <a:bodyPr wrap="square"/>
                    <a:lstStyle/>
                    <a:p>
                      <a:r>
                        <a:rPr sz="1100" b="0">
                          <a:solidFill>
                            <a:srgbClr val="4B4B4B"/>
                          </a:solidFill>
                          <a:latin typeface="Arial"/>
                        </a:rPr>
                        <a:t>Renewal Non-CBG Retail</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AO asks the insurer to quote on expiring terms, quotes the employee, prepares the ARF in ISYS; NRNS letter by e-mail if declined.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pic>
        <p:nvPicPr>
          <p:cNvPr id="9" name="Picture 8" descr="brd12_fw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Submitted policies today (Submitted Policies process flow pages 1-5; SP-01)</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3. Submitted Policies: intake and three renewal paths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graphicFrame>
        <p:nvGraphicFramePr>
          <p:cNvPr id="9" name="Table 8"/>
          <p:cNvGraphicFramePr>
            <a:graphicFrameLocks noGrp="1"/>
          </p:cNvGraphicFramePr>
          <p:nvPr/>
        </p:nvGraphicFramePr>
        <p:xfrm>
          <a:off x="548640" y="1280160"/>
          <a:ext cx="11094413" cy="4023360"/>
        </p:xfrm>
        <a:graphic>
          <a:graphicData uri="http://schemas.openxmlformats.org/drawingml/2006/table">
            <a:tbl>
              <a:tblPr firstRow="1" bandRow="1">
                <a:tableStyleId>{5C22544A-7EE6-4342-B048-85BDC9FD1C3A}</a:tableStyleId>
              </a:tblPr>
              <a:tblGrid>
                <a:gridCol w="1761018"/>
                <a:gridCol w="2289323"/>
                <a:gridCol w="3345934"/>
                <a:gridCol w="1937120"/>
                <a:gridCol w="1761018"/>
              </a:tblGrid>
              <a:tr h="365760">
                <a:tc>
                  <a:txBody>
                    <a:bodyPr wrap="square"/>
                    <a:lstStyle/>
                    <a:p>
                      <a:r>
                        <a:rPr sz="1100" b="1">
                          <a:solidFill>
                            <a:srgbClr val="FFFFFF"/>
                          </a:solidFill>
                          <a:latin typeface="Arial"/>
                        </a:rPr>
                        <a:t>Path</a:t>
                      </a:r>
                    </a:p>
                  </a:txBody>
                  <a:tcPr marL="64008" marR="64008" marT="27432" marB="27432" anchor="ctr">
                    <a:solidFill>
                      <a:srgbClr val="004EA8"/>
                    </a:solidFill>
                  </a:tcPr>
                </a:tc>
                <a:tc>
                  <a:txBody>
                    <a:bodyPr wrap="square"/>
                    <a:lstStyle/>
                    <a:p>
                      <a:r>
                        <a:rPr sz="1100" b="1">
                          <a:solidFill>
                            <a:srgbClr val="FFFFFF"/>
                          </a:solidFill>
                          <a:latin typeface="Arial"/>
                        </a:rPr>
                        <a:t>Source</a:t>
                      </a:r>
                    </a:p>
                  </a:txBody>
                  <a:tcPr marL="64008" marR="64008" marT="27432" marB="27432" anchor="ctr">
                    <a:solidFill>
                      <a:srgbClr val="004EA8"/>
                    </a:solidFill>
                  </a:tcPr>
                </a:tc>
                <a:tc>
                  <a:txBody>
                    <a:bodyPr wrap="square"/>
                    <a:lstStyle/>
                    <a:p>
                      <a:r>
                        <a:rPr sz="1100" b="1">
                          <a:solidFill>
                            <a:srgbClr val="FFFFFF"/>
                          </a:solidFill>
                          <a:latin typeface="Arial"/>
                        </a:rPr>
                        <a:t>What the handler does</a:t>
                      </a:r>
                    </a:p>
                  </a:txBody>
                  <a:tcPr marL="64008" marR="64008" marT="27432" marB="27432" anchor="ctr">
                    <a:solidFill>
                      <a:srgbClr val="004EA8"/>
                    </a:solidFill>
                  </a:tcPr>
                </a:tc>
                <a:tc>
                  <a:txBody>
                    <a:bodyPr wrap="square"/>
                    <a:lstStyle/>
                    <a:p>
                      <a:r>
                        <a:rPr sz="1100" b="1">
                          <a:solidFill>
                            <a:srgbClr val="FFFFFF"/>
                          </a:solidFill>
                          <a:latin typeface="Arial"/>
                        </a:rPr>
                        <a:t>Output</a:t>
                      </a:r>
                    </a:p>
                  </a:txBody>
                  <a:tcPr marL="64008" marR="64008" marT="27432" marB="27432" anchor="ctr">
                    <a:solidFill>
                      <a:srgbClr val="004EA8"/>
                    </a:solidFill>
                  </a:tcPr>
                </a:tc>
                <a:tc>
                  <a:txBody>
                    <a:bodyPr wrap="square"/>
                    <a:lstStyle/>
                    <a:p>
                      <a:r>
                        <a:rPr sz="1100" b="1">
                          <a:solidFill>
                            <a:srgbClr val="FFFFFF"/>
                          </a:solidFill>
                          <a:latin typeface="Arial"/>
                        </a:rPr>
                        <a:t>Channel</a:t>
                      </a:r>
                    </a:p>
                  </a:txBody>
                  <a:tcPr marL="64008" marR="64008" marT="27432" marB="27432" anchor="ctr">
                    <a:solidFill>
                      <a:srgbClr val="004EA8"/>
                    </a:solidFill>
                  </a:tcPr>
                </a:tc>
              </a:tr>
              <a:tr h="731520">
                <a:tc>
                  <a:txBody>
                    <a:bodyPr wrap="square"/>
                    <a:lstStyle/>
                    <a:p>
                      <a:r>
                        <a:rPr sz="1100" b="1">
                          <a:solidFill>
                            <a:srgbClr val="4B4B4B"/>
                          </a:solidFill>
                          <a:latin typeface="Arial"/>
                        </a:rPr>
                        <a:t>Intake (all segments)</a:t>
                      </a:r>
                    </a:p>
                  </a:txBody>
                  <a:tcPr marL="64008" marR="64008" marT="27432" marB="27432" anchor="ctr">
                    <a:solidFill>
                      <a:srgbClr val="FFFFFF"/>
                    </a:solidFill>
                  </a:tcPr>
                </a:tc>
                <a:tc>
                  <a:txBody>
                    <a:bodyPr wrap="square"/>
                    <a:lstStyle/>
                    <a:p>
                      <a:r>
                        <a:rPr sz="1100" b="0">
                          <a:solidFill>
                            <a:srgbClr val="4B4B4B"/>
                          </a:solidFill>
                          <a:latin typeface="Arial"/>
                        </a:rPr>
                        <a:t>LFS, CIU, HLS daily; documents from Home Loan AO and IBG / Leasing</a:t>
                      </a:r>
                    </a:p>
                  </a:txBody>
                  <a:tcPr marL="64008" marR="64008" marT="27432" marB="27432" anchor="ctr">
                    <a:solidFill>
                      <a:srgbClr val="FFFFFF"/>
                    </a:solidFill>
                  </a:tcPr>
                </a:tc>
                <a:tc>
                  <a:txBody>
                    <a:bodyPr wrap="square"/>
                    <a:lstStyle/>
                    <a:p>
                      <a:r>
                        <a:rPr sz="1100" b="0">
                          <a:solidFill>
                            <a:srgbClr val="4B4B4B"/>
                          </a:solidFill>
                          <a:latin typeface="Arial"/>
                        </a:rPr>
                        <a:t>Validate, match, consolidate; review adequacy; checker validates</a:t>
                      </a:r>
                    </a:p>
                  </a:txBody>
                  <a:tcPr marL="64008" marR="64008" marT="27432" marB="27432" anchor="ctr">
                    <a:solidFill>
                      <a:srgbClr val="FFFFFF"/>
                    </a:solidFill>
                  </a:tcPr>
                </a:tc>
                <a:tc>
                  <a:txBody>
                    <a:bodyPr wrap="square"/>
                    <a:lstStyle/>
                    <a:p>
                      <a:r>
                        <a:rPr sz="1100" b="0">
                          <a:solidFill>
                            <a:srgbClr val="4B4B4B"/>
                          </a:solidFill>
                          <a:latin typeface="Arial"/>
                        </a:rPr>
                        <a:t>Masterlist on Drive H; IAAF if findings</a:t>
                      </a:r>
                    </a:p>
                  </a:txBody>
                  <a:tcPr marL="64008" marR="64008" marT="27432" marB="27432" anchor="ctr">
                    <a:solidFill>
                      <a:srgbClr val="FFFFFF"/>
                    </a:solidFill>
                  </a:tcPr>
                </a:tc>
                <a:tc>
                  <a:txBody>
                    <a:bodyPr wrap="square"/>
                    <a:lstStyle/>
                    <a:p>
                      <a:r>
                        <a:rPr sz="1100" b="0">
                          <a:solidFill>
                            <a:srgbClr val="4B4B4B"/>
                          </a:solidFill>
                          <a:latin typeface="Arial"/>
                        </a:rPr>
                        <a:t>E-mail (PDF)</a:t>
                      </a:r>
                    </a:p>
                  </a:txBody>
                  <a:tcPr marL="64008" marR="64008" marT="27432" marB="27432" anchor="ctr">
                    <a:solidFill>
                      <a:srgbClr val="FFFFFF"/>
                    </a:solidFill>
                  </a:tcPr>
                </a:tc>
              </a:tr>
              <a:tr h="731520">
                <a:tc>
                  <a:txBody>
                    <a:bodyPr wrap="square"/>
                    <a:lstStyle/>
                    <a:p>
                      <a:r>
                        <a:rPr sz="1100" b="1">
                          <a:solidFill>
                            <a:srgbClr val="4B4B4B"/>
                          </a:solidFill>
                          <a:latin typeface="Arial"/>
                        </a:rPr>
                        <a:t>Handling fee (CBG Motor)</a:t>
                      </a:r>
                    </a:p>
                  </a:txBody>
                  <a:tcPr marL="64008" marR="64008" marT="27432" marB="27432" anchor="ctr">
                    <a:solidFill>
                      <a:srgbClr val="E5F5FF"/>
                    </a:solidFill>
                  </a:tcPr>
                </a:tc>
                <a:tc>
                  <a:txBody>
                    <a:bodyPr wrap="square"/>
                    <a:lstStyle/>
                    <a:p>
                      <a:r>
                        <a:rPr sz="1100" b="0">
                          <a:solidFill>
                            <a:srgbClr val="4B4B4B"/>
                          </a:solidFill>
                          <a:latin typeface="Arial"/>
                        </a:rPr>
                        <a:t>UPP list on SharePoint</a:t>
                      </a:r>
                    </a:p>
                  </a:txBody>
                  <a:tcPr marL="64008" marR="64008" marT="27432" marB="27432" anchor="ctr">
                    <a:solidFill>
                      <a:srgbClr val="E5F5FF"/>
                    </a:solidFill>
                  </a:tcPr>
                </a:tc>
                <a:tc>
                  <a:txBody>
                    <a:bodyPr wrap="square"/>
                    <a:lstStyle/>
                    <a:p>
                      <a:r>
                        <a:rPr sz="1100" b="0">
                          <a:solidFill>
                            <a:srgbClr val="4B4B4B"/>
                          </a:solidFill>
                          <a:latin typeface="Arial"/>
                        </a:rPr>
                        <a:t>Filter for handling-fee billing; NB TL assigns; AO dispositions</a:t>
                      </a:r>
                    </a:p>
                  </a:txBody>
                  <a:tcPr marL="64008" marR="64008" marT="27432" marB="27432" anchor="ctr">
                    <a:solidFill>
                      <a:srgbClr val="E5F5FF"/>
                    </a:solidFill>
                  </a:tcPr>
                </a:tc>
                <a:tc>
                  <a:txBody>
                    <a:bodyPr wrap="square"/>
                    <a:lstStyle/>
                    <a:p>
                      <a:r>
                        <a:rPr sz="1100" b="0">
                          <a:solidFill>
                            <a:srgbClr val="4B4B4B"/>
                          </a:solidFill>
                          <a:latin typeface="Arial"/>
                        </a:rPr>
                        <a:t>UPP list updated</a:t>
                      </a:r>
                    </a:p>
                  </a:txBody>
                  <a:tcPr marL="64008" marR="64008" marT="27432" marB="27432" anchor="ctr">
                    <a:solidFill>
                      <a:srgbClr val="E5F5FF"/>
                    </a:solidFill>
                  </a:tcPr>
                </a:tc>
                <a:tc>
                  <a:txBody>
                    <a:bodyPr wrap="square"/>
                    <a:lstStyle/>
                    <a:p>
                      <a:r>
                        <a:rPr sz="1100" b="0">
                          <a:solidFill>
                            <a:srgbClr val="4B4B4B"/>
                          </a:solidFill>
                          <a:latin typeface="Arial"/>
                        </a:rPr>
                        <a:t>E-mail, SharePoint</a:t>
                      </a:r>
                    </a:p>
                  </a:txBody>
                  <a:tcPr marL="64008" marR="64008" marT="27432" marB="27432" anchor="ctr">
                    <a:solidFill>
                      <a:srgbClr val="E5F5FF"/>
                    </a:solidFill>
                  </a:tcPr>
                </a:tc>
              </a:tr>
              <a:tr h="731520">
                <a:tc>
                  <a:txBody>
                    <a:bodyPr wrap="square"/>
                    <a:lstStyle/>
                    <a:p>
                      <a:r>
                        <a:rPr sz="1100" b="1">
                          <a:solidFill>
                            <a:srgbClr val="4B4B4B"/>
                          </a:solidFill>
                          <a:latin typeface="Arial"/>
                        </a:rPr>
                        <a:t>Renewal CBG Motor</a:t>
                      </a:r>
                    </a:p>
                  </a:txBody>
                  <a:tcPr marL="64008" marR="64008" marT="27432" marB="27432" anchor="ctr">
                    <a:solidFill>
                      <a:srgbClr val="FFFFFF"/>
                    </a:solidFill>
                  </a:tcPr>
                </a:tc>
                <a:tc>
                  <a:txBody>
                    <a:bodyPr wrap="square"/>
                    <a:lstStyle/>
                    <a:p>
                      <a:r>
                        <a:rPr sz="1100" b="0">
                          <a:solidFill>
                            <a:srgbClr val="4B4B4B"/>
                          </a:solidFill>
                          <a:latin typeface="Arial"/>
                        </a:rPr>
                        <a:t>SPI list on Drive H; LAMD</a:t>
                      </a:r>
                    </a:p>
                  </a:txBody>
                  <a:tcPr marL="64008" marR="64008" marT="27432" marB="27432" anchor="ctr">
                    <a:solidFill>
                      <a:srgbClr val="FFFFFF"/>
                    </a:solidFill>
                  </a:tcPr>
                </a:tc>
                <a:tc>
                  <a:txBody>
                    <a:bodyPr wrap="square"/>
                    <a:lstStyle/>
                    <a:p>
                      <a:r>
                        <a:rPr sz="1100" b="0">
                          <a:solidFill>
                            <a:srgbClr val="4B4B4B"/>
                          </a:solidFill>
                          <a:latin typeface="Arial"/>
                        </a:rPr>
                        <a:t>Map to NB and Renewal data; exclude FFY, employees, No Touch; loan status; vehicle type and insurer</a:t>
                      </a:r>
                    </a:p>
                  </a:txBody>
                  <a:tcPr marL="64008" marR="64008" marT="27432" marB="27432" anchor="ctr">
                    <a:solidFill>
                      <a:srgbClr val="FFFFFF"/>
                    </a:solidFill>
                  </a:tcPr>
                </a:tc>
                <a:tc>
                  <a:txBody>
                    <a:bodyPr wrap="square"/>
                    <a:lstStyle/>
                    <a:p>
                      <a:r>
                        <a:rPr sz="1100" b="0">
                          <a:solidFill>
                            <a:srgbClr val="4B4B4B"/>
                          </a:solidFill>
                          <a:latin typeface="Arial"/>
                        </a:rPr>
                        <a:t>RA text file to COG; NRNS list</a:t>
                      </a:r>
                    </a:p>
                  </a:txBody>
                  <a:tcPr marL="64008" marR="64008" marT="27432" marB="27432" anchor="ctr">
                    <a:solidFill>
                      <a:srgbClr val="FFFFFF"/>
                    </a:solidFill>
                  </a:tcPr>
                </a:tc>
                <a:tc>
                  <a:txBody>
                    <a:bodyPr wrap="square"/>
                    <a:lstStyle/>
                    <a:p>
                      <a:r>
                        <a:rPr sz="1100" b="0">
                          <a:solidFill>
                            <a:srgbClr val="4B4B4B"/>
                          </a:solidFill>
                          <a:latin typeface="Arial"/>
                        </a:rPr>
                        <a:t>Snail mail at 90 days; call-outs</a:t>
                      </a:r>
                    </a:p>
                  </a:txBody>
                  <a:tcPr marL="64008" marR="64008" marT="27432" marB="27432" anchor="ctr">
                    <a:solidFill>
                      <a:srgbClr val="FFFFFF"/>
                    </a:solidFill>
                  </a:tcPr>
                </a:tc>
              </a:tr>
              <a:tr h="731520">
                <a:tc>
                  <a:txBody>
                    <a:bodyPr wrap="square"/>
                    <a:lstStyle/>
                    <a:p>
                      <a:r>
                        <a:rPr sz="1100" b="1">
                          <a:solidFill>
                            <a:srgbClr val="4B4B4B"/>
                          </a:solidFill>
                          <a:latin typeface="Arial"/>
                        </a:rPr>
                        <a:t>Renewal CBG Fire</a:t>
                      </a:r>
                    </a:p>
                  </a:txBody>
                  <a:tcPr marL="64008" marR="64008" marT="27432" marB="27432" anchor="ctr">
                    <a:solidFill>
                      <a:srgbClr val="E5F5FF"/>
                    </a:solidFill>
                  </a:tcPr>
                </a:tc>
                <a:tc>
                  <a:txBody>
                    <a:bodyPr wrap="square"/>
                    <a:lstStyle/>
                    <a:p>
                      <a:r>
                        <a:rPr sz="1100" b="0">
                          <a:solidFill>
                            <a:srgbClr val="4B4B4B"/>
                          </a:solidFill>
                          <a:latin typeface="Arial"/>
                        </a:rPr>
                        <a:t>Expiring list; LAMD</a:t>
                      </a:r>
                    </a:p>
                  </a:txBody>
                  <a:tcPr marL="64008" marR="64008" marT="27432" marB="27432" anchor="ctr">
                    <a:solidFill>
                      <a:srgbClr val="E5F5FF"/>
                    </a:solidFill>
                  </a:tcPr>
                </a:tc>
                <a:tc>
                  <a:txBody>
                    <a:bodyPr wrap="square"/>
                    <a:lstStyle/>
                    <a:p>
                      <a:r>
                        <a:rPr sz="1100" b="0">
                          <a:solidFill>
                            <a:srgbClr val="4B4B4B"/>
                          </a:solidFill>
                          <a:latin typeface="Arial"/>
                        </a:rPr>
                        <a:t>Different insurer from the expiring one; premium; 30-day hold cover request</a:t>
                      </a:r>
                    </a:p>
                  </a:txBody>
                  <a:tcPr marL="64008" marR="64008" marT="27432" marB="27432" anchor="ctr">
                    <a:solidFill>
                      <a:srgbClr val="E5F5FF"/>
                    </a:solidFill>
                  </a:tcPr>
                </a:tc>
                <a:tc>
                  <a:txBody>
                    <a:bodyPr wrap="square"/>
                    <a:lstStyle/>
                    <a:p>
                      <a:r>
                        <a:rPr sz="1100" b="0">
                          <a:solidFill>
                            <a:srgbClr val="4B4B4B"/>
                          </a:solidFill>
                          <a:latin typeface="Arial"/>
                        </a:rPr>
                        <a:t>RA, status to TL</a:t>
                      </a:r>
                    </a:p>
                  </a:txBody>
                  <a:tcPr marL="64008" marR="64008" marT="27432" marB="27432" anchor="ctr">
                    <a:solidFill>
                      <a:srgbClr val="E5F5FF"/>
                    </a:solidFill>
                  </a:tcPr>
                </a:tc>
                <a:tc>
                  <a:txBody>
                    <a:bodyPr wrap="square"/>
                    <a:lstStyle/>
                    <a:p>
                      <a:r>
                        <a:rPr sz="1100" b="0">
                          <a:solidFill>
                            <a:srgbClr val="4B4B4B"/>
                          </a:solidFill>
                          <a:latin typeface="Arial"/>
                        </a:rPr>
                        <a:t>E-mail to insurer; snail mail</a:t>
                      </a:r>
                    </a:p>
                  </a:txBody>
                  <a:tcPr marL="64008" marR="64008" marT="27432" marB="27432" anchor="ctr">
                    <a:solidFill>
                      <a:srgbClr val="E5F5FF"/>
                    </a:solidFill>
                  </a:tcPr>
                </a:tc>
              </a:tr>
              <a:tr h="731520">
                <a:tc>
                  <a:txBody>
                    <a:bodyPr wrap="square"/>
                    <a:lstStyle/>
                    <a:p>
                      <a:r>
                        <a:rPr sz="1100" b="1">
                          <a:solidFill>
                            <a:srgbClr val="4B4B4B"/>
                          </a:solidFill>
                          <a:latin typeface="Arial"/>
                        </a:rPr>
                        <a:t>Renewal Non-CBG Retail</a:t>
                      </a:r>
                    </a:p>
                  </a:txBody>
                  <a:tcPr marL="64008" marR="64008" marT="27432" marB="27432" anchor="ctr">
                    <a:solidFill>
                      <a:srgbClr val="FFFFFF"/>
                    </a:solidFill>
                  </a:tcPr>
                </a:tc>
                <a:tc>
                  <a:txBody>
                    <a:bodyPr wrap="square"/>
                    <a:lstStyle/>
                    <a:p>
                      <a:r>
                        <a:rPr sz="1100" b="0">
                          <a:solidFill>
                            <a:srgbClr val="4B4B4B"/>
                          </a:solidFill>
                          <a:latin typeface="Arial"/>
                        </a:rPr>
                        <a:t>LAMD report</a:t>
                      </a:r>
                    </a:p>
                  </a:txBody>
                  <a:tcPr marL="64008" marR="64008" marT="27432" marB="27432" anchor="ctr">
                    <a:solidFill>
                      <a:srgbClr val="FFFFFF"/>
                    </a:solidFill>
                  </a:tcPr>
                </a:tc>
                <a:tc>
                  <a:txBody>
                    <a:bodyPr wrap="square"/>
                    <a:lstStyle/>
                    <a:p>
                      <a:r>
                        <a:rPr sz="1100" b="0">
                          <a:solidFill>
                            <a:srgbClr val="4B4B4B"/>
                          </a:solidFill>
                          <a:latin typeface="Arial"/>
                        </a:rPr>
                        <a:t>Insurer approval to quote on expiring terms; quotation; ARF in ISYS</a:t>
                      </a:r>
                    </a:p>
                  </a:txBody>
                  <a:tcPr marL="64008" marR="64008" marT="27432" marB="27432" anchor="ctr">
                    <a:solidFill>
                      <a:srgbClr val="FFFFFF"/>
                    </a:solidFill>
                  </a:tcPr>
                </a:tc>
                <a:tc>
                  <a:txBody>
                    <a:bodyPr wrap="square"/>
                    <a:lstStyle/>
                    <a:p>
                      <a:r>
                        <a:rPr sz="1100" b="0">
                          <a:solidFill>
                            <a:srgbClr val="4B4B4B"/>
                          </a:solidFill>
                          <a:latin typeface="Arial"/>
                        </a:rPr>
                        <a:t>Placement file and booking</a:t>
                      </a:r>
                    </a:p>
                  </a:txBody>
                  <a:tcPr marL="64008" marR="64008" marT="27432" marB="27432" anchor="ctr">
                    <a:solidFill>
                      <a:srgbClr val="FFFFFF"/>
                    </a:solidFill>
                  </a:tcPr>
                </a:tc>
                <a:tc>
                  <a:txBody>
                    <a:bodyPr wrap="square"/>
                    <a:lstStyle/>
                    <a:p>
                      <a:r>
                        <a:rPr sz="1100" b="0">
                          <a:solidFill>
                            <a:srgbClr val="4B4B4B"/>
                          </a:solidFill>
                          <a:latin typeface="Arial"/>
                        </a:rPr>
                        <a:t>E-mail; NRNS letter</a:t>
                      </a:r>
                    </a:p>
                  </a:txBody>
                  <a:tcPr marL="64008" marR="64008" marT="27432" marB="27432" anchor="ctr">
                    <a:solidFill>
                      <a:srgbClr val="FFFFFF"/>
                    </a:solid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Policy details consolidated by hand</a:t>
            </a:r>
          </a:p>
          <a:p>
            <a:pPr>
              <a:spcAft>
                <a:spcPts val="100"/>
              </a:spcAft>
            </a:pPr>
            <a:r>
              <a:rPr sz="1200" b="0">
                <a:solidFill>
                  <a:srgbClr val="4B4B4B"/>
                </a:solidFill>
                <a:latin typeface="Arial"/>
              </a:rPr>
              <a:t>Extracts and documents from several bank units validated and merged manually.</a:t>
            </a:r>
          </a:p>
          <a:p>
            <a:pPr>
              <a:spcAft>
                <a:spcPts val="100"/>
              </a:spcAft>
            </a:pPr>
            <a:r>
              <a:rPr sz="1200" b="0">
                <a:solidFill>
                  <a:srgbClr val="0072D8"/>
                </a:solidFill>
                <a:latin typeface="Arial"/>
              </a:rPr>
              <a:t>SP flow p.1; SP-01</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Masterlists on a shared drive</a:t>
            </a:r>
          </a:p>
          <a:p>
            <a:pPr>
              <a:spcAft>
                <a:spcPts val="100"/>
              </a:spcAft>
            </a:pPr>
            <a:r>
              <a:rPr sz="1200" b="0">
                <a:solidFill>
                  <a:srgbClr val="4B4B4B"/>
                </a:solidFill>
                <a:latin typeface="Arial"/>
              </a:rPr>
              <a:t>Masterlists per segment on Drive H; status monitored in them.</a:t>
            </a:r>
          </a:p>
          <a:p>
            <a:pPr>
              <a:spcAft>
                <a:spcPts val="100"/>
              </a:spcAft>
            </a:pPr>
            <a:r>
              <a:rPr sz="1200" b="0">
                <a:solidFill>
                  <a:srgbClr val="0072D8"/>
                </a:solidFill>
                <a:latin typeface="Arial"/>
              </a:rPr>
              <a:t>SP flow p.1, p.3</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Review and IAAF by e-mail</a:t>
            </a:r>
          </a:p>
          <a:p>
            <a:pPr>
              <a:spcAft>
                <a:spcPts val="100"/>
              </a:spcAft>
            </a:pPr>
            <a:r>
              <a:rPr sz="1200" b="0">
                <a:solidFill>
                  <a:srgbClr val="4B4B4B"/>
                </a:solidFill>
                <a:latin typeface="Arial"/>
              </a:rPr>
              <a:t>Adequacy reviewed by hand; IAAF issued as a PDF by e-mail.</a:t>
            </a:r>
          </a:p>
          <a:p>
            <a:pPr>
              <a:spcAft>
                <a:spcPts val="100"/>
              </a:spcAft>
            </a:pPr>
            <a:r>
              <a:rPr sz="1200" b="0">
                <a:solidFill>
                  <a:srgbClr val="0072D8"/>
                </a:solidFill>
                <a:latin typeface="Arial"/>
              </a:rPr>
              <a:t>SP flow p.1</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Timelines do not line up</a:t>
            </a:r>
          </a:p>
          <a:p>
            <a:pPr>
              <a:spcAft>
                <a:spcPts val="100"/>
              </a:spcAft>
            </a:pPr>
            <a:r>
              <a:rPr sz="1200" b="0">
                <a:solidFill>
                  <a:srgbClr val="4B4B4B"/>
                </a:solidFill>
                <a:latin typeface="Arial"/>
              </a:rPr>
              <a:t>Masterlist at 150 days, RMEL at 140, RA at 90 days.</a:t>
            </a:r>
          </a:p>
          <a:p>
            <a:pPr>
              <a:spcAft>
                <a:spcPts val="100"/>
              </a:spcAft>
            </a:pPr>
            <a:r>
              <a:rPr sz="1200" b="0">
                <a:solidFill>
                  <a:srgbClr val="0072D8"/>
                </a:solidFill>
                <a:latin typeface="Arial"/>
              </a:rPr>
              <a:t>SP flow p.3; Renewal flow</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LAMD matching by hand</a:t>
            </a:r>
          </a:p>
          <a:p>
            <a:pPr>
              <a:spcAft>
                <a:spcPts val="100"/>
              </a:spcAft>
            </a:pPr>
            <a:r>
              <a:rPr sz="1200" b="0">
                <a:solidFill>
                  <a:srgbClr val="4B4B4B"/>
                </a:solidFill>
                <a:latin typeface="Arial"/>
              </a:rPr>
              <a:t>Exclusions and loan status updated manually.</a:t>
            </a:r>
          </a:p>
          <a:p>
            <a:pPr>
              <a:spcAft>
                <a:spcPts val="100"/>
              </a:spcAft>
            </a:pPr>
            <a:r>
              <a:rPr sz="1200" b="0">
                <a:solidFill>
                  <a:srgbClr val="0072D8"/>
                </a:solidFill>
                <a:latin typeface="Arial"/>
              </a:rPr>
              <a:t>SP flow p.3</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Insurers chased by e-mail</a:t>
            </a:r>
          </a:p>
          <a:p>
            <a:pPr>
              <a:spcAft>
                <a:spcPts val="100"/>
              </a:spcAft>
            </a:pPr>
            <a:r>
              <a:rPr sz="1200" b="0">
                <a:solidFill>
                  <a:srgbClr val="4B4B4B"/>
                </a:solidFill>
                <a:latin typeface="Arial"/>
              </a:rPr>
              <a:t>Hold-cover requests; accept in 3-5 days or re-assign by hand.</a:t>
            </a:r>
          </a:p>
          <a:p>
            <a:pPr>
              <a:spcAft>
                <a:spcPts val="100"/>
              </a:spcAft>
            </a:pPr>
            <a:r>
              <a:rPr sz="1200" b="0">
                <a:solidFill>
                  <a:srgbClr val="0072D8"/>
                </a:solidFill>
                <a:latin typeface="Arial"/>
              </a:rPr>
              <a:t>SP flow p.4</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Letters by snail mail</a:t>
            </a:r>
          </a:p>
          <a:p>
            <a:pPr>
              <a:spcAft>
                <a:spcPts val="100"/>
              </a:spcAft>
            </a:pPr>
            <a:r>
              <a:rPr sz="1200" b="0">
                <a:solidFill>
                  <a:srgbClr val="4B4B4B"/>
                </a:solidFill>
                <a:latin typeface="Arial"/>
              </a:rPr>
              <a:t>RA and reminders printed and mailed by COG; NRNS lists blasted.</a:t>
            </a:r>
          </a:p>
          <a:p>
            <a:pPr>
              <a:spcAft>
                <a:spcPts val="100"/>
              </a:spcAft>
            </a:pPr>
            <a:r>
              <a:rPr sz="1200" b="0">
                <a:solidFill>
                  <a:srgbClr val="0072D8"/>
                </a:solidFill>
                <a:latin typeface="Arial"/>
              </a:rPr>
              <a:t>SP flow p.3</a:t>
            </a:r>
          </a:p>
        </p:txBody>
      </p:sp>
      <p:sp>
        <p:nvSpPr>
          <p:cNvPr id="23" name="Oval 22"/>
          <p:cNvSpPr/>
          <p:nvPr/>
        </p:nvSpPr>
        <p:spPr>
          <a:xfrm>
            <a:off x="6233007"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Handling fee from a SharePoint list</a:t>
            </a:r>
          </a:p>
          <a:p>
            <a:pPr>
              <a:spcAft>
                <a:spcPts val="100"/>
              </a:spcAft>
            </a:pPr>
            <a:r>
              <a:rPr sz="1200" b="0">
                <a:solidFill>
                  <a:srgbClr val="4B4B4B"/>
                </a:solidFill>
                <a:latin typeface="Arial"/>
              </a:rPr>
              <a:t>UPP list filtered; AO disposition by e-mail.</a:t>
            </a:r>
          </a:p>
          <a:p>
            <a:pPr>
              <a:spcAft>
                <a:spcPts val="100"/>
              </a:spcAft>
            </a:pPr>
            <a:r>
              <a:rPr sz="1200" b="0">
                <a:solidFill>
                  <a:srgbClr val="0072D8"/>
                </a:solidFill>
                <a:latin typeface="Arial"/>
              </a:rPr>
              <a:t>SP flow p.2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3. Submitted Policies: what the business wants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Policy details consolidated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Bank extracts and documents captured once, matched by rule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Rules</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Masterlists on a shared drive</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masterlist with history, no shared-drive copies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record</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Review and IAAF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Review, checker and IAAF in one flow, sent and logged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Workflow</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Timelines do not line up</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renewal timeline shared with Renewal</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calendar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3. Submitted Policies: what the business wants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LAMD matching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Loan status and exclusions applied by rule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Rules</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chased by e-mail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Hold-cover requests tracked with the 3-5 day clock</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SLA clock</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Letters by snail 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Letters by e-mail or a tracked print batch</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Print batch</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Handling fee from a SharePoint list</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Handling fee billed from the masterlist</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Billing rule</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3. Submitted Policies: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Live bank loan feeds</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masterlists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Loan, collateral and paid-off status received from the bank systems daily.</a:t>
            </a:r>
          </a:p>
          <a:p>
            <a:pPr>
              <a:spcAft>
                <a:spcPts val="400"/>
              </a:spcAft>
            </a:pPr>
            <a:r>
              <a:rPr sz="1200" b="1">
                <a:solidFill>
                  <a:srgbClr val="004EA8"/>
                </a:solidFill>
                <a:latin typeface="Arial"/>
              </a:rPr>
              <a:t>For BDOI: </a:t>
            </a:r>
            <a:r>
              <a:rPr sz="1200" b="0">
                <a:solidFill>
                  <a:srgbClr val="4B4B4B"/>
                </a:solidFill>
                <a:latin typeface="Arial"/>
              </a:rPr>
              <a:t>Agree feeds for LFS, CIU, HLS and LAMD with BDO IT.</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Rule-based adequacy check</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review</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Sum insured against loan, mortgagee clause and expiry checked by rule on extracted data.</a:t>
            </a:r>
          </a:p>
          <a:p>
            <a:pPr>
              <a:spcAft>
                <a:spcPts val="400"/>
              </a:spcAft>
            </a:pPr>
            <a:r>
              <a:rPr sz="1200" b="1">
                <a:solidFill>
                  <a:srgbClr val="004EA8"/>
                </a:solidFill>
                <a:latin typeface="Arial"/>
              </a:rPr>
              <a:t>For BDOI: </a:t>
            </a:r>
            <a:r>
              <a:rPr sz="1200" b="0">
                <a:solidFill>
                  <a:srgbClr val="4B4B4B"/>
                </a:solidFill>
                <a:latin typeface="Arial"/>
              </a:rPr>
              <a:t>Start with CBG Motor and Fire.</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Deficiency notices to the bank</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Protects the bank</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Automatic notices and escalation to the bank unit when cover is short or lapsed.</a:t>
            </a:r>
          </a:p>
          <a:p>
            <a:pPr>
              <a:spcAft>
                <a:spcPts val="400"/>
              </a:spcAft>
            </a:pPr>
            <a:r>
              <a:rPr sz="1200" b="1">
                <a:solidFill>
                  <a:srgbClr val="004EA8"/>
                </a:solidFill>
                <a:latin typeface="Arial"/>
              </a:rPr>
              <a:t>For BDOI: </a:t>
            </a:r>
            <a:r>
              <a:rPr sz="1200" b="0">
                <a:solidFill>
                  <a:srgbClr val="4B4B4B"/>
                </a:solidFill>
                <a:latin typeface="Arial"/>
              </a:rPr>
              <a:t>Use the IAAF as the notice, sent from the system.</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Conversion programme</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New premium</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Submitted policies targeted for conversion with offers at renewal, tracked per segment.</a:t>
            </a:r>
          </a:p>
          <a:p>
            <a:pPr>
              <a:spcAft>
                <a:spcPts val="400"/>
              </a:spcAft>
            </a:pPr>
            <a:r>
              <a:rPr sz="1200" b="1">
                <a:solidFill>
                  <a:srgbClr val="004EA8"/>
                </a:solidFill>
                <a:latin typeface="Arial"/>
              </a:rPr>
              <a:t>For BDOI: </a:t>
            </a:r>
            <a:r>
              <a:rPr sz="1200" b="0">
                <a:solidFill>
                  <a:srgbClr val="4B4B4B"/>
                </a:solidFill>
                <a:latin typeface="Arial"/>
              </a:rPr>
              <a:t>Report conversion rate per segment.</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E-signature on IAAF</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paper</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IAAF and terms of reference signed electronically.</a:t>
            </a:r>
          </a:p>
          <a:p>
            <a:pPr>
              <a:spcAft>
                <a:spcPts val="400"/>
              </a:spcAft>
            </a:pPr>
            <a:r>
              <a:rPr sz="1200" b="1">
                <a:solidFill>
                  <a:srgbClr val="004EA8"/>
                </a:solidFill>
                <a:latin typeface="Arial"/>
              </a:rPr>
              <a:t>For BDOI: </a:t>
            </a:r>
            <a:r>
              <a:rPr sz="1200" b="0">
                <a:solidFill>
                  <a:srgbClr val="4B4B4B"/>
                </a:solidFill>
                <a:latin typeface="Arial"/>
              </a:rPr>
              <a:t>Decide with Legal and Compliance (CP-01).</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Employee Benefits: Marketing, Processing and Collection</a:t>
            </a:r>
          </a:p>
          <a:p>
            <a:pPr>
              <a:spcAft>
                <a:spcPts val="300"/>
              </a:spcAft>
            </a:pPr>
            <a:r>
              <a:rPr sz="1200" b="0">
                <a:solidFill>
                  <a:srgbClr val="004EA8"/>
                </a:solidFill>
                <a:latin typeface="Arial"/>
              </a:rPr>
              <a:t>•  </a:t>
            </a:r>
            <a:r>
              <a:rPr sz="1200" b="0">
                <a:solidFill>
                  <a:srgbClr val="4B4B4B"/>
                </a:solidFill>
                <a:latin typeface="Arial"/>
              </a:rPr>
              <a:t>EB Marketing AO, TL and UH</a:t>
            </a:r>
          </a:p>
          <a:p>
            <a:pPr>
              <a:spcAft>
                <a:spcPts val="300"/>
              </a:spcAft>
            </a:pPr>
            <a:r>
              <a:rPr sz="1200" b="0">
                <a:solidFill>
                  <a:srgbClr val="004EA8"/>
                </a:solidFill>
                <a:latin typeface="Arial"/>
              </a:rPr>
              <a:t>•  </a:t>
            </a:r>
            <a:r>
              <a:rPr sz="1200" b="0">
                <a:solidFill>
                  <a:srgbClr val="4B4B4B"/>
                </a:solidFill>
                <a:latin typeface="Arial"/>
              </a:rPr>
              <a:t>BDOI Management (approval above the internal threshold); ISACOM (non-accredited provider)</a:t>
            </a:r>
          </a:p>
          <a:p>
            <a:pPr>
              <a:spcAft>
                <a:spcPts val="300"/>
              </a:spcAft>
            </a:pPr>
            <a:r>
              <a:rPr sz="1200" b="0">
                <a:solidFill>
                  <a:srgbClr val="004EA8"/>
                </a:solidFill>
                <a:latin typeface="Arial"/>
              </a:rPr>
              <a:t>•  </a:t>
            </a:r>
            <a:r>
              <a:rPr sz="1200" b="0">
                <a:solidFill>
                  <a:srgbClr val="4B4B4B"/>
                </a:solidFill>
                <a:latin typeface="Arial"/>
              </a:rPr>
              <a:t>EB Processing and Collection</a:t>
            </a:r>
          </a:p>
          <a:p>
            <a:pPr>
              <a:spcAft>
                <a:spcPts val="300"/>
              </a:spcAft>
            </a:pPr>
            <a:r>
              <a:rPr sz="1200" b="0">
                <a:solidFill>
                  <a:srgbClr val="004EA8"/>
                </a:solidFill>
                <a:latin typeface="Arial"/>
              </a:rPr>
              <a:t>•  </a:t>
            </a:r>
            <a:r>
              <a:rPr sz="1200" b="0">
                <a:solidFill>
                  <a:srgbClr val="4B4B4B"/>
                </a:solidFill>
                <a:latin typeface="Arial"/>
              </a:rPr>
              <a:t>Client HR (master list, utilization, broker of record)</a:t>
            </a:r>
          </a:p>
          <a:p>
            <a:pPr>
              <a:spcAft>
                <a:spcPts val="300"/>
              </a:spcAft>
            </a:pPr>
            <a:r>
              <a:rPr sz="1200" b="0">
                <a:solidFill>
                  <a:srgbClr val="004EA8"/>
                </a:solidFill>
                <a:latin typeface="Arial"/>
              </a:rPr>
              <a:t>•  </a:t>
            </a:r>
            <a:r>
              <a:rPr sz="1200" b="0">
                <a:solidFill>
                  <a:srgbClr val="4B4B4B"/>
                </a:solidFill>
                <a:latin typeface="Arial"/>
              </a:rPr>
              <a:t>Insurers and HMOs (proposals, claims validation)</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50,000+</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members handled today (EB-01)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BOR</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broker of record kept for corporate renewal (EB-03)</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2 portals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for insurers and client HR in BDOI's EB flow</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Provider</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validates EB claims; BDOI captures them (EB-02)</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23-Sep-2026, 9-10 am, 43F; discovery 21-Sep-2026</a:t>
            </a:r>
          </a:p>
          <a:p>
            <a:pPr>
              <a:spcAft>
                <a:spcPts val="400"/>
              </a:spcAft>
            </a:pPr>
            <a:r>
              <a:rPr sz="1100" b="1">
                <a:solidFill>
                  <a:srgbClr val="004EA8"/>
                </a:solidFill>
                <a:latin typeface="Arial"/>
              </a:rPr>
              <a:t>Process owners: </a:t>
            </a:r>
            <a:r>
              <a:rPr sz="1100" b="0">
                <a:solidFill>
                  <a:srgbClr val="4B4B4B"/>
                </a:solidFill>
                <a:latin typeface="Arial"/>
              </a:rPr>
              <a:t>Marianne Alpapara, Jyneffer Liansing, Edwin Garcia</a:t>
            </a:r>
          </a:p>
          <a:p>
            <a:pPr>
              <a:spcAft>
                <a:spcPts val="400"/>
              </a:spcAft>
            </a:pPr>
            <a:r>
              <a:rPr sz="1100" b="0">
                <a:solidFill>
                  <a:srgbClr val="004EA8"/>
                </a:solidFill>
                <a:latin typeface="Arial"/>
              </a:rPr>
              <a:t>•  </a:t>
            </a:r>
            <a:r>
              <a:rPr sz="1100" b="0">
                <a:solidFill>
                  <a:srgbClr val="4B4B4B"/>
                </a:solidFill>
                <a:latin typeface="Arial"/>
              </a:rPr>
              <a:t>Employee Benefits process flow shared by BDOI (new business and renewal)</a:t>
            </a:r>
          </a:p>
          <a:p>
            <a:pPr>
              <a:spcAft>
                <a:spcPts val="400"/>
              </a:spcAft>
            </a:pPr>
            <a:r>
              <a:rPr sz="1100" b="0">
                <a:solidFill>
                  <a:srgbClr val="004EA8"/>
                </a:solidFill>
                <a:latin typeface="Arial"/>
              </a:rPr>
              <a:t>•  </a:t>
            </a:r>
            <a:r>
              <a:rPr sz="1100" b="0">
                <a:solidFill>
                  <a:srgbClr val="4B4B4B"/>
                </a:solidFill>
                <a:latin typeface="Arial"/>
              </a:rPr>
              <a:t>Floor-walk notes EB-01 to EB-03</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Renewal advice</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BOR</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Franchise</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TOR</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Proposals</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Comparative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Client decision</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Placement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EB-01</a:t>
                      </a:r>
                    </a:p>
                  </a:txBody>
                  <a:tcPr marL="64008" marR="64008" marT="27432" marB="27432" anchor="ctr">
                    <a:solidFill>
                      <a:srgbClr val="FFFFFF"/>
                    </a:solidFill>
                  </a:tcPr>
                </a:tc>
                <a:tc>
                  <a:txBody>
                    <a:bodyPr wrap="square"/>
                    <a:lstStyle/>
                    <a:p>
                      <a:r>
                        <a:rPr sz="1100" b="0">
                          <a:solidFill>
                            <a:srgbClr val="4B4B4B"/>
                          </a:solidFill>
                          <a:latin typeface="Arial"/>
                        </a:rPr>
                        <a:t>Quote and placement</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Like non-life: Marketing gets the master list from the customer (headcount only at quote stage), sends it to insurers and negotiates; Processing then gets the employee details and places. More than 50,000 members today.</a:t>
                      </a:r>
                    </a:p>
                  </a:txBody>
                  <a:tcPr marL="64008" marR="64008" marT="27432" marB="27432" anchor="ctr">
                    <a:solidFill>
                      <a:srgbClr val="FFFFFF"/>
                    </a:solidFill>
                  </a:tcPr>
                </a:tc>
                <a:tc>
                  <a:txBody>
                    <a:bodyPr wrap="square"/>
                    <a:lstStyle/>
                    <a:p>
                      <a:r>
                        <a:rPr sz="1100" b="0">
                          <a:solidFill>
                            <a:srgbClr val="4B4B4B"/>
                          </a:solidFill>
                          <a:latin typeface="Arial"/>
                        </a:rPr>
                        <a:t>The system handles large member volumes (50K+).</a:t>
                      </a:r>
                    </a:p>
                  </a:txBody>
                  <a:tcPr marL="64008" marR="64008" marT="27432" marB="27432" anchor="ctr">
                    <a:solidFill>
                      <a:srgbClr val="FFFFFF"/>
                    </a:solidFill>
                  </a:tcPr>
                </a:tc>
              </a:tr>
              <a:tr h="758952">
                <a:tc>
                  <a:txBody>
                    <a:bodyPr wrap="square"/>
                    <a:lstStyle/>
                    <a:p>
                      <a:r>
                        <a:rPr sz="1100" b="1">
                          <a:solidFill>
                            <a:srgbClr val="4B4B4B"/>
                          </a:solidFill>
                          <a:latin typeface="Arial"/>
                        </a:rPr>
                        <a:t>EB-02</a:t>
                      </a:r>
                    </a:p>
                  </a:txBody>
                  <a:tcPr marL="64008" marR="64008" marT="27432" marB="27432" anchor="ctr">
                    <a:solidFill>
                      <a:srgbClr val="E5F5FF"/>
                    </a:solidFill>
                  </a:tcPr>
                </a:tc>
                <a:tc>
                  <a:txBody>
                    <a:bodyPr wrap="square"/>
                    <a:lstStyle/>
                    <a:p>
                      <a:r>
                        <a:rPr sz="1100" b="0">
                          <a:solidFill>
                            <a:srgbClr val="4B4B4B"/>
                          </a:solidFill>
                          <a:latin typeface="Arial"/>
                        </a:rPr>
                        <a:t>EB claims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Claims are validated by the provider; BDOI only captures the details from the provider.</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EB-03</a:t>
                      </a:r>
                    </a:p>
                  </a:txBody>
                  <a:tcPr marL="64008" marR="64008" marT="27432" marB="27432" anchor="ctr">
                    <a:solidFill>
                      <a:srgbClr val="FFFFFF"/>
                    </a:solidFill>
                  </a:tcPr>
                </a:tc>
                <a:tc>
                  <a:txBody>
                    <a:bodyPr wrap="square"/>
                    <a:lstStyle/>
                    <a:p>
                      <a:r>
                        <a:rPr sz="1100" b="0">
                          <a:solidFill>
                            <a:srgbClr val="4B4B4B"/>
                          </a:solidFill>
                          <a:latin typeface="Arial"/>
                        </a:rPr>
                        <a:t>Broker of record</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The broker of record is kept for corporate EB renewal.</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EB flow</a:t>
                      </a:r>
                    </a:p>
                  </a:txBody>
                  <a:tcPr marL="64008" marR="64008" marT="27432" marB="27432" anchor="ctr">
                    <a:solidFill>
                      <a:srgbClr val="E5F5FF"/>
                    </a:solidFill>
                  </a:tcPr>
                </a:tc>
                <a:tc>
                  <a:txBody>
                    <a:bodyPr wrap="square"/>
                    <a:lstStyle/>
                    <a:p>
                      <a:r>
                        <a:rPr sz="1100" b="0">
                          <a:solidFill>
                            <a:srgbClr val="4B4B4B"/>
                          </a:solidFill>
                          <a:latin typeface="Arial"/>
                        </a:rPr>
                        <a:t>Renewal</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Renewal advice before expiry; BOR, master list, utilization and indicative proposal secured; indicative renewal from the incumbent; client feedback; comparative; approval above the internal threshold; placement after confirmation.</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EB flow</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New client tagged as prospect; BOR to insurers for franchise approval; TOR from existing benefits; TOR, master list and utilization released to the insurers with franchise; ISACOM approval if awarded to a non-accredited provider.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EB flow</a:t>
                      </a:r>
                    </a:p>
                  </a:txBody>
                  <a:tcPr marL="64008" marR="64008" marT="27432" marB="27432" anchor="ctr">
                    <a:solidFill>
                      <a:srgbClr val="E5F5FF"/>
                    </a:solidFill>
                  </a:tcPr>
                </a:tc>
                <a:tc>
                  <a:txBody>
                    <a:bodyPr wrap="square"/>
                    <a:lstStyle/>
                    <a:p>
                      <a:r>
                        <a:rPr sz="1100" b="0">
                          <a:solidFill>
                            <a:srgbClr val="4B4B4B"/>
                          </a:solidFill>
                          <a:latin typeface="Arial"/>
                        </a:rPr>
                        <a:t>Portals</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Insurer portal for uploads and management; client portal for uploads and policy management.</a:t>
                      </a:r>
                    </a:p>
                  </a:txBody>
                  <a:tcPr marL="64008" marR="64008" marT="27432" marB="27432" anchor="ctr">
                    <a:solidFill>
                      <a:srgbClr val="E5F5FF"/>
                    </a:solidFill>
                  </a:tcPr>
                </a:tc>
                <a:tc>
                  <a:txBody>
                    <a:bodyPr wrap="square"/>
                    <a:lstStyle/>
                    <a:p>
                      <a:r>
                        <a:rPr sz="1100" b="0">
                          <a:solidFill>
                            <a:srgbClr val="4B4B4B"/>
                          </a:solidFill>
                          <a:latin typeface="Arial"/>
                        </a:rPr>
                        <a:t>Portals for insurers and client HR.</a:t>
                      </a:r>
                    </a:p>
                  </a:txBody>
                  <a:tcPr marL="64008" marR="64008" marT="27432" marB="27432" anchor="ctr">
                    <a:solidFill>
                      <a:srgbClr val="E5F5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pic>
        <p:nvPicPr>
          <p:cNvPr id="9" name="Picture 8" descr="brd08_fw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Employee Benefits today (EB floor walk 23-Sep; EB-01 to EB-03; EB process flow)</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Master lists and BOR by e-mail</a:t>
            </a:r>
          </a:p>
          <a:p>
            <a:pPr>
              <a:spcAft>
                <a:spcPts val="100"/>
              </a:spcAft>
            </a:pPr>
            <a:r>
              <a:rPr sz="1200" b="0">
                <a:solidFill>
                  <a:srgbClr val="4B4B4B"/>
                </a:solidFill>
                <a:latin typeface="Arial"/>
              </a:rPr>
              <a:t>Headcount lists and the broker of record travel by e-mail.</a:t>
            </a:r>
          </a:p>
          <a:p>
            <a:pPr>
              <a:spcAft>
                <a:spcPts val="100"/>
              </a:spcAft>
            </a:pPr>
            <a:r>
              <a:rPr sz="1200" b="0">
                <a:solidFill>
                  <a:srgbClr val="0072D8"/>
                </a:solidFill>
                <a:latin typeface="Arial"/>
              </a:rPr>
              <a:t>EB-01, EB-03</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Proposals by e-mail</a:t>
            </a:r>
          </a:p>
          <a:p>
            <a:pPr>
              <a:spcAft>
                <a:spcPts val="100"/>
              </a:spcAft>
            </a:pPr>
            <a:r>
              <a:rPr sz="1200" b="0">
                <a:solidFill>
                  <a:srgbClr val="4B4B4B"/>
                </a:solidFill>
                <a:latin typeface="Arial"/>
              </a:rPr>
              <a:t>Insurers and HMOs send proposals and revisions by e-mail.</a:t>
            </a:r>
          </a:p>
          <a:p>
            <a:pPr>
              <a:spcAft>
                <a:spcPts val="100"/>
              </a:spcAft>
            </a:pPr>
            <a:r>
              <a:rPr sz="1200" b="0">
                <a:solidFill>
                  <a:srgbClr val="0072D8"/>
                </a:solidFill>
                <a:latin typeface="Arial"/>
              </a:rPr>
              <a:t>EB-01; EB flow</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by hand</a:t>
            </a:r>
          </a:p>
          <a:p>
            <a:pPr>
              <a:spcAft>
                <a:spcPts val="100"/>
              </a:spcAft>
            </a:pPr>
            <a:r>
              <a:rPr sz="1200" b="0">
                <a:solidFill>
                  <a:srgbClr val="4B4B4B"/>
                </a:solidFill>
                <a:latin typeface="Arial"/>
              </a:rPr>
              <a:t>Premiums, benefits and provider capabilities compared manually.</a:t>
            </a:r>
          </a:p>
          <a:p>
            <a:pPr>
              <a:spcAft>
                <a:spcPts val="100"/>
              </a:spcAft>
            </a:pPr>
            <a:r>
              <a:rPr sz="1200" b="0">
                <a:solidFill>
                  <a:srgbClr val="0072D8"/>
                </a:solidFill>
                <a:latin typeface="Arial"/>
              </a:rPr>
              <a:t>EB flow</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50K+ members in files</a:t>
            </a:r>
          </a:p>
          <a:p>
            <a:pPr>
              <a:spcAft>
                <a:spcPts val="100"/>
              </a:spcAft>
            </a:pPr>
            <a:r>
              <a:rPr sz="1200" b="0">
                <a:solidFill>
                  <a:srgbClr val="4B4B4B"/>
                </a:solidFill>
                <a:latin typeface="Arial"/>
              </a:rPr>
              <a:t>Employee details for placement handled as spreadsheets.</a:t>
            </a:r>
          </a:p>
          <a:p>
            <a:pPr>
              <a:spcAft>
                <a:spcPts val="100"/>
              </a:spcAft>
            </a:pPr>
            <a:r>
              <a:rPr sz="1200" b="0">
                <a:solidFill>
                  <a:srgbClr val="0072D8"/>
                </a:solidFill>
                <a:latin typeface="Arial"/>
              </a:rPr>
              <a:t>EB-01</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Claims captured from providers</a:t>
            </a:r>
          </a:p>
          <a:p>
            <a:pPr>
              <a:spcAft>
                <a:spcPts val="100"/>
              </a:spcAft>
            </a:pPr>
            <a:r>
              <a:rPr sz="1200" b="0">
                <a:solidFill>
                  <a:srgbClr val="4B4B4B"/>
                </a:solidFill>
                <a:latin typeface="Arial"/>
              </a:rPr>
              <a:t>Provider validates; BDOI re-captures the details.</a:t>
            </a:r>
          </a:p>
          <a:p>
            <a:pPr>
              <a:spcAft>
                <a:spcPts val="100"/>
              </a:spcAft>
            </a:pPr>
            <a:r>
              <a:rPr sz="1200" b="0">
                <a:solidFill>
                  <a:srgbClr val="0072D8"/>
                </a:solidFill>
                <a:latin typeface="Arial"/>
              </a:rPr>
              <a:t>EB-02</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Approvals outside the system</a:t>
            </a:r>
          </a:p>
          <a:p>
            <a:pPr>
              <a:spcAft>
                <a:spcPts val="100"/>
              </a:spcAft>
            </a:pPr>
            <a:r>
              <a:rPr sz="1200" b="0">
                <a:solidFill>
                  <a:srgbClr val="4B4B4B"/>
                </a:solidFill>
                <a:latin typeface="Arial"/>
              </a:rPr>
              <a:t>Above-threshold and ISACOM approvals handled offline.</a:t>
            </a:r>
          </a:p>
          <a:p>
            <a:pPr>
              <a:spcAft>
                <a:spcPts val="100"/>
              </a:spcAft>
            </a:pPr>
            <a:r>
              <a:rPr sz="1200" b="0">
                <a:solidFill>
                  <a:srgbClr val="0072D8"/>
                </a:solidFill>
                <a:latin typeface="Arial"/>
              </a:rPr>
              <a:t>EB flow</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what the business wants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Master lists and BOR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Master list, utilization and BOR uploaded once and kept per programme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Upload</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Proposals by e-mail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Insurers upload proposals themselves (insurer portal in BDOI's flow)</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Insurer portal</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by hand</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Comparative generated on premiums, benefits and capabilities</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Generated comparative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50K+ members in files</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The system handles 50K+ members (EB-01)</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Volume</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captured from providers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Provider claims captured per programme</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Claims capture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Approvals outside the system</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Approval triggered by the internal threshold; ISACOM when needed</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Workflow</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BDOI's EB flow, step by step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graphicFrame>
        <p:nvGraphicFramePr>
          <p:cNvPr id="9" name="Table 8"/>
          <p:cNvGraphicFramePr>
            <a:graphicFrameLocks noGrp="1"/>
          </p:cNvGraphicFramePr>
          <p:nvPr/>
        </p:nvGraphicFramePr>
        <p:xfrm>
          <a:off x="548640" y="1280160"/>
          <a:ext cx="11094413" cy="4919472"/>
        </p:xfrm>
        <a:graphic>
          <a:graphicData uri="http://schemas.openxmlformats.org/drawingml/2006/table">
            <a:tbl>
              <a:tblPr firstRow="1" bandRow="1">
                <a:tableStyleId>{5C22544A-7EE6-4342-B048-85BDC9FD1C3A}</a:tableStyleId>
              </a:tblPr>
              <a:tblGrid>
                <a:gridCol w="1968363"/>
                <a:gridCol w="6799802"/>
                <a:gridCol w="2326248"/>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What happens</a:t>
                      </a:r>
                    </a:p>
                  </a:txBody>
                  <a:tcPr marL="64008" marR="64008" marT="27432" marB="27432" anchor="ctr">
                    <a:solidFill>
                      <a:srgbClr val="004EA8"/>
                    </a:solidFill>
                  </a:tcPr>
                </a:tc>
                <a:tc>
                  <a:txBody>
                    <a:bodyPr wrap="square"/>
                    <a:lstStyle/>
                    <a:p>
                      <a:r>
                        <a:rPr sz="1100" b="1">
                          <a:solidFill>
                            <a:srgbClr val="FFFFFF"/>
                          </a:solidFill>
                          <a:latin typeface="Arial"/>
                        </a:rPr>
                        <a:t>Who</a:t>
                      </a:r>
                    </a:p>
                  </a:txBody>
                  <a:tcPr marL="64008" marR="64008" marT="27432" marB="27432" anchor="ctr">
                    <a:solidFill>
                      <a:srgbClr val="004EA8"/>
                    </a:solidFill>
                  </a:tcPr>
                </a:tc>
              </a:tr>
              <a:tr h="569214">
                <a:tc>
                  <a:txBody>
                    <a:bodyPr wrap="square"/>
                    <a:lstStyle/>
                    <a:p>
                      <a:r>
                        <a:rPr sz="1100" b="1">
                          <a:solidFill>
                            <a:srgbClr val="4B4B4B"/>
                          </a:solidFill>
                          <a:latin typeface="Arial"/>
                        </a:rPr>
                        <a:t>1 Renewal advice</a:t>
                      </a:r>
                    </a:p>
                  </a:txBody>
                  <a:tcPr marL="64008" marR="64008" marT="27432" marB="27432" anchor="ctr">
                    <a:solidFill>
                      <a:srgbClr val="FFFFFF"/>
                    </a:solidFill>
                  </a:tcPr>
                </a:tc>
                <a:tc>
                  <a:txBody>
                    <a:bodyPr wrap="square"/>
                    <a:lstStyle/>
                    <a:p>
                      <a:r>
                        <a:rPr sz="1100" b="0">
                          <a:solidFill>
                            <a:srgbClr val="4B4B4B"/>
                          </a:solidFill>
                          <a:latin typeface="Arial"/>
                        </a:rPr>
                        <a:t>System sends the renewal advice before expiry</a:t>
                      </a:r>
                    </a:p>
                  </a:txBody>
                  <a:tcPr marL="64008" marR="64008" marT="27432" marB="27432" anchor="ctr">
                    <a:solidFill>
                      <a:srgbClr val="FFFFFF"/>
                    </a:solidFill>
                  </a:tcPr>
                </a:tc>
                <a:tc>
                  <a:txBody>
                    <a:bodyPr wrap="square"/>
                    <a:lstStyle/>
                    <a:p>
                      <a:r>
                        <a:rPr sz="1100" b="0">
                          <a:solidFill>
                            <a:srgbClr val="4B4B4B"/>
                          </a:solidFill>
                          <a:latin typeface="Arial"/>
                        </a:rPr>
                        <a:t>System</a:t>
                      </a:r>
                    </a:p>
                  </a:txBody>
                  <a:tcPr marL="64008" marR="64008" marT="27432" marB="27432" anchor="ctr">
                    <a:solidFill>
                      <a:srgbClr val="FFFFFF"/>
                    </a:solidFill>
                  </a:tcPr>
                </a:tc>
              </a:tr>
              <a:tr h="569214">
                <a:tc>
                  <a:txBody>
                    <a:bodyPr wrap="square"/>
                    <a:lstStyle/>
                    <a:p>
                      <a:r>
                        <a:rPr sz="1100" b="1">
                          <a:solidFill>
                            <a:srgbClr val="4B4B4B"/>
                          </a:solidFill>
                          <a:latin typeface="Arial"/>
                        </a:rPr>
                        <a:t>2 Requirements</a:t>
                      </a:r>
                    </a:p>
                  </a:txBody>
                  <a:tcPr marL="64008" marR="64008" marT="27432" marB="27432" anchor="ctr">
                    <a:solidFill>
                      <a:srgbClr val="E5F5FF"/>
                    </a:solidFill>
                  </a:tcPr>
                </a:tc>
                <a:tc>
                  <a:txBody>
                    <a:bodyPr wrap="square"/>
                    <a:lstStyle/>
                    <a:p>
                      <a:r>
                        <a:rPr sz="1100" b="0">
                          <a:solidFill>
                            <a:srgbClr val="4B4B4B"/>
                          </a:solidFill>
                          <a:latin typeface="Arial"/>
                        </a:rPr>
                        <a:t>Request the BOR; secure the master list, utilization and indicative proposal; uploaded</a:t>
                      </a:r>
                    </a:p>
                  </a:txBody>
                  <a:tcPr marL="64008" marR="64008" marT="27432" marB="27432" anchor="ctr">
                    <a:solidFill>
                      <a:srgbClr val="E5F5FF"/>
                    </a:solidFill>
                  </a:tcPr>
                </a:tc>
                <a:tc>
                  <a:txBody>
                    <a:bodyPr wrap="square"/>
                    <a:lstStyle/>
                    <a:p>
                      <a:r>
                        <a:rPr sz="1100" b="0">
                          <a:solidFill>
                            <a:srgbClr val="4B4B4B"/>
                          </a:solidFill>
                          <a:latin typeface="Arial"/>
                        </a:rPr>
                        <a:t>EB Marketing, client HR</a:t>
                      </a:r>
                    </a:p>
                  </a:txBody>
                  <a:tcPr marL="64008" marR="64008" marT="27432" marB="27432" anchor="ctr">
                    <a:solidFill>
                      <a:srgbClr val="E5F5FF"/>
                    </a:solidFill>
                  </a:tcPr>
                </a:tc>
              </a:tr>
              <a:tr h="569214">
                <a:tc>
                  <a:txBody>
                    <a:bodyPr wrap="square"/>
                    <a:lstStyle/>
                    <a:p>
                      <a:r>
                        <a:rPr sz="1100" b="1">
                          <a:solidFill>
                            <a:srgbClr val="4B4B4B"/>
                          </a:solidFill>
                          <a:latin typeface="Arial"/>
                        </a:rPr>
                        <a:t>3 Franchise</a:t>
                      </a:r>
                    </a:p>
                  </a:txBody>
                  <a:tcPr marL="64008" marR="64008" marT="27432" marB="27432" anchor="ctr">
                    <a:solidFill>
                      <a:srgbClr val="FFFFFF"/>
                    </a:solidFill>
                  </a:tcPr>
                </a:tc>
                <a:tc>
                  <a:txBody>
                    <a:bodyPr wrap="square"/>
                    <a:lstStyle/>
                    <a:p>
                      <a:r>
                        <a:rPr sz="1100" b="0">
                          <a:solidFill>
                            <a:srgbClr val="4B4B4B"/>
                          </a:solidFill>
                          <a:latin typeface="Arial"/>
                        </a:rPr>
                        <a:t>BOR sent to the insurers for franchise approval</a:t>
                      </a:r>
                    </a:p>
                  </a:txBody>
                  <a:tcPr marL="64008" marR="64008" marT="27432" marB="27432" anchor="ctr">
                    <a:solidFill>
                      <a:srgbClr val="FFFFFF"/>
                    </a:solidFill>
                  </a:tcPr>
                </a:tc>
                <a:tc>
                  <a:txBody>
                    <a:bodyPr wrap="square"/>
                    <a:lstStyle/>
                    <a:p>
                      <a:r>
                        <a:rPr sz="1100" b="0">
                          <a:solidFill>
                            <a:srgbClr val="4B4B4B"/>
                          </a:solidFill>
                          <a:latin typeface="Arial"/>
                        </a:rPr>
                        <a:t>EB Marketing, insurers</a:t>
                      </a:r>
                    </a:p>
                  </a:txBody>
                  <a:tcPr marL="64008" marR="64008" marT="27432" marB="27432" anchor="ctr">
                    <a:solidFill>
                      <a:srgbClr val="FFFFFF"/>
                    </a:solidFill>
                  </a:tcPr>
                </a:tc>
              </a:tr>
              <a:tr h="569214">
                <a:tc>
                  <a:txBody>
                    <a:bodyPr wrap="square"/>
                    <a:lstStyle/>
                    <a:p>
                      <a:r>
                        <a:rPr sz="1100" b="1">
                          <a:solidFill>
                            <a:srgbClr val="4B4B4B"/>
                          </a:solidFill>
                          <a:latin typeface="Arial"/>
                        </a:rPr>
                        <a:t>4 TOR</a:t>
                      </a:r>
                    </a:p>
                  </a:txBody>
                  <a:tcPr marL="64008" marR="64008" marT="27432" marB="27432" anchor="ctr">
                    <a:solidFill>
                      <a:srgbClr val="E5F5FF"/>
                    </a:solidFill>
                  </a:tcPr>
                </a:tc>
                <a:tc>
                  <a:txBody>
                    <a:bodyPr wrap="square"/>
                    <a:lstStyle/>
                    <a:p>
                      <a:r>
                        <a:rPr sz="1100" b="0">
                          <a:solidFill>
                            <a:srgbClr val="4B4B4B"/>
                          </a:solidFill>
                          <a:latin typeface="Arial"/>
                        </a:rPr>
                        <a:t>TOR from the existing benefits and options; released with the master list and utilization to insurers with franchise</a:t>
                      </a:r>
                    </a:p>
                  </a:txBody>
                  <a:tcPr marL="64008" marR="64008" marT="27432" marB="27432" anchor="ctr">
                    <a:solidFill>
                      <a:srgbClr val="E5F5FF"/>
                    </a:solidFill>
                  </a:tcPr>
                </a:tc>
                <a:tc>
                  <a:txBody>
                    <a:bodyPr wrap="square"/>
                    <a:lstStyle/>
                    <a:p>
                      <a:r>
                        <a:rPr sz="1100" b="0">
                          <a:solidFill>
                            <a:srgbClr val="4B4B4B"/>
                          </a:solidFill>
                          <a:latin typeface="Arial"/>
                        </a:rPr>
                        <a:t>EB Marketing</a:t>
                      </a:r>
                    </a:p>
                  </a:txBody>
                  <a:tcPr marL="64008" marR="64008" marT="27432" marB="27432" anchor="ctr">
                    <a:solidFill>
                      <a:srgbClr val="E5F5FF"/>
                    </a:solidFill>
                  </a:tcPr>
                </a:tc>
              </a:tr>
              <a:tr h="569214">
                <a:tc>
                  <a:txBody>
                    <a:bodyPr wrap="square"/>
                    <a:lstStyle/>
                    <a:p>
                      <a:r>
                        <a:rPr sz="1100" b="1">
                          <a:solidFill>
                            <a:srgbClr val="4B4B4B"/>
                          </a:solidFill>
                          <a:latin typeface="Arial"/>
                        </a:rPr>
                        <a:t>5 Proposals</a:t>
                      </a:r>
                    </a:p>
                  </a:txBody>
                  <a:tcPr marL="64008" marR="64008" marT="27432" marB="27432" anchor="ctr">
                    <a:solidFill>
                      <a:srgbClr val="FFFFFF"/>
                    </a:solidFill>
                  </a:tcPr>
                </a:tc>
                <a:tc>
                  <a:txBody>
                    <a:bodyPr wrap="square"/>
                    <a:lstStyle/>
                    <a:p>
                      <a:r>
                        <a:rPr sz="1100" b="0">
                          <a:solidFill>
                            <a:srgbClr val="4B4B4B"/>
                          </a:solidFill>
                          <a:latin typeface="Arial"/>
                        </a:rPr>
                        <a:t>Indicative renewal from the incumbent; client feedback; insurers update proposals on client changes</a:t>
                      </a:r>
                    </a:p>
                  </a:txBody>
                  <a:tcPr marL="64008" marR="64008" marT="27432" marB="27432" anchor="ctr">
                    <a:solidFill>
                      <a:srgbClr val="FFFFFF"/>
                    </a:solidFill>
                  </a:tcPr>
                </a:tc>
                <a:tc>
                  <a:txBody>
                    <a:bodyPr wrap="square"/>
                    <a:lstStyle/>
                    <a:p>
                      <a:r>
                        <a:rPr sz="1100" b="0">
                          <a:solidFill>
                            <a:srgbClr val="4B4B4B"/>
                          </a:solidFill>
                          <a:latin typeface="Arial"/>
                        </a:rPr>
                        <a:t>Insurers, client</a:t>
                      </a:r>
                    </a:p>
                  </a:txBody>
                  <a:tcPr marL="64008" marR="64008" marT="27432" marB="27432" anchor="ctr">
                    <a:solidFill>
                      <a:srgbClr val="FFFFFF"/>
                    </a:solidFill>
                  </a:tcPr>
                </a:tc>
              </a:tr>
              <a:tr h="569214">
                <a:tc>
                  <a:txBody>
                    <a:bodyPr wrap="square"/>
                    <a:lstStyle/>
                    <a:p>
                      <a:r>
                        <a:rPr sz="1100" b="1">
                          <a:solidFill>
                            <a:srgbClr val="4B4B4B"/>
                          </a:solidFill>
                          <a:latin typeface="Arial"/>
                        </a:rPr>
                        <a:t>6 Comparative</a:t>
                      </a:r>
                    </a:p>
                  </a:txBody>
                  <a:tcPr marL="64008" marR="64008" marT="27432" marB="27432" anchor="ctr">
                    <a:solidFill>
                      <a:srgbClr val="E5F5FF"/>
                    </a:solidFill>
                  </a:tcPr>
                </a:tc>
                <a:tc>
                  <a:txBody>
                    <a:bodyPr wrap="square"/>
                    <a:lstStyle/>
                    <a:p>
                      <a:r>
                        <a:rPr sz="1100" b="0">
                          <a:solidFill>
                            <a:srgbClr val="4B4B4B"/>
                          </a:solidFill>
                          <a:latin typeface="Arial"/>
                        </a:rPr>
                        <a:t>Comparative on premiums, benefits and capabilities (stability, clinics, hospitals, technology); approval above the threshold; ISACOM for a non-accredited provider</a:t>
                      </a:r>
                    </a:p>
                  </a:txBody>
                  <a:tcPr marL="64008" marR="64008" marT="27432" marB="27432" anchor="ctr">
                    <a:solidFill>
                      <a:srgbClr val="E5F5FF"/>
                    </a:solidFill>
                  </a:tcPr>
                </a:tc>
                <a:tc>
                  <a:txBody>
                    <a:bodyPr wrap="square"/>
                    <a:lstStyle/>
                    <a:p>
                      <a:r>
                        <a:rPr sz="1100" b="0">
                          <a:solidFill>
                            <a:srgbClr val="4B4B4B"/>
                          </a:solidFill>
                          <a:latin typeface="Arial"/>
                        </a:rPr>
                        <a:t>EB Marketing, management</a:t>
                      </a:r>
                    </a:p>
                  </a:txBody>
                  <a:tcPr marL="64008" marR="64008" marT="27432" marB="27432" anchor="ctr">
                    <a:solidFill>
                      <a:srgbClr val="E5F5FF"/>
                    </a:solidFill>
                  </a:tcPr>
                </a:tc>
              </a:tr>
              <a:tr h="569214">
                <a:tc>
                  <a:txBody>
                    <a:bodyPr wrap="square"/>
                    <a:lstStyle/>
                    <a:p>
                      <a:r>
                        <a:rPr sz="1100" b="1">
                          <a:solidFill>
                            <a:srgbClr val="4B4B4B"/>
                          </a:solidFill>
                          <a:latin typeface="Arial"/>
                        </a:rPr>
                        <a:t>7 Placement</a:t>
                      </a:r>
                    </a:p>
                  </a:txBody>
                  <a:tcPr marL="64008" marR="64008" marT="27432" marB="27432" anchor="ctr">
                    <a:solidFill>
                      <a:srgbClr val="FFFFFF"/>
                    </a:solidFill>
                  </a:tcPr>
                </a:tc>
                <a:tc>
                  <a:txBody>
                    <a:bodyPr wrap="square"/>
                    <a:lstStyle/>
                    <a:p>
                      <a:r>
                        <a:rPr sz="1100" b="0">
                          <a:solidFill>
                            <a:srgbClr val="4B4B4B"/>
                          </a:solidFill>
                          <a:latin typeface="Arial"/>
                        </a:rPr>
                        <a:t>Placement after client confirmation; hand-off to Processing and Collections</a:t>
                      </a:r>
                    </a:p>
                  </a:txBody>
                  <a:tcPr marL="64008" marR="64008" marT="27432" marB="27432" anchor="ctr">
                    <a:solidFill>
                      <a:srgbClr val="FFFFFF"/>
                    </a:solidFill>
                  </a:tcPr>
                </a:tc>
                <a:tc>
                  <a:txBody>
                    <a:bodyPr wrap="square"/>
                    <a:lstStyle/>
                    <a:p>
                      <a:r>
                        <a:rPr sz="1100" b="0">
                          <a:solidFill>
                            <a:srgbClr val="4B4B4B"/>
                          </a:solidFill>
                          <a:latin typeface="Arial"/>
                        </a:rPr>
                        <a:t>EB Processing</a:t>
                      </a:r>
                    </a:p>
                  </a:txBody>
                  <a:tcPr marL="64008" marR="64008" marT="27432" marB="27432" anchor="ctr">
                    <a:solidFill>
                      <a:srgbClr val="FFFFFF"/>
                    </a:solidFill>
                  </a:tcPr>
                </a:tc>
              </a:tr>
              <a:tr h="569214">
                <a:tc>
                  <a:txBody>
                    <a:bodyPr wrap="square"/>
                    <a:lstStyle/>
                    <a:p>
                      <a:r>
                        <a:rPr sz="1100" b="1">
                          <a:solidFill>
                            <a:srgbClr val="4B4B4B"/>
                          </a:solidFill>
                          <a:latin typeface="Arial"/>
                        </a:rPr>
                        <a:t>8 Reports and portals</a:t>
                      </a:r>
                    </a:p>
                  </a:txBody>
                  <a:tcPr marL="64008" marR="64008" marT="27432" marB="27432" anchor="ctr">
                    <a:solidFill>
                      <a:srgbClr val="E5F5FF"/>
                    </a:solidFill>
                  </a:tcPr>
                </a:tc>
                <a:tc>
                  <a:txBody>
                    <a:bodyPr wrap="square"/>
                    <a:lstStyle/>
                    <a:p>
                      <a:r>
                        <a:rPr sz="1100" b="0">
                          <a:solidFill>
                            <a:srgbClr val="4B4B4B"/>
                          </a:solidFill>
                          <a:latin typeface="Arial"/>
                        </a:rPr>
                        <a:t>New business, renewal and placement reports; insurer and client portals</a:t>
                      </a:r>
                    </a:p>
                  </a:txBody>
                  <a:tcPr marL="64008" marR="64008" marT="27432" marB="27432" anchor="ctr">
                    <a:solidFill>
                      <a:srgbClr val="E5F5FF"/>
                    </a:solidFill>
                  </a:tcPr>
                </a:tc>
                <a:tc>
                  <a:txBody>
                    <a:bodyPr wrap="square"/>
                    <a:lstStyle/>
                    <a:p>
                      <a:r>
                        <a:rPr sz="1100" b="0">
                          <a:solidFill>
                            <a:srgbClr val="4B4B4B"/>
                          </a:solidFill>
                          <a:latin typeface="Arial"/>
                        </a:rPr>
                        <a:t>All</a:t>
                      </a:r>
                    </a:p>
                  </a:txBody>
                  <a:tcPr marL="64008" marR="64008" marT="27432" marB="27432" anchor="ctr">
                    <a:solidFill>
                      <a:srgbClr val="E5F5FF"/>
                    </a:solidFill>
                  </a:tcPr>
                </a:tc>
              </a:tr>
            </a:tbl>
          </a:graphicData>
        </a:graphic>
      </p:graphicFrame>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4. Employee Benefits: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HR self-service census</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Clean member data</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 HR uploads the census; the system checks duplicates, eligibility and changes.</a:t>
            </a:r>
          </a:p>
          <a:p>
            <a:pPr>
              <a:spcAft>
                <a:spcPts val="400"/>
              </a:spcAft>
            </a:pPr>
            <a:r>
              <a:rPr sz="1200" b="1">
                <a:solidFill>
                  <a:srgbClr val="004EA8"/>
                </a:solidFill>
                <a:latin typeface="Arial"/>
              </a:rPr>
              <a:t>For BDOI: </a:t>
            </a:r>
            <a:r>
              <a:rPr sz="1200" b="0">
                <a:solidFill>
                  <a:srgbClr val="4B4B4B"/>
                </a:solidFill>
                <a:latin typeface="Arial"/>
              </a:rPr>
              <a:t>Start with an upload template and checks; portal later.</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Automatic member endorsements</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Accurate billing</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Additions and deletions billed pro rata and reconciled to the insurer invoice.</a:t>
            </a:r>
          </a:p>
          <a:p>
            <a:pPr>
              <a:spcAft>
                <a:spcPts val="400"/>
              </a:spcAft>
            </a:pPr>
            <a:r>
              <a:rPr sz="1200" b="1">
                <a:solidFill>
                  <a:srgbClr val="004EA8"/>
                </a:solidFill>
                <a:latin typeface="Arial"/>
              </a:rPr>
              <a:t>For BDOI: </a:t>
            </a:r>
            <a:r>
              <a:rPr sz="1200" b="0">
                <a:solidFill>
                  <a:srgbClr val="4B4B4B"/>
                </a:solidFill>
                <a:latin typeface="Arial"/>
              </a:rPr>
              <a:t>Start with the largest programmes.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Utilization analytics</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renewals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Claims and utilization per programme drive the renewal negotiation.</a:t>
            </a:r>
          </a:p>
          <a:p>
            <a:pPr>
              <a:spcAft>
                <a:spcPts val="400"/>
              </a:spcAft>
            </a:pPr>
            <a:r>
              <a:rPr sz="1200" b="1">
                <a:solidFill>
                  <a:srgbClr val="004EA8"/>
                </a:solidFill>
                <a:latin typeface="Arial"/>
              </a:rPr>
              <a:t>For BDOI: </a:t>
            </a:r>
            <a:r>
              <a:rPr sz="1200" b="0">
                <a:solidFill>
                  <a:srgbClr val="4B4B4B"/>
                </a:solidFill>
                <a:latin typeface="Arial"/>
              </a:rPr>
              <a:t>Capture provider claims (EB-02).</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member cards</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Member experience</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HMO and life cards issued digitally to members.</a:t>
            </a:r>
          </a:p>
          <a:p>
            <a:pPr>
              <a:spcAft>
                <a:spcPts val="400"/>
              </a:spcAft>
            </a:pPr>
            <a:r>
              <a:rPr sz="1200" b="1">
                <a:solidFill>
                  <a:srgbClr val="004EA8"/>
                </a:solidFill>
                <a:latin typeface="Arial"/>
              </a:rPr>
              <a:t>For BDOI: </a:t>
            </a:r>
            <a:r>
              <a:rPr sz="1200" b="0">
                <a:solidFill>
                  <a:srgbClr val="4B4B4B"/>
                </a:solidFill>
                <a:latin typeface="Arial"/>
              </a:rPr>
              <a:t>With the HMOs after go-live.</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Privacy by design</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Masking, need-to-know access and retention for member data.</a:t>
            </a:r>
          </a:p>
          <a:p>
            <a:pPr>
              <a:spcAft>
                <a:spcPts val="400"/>
              </a:spcAft>
            </a:pPr>
            <a:r>
              <a:rPr sz="1200" b="1">
                <a:solidFill>
                  <a:srgbClr val="004EA8"/>
                </a:solidFill>
                <a:latin typeface="Arial"/>
              </a:rPr>
              <a:t>For BDOI: </a:t>
            </a:r>
            <a:r>
              <a:rPr sz="1200" b="0">
                <a:solidFill>
                  <a:srgbClr val="4B4B4B"/>
                </a:solidFill>
                <a:latin typeface="Arial"/>
              </a:rPr>
              <a:t>Agree the rules with the Data Protection Officer.</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Provider scorecard</a:t>
            </a:r>
          </a:p>
        </p:txBody>
      </p:sp>
      <p:sp>
        <p:nvSpPr>
          <p:cNvPr id="37" name="TextBox 36"/>
          <p:cNvSpPr txBox="1"/>
          <p:nvPr/>
        </p:nvSpPr>
        <p:spPr>
          <a:xfrm>
            <a:off x="8146084"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advice</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Insurer and HMO service levels, network and claims turnaround scored in the comparative.</a:t>
            </a:r>
          </a:p>
          <a:p>
            <a:pPr>
              <a:spcAft>
                <a:spcPts val="400"/>
              </a:spcAft>
            </a:pPr>
            <a:r>
              <a:rPr sz="1200" b="1">
                <a:solidFill>
                  <a:srgbClr val="004EA8"/>
                </a:solidFill>
                <a:latin typeface="Arial"/>
              </a:rPr>
              <a:t>For BDOI: </a:t>
            </a:r>
            <a:r>
              <a:rPr sz="1200" b="0">
                <a:solidFill>
                  <a:srgbClr val="4B4B4B"/>
                </a:solidFill>
                <a:latin typeface="Arial"/>
              </a:rPr>
              <a:t>Add capability scores to the comparative.</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B</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TSU and Product</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Package and non-package products and insurer terms</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5.  </a:t>
            </a:r>
            <a:r>
              <a:rPr sz="1500" b="1">
                <a:solidFill>
                  <a:srgbClr val="FFFFFF"/>
                </a:solidFill>
                <a:latin typeface="Arial"/>
              </a:rPr>
              <a:t>Product Maintenance and TSU</a:t>
            </a:r>
            <a:r>
              <a:rPr sz="1500" b="0">
                <a:solidFill>
                  <a:srgbClr val="99C1E7"/>
                </a:solidFill>
                <a:latin typeface="Arial"/>
              </a:rPr>
              <a:t>   Technical Support Unit (TSU) and Marketing Business Services (MBS)</a:t>
            </a:r>
          </a:p>
        </p:txBody>
      </p:sp>
      <p:sp>
        <p:nvSpPr>
          <p:cNvPr id="8" name="TextBox 7"/>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Technical Support Unit (TSU) and Marketing Business Services (MBS)</a:t>
            </a:r>
          </a:p>
          <a:p>
            <a:pPr>
              <a:spcAft>
                <a:spcPts val="300"/>
              </a:spcAft>
            </a:pPr>
            <a:r>
              <a:rPr sz="1200" b="0">
                <a:solidFill>
                  <a:srgbClr val="004EA8"/>
                </a:solidFill>
                <a:latin typeface="Arial"/>
              </a:rPr>
              <a:t>•  </a:t>
            </a:r>
            <a:r>
              <a:rPr sz="1200" b="0">
                <a:solidFill>
                  <a:srgbClr val="4B4B4B"/>
                </a:solidFill>
                <a:latin typeface="Arial"/>
              </a:rPr>
              <a:t>Marketing AO and TL / TH / UH (requesters)</a:t>
            </a:r>
          </a:p>
          <a:p>
            <a:pPr>
              <a:spcAft>
                <a:spcPts val="300"/>
              </a:spcAft>
            </a:pPr>
            <a:r>
              <a:rPr sz="1200" b="0">
                <a:solidFill>
                  <a:srgbClr val="004EA8"/>
                </a:solidFill>
                <a:latin typeface="Arial"/>
              </a:rPr>
              <a:t>•  </a:t>
            </a:r>
            <a:r>
              <a:rPr sz="1200" b="0">
                <a:solidFill>
                  <a:srgbClr val="4B4B4B"/>
                </a:solidFill>
                <a:latin typeface="Arial"/>
              </a:rPr>
              <a:t>TSU Officer (maker), TSU TL, TSU Head</a:t>
            </a:r>
          </a:p>
          <a:p>
            <a:pPr>
              <a:spcAft>
                <a:spcPts val="300"/>
              </a:spcAft>
            </a:pPr>
            <a:r>
              <a:rPr sz="1200" b="0">
                <a:solidFill>
                  <a:srgbClr val="004EA8"/>
                </a:solidFill>
                <a:latin typeface="Arial"/>
              </a:rPr>
              <a:t>•  </a:t>
            </a:r>
            <a:r>
              <a:rPr sz="1200" b="0">
                <a:solidFill>
                  <a:srgbClr val="4B4B4B"/>
                </a:solidFill>
                <a:latin typeface="Arial"/>
              </a:rPr>
              <a:t>ManCom (package sign-off); MBS and IT (package set-up)</a:t>
            </a:r>
          </a:p>
          <a:p>
            <a:pPr>
              <a:spcAft>
                <a:spcPts val="300"/>
              </a:spcAft>
            </a:pPr>
            <a:r>
              <a:rPr sz="1200" b="0">
                <a:solidFill>
                  <a:srgbClr val="004EA8"/>
                </a:solidFill>
                <a:latin typeface="Arial"/>
              </a:rPr>
              <a:t>•  </a:t>
            </a:r>
            <a:r>
              <a:rPr sz="1200" b="0">
                <a:solidFill>
                  <a:srgbClr val="4B4B4B"/>
                </a:solidFill>
                <a:latin typeface="Arial"/>
              </a:rPr>
              <a:t>Reinsurance team (large or special risks, on referral)</a:t>
            </a:r>
          </a:p>
          <a:p>
            <a:pPr>
              <a:spcAft>
                <a:spcPts val="300"/>
              </a:spcAft>
            </a:pPr>
            <a:r>
              <a:rPr sz="1200" b="0">
                <a:solidFill>
                  <a:srgbClr val="004EA8"/>
                </a:solidFill>
                <a:latin typeface="Arial"/>
              </a:rPr>
              <a:t>•  </a:t>
            </a:r>
            <a:r>
              <a:rPr sz="1200" b="0">
                <a:solidFill>
                  <a:srgbClr val="4B4B4B"/>
                </a:solidFill>
                <a:latin typeface="Arial"/>
              </a:rPr>
              <a:t>Insurers (terms)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2 types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package (fixed rates and conditions) and non-package (per deal) (PM-02)</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to negotiate with (OV-01)</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8 steps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from request to set-up and release (TSU flow)</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5 masters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products, packages, LOVs, MIS fields (Day 1 p.9)</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1-1:30 pm, 44F; discovery 21 and 25-Sep-2026</a:t>
            </a:r>
          </a:p>
          <a:p>
            <a:pPr>
              <a:spcAft>
                <a:spcPts val="400"/>
              </a:spcAft>
            </a:pPr>
            <a:r>
              <a:rPr sz="1100" b="1">
                <a:solidFill>
                  <a:srgbClr val="004EA8"/>
                </a:solidFill>
                <a:latin typeface="Arial"/>
              </a:rPr>
              <a:t>Process owners: </a:t>
            </a:r>
            <a:r>
              <a:rPr sz="1100" b="0">
                <a:solidFill>
                  <a:srgbClr val="4B4B4B"/>
                </a:solidFill>
                <a:latin typeface="Arial"/>
              </a:rPr>
              <a:t>Cherry Ann Manalo, Joy Intia</a:t>
            </a:r>
          </a:p>
          <a:p>
            <a:pPr>
              <a:spcAft>
                <a:spcPts val="400"/>
              </a:spcAft>
            </a:pPr>
            <a:r>
              <a:rPr sz="1100" b="0">
                <a:solidFill>
                  <a:srgbClr val="004EA8"/>
                </a:solidFill>
                <a:latin typeface="Arial"/>
              </a:rPr>
              <a:t>•  </a:t>
            </a:r>
            <a:r>
              <a:rPr sz="1100" b="0">
                <a:solidFill>
                  <a:srgbClr val="4B4B4B"/>
                </a:solidFill>
                <a:latin typeface="Arial"/>
              </a:rPr>
              <a:t>Product Maintenance TSU process flow (package and non-package)</a:t>
            </a:r>
          </a:p>
          <a:p>
            <a:pPr>
              <a:spcAft>
                <a:spcPts val="400"/>
              </a:spcAft>
            </a:pPr>
            <a:r>
              <a:rPr sz="1100" b="0">
                <a:solidFill>
                  <a:srgbClr val="004EA8"/>
                </a:solidFill>
                <a:latin typeface="Arial"/>
              </a:rPr>
              <a:t>•  </a:t>
            </a:r>
            <a:r>
              <a:rPr sz="1100" b="0">
                <a:solidFill>
                  <a:srgbClr val="4B4B4B"/>
                </a:solidFill>
                <a:latin typeface="Arial"/>
              </a:rPr>
              <a:t>BDOI Day 1 overview p.9 (data and reference maintenance)</a:t>
            </a:r>
          </a:p>
          <a:p>
            <a:pPr>
              <a:spcAft>
                <a:spcPts val="400"/>
              </a:spcAft>
            </a:pPr>
            <a:r>
              <a:rPr sz="1100" b="0">
                <a:solidFill>
                  <a:srgbClr val="004EA8"/>
                </a:solidFill>
                <a:latin typeface="Arial"/>
              </a:rPr>
              <a:t>•  </a:t>
            </a:r>
            <a:r>
              <a:rPr sz="1100" b="0">
                <a:solidFill>
                  <a:srgbClr val="4B4B4B"/>
                </a:solidFill>
                <a:latin typeface="Arial"/>
              </a:rPr>
              <a:t>Floor-walk notes PM-01 to PM-04, NB-06, NB-08</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Completeness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Risk review</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Quotation slip</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Insurers</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Comparative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Sign-off</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Set-up and release</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5. Product and TSU: what we heard on the floor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PM-01</a:t>
                      </a:r>
                    </a:p>
                  </a:txBody>
                  <a:tcPr marL="64008" marR="64008" marT="27432" marB="27432" anchor="ctr">
                    <a:solidFill>
                      <a:srgbClr val="FFFFFF"/>
                    </a:solidFill>
                  </a:tcPr>
                </a:tc>
                <a:tc>
                  <a:txBody>
                    <a:bodyPr wrap="square"/>
                    <a:lstStyle/>
                    <a:p>
                      <a:r>
                        <a:rPr sz="1100" b="0">
                          <a:solidFill>
                            <a:srgbClr val="4B4B4B"/>
                          </a:solidFill>
                          <a:latin typeface="Arial"/>
                        </a:rPr>
                        <a:t>Package and non-package</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Marketing decides package or non-package from the customer need; BDOI defines the product and the insurer follows.</a:t>
                      </a:r>
                    </a:p>
                  </a:txBody>
                  <a:tcPr marL="64008" marR="64008" marT="27432" marB="27432" anchor="ctr">
                    <a:solidFill>
                      <a:srgbClr val="FFFFFF"/>
                    </a:solidFill>
                  </a:tcPr>
                </a:tc>
                <a:tc>
                  <a:txBody>
                    <a:bodyPr wrap="square"/>
                    <a:lstStyle/>
                    <a:p>
                      <a:r>
                        <a:rPr sz="1100" b="0">
                          <a:solidFill>
                            <a:srgbClr val="4B4B4B"/>
                          </a:solidFill>
                          <a:latin typeface="Arial"/>
                        </a:rPr>
                        <a:t>Product maintenance in the system for both package and non-package.</a:t>
                      </a:r>
                    </a:p>
                  </a:txBody>
                  <a:tcPr marL="64008" marR="64008" marT="27432" marB="27432" anchor="ctr">
                    <a:solidFill>
                      <a:srgbClr val="FFFFFF"/>
                    </a:solidFill>
                  </a:tcPr>
                </a:tc>
              </a:tr>
              <a:tr h="822960">
                <a:tc>
                  <a:txBody>
                    <a:bodyPr wrap="square"/>
                    <a:lstStyle/>
                    <a:p>
                      <a:r>
                        <a:rPr sz="1100" b="1">
                          <a:solidFill>
                            <a:srgbClr val="4B4B4B"/>
                          </a:solidFill>
                          <a:latin typeface="Arial"/>
                        </a:rPr>
                        <a:t>PM-02</a:t>
                      </a:r>
                    </a:p>
                  </a:txBody>
                  <a:tcPr marL="64008" marR="64008" marT="27432" marB="27432" anchor="ctr">
                    <a:solidFill>
                      <a:srgbClr val="E5F5FF"/>
                    </a:solidFill>
                  </a:tcPr>
                </a:tc>
                <a:tc>
                  <a:txBody>
                    <a:bodyPr wrap="square"/>
                    <a:lstStyle/>
                    <a:p>
                      <a:r>
                        <a:rPr sz="1100" b="0">
                          <a:solidFill>
                            <a:srgbClr val="4B4B4B"/>
                          </a:solidFill>
                          <a:latin typeface="Arial"/>
                        </a:rPr>
                        <a:t>Design and rates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Marketing gives the requirement; the product team designs and negotiates with the insurer, incl. incentives for packages; commission rate as agreed by Marketing.</a:t>
                      </a:r>
                    </a:p>
                  </a:txBody>
                  <a:tcPr marL="64008" marR="64008" marT="27432" marB="27432" anchor="ctr">
                    <a:solidFill>
                      <a:srgbClr val="E5F5FF"/>
                    </a:solidFill>
                  </a:tcPr>
                </a:tc>
                <a:tc>
                  <a:txBody>
                    <a:bodyPr wrap="square"/>
                    <a:lstStyle/>
                    <a:p>
                      <a:r>
                        <a:rPr sz="1100" b="0">
                          <a:solidFill>
                            <a:srgbClr val="4B4B4B"/>
                          </a:solidFill>
                          <a:latin typeface="Arial"/>
                        </a:rPr>
                        <a:t>Package = fixed rates and conditions; non-package rates differ per deal.</a:t>
                      </a:r>
                    </a:p>
                  </a:txBody>
                  <a:tcPr marL="64008" marR="64008" marT="27432" marB="27432" anchor="ctr">
                    <a:solidFill>
                      <a:srgbClr val="E5F5FF"/>
                    </a:solidFill>
                  </a:tcPr>
                </a:tc>
              </a:tr>
              <a:tr h="822960">
                <a:tc>
                  <a:txBody>
                    <a:bodyPr wrap="square"/>
                    <a:lstStyle/>
                    <a:p>
                      <a:r>
                        <a:rPr sz="1100" b="1">
                          <a:solidFill>
                            <a:srgbClr val="4B4B4B"/>
                          </a:solidFill>
                          <a:latin typeface="Arial"/>
                        </a:rPr>
                        <a:t>PM-03</a:t>
                      </a:r>
                    </a:p>
                  </a:txBody>
                  <a:tcPr marL="64008" marR="64008" marT="27432" marB="27432" anchor="ctr">
                    <a:solidFill>
                      <a:srgbClr val="FFFFFF"/>
                    </a:solidFill>
                  </a:tcPr>
                </a:tc>
                <a:tc>
                  <a:txBody>
                    <a:bodyPr wrap="square"/>
                    <a:lstStyle/>
                    <a:p>
                      <a:r>
                        <a:rPr sz="1100" b="0">
                          <a:solidFill>
                            <a:srgbClr val="4B4B4B"/>
                          </a:solidFill>
                          <a:latin typeface="Arial"/>
                        </a:rPr>
                        <a:t>Package set-up</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Packages are defined and maintained manually, starting from a customer-specific requirement of Marketing.</a:t>
                      </a:r>
                    </a:p>
                  </a:txBody>
                  <a:tcPr marL="64008" marR="64008" marT="27432" marB="27432" anchor="ctr">
                    <a:solidFill>
                      <a:srgbClr val="FFFFFF"/>
                    </a:solidFill>
                  </a:tcPr>
                </a:tc>
                <a:tc>
                  <a:txBody>
                    <a:bodyPr wrap="square"/>
                    <a:lstStyle/>
                    <a:p>
                      <a:r>
                        <a:rPr sz="1100" b="0">
                          <a:solidFill>
                            <a:srgbClr val="4B4B4B"/>
                          </a:solidFill>
                          <a:latin typeface="Arial"/>
                        </a:rPr>
                        <a:t>Packages defined and maintained in the system.</a:t>
                      </a:r>
                    </a:p>
                  </a:txBody>
                  <a:tcPr marL="64008" marR="64008" marT="27432" marB="27432" anchor="ctr">
                    <a:solidFill>
                      <a:srgbClr val="FFFFFF"/>
                    </a:solidFill>
                  </a:tcPr>
                </a:tc>
              </a:tr>
              <a:tr h="822960">
                <a:tc>
                  <a:txBody>
                    <a:bodyPr wrap="square"/>
                    <a:lstStyle/>
                    <a:p>
                      <a:r>
                        <a:rPr sz="1100" b="1">
                          <a:solidFill>
                            <a:srgbClr val="4B4B4B"/>
                          </a:solidFill>
                          <a:latin typeface="Arial"/>
                        </a:rPr>
                        <a:t>PM-04</a:t>
                      </a:r>
                    </a:p>
                  </a:txBody>
                  <a:tcPr marL="64008" marR="64008" marT="27432" marB="27432" anchor="ctr">
                    <a:solidFill>
                      <a:srgbClr val="E5F5FF"/>
                    </a:solidFill>
                  </a:tcPr>
                </a:tc>
                <a:tc>
                  <a:txBody>
                    <a:bodyPr wrap="square"/>
                    <a:lstStyle/>
                    <a:p>
                      <a:r>
                        <a:rPr sz="1100" b="0">
                          <a:solidFill>
                            <a:srgbClr val="4B4B4B"/>
                          </a:solidFill>
                          <a:latin typeface="Arial"/>
                        </a:rPr>
                        <a:t>Change at renewal</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At renewal a policy can move from package to non-package or back.</a:t>
                      </a:r>
                    </a:p>
                  </a:txBody>
                  <a:tcPr marL="64008" marR="64008" marT="27432" marB="27432" anchor="ctr">
                    <a:solidFill>
                      <a:srgbClr val="E5F5FF"/>
                    </a:solidFill>
                  </a:tcPr>
                </a:tc>
                <a:tc>
                  <a:txBody>
                    <a:bodyPr wrap="square"/>
                    <a:lstStyle/>
                    <a:p>
                      <a:r>
                        <a:rPr sz="1100" b="0">
                          <a:solidFill>
                            <a:srgbClr val="4B4B4B"/>
                          </a:solidFill>
                          <a:latin typeface="Arial"/>
                        </a:rPr>
                        <a:t>Allow the switch at renewal.</a:t>
                      </a:r>
                    </a:p>
                  </a:txBody>
                  <a:tcPr marL="64008" marR="64008" marT="27432" marB="27432" anchor="ctr">
                    <a:solidFill>
                      <a:srgbClr val="E5F5FF"/>
                    </a:solidFill>
                  </a:tcPr>
                </a:tc>
              </a:tr>
            </a:tbl>
          </a:graphicData>
        </a:graphic>
      </p:graphicFrame>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5. Product and TSU: what we heard on the floor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NB-08</a:t>
                      </a:r>
                    </a:p>
                  </a:txBody>
                  <a:tcPr marL="64008" marR="64008" marT="27432" marB="27432" anchor="ctr">
                    <a:solidFill>
                      <a:srgbClr val="FFFFFF"/>
                    </a:solidFill>
                  </a:tcPr>
                </a:tc>
                <a:tc>
                  <a:txBody>
                    <a:bodyPr wrap="square"/>
                    <a:lstStyle/>
                    <a:p>
                      <a:r>
                        <a:rPr sz="1100" b="0">
                          <a:solidFill>
                            <a:srgbClr val="4B4B4B"/>
                          </a:solidFill>
                          <a:latin typeface="Arial"/>
                        </a:rPr>
                        <a:t>TSU step</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Non-package: the request goes to TSU before the quotation; once the customer accepts, to Placement.</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TSU flow</a:t>
                      </a:r>
                    </a:p>
                  </a:txBody>
                  <a:tcPr marL="64008" marR="64008" marT="27432" marB="27432" anchor="ctr">
                    <a:solidFill>
                      <a:srgbClr val="E5F5FF"/>
                    </a:solidFill>
                  </a:tcPr>
                </a:tc>
                <a:tc>
                  <a:txBody>
                    <a:bodyPr wrap="square"/>
                    <a:lstStyle/>
                    <a:p>
                      <a:r>
                        <a:rPr sz="1100" b="0">
                          <a:solidFill>
                            <a:srgbClr val="4B4B4B"/>
                          </a:solidFill>
                          <a:latin typeface="Arial"/>
                        </a:rPr>
                        <a:t>Tracking and evidence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Request encoded in an Excel monitoring file; acceptance evidence (signed slip, stamped slip or explicit e-mail) checked by hand; placement status tracker kept by hand; comparative table built manually in Excel.</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TSU flow</a:t>
                      </a:r>
                    </a:p>
                  </a:txBody>
                  <a:tcPr marL="64008" marR="64008" marT="27432" marB="27432" anchor="ctr">
                    <a:solidFill>
                      <a:srgbClr val="FFFFFF"/>
                    </a:solidFill>
                  </a:tcPr>
                </a:tc>
                <a:tc>
                  <a:txBody>
                    <a:bodyPr wrap="square"/>
                    <a:lstStyle/>
                    <a:p>
                      <a:r>
                        <a:rPr sz="1100" b="0">
                          <a:solidFill>
                            <a:srgbClr val="4B4B4B"/>
                          </a:solidFill>
                          <a:latin typeface="Arial"/>
                        </a:rPr>
                        <a:t>Reinsurance loop</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Large sum insured, special risks or non-standard cover go to the Reinsurance team; RI comments come back to Marketing, who revises terms or closes the request.</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TSU flow</a:t>
                      </a:r>
                    </a:p>
                  </a:txBody>
                  <a:tcPr marL="64008" marR="64008" marT="27432" marB="27432" anchor="ctr">
                    <a:solidFill>
                      <a:srgbClr val="E5F5FF"/>
                    </a:solidFill>
                  </a:tcPr>
                </a:tc>
                <a:tc>
                  <a:txBody>
                    <a:bodyPr wrap="square"/>
                    <a:lstStyle/>
                    <a:p>
                      <a:r>
                        <a:rPr sz="1100" b="0">
                          <a:solidFill>
                            <a:srgbClr val="4B4B4B"/>
                          </a:solidFill>
                          <a:latin typeface="Arial"/>
                        </a:rPr>
                        <a:t>Set-up dependency</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Package creation needs a maintenance request to MBS / IT; screenshots kept as evidence; TSU validates rates and conditions; release advisory to Marketing, Operations and TSU.</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pic>
        <p:nvPicPr>
          <p:cNvPr id="9" name="Picture 8" descr="brd03_fw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TSU request to package release today (Product Maintenance TSU process flow; PM-01 to PM-04)</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5. Product and TSU: the TSU request today, step by step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graphicFrame>
        <p:nvGraphicFramePr>
          <p:cNvPr id="9" name="Table 8"/>
          <p:cNvGraphicFramePr>
            <a:graphicFrameLocks noGrp="1"/>
          </p:cNvGraphicFramePr>
          <p:nvPr/>
        </p:nvGraphicFramePr>
        <p:xfrm>
          <a:off x="548640" y="1280160"/>
          <a:ext cx="11094413" cy="4919472"/>
        </p:xfrm>
        <a:graphic>
          <a:graphicData uri="http://schemas.openxmlformats.org/drawingml/2006/table">
            <a:tbl>
              <a:tblPr firstRow="1" bandRow="1">
                <a:tableStyleId>{5C22544A-7EE6-4342-B048-85BDC9FD1C3A}</a:tableStyleId>
              </a:tblPr>
              <a:tblGrid>
                <a:gridCol w="1789421"/>
                <a:gridCol w="4115670"/>
                <a:gridCol w="3220959"/>
                <a:gridCol w="1968363"/>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What TSU does</a:t>
                      </a:r>
                    </a:p>
                  </a:txBody>
                  <a:tcPr marL="64008" marR="64008" marT="27432" marB="27432" anchor="ctr">
                    <a:solidFill>
                      <a:srgbClr val="004EA8"/>
                    </a:solidFill>
                  </a:tcPr>
                </a:tc>
                <a:tc>
                  <a:txBody>
                    <a:bodyPr wrap="square"/>
                    <a:lstStyle/>
                    <a:p>
                      <a:r>
                        <a:rPr sz="1100" b="1">
                          <a:solidFill>
                            <a:srgbClr val="FFFFFF"/>
                          </a:solidFill>
                          <a:latin typeface="Arial"/>
                        </a:rPr>
                        <a:t>Check or decision</a:t>
                      </a:r>
                    </a:p>
                  </a:txBody>
                  <a:tcPr marL="64008" marR="64008" marT="27432" marB="27432" anchor="ctr">
                    <a:solidFill>
                      <a:srgbClr val="004EA8"/>
                    </a:solidFill>
                  </a:tcPr>
                </a:tc>
                <a:tc>
                  <a:txBody>
                    <a:bodyPr wrap="square"/>
                    <a:lstStyle/>
                    <a:p>
                      <a:r>
                        <a:rPr sz="1100" b="1">
                          <a:solidFill>
                            <a:srgbClr val="FFFFFF"/>
                          </a:solidFill>
                          <a:latin typeface="Arial"/>
                        </a:rPr>
                        <a:t>Tool today</a:t>
                      </a:r>
                    </a:p>
                  </a:txBody>
                  <a:tcPr marL="64008" marR="64008" marT="27432" marB="27432" anchor="ctr">
                    <a:solidFill>
                      <a:srgbClr val="004EA8"/>
                    </a:solidFill>
                  </a:tcPr>
                </a:tc>
              </a:tr>
              <a:tr h="569214">
                <a:tc>
                  <a:txBody>
                    <a:bodyPr wrap="square"/>
                    <a:lstStyle/>
                    <a:p>
                      <a:r>
                        <a:rPr sz="1100" b="1">
                          <a:solidFill>
                            <a:srgbClr val="4B4B4B"/>
                          </a:solidFill>
                          <a:latin typeface="Arial"/>
                        </a:rPr>
                        <a:t>1 Request</a:t>
                      </a:r>
                    </a:p>
                  </a:txBody>
                  <a:tcPr marL="64008" marR="64008" marT="27432" marB="27432" anchor="ctr">
                    <a:solidFill>
                      <a:srgbClr val="FFFFFF"/>
                    </a:solidFill>
                  </a:tcPr>
                </a:tc>
                <a:tc>
                  <a:txBody>
                    <a:bodyPr wrap="square"/>
                    <a:lstStyle/>
                    <a:p>
                      <a:r>
                        <a:rPr sz="1100" b="0">
                          <a:solidFill>
                            <a:srgbClr val="4B4B4B"/>
                          </a:solidFill>
                          <a:latin typeface="Arial"/>
                        </a:rPr>
                        <a:t>Receives the PRF (package) or TSU request form (non-package) with client, risk, cover, basis of quotation</a:t>
                      </a:r>
                    </a:p>
                  </a:txBody>
                  <a:tcPr marL="64008" marR="64008" marT="27432" marB="27432" anchor="ctr">
                    <a:solidFill>
                      <a:srgbClr val="FFFFFF"/>
                    </a:solidFill>
                  </a:tcPr>
                </a:tc>
                <a:tc>
                  <a:txBody>
                    <a:bodyPr wrap="square"/>
                    <a:lstStyle/>
                    <a:p>
                      <a:r>
                        <a:rPr sz="1100" b="0">
                          <a:solidFill>
                            <a:srgbClr val="4B4B4B"/>
                          </a:solidFill>
                          <a:latin typeface="Arial"/>
                        </a:rPr>
                        <a:t>Complete, documents attached, no duplicate; else returned "Incomplete submission"</a:t>
                      </a:r>
                    </a:p>
                  </a:txBody>
                  <a:tcPr marL="64008" marR="64008" marT="27432" marB="27432" anchor="ctr">
                    <a:solidFill>
                      <a:srgbClr val="FFFFFF"/>
                    </a:solidFill>
                  </a:tcPr>
                </a:tc>
                <a:tc>
                  <a:txBody>
                    <a:bodyPr wrap="square"/>
                    <a:lstStyle/>
                    <a:p>
                      <a:r>
                        <a:rPr sz="1100" b="0">
                          <a:solidFill>
                            <a:srgbClr val="4B4B4B"/>
                          </a:solidFill>
                          <a:latin typeface="Arial"/>
                        </a:rPr>
                        <a:t>E-mail</a:t>
                      </a:r>
                    </a:p>
                  </a:txBody>
                  <a:tcPr marL="64008" marR="64008" marT="27432" marB="27432" anchor="ctr">
                    <a:solidFill>
                      <a:srgbClr val="FFFFFF"/>
                    </a:solidFill>
                  </a:tcPr>
                </a:tc>
              </a:tr>
              <a:tr h="569214">
                <a:tc>
                  <a:txBody>
                    <a:bodyPr wrap="square"/>
                    <a:lstStyle/>
                    <a:p>
                      <a:r>
                        <a:rPr sz="1100" b="1">
                          <a:solidFill>
                            <a:srgbClr val="4B4B4B"/>
                          </a:solidFill>
                          <a:latin typeface="Arial"/>
                        </a:rPr>
                        <a:t>2 Log</a:t>
                      </a:r>
                    </a:p>
                  </a:txBody>
                  <a:tcPr marL="64008" marR="64008" marT="27432" marB="27432" anchor="ctr">
                    <a:solidFill>
                      <a:srgbClr val="E5F5FF"/>
                    </a:solidFill>
                  </a:tcPr>
                </a:tc>
                <a:tc>
                  <a:txBody>
                    <a:bodyPr wrap="square"/>
                    <a:lstStyle/>
                    <a:p>
                      <a:r>
                        <a:rPr sz="1100" b="0">
                          <a:solidFill>
                            <a:srgbClr val="4B4B4B"/>
                          </a:solidFill>
                          <a:latin typeface="Arial"/>
                        </a:rPr>
                        <a:t>Acknowledges and encodes the request</a:t>
                      </a:r>
                    </a:p>
                  </a:txBody>
                  <a:tcPr marL="64008" marR="64008" marT="27432" marB="27432" anchor="ctr">
                    <a:solidFill>
                      <a:srgbClr val="E5F5FF"/>
                    </a:solidFill>
                  </a:tcPr>
                </a:tc>
                <a:tc>
                  <a:txBody>
                    <a:bodyPr wrap="square"/>
                    <a:lstStyle/>
                    <a:p>
                      <a:r>
                        <a:rPr sz="1100" b="0">
                          <a:solidFill>
                            <a:srgbClr val="4B4B4B"/>
                          </a:solidFill>
                          <a:latin typeface="Arial"/>
                        </a:rPr>
                        <a:t>Request tracker</a:t>
                      </a:r>
                    </a:p>
                  </a:txBody>
                  <a:tcPr marL="64008" marR="64008" marT="27432" marB="27432" anchor="ctr">
                    <a:solidFill>
                      <a:srgbClr val="E5F5FF"/>
                    </a:solidFill>
                  </a:tcPr>
                </a:tc>
                <a:tc>
                  <a:txBody>
                    <a:bodyPr wrap="square"/>
                    <a:lstStyle/>
                    <a:p>
                      <a:r>
                        <a:rPr sz="1100" b="0">
                          <a:solidFill>
                            <a:srgbClr val="4B4B4B"/>
                          </a:solidFill>
                          <a:latin typeface="Arial"/>
                        </a:rPr>
                        <a:t>Excel monitoring file</a:t>
                      </a:r>
                    </a:p>
                  </a:txBody>
                  <a:tcPr marL="64008" marR="64008" marT="27432" marB="27432" anchor="ctr">
                    <a:solidFill>
                      <a:srgbClr val="E5F5FF"/>
                    </a:solidFill>
                  </a:tcPr>
                </a:tc>
              </a:tr>
              <a:tr h="569214">
                <a:tc>
                  <a:txBody>
                    <a:bodyPr wrap="square"/>
                    <a:lstStyle/>
                    <a:p>
                      <a:r>
                        <a:rPr sz="1100" b="1">
                          <a:solidFill>
                            <a:srgbClr val="4B4B4B"/>
                          </a:solidFill>
                          <a:latin typeface="Arial"/>
                        </a:rPr>
                        <a:t>3 Risk review</a:t>
                      </a:r>
                    </a:p>
                  </a:txBody>
                  <a:tcPr marL="64008" marR="64008" marT="27432" marB="27432" anchor="ctr">
                    <a:solidFill>
                      <a:srgbClr val="FFFFFF"/>
                    </a:solidFill>
                  </a:tcPr>
                </a:tc>
                <a:tc>
                  <a:txBody>
                    <a:bodyPr wrap="square"/>
                    <a:lstStyle/>
                    <a:p>
                      <a:r>
                        <a:rPr sz="1100" b="0">
                          <a:solidFill>
                            <a:srgbClr val="4B4B4B"/>
                          </a:solidFill>
                          <a:latin typeface="Arial"/>
                        </a:rPr>
                        <a:t>Validates cover structure, sum insured and limits, policy terms</a:t>
                      </a:r>
                    </a:p>
                  </a:txBody>
                  <a:tcPr marL="64008" marR="64008" marT="27432" marB="27432" anchor="ctr">
                    <a:solidFill>
                      <a:srgbClr val="FFFFFF"/>
                    </a:solidFill>
                  </a:tcPr>
                </a:tc>
                <a:tc>
                  <a:txBody>
                    <a:bodyPr wrap="square"/>
                    <a:lstStyle/>
                    <a:p>
                      <a:r>
                        <a:rPr sz="1100" b="0">
                          <a:solidFill>
                            <a:srgbClr val="4B4B4B"/>
                          </a:solidFill>
                          <a:latin typeface="Arial"/>
                        </a:rPr>
                        <a:t>Needs reinsurance? (large SI, special risk, non-standard cover)</a:t>
                      </a:r>
                    </a:p>
                  </a:txBody>
                  <a:tcPr marL="64008" marR="64008" marT="27432" marB="27432" anchor="ctr">
                    <a:solidFill>
                      <a:srgbClr val="FFFFFF"/>
                    </a:solidFill>
                  </a:tcPr>
                </a:tc>
                <a:tc>
                  <a:txBody>
                    <a:bodyPr wrap="square"/>
                    <a:lstStyle/>
                    <a:p>
                      <a:r>
                        <a:rPr sz="1100" b="0">
                          <a:solidFill>
                            <a:srgbClr val="4B4B4B"/>
                          </a:solidFill>
                          <a:latin typeface="Arial"/>
                        </a:rPr>
                        <a:t>E-mail to RI team</a:t>
                      </a:r>
                    </a:p>
                  </a:txBody>
                  <a:tcPr marL="64008" marR="64008" marT="27432" marB="27432" anchor="ctr">
                    <a:solidFill>
                      <a:srgbClr val="FFFFFF"/>
                    </a:solidFill>
                  </a:tcPr>
                </a:tc>
              </a:tr>
              <a:tr h="569214">
                <a:tc>
                  <a:txBody>
                    <a:bodyPr wrap="square"/>
                    <a:lstStyle/>
                    <a:p>
                      <a:r>
                        <a:rPr sz="1100" b="1">
                          <a:solidFill>
                            <a:srgbClr val="4B4B4B"/>
                          </a:solidFill>
                          <a:latin typeface="Arial"/>
                        </a:rPr>
                        <a:t>4 Quotation slip</a:t>
                      </a:r>
                    </a:p>
                  </a:txBody>
                  <a:tcPr marL="64008" marR="64008" marT="27432" marB="27432" anchor="ctr">
                    <a:solidFill>
                      <a:srgbClr val="E5F5FF"/>
                    </a:solidFill>
                  </a:tcPr>
                </a:tc>
                <a:tc>
                  <a:txBody>
                    <a:bodyPr wrap="square"/>
                    <a:lstStyle/>
                    <a:p>
                      <a:r>
                        <a:rPr sz="1100" b="0">
                          <a:solidFill>
                            <a:srgbClr val="4B4B4B"/>
                          </a:solidFill>
                          <a:latin typeface="Arial"/>
                        </a:rPr>
                        <a:t>Prepares the slip with risk details, terms and pricing; TSU TL approves</a:t>
                      </a:r>
                    </a:p>
                  </a:txBody>
                  <a:tcPr marL="64008" marR="64008" marT="27432" marB="27432" anchor="ctr">
                    <a:solidFill>
                      <a:srgbClr val="E5F5FF"/>
                    </a:solidFill>
                  </a:tcPr>
                </a:tc>
                <a:tc>
                  <a:txBody>
                    <a:bodyPr wrap="square"/>
                    <a:lstStyle/>
                    <a:p>
                      <a:r>
                        <a:rPr sz="1100" b="0">
                          <a:solidFill>
                            <a:srgbClr val="4B4B4B"/>
                          </a:solidFill>
                          <a:latin typeface="Arial"/>
                        </a:rPr>
                        <a:t>TL approval; revise on return</a:t>
                      </a:r>
                    </a:p>
                  </a:txBody>
                  <a:tcPr marL="64008" marR="64008" marT="27432" marB="27432" anchor="ctr">
                    <a:solidFill>
                      <a:srgbClr val="E5F5FF"/>
                    </a:solidFill>
                  </a:tcPr>
                </a:tc>
                <a:tc>
                  <a:txBody>
                    <a:bodyPr wrap="square"/>
                    <a:lstStyle/>
                    <a:p>
                      <a:r>
                        <a:rPr sz="1100" b="0">
                          <a:solidFill>
                            <a:srgbClr val="4B4B4B"/>
                          </a:solidFill>
                          <a:latin typeface="Arial"/>
                        </a:rPr>
                        <a:t>Word / Excel</a:t>
                      </a:r>
                    </a:p>
                  </a:txBody>
                  <a:tcPr marL="64008" marR="64008" marT="27432" marB="27432" anchor="ctr">
                    <a:solidFill>
                      <a:srgbClr val="E5F5FF"/>
                    </a:solidFill>
                  </a:tcPr>
                </a:tc>
              </a:tr>
              <a:tr h="569214">
                <a:tc>
                  <a:txBody>
                    <a:bodyPr wrap="square"/>
                    <a:lstStyle/>
                    <a:p>
                      <a:r>
                        <a:rPr sz="1100" b="1">
                          <a:solidFill>
                            <a:srgbClr val="4B4B4B"/>
                          </a:solidFill>
                          <a:latin typeface="Arial"/>
                        </a:rPr>
                        <a:t>5 Insurers</a:t>
                      </a:r>
                    </a:p>
                  </a:txBody>
                  <a:tcPr marL="64008" marR="64008" marT="27432" marB="27432" anchor="ctr">
                    <a:solidFill>
                      <a:srgbClr val="FFFFFF"/>
                    </a:solidFill>
                  </a:tcPr>
                </a:tc>
                <a:tc>
                  <a:txBody>
                    <a:bodyPr wrap="square"/>
                    <a:lstStyle/>
                    <a:p>
                      <a:r>
                        <a:rPr sz="1100" b="0">
                          <a:solidFill>
                            <a:srgbClr val="4B4B4B"/>
                          </a:solidFill>
                          <a:latin typeface="Arial"/>
                        </a:rPr>
                        <a:t>Sends the slip, follows up, escalates after the SLA; records accepted, declined, conditional</a:t>
                      </a:r>
                    </a:p>
                  </a:txBody>
                  <a:tcPr marL="64008" marR="64008" marT="27432" marB="27432" anchor="ctr">
                    <a:solidFill>
                      <a:srgbClr val="FFFFFF"/>
                    </a:solidFill>
                  </a:tcPr>
                </a:tc>
                <a:tc>
                  <a:txBody>
                    <a:bodyPr wrap="square"/>
                    <a:lstStyle/>
                    <a:p>
                      <a:r>
                        <a:rPr sz="1100" b="0">
                          <a:solidFill>
                            <a:srgbClr val="4B4B4B"/>
                          </a:solidFill>
                          <a:latin typeface="Arial"/>
                        </a:rPr>
                        <a:t>Acceptance evidence: signed or stamped slip, explicit e-mail</a:t>
                      </a:r>
                    </a:p>
                  </a:txBody>
                  <a:tcPr marL="64008" marR="64008" marT="27432" marB="27432" anchor="ctr">
                    <a:solidFill>
                      <a:srgbClr val="FFFFFF"/>
                    </a:solidFill>
                  </a:tcPr>
                </a:tc>
                <a:tc>
                  <a:txBody>
                    <a:bodyPr wrap="square"/>
                    <a:lstStyle/>
                    <a:p>
                      <a:r>
                        <a:rPr sz="1100" b="0">
                          <a:solidFill>
                            <a:srgbClr val="4B4B4B"/>
                          </a:solidFill>
                          <a:latin typeface="Arial"/>
                        </a:rPr>
                        <a:t>E-mail; status tracker</a:t>
                      </a:r>
                    </a:p>
                  </a:txBody>
                  <a:tcPr marL="64008" marR="64008" marT="27432" marB="27432" anchor="ctr">
                    <a:solidFill>
                      <a:srgbClr val="FFFFFF"/>
                    </a:solidFill>
                  </a:tcPr>
                </a:tc>
              </a:tr>
              <a:tr h="569214">
                <a:tc>
                  <a:txBody>
                    <a:bodyPr wrap="square"/>
                    <a:lstStyle/>
                    <a:p>
                      <a:r>
                        <a:rPr sz="1100" b="1">
                          <a:solidFill>
                            <a:srgbClr val="4B4B4B"/>
                          </a:solidFill>
                          <a:latin typeface="Arial"/>
                        </a:rPr>
                        <a:t>6 Comparative</a:t>
                      </a:r>
                    </a:p>
                  </a:txBody>
                  <a:tcPr marL="64008" marR="64008" marT="27432" marB="27432" anchor="ctr">
                    <a:solidFill>
                      <a:srgbClr val="E5F5FF"/>
                    </a:solidFill>
                  </a:tcPr>
                </a:tc>
                <a:tc>
                  <a:txBody>
                    <a:bodyPr wrap="square"/>
                    <a:lstStyle/>
                    <a:p>
                      <a:r>
                        <a:rPr sz="1100" b="0">
                          <a:solidFill>
                            <a:srgbClr val="4B4B4B"/>
                          </a:solidFill>
                          <a:latin typeface="Arial"/>
                        </a:rPr>
                        <a:t>Compiles premium, cover, conditions, exclusions; asks for more quotes if needed</a:t>
                      </a:r>
                    </a:p>
                  </a:txBody>
                  <a:tcPr marL="64008" marR="64008" marT="27432" marB="27432" anchor="ctr">
                    <a:solidFill>
                      <a:srgbClr val="E5F5FF"/>
                    </a:solidFill>
                  </a:tcPr>
                </a:tc>
                <a:tc>
                  <a:txBody>
                    <a:bodyPr wrap="square"/>
                    <a:lstStyle/>
                    <a:p>
                      <a:r>
                        <a:rPr sz="1100" b="0">
                          <a:solidFill>
                            <a:srgbClr val="4B4B4B"/>
                          </a:solidFill>
                          <a:latin typeface="Arial"/>
                        </a:rPr>
                        <a:t>Enough for a recommendation?</a:t>
                      </a:r>
                    </a:p>
                  </a:txBody>
                  <a:tcPr marL="64008" marR="64008" marT="27432" marB="27432" anchor="ctr">
                    <a:solidFill>
                      <a:srgbClr val="E5F5FF"/>
                    </a:solidFill>
                  </a:tcPr>
                </a:tc>
                <a:tc>
                  <a:txBody>
                    <a:bodyPr wrap="square"/>
                    <a:lstStyle/>
                    <a:p>
                      <a:r>
                        <a:rPr sz="1100" b="0">
                          <a:solidFill>
                            <a:srgbClr val="4B4B4B"/>
                          </a:solidFill>
                          <a:latin typeface="Arial"/>
                        </a:rPr>
                        <a:t>Excel</a:t>
                      </a:r>
                    </a:p>
                  </a:txBody>
                  <a:tcPr marL="64008" marR="64008" marT="27432" marB="27432" anchor="ctr">
                    <a:solidFill>
                      <a:srgbClr val="E5F5FF"/>
                    </a:solidFill>
                  </a:tcPr>
                </a:tc>
              </a:tr>
              <a:tr h="569214">
                <a:tc>
                  <a:txBody>
                    <a:bodyPr wrap="square"/>
                    <a:lstStyle/>
                    <a:p>
                      <a:r>
                        <a:rPr sz="1100" b="1">
                          <a:solidFill>
                            <a:srgbClr val="4B4B4B"/>
                          </a:solidFill>
                          <a:latin typeface="Arial"/>
                        </a:rPr>
                        <a:t>7 Proposal</a:t>
                      </a:r>
                    </a:p>
                  </a:txBody>
                  <a:tcPr marL="64008" marR="64008" marT="27432" marB="27432" anchor="ctr">
                    <a:solidFill>
                      <a:srgbClr val="FFFFFF"/>
                    </a:solidFill>
                  </a:tcPr>
                </a:tc>
                <a:tc>
                  <a:txBody>
                    <a:bodyPr wrap="square"/>
                    <a:lstStyle/>
                    <a:p>
                      <a:r>
                        <a:rPr sz="1100" b="0">
                          <a:solidFill>
                            <a:srgbClr val="4B4B4B"/>
                          </a:solidFill>
                          <a:latin typeface="Arial"/>
                        </a:rPr>
                        <a:t>Sign-off sheet; ManCom (package) or TL / Head (non-package); proposal slip to Marketing</a:t>
                      </a:r>
                    </a:p>
                  </a:txBody>
                  <a:tcPr marL="64008" marR="64008" marT="27432" marB="27432" anchor="ctr">
                    <a:solidFill>
                      <a:srgbClr val="FFFFFF"/>
                    </a:solidFill>
                  </a:tcPr>
                </a:tc>
                <a:tc>
                  <a:txBody>
                    <a:bodyPr wrap="square"/>
                    <a:lstStyle/>
                    <a:p>
                      <a:r>
                        <a:rPr sz="1100" b="0">
                          <a:solidFill>
                            <a:srgbClr val="4B4B4B"/>
                          </a:solidFill>
                          <a:latin typeface="Arial"/>
                        </a:rPr>
                        <a:t>Approved; Marketing sends to the client</a:t>
                      </a:r>
                    </a:p>
                  </a:txBody>
                  <a:tcPr marL="64008" marR="64008" marT="27432" marB="27432" anchor="ctr">
                    <a:solidFill>
                      <a:srgbClr val="FFFFFF"/>
                    </a:solidFill>
                  </a:tcPr>
                </a:tc>
                <a:tc>
                  <a:txBody>
                    <a:bodyPr wrap="square"/>
                    <a:lstStyle/>
                    <a:p>
                      <a:r>
                        <a:rPr sz="1100" b="0">
                          <a:solidFill>
                            <a:srgbClr val="4B4B4B"/>
                          </a:solidFill>
                          <a:latin typeface="Arial"/>
                        </a:rPr>
                        <a:t>Paper signatures</a:t>
                      </a:r>
                    </a:p>
                  </a:txBody>
                  <a:tcPr marL="64008" marR="64008" marT="27432" marB="27432" anchor="ctr">
                    <a:solidFill>
                      <a:srgbClr val="FFFFFF"/>
                    </a:solidFill>
                  </a:tcPr>
                </a:tc>
              </a:tr>
              <a:tr h="569214">
                <a:tc>
                  <a:txBody>
                    <a:bodyPr wrap="square"/>
                    <a:lstStyle/>
                    <a:p>
                      <a:r>
                        <a:rPr sz="1100" b="1">
                          <a:solidFill>
                            <a:srgbClr val="4B4B4B"/>
                          </a:solidFill>
                          <a:latin typeface="Arial"/>
                        </a:rPr>
                        <a:t>8 Set-up and release</a:t>
                      </a:r>
                    </a:p>
                  </a:txBody>
                  <a:tcPr marL="64008" marR="64008" marT="27432" marB="27432" anchor="ctr">
                    <a:solidFill>
                      <a:srgbClr val="E5F5FF"/>
                    </a:solidFill>
                  </a:tcPr>
                </a:tc>
                <a:tc>
                  <a:txBody>
                    <a:bodyPr wrap="square"/>
                    <a:lstStyle/>
                    <a:p>
                      <a:r>
                        <a:rPr sz="1100" b="0">
                          <a:solidFill>
                            <a:srgbClr val="4B4B4B"/>
                          </a:solidFill>
                          <a:latin typeface="Arial"/>
                        </a:rPr>
                        <a:t>Maintenance request to MBS / IT; validates rates, conditions, set-up; release advisory</a:t>
                      </a:r>
                    </a:p>
                  </a:txBody>
                  <a:tcPr marL="64008" marR="64008" marT="27432" marB="27432" anchor="ctr">
                    <a:solidFill>
                      <a:srgbClr val="E5F5FF"/>
                    </a:solidFill>
                  </a:tcPr>
                </a:tc>
                <a:tc>
                  <a:txBody>
                    <a:bodyPr wrap="square"/>
                    <a:lstStyle/>
                    <a:p>
                      <a:r>
                        <a:rPr sz="1100" b="0">
                          <a:solidFill>
                            <a:srgbClr val="4B4B4B"/>
                          </a:solidFill>
                          <a:latin typeface="Arial"/>
                        </a:rPr>
                        <a:t>Set-up correct?</a:t>
                      </a:r>
                    </a:p>
                  </a:txBody>
                  <a:tcPr marL="64008" marR="64008" marT="27432" marB="27432" anchor="ctr">
                    <a:solidFill>
                      <a:srgbClr val="E5F5FF"/>
                    </a:solidFill>
                  </a:tcPr>
                </a:tc>
                <a:tc>
                  <a:txBody>
                    <a:bodyPr wrap="square"/>
                    <a:lstStyle/>
                    <a:p>
                      <a:r>
                        <a:rPr sz="1100" b="0">
                          <a:solidFill>
                            <a:srgbClr val="4B4B4B"/>
                          </a:solidFill>
                          <a:latin typeface="Arial"/>
                        </a:rPr>
                        <a:t>MBS / IT; screenshots</a:t>
                      </a:r>
                    </a:p>
                  </a:txBody>
                  <a:tcPr marL="64008" marR="64008" marT="27432" marB="27432" anchor="ctr">
                    <a:solidFill>
                      <a:srgbClr val="E5F5FF"/>
                    </a:solidFill>
                  </a:tcPr>
                </a:tc>
              </a:tr>
            </a:tbl>
          </a:graphicData>
        </a:graphic>
      </p:graphicFrame>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a:t>
            </a:r>
          </a:p>
          <a:p>
            <a:pPr>
              <a:spcAft>
                <a:spcPts val="100"/>
              </a:spcAft>
            </a:pPr>
            <a:r>
              <a:rPr sz="1200" b="0">
                <a:solidFill>
                  <a:srgbClr val="4B4B4B"/>
                </a:solidFill>
                <a:latin typeface="Arial"/>
              </a:rPr>
              <a:t>PRF and TSU request forms arrive by e-mail; incomplete ones go back.</a:t>
            </a:r>
          </a:p>
          <a:p>
            <a:pPr>
              <a:spcAft>
                <a:spcPts val="100"/>
              </a:spcAft>
            </a:pPr>
            <a:r>
              <a:rPr sz="1200" b="0">
                <a:solidFill>
                  <a:srgbClr val="0072D8"/>
                </a:solidFill>
                <a:latin typeface="Arial"/>
              </a:rPr>
              <a:t>TSU flow</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Tracker in Excel</a:t>
            </a:r>
          </a:p>
          <a:p>
            <a:pPr>
              <a:spcAft>
                <a:spcPts val="100"/>
              </a:spcAft>
            </a:pPr>
            <a:r>
              <a:rPr sz="1200" b="0">
                <a:solidFill>
                  <a:srgbClr val="4B4B4B"/>
                </a:solidFill>
                <a:latin typeface="Arial"/>
              </a:rPr>
              <a:t>Every request is encoded in an Excel monitoring file.</a:t>
            </a:r>
          </a:p>
          <a:p>
            <a:pPr>
              <a:spcAft>
                <a:spcPts val="100"/>
              </a:spcAft>
            </a:pPr>
            <a:r>
              <a:rPr sz="1200" b="0">
                <a:solidFill>
                  <a:srgbClr val="0072D8"/>
                </a:solidFill>
                <a:latin typeface="Arial"/>
              </a:rPr>
              <a:t>TSU flow</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Insurers chased by e-mail</a:t>
            </a:r>
          </a:p>
          <a:p>
            <a:pPr>
              <a:spcAft>
                <a:spcPts val="100"/>
              </a:spcAft>
            </a:pPr>
            <a:r>
              <a:rPr sz="1200" b="0">
                <a:solidFill>
                  <a:srgbClr val="4B4B4B"/>
                </a:solidFill>
                <a:latin typeface="Arial"/>
              </a:rPr>
              <a:t>Slips, follow-ups and escalations by e-mail per insurer.</a:t>
            </a:r>
          </a:p>
          <a:p>
            <a:pPr>
              <a:spcAft>
                <a:spcPts val="100"/>
              </a:spcAft>
            </a:pPr>
            <a:r>
              <a:rPr sz="1200" b="0">
                <a:solidFill>
                  <a:srgbClr val="0072D8"/>
                </a:solidFill>
                <a:latin typeface="Arial"/>
              </a:rPr>
              <a:t>TSU flow</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Evidence and status by hand</a:t>
            </a:r>
          </a:p>
          <a:p>
            <a:pPr>
              <a:spcAft>
                <a:spcPts val="100"/>
              </a:spcAft>
            </a:pPr>
            <a:r>
              <a:rPr sz="1200" b="0">
                <a:solidFill>
                  <a:srgbClr val="4B4B4B"/>
                </a:solidFill>
                <a:latin typeface="Arial"/>
              </a:rPr>
              <a:t>Signed or stamped slips checked by hand; status tracker kept manually.</a:t>
            </a:r>
          </a:p>
          <a:p>
            <a:pPr>
              <a:spcAft>
                <a:spcPts val="100"/>
              </a:spcAft>
            </a:pPr>
            <a:r>
              <a:rPr sz="1200" b="0">
                <a:solidFill>
                  <a:srgbClr val="0072D8"/>
                </a:solidFill>
                <a:latin typeface="Arial"/>
              </a:rPr>
              <a:t>TSU flow</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Comparative in Excel</a:t>
            </a:r>
          </a:p>
          <a:p>
            <a:pPr>
              <a:spcAft>
                <a:spcPts val="100"/>
              </a:spcAft>
            </a:pPr>
            <a:r>
              <a:rPr sz="1200" b="0">
                <a:solidFill>
                  <a:srgbClr val="4B4B4B"/>
                </a:solidFill>
                <a:latin typeface="Arial"/>
              </a:rPr>
              <a:t>Premium, cover, conditions and exclusions compiled manually.</a:t>
            </a:r>
          </a:p>
          <a:p>
            <a:pPr>
              <a:spcAft>
                <a:spcPts val="100"/>
              </a:spcAft>
            </a:pPr>
            <a:r>
              <a:rPr sz="1200" b="0">
                <a:solidFill>
                  <a:srgbClr val="0072D8"/>
                </a:solidFill>
                <a:latin typeface="Arial"/>
              </a:rPr>
              <a:t>TSU flow</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Paper sign-off</a:t>
            </a:r>
          </a:p>
          <a:p>
            <a:pPr>
              <a:spcAft>
                <a:spcPts val="100"/>
              </a:spcAft>
            </a:pPr>
            <a:r>
              <a:rPr sz="1200" b="0">
                <a:solidFill>
                  <a:srgbClr val="4B4B4B"/>
                </a:solidFill>
                <a:latin typeface="Arial"/>
              </a:rPr>
              <a:t>ManCom and TL / Head sign the sign-off sheet on paper.</a:t>
            </a:r>
          </a:p>
          <a:p>
            <a:pPr>
              <a:spcAft>
                <a:spcPts val="100"/>
              </a:spcAft>
            </a:pPr>
            <a:r>
              <a:rPr sz="1200" b="0">
                <a:solidFill>
                  <a:srgbClr val="0072D8"/>
                </a:solidFill>
                <a:latin typeface="Arial"/>
              </a:rPr>
              <a:t>TSU flow</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Set-up depends on MBS and IT</a:t>
            </a:r>
          </a:p>
          <a:p>
            <a:pPr>
              <a:spcAft>
                <a:spcPts val="100"/>
              </a:spcAft>
            </a:pPr>
            <a:r>
              <a:rPr sz="1200" b="0">
                <a:solidFill>
                  <a:srgbClr val="4B4B4B"/>
                </a:solidFill>
                <a:latin typeface="Arial"/>
              </a:rPr>
              <a:t>Packages defined and maintained manually through IT requests.</a:t>
            </a:r>
          </a:p>
          <a:p>
            <a:pPr>
              <a:spcAft>
                <a:spcPts val="100"/>
              </a:spcAft>
            </a:pPr>
            <a:r>
              <a:rPr sz="1200" b="0">
                <a:solidFill>
                  <a:srgbClr val="0072D8"/>
                </a:solidFill>
                <a:latin typeface="Arial"/>
              </a:rPr>
              <a:t>PM-03; TSU flow</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what the business wants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Requests raised in the system with the required fields checked</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Workflow</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Tracker in Excel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Request tracker kept by the system</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Excel</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Insurers chased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Slips sent and answers recorded per insurer, with SLA escalation</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SLA clock</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Evidence and status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Acceptance evidence attached before placement</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Evidence gate</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Comparative in Excel</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Comparative built from the recorded answers</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Generated comparative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Paper sign-off</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Sign-off in the workflow</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E-sign-off</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Set-up depends on MBS and IT</a:t>
            </a:r>
          </a:p>
        </p:txBody>
      </p:sp>
      <p:sp>
        <p:nvSpPr>
          <p:cNvPr id="57" name="Right Arrow 56"/>
          <p:cNvSpPr/>
          <p:nvPr/>
        </p:nvSpPr>
        <p:spPr>
          <a:xfrm>
            <a:off x="446227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800600" y="5491625"/>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46320" y="5491625"/>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Package and non-package products maintained in the system (PM-01, PM-03); switch at renewal (PM-04)</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Product catalogue</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5. Product and TSU: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Business-maintained rating rules</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Speed to market</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Rates, factors and formulas maintained by TSU with approval and versions, without IT.</a:t>
            </a:r>
          </a:p>
          <a:p>
            <a:pPr>
              <a:spcAft>
                <a:spcPts val="400"/>
              </a:spcAft>
            </a:pPr>
            <a:r>
              <a:rPr sz="1200" b="1">
                <a:solidFill>
                  <a:srgbClr val="004EA8"/>
                </a:solidFill>
                <a:latin typeface="Arial"/>
              </a:rPr>
              <a:t>For BDOI: </a:t>
            </a:r>
            <a:r>
              <a:rPr sz="1200" b="0">
                <a:solidFill>
                  <a:srgbClr val="4B4B4B"/>
                </a:solidFill>
                <a:latin typeface="Arial"/>
              </a:rPr>
              <a:t>A rules screen with test premiums before release.</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Insurer appetite and capacity register</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placement</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Per insurer: lines, limits, appetite, accreditation, commission, remittance terms.</a:t>
            </a:r>
          </a:p>
          <a:p>
            <a:pPr>
              <a:spcAft>
                <a:spcPts val="400"/>
              </a:spcAft>
            </a:pPr>
            <a:r>
              <a:rPr sz="1200" b="1">
                <a:solidFill>
                  <a:srgbClr val="004EA8"/>
                </a:solidFill>
                <a:latin typeface="Arial"/>
              </a:rPr>
              <a:t>For BDOI: </a:t>
            </a:r>
            <a:r>
              <a:rPr sz="1200" b="0">
                <a:solidFill>
                  <a:srgbClr val="4B4B4B"/>
                </a:solidFill>
                <a:latin typeface="Arial"/>
              </a:rPr>
              <a:t>Build on the insurer records of Day 1 p.9.</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Test premiums before release</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wrong rates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Automatic test cases run on every package before it goes live.</a:t>
            </a:r>
          </a:p>
          <a:p>
            <a:pPr>
              <a:spcAft>
                <a:spcPts val="400"/>
              </a:spcAft>
            </a:pPr>
            <a:r>
              <a:rPr sz="1200" b="1">
                <a:solidFill>
                  <a:srgbClr val="004EA8"/>
                </a:solidFill>
                <a:latin typeface="Arial"/>
              </a:rPr>
              <a:t>For BDOI: </a:t>
            </a:r>
            <a:r>
              <a:rPr sz="1200" b="0">
                <a:solidFill>
                  <a:srgbClr val="4B4B4B"/>
                </a:solidFill>
                <a:latin typeface="Arial"/>
              </a:rPr>
              <a:t>Turn the set-up validation into test cases.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Package performance analytics</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products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Take-up, loss ratio and retention per package reviewed yearly.</a:t>
            </a:r>
          </a:p>
          <a:p>
            <a:pPr>
              <a:spcAft>
                <a:spcPts val="400"/>
              </a:spcAft>
            </a:pPr>
            <a:r>
              <a:rPr sz="1200" b="1">
                <a:solidFill>
                  <a:srgbClr val="004EA8"/>
                </a:solidFill>
                <a:latin typeface="Arial"/>
              </a:rPr>
              <a:t>For BDOI: </a:t>
            </a:r>
            <a:r>
              <a:rPr sz="1200" b="0">
                <a:solidFill>
                  <a:srgbClr val="4B4B4B"/>
                </a:solidFill>
                <a:latin typeface="Arial"/>
              </a:rPr>
              <a:t>Report per package from booking and claims data.</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E-sign-off</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paper</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ManCom sign-off and slips signed electronically.</a:t>
            </a:r>
          </a:p>
          <a:p>
            <a:pPr>
              <a:spcAft>
                <a:spcPts val="400"/>
              </a:spcAft>
            </a:pPr>
            <a:r>
              <a:rPr sz="1200" b="1">
                <a:solidFill>
                  <a:srgbClr val="004EA8"/>
                </a:solidFill>
                <a:latin typeface="Arial"/>
              </a:rPr>
              <a:t>For BDOI: </a:t>
            </a:r>
            <a:r>
              <a:rPr sz="1200" b="0">
                <a:solidFill>
                  <a:srgbClr val="4B4B4B"/>
                </a:solidFill>
                <a:latin typeface="Arial"/>
              </a:rPr>
              <a:t>With the e-signature decision (CP-01).</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product catalogue</a:t>
            </a:r>
          </a:p>
        </p:txBody>
      </p:sp>
      <p:sp>
        <p:nvSpPr>
          <p:cNvPr id="37" name="TextBox 36"/>
          <p:cNvSpPr txBox="1"/>
          <p:nvPr/>
        </p:nvSpPr>
        <p:spPr>
          <a:xfrm>
            <a:off x="8146084"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source of truth</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Package and non-package products, terms of reference and documents in one catalogue.</a:t>
            </a:r>
          </a:p>
          <a:p>
            <a:pPr>
              <a:spcAft>
                <a:spcPts val="400"/>
              </a:spcAft>
            </a:pPr>
            <a:r>
              <a:rPr sz="1200" b="1">
                <a:solidFill>
                  <a:srgbClr val="004EA8"/>
                </a:solidFill>
                <a:latin typeface="Arial"/>
              </a:rPr>
              <a:t>For BDOI: </a:t>
            </a:r>
            <a:r>
              <a:rPr sz="1200" b="0">
                <a:solidFill>
                  <a:srgbClr val="4B4B4B"/>
                </a:solidFill>
                <a:latin typeface="Arial"/>
              </a:rPr>
              <a:t>Cover both product types (PM-01).</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C</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Operations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The money after booking: cashiering, remittance, adjustments, commission, reconciliation, collections</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6.  </a:t>
            </a:r>
            <a:r>
              <a:rPr sz="1500" b="1">
                <a:solidFill>
                  <a:srgbClr val="FFFFFF"/>
                </a:solidFill>
                <a:latin typeface="Arial"/>
              </a:rPr>
              <a:t>Operations</a:t>
            </a:r>
            <a:r>
              <a:rPr sz="1500" b="0">
                <a:solidFill>
                  <a:srgbClr val="99C1E7"/>
                </a:solidFill>
                <a:latin typeface="Arial"/>
              </a:rPr>
              <a:t>   Operations (Financial Transactions and Processing)</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7.  </a:t>
            </a:r>
            <a:r>
              <a:rPr sz="1500" b="1">
                <a:solidFill>
                  <a:srgbClr val="FFFFFF"/>
                </a:solidFill>
                <a:latin typeface="Arial"/>
              </a:rPr>
              <a:t>Collections</a:t>
            </a:r>
            <a:r>
              <a:rPr sz="1500" b="0">
                <a:solidFill>
                  <a:srgbClr val="99C1E7"/>
                </a:solidFill>
                <a:latin typeface="Arial"/>
              </a:rPr>
              <a:t>   Operations - Collections, with Marketing collection staff</a:t>
            </a:r>
          </a:p>
        </p:txBody>
      </p:sp>
      <p:sp>
        <p:nvSpPr>
          <p:cNvPr id="9" name="TextBox 8"/>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(Financial Transactions and Processing)</a:t>
            </a:r>
          </a:p>
          <a:p>
            <a:pPr>
              <a:spcAft>
                <a:spcPts val="300"/>
              </a:spcAft>
            </a:pPr>
            <a:r>
              <a:rPr sz="1200" b="0">
                <a:solidFill>
                  <a:srgbClr val="004EA8"/>
                </a:solidFill>
                <a:latin typeface="Arial"/>
              </a:rPr>
              <a:t>•  </a:t>
            </a:r>
            <a:r>
              <a:rPr sz="1200" b="0">
                <a:solidFill>
                  <a:srgbClr val="4B4B4B"/>
                </a:solidFill>
                <a:latin typeface="Arial"/>
              </a:rPr>
              <a:t>Cashiers at head office and branches; Cashiering TL / TH</a:t>
            </a:r>
          </a:p>
          <a:p>
            <a:pPr>
              <a:spcAft>
                <a:spcPts val="300"/>
              </a:spcAft>
            </a:pPr>
            <a:r>
              <a:rPr sz="1200" b="0">
                <a:solidFill>
                  <a:srgbClr val="004EA8"/>
                </a:solidFill>
                <a:latin typeface="Arial"/>
              </a:rPr>
              <a:t>•  </a:t>
            </a:r>
            <a:r>
              <a:rPr sz="1200" b="0">
                <a:solidFill>
                  <a:srgbClr val="4B4B4B"/>
                </a:solidFill>
                <a:latin typeface="Arial"/>
              </a:rPr>
              <a:t>Remittance Processor and TL / TH</a:t>
            </a:r>
          </a:p>
          <a:p>
            <a:pPr>
              <a:spcAft>
                <a:spcPts val="300"/>
              </a:spcAft>
            </a:pPr>
            <a:r>
              <a:rPr sz="1200" b="0">
                <a:solidFill>
                  <a:srgbClr val="004EA8"/>
                </a:solidFill>
                <a:latin typeface="Arial"/>
              </a:rPr>
              <a:t>•  </a:t>
            </a:r>
            <a:r>
              <a:rPr sz="1200" b="0">
                <a:solidFill>
                  <a:srgbClr val="4B4B4B"/>
                </a:solidFill>
                <a:latin typeface="Arial"/>
              </a:rPr>
              <a:t>Adjustment / Collateral Release Processor and TL / TH (checker-poster)</a:t>
            </a:r>
          </a:p>
          <a:p>
            <a:pPr>
              <a:spcAft>
                <a:spcPts val="300"/>
              </a:spcAft>
            </a:pPr>
            <a:r>
              <a:rPr sz="1200" b="0">
                <a:solidFill>
                  <a:srgbClr val="004EA8"/>
                </a:solidFill>
                <a:latin typeface="Arial"/>
              </a:rPr>
              <a:t>•  </a:t>
            </a:r>
            <a:r>
              <a:rPr sz="1200" b="0">
                <a:solidFill>
                  <a:srgbClr val="4B4B4B"/>
                </a:solidFill>
                <a:latin typeface="Arial"/>
              </a:rPr>
              <a:t>Production Reconciliation Handler; CRU (Commission Receivable Unit)</a:t>
            </a:r>
          </a:p>
          <a:p>
            <a:pPr>
              <a:spcAft>
                <a:spcPts val="300"/>
              </a:spcAft>
            </a:pPr>
            <a:r>
              <a:rPr sz="1200" b="0">
                <a:solidFill>
                  <a:srgbClr val="004EA8"/>
                </a:solidFill>
                <a:latin typeface="Arial"/>
              </a:rPr>
              <a:t>•  </a:t>
            </a:r>
            <a:r>
              <a:rPr sz="1200" b="0">
                <a:solidFill>
                  <a:srgbClr val="4B4B4B"/>
                </a:solidFill>
                <a:latin typeface="Arial"/>
              </a:rPr>
              <a:t>IT (monthly extracts, reversal files, Autopay)</a:t>
            </a:r>
          </a:p>
          <a:p>
            <a:pPr>
              <a:spcAft>
                <a:spcPts val="300"/>
              </a:spcAft>
            </a:pPr>
            <a:r>
              <a:rPr sz="1200" b="0">
                <a:solidFill>
                  <a:srgbClr val="004EA8"/>
                </a:solidFill>
                <a:latin typeface="Arial"/>
              </a:rPr>
              <a:t>•  </a:t>
            </a:r>
            <a:r>
              <a:rPr sz="1200" b="0">
                <a:solidFill>
                  <a:srgbClr val="4B4B4B"/>
                </a:solidFill>
                <a:latin typeface="Arial"/>
              </a:rPr>
              <a:t>Marketing, Comptrollership, Disbursement (hand-offs)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~55</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partners, each settled and reconciled separately (OV-01)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20-30K</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production lines per insurer a month to reconcile (Day 1 p.24)</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~2,000</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records in one bulk payment file (CA-05)</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4 days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check hold before a payment is applied (Cashiering flow)</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23-Sep-2026, 1:00-5:00 pm, 44F; discovery 21 and 23-Sep-2026</a:t>
            </a:r>
          </a:p>
          <a:p>
            <a:pPr>
              <a:spcAft>
                <a:spcPts val="400"/>
              </a:spcAft>
            </a:pPr>
            <a:r>
              <a:rPr sz="1100" b="1">
                <a:solidFill>
                  <a:srgbClr val="004EA8"/>
                </a:solidFill>
                <a:latin typeface="Arial"/>
              </a:rPr>
              <a:t>Process owners: </a:t>
            </a:r>
            <a:r>
              <a:rPr sz="1100" b="0">
                <a:solidFill>
                  <a:srgbClr val="4B4B4B"/>
                </a:solidFill>
                <a:latin typeface="Arial"/>
              </a:rPr>
              <a:t>Perjelyn Joy Gutierrez, Shirley Catapang, Ronna Marie Go, Aimee Medina, Renque Galos, Carolyn Pasia Baloto, Joy Ebuenga, Mark Andrew Francisco</a:t>
            </a:r>
          </a:p>
          <a:p>
            <a:pPr>
              <a:spcAft>
                <a:spcPts val="400"/>
              </a:spcAft>
            </a:pPr>
            <a:r>
              <a:rPr sz="1100" b="0">
                <a:solidFill>
                  <a:srgbClr val="004EA8"/>
                </a:solidFill>
                <a:latin typeface="Arial"/>
              </a:rPr>
              <a:t>•  </a:t>
            </a:r>
            <a:r>
              <a:rPr sz="1100" b="0">
                <a:solidFill>
                  <a:srgbClr val="4B4B4B"/>
                </a:solidFill>
                <a:latin typeface="Arial"/>
              </a:rPr>
              <a:t>Operations process flow (Cashiering, Remittance, Adjustment, Commission receivables, Production recon, DPPR / PR2307 reversal, Invoicing)</a:t>
            </a:r>
          </a:p>
          <a:p>
            <a:pPr>
              <a:spcAft>
                <a:spcPts val="400"/>
              </a:spcAft>
            </a:pPr>
            <a:r>
              <a:rPr sz="1100" b="0">
                <a:solidFill>
                  <a:srgbClr val="004EA8"/>
                </a:solidFill>
                <a:latin typeface="Arial"/>
              </a:rPr>
              <a:t>•  </a:t>
            </a:r>
            <a:r>
              <a:rPr sz="1100" b="0">
                <a:solidFill>
                  <a:srgbClr val="4B4B4B"/>
                </a:solidFill>
                <a:latin typeface="Arial"/>
              </a:rPr>
              <a:t>BDOI Day 1 overview p.20-25</a:t>
            </a:r>
          </a:p>
          <a:p>
            <a:pPr>
              <a:spcAft>
                <a:spcPts val="400"/>
              </a:spcAft>
            </a:pPr>
            <a:r>
              <a:rPr sz="1100" b="0">
                <a:solidFill>
                  <a:srgbClr val="004EA8"/>
                </a:solidFill>
                <a:latin typeface="Arial"/>
              </a:rPr>
              <a:t>•  </a:t>
            </a:r>
            <a:r>
              <a:rPr sz="1100" b="0">
                <a:solidFill>
                  <a:srgbClr val="4B4B4B"/>
                </a:solidFill>
                <a:latin typeface="Arial"/>
              </a:rPr>
              <a:t>Floor-walk notes CA-01 to CA-05, CM-01 to CM-03, IC-01, IC-02, EN-01, EN-02, OV-03</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 files</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Checks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Split and apply</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Receipts</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Remittance</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Disbursement</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Insurer OR</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Reconciliation</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what we heard on the floor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OV-03</a:t>
                      </a:r>
                    </a:p>
                  </a:txBody>
                  <a:tcPr marL="64008" marR="64008" marT="27432" marB="27432" anchor="ctr">
                    <a:solidFill>
                      <a:srgbClr val="FFFFFF"/>
                    </a:solidFill>
                  </a:tcPr>
                </a:tc>
                <a:tc>
                  <a:txBody>
                    <a:bodyPr wrap="square"/>
                    <a:lstStyle/>
                    <a:p>
                      <a:r>
                        <a:rPr sz="1100" b="0">
                          <a:solidFill>
                            <a:srgbClr val="4B4B4B"/>
                          </a:solidFill>
                          <a:latin typeface="Arial"/>
                        </a:rPr>
                        <a:t>Three references</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One transaction carries three numbers: ISYS invoice no., QPS reference and EBIX reference, plus the payment reference. QPS holds all three.</a:t>
                      </a:r>
                    </a:p>
                  </a:txBody>
                  <a:tcPr marL="64008" marR="64008" marT="27432" marB="27432" anchor="ctr">
                    <a:solidFill>
                      <a:srgbClr val="FFFFFF"/>
                    </a:solidFill>
                  </a:tcPr>
                </a:tc>
                <a:tc>
                  <a:txBody>
                    <a:bodyPr wrap="square"/>
                    <a:lstStyle/>
                    <a:p>
                      <a:r>
                        <a:rPr sz="1100" b="0">
                          <a:solidFill>
                            <a:srgbClr val="4B4B4B"/>
                          </a:solidFill>
                          <a:latin typeface="Arial"/>
                        </a:rPr>
                        <a:t>One reference across the lifecycle (to confirm).</a:t>
                      </a:r>
                    </a:p>
                  </a:txBody>
                  <a:tcPr marL="64008" marR="64008" marT="27432" marB="27432" anchor="ctr">
                    <a:solidFill>
                      <a:srgbClr val="FFFFFF"/>
                    </a:solidFill>
                  </a:tcPr>
                </a:tc>
              </a:tr>
              <a:tr h="822960">
                <a:tc>
                  <a:txBody>
                    <a:bodyPr wrap="square"/>
                    <a:lstStyle/>
                    <a:p>
                      <a:r>
                        <a:rPr sz="1100" b="1">
                          <a:solidFill>
                            <a:srgbClr val="4B4B4B"/>
                          </a:solidFill>
                          <a:latin typeface="Arial"/>
                        </a:rPr>
                        <a:t>CA-01</a:t>
                      </a:r>
                    </a:p>
                  </a:txBody>
                  <a:tcPr marL="64008" marR="64008" marT="27432" marB="27432" anchor="ctr">
                    <a:solidFill>
                      <a:srgbClr val="E5F5FF"/>
                    </a:solidFill>
                  </a:tcPr>
                </a:tc>
                <a:tc>
                  <a:txBody>
                    <a:bodyPr wrap="square"/>
                    <a:lstStyle/>
                    <a:p>
                      <a:r>
                        <a:rPr sz="1100" b="0">
                          <a:solidFill>
                            <a:srgbClr val="4B4B4B"/>
                          </a:solidFill>
                          <a:latin typeface="Arial"/>
                        </a:rPr>
                        <a:t>Receipts</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The client pays against the ISYS invoice number; QPS has the insurer reference and EBIX its own. Receipts are created by hand.</a:t>
                      </a:r>
                    </a:p>
                  </a:txBody>
                  <a:tcPr marL="64008" marR="64008" marT="27432" marB="27432" anchor="ctr">
                    <a:solidFill>
                      <a:srgbClr val="E5F5FF"/>
                    </a:solidFill>
                  </a:tcPr>
                </a:tc>
                <a:tc>
                  <a:txBody>
                    <a:bodyPr wrap="square"/>
                    <a:lstStyle/>
                    <a:p>
                      <a:r>
                        <a:rPr sz="1100" b="0">
                          <a:solidFill>
                            <a:srgbClr val="4B4B4B"/>
                          </a:solidFill>
                          <a:latin typeface="Arial"/>
                        </a:rPr>
                        <a:t>Receipts generated by the system.</a:t>
                      </a:r>
                    </a:p>
                  </a:txBody>
                  <a:tcPr marL="64008" marR="64008" marT="27432" marB="27432" anchor="ctr">
                    <a:solidFill>
                      <a:srgbClr val="E5F5FF"/>
                    </a:solidFill>
                  </a:tcPr>
                </a:tc>
              </a:tr>
              <a:tr h="822960">
                <a:tc>
                  <a:txBody>
                    <a:bodyPr wrap="square"/>
                    <a:lstStyle/>
                    <a:p>
                      <a:r>
                        <a:rPr sz="1100" b="1">
                          <a:solidFill>
                            <a:srgbClr val="4B4B4B"/>
                          </a:solidFill>
                          <a:latin typeface="Arial"/>
                        </a:rPr>
                        <a:t>CA-02</a:t>
                      </a:r>
                    </a:p>
                  </a:txBody>
                  <a:tcPr marL="64008" marR="64008" marT="27432" marB="27432" anchor="ctr">
                    <a:solidFill>
                      <a:srgbClr val="FFFFFF"/>
                    </a:solidFill>
                  </a:tcPr>
                </a:tc>
                <a:tc>
                  <a:txBody>
                    <a:bodyPr wrap="square"/>
                    <a:lstStyle/>
                    <a:p>
                      <a:r>
                        <a:rPr sz="1100" b="0">
                          <a:solidFill>
                            <a:srgbClr val="4B4B4B"/>
                          </a:solidFill>
                          <a:latin typeface="Arial"/>
                        </a:rPr>
                        <a:t>Threshold account</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Amounts below PHP 0.99 go to a separate adjustment (threshold) account, e.g. the .99 of 8,787.99.</a:t>
                      </a:r>
                    </a:p>
                  </a:txBody>
                  <a:tcPr marL="64008" marR="64008" marT="27432" marB="27432" anchor="ctr">
                    <a:solidFill>
                      <a:srgbClr val="FFFFFF"/>
                    </a:solidFill>
                  </a:tcPr>
                </a:tc>
                <a:tc>
                  <a:txBody>
                    <a:bodyPr wrap="square"/>
                    <a:lstStyle/>
                    <a:p>
                      <a:r>
                        <a:rPr sz="1100" b="0">
                          <a:solidFill>
                            <a:srgbClr val="4B4B4B"/>
                          </a:solidFill>
                          <a:latin typeface="Arial"/>
                        </a:rPr>
                        <a:t>Threshold and variance handling configurable.</a:t>
                      </a:r>
                    </a:p>
                  </a:txBody>
                  <a:tcPr marL="64008" marR="64008" marT="27432" marB="27432" anchor="ctr">
                    <a:solidFill>
                      <a:srgbClr val="FFFFFF"/>
                    </a:solidFill>
                  </a:tcPr>
                </a:tc>
              </a:tr>
              <a:tr h="822960">
                <a:tc>
                  <a:txBody>
                    <a:bodyPr wrap="square"/>
                    <a:lstStyle/>
                    <a:p>
                      <a:r>
                        <a:rPr sz="1100" b="1">
                          <a:solidFill>
                            <a:srgbClr val="4B4B4B"/>
                          </a:solidFill>
                          <a:latin typeface="Arial"/>
                        </a:rPr>
                        <a:t>CA-03</a:t>
                      </a:r>
                    </a:p>
                  </a:txBody>
                  <a:tcPr marL="64008" marR="64008" marT="27432" marB="27432" anchor="ctr">
                    <a:solidFill>
                      <a:srgbClr val="E5F5FF"/>
                    </a:solidFill>
                  </a:tcPr>
                </a:tc>
                <a:tc>
                  <a:txBody>
                    <a:bodyPr wrap="square"/>
                    <a:lstStyle/>
                    <a:p>
                      <a:r>
                        <a:rPr sz="1100" b="0">
                          <a:solidFill>
                            <a:srgbClr val="4B4B4B"/>
                          </a:solidFill>
                          <a:latin typeface="Arial"/>
                        </a:rPr>
                        <a:t>Direct pay</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A direct-pay policy is tagged, so only commission entries exist. If the insured still pays BDOI, no accounting entry is created.</a:t>
                      </a:r>
                    </a:p>
                  </a:txBody>
                  <a:tcPr marL="64008" marR="64008" marT="27432" marB="27432" anchor="ctr">
                    <a:solidFill>
                      <a:srgbClr val="E5F5FF"/>
                    </a:solidFill>
                  </a:tcPr>
                </a:tc>
                <a:tc>
                  <a:txBody>
                    <a:bodyPr wrap="square"/>
                    <a:lstStyle/>
                    <a:p>
                      <a:r>
                        <a:rPr sz="1100" b="0">
                          <a:solidFill>
                            <a:srgbClr val="4B4B4B"/>
                          </a:solidFill>
                          <a:latin typeface="Arial"/>
                        </a:rPr>
                        <a:t>A solution, e.g. allow the direct-pay tag to be changed.</a:t>
                      </a:r>
                    </a:p>
                  </a:txBody>
                  <a:tcPr marL="64008" marR="64008" marT="27432" marB="27432" anchor="ctr">
                    <a:solidFill>
                      <a:srgbClr val="E5F5FF"/>
                    </a:solidFill>
                  </a:tcPr>
                </a:tc>
              </a:tr>
              <a:tr h="822960">
                <a:tc>
                  <a:txBody>
                    <a:bodyPr wrap="square"/>
                    <a:lstStyle/>
                    <a:p>
                      <a:r>
                        <a:rPr sz="1100" b="1">
                          <a:solidFill>
                            <a:srgbClr val="4B4B4B"/>
                          </a:solidFill>
                          <a:latin typeface="Arial"/>
                        </a:rPr>
                        <a:t>CA-04</a:t>
                      </a:r>
                    </a:p>
                  </a:txBody>
                  <a:tcPr marL="64008" marR="64008" marT="27432" marB="27432" anchor="ctr">
                    <a:solidFill>
                      <a:srgbClr val="FFFFFF"/>
                    </a:solidFill>
                  </a:tcPr>
                </a:tc>
                <a:tc>
                  <a:txBody>
                    <a:bodyPr wrap="square"/>
                    <a:lstStyle/>
                    <a:p>
                      <a:r>
                        <a:rPr sz="1100" b="0">
                          <a:solidFill>
                            <a:srgbClr val="4B4B4B"/>
                          </a:solidFill>
                          <a:latin typeface="Arial"/>
                        </a:rPr>
                        <a:t>Receipt types</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Two receipts: AR to the client for premium, OR to the insurer for commission.</a:t>
                      </a:r>
                    </a:p>
                  </a:txBody>
                  <a:tcPr marL="64008" marR="64008" marT="27432" marB="27432" anchor="ctr">
                    <a:solidFill>
                      <a:srgbClr val="FFFFFF"/>
                    </a:solidFill>
                  </a:tcPr>
                </a:tc>
                <a:tc>
                  <a:txBody>
                    <a:bodyPr wrap="square"/>
                    <a:lstStyle/>
                    <a:p>
                      <a:r>
                        <a:rPr sz="1100" b="0">
                          <a:solidFill>
                            <a:srgbClr val="4B4B4B"/>
                          </a:solidFill>
                          <a:latin typeface="Arial"/>
                        </a:rPr>
                        <a:t>Both AR and OR generated from the system.</a:t>
                      </a:r>
                    </a:p>
                  </a:txBody>
                  <a:tcPr marL="64008" marR="64008" marT="27432" marB="27432" anchor="ctr">
                    <a:solidFill>
                      <a:srgbClr val="FFFFFF"/>
                    </a:solidFill>
                  </a:tcPr>
                </a:tc>
              </a:tr>
            </a:tbl>
          </a:graphicData>
        </a:graphic>
      </p:graphicFrame>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what we heard on the floor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CA-05</a:t>
                      </a:r>
                    </a:p>
                  </a:txBody>
                  <a:tcPr marL="64008" marR="64008" marT="27432" marB="27432" anchor="ctr">
                    <a:solidFill>
                      <a:srgbClr val="FFFFFF"/>
                    </a:solidFill>
                  </a:tcPr>
                </a:tc>
                <a:tc>
                  <a:txBody>
                    <a:bodyPr wrap="square"/>
                    <a:lstStyle/>
                    <a:p>
                      <a:r>
                        <a:rPr sz="1100" b="0">
                          <a:solidFill>
                            <a:srgbClr val="4B4B4B"/>
                          </a:solidFill>
                          <a:latin typeface="Arial"/>
                        </a:rPr>
                        <a:t>Bulk payment</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Bulk payment files of about 2,000 records.</a:t>
                      </a:r>
                    </a:p>
                  </a:txBody>
                  <a:tcPr marL="64008" marR="64008" marT="27432" marB="27432" anchor="ctr">
                    <a:solidFill>
                      <a:srgbClr val="FFFFFF"/>
                    </a:solidFill>
                  </a:tcPr>
                </a:tc>
                <a:tc>
                  <a:txBody>
                    <a:bodyPr wrap="square"/>
                    <a:lstStyle/>
                    <a:p>
                      <a:r>
                        <a:rPr sz="1100" b="0">
                          <a:solidFill>
                            <a:srgbClr val="4B4B4B"/>
                          </a:solidFill>
                          <a:latin typeface="Arial"/>
                        </a:rPr>
                        <a:t>Walk through bulk payment on the floor (open point).</a:t>
                      </a:r>
                    </a:p>
                  </a:txBody>
                  <a:tcPr marL="64008" marR="64008" marT="27432" marB="27432" anchor="ctr">
                    <a:solidFill>
                      <a:srgbClr val="FFFFFF"/>
                    </a:solidFill>
                  </a:tcPr>
                </a:tc>
              </a:tr>
              <a:tr h="822960">
                <a:tc>
                  <a:txBody>
                    <a:bodyPr wrap="square"/>
                    <a:lstStyle/>
                    <a:p>
                      <a:r>
                        <a:rPr sz="1100" b="1">
                          <a:solidFill>
                            <a:srgbClr val="4B4B4B"/>
                          </a:solidFill>
                          <a:latin typeface="Arial"/>
                        </a:rPr>
                        <a:t>Day 1 p.20</a:t>
                      </a:r>
                    </a:p>
                  </a:txBody>
                  <a:tcPr marL="64008" marR="64008" marT="27432" marB="27432" anchor="ctr">
                    <a:solidFill>
                      <a:srgbClr val="E5F5FF"/>
                    </a:solidFill>
                  </a:tcPr>
                </a:tc>
                <a:tc>
                  <a:txBody>
                    <a:bodyPr wrap="square"/>
                    <a:lstStyle/>
                    <a:p>
                      <a:r>
                        <a:rPr sz="1100" b="0">
                          <a:solidFill>
                            <a:srgbClr val="4B4B4B"/>
                          </a:solidFill>
                          <a:latin typeface="Arial"/>
                        </a:rPr>
                        <a:t>Payment files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Bills Payment, CLPC, PMS, Trade, Direct Credit and FS04 files; 4-day check hold, bounced-check list, QPS / EBIX reference and zero-PR checks; exact, excess or actual-payment files; Autopay; unapplied report.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Day 1 p.21</a:t>
                      </a:r>
                    </a:p>
                  </a:txBody>
                  <a:tcPr marL="64008" marR="64008" marT="27432" marB="27432" anchor="ctr">
                    <a:solidFill>
                      <a:srgbClr val="FFFFFF"/>
                    </a:solidFill>
                  </a:tcPr>
                </a:tc>
                <a:tc>
                  <a:txBody>
                    <a:bodyPr wrap="square"/>
                    <a:lstStyle/>
                    <a:p>
                      <a:r>
                        <a:rPr sz="1100" b="0">
                          <a:solidFill>
                            <a:srgbClr val="4B4B4B"/>
                          </a:solidFill>
                          <a:latin typeface="Arial"/>
                        </a:rPr>
                        <a:t>Remittance</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Weekly EBIX extract of applied payments (Monday to Friday); DPPR reversal, endorsement / knock-off and invalid accounts removed; settlement approved on an MS Teams list; signed copy kept for audit; Disbursement posts.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EN-01</a:t>
                      </a:r>
                    </a:p>
                  </a:txBody>
                  <a:tcPr marL="64008" marR="64008" marT="27432" marB="27432" anchor="ctr">
                    <a:solidFill>
                      <a:srgbClr val="E5F5FF"/>
                    </a:solidFill>
                  </a:tcPr>
                </a:tc>
                <a:tc>
                  <a:txBody>
                    <a:bodyPr wrap="square"/>
                    <a:lstStyle/>
                    <a:p>
                      <a:r>
                        <a:rPr sz="1100" b="0">
                          <a:solidFill>
                            <a:srgbClr val="4B4B4B"/>
                          </a:solidFill>
                          <a:latin typeface="Arial"/>
                        </a:rPr>
                        <a:t>Endorsement</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Marketing e-mails the request with documents; Operations validates, keys it in the EBIX endorsement module; TL / TH checker-poster; posting one by one; entries flow to Comptrollership.</a:t>
                      </a:r>
                    </a:p>
                  </a:txBody>
                  <a:tcPr marL="64008" marR="64008" marT="27432" marB="27432" anchor="ctr">
                    <a:solidFill>
                      <a:srgbClr val="E5F5FF"/>
                    </a:solidFill>
                  </a:tcPr>
                </a:tc>
                <a:tc>
                  <a:txBody>
                    <a:bodyPr wrap="square"/>
                    <a:lstStyle/>
                    <a:p>
                      <a:r>
                        <a:rPr sz="1100" b="0">
                          <a:solidFill>
                            <a:srgbClr val="4B4B4B"/>
                          </a:solidFill>
                          <a:latin typeface="Arial"/>
                        </a:rPr>
                        <a:t>Endorsement computes the premium from the adjustment, like New Business, not just captures it.</a:t>
                      </a:r>
                    </a:p>
                  </a:txBody>
                  <a:tcPr marL="64008" marR="64008" marT="27432" marB="27432" anchor="ctr">
                    <a:solidFill>
                      <a:srgbClr val="E5F5FF"/>
                    </a:solidFill>
                  </a:tcPr>
                </a:tc>
              </a:tr>
              <a:tr h="822960">
                <a:tc>
                  <a:txBody>
                    <a:bodyPr wrap="square"/>
                    <a:lstStyle/>
                    <a:p>
                      <a:r>
                        <a:rPr sz="1100" b="1">
                          <a:solidFill>
                            <a:srgbClr val="4B4B4B"/>
                          </a:solidFill>
                          <a:latin typeface="Arial"/>
                        </a:rPr>
                        <a:t>EN-02</a:t>
                      </a:r>
                    </a:p>
                  </a:txBody>
                  <a:tcPr marL="64008" marR="64008" marT="27432" marB="27432" anchor="ctr">
                    <a:solidFill>
                      <a:srgbClr val="FFFFFF"/>
                    </a:solidFill>
                  </a:tcPr>
                </a:tc>
                <a:tc>
                  <a:txBody>
                    <a:bodyPr wrap="square"/>
                    <a:lstStyle/>
                    <a:p>
                      <a:r>
                        <a:rPr sz="1100" b="0">
                          <a:solidFill>
                            <a:srgbClr val="4B4B4B"/>
                          </a:solidFill>
                          <a:latin typeface="Arial"/>
                        </a:rPr>
                        <a:t>Cancellation</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Cancellation with refund of premium including applicable tax.</a:t>
                      </a:r>
                    </a:p>
                  </a:txBody>
                  <a:tcPr marL="64008" marR="64008" marT="27432" marB="27432" anchor="ctr">
                    <a:solidFill>
                      <a:srgbClr val="FFFFFF"/>
                    </a:solidFill>
                  </a:tcPr>
                </a:tc>
                <a:tc>
                  <a:txBody>
                    <a:bodyPr wrap="square"/>
                    <a:lstStyle/>
                    <a:p>
                      <a:r>
                        <a:rPr sz="1100" b="0">
                          <a:solidFill>
                            <a:srgbClr val="4B4B4B"/>
                          </a:solidFill>
                          <a:latin typeface="Arial"/>
                        </a:rPr>
                        <a:t>Tax treatment on refund to confirm.</a:t>
                      </a:r>
                    </a:p>
                  </a:txBody>
                  <a:tcPr marL="64008" marR="64008" marT="27432" marB="27432" anchor="ctr">
                    <a:solidFill>
                      <a:srgbClr val="FFFFFF"/>
                    </a:solidFill>
                  </a:tcPr>
                </a:tc>
              </a:tr>
            </a:tbl>
          </a:graphicData>
        </a:graphic>
      </p:graphicFrame>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what we heard on the floor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graphicFrame>
        <p:nvGraphicFramePr>
          <p:cNvPr id="9" name="Table 8"/>
          <p:cNvGraphicFramePr>
            <a:graphicFrameLocks noGrp="1"/>
          </p:cNvGraphicFramePr>
          <p:nvPr/>
        </p:nvGraphicFramePr>
        <p:xfrm>
          <a:off x="548640" y="1280160"/>
          <a:ext cx="11094412" cy="448056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CM-01</a:t>
                      </a:r>
                    </a:p>
                  </a:txBody>
                  <a:tcPr marL="64008" marR="64008" marT="27432" marB="27432" anchor="ctr">
                    <a:solidFill>
                      <a:srgbClr val="FFFFFF"/>
                    </a:solidFill>
                  </a:tcPr>
                </a:tc>
                <a:tc>
                  <a:txBody>
                    <a:bodyPr wrap="square"/>
                    <a:lstStyle/>
                    <a:p>
                      <a:r>
                        <a:rPr sz="1100" b="0">
                          <a:solidFill>
                            <a:srgbClr val="4B4B4B"/>
                          </a:solidFill>
                          <a:latin typeface="Arial"/>
                        </a:rPr>
                        <a:t>Commission trigger</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Commission is confirmed from premium collected (Collections) and only after the full premium is collected, also for instalment and multi-year policies.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CM-02</a:t>
                      </a:r>
                    </a:p>
                  </a:txBody>
                  <a:tcPr marL="64008" marR="64008" marT="27432" marB="27432" anchor="ctr">
                    <a:solidFill>
                      <a:srgbClr val="E5F5FF"/>
                    </a:solidFill>
                  </a:tcPr>
                </a:tc>
                <a:tc>
                  <a:txBody>
                    <a:bodyPr wrap="square"/>
                    <a:lstStyle/>
                    <a:p>
                      <a:r>
                        <a:rPr sz="1100" b="0">
                          <a:solidFill>
                            <a:srgbClr val="4B4B4B"/>
                          </a:solidFill>
                          <a:latin typeface="Arial"/>
                        </a:rPr>
                        <a:t>Co-insurance</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Co-insurance: commission can be processed when one insurer has paid. Direct policy: partial commission payment is not accepted.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822960">
                <a:tc>
                  <a:txBody>
                    <a:bodyPr wrap="square"/>
                    <a:lstStyle/>
                    <a:p>
                      <a:r>
                        <a:rPr sz="1100" b="1">
                          <a:solidFill>
                            <a:srgbClr val="4B4B4B"/>
                          </a:solidFill>
                          <a:latin typeface="Arial"/>
                        </a:rPr>
                        <a:t>CM-03</a:t>
                      </a:r>
                    </a:p>
                  </a:txBody>
                  <a:tcPr marL="64008" marR="64008" marT="27432" marB="27432" anchor="ctr">
                    <a:solidFill>
                      <a:srgbClr val="FFFFFF"/>
                    </a:solidFill>
                  </a:tcPr>
                </a:tc>
                <a:tc>
                  <a:txBody>
                    <a:bodyPr wrap="square"/>
                    <a:lstStyle/>
                    <a:p>
                      <a:r>
                        <a:rPr sz="1100" b="0">
                          <a:solidFill>
                            <a:srgbClr val="4B4B4B"/>
                          </a:solidFill>
                          <a:latin typeface="Arial"/>
                        </a:rPr>
                        <a:t>Excess commission</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Excess commission is computed differently for Motor and Fire and kept in the incentive module.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IC-01</a:t>
                      </a:r>
                    </a:p>
                  </a:txBody>
                  <a:tcPr marL="64008" marR="64008" marT="27432" marB="27432" anchor="ctr">
                    <a:solidFill>
                      <a:srgbClr val="E5F5FF"/>
                    </a:solidFill>
                  </a:tcPr>
                </a:tc>
                <a:tc>
                  <a:txBody>
                    <a:bodyPr wrap="square"/>
                    <a:lstStyle/>
                    <a:p>
                      <a:r>
                        <a:rPr sz="1100" b="0">
                          <a:solidFill>
                            <a:srgbClr val="4B4B4B"/>
                          </a:solidFill>
                          <a:latin typeface="Arial"/>
                        </a:rPr>
                        <a:t>Early-remittance incentive</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Insurers pay an incentive for early remittance, only on premium sold within credit terms. Rates agreed with each insurer; posted to Other Income (IC-02).</a:t>
                      </a:r>
                    </a:p>
                  </a:txBody>
                  <a:tcPr marL="64008" marR="64008" marT="27432" marB="27432" anchor="ctr">
                    <a:solidFill>
                      <a:srgbClr val="E5F5FF"/>
                    </a:solidFill>
                  </a:tcPr>
                </a:tc>
                <a:tc>
                  <a:txBody>
                    <a:bodyPr wrap="square"/>
                    <a:lstStyle/>
                    <a:p>
                      <a:r>
                        <a:rPr sz="1100" b="0">
                          <a:solidFill>
                            <a:srgbClr val="4B4B4B"/>
                          </a:solidFill>
                          <a:latin typeface="Arial"/>
                        </a:rPr>
                        <a:t>Incentive by insurer to walk through (open point).</a:t>
                      </a:r>
                    </a:p>
                  </a:txBody>
                  <a:tcPr marL="64008" marR="64008" marT="27432" marB="27432" anchor="ctr">
                    <a:solidFill>
                      <a:srgbClr val="E5F5FF"/>
                    </a:solidFill>
                  </a:tcPr>
                </a:tc>
              </a:tr>
              <a:tr h="822960">
                <a:tc>
                  <a:txBody>
                    <a:bodyPr wrap="square"/>
                    <a:lstStyle/>
                    <a:p>
                      <a:r>
                        <a:rPr sz="1100" b="1">
                          <a:solidFill>
                            <a:srgbClr val="4B4B4B"/>
                          </a:solidFill>
                          <a:latin typeface="Arial"/>
                        </a:rPr>
                        <a:t>Day 1 p.23-24</a:t>
                      </a:r>
                    </a:p>
                  </a:txBody>
                  <a:tcPr marL="64008" marR="64008" marT="27432" marB="27432" anchor="ctr">
                    <a:solidFill>
                      <a:srgbClr val="FFFFFF"/>
                    </a:solidFill>
                  </a:tcPr>
                </a:tc>
                <a:tc>
                  <a:txBody>
                    <a:bodyPr wrap="square"/>
                    <a:lstStyle/>
                    <a:p>
                      <a:r>
                        <a:rPr sz="1100" b="0">
                          <a:solidFill>
                            <a:srgbClr val="4B4B4B"/>
                          </a:solidFill>
                          <a:latin typeface="Arial"/>
                        </a:rPr>
                        <a:t>DP commission, reversal</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DP lists per unit in a shared folder, consolidated in Excel, billed by e-mail; production recon of 20-30K lines per insurer; DPPR / PR2307 reversal through SharePoint, Teams, IT extract and VLOOKUP, with a 0.01-0.99 variance.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bl>
          </a:graphicData>
        </a:graphic>
      </p:graphicFrame>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As-Is process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72</a:t>
            </a:r>
          </a:p>
        </p:txBody>
      </p:sp>
      <p:pic>
        <p:nvPicPr>
          <p:cNvPr id="9" name="Picture 8" descr="brd02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Cashiering and Remittance today (Operations process flow; Day 1 p.20-21; CA-01 to CA-05)</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As-Is process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pic>
        <p:nvPicPr>
          <p:cNvPr id="9" name="Picture 8" descr="brd02_asis_2.png"/>
          <p:cNvPicPr>
            <a:picLocks noChangeAspect="1"/>
          </p:cNvPicPr>
          <p:nvPr/>
        </p:nvPicPr>
        <p:blipFill>
          <a:blip r:embed="rId3"/>
          <a:stretch>
            <a:fillRect/>
          </a:stretch>
        </p:blipFill>
        <p:spPr>
          <a:xfrm>
            <a:off x="646584" y="1243584"/>
            <a:ext cx="10898527"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Commission receivables (direct payment), Adjustment and policy-fee invoicing today (Operations process flow; Day 1 p.22-23, 25; EN-01)</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As-Is process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pic>
        <p:nvPicPr>
          <p:cNvPr id="9" name="Picture 8" descr="brd02_asis_3.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Production reconciliation and DPPR / PR2307 reversal today (Operations process flow; Day 1 p.24)</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seven sub-processes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graphicFrame>
        <p:nvGraphicFramePr>
          <p:cNvPr id="9" name="Table 8"/>
          <p:cNvGraphicFramePr>
            <a:graphicFrameLocks noGrp="1"/>
          </p:cNvGraphicFramePr>
          <p:nvPr/>
        </p:nvGraphicFramePr>
        <p:xfrm>
          <a:off x="548640" y="1280160"/>
          <a:ext cx="11094412" cy="4919470"/>
        </p:xfrm>
        <a:graphic>
          <a:graphicData uri="http://schemas.openxmlformats.org/drawingml/2006/table">
            <a:tbl>
              <a:tblPr firstRow="1" bandRow="1">
                <a:tableStyleId>{5C22544A-7EE6-4342-B048-85BDC9FD1C3A}</a:tableStyleId>
              </a:tblPr>
              <a:tblGrid>
                <a:gridCol w="1560152"/>
                <a:gridCol w="1646827"/>
                <a:gridCol w="3467004"/>
                <a:gridCol w="1473476"/>
                <a:gridCol w="1646827"/>
                <a:gridCol w="1300126"/>
              </a:tblGrid>
              <a:tr h="365760">
                <a:tc>
                  <a:txBody>
                    <a:bodyPr wrap="square"/>
                    <a:lstStyle/>
                    <a:p>
                      <a:r>
                        <a:rPr sz="1100" b="1">
                          <a:solidFill>
                            <a:srgbClr val="FFFFFF"/>
                          </a:solidFill>
                          <a:latin typeface="Arial"/>
                        </a:rPr>
                        <a:t>Sub-process</a:t>
                      </a:r>
                    </a:p>
                  </a:txBody>
                  <a:tcPr marL="64008" marR="64008" marT="27432" marB="27432" anchor="ctr">
                    <a:solidFill>
                      <a:srgbClr val="004EA8"/>
                    </a:solidFill>
                  </a:tcPr>
                </a:tc>
                <a:tc>
                  <a:txBody>
                    <a:bodyPr wrap="square"/>
                    <a:lstStyle/>
                    <a:p>
                      <a:r>
                        <a:rPr sz="1100" b="1">
                          <a:solidFill>
                            <a:srgbClr val="FFFFFF"/>
                          </a:solidFill>
                          <a:latin typeface="Arial"/>
                        </a:rPr>
                        <a:t>Trigger and frequency</a:t>
                      </a:r>
                    </a:p>
                  </a:txBody>
                  <a:tcPr marL="64008" marR="64008" marT="27432" marB="27432" anchor="ctr">
                    <a:solidFill>
                      <a:srgbClr val="004EA8"/>
                    </a:solidFill>
                  </a:tcPr>
                </a:tc>
                <a:tc>
                  <a:txBody>
                    <a:bodyPr wrap="square"/>
                    <a:lstStyle/>
                    <a:p>
                      <a:r>
                        <a:rPr sz="1100" b="1">
                          <a:solidFill>
                            <a:srgbClr val="FFFFFF"/>
                          </a:solidFill>
                          <a:latin typeface="Arial"/>
                        </a:rPr>
                        <a:t>What happens today</a:t>
                      </a:r>
                    </a:p>
                  </a:txBody>
                  <a:tcPr marL="64008" marR="64008" marT="27432" marB="27432" anchor="ctr">
                    <a:solidFill>
                      <a:srgbClr val="004EA8"/>
                    </a:solidFill>
                  </a:tcPr>
                </a:tc>
                <a:tc>
                  <a:txBody>
                    <a:bodyPr wrap="square"/>
                    <a:lstStyle/>
                    <a:p>
                      <a:r>
                        <a:rPr sz="1100" b="1">
                          <a:solidFill>
                            <a:srgbClr val="FFFFFF"/>
                          </a:solidFill>
                          <a:latin typeface="Arial"/>
                        </a:rPr>
                        <a:t>Tools</a:t>
                      </a:r>
                    </a:p>
                  </a:txBody>
                  <a:tcPr marL="64008" marR="64008" marT="27432" marB="27432" anchor="ctr">
                    <a:solidFill>
                      <a:srgbClr val="004EA8"/>
                    </a:solidFill>
                  </a:tcPr>
                </a:tc>
                <a:tc>
                  <a:txBody>
                    <a:bodyPr wrap="square"/>
                    <a:lstStyle/>
                    <a:p>
                      <a:r>
                        <a:rPr sz="1100" b="1">
                          <a:solidFill>
                            <a:srgbClr val="FFFFFF"/>
                          </a:solidFill>
                          <a:latin typeface="Arial"/>
                        </a:rPr>
                        <a:t>Volume, rule</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r>
              <a:tr h="650530">
                <a:tc>
                  <a:txBody>
                    <a:bodyPr wrap="square"/>
                    <a:lstStyle/>
                    <a:p>
                      <a:r>
                        <a:rPr sz="1100" b="1">
                          <a:solidFill>
                            <a:srgbClr val="4B4B4B"/>
                          </a:solidFill>
                          <a:latin typeface="Arial"/>
                        </a:rPr>
                        <a:t>Cashiering</a:t>
                      </a:r>
                    </a:p>
                  </a:txBody>
                  <a:tcPr marL="64008" marR="64008" marT="27432" marB="27432" anchor="ctr">
                    <a:solidFill>
                      <a:srgbClr val="FFFFFF"/>
                    </a:solidFill>
                  </a:tcPr>
                </a:tc>
                <a:tc>
                  <a:txBody>
                    <a:bodyPr wrap="square"/>
                    <a:lstStyle/>
                    <a:p>
                      <a:r>
                        <a:rPr sz="1100" b="0">
                          <a:solidFill>
                            <a:srgbClr val="4B4B4B"/>
                          </a:solidFill>
                          <a:latin typeface="Arial"/>
                        </a:rPr>
                        <a:t>Daily payment files; counter</a:t>
                      </a:r>
                    </a:p>
                  </a:txBody>
                  <a:tcPr marL="64008" marR="64008" marT="27432" marB="27432" anchor="ctr">
                    <a:solidFill>
                      <a:srgbClr val="FFFFFF"/>
                    </a:solidFill>
                  </a:tcPr>
                </a:tc>
                <a:tc>
                  <a:txBody>
                    <a:bodyPr wrap="square"/>
                    <a:lstStyle/>
                    <a:p>
                      <a:r>
                        <a:rPr sz="1100" b="0">
                          <a:solidFill>
                            <a:srgbClr val="4B4B4B"/>
                          </a:solidFill>
                          <a:latin typeface="Arial"/>
                        </a:rPr>
                        <a:t>Checks, split files, upload or Autopay, receipts, unapplied report</a:t>
                      </a:r>
                    </a:p>
                  </a:txBody>
                  <a:tcPr marL="64008" marR="64008" marT="27432" marB="27432" anchor="ctr">
                    <a:solidFill>
                      <a:srgbClr val="FFFFFF"/>
                    </a:solidFill>
                  </a:tcPr>
                </a:tc>
                <a:tc>
                  <a:txBody>
                    <a:bodyPr wrap="square"/>
                    <a:lstStyle/>
                    <a:p>
                      <a:r>
                        <a:rPr sz="1100" b="0">
                          <a:solidFill>
                            <a:srgbClr val="4B4B4B"/>
                          </a:solidFill>
                          <a:latin typeface="Arial"/>
                        </a:rPr>
                        <a:t>EBIX, QPS, ISYS, Excel</a:t>
                      </a:r>
                    </a:p>
                  </a:txBody>
                  <a:tcPr marL="64008" marR="64008" marT="27432" marB="27432" anchor="ctr">
                    <a:solidFill>
                      <a:srgbClr val="FFFFFF"/>
                    </a:solidFill>
                  </a:tcPr>
                </a:tc>
                <a:tc>
                  <a:txBody>
                    <a:bodyPr wrap="square"/>
                    <a:lstStyle/>
                    <a:p>
                      <a:r>
                        <a:rPr sz="1100" b="0">
                          <a:solidFill>
                            <a:srgbClr val="4B4B4B"/>
                          </a:solidFill>
                          <a:latin typeface="Arial"/>
                        </a:rPr>
                        <a:t>~2,000 rows a file; 4-day hold; 0.99 threshold</a:t>
                      </a:r>
                    </a:p>
                  </a:txBody>
                  <a:tcPr marL="64008" marR="64008" marT="27432" marB="27432" anchor="ctr">
                    <a:solidFill>
                      <a:srgbClr val="FFFFFF"/>
                    </a:solidFill>
                  </a:tcPr>
                </a:tc>
                <a:tc>
                  <a:txBody>
                    <a:bodyPr wrap="square"/>
                    <a:lstStyle/>
                    <a:p>
                      <a:r>
                        <a:rPr sz="1100" b="0">
                          <a:solidFill>
                            <a:srgbClr val="4B4B4B"/>
                          </a:solidFill>
                          <a:latin typeface="Arial"/>
                        </a:rPr>
                        <a:t>Cashiering TL / TH</a:t>
                      </a:r>
                    </a:p>
                  </a:txBody>
                  <a:tcPr marL="64008" marR="64008" marT="27432" marB="27432" anchor="ctr">
                    <a:solidFill>
                      <a:srgbClr val="FFFFFF"/>
                    </a:solidFill>
                  </a:tcPr>
                </a:tc>
              </a:tr>
              <a:tr h="650530">
                <a:tc>
                  <a:txBody>
                    <a:bodyPr wrap="square"/>
                    <a:lstStyle/>
                    <a:p>
                      <a:r>
                        <a:rPr sz="1100" b="1">
                          <a:solidFill>
                            <a:srgbClr val="4B4B4B"/>
                          </a:solidFill>
                          <a:latin typeface="Arial"/>
                        </a:rPr>
                        <a:t>Remittance</a:t>
                      </a:r>
                    </a:p>
                  </a:txBody>
                  <a:tcPr marL="64008" marR="64008" marT="27432" marB="27432" anchor="ctr">
                    <a:solidFill>
                      <a:srgbClr val="E5F5FF"/>
                    </a:solidFill>
                  </a:tcPr>
                </a:tc>
                <a:tc>
                  <a:txBody>
                    <a:bodyPr wrap="square"/>
                    <a:lstStyle/>
                    <a:p>
                      <a:r>
                        <a:rPr sz="1100" b="0">
                          <a:solidFill>
                            <a:srgbClr val="4B4B4B"/>
                          </a:solidFill>
                          <a:latin typeface="Arial"/>
                        </a:rPr>
                        <a:t>Weekly (Monday to Friday)</a:t>
                      </a:r>
                    </a:p>
                  </a:txBody>
                  <a:tcPr marL="64008" marR="64008" marT="27432" marB="27432" anchor="ctr">
                    <a:solidFill>
                      <a:srgbClr val="E5F5FF"/>
                    </a:solidFill>
                  </a:tcPr>
                </a:tc>
                <a:tc>
                  <a:txBody>
                    <a:bodyPr wrap="square"/>
                    <a:lstStyle/>
                    <a:p>
                      <a:r>
                        <a:rPr sz="1100" b="0">
                          <a:solidFill>
                            <a:srgbClr val="4B4B4B"/>
                          </a:solidFill>
                          <a:latin typeface="Arial"/>
                        </a:rPr>
                        <a:t>Extract applied payments, sanitise, settlement list, approval, hand-off</a:t>
                      </a:r>
                    </a:p>
                  </a:txBody>
                  <a:tcPr marL="64008" marR="64008" marT="27432" marB="27432" anchor="ctr">
                    <a:solidFill>
                      <a:srgbClr val="E5F5FF"/>
                    </a:solidFill>
                  </a:tcPr>
                </a:tc>
                <a:tc>
                  <a:txBody>
                    <a:bodyPr wrap="square"/>
                    <a:lstStyle/>
                    <a:p>
                      <a:r>
                        <a:rPr sz="1100" b="0">
                          <a:solidFill>
                            <a:srgbClr val="4B4B4B"/>
                          </a:solidFill>
                          <a:latin typeface="Arial"/>
                        </a:rPr>
                        <a:t>EBIX, Excel, Teams</a:t>
                      </a:r>
                    </a:p>
                  </a:txBody>
                  <a:tcPr marL="64008" marR="64008" marT="27432" marB="27432" anchor="ctr">
                    <a:solidFill>
                      <a:srgbClr val="E5F5FF"/>
                    </a:solidFill>
                  </a:tcPr>
                </a:tc>
                <a:tc>
                  <a:txBody>
                    <a:bodyPr wrap="square"/>
                    <a:lstStyle/>
                    <a:p>
                      <a:r>
                        <a:rPr sz="1100" b="0">
                          <a:solidFill>
                            <a:srgbClr val="4B4B4B"/>
                          </a:solidFill>
                          <a:latin typeface="Arial"/>
                        </a:rPr>
                        <a:t>Per insurer; signed copy for audit</a:t>
                      </a:r>
                    </a:p>
                  </a:txBody>
                  <a:tcPr marL="64008" marR="64008" marT="27432" marB="27432" anchor="ctr">
                    <a:solidFill>
                      <a:srgbClr val="E5F5FF"/>
                    </a:solidFill>
                  </a:tcPr>
                </a:tc>
                <a:tc>
                  <a:txBody>
                    <a:bodyPr wrap="square"/>
                    <a:lstStyle/>
                    <a:p>
                      <a:r>
                        <a:rPr sz="1100" b="0">
                          <a:solidFill>
                            <a:srgbClr val="4B4B4B"/>
                          </a:solidFill>
                          <a:latin typeface="Arial"/>
                        </a:rPr>
                        <a:t>Remittance TL / TH</a:t>
                      </a:r>
                    </a:p>
                  </a:txBody>
                  <a:tcPr marL="64008" marR="64008" marT="27432" marB="27432" anchor="ctr">
                    <a:solidFill>
                      <a:srgbClr val="E5F5FF"/>
                    </a:solidFill>
                  </a:tcPr>
                </a:tc>
              </a:tr>
              <a:tr h="650530">
                <a:tc>
                  <a:txBody>
                    <a:bodyPr wrap="square"/>
                    <a:lstStyle/>
                    <a:p>
                      <a:r>
                        <a:rPr sz="1100" b="1">
                          <a:solidFill>
                            <a:srgbClr val="4B4B4B"/>
                          </a:solidFill>
                          <a:latin typeface="Arial"/>
                        </a:rPr>
                        <a:t>Adjustment, cancellation</a:t>
                      </a:r>
                    </a:p>
                  </a:txBody>
                  <a:tcPr marL="64008" marR="64008" marT="27432" marB="27432" anchor="ctr">
                    <a:solidFill>
                      <a:srgbClr val="FFFFFF"/>
                    </a:solidFill>
                  </a:tcPr>
                </a:tc>
                <a:tc>
                  <a:txBody>
                    <a:bodyPr wrap="square"/>
                    <a:lstStyle/>
                    <a:p>
                      <a:r>
                        <a:rPr sz="1100" b="0">
                          <a:solidFill>
                            <a:srgbClr val="4B4B4B"/>
                          </a:solidFill>
                          <a:latin typeface="Arial"/>
                        </a:rPr>
                        <a:t>Marketing e-mail</a:t>
                      </a:r>
                    </a:p>
                  </a:txBody>
                  <a:tcPr marL="64008" marR="64008" marT="27432" marB="27432" anchor="ctr">
                    <a:solidFill>
                      <a:srgbClr val="FFFFFF"/>
                    </a:solidFill>
                  </a:tcPr>
                </a:tc>
                <a:tc>
                  <a:txBody>
                    <a:bodyPr wrap="square"/>
                    <a:lstStyle/>
                    <a:p>
                      <a:r>
                        <a:rPr sz="1100" b="0">
                          <a:solidFill>
                            <a:srgbClr val="4B4B4B"/>
                          </a:solidFill>
                          <a:latin typeface="Arial"/>
                        </a:rPr>
                        <a:t>Validate documents, key in EBIX endorsement module, checker-poster</a:t>
                      </a:r>
                    </a:p>
                  </a:txBody>
                  <a:tcPr marL="64008" marR="64008" marT="27432" marB="27432" anchor="ctr">
                    <a:solidFill>
                      <a:srgbClr val="FFFFFF"/>
                    </a:solidFill>
                  </a:tcPr>
                </a:tc>
                <a:tc>
                  <a:txBody>
                    <a:bodyPr wrap="square"/>
                    <a:lstStyle/>
                    <a:p>
                      <a:r>
                        <a:rPr sz="1100" b="0">
                          <a:solidFill>
                            <a:srgbClr val="4B4B4B"/>
                          </a:solidFill>
                          <a:latin typeface="Arial"/>
                        </a:rPr>
                        <a:t>EBIX, e-mail</a:t>
                      </a:r>
                    </a:p>
                  </a:txBody>
                  <a:tcPr marL="64008" marR="64008" marT="27432" marB="27432" anchor="ctr">
                    <a:solidFill>
                      <a:srgbClr val="FFFFFF"/>
                    </a:solidFill>
                  </a:tcPr>
                </a:tc>
                <a:tc>
                  <a:txBody>
                    <a:bodyPr wrap="square"/>
                    <a:lstStyle/>
                    <a:p>
                      <a:r>
                        <a:rPr sz="1100" b="0">
                          <a:solidFill>
                            <a:srgbClr val="4B4B4B"/>
                          </a:solidFill>
                          <a:latin typeface="Arial"/>
                        </a:rPr>
                        <a:t>Posted one by one; refund with tax</a:t>
                      </a:r>
                    </a:p>
                  </a:txBody>
                  <a:tcPr marL="64008" marR="64008" marT="27432" marB="27432" anchor="ctr">
                    <a:solidFill>
                      <a:srgbClr val="FFFFFF"/>
                    </a:solidFill>
                  </a:tcPr>
                </a:tc>
                <a:tc>
                  <a:txBody>
                    <a:bodyPr wrap="square"/>
                    <a:lstStyle/>
                    <a:p>
                      <a:r>
                        <a:rPr sz="1100" b="0">
                          <a:solidFill>
                            <a:srgbClr val="4B4B4B"/>
                          </a:solidFill>
                          <a:latin typeface="Arial"/>
                        </a:rPr>
                        <a:t>Adjustment TL / TH</a:t>
                      </a:r>
                    </a:p>
                  </a:txBody>
                  <a:tcPr marL="64008" marR="64008" marT="27432" marB="27432" anchor="ctr">
                    <a:solidFill>
                      <a:srgbClr val="FFFFFF"/>
                    </a:solidFill>
                  </a:tcPr>
                </a:tc>
              </a:tr>
              <a:tr h="650530">
                <a:tc>
                  <a:txBody>
                    <a:bodyPr wrap="square"/>
                    <a:lstStyle/>
                    <a:p>
                      <a:r>
                        <a:rPr sz="1100" b="1">
                          <a:solidFill>
                            <a:srgbClr val="4B4B4B"/>
                          </a:solidFill>
                          <a:latin typeface="Arial"/>
                        </a:rPr>
                        <a:t>Commission receivables (DP)</a:t>
                      </a:r>
                    </a:p>
                  </a:txBody>
                  <a:tcPr marL="64008" marR="64008" marT="27432" marB="27432" anchor="ctr">
                    <a:solidFill>
                      <a:srgbClr val="E5F5FF"/>
                    </a:solidFill>
                  </a:tcPr>
                </a:tc>
                <a:tc>
                  <a:txBody>
                    <a:bodyPr wrap="square"/>
                    <a:lstStyle/>
                    <a:p>
                      <a:r>
                        <a:rPr sz="1100" b="0">
                          <a:solidFill>
                            <a:srgbClr val="4B4B4B"/>
                          </a:solidFill>
                          <a:latin typeface="Arial"/>
                        </a:rPr>
                        <a:t>Monthly DP lists</a:t>
                      </a:r>
                    </a:p>
                  </a:txBody>
                  <a:tcPr marL="64008" marR="64008" marT="27432" marB="27432" anchor="ctr">
                    <a:solidFill>
                      <a:srgbClr val="E5F5FF"/>
                    </a:solidFill>
                  </a:tcPr>
                </a:tc>
                <a:tc>
                  <a:txBody>
                    <a:bodyPr wrap="square"/>
                    <a:lstStyle/>
                    <a:p>
                      <a:r>
                        <a:rPr sz="1100" b="0">
                          <a:solidFill>
                            <a:srgbClr val="4B4B4B"/>
                          </a:solidFill>
                          <a:latin typeface="Arial"/>
                        </a:rPr>
                        <a:t>Consolidate, validate, bill per insurer, follow up, OR, DP reversal</a:t>
                      </a:r>
                    </a:p>
                  </a:txBody>
                  <a:tcPr marL="64008" marR="64008" marT="27432" marB="27432" anchor="ctr">
                    <a:solidFill>
                      <a:srgbClr val="E5F5FF"/>
                    </a:solidFill>
                  </a:tcPr>
                </a:tc>
                <a:tc>
                  <a:txBody>
                    <a:bodyPr wrap="square"/>
                    <a:lstStyle/>
                    <a:p>
                      <a:r>
                        <a:rPr sz="1100" b="0">
                          <a:solidFill>
                            <a:srgbClr val="4B4B4B"/>
                          </a:solidFill>
                          <a:latin typeface="Arial"/>
                        </a:rPr>
                        <a:t>Excel, e-mail, phone</a:t>
                      </a:r>
                    </a:p>
                  </a:txBody>
                  <a:tcPr marL="64008" marR="64008" marT="27432" marB="27432" anchor="ctr">
                    <a:solidFill>
                      <a:srgbClr val="E5F5FF"/>
                    </a:solidFill>
                  </a:tcPr>
                </a:tc>
                <a:tc>
                  <a:txBody>
                    <a:bodyPr wrap="square"/>
                    <a:lstStyle/>
                    <a:p>
                      <a:r>
                        <a:rPr sz="1100" b="0">
                          <a:solidFill>
                            <a:srgbClr val="4B4B4B"/>
                          </a:solidFill>
                          <a:latin typeface="Arial"/>
                        </a:rPr>
                        <a:t>Full premium first; no partial for direct</a:t>
                      </a:r>
                    </a:p>
                  </a:txBody>
                  <a:tcPr marL="64008" marR="64008" marT="27432" marB="27432" anchor="ctr">
                    <a:solidFill>
                      <a:srgbClr val="E5F5FF"/>
                    </a:solidFill>
                  </a:tcPr>
                </a:tc>
                <a:tc>
                  <a:txBody>
                    <a:bodyPr wrap="square"/>
                    <a:lstStyle/>
                    <a:p>
                      <a:r>
                        <a:rPr sz="1100" b="0">
                          <a:solidFill>
                            <a:srgbClr val="4B4B4B"/>
                          </a:solidFill>
                          <a:latin typeface="Arial"/>
                        </a:rPr>
                        <a:t>CRU</a:t>
                      </a:r>
                    </a:p>
                  </a:txBody>
                  <a:tcPr marL="64008" marR="64008" marT="27432" marB="27432" anchor="ctr">
                    <a:solidFill>
                      <a:srgbClr val="E5F5FF"/>
                    </a:solidFill>
                  </a:tcPr>
                </a:tc>
              </a:tr>
              <a:tr h="650530">
                <a:tc>
                  <a:txBody>
                    <a:bodyPr wrap="square"/>
                    <a:lstStyle/>
                    <a:p>
                      <a:r>
                        <a:rPr sz="1100" b="1">
                          <a:solidFill>
                            <a:srgbClr val="4B4B4B"/>
                          </a:solidFill>
                          <a:latin typeface="Arial"/>
                        </a:rPr>
                        <a:t>Production reconciliation</a:t>
                      </a:r>
                    </a:p>
                  </a:txBody>
                  <a:tcPr marL="64008" marR="64008" marT="27432" marB="27432" anchor="ctr">
                    <a:solidFill>
                      <a:srgbClr val="FFFFFF"/>
                    </a:solidFill>
                  </a:tcPr>
                </a:tc>
                <a:tc>
                  <a:txBody>
                    <a:bodyPr wrap="square"/>
                    <a:lstStyle/>
                    <a:p>
                      <a:r>
                        <a:rPr sz="1100" b="0">
                          <a:solidFill>
                            <a:srgbClr val="4B4B4B"/>
                          </a:solidFill>
                          <a:latin typeface="Arial"/>
                        </a:rPr>
                        <a:t>Monthly, first week</a:t>
                      </a:r>
                    </a:p>
                  </a:txBody>
                  <a:tcPr marL="64008" marR="64008" marT="27432" marB="27432" anchor="ctr">
                    <a:solidFill>
                      <a:srgbClr val="FFFFFF"/>
                    </a:solidFill>
                  </a:tcPr>
                </a:tc>
                <a:tc>
                  <a:txBody>
                    <a:bodyPr wrap="square"/>
                    <a:lstStyle/>
                    <a:p>
                      <a:r>
                        <a:rPr sz="1100" b="0">
                          <a:solidFill>
                            <a:srgbClr val="4B4B4B"/>
                          </a:solidFill>
                          <a:latin typeface="Arial"/>
                        </a:rPr>
                        <a:t>IT extract, per-insurer files, insurer feedback, classification, unbooked follow-up</a:t>
                      </a:r>
                    </a:p>
                  </a:txBody>
                  <a:tcPr marL="64008" marR="64008" marT="27432" marB="27432" anchor="ctr">
                    <a:solidFill>
                      <a:srgbClr val="FFFFFF"/>
                    </a:solidFill>
                  </a:tcPr>
                </a:tc>
                <a:tc>
                  <a:txBody>
                    <a:bodyPr wrap="square"/>
                    <a:lstStyle/>
                    <a:p>
                      <a:r>
                        <a:rPr sz="1100" b="0">
                          <a:solidFill>
                            <a:srgbClr val="4B4B4B"/>
                          </a:solidFill>
                          <a:latin typeface="Arial"/>
                        </a:rPr>
                        <a:t>Excel, e-mail</a:t>
                      </a:r>
                    </a:p>
                  </a:txBody>
                  <a:tcPr marL="64008" marR="64008" marT="27432" marB="27432" anchor="ctr">
                    <a:solidFill>
                      <a:srgbClr val="FFFFFF"/>
                    </a:solidFill>
                  </a:tcPr>
                </a:tc>
                <a:tc>
                  <a:txBody>
                    <a:bodyPr wrap="square"/>
                    <a:lstStyle/>
                    <a:p>
                      <a:r>
                        <a:rPr sz="1100" b="0">
                          <a:solidFill>
                            <a:srgbClr val="4B4B4B"/>
                          </a:solidFill>
                          <a:latin typeface="Arial"/>
                        </a:rPr>
                        <a:t>20-30K lines per insurer</a:t>
                      </a:r>
                    </a:p>
                  </a:txBody>
                  <a:tcPr marL="64008" marR="64008" marT="27432" marB="27432" anchor="ctr">
                    <a:solidFill>
                      <a:srgbClr val="FFFFFF"/>
                    </a:solidFill>
                  </a:tcPr>
                </a:tc>
                <a:tc>
                  <a:txBody>
                    <a:bodyPr wrap="square"/>
                    <a:lstStyle/>
                    <a:p>
                      <a:r>
                        <a:rPr sz="1100" b="0">
                          <a:solidFill>
                            <a:srgbClr val="4B4B4B"/>
                          </a:solidFill>
                          <a:latin typeface="Arial"/>
                        </a:rPr>
                        <a:t>Recon handler</a:t>
                      </a:r>
                    </a:p>
                  </a:txBody>
                  <a:tcPr marL="64008" marR="64008" marT="27432" marB="27432" anchor="ctr">
                    <a:solidFill>
                      <a:srgbClr val="FFFFFF"/>
                    </a:solidFill>
                  </a:tcPr>
                </a:tc>
              </a:tr>
              <a:tr h="650530">
                <a:tc>
                  <a:txBody>
                    <a:bodyPr wrap="square"/>
                    <a:lstStyle/>
                    <a:p>
                      <a:r>
                        <a:rPr sz="1100" b="1">
                          <a:solidFill>
                            <a:srgbClr val="4B4B4B"/>
                          </a:solidFill>
                          <a:latin typeface="Arial"/>
                        </a:rPr>
                        <a:t>DPPR / PR2307 reversal</a:t>
                      </a:r>
                    </a:p>
                  </a:txBody>
                  <a:tcPr marL="64008" marR="64008" marT="27432" marB="27432" anchor="ctr">
                    <a:solidFill>
                      <a:srgbClr val="E5F5FF"/>
                    </a:solidFill>
                  </a:tcPr>
                </a:tc>
                <a:tc>
                  <a:txBody>
                    <a:bodyPr wrap="square"/>
                    <a:lstStyle/>
                    <a:p>
                      <a:r>
                        <a:rPr sz="1100" b="0">
                          <a:solidFill>
                            <a:srgbClr val="4B4B4B"/>
                          </a:solidFill>
                          <a:latin typeface="Arial"/>
                        </a:rPr>
                        <a:t>On CRU list</a:t>
                      </a:r>
                    </a:p>
                  </a:txBody>
                  <a:tcPr marL="64008" marR="64008" marT="27432" marB="27432" anchor="ctr">
                    <a:solidFill>
                      <a:srgbClr val="E5F5FF"/>
                    </a:solidFill>
                  </a:tcPr>
                </a:tc>
                <a:tc>
                  <a:txBody>
                    <a:bodyPr wrap="square"/>
                    <a:lstStyle/>
                    <a:p>
                      <a:r>
                        <a:rPr sz="1100" b="0">
                          <a:solidFill>
                            <a:srgbClr val="4B4B4B"/>
                          </a:solidFill>
                          <a:latin typeface="Arial"/>
                        </a:rPr>
                        <a:t>SharePoint list, IT extract, VLOOKUP, SL reversal, knock-off, zero workfile</a:t>
                      </a:r>
                    </a:p>
                  </a:txBody>
                  <a:tcPr marL="64008" marR="64008" marT="27432" marB="27432" anchor="ctr">
                    <a:solidFill>
                      <a:srgbClr val="E5F5FF"/>
                    </a:solidFill>
                  </a:tcPr>
                </a:tc>
                <a:tc>
                  <a:txBody>
                    <a:bodyPr wrap="square"/>
                    <a:lstStyle/>
                    <a:p>
                      <a:r>
                        <a:rPr sz="1100" b="0">
                          <a:solidFill>
                            <a:srgbClr val="4B4B4B"/>
                          </a:solidFill>
                          <a:latin typeface="Arial"/>
                        </a:rPr>
                        <a:t>EBIX, SharePoint, Teams</a:t>
                      </a:r>
                    </a:p>
                  </a:txBody>
                  <a:tcPr marL="64008" marR="64008" marT="27432" marB="27432" anchor="ctr">
                    <a:solidFill>
                      <a:srgbClr val="E5F5FF"/>
                    </a:solidFill>
                  </a:tcPr>
                </a:tc>
                <a:tc>
                  <a:txBody>
                    <a:bodyPr wrap="square"/>
                    <a:lstStyle/>
                    <a:p>
                      <a:r>
                        <a:rPr sz="1100" b="0">
                          <a:solidFill>
                            <a:srgbClr val="4B4B4B"/>
                          </a:solidFill>
                          <a:latin typeface="Arial"/>
                        </a:rPr>
                        <a:t>Variance 0.01-0.99</a:t>
                      </a:r>
                    </a:p>
                  </a:txBody>
                  <a:tcPr marL="64008" marR="64008" marT="27432" marB="27432" anchor="ctr">
                    <a:solidFill>
                      <a:srgbClr val="E5F5FF"/>
                    </a:solidFill>
                  </a:tcPr>
                </a:tc>
                <a:tc>
                  <a:txBody>
                    <a:bodyPr wrap="square"/>
                    <a:lstStyle/>
                    <a:p>
                      <a:r>
                        <a:rPr sz="1100" b="0">
                          <a:solidFill>
                            <a:srgbClr val="4B4B4B"/>
                          </a:solidFill>
                          <a:latin typeface="Arial"/>
                        </a:rPr>
                        <a:t>CRU, Cashiering</a:t>
                      </a:r>
                    </a:p>
                  </a:txBody>
                  <a:tcPr marL="64008" marR="64008" marT="27432" marB="27432" anchor="ctr">
                    <a:solidFill>
                      <a:srgbClr val="E5F5FF"/>
                    </a:solidFill>
                  </a:tcPr>
                </a:tc>
              </a:tr>
              <a:tr h="650530">
                <a:tc>
                  <a:txBody>
                    <a:bodyPr wrap="square"/>
                    <a:lstStyle/>
                    <a:p>
                      <a:r>
                        <a:rPr sz="1100" b="1">
                          <a:solidFill>
                            <a:srgbClr val="4B4B4B"/>
                          </a:solidFill>
                          <a:latin typeface="Arial"/>
                        </a:rPr>
                        <a:t>Policy-fee invoicing</a:t>
                      </a:r>
                    </a:p>
                  </a:txBody>
                  <a:tcPr marL="64008" marR="64008" marT="27432" marB="27432" anchor="ctr">
                    <a:solidFill>
                      <a:srgbClr val="FFFFFF"/>
                    </a:solidFill>
                  </a:tcPr>
                </a:tc>
                <a:tc>
                  <a:txBody>
                    <a:bodyPr wrap="square"/>
                    <a:lstStyle/>
                    <a:p>
                      <a:r>
                        <a:rPr sz="1100" b="0">
                          <a:solidFill>
                            <a:srgbClr val="4B4B4B"/>
                          </a:solidFill>
                          <a:latin typeface="Arial"/>
                        </a:rPr>
                        <a:t>Requestor schedule</a:t>
                      </a:r>
                    </a:p>
                  </a:txBody>
                  <a:tcPr marL="64008" marR="64008" marT="27432" marB="27432" anchor="ctr">
                    <a:solidFill>
                      <a:srgbClr val="FFFFFF"/>
                    </a:solidFill>
                  </a:tcPr>
                </a:tc>
                <a:tc>
                  <a:txBody>
                    <a:bodyPr wrap="square"/>
                    <a:lstStyle/>
                    <a:p>
                      <a:r>
                        <a:rPr sz="1100" b="0">
                          <a:solidFill>
                            <a:srgbClr val="4B4B4B"/>
                          </a:solidFill>
                          <a:latin typeface="Arial"/>
                        </a:rPr>
                        <a:t>Key client, risk code, date, amount, branch, allocation; preview; send</a:t>
                      </a:r>
                    </a:p>
                  </a:txBody>
                  <a:tcPr marL="64008" marR="64008" marT="27432" marB="27432" anchor="ctr">
                    <a:solidFill>
                      <a:srgbClr val="FFFFFF"/>
                    </a:solidFill>
                  </a:tcPr>
                </a:tc>
                <a:tc>
                  <a:txBody>
                    <a:bodyPr wrap="square"/>
                    <a:lstStyle/>
                    <a:p>
                      <a:r>
                        <a:rPr sz="1100" b="0">
                          <a:solidFill>
                            <a:srgbClr val="4B4B4B"/>
                          </a:solidFill>
                          <a:latin typeface="Arial"/>
                        </a:rPr>
                        <a:t>EBIX report menu</a:t>
                      </a:r>
                    </a:p>
                  </a:txBody>
                  <a:tcPr marL="64008" marR="64008" marT="27432" marB="27432" anchor="ctr">
                    <a:solidFill>
                      <a:srgbClr val="FFFFFF"/>
                    </a:solidFill>
                  </a:tcPr>
                </a:tc>
                <a:tc>
                  <a:txBody>
                    <a:bodyPr wrap="square"/>
                    <a:lstStyle/>
                    <a:p>
                      <a:r>
                        <a:rPr sz="1100" b="0">
                          <a:solidFill>
                            <a:srgbClr val="4B4B4B"/>
                          </a:solidFill>
                          <a:latin typeface="Arial"/>
                        </a:rPr>
                        <a:t>Status must read Invoiced</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r>
            </a:tbl>
          </a:graphicData>
        </a:graphic>
      </p:graphicFrame>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Intake checks by hand</a:t>
            </a:r>
          </a:p>
          <a:p>
            <a:pPr>
              <a:spcAft>
                <a:spcPts val="100"/>
              </a:spcAft>
            </a:pPr>
            <a:r>
              <a:rPr sz="1200" b="0">
                <a:solidFill>
                  <a:srgbClr val="4B4B4B"/>
                </a:solidFill>
                <a:latin typeface="Arial"/>
              </a:rPr>
              <a:t>4-day check hold, bounced-check list and exclusion list are checked before each payment is applied.</a:t>
            </a:r>
          </a:p>
          <a:p>
            <a:pPr>
              <a:spcAft>
                <a:spcPts val="100"/>
              </a:spcAft>
            </a:pPr>
            <a:r>
              <a:rPr sz="1200" b="0">
                <a:solidFill>
                  <a:srgbClr val="0072D8"/>
                </a:solidFill>
                <a:latin typeface="Arial"/>
              </a:rPr>
              <a:t>Operations flow (Cashiering); Day 1 p.20</a:t>
            </a:r>
          </a:p>
        </p:txBody>
      </p:sp>
      <p:sp>
        <p:nvSpPr>
          <p:cNvPr id="11" name="Oval 10"/>
          <p:cNvSpPr/>
          <p:nvPr/>
        </p:nvSpPr>
        <p:spPr>
          <a:xfrm>
            <a:off x="548640"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Three references per transaction</a:t>
            </a:r>
          </a:p>
          <a:p>
            <a:pPr>
              <a:spcAft>
                <a:spcPts val="100"/>
              </a:spcAft>
            </a:pPr>
            <a:r>
              <a:rPr sz="1200" b="0">
                <a:solidFill>
                  <a:srgbClr val="4B4B4B"/>
                </a:solidFill>
                <a:latin typeface="Arial"/>
              </a:rPr>
              <a:t>ISYS invoice no., QPS reference, EBIX reference and payment reference; tracing is slow.</a:t>
            </a:r>
          </a:p>
          <a:p>
            <a:pPr>
              <a:spcAft>
                <a:spcPts val="100"/>
              </a:spcAft>
            </a:pPr>
            <a:r>
              <a:rPr sz="1200" b="0">
                <a:solidFill>
                  <a:srgbClr val="0072D8"/>
                </a:solidFill>
                <a:latin typeface="Arial"/>
              </a:rPr>
              <a:t>OV-03, CA-01</a:t>
            </a:r>
          </a:p>
        </p:txBody>
      </p:sp>
      <p:sp>
        <p:nvSpPr>
          <p:cNvPr id="13" name="Oval 12"/>
          <p:cNvSpPr/>
          <p:nvPr/>
        </p:nvSpPr>
        <p:spPr>
          <a:xfrm>
            <a:off x="548640"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files split in Excel</a:t>
            </a:r>
          </a:p>
          <a:p>
            <a:pPr>
              <a:spcAft>
                <a:spcPts val="100"/>
              </a:spcAft>
            </a:pPr>
            <a:r>
              <a:rPr sz="1200" b="0">
                <a:solidFill>
                  <a:srgbClr val="4B4B4B"/>
                </a:solidFill>
                <a:latin typeface="Arial"/>
              </a:rPr>
              <a:t>Zero-PR tagging and exact, excess and actual-payment files are built by hand.</a:t>
            </a:r>
          </a:p>
          <a:p>
            <a:pPr>
              <a:spcAft>
                <a:spcPts val="100"/>
              </a:spcAft>
            </a:pPr>
            <a:r>
              <a:rPr sz="1200" b="0">
                <a:solidFill>
                  <a:srgbClr val="0072D8"/>
                </a:solidFill>
                <a:latin typeface="Arial"/>
              </a:rPr>
              <a:t>Operations flow (Cashiering)</a:t>
            </a:r>
          </a:p>
        </p:txBody>
      </p:sp>
      <p:sp>
        <p:nvSpPr>
          <p:cNvPr id="15" name="Oval 14"/>
          <p:cNvSpPr/>
          <p:nvPr/>
        </p:nvSpPr>
        <p:spPr>
          <a:xfrm>
            <a:off x="548640"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Manual receipts and unapplied</a:t>
            </a:r>
          </a:p>
          <a:p>
            <a:pPr>
              <a:spcAft>
                <a:spcPts val="100"/>
              </a:spcAft>
            </a:pPr>
            <a:r>
              <a:rPr sz="1200" b="0">
                <a:solidFill>
                  <a:srgbClr val="4B4B4B"/>
                </a:solidFill>
                <a:latin typeface="Arial"/>
              </a:rPr>
              <a:t>AR and OR are prepared by hand; unapplied items are followed offline.</a:t>
            </a:r>
          </a:p>
          <a:p>
            <a:pPr>
              <a:spcAft>
                <a:spcPts val="100"/>
              </a:spcAft>
            </a:pPr>
            <a:r>
              <a:rPr sz="1200" b="0">
                <a:solidFill>
                  <a:srgbClr val="0072D8"/>
                </a:solidFill>
                <a:latin typeface="Arial"/>
              </a:rPr>
              <a:t>CA-01, CA-04</a:t>
            </a:r>
          </a:p>
        </p:txBody>
      </p:sp>
      <p:sp>
        <p:nvSpPr>
          <p:cNvPr id="17" name="Oval 16"/>
          <p:cNvSpPr/>
          <p:nvPr/>
        </p:nvSpPr>
        <p:spPr>
          <a:xfrm>
            <a:off x="548640"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Direct-pay money without entries</a:t>
            </a:r>
          </a:p>
          <a:p>
            <a:pPr>
              <a:spcAft>
                <a:spcPts val="100"/>
              </a:spcAft>
            </a:pPr>
            <a:r>
              <a:rPr sz="1200" b="0">
                <a:solidFill>
                  <a:srgbClr val="4B4B4B"/>
                </a:solidFill>
                <a:latin typeface="Arial"/>
              </a:rPr>
              <a:t>A client payment on a DP-tagged policy creates no premium entry.</a:t>
            </a:r>
          </a:p>
          <a:p>
            <a:pPr>
              <a:spcAft>
                <a:spcPts val="100"/>
              </a:spcAft>
            </a:pPr>
            <a:r>
              <a:rPr sz="1200" b="0">
                <a:solidFill>
                  <a:srgbClr val="0072D8"/>
                </a:solidFill>
                <a:latin typeface="Arial"/>
              </a:rPr>
              <a:t>CA-03</a:t>
            </a:r>
          </a:p>
        </p:txBody>
      </p:sp>
      <p:sp>
        <p:nvSpPr>
          <p:cNvPr id="19" name="Oval 18"/>
          <p:cNvSpPr/>
          <p:nvPr/>
        </p:nvSpPr>
        <p:spPr>
          <a:xfrm>
            <a:off x="548640"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1024128"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Remittance sanitised by hand</a:t>
            </a:r>
          </a:p>
          <a:p>
            <a:pPr>
              <a:spcAft>
                <a:spcPts val="100"/>
              </a:spcAft>
            </a:pPr>
            <a:r>
              <a:rPr sz="1200" b="0">
                <a:solidFill>
                  <a:srgbClr val="4B4B4B"/>
                </a:solidFill>
                <a:latin typeface="Arial"/>
              </a:rPr>
              <a:t>Weekly EBIX extract cleaned of reversals, knock-offs and invalid accounts in Excel.</a:t>
            </a:r>
          </a:p>
          <a:p>
            <a:pPr>
              <a:spcAft>
                <a:spcPts val="100"/>
              </a:spcAft>
            </a:pPr>
            <a:r>
              <a:rPr sz="1200" b="0">
                <a:solidFill>
                  <a:srgbClr val="0072D8"/>
                </a:solidFill>
                <a:latin typeface="Arial"/>
              </a:rPr>
              <a:t>Day 1 p.21</a:t>
            </a:r>
          </a:p>
        </p:txBody>
      </p:sp>
      <p:sp>
        <p:nvSpPr>
          <p:cNvPr id="21" name="Oval 20"/>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Approval on Teams, signed paper copy</a:t>
            </a:r>
          </a:p>
          <a:p>
            <a:pPr>
              <a:spcAft>
                <a:spcPts val="100"/>
              </a:spcAft>
            </a:pPr>
            <a:r>
              <a:rPr sz="1200" b="0">
                <a:solidFill>
                  <a:srgbClr val="4B4B4B"/>
                </a:solidFill>
                <a:latin typeface="Arial"/>
              </a:rPr>
              <a:t>The settlement list is approved on an MS Teams list; a signed copy is kept for audit.</a:t>
            </a:r>
          </a:p>
          <a:p>
            <a:pPr>
              <a:spcAft>
                <a:spcPts val="100"/>
              </a:spcAft>
            </a:pPr>
            <a:r>
              <a:rPr sz="1200" b="0">
                <a:solidFill>
                  <a:srgbClr val="0072D8"/>
                </a:solidFill>
                <a:latin typeface="Arial"/>
              </a:rPr>
              <a:t>Day 1 p.21</a:t>
            </a:r>
          </a:p>
        </p:txBody>
      </p:sp>
      <p:sp>
        <p:nvSpPr>
          <p:cNvPr id="23" name="Oval 22"/>
          <p:cNvSpPr/>
          <p:nvPr/>
        </p:nvSpPr>
        <p:spPr>
          <a:xfrm>
            <a:off x="6233007"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DP commission billed from Excel</a:t>
            </a:r>
          </a:p>
          <a:p>
            <a:pPr>
              <a:spcAft>
                <a:spcPts val="100"/>
              </a:spcAft>
            </a:pPr>
            <a:r>
              <a:rPr sz="1200" b="0">
                <a:solidFill>
                  <a:srgbClr val="4B4B4B"/>
                </a:solidFill>
                <a:latin typeface="Arial"/>
              </a:rPr>
              <a:t>Unit lists consolidated by hand, billed by e-mail, chased by phone and chat.</a:t>
            </a:r>
          </a:p>
          <a:p>
            <a:pPr>
              <a:spcAft>
                <a:spcPts val="100"/>
              </a:spcAft>
            </a:pPr>
            <a:r>
              <a:rPr sz="1200" b="0">
                <a:solidFill>
                  <a:srgbClr val="0072D8"/>
                </a:solidFill>
                <a:latin typeface="Arial"/>
              </a:rPr>
              <a:t>Day 1 p.23</a:t>
            </a:r>
          </a:p>
        </p:txBody>
      </p:sp>
      <p:sp>
        <p:nvSpPr>
          <p:cNvPr id="25" name="Oval 24"/>
          <p:cNvSpPr/>
          <p:nvPr/>
        </p:nvSpPr>
        <p:spPr>
          <a:xfrm>
            <a:off x="6233007"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Insurer reconciliation in Excel</a:t>
            </a:r>
          </a:p>
          <a:p>
            <a:pPr>
              <a:spcAft>
                <a:spcPts val="100"/>
              </a:spcAft>
            </a:pPr>
            <a:r>
              <a:rPr sz="1200" b="0">
                <a:solidFill>
                  <a:srgbClr val="4B4B4B"/>
                </a:solidFill>
                <a:latin typeface="Arial"/>
              </a:rPr>
              <a:t>20-30K lines per insurer a month, password e-mails, manual classification.</a:t>
            </a:r>
          </a:p>
          <a:p>
            <a:pPr>
              <a:spcAft>
                <a:spcPts val="100"/>
              </a:spcAft>
            </a:pPr>
            <a:r>
              <a:rPr sz="1200" b="0">
                <a:solidFill>
                  <a:srgbClr val="0072D8"/>
                </a:solidFill>
                <a:latin typeface="Arial"/>
              </a:rPr>
              <a:t>Day 1 p.24</a:t>
            </a:r>
          </a:p>
        </p:txBody>
      </p:sp>
      <p:sp>
        <p:nvSpPr>
          <p:cNvPr id="27" name="Oval 26"/>
          <p:cNvSpPr/>
          <p:nvPr/>
        </p:nvSpPr>
        <p:spPr>
          <a:xfrm>
            <a:off x="6233007"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Reversals through IT and VLOOKUP</a:t>
            </a:r>
          </a:p>
          <a:p>
            <a:pPr>
              <a:spcAft>
                <a:spcPts val="100"/>
              </a:spcAft>
            </a:pPr>
            <a:r>
              <a:rPr sz="1200" b="0">
                <a:solidFill>
                  <a:srgbClr val="4B4B4B"/>
                </a:solidFill>
                <a:latin typeface="Arial"/>
              </a:rPr>
              <a:t>SharePoint and Teams hand-offs, IT extract, manual SL journals, zero-value workfile.</a:t>
            </a:r>
          </a:p>
          <a:p>
            <a:pPr>
              <a:spcAft>
                <a:spcPts val="100"/>
              </a:spcAft>
            </a:pPr>
            <a:r>
              <a:rPr sz="1200" b="0">
                <a:solidFill>
                  <a:srgbClr val="0072D8"/>
                </a:solidFill>
                <a:latin typeface="Arial"/>
              </a:rPr>
              <a:t>Day 1 p.24; TX-02</a:t>
            </a:r>
          </a:p>
        </p:txBody>
      </p:sp>
      <p:sp>
        <p:nvSpPr>
          <p:cNvPr id="29" name="Oval 28"/>
          <p:cNvSpPr/>
          <p:nvPr/>
        </p:nvSpPr>
        <p:spPr>
          <a:xfrm>
            <a:off x="6233007"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11</a:t>
            </a:r>
          </a:p>
        </p:txBody>
      </p:sp>
      <p:sp>
        <p:nvSpPr>
          <p:cNvPr id="30" name="TextBox 29"/>
          <p:cNvSpPr txBox="1"/>
          <p:nvPr/>
        </p:nvSpPr>
        <p:spPr>
          <a:xfrm>
            <a:off x="6708495"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Endorsements by e-mail and keyed</a:t>
            </a:r>
          </a:p>
          <a:p>
            <a:pPr>
              <a:spcAft>
                <a:spcPts val="100"/>
              </a:spcAft>
            </a:pPr>
            <a:r>
              <a:rPr sz="1200" b="0">
                <a:solidFill>
                  <a:srgbClr val="4B4B4B"/>
                </a:solidFill>
                <a:latin typeface="Arial"/>
              </a:rPr>
              <a:t>Requests arrive by e-mail; premium is computed outside; posting one by one.</a:t>
            </a:r>
          </a:p>
          <a:p>
            <a:pPr>
              <a:spcAft>
                <a:spcPts val="100"/>
              </a:spcAft>
            </a:pPr>
            <a:r>
              <a:rPr sz="1200" b="0">
                <a:solidFill>
                  <a:srgbClr val="0072D8"/>
                </a:solidFill>
                <a:latin typeface="Arial"/>
              </a:rPr>
              <a:t>EN-01</a:t>
            </a:r>
          </a:p>
        </p:txBody>
      </p:sp>
      <p:sp>
        <p:nvSpPr>
          <p:cNvPr id="31" name="Oval 30"/>
          <p:cNvSpPr/>
          <p:nvPr/>
        </p:nvSpPr>
        <p:spPr>
          <a:xfrm>
            <a:off x="6233007"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12</a:t>
            </a:r>
          </a:p>
        </p:txBody>
      </p:sp>
      <p:sp>
        <p:nvSpPr>
          <p:cNvPr id="32" name="TextBox 31"/>
          <p:cNvSpPr txBox="1"/>
          <p:nvPr/>
        </p:nvSpPr>
        <p:spPr>
          <a:xfrm>
            <a:off x="6708495"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Invoices keyed, reports from IT</a:t>
            </a:r>
          </a:p>
          <a:p>
            <a:pPr>
              <a:spcAft>
                <a:spcPts val="100"/>
              </a:spcAft>
            </a:pPr>
            <a:r>
              <a:rPr sz="1200" b="0">
                <a:solidFill>
                  <a:srgbClr val="4B4B4B"/>
                </a:solidFill>
                <a:latin typeface="Arial"/>
              </a:rPr>
              <a:t>Policy-fee invoices keyed in a report menu; reports need IT.</a:t>
            </a:r>
          </a:p>
          <a:p>
            <a:pPr>
              <a:spcAft>
                <a:spcPts val="100"/>
              </a:spcAft>
            </a:pPr>
            <a:r>
              <a:rPr sz="1200" b="0">
                <a:solidFill>
                  <a:srgbClr val="0072D8"/>
                </a:solidFill>
                <a:latin typeface="Arial"/>
              </a:rPr>
              <a:t>Day 1 p.25; RP-01</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what the business wants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Intake checks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Clearing period, bounced checks and exclusions checked automatically at acceptance</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Checks at entry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Three references per transaction</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reference across the lifecycle (OV-03, to confirm)</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reference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files split in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Payments matched and applied without split files</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Auto application</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Manual receipts and unapplied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AR and OR generated by the system (CA-01, CA-04)</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System receipts</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Direct-pay money without entries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 rule for payments on direct-pay policies, e.g. allow the tag to change (CA-03)</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To decide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Remittance sanitised by hand</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Weekly remittance extract ready, already cleaned of reversals and invalid accounts</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Scheduled batches</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what the business wants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Approval on Teams, signed paper copy</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Approval in the workflow with an audit trail instead of a Teams list and paper</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E-approval</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commission billed from Excel</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DP billing per insurer tracked to collection</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Worklist</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Insurer reconciliation in Excel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Insurer feedback matched automatically; unbooked items followed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Auto matching</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Reversals through IT and VLOOKUP</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Reversals and knock-offs without IT extracts or VLOOKUP</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Entries at source</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11</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Endorsements by e-mail and keyed</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Endorsement computes the premium like New Business (EN-01)</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Rated endorsement</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12</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Invoices keyed, reports from IT</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Other income registered through invoicing; users run their own reports (OI-01, RP-01)</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Self-service</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best practice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Unique payment reference</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Auto cash application</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 check-digit reference or virtual account per client or invoice, printed on invoices and SOAs and carried in bank files.</a:t>
            </a:r>
          </a:p>
          <a:p>
            <a:pPr>
              <a:spcAft>
                <a:spcPts val="400"/>
              </a:spcAft>
            </a:pPr>
            <a:r>
              <a:rPr sz="1200" b="1">
                <a:solidFill>
                  <a:srgbClr val="004EA8"/>
                </a:solidFill>
                <a:latin typeface="Arial"/>
              </a:rPr>
              <a:t>For BDOI: </a:t>
            </a:r>
            <a:r>
              <a:rPr sz="1200" b="0">
                <a:solidFill>
                  <a:srgbClr val="4B4B4B"/>
                </a:solidFill>
                <a:latin typeface="Arial"/>
              </a:rPr>
              <a:t>Generate it at booking and ask the bank channels to carry it (OBPCS, direct credit).</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cash application</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manual matches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Rule and fuzzy matching (payor name, amount tolerance, many-to-one) with confidence scores; the system learns from manual matches.</a:t>
            </a:r>
          </a:p>
          <a:p>
            <a:pPr>
              <a:spcAft>
                <a:spcPts val="400"/>
              </a:spcAft>
            </a:pPr>
            <a:r>
              <a:rPr sz="1200" b="1">
                <a:solidFill>
                  <a:srgbClr val="004EA8"/>
                </a:solidFill>
                <a:latin typeface="Arial"/>
              </a:rPr>
              <a:t>For BDOI: </a:t>
            </a:r>
            <a:r>
              <a:rPr sz="1200" b="0">
                <a:solidFill>
                  <a:srgbClr val="4B4B4B"/>
                </a:solidFill>
                <a:latin typeface="Arial"/>
              </a:rPr>
              <a:t>Extend exact matching with scored suggestions on the unapplied workbench.</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Bank host-to-host collections</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Same-day cash visibility</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Collections through bank APIs, InstaPay / PESONet and QR Ph with intraday notices instead of text files run by IT.</a:t>
            </a:r>
          </a:p>
          <a:p>
            <a:pPr>
              <a:spcAft>
                <a:spcPts val="400"/>
              </a:spcAft>
            </a:pPr>
            <a:r>
              <a:rPr sz="1200" b="1">
                <a:solidFill>
                  <a:srgbClr val="004EA8"/>
                </a:solidFill>
                <a:latin typeface="Arial"/>
              </a:rPr>
              <a:t>For BDOI: </a:t>
            </a:r>
            <a:r>
              <a:rPr sz="1200" b="0">
                <a:solidFill>
                  <a:srgbClr val="4B4B4B"/>
                </a:solidFill>
                <a:latin typeface="Arial"/>
              </a:rPr>
              <a:t>Plan with BDO IT after go-live (CMS / BOB, OBPCS).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Premium trust account discipline</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Control</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Premium held in trust for insurers is reconciled daily: bank, unapplied plus amounts due to insurers, and the sub-ledger.</a:t>
            </a:r>
          </a:p>
          <a:p>
            <a:pPr>
              <a:spcAft>
                <a:spcPts val="400"/>
              </a:spcAft>
            </a:pPr>
            <a:r>
              <a:rPr sz="1200" b="1">
                <a:solidFill>
                  <a:srgbClr val="004EA8"/>
                </a:solidFill>
                <a:latin typeface="Arial"/>
              </a:rPr>
              <a:t>For BDOI: </a:t>
            </a:r>
            <a:r>
              <a:rPr sz="1200" b="0">
                <a:solidFill>
                  <a:srgbClr val="4B4B4B"/>
                </a:solidFill>
                <a:latin typeface="Arial"/>
              </a:rPr>
              <a:t>Add a daily three-way reconciliation report; confirm the Insurance Commission rules with Compliance.</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One tolerance and write-off matrix</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Consistency</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Tolerances by component, amount band and approver in one table, each with its GL account.</a:t>
            </a:r>
          </a:p>
          <a:p>
            <a:pPr>
              <a:spcAft>
                <a:spcPts val="400"/>
              </a:spcAft>
            </a:pPr>
            <a:r>
              <a:rPr sz="1200" b="1">
                <a:solidFill>
                  <a:srgbClr val="004EA8"/>
                </a:solidFill>
                <a:latin typeface="Arial"/>
              </a:rPr>
              <a:t>For BDOI: </a:t>
            </a:r>
            <a:r>
              <a:rPr sz="1200" b="0">
                <a:solidFill>
                  <a:srgbClr val="4B4B4B"/>
                </a:solidFill>
                <a:latin typeface="Arial"/>
              </a:rPr>
              <a:t>Replace the four values seen today.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6. Operations: best practice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Remittance calendar per insurer</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Incentive capture</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Remittance dates per insurer, an automatic remittance advice and the insurer OR returned electronically.</a:t>
            </a:r>
          </a:p>
          <a:p>
            <a:pPr>
              <a:spcAft>
                <a:spcPts val="400"/>
              </a:spcAft>
            </a:pPr>
            <a:r>
              <a:rPr sz="1200" b="1">
                <a:solidFill>
                  <a:srgbClr val="004EA8"/>
                </a:solidFill>
                <a:latin typeface="Arial"/>
              </a:rPr>
              <a:t>For BDOI: </a:t>
            </a:r>
            <a:r>
              <a:rPr sz="1200" b="0">
                <a:solidFill>
                  <a:srgbClr val="4B4B4B"/>
                </a:solidFill>
                <a:latin typeface="Arial"/>
              </a:rPr>
              <a:t>Use the calendar to meet the early-remittance window and earn the incentive.</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Insurer statement reconciliation</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disputes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Insurer statements of account and commission statements matched automatically, differences routed to owners.</a:t>
            </a:r>
          </a:p>
          <a:p>
            <a:pPr>
              <a:spcAft>
                <a:spcPts val="400"/>
              </a:spcAft>
            </a:pPr>
            <a:r>
              <a:rPr sz="1200" b="1">
                <a:solidFill>
                  <a:srgbClr val="004EA8"/>
                </a:solidFill>
                <a:latin typeface="Arial"/>
              </a:rPr>
              <a:t>For BDOI: </a:t>
            </a:r>
            <a:r>
              <a:rPr sz="1200" b="0">
                <a:solidFill>
                  <a:srgbClr val="4B4B4B"/>
                </a:solidFill>
                <a:latin typeface="Arial"/>
              </a:rPr>
              <a:t>Extend production matching to commission statements.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Commission recognition under PFRS 15</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Accurate income</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Commission recognised when the placement is done, with a provision for cancellations; collection tracked separately.</a:t>
            </a:r>
          </a:p>
          <a:p>
            <a:pPr>
              <a:spcAft>
                <a:spcPts val="400"/>
              </a:spcAft>
            </a:pPr>
            <a:r>
              <a:rPr sz="1200" b="1">
                <a:solidFill>
                  <a:srgbClr val="004EA8"/>
                </a:solidFill>
                <a:latin typeface="Arial"/>
              </a:rPr>
              <a:t>For BDOI: </a:t>
            </a:r>
            <a:r>
              <a:rPr sz="1200" b="0">
                <a:solidFill>
                  <a:srgbClr val="4B4B4B"/>
                </a:solidFill>
                <a:latin typeface="Arial"/>
              </a:rPr>
              <a:t>Agree the policy with Comptrollership and the auditors.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Incentive accruals</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Income visibility</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Contingent and incentive commission estimated and accrued monthly, trued up when the insurer pays.</a:t>
            </a:r>
          </a:p>
          <a:p>
            <a:pPr>
              <a:spcAft>
                <a:spcPts val="400"/>
              </a:spcAft>
            </a:pPr>
            <a:r>
              <a:rPr sz="1200" b="1">
                <a:solidFill>
                  <a:srgbClr val="004EA8"/>
                </a:solidFill>
                <a:latin typeface="Arial"/>
              </a:rPr>
              <a:t>For BDOI: </a:t>
            </a:r>
            <a:r>
              <a:rPr sz="1200" b="0">
                <a:solidFill>
                  <a:srgbClr val="4B4B4B"/>
                </a:solidFill>
                <a:latin typeface="Arial"/>
              </a:rPr>
              <a:t>Add a monthly accrual to the incentive schemes.</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Operations - Collections, with Marketing collection staff</a:t>
            </a:r>
          </a:p>
          <a:p>
            <a:pPr>
              <a:spcAft>
                <a:spcPts val="300"/>
              </a:spcAft>
            </a:pPr>
            <a:r>
              <a:rPr sz="1200" b="0">
                <a:solidFill>
                  <a:srgbClr val="004EA8"/>
                </a:solidFill>
                <a:latin typeface="Arial"/>
              </a:rPr>
              <a:t>•  </a:t>
            </a:r>
            <a:r>
              <a:rPr sz="1200" b="0">
                <a:solidFill>
                  <a:srgbClr val="4B4B4B"/>
                </a:solidFill>
                <a:latin typeface="Arial"/>
              </a:rPr>
              <a:t>Collection Handler; Marketing AO and Marketing Handler</a:t>
            </a:r>
          </a:p>
          <a:p>
            <a:pPr>
              <a:spcAft>
                <a:spcPts val="300"/>
              </a:spcAft>
            </a:pPr>
            <a:r>
              <a:rPr sz="1200" b="0">
                <a:solidFill>
                  <a:srgbClr val="004EA8"/>
                </a:solidFill>
                <a:latin typeface="Arial"/>
              </a:rPr>
              <a:t>•  </a:t>
            </a:r>
            <a:r>
              <a:rPr sz="1200" b="0">
                <a:solidFill>
                  <a:srgbClr val="4B4B4B"/>
                </a:solidFill>
                <a:latin typeface="Arial"/>
              </a:rPr>
              <a:t>Team Lead, Unit Head, Section Heads (Corporate, Retail)</a:t>
            </a:r>
          </a:p>
          <a:p>
            <a:pPr>
              <a:spcAft>
                <a:spcPts val="300"/>
              </a:spcAft>
            </a:pPr>
            <a:r>
              <a:rPr sz="1200" b="0">
                <a:solidFill>
                  <a:srgbClr val="004EA8"/>
                </a:solidFill>
                <a:latin typeface="Arial"/>
              </a:rPr>
              <a:t>•  </a:t>
            </a:r>
            <a:r>
              <a:rPr sz="1200" b="0">
                <a:solidFill>
                  <a:srgbClr val="4B4B4B"/>
                </a:solidFill>
                <a:latin typeface="Arial"/>
              </a:rPr>
              <a:t>Unapplied Payment Handler</a:t>
            </a:r>
          </a:p>
          <a:p>
            <a:pPr>
              <a:spcAft>
                <a:spcPts val="300"/>
              </a:spcAft>
            </a:pPr>
            <a:r>
              <a:rPr sz="1200" b="0">
                <a:solidFill>
                  <a:srgbClr val="004EA8"/>
                </a:solidFill>
                <a:latin typeface="Arial"/>
              </a:rPr>
              <a:t>•  </a:t>
            </a:r>
            <a:r>
              <a:rPr sz="1200" b="0">
                <a:solidFill>
                  <a:srgbClr val="4B4B4B"/>
                </a:solidFill>
                <a:latin typeface="Arial"/>
              </a:rPr>
              <a:t>Cashiering and Commission (act on dispositions)</a:t>
            </a:r>
          </a:p>
          <a:p>
            <a:pPr>
              <a:spcAft>
                <a:spcPts val="300"/>
              </a:spcAft>
            </a:pPr>
            <a:r>
              <a:rPr sz="1200" b="0">
                <a:solidFill>
                  <a:srgbClr val="004EA8"/>
                </a:solidFill>
                <a:latin typeface="Arial"/>
              </a:rPr>
              <a:t>•  </a:t>
            </a:r>
            <a:r>
              <a:rPr sz="1200" b="0">
                <a:solidFill>
                  <a:srgbClr val="4B4B4B"/>
                </a:solidFill>
                <a:latin typeface="Arial"/>
              </a:rPr>
              <a:t>Insurers (credit term extension)</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10-15 days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first collection follow-up after booking (Day 1 p.19)</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60 days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to secure the client's payment commitment (Day 1 p.19)</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ICS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tracks premium and commission collection today (CO-02)</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3 routes</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deposit, bills payment, direct payment to the insurer</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3:30-5:00 pm, 43F and 44F; discovery 21 and 24-Sep-2026</a:t>
            </a:r>
          </a:p>
          <a:p>
            <a:pPr>
              <a:spcAft>
                <a:spcPts val="400"/>
              </a:spcAft>
            </a:pPr>
            <a:r>
              <a:rPr sz="1100" b="1">
                <a:solidFill>
                  <a:srgbClr val="004EA8"/>
                </a:solidFill>
                <a:latin typeface="Arial"/>
              </a:rPr>
              <a:t>Process owners: </a:t>
            </a:r>
            <a:r>
              <a:rPr sz="1100" b="0">
                <a:solidFill>
                  <a:srgbClr val="4B4B4B"/>
                </a:solidFill>
                <a:latin typeface="Arial"/>
              </a:rPr>
              <a:t>Sheryne Hernaez, Pia Pinili</a:t>
            </a:r>
          </a:p>
          <a:p>
            <a:pPr>
              <a:spcAft>
                <a:spcPts val="400"/>
              </a:spcAft>
            </a:pPr>
            <a:r>
              <a:rPr sz="1100" b="0">
                <a:solidFill>
                  <a:srgbClr val="004EA8"/>
                </a:solidFill>
                <a:latin typeface="Arial"/>
              </a:rPr>
              <a:t>•  </a:t>
            </a:r>
            <a:r>
              <a:rPr sz="1100" b="0">
                <a:solidFill>
                  <a:srgbClr val="4B4B4B"/>
                </a:solidFill>
                <a:latin typeface="Arial"/>
              </a:rPr>
              <a:t>Marketing Collections process flow (current end-to-end manual flow)</a:t>
            </a:r>
          </a:p>
          <a:p>
            <a:pPr>
              <a:spcAft>
                <a:spcPts val="400"/>
              </a:spcAft>
            </a:pPr>
            <a:r>
              <a:rPr sz="1100" b="0">
                <a:solidFill>
                  <a:srgbClr val="004EA8"/>
                </a:solidFill>
                <a:latin typeface="Arial"/>
              </a:rPr>
              <a:t>•  </a:t>
            </a:r>
            <a:r>
              <a:rPr sz="1100" b="0">
                <a:solidFill>
                  <a:srgbClr val="4B4B4B"/>
                </a:solidFill>
                <a:latin typeface="Arial"/>
              </a:rPr>
              <a:t>BDOI Day 1 overview p.19</a:t>
            </a:r>
          </a:p>
          <a:p>
            <a:pPr>
              <a:spcAft>
                <a:spcPts val="400"/>
              </a:spcAft>
            </a:pPr>
            <a:r>
              <a:rPr sz="1100" b="0">
                <a:solidFill>
                  <a:srgbClr val="004EA8"/>
                </a:solidFill>
                <a:latin typeface="Arial"/>
              </a:rPr>
              <a:t>•  </a:t>
            </a:r>
            <a:r>
              <a:rPr sz="1100" b="0">
                <a:solidFill>
                  <a:srgbClr val="4B4B4B"/>
                </a:solidFill>
                <a:latin typeface="Arial"/>
              </a:rPr>
              <a:t>Floor-walk notes CO-01 to CO-03</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Booking</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PR list</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Diary</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Follow-up</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Commitment</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CTE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Disposition</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 check</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CO-01</a:t>
                      </a:r>
                    </a:p>
                  </a:txBody>
                  <a:tcPr marL="64008" marR="64008" marT="27432" marB="27432" anchor="ctr">
                    <a:solidFill>
                      <a:srgbClr val="FFFFFF"/>
                    </a:solidFill>
                  </a:tcPr>
                </a:tc>
                <a:tc>
                  <a:txBody>
                    <a:bodyPr wrap="square"/>
                    <a:lstStyle/>
                    <a:p>
                      <a:r>
                        <a:rPr sz="1100" b="0">
                          <a:solidFill>
                            <a:srgbClr val="4B4B4B"/>
                          </a:solidFill>
                          <a:latin typeface="Arial"/>
                        </a:rPr>
                        <a:t>Outstanding per client</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Collection information is captured in a separate system; the outstanding amount per customer is not shown properly.</a:t>
                      </a:r>
                    </a:p>
                  </a:txBody>
                  <a:tcPr marL="64008" marR="64008" marT="27432" marB="27432" anchor="ctr">
                    <a:solidFill>
                      <a:srgbClr val="FFFFFF"/>
                    </a:solidFill>
                  </a:tcPr>
                </a:tc>
                <a:tc>
                  <a:txBody>
                    <a:bodyPr wrap="square"/>
                    <a:lstStyle/>
                    <a:p>
                      <a:r>
                        <a:rPr sz="1100" b="0">
                          <a:solidFill>
                            <a:srgbClr val="4B4B4B"/>
                          </a:solidFill>
                          <a:latin typeface="Arial"/>
                        </a:rPr>
                        <a:t>The correct outstanding amount per customer.</a:t>
                      </a:r>
                    </a:p>
                  </a:txBody>
                  <a:tcPr marL="64008" marR="64008" marT="27432" marB="27432" anchor="ctr">
                    <a:solidFill>
                      <a:srgbClr val="FFFFFF"/>
                    </a:solidFill>
                  </a:tcPr>
                </a:tc>
              </a:tr>
              <a:tr h="758952">
                <a:tc>
                  <a:txBody>
                    <a:bodyPr wrap="square"/>
                    <a:lstStyle/>
                    <a:p>
                      <a:r>
                        <a:rPr sz="1100" b="1">
                          <a:solidFill>
                            <a:srgbClr val="4B4B4B"/>
                          </a:solidFill>
                          <a:latin typeface="Arial"/>
                        </a:rPr>
                        <a:t>CO-02</a:t>
                      </a:r>
                    </a:p>
                  </a:txBody>
                  <a:tcPr marL="64008" marR="64008" marT="27432" marB="27432" anchor="ctr">
                    <a:solidFill>
                      <a:srgbClr val="E5F5FF"/>
                    </a:solidFill>
                  </a:tcPr>
                </a:tc>
                <a:tc>
                  <a:txBody>
                    <a:bodyPr wrap="square"/>
                    <a:lstStyle/>
                    <a:p>
                      <a:r>
                        <a:rPr sz="1100" b="0">
                          <a:solidFill>
                            <a:srgbClr val="4B4B4B"/>
                          </a:solidFill>
                          <a:latin typeface="Arial"/>
                        </a:rPr>
                        <a:t>ICS status and ageing</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ICS (Internal Collection System) tracks premium and commission collection; data flows from EBIX; the handler updates the contact status. After collection the status stays on the last action and ageing keeps running.</a:t>
                      </a:r>
                    </a:p>
                  </a:txBody>
                  <a:tcPr marL="64008" marR="64008" marT="27432" marB="27432" anchor="ctr">
                    <a:solidFill>
                      <a:srgbClr val="E5F5FF"/>
                    </a:solidFill>
                  </a:tcPr>
                </a:tc>
                <a:tc>
                  <a:txBody>
                    <a:bodyPr wrap="square"/>
                    <a:lstStyle/>
                    <a:p>
                      <a:r>
                        <a:rPr sz="1100" b="0">
                          <a:solidFill>
                            <a:srgbClr val="4B4B4B"/>
                          </a:solidFill>
                          <a:latin typeface="Arial"/>
                        </a:rPr>
                        <a:t>Status closes on payment; ageing stops.</a:t>
                      </a:r>
                    </a:p>
                  </a:txBody>
                  <a:tcPr marL="64008" marR="64008" marT="27432" marB="27432" anchor="ctr">
                    <a:solidFill>
                      <a:srgbClr val="E5F5FF"/>
                    </a:solidFill>
                  </a:tcPr>
                </a:tc>
              </a:tr>
              <a:tr h="758952">
                <a:tc>
                  <a:txBody>
                    <a:bodyPr wrap="square"/>
                    <a:lstStyle/>
                    <a:p>
                      <a:r>
                        <a:rPr sz="1100" b="1">
                          <a:solidFill>
                            <a:srgbClr val="4B4B4B"/>
                          </a:solidFill>
                          <a:latin typeface="Arial"/>
                        </a:rPr>
                        <a:t>CO-03</a:t>
                      </a:r>
                    </a:p>
                  </a:txBody>
                  <a:tcPr marL="64008" marR="64008" marT="27432" marB="27432" anchor="ctr">
                    <a:solidFill>
                      <a:srgbClr val="FFFFFF"/>
                    </a:solidFill>
                  </a:tcPr>
                </a:tc>
                <a:tc>
                  <a:txBody>
                    <a:bodyPr wrap="square"/>
                    <a:lstStyle/>
                    <a:p>
                      <a:r>
                        <a:rPr sz="1100" b="0">
                          <a:solidFill>
                            <a:srgbClr val="4B4B4B"/>
                          </a:solidFill>
                          <a:latin typeface="Arial"/>
                        </a:rPr>
                        <a:t>Credit policy</a:t>
                      </a:r>
                    </a:p>
                  </a:txBody>
                  <a:tcPr marL="64008" marR="64008" marT="27432" marB="27432" anchor="ctr">
                    <a:solidFill>
                      <a:srgbClr val="FFFF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Credit policy to be defined.</a:t>
                      </a:r>
                    </a:p>
                  </a:txBody>
                  <a:tcPr marL="64008" marR="64008" marT="27432" marB="27432" anchor="ctr">
                    <a:solidFill>
                      <a:srgbClr val="FFFFFF"/>
                    </a:solidFill>
                  </a:tcPr>
                </a:tc>
                <a:tc>
                  <a:txBody>
                    <a:bodyPr wrap="square"/>
                    <a:lstStyle/>
                    <a:p>
                      <a:r>
                        <a:rPr sz="1100" b="0">
                          <a:solidFill>
                            <a:srgbClr val="4B4B4B"/>
                          </a:solidFill>
                          <a:latin typeface="Arial"/>
                        </a:rPr>
                        <a:t>BDOI to confirm the credit policy.</a:t>
                      </a:r>
                    </a:p>
                  </a:txBody>
                  <a:tcPr marL="64008" marR="64008" marT="27432" marB="27432" anchor="ctr">
                    <a:solidFill>
                      <a:srgbClr val="FFFFFF"/>
                    </a:solidFill>
                  </a:tcPr>
                </a:tc>
              </a:tr>
              <a:tr h="758952">
                <a:tc>
                  <a:txBody>
                    <a:bodyPr wrap="square"/>
                    <a:lstStyle/>
                    <a:p>
                      <a:r>
                        <a:rPr sz="1100" b="1">
                          <a:solidFill>
                            <a:srgbClr val="4B4B4B"/>
                          </a:solidFill>
                          <a:latin typeface="Arial"/>
                        </a:rPr>
                        <a:t>Day 1 p.19</a:t>
                      </a:r>
                    </a:p>
                  </a:txBody>
                  <a:tcPr marL="64008" marR="64008" marT="27432" marB="27432" anchor="ctr">
                    <a:solidFill>
                      <a:srgbClr val="E5F5FF"/>
                    </a:solidFill>
                  </a:tcPr>
                </a:tc>
                <a:tc>
                  <a:txBody>
                    <a:bodyPr wrap="square"/>
                    <a:lstStyle/>
                    <a:p>
                      <a:r>
                        <a:rPr sz="1100" b="0">
                          <a:solidFill>
                            <a:srgbClr val="4B4B4B"/>
                          </a:solidFill>
                          <a:latin typeface="Arial"/>
                        </a:rPr>
                        <a:t>Follow-up rules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Newly booked and unpaid: collect within 10-15 days from booking; secure a payment commitment within 60 days; payment by deposit, bills payment or direct payment.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Day 1 p.19</a:t>
                      </a:r>
                    </a:p>
                  </a:txBody>
                  <a:tcPr marL="64008" marR="64008" marT="27432" marB="27432" anchor="ctr">
                    <a:solidFill>
                      <a:srgbClr val="FFFFFF"/>
                    </a:solidFill>
                  </a:tcPr>
                </a:tc>
                <a:tc>
                  <a:txBody>
                    <a:bodyPr wrap="square"/>
                    <a:lstStyle/>
                    <a:p>
                      <a:r>
                        <a:rPr sz="1100" b="0">
                          <a:solidFill>
                            <a:srgbClr val="4B4B4B"/>
                          </a:solidFill>
                          <a:latin typeface="Arial"/>
                        </a:rPr>
                        <a:t>Friction named by BDOI</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Manual diary and status updates; e-mail-based CTE coordination; several payment-validation sources; follow-up that depends on the handler.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Collections flow</a:t>
                      </a:r>
                    </a:p>
                  </a:txBody>
                  <a:tcPr marL="64008" marR="64008" marT="27432" marB="27432" anchor="ctr">
                    <a:solidFill>
                      <a:srgbClr val="E5F5FF"/>
                    </a:solidFill>
                  </a:tcPr>
                </a:tc>
                <a:tc>
                  <a:txBody>
                    <a:bodyPr wrap="square"/>
                    <a:lstStyle/>
                    <a:p>
                      <a:r>
                        <a:rPr sz="1100" b="0">
                          <a:solidFill>
                            <a:srgbClr val="4B4B4B"/>
                          </a:solidFill>
                          <a:latin typeface="Arial"/>
                        </a:rPr>
                        <a:t>Payment check</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Deposit: check with Cashiering. Bills payment: look in the Unapplied screen. Direct payment: check with the insurer. Then proceed to Cashiering.</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pic>
        <p:nvPicPr>
          <p:cNvPr id="9" name="Picture 8" descr="brd04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Premium receivable follow-up today (Marketing Collections process flow; Day 1 p.19; CO-01 to CO-03)</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PR list and diary in two systems</a:t>
            </a:r>
          </a:p>
          <a:p>
            <a:pPr>
              <a:spcAft>
                <a:spcPts val="100"/>
              </a:spcAft>
            </a:pPr>
            <a:r>
              <a:rPr sz="1200" b="0">
                <a:solidFill>
                  <a:srgbClr val="4B4B4B"/>
                </a:solidFill>
                <a:latin typeface="Arial"/>
              </a:rPr>
              <a:t>The handler takes the EBIX list and checks the ISYS Marketing Diary per account.</a:t>
            </a:r>
          </a:p>
          <a:p>
            <a:pPr>
              <a:spcAft>
                <a:spcPts val="100"/>
              </a:spcAft>
            </a:pPr>
            <a:r>
              <a:rPr sz="1200" b="0">
                <a:solidFill>
                  <a:srgbClr val="0072D8"/>
                </a:solidFill>
                <a:latin typeface="Arial"/>
              </a:rPr>
              <a:t>Collections flow</a:t>
            </a:r>
          </a:p>
        </p:txBody>
      </p:sp>
      <p:sp>
        <p:nvSpPr>
          <p:cNvPr id="11" name="Oval 10"/>
          <p:cNvSpPr/>
          <p:nvPr/>
        </p:nvSpPr>
        <p:spPr>
          <a:xfrm>
            <a:off x="548640"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Follow-up by hand</a:t>
            </a:r>
          </a:p>
          <a:p>
            <a:pPr>
              <a:spcAft>
                <a:spcPts val="100"/>
              </a:spcAft>
            </a:pPr>
            <a:r>
              <a:rPr sz="1200" b="0">
                <a:solidFill>
                  <a:srgbClr val="4B4B4B"/>
                </a:solidFill>
                <a:latin typeface="Arial"/>
              </a:rPr>
              <a:t>New bookings within 10-15 days, commitment within 60 days, tracked by the handler.</a:t>
            </a:r>
          </a:p>
          <a:p>
            <a:pPr>
              <a:spcAft>
                <a:spcPts val="100"/>
              </a:spcAft>
            </a:pPr>
            <a:r>
              <a:rPr sz="1200" b="0">
                <a:solidFill>
                  <a:srgbClr val="0072D8"/>
                </a:solidFill>
                <a:latin typeface="Arial"/>
              </a:rPr>
              <a:t>Collections flow; Day 1 p.19</a:t>
            </a:r>
          </a:p>
        </p:txBody>
      </p:sp>
      <p:sp>
        <p:nvSpPr>
          <p:cNvPr id="13" name="Oval 12"/>
          <p:cNvSpPr/>
          <p:nvPr/>
        </p:nvSpPr>
        <p:spPr>
          <a:xfrm>
            <a:off x="548640"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CTE and escalation by e-mail</a:t>
            </a:r>
          </a:p>
          <a:p>
            <a:pPr>
              <a:spcAft>
                <a:spcPts val="100"/>
              </a:spcAft>
            </a:pPr>
            <a:r>
              <a:rPr sz="1200" b="0">
                <a:solidFill>
                  <a:srgbClr val="4B4B4B"/>
                </a:solidFill>
                <a:latin typeface="Arial"/>
              </a:rPr>
              <a:t>The AO asks the insurer for a credit term extension and escalates to the Unit Head.</a:t>
            </a:r>
          </a:p>
          <a:p>
            <a:pPr>
              <a:spcAft>
                <a:spcPts val="100"/>
              </a:spcAft>
            </a:pPr>
            <a:r>
              <a:rPr sz="1200" b="0">
                <a:solidFill>
                  <a:srgbClr val="0072D8"/>
                </a:solidFill>
                <a:latin typeface="Arial"/>
              </a:rPr>
              <a:t>Collections flow; Day 1 p.19</a:t>
            </a:r>
          </a:p>
        </p:txBody>
      </p:sp>
      <p:sp>
        <p:nvSpPr>
          <p:cNvPr id="15" name="Oval 14"/>
          <p:cNvSpPr/>
          <p:nvPr/>
        </p:nvSpPr>
        <p:spPr>
          <a:xfrm>
            <a:off x="548640"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Dispositions kept by hand</a:t>
            </a:r>
          </a:p>
          <a:p>
            <a:pPr>
              <a:spcAft>
                <a:spcPts val="100"/>
              </a:spcAft>
            </a:pPr>
            <a:r>
              <a:rPr sz="1200" b="0">
                <a:solidFill>
                  <a:srgbClr val="4B4B4B"/>
                </a:solidFill>
                <a:latin typeface="Arial"/>
              </a:rPr>
              <a:t>Day-60 disposition, category A / B / C and remarks are updated manually.</a:t>
            </a:r>
          </a:p>
          <a:p>
            <a:pPr>
              <a:spcAft>
                <a:spcPts val="100"/>
              </a:spcAft>
            </a:pPr>
            <a:r>
              <a:rPr sz="1200" b="0">
                <a:solidFill>
                  <a:srgbClr val="0072D8"/>
                </a:solidFill>
                <a:latin typeface="Arial"/>
              </a:rPr>
              <a:t>Collections flow</a:t>
            </a:r>
          </a:p>
        </p:txBody>
      </p:sp>
      <p:sp>
        <p:nvSpPr>
          <p:cNvPr id="17" name="Oval 16"/>
          <p:cNvSpPr/>
          <p:nvPr/>
        </p:nvSpPr>
        <p:spPr>
          <a:xfrm>
            <a:off x="548640"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status by channel</a:t>
            </a:r>
          </a:p>
          <a:p>
            <a:pPr>
              <a:spcAft>
                <a:spcPts val="100"/>
              </a:spcAft>
            </a:pPr>
            <a:r>
              <a:rPr sz="1200" b="0">
                <a:solidFill>
                  <a:srgbClr val="4B4B4B"/>
                </a:solidFill>
                <a:latin typeface="Arial"/>
              </a:rPr>
              <a:t>Deposit with Cashiering, bills payment on the Unapplied screen, direct payment with the insurer.</a:t>
            </a:r>
          </a:p>
          <a:p>
            <a:pPr>
              <a:spcAft>
                <a:spcPts val="100"/>
              </a:spcAft>
            </a:pPr>
            <a:r>
              <a:rPr sz="1200" b="0">
                <a:solidFill>
                  <a:srgbClr val="0072D8"/>
                </a:solidFill>
                <a:latin typeface="Arial"/>
              </a:rPr>
              <a:t>Collections flow</a:t>
            </a:r>
          </a:p>
        </p:txBody>
      </p:sp>
      <p:sp>
        <p:nvSpPr>
          <p:cNvPr id="19" name="Oval 18"/>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1280160"/>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2307 tagging handed over</a:t>
            </a:r>
          </a:p>
          <a:p>
            <a:pPr>
              <a:spcAft>
                <a:spcPts val="100"/>
              </a:spcAft>
            </a:pPr>
            <a:r>
              <a:rPr sz="1200" b="0">
                <a:solidFill>
                  <a:srgbClr val="4B4B4B"/>
                </a:solidFill>
                <a:latin typeface="Arial"/>
              </a:rPr>
              <a:t>A net-of-CWT payment stays a Marketing action until the BIR 2307 is collected.</a:t>
            </a:r>
          </a:p>
          <a:p>
            <a:pPr>
              <a:spcAft>
                <a:spcPts val="100"/>
              </a:spcAft>
            </a:pPr>
            <a:r>
              <a:rPr sz="1200" b="0">
                <a:solidFill>
                  <a:srgbClr val="0072D8"/>
                </a:solidFill>
                <a:latin typeface="Arial"/>
              </a:rPr>
              <a:t>Collections flow</a:t>
            </a:r>
          </a:p>
        </p:txBody>
      </p:sp>
      <p:sp>
        <p:nvSpPr>
          <p:cNvPr id="21" name="Oval 20"/>
          <p:cNvSpPr/>
          <p:nvPr/>
        </p:nvSpPr>
        <p:spPr>
          <a:xfrm>
            <a:off x="6233007" y="2295144"/>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2258568"/>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DP report extracted monthly</a:t>
            </a:r>
          </a:p>
          <a:p>
            <a:pPr>
              <a:spcAft>
                <a:spcPts val="100"/>
              </a:spcAft>
            </a:pPr>
            <a:r>
              <a:rPr sz="1200" b="0">
                <a:solidFill>
                  <a:srgbClr val="4B4B4B"/>
                </a:solidFill>
                <a:latin typeface="Arial"/>
              </a:rPr>
              <a:t>Operations extracts the Direct Payment report as the basis for PR reversal.</a:t>
            </a:r>
          </a:p>
          <a:p>
            <a:pPr>
              <a:spcAft>
                <a:spcPts val="100"/>
              </a:spcAft>
            </a:pPr>
            <a:r>
              <a:rPr sz="1200" b="0">
                <a:solidFill>
                  <a:srgbClr val="0072D8"/>
                </a:solidFill>
                <a:latin typeface="Arial"/>
              </a:rPr>
              <a:t>Collections flow</a:t>
            </a:r>
          </a:p>
        </p:txBody>
      </p:sp>
      <p:sp>
        <p:nvSpPr>
          <p:cNvPr id="23" name="Oval 22"/>
          <p:cNvSpPr/>
          <p:nvPr/>
        </p:nvSpPr>
        <p:spPr>
          <a:xfrm>
            <a:off x="6233007" y="3273552"/>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3236976"/>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Side tasks by e-mail</a:t>
            </a:r>
          </a:p>
          <a:p>
            <a:pPr>
              <a:spcAft>
                <a:spcPts val="100"/>
              </a:spcAft>
            </a:pPr>
            <a:r>
              <a:rPr sz="1200" b="0">
                <a:solidFill>
                  <a:srgbClr val="4B4B4B"/>
                </a:solidFill>
                <a:latin typeface="Arial"/>
              </a:rPr>
              <a:t>Cheque pick-up requests and 2307 certificates received by e-mail.</a:t>
            </a:r>
          </a:p>
          <a:p>
            <a:pPr>
              <a:spcAft>
                <a:spcPts val="100"/>
              </a:spcAft>
            </a:pPr>
            <a:r>
              <a:rPr sz="1200" b="0">
                <a:solidFill>
                  <a:srgbClr val="0072D8"/>
                </a:solidFill>
                <a:latin typeface="Arial"/>
              </a:rPr>
              <a:t>Collections flow</a:t>
            </a:r>
          </a:p>
        </p:txBody>
      </p:sp>
      <p:sp>
        <p:nvSpPr>
          <p:cNvPr id="25" name="Oval 24"/>
          <p:cNvSpPr/>
          <p:nvPr/>
        </p:nvSpPr>
        <p:spPr>
          <a:xfrm>
            <a:off x="6233007" y="4251960"/>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4215384"/>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ICS status and ageing wrong</a:t>
            </a:r>
          </a:p>
          <a:p>
            <a:pPr>
              <a:spcAft>
                <a:spcPts val="100"/>
              </a:spcAft>
            </a:pPr>
            <a:r>
              <a:rPr sz="1200" b="0">
                <a:solidFill>
                  <a:srgbClr val="4B4B4B"/>
                </a:solidFill>
                <a:latin typeface="Arial"/>
              </a:rPr>
              <a:t>Status stays on the last action and ageing runs after payment; balance per client unreliable.</a:t>
            </a:r>
          </a:p>
          <a:p>
            <a:pPr>
              <a:spcAft>
                <a:spcPts val="100"/>
              </a:spcAft>
            </a:pPr>
            <a:r>
              <a:rPr sz="1200" b="0">
                <a:solidFill>
                  <a:srgbClr val="0072D8"/>
                </a:solidFill>
                <a:latin typeface="Arial"/>
              </a:rPr>
              <a:t>CO-01, CO-02</a:t>
            </a:r>
          </a:p>
        </p:txBody>
      </p:sp>
      <p:sp>
        <p:nvSpPr>
          <p:cNvPr id="27" name="Oval 26"/>
          <p:cNvSpPr/>
          <p:nvPr/>
        </p:nvSpPr>
        <p:spPr>
          <a:xfrm>
            <a:off x="6233007" y="5230368"/>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5193792"/>
            <a:ext cx="4907127" cy="932688"/>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 written credit policy</a:t>
            </a:r>
          </a:p>
          <a:p>
            <a:pPr>
              <a:spcAft>
                <a:spcPts val="100"/>
              </a:spcAft>
            </a:pPr>
            <a:r>
              <a:rPr sz="1200" b="0">
                <a:solidFill>
                  <a:srgbClr val="4B4B4B"/>
                </a:solidFill>
                <a:latin typeface="Arial"/>
              </a:rPr>
              <a:t>Credit terms, CTE and cancellation for non-payment are decided case by case.</a:t>
            </a:r>
          </a:p>
          <a:p>
            <a:pPr>
              <a:spcAft>
                <a:spcPts val="100"/>
              </a:spcAft>
            </a:pPr>
            <a:r>
              <a:rPr sz="1200" b="0">
                <a:solidFill>
                  <a:srgbClr val="0072D8"/>
                </a:solidFill>
                <a:latin typeface="Arial"/>
              </a:rPr>
              <a:t>CO-03</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what the business wants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PR list and diary in two systems</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worklist with the Marketing Diary in view</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record</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Follow-up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The 10-15 and 60-day rules applied by the system, with reminders</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Rules</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CTE and escalation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CTE requested and answered on the account, not by e-mail</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CTE record</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Dispositions kept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Dispositions and categories kept with their history</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History</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status by channel</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Payment status visible whatever the payment route</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view</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what the business wants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2307 tagging handed over</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2307 tagging handed over in the system</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No e-mail</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DP report extracted monthly</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Direct-payment report ready on the first working day</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Scheduled</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Side tasks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Cheque pick-ups requested from the account</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Tracked requests</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ICS status and ageing wrong</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Correct outstanding per customer; status closes and ageing stops on payment (CO-01, CO-02)</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Accurate ageing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 written credit policy</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 written credit policy (CO-03, BDOI to confirm)</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To decide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7. Collections: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Segmented dunning strategies</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cash</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Pre-due and overdue reminders by SMS and e-mail, with a strategy per segment and risk.</a:t>
            </a:r>
          </a:p>
          <a:p>
            <a:pPr>
              <a:spcAft>
                <a:spcPts val="400"/>
              </a:spcAft>
            </a:pPr>
            <a:r>
              <a:rPr sz="1200" b="1">
                <a:solidFill>
                  <a:srgbClr val="004EA8"/>
                </a:solidFill>
                <a:latin typeface="Arial"/>
              </a:rPr>
              <a:t>For BDOI: </a:t>
            </a:r>
            <a:r>
              <a:rPr sz="1200" b="0">
                <a:solidFill>
                  <a:srgbClr val="4B4B4B"/>
                </a:solidFill>
                <a:latin typeface="Arial"/>
              </a:rPr>
              <a:t>Add client-facing reminders to the escalation rules.</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Written credit policy in the system</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Credit terms per segment and product, CTE workflow with the insurer, automatic cancellation request at day N.</a:t>
            </a:r>
          </a:p>
          <a:p>
            <a:pPr>
              <a:spcAft>
                <a:spcPts val="400"/>
              </a:spcAft>
            </a:pPr>
            <a:r>
              <a:rPr sz="1200" b="1">
                <a:solidFill>
                  <a:srgbClr val="004EA8"/>
                </a:solidFill>
                <a:latin typeface="Arial"/>
              </a:rPr>
              <a:t>For BDOI: </a:t>
            </a:r>
            <a:r>
              <a:rPr sz="1200" b="0">
                <a:solidFill>
                  <a:srgbClr val="4B4B4B"/>
                </a:solidFill>
                <a:latin typeface="Arial"/>
              </a:rPr>
              <a:t>Approve the policy, then configure it (CO-03).</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Pay-by-link, QR Ph, e-wallets</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Convenience</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Payment links in reminders and SOAs, applied straight through.</a:t>
            </a:r>
          </a:p>
          <a:p>
            <a:pPr>
              <a:spcAft>
                <a:spcPts val="400"/>
              </a:spcAft>
            </a:pPr>
            <a:r>
              <a:rPr sz="1200" b="1">
                <a:solidFill>
                  <a:srgbClr val="004EA8"/>
                </a:solidFill>
                <a:latin typeface="Arial"/>
              </a:rPr>
              <a:t>For BDOI: </a:t>
            </a:r>
            <a:r>
              <a:rPr sz="1200" b="0">
                <a:solidFill>
                  <a:srgbClr val="4B4B4B"/>
                </a:solidFill>
                <a:latin typeface="Arial"/>
              </a:rPr>
              <a:t>Add after go-live with the bank channels.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Collection KPIs</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Visibility</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Days sales outstanding, collection effectiveness, promises kept, roll rates; prioritise by likelihood to pay.</a:t>
            </a:r>
          </a:p>
          <a:p>
            <a:pPr>
              <a:spcAft>
                <a:spcPts val="400"/>
              </a:spcAft>
            </a:pPr>
            <a:r>
              <a:rPr sz="1200" b="1">
                <a:solidFill>
                  <a:srgbClr val="004EA8"/>
                </a:solidFill>
                <a:latin typeface="Arial"/>
              </a:rPr>
              <a:t>For BDOI: </a:t>
            </a:r>
            <a:r>
              <a:rPr sz="1200" b="0">
                <a:solidFill>
                  <a:srgbClr val="4B4B4B"/>
                </a:solidFill>
                <a:latin typeface="Arial"/>
              </a:rPr>
              <a:t>Build a Collections dashboard on the worklist.</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Client self-service statement</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calls</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Clients see their statement and payment history online or through the contact centre.</a:t>
            </a:r>
          </a:p>
          <a:p>
            <a:pPr>
              <a:spcAft>
                <a:spcPts val="400"/>
              </a:spcAft>
            </a:pPr>
            <a:r>
              <a:rPr sz="1200" b="1">
                <a:solidFill>
                  <a:srgbClr val="004EA8"/>
                </a:solidFill>
                <a:latin typeface="Arial"/>
              </a:rPr>
              <a:t>For BDOI: </a:t>
            </a:r>
            <a:r>
              <a:rPr sz="1200" b="0">
                <a:solidFill>
                  <a:srgbClr val="4B4B4B"/>
                </a:solidFill>
                <a:latin typeface="Arial"/>
              </a:rPr>
              <a:t>Start with the SOA through the contact centre.</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Promise-to-pay discipline</a:t>
            </a:r>
          </a:p>
        </p:txBody>
      </p:sp>
      <p:sp>
        <p:nvSpPr>
          <p:cNvPr id="37" name="TextBox 36"/>
          <p:cNvSpPr txBox="1"/>
          <p:nvPr/>
        </p:nvSpPr>
        <p:spPr>
          <a:xfrm>
            <a:off x="8146084"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Accountability</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Promises per instalment with reminders and broken-promise escalation.</a:t>
            </a:r>
          </a:p>
          <a:p>
            <a:pPr>
              <a:spcAft>
                <a:spcPts val="400"/>
              </a:spcAft>
            </a:pPr>
            <a:r>
              <a:rPr sz="1200" b="1">
                <a:solidFill>
                  <a:srgbClr val="004EA8"/>
                </a:solidFill>
                <a:latin typeface="Arial"/>
              </a:rPr>
              <a:t>For BDOI: </a:t>
            </a:r>
            <a:r>
              <a:rPr sz="1200" b="0">
                <a:solidFill>
                  <a:srgbClr val="4B4B4B"/>
                </a:solidFill>
                <a:latin typeface="Arial"/>
              </a:rPr>
              <a:t>Agree the escalation days per segment.</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D</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Comptrollership</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Disbursement, FRBS accounting, ACSL, refunds, tax and BIR</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8.  </a:t>
            </a:r>
            <a:r>
              <a:rPr sz="1500" b="1">
                <a:solidFill>
                  <a:srgbClr val="FFFFFF"/>
                </a:solidFill>
                <a:latin typeface="Arial"/>
              </a:rPr>
              <a:t>Comptrollership</a:t>
            </a:r>
            <a:r>
              <a:rPr sz="1500" b="0">
                <a:solidFill>
                  <a:srgbClr val="99C1E7"/>
                </a:solidFill>
                <a:latin typeface="Arial"/>
              </a:rPr>
              <a:t>   Comptrollership: FRBS (GL team), Disbursement, ACSL</a:t>
            </a:r>
          </a:p>
        </p:txBody>
      </p:sp>
      <p:sp>
        <p:nvSpPr>
          <p:cNvPr id="8" name="TextBox 7"/>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Comptrollership: FRBS (GL team), Disbursement, ACSL</a:t>
            </a:r>
          </a:p>
          <a:p>
            <a:pPr>
              <a:spcAft>
                <a:spcPts val="300"/>
              </a:spcAft>
            </a:pPr>
            <a:r>
              <a:rPr sz="1200" b="0">
                <a:solidFill>
                  <a:srgbClr val="004EA8"/>
                </a:solidFill>
                <a:latin typeface="Arial"/>
              </a:rPr>
              <a:t>•  </a:t>
            </a:r>
            <a:r>
              <a:rPr sz="1200" b="0">
                <a:solidFill>
                  <a:srgbClr val="4B4B4B"/>
                </a:solidFill>
                <a:latin typeface="Arial"/>
              </a:rPr>
              <a:t>FRBS Accounting Assistant, TL, TH (GL set-up, journals, reconciliation, close)</a:t>
            </a:r>
          </a:p>
          <a:p>
            <a:pPr>
              <a:spcAft>
                <a:spcPts val="300"/>
              </a:spcAft>
            </a:pPr>
            <a:r>
              <a:rPr sz="1200" b="0">
                <a:solidFill>
                  <a:srgbClr val="004EA8"/>
                </a:solidFill>
                <a:latin typeface="Arial"/>
              </a:rPr>
              <a:t>•  </a:t>
            </a:r>
            <a:r>
              <a:rPr sz="1200" b="0">
                <a:solidFill>
                  <a:srgbClr val="4B4B4B"/>
                </a:solidFill>
                <a:latin typeface="Arial"/>
              </a:rPr>
              <a:t>Disbursement Processor (DPO), TL (DTL), Section Head (DSH), Unit Head (DUH)</a:t>
            </a:r>
          </a:p>
          <a:p>
            <a:pPr>
              <a:spcAft>
                <a:spcPts val="300"/>
              </a:spcAft>
            </a:pPr>
            <a:r>
              <a:rPr sz="1200" b="0">
                <a:solidFill>
                  <a:srgbClr val="004EA8"/>
                </a:solidFill>
                <a:latin typeface="Arial"/>
              </a:rPr>
              <a:t>•  </a:t>
            </a:r>
            <a:r>
              <a:rPr sz="1200" b="0">
                <a:solidFill>
                  <a:srgbClr val="4B4B4B"/>
                </a:solidFill>
                <a:latin typeface="Arial"/>
              </a:rPr>
              <a:t>ACSL Accounting Processor and AP TL; FRBS approver</a:t>
            </a:r>
          </a:p>
          <a:p>
            <a:pPr>
              <a:spcAft>
                <a:spcPts val="300"/>
              </a:spcAft>
            </a:pPr>
            <a:r>
              <a:rPr sz="1200" b="0">
                <a:solidFill>
                  <a:srgbClr val="004EA8"/>
                </a:solidFill>
                <a:latin typeface="Arial"/>
              </a:rPr>
              <a:t>•  </a:t>
            </a:r>
            <a:r>
              <a:rPr sz="1200" b="0">
                <a:solidFill>
                  <a:srgbClr val="4B4B4B"/>
                </a:solidFill>
                <a:latin typeface="Arial"/>
              </a:rPr>
              <a:t>Marketing AO, Marketing Admin, UPP and Marketing Support (refund requests)</a:t>
            </a:r>
          </a:p>
          <a:p>
            <a:pPr>
              <a:spcAft>
                <a:spcPts val="300"/>
              </a:spcAft>
            </a:pPr>
            <a:r>
              <a:rPr sz="1200" b="0">
                <a:solidFill>
                  <a:srgbClr val="004EA8"/>
                </a:solidFill>
                <a:latin typeface="Arial"/>
              </a:rPr>
              <a:t>•  </a:t>
            </a:r>
            <a:r>
              <a:rPr sz="1200" b="0">
                <a:solidFill>
                  <a:srgbClr val="4B4B4B"/>
                </a:solidFill>
                <a:latin typeface="Arial"/>
              </a:rPr>
              <a:t>MBS, UPP handler (payee upkeep); IT Operations; BDO TPD and branches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3 levels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of signed approval: DTL, DSH, DUH (DS-01)</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5</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refund approval chains, one per segment (Refund Request flow)</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8</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branches to tag with profit and cost centres (FN-01)</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15% / 2%</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withholding tax on commission / on suppliers (TX-01, TX-03)</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23-Sep-2026, 10:00 am-12:00 nn, 44F; discovery 21 and 23-Sep-2026</a:t>
            </a:r>
          </a:p>
          <a:p>
            <a:pPr>
              <a:spcAft>
                <a:spcPts val="400"/>
              </a:spcAft>
            </a:pPr>
            <a:r>
              <a:rPr sz="1100" b="1">
                <a:solidFill>
                  <a:srgbClr val="004EA8"/>
                </a:solidFill>
                <a:latin typeface="Arial"/>
              </a:rPr>
              <a:t>Process owners: </a:t>
            </a:r>
            <a:r>
              <a:rPr sz="1100" b="0">
                <a:solidFill>
                  <a:srgbClr val="4B4B4B"/>
                </a:solidFill>
                <a:latin typeface="Arial"/>
              </a:rPr>
              <a:t>Rodrigo Dela Cruz, Cherry Francisco, Lineth Santos, Guada Jane Pelo (Disbursement), Iris Marquez, Fatima Joy Aguas and 5 more (floor-walk coverage slide)</a:t>
            </a:r>
          </a:p>
          <a:p>
            <a:pPr>
              <a:spcAft>
                <a:spcPts val="400"/>
              </a:spcAft>
            </a:pPr>
            <a:r>
              <a:rPr sz="1100" b="0">
                <a:solidFill>
                  <a:srgbClr val="004EA8"/>
                </a:solidFill>
                <a:latin typeface="Arial"/>
              </a:rPr>
              <a:t>•  </a:t>
            </a:r>
            <a:r>
              <a:rPr sz="1100" b="0">
                <a:solidFill>
                  <a:srgbClr val="4B4B4B"/>
                </a:solidFill>
                <a:latin typeface="Arial"/>
              </a:rPr>
              <a:t>Process flows: Disbursement (in the system, online banking, outside the system, government), Refund Request (five segments), FRBS GL, ACSL</a:t>
            </a:r>
          </a:p>
          <a:p>
            <a:pPr>
              <a:spcAft>
                <a:spcPts val="400"/>
              </a:spcAft>
            </a:pPr>
            <a:r>
              <a:rPr sz="1100" b="0">
                <a:solidFill>
                  <a:srgbClr val="004EA8"/>
                </a:solidFill>
                <a:latin typeface="Arial"/>
              </a:rPr>
              <a:t>•  </a:t>
            </a:r>
            <a:r>
              <a:rPr sz="1100" b="0">
                <a:solidFill>
                  <a:srgbClr val="4B4B4B"/>
                </a:solidFill>
                <a:latin typeface="Arial"/>
              </a:rPr>
              <a:t>BDOI Day 1 overview p.26-27</a:t>
            </a:r>
          </a:p>
          <a:p>
            <a:pPr>
              <a:spcAft>
                <a:spcPts val="400"/>
              </a:spcAft>
            </a:pPr>
            <a:r>
              <a:rPr sz="1100" b="0">
                <a:solidFill>
                  <a:srgbClr val="004EA8"/>
                </a:solidFill>
                <a:latin typeface="Arial"/>
              </a:rPr>
              <a:t>•  </a:t>
            </a:r>
            <a:r>
              <a:rPr sz="1100" b="0">
                <a:solidFill>
                  <a:srgbClr val="4B4B4B"/>
                </a:solidFill>
                <a:latin typeface="Arial"/>
              </a:rPr>
              <a:t>Floor-walk notes DS-01 to DS-05, TX-01 to TX-05, RC-01, RC-02, FN-01, RP-01, OI-01 to OI-03</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Request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Payee</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Voucher</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Approvals</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Payment</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GL entry</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Reconciliation</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Close and report</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8. Comptrollership: what we heard on the floor (1/3)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DS-01</a:t>
                      </a:r>
                    </a:p>
                  </a:txBody>
                  <a:tcPr marL="64008" marR="64008" marT="27432" marB="27432" anchor="ctr">
                    <a:solidFill>
                      <a:srgbClr val="FFFFFF"/>
                    </a:solidFill>
                  </a:tcPr>
                </a:tc>
                <a:tc>
                  <a:txBody>
                    <a:bodyPr wrap="square"/>
                    <a:lstStyle/>
                    <a:p>
                      <a:r>
                        <a:rPr sz="1100" b="0">
                          <a:solidFill>
                            <a:srgbClr val="4B4B4B"/>
                          </a:solidFill>
                          <a:latin typeface="Arial"/>
                        </a:rPr>
                        <a:t>Approval</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Multi-level approval with maker and checker.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DS-02</a:t>
                      </a:r>
                    </a:p>
                  </a:txBody>
                  <a:tcPr marL="64008" marR="64008" marT="27432" marB="27432" anchor="ctr">
                    <a:solidFill>
                      <a:srgbClr val="E5F5FF"/>
                    </a:solidFill>
                  </a:tcPr>
                </a:tc>
                <a:tc>
                  <a:txBody>
                    <a:bodyPr wrap="square"/>
                    <a:lstStyle/>
                    <a:p>
                      <a:r>
                        <a:rPr sz="1100" b="0">
                          <a:solidFill>
                            <a:srgbClr val="4B4B4B"/>
                          </a:solidFill>
                          <a:latin typeface="Arial"/>
                        </a:rPr>
                        <a:t>Settlement types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Remittance and settlement cover insurer payments, customer payments and sundry creditors; client premium refunds are also settled here.</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DS-03</a:t>
                      </a:r>
                    </a:p>
                  </a:txBody>
                  <a:tcPr marL="64008" marR="64008" marT="27432" marB="27432" anchor="ctr">
                    <a:solidFill>
                      <a:srgbClr val="FFFFFF"/>
                    </a:solidFill>
                  </a:tcPr>
                </a:tc>
                <a:tc>
                  <a:txBody>
                    <a:bodyPr wrap="square"/>
                    <a:lstStyle/>
                    <a:p>
                      <a:r>
                        <a:rPr sz="1100" b="0">
                          <a:solidFill>
                            <a:srgbClr val="4B4B4B"/>
                          </a:solidFill>
                          <a:latin typeface="Arial"/>
                        </a:rPr>
                        <a:t>Working file</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For individual companies a working file is prepared and sent to the Disbursement team.</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DS-04</a:t>
                      </a:r>
                    </a:p>
                  </a:txBody>
                  <a:tcPr marL="64008" marR="64008" marT="27432" marB="27432" anchor="ctr">
                    <a:solidFill>
                      <a:srgbClr val="E5F5FF"/>
                    </a:solidFill>
                  </a:tcPr>
                </a:tc>
                <a:tc>
                  <a:txBody>
                    <a:bodyPr wrap="square"/>
                    <a:lstStyle/>
                    <a:p>
                      <a:r>
                        <a:rPr sz="1100" b="0">
                          <a:solidFill>
                            <a:srgbClr val="4B4B4B"/>
                          </a:solidFill>
                          <a:latin typeface="Arial"/>
                        </a:rPr>
                        <a:t>Payment mode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Remittance is always processed in batch. The mode of payment is captured outside the system, as most modes are not in the system.</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DS-05</a:t>
                      </a:r>
                    </a:p>
                  </a:txBody>
                  <a:tcPr marL="64008" marR="64008" marT="27432" marB="27432" anchor="ctr">
                    <a:solidFill>
                      <a:srgbClr val="FFFFFF"/>
                    </a:solidFill>
                  </a:tcPr>
                </a:tc>
                <a:tc>
                  <a:txBody>
                    <a:bodyPr wrap="square"/>
                    <a:lstStyle/>
                    <a:p>
                      <a:r>
                        <a:rPr sz="1100" b="0">
                          <a:solidFill>
                            <a:srgbClr val="4B4B4B"/>
                          </a:solidFill>
                          <a:latin typeface="Arial"/>
                        </a:rPr>
                        <a:t>Entries</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Remittance entries pass through intermediate accounts.</a:t>
                      </a:r>
                    </a:p>
                  </a:txBody>
                  <a:tcPr marL="64008" marR="64008" marT="27432" marB="27432" anchor="ctr">
                    <a:solidFill>
                      <a:srgbClr val="FFFFFF"/>
                    </a:solidFill>
                  </a:tcPr>
                </a:tc>
                <a:tc>
                  <a:txBody>
                    <a:bodyPr wrap="square"/>
                    <a:lstStyle/>
                    <a:p>
                      <a:r>
                        <a:rPr sz="1100" b="0">
                          <a:solidFill>
                            <a:srgbClr val="4B4B4B"/>
                          </a:solidFill>
                          <a:latin typeface="Arial"/>
                        </a:rPr>
                        <a:t>Debit Cash in Bank and credit the insurance company directly.</a:t>
                      </a:r>
                    </a:p>
                  </a:txBody>
                  <a:tcPr marL="64008" marR="64008" marT="27432" marB="27432" anchor="ctr">
                    <a:solidFill>
                      <a:srgbClr val="FFFFFF"/>
                    </a:solidFill>
                  </a:tcPr>
                </a:tc>
              </a:tr>
              <a:tr h="758952">
                <a:tc>
                  <a:txBody>
                    <a:bodyPr wrap="square"/>
                    <a:lstStyle/>
                    <a:p>
                      <a:r>
                        <a:rPr sz="1100" b="1">
                          <a:solidFill>
                            <a:srgbClr val="4B4B4B"/>
                          </a:solidFill>
                          <a:latin typeface="Arial"/>
                        </a:rPr>
                        <a:t>TX-01</a:t>
                      </a:r>
                    </a:p>
                  </a:txBody>
                  <a:tcPr marL="64008" marR="64008" marT="27432" marB="27432" anchor="ctr">
                    <a:solidFill>
                      <a:srgbClr val="E5F5FF"/>
                    </a:solidFill>
                  </a:tcPr>
                </a:tc>
                <a:tc>
                  <a:txBody>
                    <a:bodyPr wrap="square"/>
                    <a:lstStyle/>
                    <a:p>
                      <a:r>
                        <a:rPr sz="1100" b="0">
                          <a:solidFill>
                            <a:srgbClr val="4B4B4B"/>
                          </a:solidFill>
                          <a:latin typeface="Arial"/>
                        </a:rPr>
                        <a:t>WHT on commission</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WHT on commission is 15% during remittance processing.</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8. Comptrollership: what we heard on the floor (2/3)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TX-03</a:t>
                      </a:r>
                    </a:p>
                  </a:txBody>
                  <a:tcPr marL="64008" marR="64008" marT="27432" marB="27432" anchor="ctr">
                    <a:solidFill>
                      <a:srgbClr val="FFFFFF"/>
                    </a:solidFill>
                  </a:tcPr>
                </a:tc>
                <a:tc>
                  <a:txBody>
                    <a:bodyPr wrap="square"/>
                    <a:lstStyle/>
                    <a:p>
                      <a:r>
                        <a:rPr sz="1100" b="0">
                          <a:solidFill>
                            <a:srgbClr val="4B4B4B"/>
                          </a:solidFill>
                          <a:latin typeface="Arial"/>
                        </a:rPr>
                        <a:t>WHT certificate</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Certificates prepared outside the system.</a:t>
                      </a:r>
                    </a:p>
                  </a:txBody>
                  <a:tcPr marL="64008" marR="64008" marT="27432" marB="27432" anchor="ctr">
                    <a:solidFill>
                      <a:srgbClr val="FFFFFF"/>
                    </a:solidFill>
                  </a:tcPr>
                </a:tc>
                <a:tc>
                  <a:txBody>
                    <a:bodyPr wrap="square"/>
                    <a:lstStyle/>
                    <a:p>
                      <a:r>
                        <a:rPr sz="1100" b="0">
                          <a:solidFill>
                            <a:srgbClr val="4B4B4B"/>
                          </a:solidFill>
                          <a:latin typeface="Arial"/>
                        </a:rPr>
                        <a:t>2% WHT certificate (BIR 2307) generated for suppliers.</a:t>
                      </a:r>
                    </a:p>
                  </a:txBody>
                  <a:tcPr marL="64008" marR="64008" marT="27432" marB="27432" anchor="ctr">
                    <a:solidFill>
                      <a:srgbClr val="FFFFFF"/>
                    </a:solidFill>
                  </a:tcPr>
                </a:tc>
              </a:tr>
              <a:tr h="758952">
                <a:tc>
                  <a:txBody>
                    <a:bodyPr wrap="square"/>
                    <a:lstStyle/>
                    <a:p>
                      <a:r>
                        <a:rPr sz="1100" b="1">
                          <a:solidFill>
                            <a:srgbClr val="4B4B4B"/>
                          </a:solidFill>
                          <a:latin typeface="Arial"/>
                        </a:rPr>
                        <a:t>TX-04</a:t>
                      </a:r>
                    </a:p>
                  </a:txBody>
                  <a:tcPr marL="64008" marR="64008" marT="27432" marB="27432" anchor="ctr">
                    <a:solidFill>
                      <a:srgbClr val="E5F5FF"/>
                    </a:solidFill>
                  </a:tcPr>
                </a:tc>
                <a:tc>
                  <a:txBody>
                    <a:bodyPr wrap="square"/>
                    <a:lstStyle/>
                    <a:p>
                      <a:r>
                        <a:rPr sz="1100" b="0">
                          <a:solidFill>
                            <a:srgbClr val="4B4B4B"/>
                          </a:solidFill>
                          <a:latin typeface="Arial"/>
                        </a:rPr>
                        <a:t>BIR reports</a:t>
                      </a:r>
                    </a:p>
                  </a:txBody>
                  <a:tcPr marL="64008" marR="64008" marT="27432" marB="27432" anchor="ctr">
                    <a:solidFill>
                      <a:srgbClr val="E5F5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Monthly, from the trial balance and sub-ledger; WHT based on disbursements; the tax code changes by supplier.</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TX-05</a:t>
                      </a:r>
                    </a:p>
                  </a:txBody>
                  <a:tcPr marL="64008" marR="64008" marT="27432" marB="27432" anchor="ctr">
                    <a:solidFill>
                      <a:srgbClr val="FFFFFF"/>
                    </a:solidFill>
                  </a:tcPr>
                </a:tc>
                <a:tc>
                  <a:txBody>
                    <a:bodyPr wrap="square"/>
                    <a:lstStyle/>
                    <a:p>
                      <a:r>
                        <a:rPr sz="1100" b="0">
                          <a:solidFill>
                            <a:srgbClr val="4B4B4B"/>
                          </a:solidFill>
                          <a:latin typeface="Arial"/>
                        </a:rPr>
                        <a:t>VAT</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Input VAT quarterly from the sub-ledger; output VAT the same.</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RC-01</a:t>
                      </a:r>
                    </a:p>
                  </a:txBody>
                  <a:tcPr marL="64008" marR="64008" marT="27432" marB="27432" anchor="ctr">
                    <a:solidFill>
                      <a:srgbClr val="E5F5FF"/>
                    </a:solidFill>
                  </a:tcPr>
                </a:tc>
                <a:tc>
                  <a:txBody>
                    <a:bodyPr wrap="square"/>
                    <a:lstStyle/>
                    <a:p>
                      <a:r>
                        <a:rPr sz="1100" b="0">
                          <a:solidFill>
                            <a:srgbClr val="4B4B4B"/>
                          </a:solidFill>
                          <a:latin typeface="Arial"/>
                        </a:rPr>
                        <a:t>Reconciliation</a:t>
                      </a:r>
                    </a:p>
                  </a:txBody>
                  <a:tcPr marL="64008" marR="64008" marT="27432" marB="27432" anchor="ctr">
                    <a:solidFill>
                      <a:srgbClr val="E5F5FF"/>
                    </a:solidFill>
                  </a:tcPr>
                </a:tc>
                <a:tc>
                  <a:txBody>
                    <a:bodyPr wrap="square"/>
                    <a:lstStyle/>
                    <a:p>
                      <a:pPr algn="ctr"/>
                      <a:r>
                        <a:rPr sz="1100" b="1">
                          <a:solidFill>
                            <a:srgbClr val="4527A0"/>
                          </a:solidFill>
                          <a:latin typeface="Arial"/>
                        </a:rPr>
                        <a:t>Open point</a:t>
                      </a:r>
                    </a:p>
                  </a:txBody>
                  <a:tcPr marL="64008" marR="64008" marT="27432" marB="27432" anchor="ctr">
                    <a:solidFill>
                      <a:srgbClr val="EDE7F6"/>
                    </a:solidFill>
                  </a:tcPr>
                </a:tc>
                <a:tc>
                  <a:txBody>
                    <a:bodyPr wrap="square"/>
                    <a:lstStyle/>
                    <a:p>
                      <a:r>
                        <a:rPr sz="1100" b="0">
                          <a:solidFill>
                            <a:srgbClr val="4B4B4B"/>
                          </a:solidFill>
                          <a:latin typeface="Arial"/>
                        </a:rPr>
                        <a:t>Bank reconciliation and insurer reconciliation (premium and commission).</a:t>
                      </a:r>
                    </a:p>
                  </a:txBody>
                  <a:tcPr marL="64008" marR="64008" marT="27432" marB="27432" anchor="ctr">
                    <a:solidFill>
                      <a:srgbClr val="E5F5FF"/>
                    </a:solidFill>
                  </a:tcPr>
                </a:tc>
                <a:tc>
                  <a:txBody>
                    <a:bodyPr wrap="square"/>
                    <a:lstStyle/>
                    <a:p>
                      <a:r>
                        <a:rPr sz="1100" b="0">
                          <a:solidFill>
                            <a:srgbClr val="4B4B4B"/>
                          </a:solidFill>
                          <a:latin typeface="Arial"/>
                        </a:rPr>
                        <a:t>Detail during the floor walk.</a:t>
                      </a:r>
                    </a:p>
                  </a:txBody>
                  <a:tcPr marL="64008" marR="64008" marT="27432" marB="27432" anchor="ctr">
                    <a:solidFill>
                      <a:srgbClr val="E5F5FF"/>
                    </a:solidFill>
                  </a:tcPr>
                </a:tc>
              </a:tr>
              <a:tr h="758952">
                <a:tc>
                  <a:txBody>
                    <a:bodyPr wrap="square"/>
                    <a:lstStyle/>
                    <a:p>
                      <a:r>
                        <a:rPr sz="1100" b="1">
                          <a:solidFill>
                            <a:srgbClr val="4B4B4B"/>
                          </a:solidFill>
                          <a:latin typeface="Arial"/>
                        </a:rPr>
                        <a:t>RC-02</a:t>
                      </a:r>
                    </a:p>
                  </a:txBody>
                  <a:tcPr marL="64008" marR="64008" marT="27432" marB="27432" anchor="ctr">
                    <a:solidFill>
                      <a:srgbClr val="FFFFFF"/>
                    </a:solidFill>
                  </a:tcPr>
                </a:tc>
                <a:tc>
                  <a:txBody>
                    <a:bodyPr wrap="square"/>
                    <a:lstStyle/>
                    <a:p>
                      <a:r>
                        <a:rPr sz="1100" b="0">
                          <a:solidFill>
                            <a:srgbClr val="4B4B4B"/>
                          </a:solidFill>
                          <a:latin typeface="Arial"/>
                        </a:rPr>
                        <a:t>Insurer reconciliation</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Done on statements of account.</a:t>
                      </a:r>
                    </a:p>
                  </a:txBody>
                  <a:tcPr marL="64008" marR="64008" marT="27432" marB="27432" anchor="ctr">
                    <a:solidFill>
                      <a:srgbClr val="FFFFFF"/>
                    </a:solidFill>
                  </a:tcPr>
                </a:tc>
                <a:tc>
                  <a:txBody>
                    <a:bodyPr wrap="square"/>
                    <a:lstStyle/>
                    <a:p>
                      <a:r>
                        <a:rPr sz="1100" b="0">
                          <a:solidFill>
                            <a:srgbClr val="4B4B4B"/>
                          </a:solidFill>
                          <a:latin typeface="Arial"/>
                        </a:rPr>
                        <a:t>Insurer reconciliation account-wise.</a:t>
                      </a:r>
                    </a:p>
                  </a:txBody>
                  <a:tcPr marL="64008" marR="64008" marT="27432" marB="27432" anchor="ctr">
                    <a:solidFill>
                      <a:srgbClr val="FFFFFF"/>
                    </a:solidFill>
                  </a:tcPr>
                </a:tc>
              </a:tr>
              <a:tr h="758952">
                <a:tc>
                  <a:txBody>
                    <a:bodyPr wrap="square"/>
                    <a:lstStyle/>
                    <a:p>
                      <a:r>
                        <a:rPr sz="1100" b="1">
                          <a:solidFill>
                            <a:srgbClr val="4B4B4B"/>
                          </a:solidFill>
                          <a:latin typeface="Arial"/>
                        </a:rPr>
                        <a:t>FN-01</a:t>
                      </a:r>
                    </a:p>
                  </a:txBody>
                  <a:tcPr marL="64008" marR="64008" marT="27432" marB="27432" anchor="ctr">
                    <a:solidFill>
                      <a:srgbClr val="E5F5FF"/>
                    </a:solidFill>
                  </a:tcPr>
                </a:tc>
                <a:tc>
                  <a:txBody>
                    <a:bodyPr wrap="square"/>
                    <a:lstStyle/>
                    <a:p>
                      <a:r>
                        <a:rPr sz="1100" b="0">
                          <a:solidFill>
                            <a:srgbClr val="4B4B4B"/>
                          </a:solidFill>
                          <a:latin typeface="Arial"/>
                        </a:rPr>
                        <a:t>Branches</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BDOI has 8 branches.</a:t>
                      </a:r>
                    </a:p>
                  </a:txBody>
                  <a:tcPr marL="64008" marR="64008" marT="27432" marB="27432" anchor="ctr">
                    <a:solidFill>
                      <a:srgbClr val="E5F5FF"/>
                    </a:solidFill>
                  </a:tcPr>
                </a:tc>
                <a:tc>
                  <a:txBody>
                    <a:bodyPr wrap="square"/>
                    <a:lstStyle/>
                    <a:p>
                      <a:r>
                        <a:rPr sz="1100" b="0">
                          <a:solidFill>
                            <a:srgbClr val="4B4B4B"/>
                          </a:solidFill>
                          <a:latin typeface="Arial"/>
                        </a:rPr>
                        <a:t>Profit centre and cost centre tagged and mapped.</a:t>
                      </a:r>
                    </a:p>
                  </a:txBody>
                  <a:tcPr marL="64008" marR="64008" marT="27432" marB="27432" anchor="ctr">
                    <a:solidFill>
                      <a:srgbClr val="E5F5FF"/>
                    </a:solidFill>
                  </a:tcPr>
                </a:tc>
              </a:tr>
            </a:tbl>
          </a:graphicData>
        </a:graphic>
      </p:graphicFrame>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8. Comptrollership: what we heard on the floor (3/3)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graphicFrame>
        <p:nvGraphicFramePr>
          <p:cNvPr id="9" name="Table 8"/>
          <p:cNvGraphicFramePr>
            <a:graphicFrameLocks noGrp="1"/>
          </p:cNvGraphicFramePr>
          <p:nvPr/>
        </p:nvGraphicFramePr>
        <p:xfrm>
          <a:off x="548640" y="1280160"/>
          <a:ext cx="11094412" cy="3657600"/>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822960">
                <a:tc>
                  <a:txBody>
                    <a:bodyPr wrap="square"/>
                    <a:lstStyle/>
                    <a:p>
                      <a:r>
                        <a:rPr sz="1100" b="1">
                          <a:solidFill>
                            <a:srgbClr val="4B4B4B"/>
                          </a:solidFill>
                          <a:latin typeface="Arial"/>
                        </a:rPr>
                        <a:t>RP-01</a:t>
                      </a:r>
                    </a:p>
                  </a:txBody>
                  <a:tcPr marL="64008" marR="64008" marT="27432" marB="27432" anchor="ctr">
                    <a:solidFill>
                      <a:srgbClr val="FFFFFF"/>
                    </a:solidFill>
                  </a:tcPr>
                </a:tc>
                <a:tc>
                  <a:txBody>
                    <a:bodyPr wrap="square"/>
                    <a:lstStyle/>
                    <a:p>
                      <a:r>
                        <a:rPr sz="1100" b="0">
                          <a:solidFill>
                            <a:srgbClr val="4B4B4B"/>
                          </a:solidFill>
                          <a:latin typeface="Arial"/>
                        </a:rPr>
                        <a:t>Reports</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Reports are made by hand: data pulled from several systems and consolidated, with IT help.</a:t>
                      </a:r>
                    </a:p>
                  </a:txBody>
                  <a:tcPr marL="64008" marR="64008" marT="27432" marB="27432" anchor="ctr">
                    <a:solidFill>
                      <a:srgbClr val="FFFFFF"/>
                    </a:solidFill>
                  </a:tcPr>
                </a:tc>
                <a:tc>
                  <a:txBody>
                    <a:bodyPr wrap="square"/>
                    <a:lstStyle/>
                    <a:p>
                      <a:r>
                        <a:rPr sz="1100" b="0">
                          <a:solidFill>
                            <a:srgbClr val="4B4B4B"/>
                          </a:solidFill>
                          <a:latin typeface="Arial"/>
                        </a:rPr>
                        <a:t>Business units run reports themselves.</a:t>
                      </a:r>
                    </a:p>
                  </a:txBody>
                  <a:tcPr marL="64008" marR="64008" marT="27432" marB="27432" anchor="ctr">
                    <a:solidFill>
                      <a:srgbClr val="FFFFFF"/>
                    </a:solidFill>
                  </a:tcPr>
                </a:tc>
              </a:tr>
              <a:tr h="822960">
                <a:tc>
                  <a:txBody>
                    <a:bodyPr wrap="square"/>
                    <a:lstStyle/>
                    <a:p>
                      <a:r>
                        <a:rPr sz="1100" b="1">
                          <a:solidFill>
                            <a:srgbClr val="4B4B4B"/>
                          </a:solidFill>
                          <a:latin typeface="Arial"/>
                        </a:rPr>
                        <a:t>OI-01</a:t>
                      </a:r>
                    </a:p>
                  </a:txBody>
                  <a:tcPr marL="64008" marR="64008" marT="27432" marB="27432" anchor="ctr">
                    <a:solidFill>
                      <a:srgbClr val="E5F5FF"/>
                    </a:solidFill>
                  </a:tcPr>
                </a:tc>
                <a:tc>
                  <a:txBody>
                    <a:bodyPr wrap="square"/>
                    <a:lstStyle/>
                    <a:p>
                      <a:r>
                        <a:rPr sz="1100" b="0">
                          <a:solidFill>
                            <a:srgbClr val="4B4B4B"/>
                          </a:solidFill>
                          <a:latin typeface="Arial"/>
                        </a:rPr>
                        <a:t>Other income</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Other income recorded outside a standard invoice.</a:t>
                      </a:r>
                    </a:p>
                  </a:txBody>
                  <a:tcPr marL="64008" marR="64008" marT="27432" marB="27432" anchor="ctr">
                    <a:solidFill>
                      <a:srgbClr val="E5F5FF"/>
                    </a:solidFill>
                  </a:tcPr>
                </a:tc>
                <a:tc>
                  <a:txBody>
                    <a:bodyPr wrap="square"/>
                    <a:lstStyle/>
                    <a:p>
                      <a:r>
                        <a:rPr sz="1100" b="0">
                          <a:solidFill>
                            <a:srgbClr val="4B4B4B"/>
                          </a:solidFill>
                          <a:latin typeface="Arial"/>
                        </a:rPr>
                        <a:t>Other income registered through invoicing.</a:t>
                      </a:r>
                    </a:p>
                  </a:txBody>
                  <a:tcPr marL="64008" marR="64008" marT="27432" marB="27432" anchor="ctr">
                    <a:solidFill>
                      <a:srgbClr val="E5F5FF"/>
                    </a:solidFill>
                  </a:tcPr>
                </a:tc>
              </a:tr>
              <a:tr h="822960">
                <a:tc>
                  <a:txBody>
                    <a:bodyPr wrap="square"/>
                    <a:lstStyle/>
                    <a:p>
                      <a:r>
                        <a:rPr sz="1100" b="1">
                          <a:solidFill>
                            <a:srgbClr val="4B4B4B"/>
                          </a:solidFill>
                          <a:latin typeface="Arial"/>
                        </a:rPr>
                        <a:t>OI-02</a:t>
                      </a:r>
                    </a:p>
                  </a:txBody>
                  <a:tcPr marL="64008" marR="64008" marT="27432" marB="27432" anchor="ctr">
                    <a:solidFill>
                      <a:srgbClr val="FFFFFF"/>
                    </a:solidFill>
                  </a:tcPr>
                </a:tc>
                <a:tc>
                  <a:txBody>
                    <a:bodyPr wrap="square"/>
                    <a:lstStyle/>
                    <a:p>
                      <a:r>
                        <a:rPr sz="1100" b="0">
                          <a:solidFill>
                            <a:srgbClr val="4B4B4B"/>
                          </a:solidFill>
                          <a:latin typeface="Arial"/>
                        </a:rPr>
                        <a:t>Service fee</a:t>
                      </a:r>
                    </a:p>
                  </a:txBody>
                  <a:tcPr marL="64008" marR="64008" marT="27432" marB="27432" anchor="ctr">
                    <a:solidFill>
                      <a:srgbClr val="FFFFFF"/>
                    </a:solidFill>
                  </a:tcPr>
                </a:tc>
                <a:tc>
                  <a:txBody>
                    <a:bodyPr wrap="square"/>
                    <a:lstStyle/>
                    <a:p>
                      <a:pPr algn="ctr"/>
                      <a:r>
                        <a:rPr sz="1100" b="1">
                          <a:solidFill>
                            <a:srgbClr val="2E7D32"/>
                          </a:solidFill>
                          <a:latin typeface="Arial"/>
                        </a:rPr>
                        <a:t>Business rule</a:t>
                      </a:r>
                    </a:p>
                  </a:txBody>
                  <a:tcPr marL="64008" marR="64008" marT="27432" marB="27432" anchor="ctr">
                    <a:solidFill>
                      <a:srgbClr val="E8F5E9"/>
                    </a:solidFill>
                  </a:tcPr>
                </a:tc>
                <a:tc>
                  <a:txBody>
                    <a:bodyPr wrap="square"/>
                    <a:lstStyle/>
                    <a:p>
                      <a:r>
                        <a:rPr sz="1100" b="0">
                          <a:solidFill>
                            <a:srgbClr val="4B4B4B"/>
                          </a:solidFill>
                          <a:latin typeface="Arial"/>
                        </a:rPr>
                        <a:t>A service invoice records other income; WHT rate differs by income type; VAT applies; OR issued after.</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822960">
                <a:tc>
                  <a:txBody>
                    <a:bodyPr wrap="square"/>
                    <a:lstStyle/>
                    <a:p>
                      <a:r>
                        <a:rPr sz="1100" b="1">
                          <a:solidFill>
                            <a:srgbClr val="4B4B4B"/>
                          </a:solidFill>
                          <a:latin typeface="Arial"/>
                        </a:rPr>
                        <a:t>OI-03</a:t>
                      </a:r>
                    </a:p>
                  </a:txBody>
                  <a:tcPr marL="64008" marR="64008" marT="27432" marB="27432" anchor="ctr">
                    <a:solidFill>
                      <a:srgbClr val="E5F5FF"/>
                    </a:solidFill>
                  </a:tcPr>
                </a:tc>
                <a:tc>
                  <a:txBody>
                    <a:bodyPr wrap="square"/>
                    <a:lstStyle/>
                    <a:p>
                      <a:r>
                        <a:rPr sz="1100" b="0">
                          <a:solidFill>
                            <a:srgbClr val="4B4B4B"/>
                          </a:solidFill>
                          <a:latin typeface="Arial"/>
                        </a:rPr>
                        <a:t>Referral fee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Referral is treated as a service fee, credited from an Excel list.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As-Is process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pic>
        <p:nvPicPr>
          <p:cNvPr id="9" name="Picture 8" descr="brd05_asis.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Refunds and Disbursement today (Refund Request and Disbursement process flows; Day 1 p.27; DS-01 to DS-05)</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As-Is process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pic>
        <p:nvPicPr>
          <p:cNvPr id="9" name="Picture 8" descr="brd05_asis_2.png"/>
          <p:cNvPicPr>
            <a:picLocks noChangeAspect="1"/>
          </p:cNvPicPr>
          <p:nvPr/>
        </p:nvPicPr>
        <p:blipFill>
          <a:blip r:embed="rId3"/>
          <a:stretch>
            <a:fillRect/>
          </a:stretch>
        </p:blipFill>
        <p:spPr>
          <a:xfrm>
            <a:off x="644356" y="1243584"/>
            <a:ext cx="10902983"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General ledger, close and ACSL today (FRBS Accounting and ACSL process flows; Day 1 p.26)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8. Comptrollership: refund chains and payment routes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graphicFrame>
        <p:nvGraphicFramePr>
          <p:cNvPr id="9" name="Table 8"/>
          <p:cNvGraphicFramePr>
            <a:graphicFrameLocks noGrp="1"/>
          </p:cNvGraphicFramePr>
          <p:nvPr/>
        </p:nvGraphicFramePr>
        <p:xfrm>
          <a:off x="548640" y="1280160"/>
          <a:ext cx="11094413" cy="4023360"/>
        </p:xfrm>
        <a:graphic>
          <a:graphicData uri="http://schemas.openxmlformats.org/drawingml/2006/table">
            <a:tbl>
              <a:tblPr firstRow="1" bandRow="1">
                <a:tableStyleId>{5C22544A-7EE6-4342-B048-85BDC9FD1C3A}</a:tableStyleId>
              </a:tblPr>
              <a:tblGrid>
                <a:gridCol w="1921867"/>
                <a:gridCol w="2446012"/>
                <a:gridCol w="2970158"/>
                <a:gridCol w="1834509"/>
                <a:gridCol w="1921867"/>
              </a:tblGrid>
              <a:tr h="365760">
                <a:tc>
                  <a:txBody>
                    <a:bodyPr wrap="square"/>
                    <a:lstStyle/>
                    <a:p>
                      <a:r>
                        <a:rPr sz="1100" b="1">
                          <a:solidFill>
                            <a:srgbClr val="FFFFFF"/>
                          </a:solidFill>
                          <a:latin typeface="Arial"/>
                        </a:rPr>
                        <a:t>Route or segment</a:t>
                      </a:r>
                    </a:p>
                  </a:txBody>
                  <a:tcPr marL="64008" marR="64008" marT="27432" marB="27432" anchor="ctr">
                    <a:solidFill>
                      <a:srgbClr val="004EA8"/>
                    </a:solidFill>
                  </a:tcPr>
                </a:tc>
                <a:tc>
                  <a:txBody>
                    <a:bodyPr wrap="square"/>
                    <a:lstStyle/>
                    <a:p>
                      <a:r>
                        <a:rPr sz="1100" b="1">
                          <a:solidFill>
                            <a:srgbClr val="FFFFFF"/>
                          </a:solidFill>
                          <a:latin typeface="Arial"/>
                        </a:rPr>
                        <a:t>Starts with</a:t>
                      </a:r>
                    </a:p>
                  </a:txBody>
                  <a:tcPr marL="64008" marR="64008" marT="27432" marB="27432" anchor="ctr">
                    <a:solidFill>
                      <a:srgbClr val="004EA8"/>
                    </a:solidFill>
                  </a:tcPr>
                </a:tc>
                <a:tc>
                  <a:txBody>
                    <a:bodyPr wrap="square"/>
                    <a:lstStyle/>
                    <a:p>
                      <a:r>
                        <a:rPr sz="1100" b="1">
                          <a:solidFill>
                            <a:srgbClr val="FFFFFF"/>
                          </a:solidFill>
                          <a:latin typeface="Arial"/>
                        </a:rPr>
                        <a:t>Approvals today</a:t>
                      </a:r>
                    </a:p>
                  </a:txBody>
                  <a:tcPr marL="64008" marR="64008" marT="27432" marB="27432" anchor="ctr">
                    <a:solidFill>
                      <a:srgbClr val="004EA8"/>
                    </a:solidFill>
                  </a:tcPr>
                </a:tc>
                <a:tc>
                  <a:txBody>
                    <a:bodyPr wrap="square"/>
                    <a:lstStyle/>
                    <a:p>
                      <a:r>
                        <a:rPr sz="1100" b="1">
                          <a:solidFill>
                            <a:srgbClr val="FFFFFF"/>
                          </a:solidFill>
                          <a:latin typeface="Arial"/>
                        </a:rPr>
                        <a:t>Keyed or executed by</a:t>
                      </a:r>
                    </a:p>
                  </a:txBody>
                  <a:tcPr marL="64008" marR="64008" marT="27432" marB="27432" anchor="ctr">
                    <a:solidFill>
                      <a:srgbClr val="004EA8"/>
                    </a:solidFill>
                  </a:tcPr>
                </a:tc>
                <a:tc>
                  <a:txBody>
                    <a:bodyPr wrap="square"/>
                    <a:lstStyle/>
                    <a:p>
                      <a:r>
                        <a:rPr sz="1100" b="1">
                          <a:solidFill>
                            <a:srgbClr val="FFFFFF"/>
                          </a:solidFill>
                          <a:latin typeface="Arial"/>
                        </a:rPr>
                        <a:t>Hand-off</a:t>
                      </a:r>
                    </a:p>
                  </a:txBody>
                  <a:tcPr marL="64008" marR="64008" marT="27432" marB="27432" anchor="ctr">
                    <a:solidFill>
                      <a:srgbClr val="004EA8"/>
                    </a:solidFill>
                  </a:tcPr>
                </a:tc>
              </a:tr>
              <a:tr h="731520">
                <a:tc>
                  <a:txBody>
                    <a:bodyPr wrap="square"/>
                    <a:lstStyle/>
                    <a:p>
                      <a:r>
                        <a:rPr sz="1100" b="1">
                          <a:solidFill>
                            <a:srgbClr val="4B4B4B"/>
                          </a:solidFill>
                          <a:latin typeface="Arial"/>
                        </a:rPr>
                        <a:t>Refund: Non-CBG Retail</a:t>
                      </a:r>
                    </a:p>
                  </a:txBody>
                  <a:tcPr marL="64008" marR="64008" marT="27432" marB="27432" anchor="ctr">
                    <a:solidFill>
                      <a:srgbClr val="FFFFFF"/>
                    </a:solidFill>
                  </a:tcPr>
                </a:tc>
                <a:tc>
                  <a:txBody>
                    <a:bodyPr wrap="square"/>
                    <a:lstStyle/>
                    <a:p>
                      <a:r>
                        <a:rPr sz="1100" b="0">
                          <a:solidFill>
                            <a:srgbClr val="4B4B4B"/>
                          </a:solidFill>
                          <a:latin typeface="Arial"/>
                        </a:rPr>
                        <a:t>AO fills the RRF</a:t>
                      </a:r>
                    </a:p>
                  </a:txBody>
                  <a:tcPr marL="64008" marR="64008" marT="27432" marB="27432" anchor="ctr">
                    <a:solidFill>
                      <a:srgbClr val="FFFFFF"/>
                    </a:solidFill>
                  </a:tcPr>
                </a:tc>
                <a:tc>
                  <a:txBody>
                    <a:bodyPr wrap="square"/>
                    <a:lstStyle/>
                    <a:p>
                      <a:r>
                        <a:rPr sz="1100" b="0">
                          <a:solidFill>
                            <a:srgbClr val="4B4B4B"/>
                          </a:solidFill>
                          <a:latin typeface="Arial"/>
                        </a:rPr>
                        <a:t>MTL, TH, then MAD TL and Marketing UH</a:t>
                      </a:r>
                    </a:p>
                  </a:txBody>
                  <a:tcPr marL="64008" marR="64008" marT="27432" marB="27432" anchor="ctr">
                    <a:solidFill>
                      <a:srgbClr val="FFFFFF"/>
                    </a:solidFill>
                  </a:tcPr>
                </a:tc>
                <a:tc>
                  <a:txBody>
                    <a:bodyPr wrap="square"/>
                    <a:lstStyle/>
                    <a:p>
                      <a:r>
                        <a:rPr sz="1100" b="0">
                          <a:solidFill>
                            <a:srgbClr val="4B4B4B"/>
                          </a:solidFill>
                          <a:latin typeface="Arial"/>
                        </a:rPr>
                        <a:t>Marketing Admin (Excel, EBIX)</a:t>
                      </a:r>
                    </a:p>
                  </a:txBody>
                  <a:tcPr marL="64008" marR="64008" marT="27432" marB="27432" anchor="ctr">
                    <a:solidFill>
                      <a:srgbClr val="FFFFFF"/>
                    </a:solidFill>
                  </a:tcPr>
                </a:tc>
                <a:tc>
                  <a:txBody>
                    <a:bodyPr wrap="square"/>
                    <a:lstStyle/>
                    <a:p>
                      <a:r>
                        <a:rPr sz="1100" b="0">
                          <a:solidFill>
                            <a:srgbClr val="4B4B4B"/>
                          </a:solidFill>
                          <a:latin typeface="Arial"/>
                        </a:rPr>
                        <a:t>MAD TL to Disbursement</a:t>
                      </a:r>
                    </a:p>
                  </a:txBody>
                  <a:tcPr marL="64008" marR="64008" marT="27432" marB="27432" anchor="ctr">
                    <a:solidFill>
                      <a:srgbClr val="FFFFFF"/>
                    </a:solidFill>
                  </a:tcPr>
                </a:tc>
              </a:tr>
              <a:tr h="731520">
                <a:tc>
                  <a:txBody>
                    <a:bodyPr wrap="square"/>
                    <a:lstStyle/>
                    <a:p>
                      <a:r>
                        <a:rPr sz="1100" b="1">
                          <a:solidFill>
                            <a:srgbClr val="4B4B4B"/>
                          </a:solidFill>
                          <a:latin typeface="Arial"/>
                        </a:rPr>
                        <a:t>Refund: Non-CBG Corporate</a:t>
                      </a:r>
                    </a:p>
                  </a:txBody>
                  <a:tcPr marL="64008" marR="64008" marT="27432" marB="27432" anchor="ctr">
                    <a:solidFill>
                      <a:srgbClr val="E5F5FF"/>
                    </a:solidFill>
                  </a:tcPr>
                </a:tc>
                <a:tc>
                  <a:txBody>
                    <a:bodyPr wrap="square"/>
                    <a:lstStyle/>
                    <a:p>
                      <a:r>
                        <a:rPr sz="1100" b="0">
                          <a:solidFill>
                            <a:srgbClr val="4B4B4B"/>
                          </a:solidFill>
                          <a:latin typeface="Arial"/>
                        </a:rPr>
                        <a:t>AO fills the RRF</a:t>
                      </a:r>
                    </a:p>
                  </a:txBody>
                  <a:tcPr marL="64008" marR="64008" marT="27432" marB="27432" anchor="ctr">
                    <a:solidFill>
                      <a:srgbClr val="E5F5FF"/>
                    </a:solidFill>
                  </a:tcPr>
                </a:tc>
                <a:tc>
                  <a:txBody>
                    <a:bodyPr wrap="square"/>
                    <a:lstStyle/>
                    <a:p>
                      <a:r>
                        <a:rPr sz="1100" b="0">
                          <a:solidFill>
                            <a:srgbClr val="4B4B4B"/>
                          </a:solidFill>
                          <a:latin typeface="Arial"/>
                        </a:rPr>
                        <a:t>MAD review, MAD TL, Marketing UH</a:t>
                      </a:r>
                    </a:p>
                  </a:txBody>
                  <a:tcPr marL="64008" marR="64008" marT="27432" marB="27432" anchor="ctr">
                    <a:solidFill>
                      <a:srgbClr val="E5F5FF"/>
                    </a:solidFill>
                  </a:tcPr>
                </a:tc>
                <a:tc>
                  <a:txBody>
                    <a:bodyPr wrap="square"/>
                    <a:lstStyle/>
                    <a:p>
                      <a:r>
                        <a:rPr sz="1100" b="0">
                          <a:solidFill>
                            <a:srgbClr val="4B4B4B"/>
                          </a:solidFill>
                          <a:latin typeface="Arial"/>
                        </a:rPr>
                        <a:t>Marketing Admin</a:t>
                      </a:r>
                    </a:p>
                  </a:txBody>
                  <a:tcPr marL="64008" marR="64008" marT="27432" marB="27432" anchor="ctr">
                    <a:solidFill>
                      <a:srgbClr val="E5F5FF"/>
                    </a:solidFill>
                  </a:tcPr>
                </a:tc>
                <a:tc>
                  <a:txBody>
                    <a:bodyPr wrap="square"/>
                    <a:lstStyle/>
                    <a:p>
                      <a:r>
                        <a:rPr sz="1100" b="0">
                          <a:solidFill>
                            <a:srgbClr val="4B4B4B"/>
                          </a:solidFill>
                          <a:latin typeface="Arial"/>
                        </a:rPr>
                        <a:t>MAD TL to Disbursement</a:t>
                      </a:r>
                    </a:p>
                  </a:txBody>
                  <a:tcPr marL="64008" marR="64008" marT="27432" marB="27432" anchor="ctr">
                    <a:solidFill>
                      <a:srgbClr val="E5F5FF"/>
                    </a:solidFill>
                  </a:tcPr>
                </a:tc>
              </a:tr>
              <a:tr h="731520">
                <a:tc>
                  <a:txBody>
                    <a:bodyPr wrap="square"/>
                    <a:lstStyle/>
                    <a:p>
                      <a:r>
                        <a:rPr sz="1100" b="1">
                          <a:solidFill>
                            <a:srgbClr val="4B4B4B"/>
                          </a:solidFill>
                          <a:latin typeface="Arial"/>
                        </a:rPr>
                        <a:t>Refund: CBG Motor</a:t>
                      </a:r>
                    </a:p>
                  </a:txBody>
                  <a:tcPr marL="64008" marR="64008" marT="27432" marB="27432" anchor="ctr">
                    <a:solidFill>
                      <a:srgbClr val="FFFFFF"/>
                    </a:solidFill>
                  </a:tcPr>
                </a:tc>
                <a:tc>
                  <a:txBody>
                    <a:bodyPr wrap="square"/>
                    <a:lstStyle/>
                    <a:p>
                      <a:r>
                        <a:rPr sz="1100" b="0">
                          <a:solidFill>
                            <a:srgbClr val="4B4B4B"/>
                          </a:solidFill>
                          <a:latin typeface="Arial"/>
                        </a:rPr>
                        <a:t>AO instructs the UPP AO; bank confirms account name</a:t>
                      </a:r>
                    </a:p>
                  </a:txBody>
                  <a:tcPr marL="64008" marR="64008" marT="27432" marB="27432" anchor="ctr">
                    <a:solidFill>
                      <a:srgbClr val="FFFFFF"/>
                    </a:solidFill>
                  </a:tcPr>
                </a:tc>
                <a:tc>
                  <a:txBody>
                    <a:bodyPr wrap="square"/>
                    <a:lstStyle/>
                    <a:p>
                      <a:r>
                        <a:rPr sz="1100" b="0">
                          <a:solidFill>
                            <a:srgbClr val="4B4B4B"/>
                          </a:solidFill>
                          <a:latin typeface="Arial"/>
                        </a:rPr>
                        <a:t>Approver 1, Approver 2, UH</a:t>
                      </a:r>
                    </a:p>
                  </a:txBody>
                  <a:tcPr marL="64008" marR="64008" marT="27432" marB="27432" anchor="ctr">
                    <a:solidFill>
                      <a:srgbClr val="FFFFFF"/>
                    </a:solidFill>
                  </a:tcPr>
                </a:tc>
                <a:tc>
                  <a:txBody>
                    <a:bodyPr wrap="square"/>
                    <a:lstStyle/>
                    <a:p>
                      <a:r>
                        <a:rPr sz="1100" b="0">
                          <a:solidFill>
                            <a:srgbClr val="4B4B4B"/>
                          </a:solidFill>
                          <a:latin typeface="Arial"/>
                        </a:rPr>
                        <a:t>Approver 2 keys in EBIX</a:t>
                      </a:r>
                    </a:p>
                  </a:txBody>
                  <a:tcPr marL="64008" marR="64008" marT="27432" marB="27432" anchor="ctr">
                    <a:solidFill>
                      <a:srgbClr val="FFFFFF"/>
                    </a:solidFill>
                  </a:tcPr>
                </a:tc>
                <a:tc>
                  <a:txBody>
                    <a:bodyPr wrap="square"/>
                    <a:lstStyle/>
                    <a:p>
                      <a:r>
                        <a:rPr sz="1100" b="0">
                          <a:solidFill>
                            <a:srgbClr val="4B4B4B"/>
                          </a:solidFill>
                          <a:latin typeface="Arial"/>
                        </a:rPr>
                        <a:t>UPP AO to Disbursement</a:t>
                      </a:r>
                    </a:p>
                  </a:txBody>
                  <a:tcPr marL="64008" marR="64008" marT="27432" marB="27432" anchor="ctr">
                    <a:solidFill>
                      <a:srgbClr val="FFFFFF"/>
                    </a:solidFill>
                  </a:tcPr>
                </a:tc>
              </a:tr>
              <a:tr h="731520">
                <a:tc>
                  <a:txBody>
                    <a:bodyPr wrap="square"/>
                    <a:lstStyle/>
                    <a:p>
                      <a:r>
                        <a:rPr sz="1100" b="1">
                          <a:solidFill>
                            <a:srgbClr val="4B4B4B"/>
                          </a:solidFill>
                          <a:latin typeface="Arial"/>
                        </a:rPr>
                        <a:t>Refund: CBG Fire</a:t>
                      </a:r>
                    </a:p>
                  </a:txBody>
                  <a:tcPr marL="64008" marR="64008" marT="27432" marB="27432" anchor="ctr">
                    <a:solidFill>
                      <a:srgbClr val="E5F5FF"/>
                    </a:solidFill>
                  </a:tcPr>
                </a:tc>
                <a:tc>
                  <a:txBody>
                    <a:bodyPr wrap="square"/>
                    <a:lstStyle/>
                    <a:p>
                      <a:r>
                        <a:rPr sz="1100" b="0">
                          <a:solidFill>
                            <a:srgbClr val="4B4B4B"/>
                          </a:solidFill>
                          <a:latin typeface="Arial"/>
                        </a:rPr>
                        <a:t>AO instructs Marketing Support</a:t>
                      </a:r>
                    </a:p>
                  </a:txBody>
                  <a:tcPr marL="64008" marR="64008" marT="27432" marB="27432" anchor="ctr">
                    <a:solidFill>
                      <a:srgbClr val="E5F5FF"/>
                    </a:solidFill>
                  </a:tcPr>
                </a:tc>
                <a:tc>
                  <a:txBody>
                    <a:bodyPr wrap="square"/>
                    <a:lstStyle/>
                    <a:p>
                      <a:r>
                        <a:rPr sz="1100" b="0">
                          <a:solidFill>
                            <a:srgbClr val="4B4B4B"/>
                          </a:solidFill>
                          <a:latin typeface="Arial"/>
                        </a:rPr>
                        <a:t>MS TL, UH</a:t>
                      </a:r>
                    </a:p>
                  </a:txBody>
                  <a:tcPr marL="64008" marR="64008" marT="27432" marB="27432" anchor="ctr">
                    <a:solidFill>
                      <a:srgbClr val="E5F5FF"/>
                    </a:solidFill>
                  </a:tcPr>
                </a:tc>
                <a:tc>
                  <a:txBody>
                    <a:bodyPr wrap="square"/>
                    <a:lstStyle/>
                    <a:p>
                      <a:r>
                        <a:rPr sz="1100" b="0">
                          <a:solidFill>
                            <a:srgbClr val="4B4B4B"/>
                          </a:solidFill>
                          <a:latin typeface="Arial"/>
                        </a:rPr>
                        <a:t>MS TL keys CA / SA</a:t>
                      </a:r>
                    </a:p>
                  </a:txBody>
                  <a:tcPr marL="64008" marR="64008" marT="27432" marB="27432" anchor="ctr">
                    <a:solidFill>
                      <a:srgbClr val="E5F5FF"/>
                    </a:solidFill>
                  </a:tcPr>
                </a:tc>
                <a:tc>
                  <a:txBody>
                    <a:bodyPr wrap="square"/>
                    <a:lstStyle/>
                    <a:p>
                      <a:r>
                        <a:rPr sz="1100" b="0">
                          <a:solidFill>
                            <a:srgbClr val="4B4B4B"/>
                          </a:solidFill>
                          <a:latin typeface="Arial"/>
                        </a:rPr>
                        <a:t>Paper and scanned copy</a:t>
                      </a:r>
                    </a:p>
                  </a:txBody>
                  <a:tcPr marL="64008" marR="64008" marT="27432" marB="27432" anchor="ctr">
                    <a:solidFill>
                      <a:srgbClr val="E5F5FF"/>
                    </a:solidFill>
                  </a:tcPr>
                </a:tc>
              </a:tr>
              <a:tr h="731520">
                <a:tc>
                  <a:txBody>
                    <a:bodyPr wrap="square"/>
                    <a:lstStyle/>
                    <a:p>
                      <a:r>
                        <a:rPr sz="1100" b="1">
                          <a:solidFill>
                            <a:srgbClr val="4B4B4B"/>
                          </a:solidFill>
                          <a:latin typeface="Arial"/>
                        </a:rPr>
                        <a:t>Refund: Non-CBG Branches</a:t>
                      </a:r>
                    </a:p>
                  </a:txBody>
                  <a:tcPr marL="64008" marR="64008" marT="27432" marB="27432" anchor="ctr">
                    <a:solidFill>
                      <a:srgbClr val="FFFFFF"/>
                    </a:solidFill>
                  </a:tcPr>
                </a:tc>
                <a:tc>
                  <a:txBody>
                    <a:bodyPr wrap="square"/>
                    <a:lstStyle/>
                    <a:p>
                      <a:r>
                        <a:rPr sz="1100" b="0">
                          <a:solidFill>
                            <a:srgbClr val="4B4B4B"/>
                          </a:solidFill>
                          <a:latin typeface="Arial"/>
                        </a:rPr>
                        <a:t>AO fills the RRF</a:t>
                      </a:r>
                    </a:p>
                  </a:txBody>
                  <a:tcPr marL="64008" marR="64008" marT="27432" marB="27432" anchor="ctr">
                    <a:solidFill>
                      <a:srgbClr val="FFFFFF"/>
                    </a:solidFill>
                  </a:tcPr>
                </a:tc>
                <a:tc>
                  <a:txBody>
                    <a:bodyPr wrap="square"/>
                    <a:lstStyle/>
                    <a:p>
                      <a:r>
                        <a:rPr sz="1100" b="0">
                          <a:solidFill>
                            <a:srgbClr val="4B4B4B"/>
                          </a:solidFill>
                          <a:latin typeface="Arial"/>
                        </a:rPr>
                        <a:t>MTL, UH, then Collections TL and UH</a:t>
                      </a:r>
                    </a:p>
                  </a:txBody>
                  <a:tcPr marL="64008" marR="64008" marT="27432" marB="27432" anchor="ctr">
                    <a:solidFill>
                      <a:srgbClr val="FFFFFF"/>
                    </a:solidFill>
                  </a:tcPr>
                </a:tc>
                <a:tc>
                  <a:txBody>
                    <a:bodyPr wrap="square"/>
                    <a:lstStyle/>
                    <a:p>
                      <a:r>
                        <a:rPr sz="1100" b="0">
                          <a:solidFill>
                            <a:srgbClr val="4B4B4B"/>
                          </a:solidFill>
                          <a:latin typeface="Arial"/>
                        </a:rPr>
                        <a:t>Collections Processor</a:t>
                      </a:r>
                    </a:p>
                  </a:txBody>
                  <a:tcPr marL="64008" marR="64008" marT="27432" marB="27432" anchor="ctr">
                    <a:solidFill>
                      <a:srgbClr val="FFFFFF"/>
                    </a:solidFill>
                  </a:tcPr>
                </a:tc>
                <a:tc>
                  <a:txBody>
                    <a:bodyPr wrap="square"/>
                    <a:lstStyle/>
                    <a:p>
                      <a:r>
                        <a:rPr sz="1100" b="0">
                          <a:solidFill>
                            <a:srgbClr val="4B4B4B"/>
                          </a:solidFill>
                          <a:latin typeface="Arial"/>
                        </a:rPr>
                        <a:t>CP to Disbursement</a:t>
                      </a:r>
                    </a:p>
                  </a:txBody>
                  <a:tcPr marL="64008" marR="64008" marT="27432" marB="27432" anchor="ctr">
                    <a:solidFill>
                      <a:srgbClr val="FFFFFF"/>
                    </a:solidFill>
                  </a:tcPr>
                </a:tc>
              </a:tr>
            </a:tbl>
          </a:graphicData>
        </a:graphic>
      </p:graphicFrame>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8. Comptrollership: refund chains and payment routes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graphicFrame>
        <p:nvGraphicFramePr>
          <p:cNvPr id="9" name="Table 8"/>
          <p:cNvGraphicFramePr>
            <a:graphicFrameLocks noGrp="1"/>
          </p:cNvGraphicFramePr>
          <p:nvPr/>
        </p:nvGraphicFramePr>
        <p:xfrm>
          <a:off x="548640" y="1280160"/>
          <a:ext cx="11094413" cy="3291840"/>
        </p:xfrm>
        <a:graphic>
          <a:graphicData uri="http://schemas.openxmlformats.org/drawingml/2006/table">
            <a:tbl>
              <a:tblPr firstRow="1" bandRow="1">
                <a:tableStyleId>{5C22544A-7EE6-4342-B048-85BDC9FD1C3A}</a:tableStyleId>
              </a:tblPr>
              <a:tblGrid>
                <a:gridCol w="1921867"/>
                <a:gridCol w="2446012"/>
                <a:gridCol w="2970158"/>
                <a:gridCol w="1834509"/>
                <a:gridCol w="1921867"/>
              </a:tblGrid>
              <a:tr h="365760">
                <a:tc>
                  <a:txBody>
                    <a:bodyPr wrap="square"/>
                    <a:lstStyle/>
                    <a:p>
                      <a:r>
                        <a:rPr sz="1100" b="1">
                          <a:solidFill>
                            <a:srgbClr val="FFFFFF"/>
                          </a:solidFill>
                          <a:latin typeface="Arial"/>
                        </a:rPr>
                        <a:t>Route or segment</a:t>
                      </a:r>
                    </a:p>
                  </a:txBody>
                  <a:tcPr marL="64008" marR="64008" marT="27432" marB="27432" anchor="ctr">
                    <a:solidFill>
                      <a:srgbClr val="004EA8"/>
                    </a:solidFill>
                  </a:tcPr>
                </a:tc>
                <a:tc>
                  <a:txBody>
                    <a:bodyPr wrap="square"/>
                    <a:lstStyle/>
                    <a:p>
                      <a:r>
                        <a:rPr sz="1100" b="1">
                          <a:solidFill>
                            <a:srgbClr val="FFFFFF"/>
                          </a:solidFill>
                          <a:latin typeface="Arial"/>
                        </a:rPr>
                        <a:t>Starts with</a:t>
                      </a:r>
                    </a:p>
                  </a:txBody>
                  <a:tcPr marL="64008" marR="64008" marT="27432" marB="27432" anchor="ctr">
                    <a:solidFill>
                      <a:srgbClr val="004EA8"/>
                    </a:solidFill>
                  </a:tcPr>
                </a:tc>
                <a:tc>
                  <a:txBody>
                    <a:bodyPr wrap="square"/>
                    <a:lstStyle/>
                    <a:p>
                      <a:r>
                        <a:rPr sz="1100" b="1">
                          <a:solidFill>
                            <a:srgbClr val="FFFFFF"/>
                          </a:solidFill>
                          <a:latin typeface="Arial"/>
                        </a:rPr>
                        <a:t>Approvals today</a:t>
                      </a:r>
                    </a:p>
                  </a:txBody>
                  <a:tcPr marL="64008" marR="64008" marT="27432" marB="27432" anchor="ctr">
                    <a:solidFill>
                      <a:srgbClr val="004EA8"/>
                    </a:solidFill>
                  </a:tcPr>
                </a:tc>
                <a:tc>
                  <a:txBody>
                    <a:bodyPr wrap="square"/>
                    <a:lstStyle/>
                    <a:p>
                      <a:r>
                        <a:rPr sz="1100" b="1">
                          <a:solidFill>
                            <a:srgbClr val="FFFFFF"/>
                          </a:solidFill>
                          <a:latin typeface="Arial"/>
                        </a:rPr>
                        <a:t>Keyed or executed by</a:t>
                      </a:r>
                    </a:p>
                  </a:txBody>
                  <a:tcPr marL="64008" marR="64008" marT="27432" marB="27432" anchor="ctr">
                    <a:solidFill>
                      <a:srgbClr val="004EA8"/>
                    </a:solidFill>
                  </a:tcPr>
                </a:tc>
                <a:tc>
                  <a:txBody>
                    <a:bodyPr wrap="square"/>
                    <a:lstStyle/>
                    <a:p>
                      <a:r>
                        <a:rPr sz="1100" b="1">
                          <a:solidFill>
                            <a:srgbClr val="FFFFFF"/>
                          </a:solidFill>
                          <a:latin typeface="Arial"/>
                        </a:rPr>
                        <a:t>Hand-off</a:t>
                      </a:r>
                    </a:p>
                  </a:txBody>
                  <a:tcPr marL="64008" marR="64008" marT="27432" marB="27432" anchor="ctr">
                    <a:solidFill>
                      <a:srgbClr val="004EA8"/>
                    </a:solidFill>
                  </a:tcPr>
                </a:tc>
              </a:tr>
              <a:tr h="731520">
                <a:tc>
                  <a:txBody>
                    <a:bodyPr wrap="square"/>
                    <a:lstStyle/>
                    <a:p>
                      <a:r>
                        <a:rPr sz="1100" b="1">
                          <a:solidFill>
                            <a:srgbClr val="4B4B4B"/>
                          </a:solidFill>
                          <a:latin typeface="Arial"/>
                        </a:rPr>
                        <a:t>Pay: in the system</a:t>
                      </a:r>
                    </a:p>
                  </a:txBody>
                  <a:tcPr marL="64008" marR="64008" marT="27432" marB="27432" anchor="ctr">
                    <a:solidFill>
                      <a:srgbClr val="FFFFFF"/>
                    </a:solidFill>
                  </a:tcPr>
                </a:tc>
                <a:tc>
                  <a:txBody>
                    <a:bodyPr wrap="square"/>
                    <a:lstStyle/>
                    <a:p>
                      <a:r>
                        <a:rPr sz="1100" b="0">
                          <a:solidFill>
                            <a:srgbClr val="4B4B4B"/>
                          </a:solidFill>
                          <a:latin typeface="Arial"/>
                        </a:rPr>
                        <a:t>EBIX flow-in (remittance, refunds)</a:t>
                      </a:r>
                    </a:p>
                  </a:txBody>
                  <a:tcPr marL="64008" marR="64008" marT="27432" marB="27432" anchor="ctr">
                    <a:solidFill>
                      <a:srgbClr val="FFFFFF"/>
                    </a:solidFill>
                  </a:tcPr>
                </a:tc>
                <a:tc>
                  <a:txBody>
                    <a:bodyPr wrap="square"/>
                    <a:lstStyle/>
                    <a:p>
                      <a:r>
                        <a:rPr sz="1100" b="0">
                          <a:solidFill>
                            <a:srgbClr val="4B4B4B"/>
                          </a:solidFill>
                          <a:latin typeface="Arial"/>
                        </a:rPr>
                        <a:t>DSH approves and posts; DTL runs end of day</a:t>
                      </a:r>
                    </a:p>
                  </a:txBody>
                  <a:tcPr marL="64008" marR="64008" marT="27432" marB="27432" anchor="ctr">
                    <a:solidFill>
                      <a:srgbClr val="FFFFFF"/>
                    </a:solidFill>
                  </a:tcPr>
                </a:tc>
                <a:tc>
                  <a:txBody>
                    <a:bodyPr wrap="square"/>
                    <a:lstStyle/>
                    <a:p>
                      <a:r>
                        <a:rPr sz="1100" b="0">
                          <a:solidFill>
                            <a:srgbClr val="4B4B4B"/>
                          </a:solidFill>
                          <a:latin typeface="Arial"/>
                        </a:rPr>
                        <a:t>IT batch EBIX to QPS; WinSCP to TPD</a:t>
                      </a:r>
                    </a:p>
                  </a:txBody>
                  <a:tcPr marL="64008" marR="64008" marT="27432" marB="27432" anchor="ctr">
                    <a:solidFill>
                      <a:srgbClr val="FFFFFF"/>
                    </a:solidFill>
                  </a:tcPr>
                </a:tc>
                <a:tc>
                  <a:txBody>
                    <a:bodyPr wrap="square"/>
                    <a:lstStyle/>
                    <a:p>
                      <a:r>
                        <a:rPr sz="1100" b="0">
                          <a:solidFill>
                            <a:srgbClr val="4B4B4B"/>
                          </a:solidFill>
                          <a:latin typeface="Arial"/>
                        </a:rPr>
                        <a:t>TPD returns processed list</a:t>
                      </a:r>
                    </a:p>
                  </a:txBody>
                  <a:tcPr marL="64008" marR="64008" marT="27432" marB="27432" anchor="ctr">
                    <a:solidFill>
                      <a:srgbClr val="FFFFFF"/>
                    </a:solidFill>
                  </a:tcPr>
                </a:tc>
              </a:tr>
              <a:tr h="731520">
                <a:tc>
                  <a:txBody>
                    <a:bodyPr wrap="square"/>
                    <a:lstStyle/>
                    <a:p>
                      <a:r>
                        <a:rPr sz="1100" b="1">
                          <a:solidFill>
                            <a:srgbClr val="4B4B4B"/>
                          </a:solidFill>
                          <a:latin typeface="Arial"/>
                        </a:rPr>
                        <a:t>Pay: online banking</a:t>
                      </a:r>
                    </a:p>
                  </a:txBody>
                  <a:tcPr marL="64008" marR="64008" marT="27432" marB="27432" anchor="ctr">
                    <a:solidFill>
                      <a:srgbClr val="E5F5FF"/>
                    </a:solidFill>
                  </a:tcPr>
                </a:tc>
                <a:tc>
                  <a:txBody>
                    <a:bodyPr wrap="square"/>
                    <a:lstStyle/>
                    <a:p>
                      <a:r>
                        <a:rPr sz="1100" b="0">
                          <a:solidFill>
                            <a:srgbClr val="4B4B4B"/>
                          </a:solidFill>
                          <a:latin typeface="Arial"/>
                        </a:rPr>
                        <a:t>Hard-copy request</a:t>
                      </a:r>
                    </a:p>
                  </a:txBody>
                  <a:tcPr marL="64008" marR="64008" marT="27432" marB="27432" anchor="ctr">
                    <a:solidFill>
                      <a:srgbClr val="E5F5FF"/>
                    </a:solidFill>
                  </a:tcPr>
                </a:tc>
                <a:tc>
                  <a:txBody>
                    <a:bodyPr wrap="square"/>
                    <a:lstStyle/>
                    <a:p>
                      <a:r>
                        <a:rPr sz="1100" b="0">
                          <a:solidFill>
                            <a:srgbClr val="4B4B4B"/>
                          </a:solidFill>
                          <a:latin typeface="Arial"/>
                        </a:rPr>
                        <a:t>DTL, second DTL verifier, DSH, DUH; two online authorisations</a:t>
                      </a:r>
                    </a:p>
                  </a:txBody>
                  <a:tcPr marL="64008" marR="64008" marT="27432" marB="27432" anchor="ctr">
                    <a:solidFill>
                      <a:srgbClr val="E5F5FF"/>
                    </a:solidFill>
                  </a:tcPr>
                </a:tc>
                <a:tc>
                  <a:txBody>
                    <a:bodyPr wrap="square"/>
                    <a:lstStyle/>
                    <a:p>
                      <a:r>
                        <a:rPr sz="1100" b="0">
                          <a:solidFill>
                            <a:srgbClr val="4B4B4B"/>
                          </a:solidFill>
                          <a:latin typeface="Arial"/>
                        </a:rPr>
                        <a:t>DTL in online banking</a:t>
                      </a:r>
                    </a:p>
                  </a:txBody>
                  <a:tcPr marL="64008" marR="64008" marT="27432" marB="27432" anchor="ctr">
                    <a:solidFill>
                      <a:srgbClr val="E5F5FF"/>
                    </a:solidFill>
                  </a:tcPr>
                </a:tc>
                <a:tc>
                  <a:txBody>
                    <a:bodyPr wrap="square"/>
                    <a:lstStyle/>
                    <a:p>
                      <a:r>
                        <a:rPr sz="1100" b="0">
                          <a:solidFill>
                            <a:srgbClr val="4B4B4B"/>
                          </a:solidFill>
                          <a:latin typeface="Arial"/>
                        </a:rPr>
                        <a:t>Signed documents to FRBS</a:t>
                      </a:r>
                    </a:p>
                  </a:txBody>
                  <a:tcPr marL="64008" marR="64008" marT="27432" marB="27432" anchor="ctr">
                    <a:solidFill>
                      <a:srgbClr val="E5F5FF"/>
                    </a:solidFill>
                  </a:tcPr>
                </a:tc>
              </a:tr>
              <a:tr h="731520">
                <a:tc>
                  <a:txBody>
                    <a:bodyPr wrap="square"/>
                    <a:lstStyle/>
                    <a:p>
                      <a:r>
                        <a:rPr sz="1100" b="1">
                          <a:solidFill>
                            <a:srgbClr val="4B4B4B"/>
                          </a:solidFill>
                          <a:latin typeface="Arial"/>
                        </a:rPr>
                        <a:t>Pay: outside the system</a:t>
                      </a:r>
                    </a:p>
                  </a:txBody>
                  <a:tcPr marL="64008" marR="64008" marT="27432" marB="27432" anchor="ctr">
                    <a:solidFill>
                      <a:srgbClr val="FFFFFF"/>
                    </a:solidFill>
                  </a:tcPr>
                </a:tc>
                <a:tc>
                  <a:txBody>
                    <a:bodyPr wrap="square"/>
                    <a:lstStyle/>
                    <a:p>
                      <a:r>
                        <a:rPr sz="1100" b="0">
                          <a:solidFill>
                            <a:srgbClr val="4B4B4B"/>
                          </a:solidFill>
                          <a:latin typeface="Arial"/>
                        </a:rPr>
                        <a:t>Hard-copy request</a:t>
                      </a:r>
                    </a:p>
                  </a:txBody>
                  <a:tcPr marL="64008" marR="64008" marT="27432" marB="27432" anchor="ctr">
                    <a:solidFill>
                      <a:srgbClr val="FFFFFF"/>
                    </a:solidFill>
                  </a:tcPr>
                </a:tc>
                <a:tc>
                  <a:txBody>
                    <a:bodyPr wrap="square"/>
                    <a:lstStyle/>
                    <a:p>
                      <a:r>
                        <a:rPr sz="1100" b="0">
                          <a:solidFill>
                            <a:srgbClr val="4B4B4B"/>
                          </a:solidFill>
                          <a:latin typeface="Arial"/>
                        </a:rPr>
                        <a:t>DTL, DSH, DUH</a:t>
                      </a:r>
                    </a:p>
                  </a:txBody>
                  <a:tcPr marL="64008" marR="64008" marT="27432" marB="27432" anchor="ctr">
                    <a:solidFill>
                      <a:srgbClr val="FFFFFF"/>
                    </a:solidFill>
                  </a:tcPr>
                </a:tc>
                <a:tc>
                  <a:txBody>
                    <a:bodyPr wrap="square"/>
                    <a:lstStyle/>
                    <a:p>
                      <a:r>
                        <a:rPr sz="1100" b="0">
                          <a:solidFill>
                            <a:srgbClr val="4B4B4B"/>
                          </a:solidFill>
                          <a:latin typeface="Arial"/>
                        </a:rPr>
                        <a:t>DPO: CT, ATD, MC, DD, TT forms at a BDO branch</a:t>
                      </a:r>
                    </a:p>
                  </a:txBody>
                  <a:tcPr marL="64008" marR="64008" marT="27432" marB="27432" anchor="ctr">
                    <a:solidFill>
                      <a:srgbClr val="FFFFFF"/>
                    </a:solidFill>
                  </a:tcPr>
                </a:tc>
                <a:tc>
                  <a:txBody>
                    <a:bodyPr wrap="square"/>
                    <a:lstStyle/>
                    <a:p>
                      <a:r>
                        <a:rPr sz="1100" b="0">
                          <a:solidFill>
                            <a:srgbClr val="4B4B4B"/>
                          </a:solidFill>
                          <a:latin typeface="Arial"/>
                        </a:rPr>
                        <a:t>Bank confirmation e-mail</a:t>
                      </a:r>
                    </a:p>
                  </a:txBody>
                  <a:tcPr marL="64008" marR="64008" marT="27432" marB="27432" anchor="ctr">
                    <a:solidFill>
                      <a:srgbClr val="FFFFFF"/>
                    </a:solidFill>
                  </a:tcPr>
                </a:tc>
              </a:tr>
              <a:tr h="731520">
                <a:tc>
                  <a:txBody>
                    <a:bodyPr wrap="square"/>
                    <a:lstStyle/>
                    <a:p>
                      <a:r>
                        <a:rPr sz="1100" b="1">
                          <a:solidFill>
                            <a:srgbClr val="4B4B4B"/>
                          </a:solidFill>
                          <a:latin typeface="Arial"/>
                        </a:rPr>
                        <a:t>Pay: government</a:t>
                      </a:r>
                    </a:p>
                  </a:txBody>
                  <a:tcPr marL="64008" marR="64008" marT="27432" marB="27432" anchor="ctr">
                    <a:solidFill>
                      <a:srgbClr val="E5F5FF"/>
                    </a:solidFill>
                  </a:tcPr>
                </a:tc>
                <a:tc>
                  <a:txBody>
                    <a:bodyPr wrap="square"/>
                    <a:lstStyle/>
                    <a:p>
                      <a:r>
                        <a:rPr sz="1100" b="0">
                          <a:solidFill>
                            <a:srgbClr val="4B4B4B"/>
                          </a:solidFill>
                          <a:latin typeface="Arial"/>
                        </a:rPr>
                        <a:t>Tax and contribution due dates</a:t>
                      </a:r>
                    </a:p>
                  </a:txBody>
                  <a:tcPr marL="64008" marR="64008" marT="27432" marB="27432" anchor="ctr">
                    <a:solidFill>
                      <a:srgbClr val="E5F5FF"/>
                    </a:solidFill>
                  </a:tcPr>
                </a:tc>
                <a:tc>
                  <a:txBody>
                    <a:bodyPr wrap="square"/>
                    <a:lstStyle/>
                    <a:p>
                      <a:r>
                        <a:rPr sz="1100" b="0">
                          <a:solidFill>
                            <a:srgbClr val="4B4B4B"/>
                          </a:solidFill>
                          <a:latin typeface="Arial"/>
                        </a:rPr>
                        <a:t>DTL maker, DSH, DUH</a:t>
                      </a:r>
                    </a:p>
                  </a:txBody>
                  <a:tcPr marL="64008" marR="64008" marT="27432" marB="27432" anchor="ctr">
                    <a:solidFill>
                      <a:srgbClr val="E5F5FF"/>
                    </a:solidFill>
                  </a:tcPr>
                </a:tc>
                <a:tc>
                  <a:txBody>
                    <a:bodyPr wrap="square"/>
                    <a:lstStyle/>
                    <a:p>
                      <a:r>
                        <a:rPr sz="1100" b="0">
                          <a:solidFill>
                            <a:srgbClr val="4B4B4B"/>
                          </a:solidFill>
                          <a:latin typeface="Arial"/>
                        </a:rPr>
                        <a:t>FRBS SH in EFPS; BancNet for SSS, Pag-IBIG, PhilHealth</a:t>
                      </a:r>
                    </a:p>
                  </a:txBody>
                  <a:tcPr marL="64008" marR="64008" marT="27432" marB="27432" anchor="ctr">
                    <a:solidFill>
                      <a:srgbClr val="E5F5FF"/>
                    </a:solidFill>
                  </a:tcPr>
                </a:tc>
                <a:tc>
                  <a:txBody>
                    <a:bodyPr wrap="square"/>
                    <a:lstStyle/>
                    <a:p>
                      <a:r>
                        <a:rPr sz="1100" b="0">
                          <a:solidFill>
                            <a:srgbClr val="4B4B4B"/>
                          </a:solidFill>
                          <a:latin typeface="Arial"/>
                        </a:rPr>
                        <a:t>24-hour posting; website check</a:t>
                      </a:r>
                    </a:p>
                  </a:txBody>
                  <a:tcPr marL="64008" marR="64008" marT="27432" marB="27432" anchor="ctr">
                    <a:solidFill>
                      <a:srgbClr val="E5F5FF"/>
                    </a:solidFill>
                  </a:tcPr>
                </a:tc>
              </a:tr>
            </a:tbl>
          </a:graphicData>
        </a:graphic>
      </p:graphicFrame>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Refunds on paper, five chains</a:t>
            </a:r>
          </a:p>
          <a:p>
            <a:pPr>
              <a:spcAft>
                <a:spcPts val="100"/>
              </a:spcAft>
            </a:pPr>
            <a:r>
              <a:rPr sz="1200" b="0">
                <a:solidFill>
                  <a:srgbClr val="4B4B4B"/>
                </a:solidFill>
                <a:latin typeface="Arial"/>
              </a:rPr>
              <a:t>RRF signed by 4-6 people; Excel template; CA / SA re-keyed in EBIX.</a:t>
            </a:r>
          </a:p>
          <a:p>
            <a:pPr>
              <a:spcAft>
                <a:spcPts val="100"/>
              </a:spcAft>
            </a:pPr>
            <a:r>
              <a:rPr sz="1200" b="0">
                <a:solidFill>
                  <a:srgbClr val="0072D8"/>
                </a:solidFill>
                <a:latin typeface="Arial"/>
              </a:rPr>
              <a:t>Refund Request flow</a:t>
            </a:r>
          </a:p>
        </p:txBody>
      </p:sp>
      <p:sp>
        <p:nvSpPr>
          <p:cNvPr id="11" name="Oval 10"/>
          <p:cNvSpPr/>
          <p:nvPr/>
        </p:nvSpPr>
        <p:spPr>
          <a:xfrm>
            <a:off x="548640"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Requests by e-mail and paper</a:t>
            </a:r>
          </a:p>
          <a:p>
            <a:pPr>
              <a:spcAft>
                <a:spcPts val="100"/>
              </a:spcAft>
            </a:pPr>
            <a:r>
              <a:rPr sz="1200" b="0">
                <a:solidFill>
                  <a:srgbClr val="4B4B4B"/>
                </a:solidFill>
                <a:latin typeface="Arial"/>
              </a:rPr>
              <a:t>Disbursement receives EBIX flow-in, e-mails and hard copies.</a:t>
            </a:r>
          </a:p>
          <a:p>
            <a:pPr>
              <a:spcAft>
                <a:spcPts val="100"/>
              </a:spcAft>
            </a:pPr>
            <a:r>
              <a:rPr sz="1200" b="0">
                <a:solidFill>
                  <a:srgbClr val="0072D8"/>
                </a:solidFill>
                <a:latin typeface="Arial"/>
              </a:rPr>
              <a:t>Disbursement flow; Day 1 p.27</a:t>
            </a:r>
          </a:p>
        </p:txBody>
      </p:sp>
      <p:sp>
        <p:nvSpPr>
          <p:cNvPr id="13" name="Oval 12"/>
          <p:cNvSpPr/>
          <p:nvPr/>
        </p:nvSpPr>
        <p:spPr>
          <a:xfrm>
            <a:off x="548640"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Payees kept in three places</a:t>
            </a:r>
          </a:p>
          <a:p>
            <a:pPr>
              <a:spcAft>
                <a:spcPts val="100"/>
              </a:spcAft>
            </a:pPr>
            <a:r>
              <a:rPr sz="1200" b="0">
                <a:solidFill>
                  <a:srgbClr val="4B4B4B"/>
                </a:solidFill>
                <a:latin typeface="Arial"/>
              </a:rPr>
              <a:t>MBS (insurers), UPP handler (clients), DTL (sundry) keep payee details.</a:t>
            </a:r>
          </a:p>
          <a:p>
            <a:pPr>
              <a:spcAft>
                <a:spcPts val="100"/>
              </a:spcAft>
            </a:pPr>
            <a:r>
              <a:rPr sz="1200" b="0">
                <a:solidFill>
                  <a:srgbClr val="0072D8"/>
                </a:solidFill>
                <a:latin typeface="Arial"/>
              </a:rPr>
              <a:t>Disbursement flow</a:t>
            </a:r>
          </a:p>
        </p:txBody>
      </p:sp>
      <p:sp>
        <p:nvSpPr>
          <p:cNvPr id="15" name="Oval 14"/>
          <p:cNvSpPr/>
          <p:nvPr/>
        </p:nvSpPr>
        <p:spPr>
          <a:xfrm>
            <a:off x="548640"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Three levels of wet signature</a:t>
            </a:r>
          </a:p>
          <a:p>
            <a:pPr>
              <a:spcAft>
                <a:spcPts val="100"/>
              </a:spcAft>
            </a:pPr>
            <a:r>
              <a:rPr sz="1200" b="0">
                <a:solidFill>
                  <a:srgbClr val="4B4B4B"/>
                </a:solidFill>
                <a:latin typeface="Arial"/>
              </a:rPr>
              <a:t>DTL, DSH and DUH sign; online banking adds a second DTL.</a:t>
            </a:r>
          </a:p>
          <a:p>
            <a:pPr>
              <a:spcAft>
                <a:spcPts val="100"/>
              </a:spcAft>
            </a:pPr>
            <a:r>
              <a:rPr sz="1200" b="0">
                <a:solidFill>
                  <a:srgbClr val="0072D8"/>
                </a:solidFill>
                <a:latin typeface="Arial"/>
              </a:rPr>
              <a:t>DS-01; Disbursement flow</a:t>
            </a:r>
          </a:p>
        </p:txBody>
      </p:sp>
      <p:sp>
        <p:nvSpPr>
          <p:cNvPr id="17" name="Oval 16"/>
          <p:cNvSpPr/>
          <p:nvPr/>
        </p:nvSpPr>
        <p:spPr>
          <a:xfrm>
            <a:off x="548640"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1024128"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File chain through IT and QPS</a:t>
            </a:r>
          </a:p>
          <a:p>
            <a:pPr>
              <a:spcAft>
                <a:spcPts val="100"/>
              </a:spcAft>
            </a:pPr>
            <a:r>
              <a:rPr sz="1200" b="0">
                <a:solidFill>
                  <a:srgbClr val="4B4B4B"/>
                </a:solidFill>
                <a:latin typeface="Arial"/>
              </a:rPr>
              <a:t>EBIX to QPS batch, credit file by WinSCP to TPD, checks printed in QPS.</a:t>
            </a:r>
          </a:p>
          <a:p>
            <a:pPr>
              <a:spcAft>
                <a:spcPts val="100"/>
              </a:spcAft>
            </a:pPr>
            <a:r>
              <a:rPr sz="1200" b="0">
                <a:solidFill>
                  <a:srgbClr val="0072D8"/>
                </a:solidFill>
                <a:latin typeface="Arial"/>
              </a:rPr>
              <a:t>Disbursement flow; DS-04</a:t>
            </a:r>
          </a:p>
        </p:txBody>
      </p:sp>
      <p:sp>
        <p:nvSpPr>
          <p:cNvPr id="19" name="Oval 18"/>
          <p:cNvSpPr/>
          <p:nvPr/>
        </p:nvSpPr>
        <p:spPr>
          <a:xfrm>
            <a:off x="548640"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1024128"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Payment modes outside the system</a:t>
            </a:r>
          </a:p>
          <a:p>
            <a:pPr>
              <a:spcAft>
                <a:spcPts val="100"/>
              </a:spcAft>
            </a:pPr>
            <a:r>
              <a:rPr sz="1200" b="0">
                <a:solidFill>
                  <a:srgbClr val="4B4B4B"/>
                </a:solidFill>
                <a:latin typeface="Arial"/>
              </a:rPr>
              <a:t>Credit tickets, ATD, MC, DD and TT are bank forms at a branch.</a:t>
            </a:r>
          </a:p>
          <a:p>
            <a:pPr>
              <a:spcAft>
                <a:spcPts val="100"/>
              </a:spcAft>
            </a:pPr>
            <a:r>
              <a:rPr sz="1200" b="0">
                <a:solidFill>
                  <a:srgbClr val="0072D8"/>
                </a:solidFill>
                <a:latin typeface="Arial"/>
              </a:rPr>
              <a:t>DS-04; Disbursement flow</a:t>
            </a:r>
          </a:p>
        </p:txBody>
      </p:sp>
      <p:sp>
        <p:nvSpPr>
          <p:cNvPr id="21" name="Oval 20"/>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12801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GL entries by another unit</a:t>
            </a:r>
          </a:p>
          <a:p>
            <a:pPr>
              <a:spcAft>
                <a:spcPts val="100"/>
              </a:spcAft>
            </a:pPr>
            <a:r>
              <a:rPr sz="1200" b="0">
                <a:solidFill>
                  <a:srgbClr val="4B4B4B"/>
                </a:solidFill>
                <a:latin typeface="Arial"/>
              </a:rPr>
              <a:t>Signed documents go to FRBS, who enters the GL entry.</a:t>
            </a:r>
          </a:p>
          <a:p>
            <a:pPr>
              <a:spcAft>
                <a:spcPts val="100"/>
              </a:spcAft>
            </a:pPr>
            <a:r>
              <a:rPr sz="1200" b="0">
                <a:solidFill>
                  <a:srgbClr val="0072D8"/>
                </a:solidFill>
                <a:latin typeface="Arial"/>
              </a:rPr>
              <a:t>Disbursement flow</a:t>
            </a:r>
          </a:p>
        </p:txBody>
      </p:sp>
      <p:sp>
        <p:nvSpPr>
          <p:cNvPr id="23" name="Oval 22"/>
          <p:cNvSpPr/>
          <p:nvPr/>
        </p:nvSpPr>
        <p:spPr>
          <a:xfrm>
            <a:off x="6233007" y="213207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8</a:t>
            </a:r>
          </a:p>
        </p:txBody>
      </p:sp>
      <p:sp>
        <p:nvSpPr>
          <p:cNvPr id="24" name="TextBox 23"/>
          <p:cNvSpPr txBox="1"/>
          <p:nvPr/>
        </p:nvSpPr>
        <p:spPr>
          <a:xfrm>
            <a:off x="6708495" y="209550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Government payments by hand</a:t>
            </a:r>
          </a:p>
          <a:p>
            <a:pPr>
              <a:spcAft>
                <a:spcPts val="100"/>
              </a:spcAft>
            </a:pPr>
            <a:r>
              <a:rPr sz="1200" b="0">
                <a:solidFill>
                  <a:srgbClr val="4B4B4B"/>
                </a:solidFill>
                <a:latin typeface="Arial"/>
              </a:rPr>
              <a:t>EFPS filing and BancNet payments with a 24-hour posting; websites watched.</a:t>
            </a:r>
          </a:p>
          <a:p>
            <a:pPr>
              <a:spcAft>
                <a:spcPts val="100"/>
              </a:spcAft>
            </a:pPr>
            <a:r>
              <a:rPr sz="1200" b="0">
                <a:solidFill>
                  <a:srgbClr val="0072D8"/>
                </a:solidFill>
                <a:latin typeface="Arial"/>
              </a:rPr>
              <a:t>Disbursement flow (government)</a:t>
            </a:r>
          </a:p>
        </p:txBody>
      </p:sp>
      <p:sp>
        <p:nvSpPr>
          <p:cNvPr id="25" name="Oval 24"/>
          <p:cNvSpPr/>
          <p:nvPr/>
        </p:nvSpPr>
        <p:spPr>
          <a:xfrm>
            <a:off x="6233007" y="294741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9</a:t>
            </a:r>
          </a:p>
        </p:txBody>
      </p:sp>
      <p:sp>
        <p:nvSpPr>
          <p:cNvPr id="26" name="TextBox 25"/>
          <p:cNvSpPr txBox="1"/>
          <p:nvPr/>
        </p:nvSpPr>
        <p:spPr>
          <a:xfrm>
            <a:off x="6708495" y="291084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Reports prepared by IT</a:t>
            </a:r>
          </a:p>
          <a:p>
            <a:pPr>
              <a:spcAft>
                <a:spcPts val="100"/>
              </a:spcAft>
            </a:pPr>
            <a:r>
              <a:rPr sz="1200" b="0">
                <a:solidFill>
                  <a:srgbClr val="4B4B4B"/>
                </a:solidFill>
                <a:latin typeface="Arial"/>
              </a:rPr>
              <a:t>IT saves reports in a shared folder; business cannot run them.</a:t>
            </a:r>
          </a:p>
          <a:p>
            <a:pPr>
              <a:spcAft>
                <a:spcPts val="100"/>
              </a:spcAft>
            </a:pPr>
            <a:r>
              <a:rPr sz="1200" b="0">
                <a:solidFill>
                  <a:srgbClr val="0072D8"/>
                </a:solidFill>
                <a:latin typeface="Arial"/>
              </a:rPr>
              <a:t>FRBS flow; RP-01</a:t>
            </a:r>
          </a:p>
        </p:txBody>
      </p:sp>
      <p:sp>
        <p:nvSpPr>
          <p:cNvPr id="27" name="Oval 26"/>
          <p:cNvSpPr/>
          <p:nvPr/>
        </p:nvSpPr>
        <p:spPr>
          <a:xfrm>
            <a:off x="6233007" y="376275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10</a:t>
            </a:r>
          </a:p>
        </p:txBody>
      </p:sp>
      <p:sp>
        <p:nvSpPr>
          <p:cNvPr id="28" name="TextBox 27"/>
          <p:cNvSpPr txBox="1"/>
          <p:nvPr/>
        </p:nvSpPr>
        <p:spPr>
          <a:xfrm>
            <a:off x="6708495" y="372618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Reconciliation and journals by hand</a:t>
            </a:r>
          </a:p>
          <a:p>
            <a:pPr>
              <a:spcAft>
                <a:spcPts val="100"/>
              </a:spcAft>
            </a:pPr>
            <a:r>
              <a:rPr sz="1200" b="0">
                <a:solidFill>
                  <a:srgbClr val="4B4B4B"/>
                </a:solidFill>
                <a:latin typeface="Arial"/>
              </a:rPr>
              <a:t>Bank and insurer reconciliation and manual journals in Excel.</a:t>
            </a:r>
          </a:p>
          <a:p>
            <a:pPr>
              <a:spcAft>
                <a:spcPts val="100"/>
              </a:spcAft>
            </a:pPr>
            <a:r>
              <a:rPr sz="1200" b="0">
                <a:solidFill>
                  <a:srgbClr val="0072D8"/>
                </a:solidFill>
                <a:latin typeface="Arial"/>
              </a:rPr>
              <a:t>FRBS flow; RC-01</a:t>
            </a:r>
          </a:p>
        </p:txBody>
      </p:sp>
      <p:sp>
        <p:nvSpPr>
          <p:cNvPr id="29" name="Oval 28"/>
          <p:cNvSpPr/>
          <p:nvPr/>
        </p:nvSpPr>
        <p:spPr>
          <a:xfrm>
            <a:off x="6233007" y="457809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11</a:t>
            </a:r>
          </a:p>
        </p:txBody>
      </p:sp>
      <p:sp>
        <p:nvSpPr>
          <p:cNvPr id="30" name="TextBox 29"/>
          <p:cNvSpPr txBox="1"/>
          <p:nvPr/>
        </p:nvSpPr>
        <p:spPr>
          <a:xfrm>
            <a:off x="6708495" y="454152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IT needed to close</a:t>
            </a:r>
          </a:p>
          <a:p>
            <a:pPr>
              <a:spcAft>
                <a:spcPts val="100"/>
              </a:spcAft>
            </a:pPr>
            <a:r>
              <a:rPr sz="1200" b="0">
                <a:solidFill>
                  <a:srgbClr val="4B4B4B"/>
                </a:solidFill>
                <a:latin typeface="Arial"/>
              </a:rPr>
              <a:t>IT runs end-of-day, month and year and closes broking transactions.</a:t>
            </a:r>
          </a:p>
          <a:p>
            <a:pPr>
              <a:spcAft>
                <a:spcPts val="100"/>
              </a:spcAft>
            </a:pPr>
            <a:r>
              <a:rPr sz="1200" b="0">
                <a:solidFill>
                  <a:srgbClr val="0072D8"/>
                </a:solidFill>
                <a:latin typeface="Arial"/>
              </a:rPr>
              <a:t>FRBS flow</a:t>
            </a:r>
          </a:p>
        </p:txBody>
      </p:sp>
      <p:sp>
        <p:nvSpPr>
          <p:cNvPr id="31" name="Oval 30"/>
          <p:cNvSpPr/>
          <p:nvPr/>
        </p:nvSpPr>
        <p:spPr>
          <a:xfrm>
            <a:off x="6233007" y="53934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12</a:t>
            </a:r>
          </a:p>
        </p:txBody>
      </p:sp>
      <p:sp>
        <p:nvSpPr>
          <p:cNvPr id="32" name="TextBox 31"/>
          <p:cNvSpPr txBox="1"/>
          <p:nvPr/>
        </p:nvSpPr>
        <p:spPr>
          <a:xfrm>
            <a:off x="6708495" y="5356860"/>
            <a:ext cx="4907127" cy="76962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Abnormal balances found by reading</a:t>
            </a:r>
          </a:p>
          <a:p>
            <a:pPr>
              <a:spcAft>
                <a:spcPts val="100"/>
              </a:spcAft>
            </a:pPr>
            <a:r>
              <a:rPr sz="1200" b="0">
                <a:solidFill>
                  <a:srgbClr val="4B4B4B"/>
                </a:solidFill>
                <a:latin typeface="Arial"/>
              </a:rPr>
              <a:t>ACSL scans IT reports; adjustments printed for review.</a:t>
            </a:r>
          </a:p>
          <a:p>
            <a:pPr>
              <a:spcAft>
                <a:spcPts val="100"/>
              </a:spcAft>
            </a:pPr>
            <a:r>
              <a:rPr sz="1200" b="0">
                <a:solidFill>
                  <a:srgbClr val="0072D8"/>
                </a:solidFill>
                <a:latin typeface="Arial"/>
              </a:rPr>
              <a:t>ACSL flow</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what the business wants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Refunds on paper, five chains</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refund request with routing by segment and fewer signatures</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Workflow</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Requests by e-mail and paper</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Every disbursement request in one intake, none on paper</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queue</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Payees kept in three places</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Payee details kept once for every payment type</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payee master</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Three levels of wet signature</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Maker-checker kept, with approval limits instead of wet signatures (DS-01)</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DOA matrix</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File chain through IT and QPS</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Credit files and checks produced without QPS and WinSCP</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Host-to-host</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Payment modes outside the system</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Mode of payment captured in the system (DS-04)</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Mode recorded</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what the business wants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GL entries by another unit</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Entry Debit Cash in Bank / Credit Insurance Company, posted at approval (DS-05)</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Entries at source</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8</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Government payments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Tax and contribution due dates tracked; filing and payment confirmed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Calendar</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9</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Reports prepared by IT</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Business units run reports themselves (RP-01)</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Self-service</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10</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Reconciliation and journals by hand</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Bank and insurer reconciliation account-wise, automated (RC-01, RC-02)</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Auto matching</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11</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IT needed to close</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Close run by Comptrollership, not IT</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Scheduled close</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12</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Abnormal balances found by reading</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Abnormal balances flagged by rule</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Exception queue</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best practice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Payment hub with the bank</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file hand-offs</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Host-to-host payments for credit to account, MC, TT and online banking, with digital signing and status back.</a:t>
            </a:r>
          </a:p>
          <a:p>
            <a:pPr>
              <a:spcAft>
                <a:spcPts val="400"/>
              </a:spcAft>
            </a:pPr>
            <a:r>
              <a:rPr sz="1200" b="1">
                <a:solidFill>
                  <a:srgbClr val="004EA8"/>
                </a:solidFill>
                <a:latin typeface="Arial"/>
              </a:rPr>
              <a:t>For BDOI: </a:t>
            </a:r>
            <a:r>
              <a:rPr sz="1200" b="0">
                <a:solidFill>
                  <a:srgbClr val="4B4B4B"/>
                </a:solidFill>
                <a:latin typeface="Arial"/>
              </a:rPr>
              <a:t>Replace WinSCP and branch forms with BDO host-to-host (CMS / New BOB).</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Delegation of authority in the workflow</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approval</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Approval limits by amount and type, e-approval, no wet signatures.</a:t>
            </a:r>
          </a:p>
          <a:p>
            <a:pPr>
              <a:spcAft>
                <a:spcPts val="400"/>
              </a:spcAft>
            </a:pPr>
            <a:r>
              <a:rPr sz="1200" b="1">
                <a:solidFill>
                  <a:srgbClr val="004EA8"/>
                </a:solidFill>
                <a:latin typeface="Arial"/>
              </a:rPr>
              <a:t>For BDOI: </a:t>
            </a:r>
            <a:r>
              <a:rPr sz="1200" b="0">
                <a:solidFill>
                  <a:srgbClr val="4B4B4B"/>
                </a:solidFill>
                <a:latin typeface="Arial"/>
              </a:rPr>
              <a:t>Approve a DOA matrix; the audit trail replaces the signed copy.</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Payee account validation</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Fraud control</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Name match, test credit and dual control on bank-detail changes.</a:t>
            </a:r>
          </a:p>
          <a:p>
            <a:pPr>
              <a:spcAft>
                <a:spcPts val="400"/>
              </a:spcAft>
            </a:pPr>
            <a:r>
              <a:rPr sz="1200" b="1">
                <a:solidFill>
                  <a:srgbClr val="004EA8"/>
                </a:solidFill>
                <a:latin typeface="Arial"/>
              </a:rPr>
              <a:t>For BDOI: </a:t>
            </a:r>
            <a:r>
              <a:rPr sz="1200" b="0">
                <a:solidFill>
                  <a:srgbClr val="4B4B4B"/>
                </a:solidFill>
                <a:latin typeface="Arial"/>
              </a:rPr>
              <a:t>Apply to refunds and new payees.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Government payments calendar</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No penalties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Due dates, filing and payment through eFPS / eGov, confirmation captured.</a:t>
            </a:r>
          </a:p>
          <a:p>
            <a:pPr>
              <a:spcAft>
                <a:spcPts val="400"/>
              </a:spcAft>
            </a:pPr>
            <a:r>
              <a:rPr sz="1200" b="1">
                <a:solidFill>
                  <a:srgbClr val="004EA8"/>
                </a:solidFill>
                <a:latin typeface="Arial"/>
              </a:rPr>
              <a:t>For BDOI: </a:t>
            </a:r>
            <a:r>
              <a:rPr sz="1200" b="0">
                <a:solidFill>
                  <a:srgbClr val="4B4B4B"/>
                </a:solidFill>
                <a:latin typeface="Arial"/>
              </a:rPr>
              <a:t>Add a calendar and confirmation to Disbursement.</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Straight-through refunds</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Client experience</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Refund computed from the cancellation or excess and paid to a validated account.</a:t>
            </a:r>
          </a:p>
          <a:p>
            <a:pPr>
              <a:spcAft>
                <a:spcPts val="400"/>
              </a:spcAft>
            </a:pPr>
            <a:r>
              <a:rPr sz="1200" b="1">
                <a:solidFill>
                  <a:srgbClr val="004EA8"/>
                </a:solidFill>
                <a:latin typeface="Arial"/>
              </a:rPr>
              <a:t>For BDOI: </a:t>
            </a:r>
            <a:r>
              <a:rPr sz="1200" b="0">
                <a:solidFill>
                  <a:srgbClr val="4B4B4B"/>
                </a:solidFill>
                <a:latin typeface="Arial"/>
              </a:rPr>
              <a:t>Link cancellation, refund request and payment.</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8. Comptrollership: best practice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Continuous close</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close</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Daily SL-GL reconciliation, close calendar and checklist, variance analysis.</a:t>
            </a:r>
          </a:p>
          <a:p>
            <a:pPr>
              <a:spcAft>
                <a:spcPts val="400"/>
              </a:spcAft>
            </a:pPr>
            <a:r>
              <a:rPr sz="1200" b="1">
                <a:solidFill>
                  <a:srgbClr val="004EA8"/>
                </a:solidFill>
                <a:latin typeface="Arial"/>
              </a:rPr>
              <a:t>For BDOI: </a:t>
            </a:r>
            <a:r>
              <a:rPr sz="1200" b="0">
                <a:solidFill>
                  <a:srgbClr val="4B4B4B"/>
                </a:solidFill>
                <a:latin typeface="Arial"/>
              </a:rPr>
              <a:t>Add a close checklist and daily reconciliation report.</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Automated tax certificates</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2307 for every payee and a register of certificates received, reconciled to SAWT.</a:t>
            </a:r>
          </a:p>
          <a:p>
            <a:pPr>
              <a:spcAft>
                <a:spcPts val="400"/>
              </a:spcAft>
            </a:pPr>
            <a:r>
              <a:rPr sz="1200" b="1">
                <a:solidFill>
                  <a:srgbClr val="004EA8"/>
                </a:solidFill>
                <a:latin typeface="Arial"/>
              </a:rPr>
              <a:t>For BDOI: </a:t>
            </a:r>
            <a:r>
              <a:rPr sz="1200" b="0">
                <a:solidFill>
                  <a:srgbClr val="4B4B4B"/>
                </a:solidFill>
                <a:latin typeface="Arial"/>
              </a:rPr>
              <a:t>Extend 2307 generation to all payees.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BIR e-invoicing readiness</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Compliance</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CAS-registered books and electronic invoicing (EIS) when it applies.</a:t>
            </a:r>
          </a:p>
          <a:p>
            <a:pPr>
              <a:spcAft>
                <a:spcPts val="400"/>
              </a:spcAft>
            </a:pPr>
            <a:r>
              <a:rPr sz="1200" b="1">
                <a:solidFill>
                  <a:srgbClr val="004EA8"/>
                </a:solidFill>
                <a:latin typeface="Arial"/>
              </a:rPr>
              <a:t>For BDOI: </a:t>
            </a:r>
            <a:r>
              <a:rPr sz="1200" b="0">
                <a:solidFill>
                  <a:srgbClr val="4B4B4B"/>
                </a:solidFill>
                <a:latin typeface="Arial"/>
              </a:rPr>
              <a:t>Confirm applicability with Tax and plan the format.</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Multi-dimensional chart of accounts</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Profitability view</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Branch, profit centre, cost centre, product, insurer and segment on every entry.</a:t>
            </a:r>
          </a:p>
          <a:p>
            <a:pPr>
              <a:spcAft>
                <a:spcPts val="400"/>
              </a:spcAft>
            </a:pPr>
            <a:r>
              <a:rPr sz="1200" b="1">
                <a:solidFill>
                  <a:srgbClr val="004EA8"/>
                </a:solidFill>
                <a:latin typeface="Arial"/>
              </a:rPr>
              <a:t>For BDOI: </a:t>
            </a:r>
            <a:r>
              <a:rPr sz="1200" b="0">
                <a:solidFill>
                  <a:srgbClr val="4B4B4B"/>
                </a:solidFill>
                <a:latin typeface="Arial"/>
              </a:rPr>
              <a:t>Map the 8 branches and centres before go-live.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E</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Claims and Customer Service</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Serving the client after the sale: claims, the contact centre and case management</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9.  </a:t>
            </a:r>
            <a:r>
              <a:rPr sz="1500" b="1">
                <a:solidFill>
                  <a:srgbClr val="FFFFFF"/>
                </a:solidFill>
                <a:latin typeface="Arial"/>
              </a:rPr>
              <a:t>Claims</a:t>
            </a:r>
            <a:r>
              <a:rPr sz="1500" b="0">
                <a:solidFill>
                  <a:srgbClr val="99C1E7"/>
                </a:solidFill>
                <a:latin typeface="Arial"/>
              </a:rPr>
              <a:t>   Claims and Risk Management</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10.  </a:t>
            </a:r>
            <a:r>
              <a:rPr sz="1500" b="1">
                <a:solidFill>
                  <a:srgbClr val="FFFFFF"/>
                </a:solidFill>
                <a:latin typeface="Arial"/>
              </a:rPr>
              <a:t>Customer Servicing and Case Management</a:t>
            </a:r>
            <a:r>
              <a:rPr sz="1500" b="0">
                <a:solidFill>
                  <a:srgbClr val="99C1E7"/>
                </a:solidFill>
                <a:latin typeface="Arial"/>
              </a:rPr>
              <a:t>   Contact Center Management / Alternative Distribution</a:t>
            </a:r>
          </a:p>
        </p:txBody>
      </p:sp>
      <p:sp>
        <p:nvSpPr>
          <p:cNvPr id="9" name="TextBox 8"/>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Claims and Risk Management</a:t>
            </a:r>
          </a:p>
          <a:p>
            <a:pPr>
              <a:spcAft>
                <a:spcPts val="300"/>
              </a:spcAft>
            </a:pPr>
            <a:r>
              <a:rPr sz="1200" b="0">
                <a:solidFill>
                  <a:srgbClr val="004EA8"/>
                </a:solidFill>
                <a:latin typeface="Arial"/>
              </a:rPr>
              <a:t>•  </a:t>
            </a:r>
            <a:r>
              <a:rPr sz="1200" b="0">
                <a:solidFill>
                  <a:srgbClr val="4B4B4B"/>
                </a:solidFill>
                <a:latin typeface="Arial"/>
              </a:rPr>
              <a:t>Claims Officer / Claim Handler (Motor and Non-Motor teams)</a:t>
            </a:r>
          </a:p>
          <a:p>
            <a:pPr>
              <a:spcAft>
                <a:spcPts val="300"/>
              </a:spcAft>
            </a:pPr>
            <a:r>
              <a:rPr sz="1200" b="0">
                <a:solidFill>
                  <a:srgbClr val="004EA8"/>
                </a:solidFill>
                <a:latin typeface="Arial"/>
              </a:rPr>
              <a:t>•  </a:t>
            </a:r>
            <a:r>
              <a:rPr sz="1200" b="0">
                <a:solidFill>
                  <a:srgbClr val="4B4B4B"/>
                </a:solidFill>
                <a:latin typeface="Arial"/>
              </a:rPr>
              <a:t>Team Lead, Team Head, Unit Head</a:t>
            </a:r>
          </a:p>
          <a:p>
            <a:pPr>
              <a:spcAft>
                <a:spcPts val="300"/>
              </a:spcAft>
            </a:pPr>
            <a:r>
              <a:rPr sz="1200" b="0">
                <a:solidFill>
                  <a:srgbClr val="004EA8"/>
                </a:solidFill>
                <a:latin typeface="Arial"/>
              </a:rPr>
              <a:t>•  </a:t>
            </a:r>
            <a:r>
              <a:rPr sz="1200" b="0">
                <a:solidFill>
                  <a:srgbClr val="4B4B4B"/>
                </a:solidFill>
                <a:latin typeface="Arial"/>
              </a:rPr>
              <a:t>Marketing AO and branch (notice of loss)</a:t>
            </a:r>
          </a:p>
          <a:p>
            <a:pPr>
              <a:spcAft>
                <a:spcPts val="300"/>
              </a:spcAft>
            </a:pPr>
            <a:r>
              <a:rPr sz="1200" b="0">
                <a:solidFill>
                  <a:srgbClr val="004EA8"/>
                </a:solidFill>
                <a:latin typeface="Arial"/>
              </a:rPr>
              <a:t>•  </a:t>
            </a:r>
            <a:r>
              <a:rPr sz="1200" b="0">
                <a:solidFill>
                  <a:srgbClr val="4B4B4B"/>
                </a:solidFill>
                <a:latin typeface="Arial"/>
              </a:rPr>
              <a:t>Assured, CASA / dealer, adjuster</a:t>
            </a:r>
          </a:p>
          <a:p>
            <a:pPr>
              <a:spcAft>
                <a:spcPts val="300"/>
              </a:spcAft>
            </a:pPr>
            <a:r>
              <a:rPr sz="1200" b="0">
                <a:solidFill>
                  <a:srgbClr val="004EA8"/>
                </a:solidFill>
                <a:latin typeface="Arial"/>
              </a:rPr>
              <a:t>•  </a:t>
            </a:r>
            <a:r>
              <a:rPr sz="1200" b="0">
                <a:solidFill>
                  <a:srgbClr val="4B4B4B"/>
                </a:solidFill>
                <a:latin typeface="Arial"/>
              </a:rPr>
              <a:t>Insurers (evaluation, offer, LOA or cheque)</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2 paths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Motor and Non-Motor claims (Claims flow)</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LOA / cash</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Motor settlement: letter of authority to a repair shop, or cash</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Adjuster</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appointed for Non-Motor losses when needed</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Outside</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the system: claims handled manually today (CL-01)</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22-Sep-2026, 5-6 pm, 44F; discovery 21-Sep-2026</a:t>
            </a:r>
          </a:p>
          <a:p>
            <a:pPr>
              <a:spcAft>
                <a:spcPts val="400"/>
              </a:spcAft>
            </a:pPr>
            <a:r>
              <a:rPr sz="1100" b="1">
                <a:solidFill>
                  <a:srgbClr val="004EA8"/>
                </a:solidFill>
                <a:latin typeface="Arial"/>
              </a:rPr>
              <a:t>Process owners: </a:t>
            </a:r>
            <a:r>
              <a:rPr sz="1100" b="0">
                <a:solidFill>
                  <a:srgbClr val="4B4B4B"/>
                </a:solidFill>
                <a:latin typeface="Arial"/>
              </a:rPr>
              <a:t>Elmar O. Alvarez Jr., Richard Castanares</a:t>
            </a:r>
          </a:p>
          <a:p>
            <a:pPr>
              <a:spcAft>
                <a:spcPts val="400"/>
              </a:spcAft>
            </a:pPr>
            <a:r>
              <a:rPr sz="1100" b="0">
                <a:solidFill>
                  <a:srgbClr val="004EA8"/>
                </a:solidFill>
                <a:latin typeface="Arial"/>
              </a:rPr>
              <a:t>•  </a:t>
            </a:r>
            <a:r>
              <a:rPr sz="1100" b="0">
                <a:solidFill>
                  <a:srgbClr val="4B4B4B"/>
                </a:solidFill>
                <a:latin typeface="Arial"/>
              </a:rPr>
              <a:t>Claims process flow (Motor and Non-Motor swimlanes)</a:t>
            </a:r>
          </a:p>
          <a:p>
            <a:pPr>
              <a:spcAft>
                <a:spcPts val="400"/>
              </a:spcAft>
            </a:pPr>
            <a:r>
              <a:rPr sz="1100" b="0">
                <a:solidFill>
                  <a:srgbClr val="004EA8"/>
                </a:solidFill>
                <a:latin typeface="Arial"/>
              </a:rPr>
              <a:t>•  </a:t>
            </a:r>
            <a:r>
              <a:rPr sz="1100" b="0">
                <a:solidFill>
                  <a:srgbClr val="4B4B4B"/>
                </a:solidFill>
                <a:latin typeface="Arial"/>
              </a:rPr>
              <a:t>BDOI Day 1 overview p.8 and p.14</a:t>
            </a:r>
          </a:p>
          <a:p>
            <a:pPr>
              <a:spcAft>
                <a:spcPts val="400"/>
              </a:spcAft>
            </a:pPr>
            <a:r>
              <a:rPr sz="1100" b="0">
                <a:solidFill>
                  <a:srgbClr val="004EA8"/>
                </a:solidFill>
                <a:latin typeface="Arial"/>
              </a:rPr>
              <a:t>•  </a:t>
            </a:r>
            <a:r>
              <a:rPr sz="1100" b="0">
                <a:solidFill>
                  <a:srgbClr val="4B4B4B"/>
                </a:solidFill>
                <a:latin typeface="Arial"/>
              </a:rPr>
              <a:t>Floor-walk note CL-01</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Notice</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Documents</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Loss advice</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Evaluation</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Offer</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Acceptance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Settlement</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200" b="1">
                <a:solidFill>
                  <a:srgbClr val="004EA8"/>
                </a:solidFill>
                <a:latin typeface="Arial"/>
              </a:rPr>
              <a:t>Closure</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CL-01</a:t>
                      </a:r>
                    </a:p>
                  </a:txBody>
                  <a:tcPr marL="64008" marR="64008" marT="27432" marB="27432" anchor="ctr">
                    <a:solidFill>
                      <a:srgbClr val="FFFFFF"/>
                    </a:solidFill>
                  </a:tcPr>
                </a:tc>
                <a:tc>
                  <a:txBody>
                    <a:bodyPr wrap="square"/>
                    <a:lstStyle/>
                    <a:p>
                      <a:r>
                        <a:rPr sz="1100" b="0">
                          <a:solidFill>
                            <a:srgbClr val="4B4B4B"/>
                          </a:solidFill>
                          <a:latin typeface="Arial"/>
                        </a:rPr>
                        <a:t>Claims handling</a:t>
                      </a:r>
                    </a:p>
                  </a:txBody>
                  <a:tcPr marL="64008" marR="64008" marT="27432" marB="27432" anchor="ctr">
                    <a:solidFill>
                      <a:srgbClr val="FFFF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Claims are handled outside the system and manually.</a:t>
                      </a:r>
                    </a:p>
                  </a:txBody>
                  <a:tcPr marL="64008" marR="64008" marT="27432" marB="27432" anchor="ctr">
                    <a:solidFill>
                      <a:srgbClr val="FFFFFF"/>
                    </a:solidFill>
                  </a:tcPr>
                </a:tc>
                <a:tc>
                  <a:txBody>
                    <a:bodyPr wrap="square"/>
                    <a:lstStyle/>
                    <a:p>
                      <a:r>
                        <a:rPr sz="1100" b="0">
                          <a:solidFill>
                            <a:srgbClr val="4B4B4B"/>
                          </a:solidFill>
                          <a:latin typeface="Arial"/>
                        </a:rPr>
                        <a:t>Major pain point: claims in the system.</a:t>
                      </a:r>
                    </a:p>
                  </a:txBody>
                  <a:tcPr marL="64008" marR="64008" marT="27432" marB="27432" anchor="ctr">
                    <a:solidFill>
                      <a:srgbClr val="FFFFFF"/>
                    </a:solidFill>
                  </a:tcPr>
                </a:tc>
              </a:tr>
              <a:tr h="758952">
                <a:tc>
                  <a:txBody>
                    <a:bodyPr wrap="square"/>
                    <a:lstStyle/>
                    <a:p>
                      <a:r>
                        <a:rPr sz="1100" b="1">
                          <a:solidFill>
                            <a:srgbClr val="4B4B4B"/>
                          </a:solidFill>
                          <a:latin typeface="Arial"/>
                        </a:rPr>
                        <a:t>Day 1 p.8</a:t>
                      </a:r>
                    </a:p>
                  </a:txBody>
                  <a:tcPr marL="64008" marR="64008" marT="27432" marB="27432" anchor="ctr">
                    <a:solidFill>
                      <a:srgbClr val="E5F5FF"/>
                    </a:solidFill>
                  </a:tcPr>
                </a:tc>
                <a:tc>
                  <a:txBody>
                    <a:bodyPr wrap="square"/>
                    <a:lstStyle/>
                    <a:p>
                      <a:r>
                        <a:rPr sz="1100" b="0">
                          <a:solidFill>
                            <a:srgbClr val="4B4B4B"/>
                          </a:solidFill>
                          <a:latin typeface="Arial"/>
                        </a:rPr>
                        <a:t>What BDOI needs to see</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How a claim links to the policy; required documents and status values; who can update, review or approve; how customer communication is recorded.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Claims flow</a:t>
                      </a:r>
                    </a:p>
                  </a:txBody>
                  <a:tcPr marL="64008" marR="64008" marT="27432" marB="27432" anchor="ctr">
                    <a:solidFill>
                      <a:srgbClr val="FFFFFF"/>
                    </a:solidFill>
                  </a:tcPr>
                </a:tc>
                <a:tc>
                  <a:txBody>
                    <a:bodyPr wrap="square"/>
                    <a:lstStyle/>
                    <a:p>
                      <a:r>
                        <a:rPr sz="1100" b="0">
                          <a:solidFill>
                            <a:srgbClr val="4B4B4B"/>
                          </a:solidFill>
                          <a:latin typeface="Arial"/>
                        </a:rPr>
                        <a:t>Motor</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Client, AO or branch sends the notice and PLA; handler completes the documents and sends them to the insurer; insurer issues an LOA to the preferred CASA / dealer or evaluates a cash offer; assured signs; repair monitored offline; claim tagged settled.</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Claims flow</a:t>
                      </a:r>
                    </a:p>
                  </a:txBody>
                  <a:tcPr marL="64008" marR="64008" marT="27432" marB="27432" anchor="ctr">
                    <a:solidFill>
                      <a:srgbClr val="E5F5FF"/>
                    </a:solidFill>
                  </a:tcPr>
                </a:tc>
                <a:tc>
                  <a:txBody>
                    <a:bodyPr wrap="square"/>
                    <a:lstStyle/>
                    <a:p>
                      <a:r>
                        <a:rPr sz="1100" b="0">
                          <a:solidFill>
                            <a:srgbClr val="4B4B4B"/>
                          </a:solidFill>
                          <a:latin typeface="Arial"/>
                        </a:rPr>
                        <a:t>Non-Motor</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Claims reporting form (CRF); formal loss advice to the insurer; initial assessment; adjuster inspection when needed; evaluation; offer reviewed and sent to the insured; accept, or contest and re-evaluate; payment; claim closed.</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Day 1 p.14</a:t>
                      </a:r>
                    </a:p>
                  </a:txBody>
                  <a:tcPr marL="64008" marR="64008" marT="27432" marB="27432" anchor="ctr">
                    <a:solidFill>
                      <a:srgbClr val="FFFFFF"/>
                    </a:solidFill>
                  </a:tcPr>
                </a:tc>
                <a:tc>
                  <a:txBody>
                    <a:bodyPr wrap="square"/>
                    <a:lstStyle/>
                    <a:p>
                      <a:r>
                        <a:rPr sz="1100" b="0">
                          <a:solidFill>
                            <a:srgbClr val="4B4B4B"/>
                          </a:solidFill>
                          <a:latin typeface="Arial"/>
                        </a:rPr>
                        <a:t>Servicing path</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Receive the claim from the client; submit documents to the insurer; inform the client of settlement or declination.</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EB-02</a:t>
                      </a:r>
                    </a:p>
                  </a:txBody>
                  <a:tcPr marL="64008" marR="64008" marT="27432" marB="27432" anchor="ctr">
                    <a:solidFill>
                      <a:srgbClr val="E5F5FF"/>
                    </a:solidFill>
                  </a:tcPr>
                </a:tc>
                <a:tc>
                  <a:txBody>
                    <a:bodyPr wrap="square"/>
                    <a:lstStyle/>
                    <a:p>
                      <a:r>
                        <a:rPr sz="1100" b="0">
                          <a:solidFill>
                            <a:srgbClr val="4B4B4B"/>
                          </a:solidFill>
                          <a:latin typeface="Arial"/>
                        </a:rPr>
                        <a:t>EB claims</a:t>
                      </a:r>
                    </a:p>
                  </a:txBody>
                  <a:tcPr marL="64008" marR="64008" marT="27432" marB="27432" anchor="ctr">
                    <a:solidFill>
                      <a:srgbClr val="E5F5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Employee Benefits claims are validated by the provider; BDOI captures the details (see chapter 4).</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pic>
        <p:nvPicPr>
          <p:cNvPr id="9" name="Picture 8" descr="brd07_fw_asis.png"/>
          <p:cNvPicPr>
            <a:picLocks noChangeAspect="1"/>
          </p:cNvPicPr>
          <p:nvPr/>
        </p:nvPicPr>
        <p:blipFill>
          <a:blip r:embed="rId3"/>
          <a:stretch>
            <a:fillRect/>
          </a:stretch>
        </p:blipFill>
        <p:spPr>
          <a:xfrm>
            <a:off x="610393" y="1243584"/>
            <a:ext cx="10970908"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Claims today (Claims process flow, Motor and Non-Motor; Day 1 p.14; CL-01)</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Motor and Non-Motor paths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1789421"/>
                <a:gridCol w="4652496"/>
                <a:gridCol w="4652496"/>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Motor</a:t>
                      </a:r>
                    </a:p>
                  </a:txBody>
                  <a:tcPr marL="64008" marR="64008" marT="27432" marB="27432" anchor="ctr">
                    <a:solidFill>
                      <a:srgbClr val="004EA8"/>
                    </a:solidFill>
                  </a:tcPr>
                </a:tc>
                <a:tc>
                  <a:txBody>
                    <a:bodyPr wrap="square"/>
                    <a:lstStyle/>
                    <a:p>
                      <a:r>
                        <a:rPr sz="1100" b="1">
                          <a:solidFill>
                            <a:srgbClr val="FFFFFF"/>
                          </a:solidFill>
                          <a:latin typeface="Arial"/>
                        </a:rPr>
                        <a:t>Non-Motor</a:t>
                      </a:r>
                    </a:p>
                  </a:txBody>
                  <a:tcPr marL="64008" marR="64008" marT="27432" marB="27432" anchor="ctr">
                    <a:solidFill>
                      <a:srgbClr val="004EA8"/>
                    </a:solidFill>
                  </a:tcPr>
                </a:tc>
              </a:tr>
              <a:tr h="650530">
                <a:tc>
                  <a:txBody>
                    <a:bodyPr wrap="square"/>
                    <a:lstStyle/>
                    <a:p>
                      <a:r>
                        <a:rPr sz="1100" b="1">
                          <a:solidFill>
                            <a:srgbClr val="4B4B4B"/>
                          </a:solidFill>
                          <a:latin typeface="Arial"/>
                        </a:rPr>
                        <a:t>Notice</a:t>
                      </a:r>
                    </a:p>
                  </a:txBody>
                  <a:tcPr marL="64008" marR="64008" marT="27432" marB="27432" anchor="ctr">
                    <a:solidFill>
                      <a:srgbClr val="FFFFFF"/>
                    </a:solidFill>
                  </a:tcPr>
                </a:tc>
                <a:tc>
                  <a:txBody>
                    <a:bodyPr wrap="square"/>
                    <a:lstStyle/>
                    <a:p>
                      <a:r>
                        <a:rPr sz="1100" b="0">
                          <a:solidFill>
                            <a:srgbClr val="4B4B4B"/>
                          </a:solidFill>
                          <a:latin typeface="Arial"/>
                        </a:rPr>
                        <a:t>Client, AO or branch sends the notice and a preliminary loss advice (PLA)</a:t>
                      </a:r>
                    </a:p>
                  </a:txBody>
                  <a:tcPr marL="64008" marR="64008" marT="27432" marB="27432" anchor="ctr">
                    <a:solidFill>
                      <a:srgbClr val="FFFFFF"/>
                    </a:solidFill>
                  </a:tcPr>
                </a:tc>
                <a:tc>
                  <a:txBody>
                    <a:bodyPr wrap="square"/>
                    <a:lstStyle/>
                    <a:p>
                      <a:r>
                        <a:rPr sz="1100" b="0">
                          <a:solidFill>
                            <a:srgbClr val="4B4B4B"/>
                          </a:solidFill>
                          <a:latin typeface="Arial"/>
                        </a:rPr>
                        <a:t>Client sends the notice; Claims completes the claims reporting form (CRF) with the client</a:t>
                      </a:r>
                    </a:p>
                  </a:txBody>
                  <a:tcPr marL="64008" marR="64008" marT="27432" marB="27432" anchor="ctr">
                    <a:solidFill>
                      <a:srgbClr val="FFFFFF"/>
                    </a:solidFill>
                  </a:tcPr>
                </a:tc>
              </a:tr>
              <a:tr h="650530">
                <a:tc>
                  <a:txBody>
                    <a:bodyPr wrap="square"/>
                    <a:lstStyle/>
                    <a:p>
                      <a:r>
                        <a:rPr sz="1100" b="1">
                          <a:solidFill>
                            <a:srgbClr val="4B4B4B"/>
                          </a:solidFill>
                          <a:latin typeface="Arial"/>
                        </a:rPr>
                        <a:t>Documents</a:t>
                      </a:r>
                    </a:p>
                  </a:txBody>
                  <a:tcPr marL="64008" marR="64008" marT="27432" marB="27432" anchor="ctr">
                    <a:solidFill>
                      <a:srgbClr val="E5F5FF"/>
                    </a:solidFill>
                  </a:tcPr>
                </a:tc>
                <a:tc>
                  <a:txBody>
                    <a:bodyPr wrap="square"/>
                    <a:lstStyle/>
                    <a:p>
                      <a:r>
                        <a:rPr sz="1100" b="0">
                          <a:solidFill>
                            <a:srgbClr val="4B4B4B"/>
                          </a:solidFill>
                          <a:latin typeface="Arial"/>
                        </a:rPr>
                        <a:t>Handler coordinates the documents with the client until complete</a:t>
                      </a:r>
                    </a:p>
                  </a:txBody>
                  <a:tcPr marL="64008" marR="64008" marT="27432" marB="27432" anchor="ctr">
                    <a:solidFill>
                      <a:srgbClr val="E5F5FF"/>
                    </a:solidFill>
                  </a:tcPr>
                </a:tc>
                <a:tc>
                  <a:txBody>
                    <a:bodyPr wrap="square"/>
                    <a:lstStyle/>
                    <a:p>
                      <a:r>
                        <a:rPr sz="1100" b="0">
                          <a:solidFill>
                            <a:srgbClr val="4B4B4B"/>
                          </a:solidFill>
                          <a:latin typeface="Arial"/>
                        </a:rPr>
                        <a:t>Handler checks completeness; asks the client for missing documents</a:t>
                      </a:r>
                    </a:p>
                  </a:txBody>
                  <a:tcPr marL="64008" marR="64008" marT="27432" marB="27432" anchor="ctr">
                    <a:solidFill>
                      <a:srgbClr val="E5F5FF"/>
                    </a:solidFill>
                  </a:tcPr>
                </a:tc>
              </a:tr>
              <a:tr h="650530">
                <a:tc>
                  <a:txBody>
                    <a:bodyPr wrap="square"/>
                    <a:lstStyle/>
                    <a:p>
                      <a:r>
                        <a:rPr sz="1100" b="1">
                          <a:solidFill>
                            <a:srgbClr val="4B4B4B"/>
                          </a:solidFill>
                          <a:latin typeface="Arial"/>
                        </a:rPr>
                        <a:t>To the insurer</a:t>
                      </a:r>
                    </a:p>
                  </a:txBody>
                  <a:tcPr marL="64008" marR="64008" marT="27432" marB="27432" anchor="ctr">
                    <a:solidFill>
                      <a:srgbClr val="FFFFFF"/>
                    </a:solidFill>
                  </a:tcPr>
                </a:tc>
                <a:tc>
                  <a:txBody>
                    <a:bodyPr wrap="square"/>
                    <a:lstStyle/>
                    <a:p>
                      <a:r>
                        <a:rPr sz="1100" b="0">
                          <a:solidFill>
                            <a:srgbClr val="4B4B4B"/>
                          </a:solidFill>
                          <a:latin typeface="Arial"/>
                        </a:rPr>
                        <a:t>Documents and PLA sent to the insurer</a:t>
                      </a:r>
                    </a:p>
                  </a:txBody>
                  <a:tcPr marL="64008" marR="64008" marT="27432" marB="27432" anchor="ctr">
                    <a:solidFill>
                      <a:srgbClr val="FFFFFF"/>
                    </a:solidFill>
                  </a:tcPr>
                </a:tc>
                <a:tc>
                  <a:txBody>
                    <a:bodyPr wrap="square"/>
                    <a:lstStyle/>
                    <a:p>
                      <a:r>
                        <a:rPr sz="1100" b="0">
                          <a:solidFill>
                            <a:srgbClr val="4B4B4B"/>
                          </a:solidFill>
                          <a:latin typeface="Arial"/>
                        </a:rPr>
                        <a:t>Formal loss advice (FLA) sent; insurer makes an initial assessment</a:t>
                      </a:r>
                    </a:p>
                  </a:txBody>
                  <a:tcPr marL="64008" marR="64008" marT="27432" marB="27432" anchor="ctr">
                    <a:solidFill>
                      <a:srgbClr val="FFFFFF"/>
                    </a:solidFill>
                  </a:tcPr>
                </a:tc>
              </a:tr>
              <a:tr h="650530">
                <a:tc>
                  <a:txBody>
                    <a:bodyPr wrap="square"/>
                    <a:lstStyle/>
                    <a:p>
                      <a:r>
                        <a:rPr sz="1100" b="1">
                          <a:solidFill>
                            <a:srgbClr val="4B4B4B"/>
                          </a:solidFill>
                          <a:latin typeface="Arial"/>
                        </a:rPr>
                        <a:t>Evaluation</a:t>
                      </a:r>
                    </a:p>
                  </a:txBody>
                  <a:tcPr marL="64008" marR="64008" marT="27432" marB="27432" anchor="ctr">
                    <a:solidFill>
                      <a:srgbClr val="E5F5FF"/>
                    </a:solidFill>
                  </a:tcPr>
                </a:tc>
                <a:tc>
                  <a:txBody>
                    <a:bodyPr wrap="square"/>
                    <a:lstStyle/>
                    <a:p>
                      <a:r>
                        <a:rPr sz="1100" b="0">
                          <a:solidFill>
                            <a:srgbClr val="4B4B4B"/>
                          </a:solidFill>
                          <a:latin typeface="Arial"/>
                        </a:rPr>
                        <a:t>Insurer reviews; issues or concerns go back to the handler</a:t>
                      </a:r>
                    </a:p>
                  </a:txBody>
                  <a:tcPr marL="64008" marR="64008" marT="27432" marB="27432" anchor="ctr">
                    <a:solidFill>
                      <a:srgbClr val="E5F5FF"/>
                    </a:solidFill>
                  </a:tcPr>
                </a:tc>
                <a:tc>
                  <a:txBody>
                    <a:bodyPr wrap="square"/>
                    <a:lstStyle/>
                    <a:p>
                      <a:r>
                        <a:rPr sz="1100" b="0">
                          <a:solidFill>
                            <a:srgbClr val="4B4B4B"/>
                          </a:solidFill>
                          <a:latin typeface="Arial"/>
                        </a:rPr>
                        <a:t>Adjuster appointed when needed; inspection arranged with BDOI</a:t>
                      </a:r>
                    </a:p>
                  </a:txBody>
                  <a:tcPr marL="64008" marR="64008" marT="27432" marB="27432" anchor="ctr">
                    <a:solidFill>
                      <a:srgbClr val="E5F5FF"/>
                    </a:solidFill>
                  </a:tcPr>
                </a:tc>
              </a:tr>
              <a:tr h="650530">
                <a:tc>
                  <a:txBody>
                    <a:bodyPr wrap="square"/>
                    <a:lstStyle/>
                    <a:p>
                      <a:r>
                        <a:rPr sz="1100" b="1">
                          <a:solidFill>
                            <a:srgbClr val="4B4B4B"/>
                          </a:solidFill>
                          <a:latin typeface="Arial"/>
                        </a:rPr>
                        <a:t>Offer</a:t>
                      </a:r>
                    </a:p>
                  </a:txBody>
                  <a:tcPr marL="64008" marR="64008" marT="27432" marB="27432" anchor="ctr">
                    <a:solidFill>
                      <a:srgbClr val="FFFFFF"/>
                    </a:solidFill>
                  </a:tcPr>
                </a:tc>
                <a:tc>
                  <a:txBody>
                    <a:bodyPr wrap="square"/>
                    <a:lstStyle/>
                    <a:p>
                      <a:r>
                        <a:rPr sz="1100" b="0">
                          <a:solidFill>
                            <a:srgbClr val="4B4B4B"/>
                          </a:solidFill>
                          <a:latin typeface="Arial"/>
                        </a:rPr>
                        <a:t>LOA to the preferred CASA / dealer, or a cash offer after evaluation</a:t>
                      </a:r>
                    </a:p>
                  </a:txBody>
                  <a:tcPr marL="64008" marR="64008" marT="27432" marB="27432" anchor="ctr">
                    <a:solidFill>
                      <a:srgbClr val="FFFFFF"/>
                    </a:solidFill>
                  </a:tcPr>
                </a:tc>
                <a:tc>
                  <a:txBody>
                    <a:bodyPr wrap="square"/>
                    <a:lstStyle/>
                    <a:p>
                      <a:r>
                        <a:rPr sz="1100" b="0">
                          <a:solidFill>
                            <a:srgbClr val="4B4B4B"/>
                          </a:solidFill>
                          <a:latin typeface="Arial"/>
                        </a:rPr>
                        <a:t>Offer reviewed by Claims and sent to the insured</a:t>
                      </a:r>
                    </a:p>
                  </a:txBody>
                  <a:tcPr marL="64008" marR="64008" marT="27432" marB="27432" anchor="ctr">
                    <a:solidFill>
                      <a:srgbClr val="FFFFFF"/>
                    </a:solidFill>
                  </a:tcPr>
                </a:tc>
              </a:tr>
              <a:tr h="650530">
                <a:tc>
                  <a:txBody>
                    <a:bodyPr wrap="square"/>
                    <a:lstStyle/>
                    <a:p>
                      <a:r>
                        <a:rPr sz="1100" b="1">
                          <a:solidFill>
                            <a:srgbClr val="4B4B4B"/>
                          </a:solidFill>
                          <a:latin typeface="Arial"/>
                        </a:rPr>
                        <a:t>Decision</a:t>
                      </a:r>
                    </a:p>
                  </a:txBody>
                  <a:tcPr marL="64008" marR="64008" marT="27432" marB="27432" anchor="ctr">
                    <a:solidFill>
                      <a:srgbClr val="E5F5FF"/>
                    </a:solidFill>
                  </a:tcPr>
                </a:tc>
                <a:tc>
                  <a:txBody>
                    <a:bodyPr wrap="square"/>
                    <a:lstStyle/>
                    <a:p>
                      <a:r>
                        <a:rPr sz="1100" b="0">
                          <a:solidFill>
                            <a:srgbClr val="4B4B4B"/>
                          </a:solidFill>
                          <a:latin typeface="Arial"/>
                        </a:rPr>
                        <a:t>Assured signs the offer; CASA / dealer repairs</a:t>
                      </a:r>
                    </a:p>
                  </a:txBody>
                  <a:tcPr marL="64008" marR="64008" marT="27432" marB="27432" anchor="ctr">
                    <a:solidFill>
                      <a:srgbClr val="E5F5FF"/>
                    </a:solidFill>
                  </a:tcPr>
                </a:tc>
                <a:tc>
                  <a:txBody>
                    <a:bodyPr wrap="square"/>
                    <a:lstStyle/>
                    <a:p>
                      <a:r>
                        <a:rPr sz="1100" b="0">
                          <a:solidFill>
                            <a:srgbClr val="4B4B4B"/>
                          </a:solidFill>
                          <a:latin typeface="Arial"/>
                        </a:rPr>
                        <a:t>Accepts, or contests; insurer re-evaluates or keeps its position</a:t>
                      </a:r>
                    </a:p>
                  </a:txBody>
                  <a:tcPr marL="64008" marR="64008" marT="27432" marB="27432" anchor="ctr">
                    <a:solidFill>
                      <a:srgbClr val="E5F5FF"/>
                    </a:solidFill>
                  </a:tcPr>
                </a:tc>
              </a:tr>
              <a:tr h="650530">
                <a:tc>
                  <a:txBody>
                    <a:bodyPr wrap="square"/>
                    <a:lstStyle/>
                    <a:p>
                      <a:r>
                        <a:rPr sz="1100" b="1">
                          <a:solidFill>
                            <a:srgbClr val="4B4B4B"/>
                          </a:solidFill>
                          <a:latin typeface="Arial"/>
                        </a:rPr>
                        <a:t>Close</a:t>
                      </a:r>
                    </a:p>
                  </a:txBody>
                  <a:tcPr marL="64008" marR="64008" marT="27432" marB="27432" anchor="ctr">
                    <a:solidFill>
                      <a:srgbClr val="FFFFFF"/>
                    </a:solidFill>
                  </a:tcPr>
                </a:tc>
                <a:tc>
                  <a:txBody>
                    <a:bodyPr wrap="square"/>
                    <a:lstStyle/>
                    <a:p>
                      <a:r>
                        <a:rPr sz="1100" b="0">
                          <a:solidFill>
                            <a:srgbClr val="4B4B4B"/>
                          </a:solidFill>
                          <a:latin typeface="Arial"/>
                        </a:rPr>
                        <a:t>Repair monitored offline; claim tagged settled / closed</a:t>
                      </a:r>
                    </a:p>
                  </a:txBody>
                  <a:tcPr marL="64008" marR="64008" marT="27432" marB="27432" anchor="ctr">
                    <a:solidFill>
                      <a:srgbClr val="FFFFFF"/>
                    </a:solidFill>
                  </a:tcPr>
                </a:tc>
                <a:tc>
                  <a:txBody>
                    <a:bodyPr wrap="square"/>
                    <a:lstStyle/>
                    <a:p>
                      <a:r>
                        <a:rPr sz="1100" b="0">
                          <a:solidFill>
                            <a:srgbClr val="4B4B4B"/>
                          </a:solidFill>
                          <a:latin typeface="Arial"/>
                        </a:rPr>
                        <a:t>Signed offer; payment; property damage claim closed</a:t>
                      </a:r>
                    </a:p>
                  </a:txBody>
                  <a:tcPr marL="64008" marR="64008" marT="27432" marB="27432" anchor="ctr">
                    <a:solidFill>
                      <a:srgbClr val="FFFFFF"/>
                    </a:solidFill>
                  </a:tcPr>
                </a:tc>
              </a:tr>
            </a:tbl>
          </a:graphicData>
        </a:graphic>
      </p:graphicFrame>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Notice and forms by hand</a:t>
            </a:r>
          </a:p>
          <a:p>
            <a:pPr>
              <a:spcAft>
                <a:spcPts val="100"/>
              </a:spcAft>
            </a:pPr>
            <a:r>
              <a:rPr sz="1200" b="0">
                <a:solidFill>
                  <a:srgbClr val="4B4B4B"/>
                </a:solidFill>
                <a:latin typeface="Arial"/>
              </a:rPr>
              <a:t>Notice by e-mail or call; PLA or claims form prepared manually.</a:t>
            </a:r>
          </a:p>
          <a:p>
            <a:pPr>
              <a:spcAft>
                <a:spcPts val="100"/>
              </a:spcAft>
            </a:pPr>
            <a:r>
              <a:rPr sz="1200" b="0">
                <a:solidFill>
                  <a:srgbClr val="0072D8"/>
                </a:solidFill>
                <a:latin typeface="Arial"/>
              </a:rPr>
              <a:t>Claims flow</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Documents chased by hand</a:t>
            </a:r>
          </a:p>
          <a:p>
            <a:pPr>
              <a:spcAft>
                <a:spcPts val="100"/>
              </a:spcAft>
            </a:pPr>
            <a:r>
              <a:rPr sz="1200" b="0">
                <a:solidFill>
                  <a:srgbClr val="4B4B4B"/>
                </a:solidFill>
                <a:latin typeface="Arial"/>
              </a:rPr>
              <a:t>No checklist; the handler follows up until the file is complete.</a:t>
            </a:r>
          </a:p>
          <a:p>
            <a:pPr>
              <a:spcAft>
                <a:spcPts val="100"/>
              </a:spcAft>
            </a:pPr>
            <a:r>
              <a:rPr sz="1200" b="0">
                <a:solidFill>
                  <a:srgbClr val="0072D8"/>
                </a:solidFill>
                <a:latin typeface="Arial"/>
              </a:rPr>
              <a:t>Claims flow</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Loss advice by e-mail</a:t>
            </a:r>
          </a:p>
          <a:p>
            <a:pPr>
              <a:spcAft>
                <a:spcPts val="100"/>
              </a:spcAft>
            </a:pPr>
            <a:r>
              <a:rPr sz="1200" b="0">
                <a:solidFill>
                  <a:srgbClr val="4B4B4B"/>
                </a:solidFill>
                <a:latin typeface="Arial"/>
              </a:rPr>
              <a:t>Loss advice and documents e-mailed to each insurer.</a:t>
            </a:r>
          </a:p>
          <a:p>
            <a:pPr>
              <a:spcAft>
                <a:spcPts val="100"/>
              </a:spcAft>
            </a:pPr>
            <a:r>
              <a:rPr sz="1200" b="0">
                <a:solidFill>
                  <a:srgbClr val="0072D8"/>
                </a:solidFill>
                <a:latin typeface="Arial"/>
              </a:rPr>
              <a:t>Claims flow</a:t>
            </a:r>
          </a:p>
        </p:txBody>
      </p:sp>
      <p:sp>
        <p:nvSpPr>
          <p:cNvPr id="15" name="Oval 14"/>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Offer and contest by e-mail</a:t>
            </a:r>
          </a:p>
          <a:p>
            <a:pPr>
              <a:spcAft>
                <a:spcPts val="100"/>
              </a:spcAft>
            </a:pPr>
            <a:r>
              <a:rPr sz="1200" b="0">
                <a:solidFill>
                  <a:srgbClr val="4B4B4B"/>
                </a:solidFill>
                <a:latin typeface="Arial"/>
              </a:rPr>
              <a:t>Offers reviewed, sent, accepted or contested outside a system.</a:t>
            </a:r>
          </a:p>
          <a:p>
            <a:pPr>
              <a:spcAft>
                <a:spcPts val="100"/>
              </a:spcAft>
            </a:pPr>
            <a:r>
              <a:rPr sz="1200" b="0">
                <a:solidFill>
                  <a:srgbClr val="0072D8"/>
                </a:solidFill>
                <a:latin typeface="Arial"/>
              </a:rPr>
              <a:t>Claims flow</a:t>
            </a:r>
          </a:p>
        </p:txBody>
      </p:sp>
      <p:sp>
        <p:nvSpPr>
          <p:cNvPr id="17" name="Oval 16"/>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Repairs monitored offline</a:t>
            </a:r>
          </a:p>
          <a:p>
            <a:pPr>
              <a:spcAft>
                <a:spcPts val="100"/>
              </a:spcAft>
            </a:pPr>
            <a:r>
              <a:rPr sz="1200" b="0">
                <a:solidFill>
                  <a:srgbClr val="4B4B4B"/>
                </a:solidFill>
                <a:latin typeface="Arial"/>
              </a:rPr>
              <a:t>After the LOA, repair progress is followed by phone and e-mail.</a:t>
            </a:r>
          </a:p>
          <a:p>
            <a:pPr>
              <a:spcAft>
                <a:spcPts val="100"/>
              </a:spcAft>
            </a:pPr>
            <a:r>
              <a:rPr sz="1200" b="0">
                <a:solidFill>
                  <a:srgbClr val="0072D8"/>
                </a:solidFill>
                <a:latin typeface="Arial"/>
              </a:rPr>
              <a:t>Claims flow</a:t>
            </a:r>
          </a:p>
        </p:txBody>
      </p:sp>
      <p:sp>
        <p:nvSpPr>
          <p:cNvPr id="19" name="Oval 18"/>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Claims outside the system</a:t>
            </a:r>
          </a:p>
          <a:p>
            <a:pPr>
              <a:spcAft>
                <a:spcPts val="100"/>
              </a:spcAft>
            </a:pPr>
            <a:r>
              <a:rPr sz="1200" b="0">
                <a:solidFill>
                  <a:srgbClr val="4B4B4B"/>
                </a:solidFill>
                <a:latin typeface="Arial"/>
              </a:rPr>
              <a:t>Claims are handled manually; status and history kept offline.</a:t>
            </a:r>
          </a:p>
          <a:p>
            <a:pPr>
              <a:spcAft>
                <a:spcPts val="100"/>
              </a:spcAft>
            </a:pPr>
            <a:r>
              <a:rPr sz="1200" b="0">
                <a:solidFill>
                  <a:srgbClr val="0072D8"/>
                </a:solidFill>
                <a:latin typeface="Arial"/>
              </a:rPr>
              <a:t>CL-01</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what the business wants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Notice and forms by hand</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The claim linked to its policy from the first notice (Day 1 p.8)</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Claim on the policy</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Documents chased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Required documents and status values per claim type (Day 1 p.8)</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Checklist</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Loss advice by e-mail</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Loss advice generated and sent from the claim, with a record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Send log</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Offer and contest by e-mail</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Who can update, review or approve, recorded on the claim (Day 1 p.8)</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Roles</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Repairs monitored offline</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Repair milestones followed to completion</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Milestones</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Claims outside the system</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Claims handled in the system, with customer communication recorded (CL-01; Day 1 p.8)</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record</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9. Claims: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Digital first notice of loss</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Faster start</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Notice by web, app or contact centre with photos and automatic policy lookup.</a:t>
            </a:r>
          </a:p>
          <a:p>
            <a:pPr>
              <a:spcAft>
                <a:spcPts val="400"/>
              </a:spcAft>
            </a:pPr>
            <a:r>
              <a:rPr sz="1200" b="1">
                <a:solidFill>
                  <a:srgbClr val="004EA8"/>
                </a:solidFill>
                <a:latin typeface="Arial"/>
              </a:rPr>
              <a:t>For BDOI: </a:t>
            </a:r>
            <a:r>
              <a:rPr sz="1200" b="0">
                <a:solidFill>
                  <a:srgbClr val="4B4B4B"/>
                </a:solidFill>
                <a:latin typeface="Arial"/>
              </a:rPr>
              <a:t>Start with a contact-centre form that creates the claim.</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Client status updates</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follow-up calls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Automatic SMS or e-mail at each status change.</a:t>
            </a:r>
          </a:p>
          <a:p>
            <a:pPr>
              <a:spcAft>
                <a:spcPts val="400"/>
              </a:spcAft>
            </a:pPr>
            <a:r>
              <a:rPr sz="1200" b="1">
                <a:solidFill>
                  <a:srgbClr val="004EA8"/>
                </a:solidFill>
                <a:latin typeface="Arial"/>
              </a:rPr>
              <a:t>For BDOI: </a:t>
            </a:r>
            <a:r>
              <a:rPr sz="1200" b="0">
                <a:solidFill>
                  <a:srgbClr val="4B4B4B"/>
                </a:solidFill>
                <a:latin typeface="Arial"/>
              </a:rPr>
              <a:t>Send notices on the key statuses.</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Insurer SLA scorecards</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insurer choice</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Days from notice to offer and offer to payment, per insurer and line.</a:t>
            </a:r>
          </a:p>
          <a:p>
            <a:pPr>
              <a:spcAft>
                <a:spcPts val="400"/>
              </a:spcAft>
            </a:pPr>
            <a:r>
              <a:rPr sz="1200" b="1">
                <a:solidFill>
                  <a:srgbClr val="004EA8"/>
                </a:solidFill>
                <a:latin typeface="Arial"/>
              </a:rPr>
              <a:t>For BDOI: </a:t>
            </a:r>
            <a:r>
              <a:rPr sz="1200" b="0">
                <a:solidFill>
                  <a:srgbClr val="4B4B4B"/>
                </a:solidFill>
                <a:latin typeface="Arial"/>
              </a:rPr>
              <a:t>Build from the ageing reports.</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Repair network integration</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repair time</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LOA and repair status exchanged with accredited shops and dealers.</a:t>
            </a:r>
          </a:p>
          <a:p>
            <a:pPr>
              <a:spcAft>
                <a:spcPts val="400"/>
              </a:spcAft>
            </a:pPr>
            <a:r>
              <a:rPr sz="1200" b="1">
                <a:solidFill>
                  <a:srgbClr val="004EA8"/>
                </a:solidFill>
                <a:latin typeface="Arial"/>
              </a:rPr>
              <a:t>For BDOI: </a:t>
            </a:r>
            <a:r>
              <a:rPr sz="1200" b="0">
                <a:solidFill>
                  <a:srgbClr val="4B4B4B"/>
                </a:solidFill>
                <a:latin typeface="Arial"/>
              </a:rPr>
              <a:t>After go-live with the main dealers.</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Document checklist with chasing</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Complete files first time</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Checklist per claim type and automatic reminders to the client.</a:t>
            </a:r>
          </a:p>
          <a:p>
            <a:pPr>
              <a:spcAft>
                <a:spcPts val="400"/>
              </a:spcAft>
            </a:pPr>
            <a:r>
              <a:rPr sz="1200" b="1">
                <a:solidFill>
                  <a:srgbClr val="004EA8"/>
                </a:solidFill>
                <a:latin typeface="Arial"/>
              </a:rPr>
              <a:t>For BDOI: </a:t>
            </a:r>
            <a:r>
              <a:rPr sz="1200" b="0">
                <a:solidFill>
                  <a:srgbClr val="4B4B4B"/>
                </a:solidFill>
                <a:latin typeface="Arial"/>
              </a:rPr>
              <a:t>Define the checklists with the Claims team.</a:t>
            </a:r>
          </a:p>
        </p:txBody>
      </p:sp>
      <p:sp>
        <p:nvSpPr>
          <p:cNvPr id="34" name="Rounded Rectangle 33"/>
          <p:cNvSpPr/>
          <p:nvPr/>
        </p:nvSpPr>
        <p:spPr>
          <a:xfrm>
            <a:off x="8054644"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8054644"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127796"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Claims analytics for renewals</a:t>
            </a:r>
          </a:p>
        </p:txBody>
      </p:sp>
      <p:sp>
        <p:nvSpPr>
          <p:cNvPr id="37" name="TextBox 36"/>
          <p:cNvSpPr txBox="1"/>
          <p:nvPr/>
        </p:nvSpPr>
        <p:spPr>
          <a:xfrm>
            <a:off x="8146084"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Better terms</a:t>
            </a:r>
          </a:p>
        </p:txBody>
      </p:sp>
      <p:sp>
        <p:nvSpPr>
          <p:cNvPr id="38" name="TextBox 37"/>
          <p:cNvSpPr txBox="1"/>
          <p:nvPr/>
        </p:nvSpPr>
        <p:spPr>
          <a:xfrm>
            <a:off x="8127796"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Loss ratio and claims-prone locations feed renewals and risk advice.</a:t>
            </a:r>
          </a:p>
          <a:p>
            <a:pPr>
              <a:spcAft>
                <a:spcPts val="400"/>
              </a:spcAft>
            </a:pPr>
            <a:r>
              <a:rPr sz="1200" b="1">
                <a:solidFill>
                  <a:srgbClr val="004EA8"/>
                </a:solidFill>
                <a:latin typeface="Arial"/>
              </a:rPr>
              <a:t>For BDOI: </a:t>
            </a:r>
            <a:r>
              <a:rPr sz="1200" b="0">
                <a:solidFill>
                  <a:srgbClr val="4B4B4B"/>
                </a:solidFill>
                <a:latin typeface="Arial"/>
              </a:rPr>
              <a:t>Share loss experience with Renewal and TSU.</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Customer Servicing: at a glance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548640"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8368" y="1280160"/>
            <a:ext cx="3576218" cy="411480"/>
          </a:xfrm>
          <a:prstGeom prst="rect">
            <a:avLst/>
          </a:prstGeom>
          <a:noFill/>
        </p:spPr>
        <p:txBody>
          <a:bodyPr wrap="square" anchor="ctr" lIns="45720" rIns="45720">
            <a:spAutoFit/>
          </a:bodyPr>
          <a:lstStyle/>
          <a:p>
            <a:r>
              <a:rPr sz="1400" b="1" i="0">
                <a:solidFill>
                  <a:srgbClr val="FFFFFF"/>
                </a:solidFill>
                <a:latin typeface="Arial"/>
              </a:rPr>
              <a:t>Department and roles</a:t>
            </a:r>
          </a:p>
        </p:txBody>
      </p:sp>
      <p:sp>
        <p:nvSpPr>
          <p:cNvPr id="12" name="TextBox 11"/>
          <p:cNvSpPr txBox="1"/>
          <p:nvPr/>
        </p:nvSpPr>
        <p:spPr>
          <a:xfrm>
            <a:off x="640080" y="1783080"/>
            <a:ext cx="3393338" cy="3063240"/>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Contact Center Management / Alternative Distribution</a:t>
            </a:r>
          </a:p>
          <a:p>
            <a:pPr>
              <a:spcAft>
                <a:spcPts val="300"/>
              </a:spcAft>
            </a:pPr>
            <a:r>
              <a:rPr sz="1200" b="0">
                <a:solidFill>
                  <a:srgbClr val="004EA8"/>
                </a:solidFill>
                <a:latin typeface="Arial"/>
              </a:rPr>
              <a:t>•  </a:t>
            </a:r>
            <a:r>
              <a:rPr sz="1200" b="0">
                <a:solidFill>
                  <a:srgbClr val="4B4B4B"/>
                </a:solidFill>
                <a:latin typeface="Arial"/>
              </a:rPr>
              <a:t>BDO Insure contact centre agent (CSR)</a:t>
            </a:r>
          </a:p>
          <a:p>
            <a:pPr>
              <a:spcAft>
                <a:spcPts val="300"/>
              </a:spcAft>
            </a:pPr>
            <a:r>
              <a:rPr sz="1200" b="0">
                <a:solidFill>
                  <a:srgbClr val="004EA8"/>
                </a:solidFill>
                <a:latin typeface="Arial"/>
              </a:rPr>
              <a:t>•  </a:t>
            </a:r>
            <a:r>
              <a:rPr sz="1200" b="0">
                <a:solidFill>
                  <a:srgbClr val="4B4B4B"/>
                </a:solidFill>
                <a:latin typeface="Arial"/>
              </a:rPr>
              <a:t>Contact centre supervisor; BDO contact centre (BDO CCC) personnel</a:t>
            </a:r>
          </a:p>
          <a:p>
            <a:pPr>
              <a:spcAft>
                <a:spcPts val="300"/>
              </a:spcAft>
            </a:pPr>
            <a:r>
              <a:rPr sz="1200" b="0">
                <a:solidFill>
                  <a:srgbClr val="004EA8"/>
                </a:solidFill>
                <a:latin typeface="Arial"/>
              </a:rPr>
              <a:t>•  </a:t>
            </a:r>
            <a:r>
              <a:rPr sz="1200" b="0">
                <a:solidFill>
                  <a:srgbClr val="4B4B4B"/>
                </a:solidFill>
                <a:latin typeface="Arial"/>
              </a:rPr>
              <a:t>Fulfilment units: the Marketing unit that manages the account</a:t>
            </a:r>
          </a:p>
          <a:p>
            <a:pPr>
              <a:spcAft>
                <a:spcPts val="300"/>
              </a:spcAft>
            </a:pPr>
            <a:r>
              <a:rPr sz="1200" b="0">
                <a:solidFill>
                  <a:srgbClr val="004EA8"/>
                </a:solidFill>
                <a:latin typeface="Arial"/>
              </a:rPr>
              <a:t>•  </a:t>
            </a:r>
            <a:r>
              <a:rPr sz="1200" b="0">
                <a:solidFill>
                  <a:srgbClr val="4B4B4B"/>
                </a:solidFill>
                <a:latin typeface="Arial"/>
              </a:rPr>
              <a:t>Contact centre management, leads and heads; System Administrator</a:t>
            </a:r>
          </a:p>
          <a:p>
            <a:pPr>
              <a:spcAft>
                <a:spcPts val="300"/>
              </a:spcAft>
            </a:pPr>
            <a:r>
              <a:rPr sz="1200" b="0">
                <a:solidFill>
                  <a:srgbClr val="004EA8"/>
                </a:solidFill>
                <a:latin typeface="Arial"/>
              </a:rPr>
              <a:t>•  </a:t>
            </a:r>
            <a:r>
              <a:rPr sz="1200" b="0">
                <a:solidFill>
                  <a:srgbClr val="4B4B4B"/>
                </a:solidFill>
                <a:latin typeface="Arial"/>
              </a:rPr>
              <a:t>Callers (clients)</a:t>
            </a:r>
          </a:p>
        </p:txBody>
      </p:sp>
      <p:sp>
        <p:nvSpPr>
          <p:cNvPr id="13" name="Rounded Rectangle 12"/>
          <p:cNvSpPr/>
          <p:nvPr/>
        </p:nvSpPr>
        <p:spPr>
          <a:xfrm>
            <a:off x="4307738"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7738"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417466" y="1280160"/>
            <a:ext cx="3576218" cy="411480"/>
          </a:xfrm>
          <a:prstGeom prst="rect">
            <a:avLst/>
          </a:prstGeom>
          <a:noFill/>
        </p:spPr>
        <p:txBody>
          <a:bodyPr wrap="square" anchor="ctr" lIns="45720" rIns="45720">
            <a:spAutoFit/>
          </a:bodyPr>
          <a:lstStyle/>
          <a:p>
            <a:r>
              <a:rPr sz="1400" b="1" i="0">
                <a:solidFill>
                  <a:srgbClr val="FFFFFF"/>
                </a:solidFill>
                <a:latin typeface="Arial"/>
              </a:rPr>
              <a:t>Volumes and business rules</a:t>
            </a:r>
          </a:p>
        </p:txBody>
      </p:sp>
      <p:sp>
        <p:nvSpPr>
          <p:cNvPr id="16" name="Rounded Rectangle 15"/>
          <p:cNvSpPr/>
          <p:nvPr/>
        </p:nvSpPr>
        <p:spPr>
          <a:xfrm>
            <a:off x="4399178" y="1783080"/>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472330" y="1783080"/>
            <a:ext cx="1417320" cy="713232"/>
          </a:xfrm>
          <a:prstGeom prst="rect">
            <a:avLst/>
          </a:prstGeom>
          <a:noFill/>
        </p:spPr>
        <p:txBody>
          <a:bodyPr wrap="square" anchor="ctr" lIns="45720" rIns="45720">
            <a:spAutoFit/>
          </a:bodyPr>
          <a:lstStyle/>
          <a:p>
            <a:r>
              <a:rPr sz="2000" b="1" i="0">
                <a:solidFill>
                  <a:srgbClr val="004EA8"/>
                </a:solidFill>
                <a:latin typeface="Arial"/>
              </a:rPr>
              <a:t>2 centres</a:t>
            </a:r>
          </a:p>
        </p:txBody>
      </p:sp>
      <p:sp>
        <p:nvSpPr>
          <p:cNvPr id="18" name="TextBox 17"/>
          <p:cNvSpPr txBox="1"/>
          <p:nvPr/>
        </p:nvSpPr>
        <p:spPr>
          <a:xfrm>
            <a:off x="5880506" y="1783080"/>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BDO Insure contact centre and BDO CCC handle cases (Case To-Be)</a:t>
            </a:r>
          </a:p>
        </p:txBody>
      </p:sp>
      <p:sp>
        <p:nvSpPr>
          <p:cNvPr id="19" name="Rounded Rectangle 18"/>
          <p:cNvSpPr/>
          <p:nvPr/>
        </p:nvSpPr>
        <p:spPr>
          <a:xfrm>
            <a:off x="4399178" y="2569464"/>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472330" y="2569464"/>
            <a:ext cx="1417320" cy="713232"/>
          </a:xfrm>
          <a:prstGeom prst="rect">
            <a:avLst/>
          </a:prstGeom>
          <a:noFill/>
        </p:spPr>
        <p:txBody>
          <a:bodyPr wrap="square" anchor="ctr" lIns="45720" rIns="45720">
            <a:spAutoFit/>
          </a:bodyPr>
          <a:lstStyle/>
          <a:p>
            <a:r>
              <a:rPr sz="2000" b="1" i="0">
                <a:solidFill>
                  <a:srgbClr val="004EA8"/>
                </a:solidFill>
                <a:latin typeface="Arial"/>
              </a:rPr>
              <a:t>2 paths</a:t>
            </a:r>
          </a:p>
        </p:txBody>
      </p:sp>
      <p:sp>
        <p:nvSpPr>
          <p:cNvPr id="21" name="TextBox 20"/>
          <p:cNvSpPr txBox="1"/>
          <p:nvPr/>
        </p:nvSpPr>
        <p:spPr>
          <a:xfrm>
            <a:off x="5880506" y="2569464"/>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search: CBG accounts by invoice or PN, non-CBG by name (CSF flow)</a:t>
            </a:r>
          </a:p>
        </p:txBody>
      </p:sp>
      <p:sp>
        <p:nvSpPr>
          <p:cNvPr id="22" name="Rounded Rectangle 21"/>
          <p:cNvSpPr/>
          <p:nvPr/>
        </p:nvSpPr>
        <p:spPr>
          <a:xfrm>
            <a:off x="4399178" y="3355848"/>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472330" y="3355848"/>
            <a:ext cx="1417320" cy="713232"/>
          </a:xfrm>
          <a:prstGeom prst="rect">
            <a:avLst/>
          </a:prstGeom>
          <a:noFill/>
        </p:spPr>
        <p:txBody>
          <a:bodyPr wrap="square" anchor="ctr" lIns="45720" rIns="45720">
            <a:spAutoFit/>
          </a:bodyPr>
          <a:lstStyle/>
          <a:p>
            <a:r>
              <a:rPr sz="2000" b="1" i="0">
                <a:solidFill>
                  <a:srgbClr val="004EA8"/>
                </a:solidFill>
                <a:latin typeface="Arial"/>
              </a:rPr>
              <a:t>7 steps</a:t>
            </a:r>
          </a:p>
        </p:txBody>
      </p:sp>
      <p:sp>
        <p:nvSpPr>
          <p:cNvPr id="24" name="TextBox 23"/>
          <p:cNvSpPr txBox="1"/>
          <p:nvPr/>
        </p:nvSpPr>
        <p:spPr>
          <a:xfrm>
            <a:off x="5880506" y="3355848"/>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in BDOI's case-management To-Be of 15-Jul-2026</a:t>
            </a:r>
          </a:p>
        </p:txBody>
      </p:sp>
      <p:sp>
        <p:nvSpPr>
          <p:cNvPr id="25" name="Rounded Rectangle 24"/>
          <p:cNvSpPr/>
          <p:nvPr/>
        </p:nvSpPr>
        <p:spPr>
          <a:xfrm>
            <a:off x="4399178" y="4142232"/>
            <a:ext cx="3393338" cy="71323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4472330" y="4142232"/>
            <a:ext cx="1417320" cy="713232"/>
          </a:xfrm>
          <a:prstGeom prst="rect">
            <a:avLst/>
          </a:prstGeom>
          <a:noFill/>
        </p:spPr>
        <p:txBody>
          <a:bodyPr wrap="square" anchor="ctr" lIns="45720" rIns="45720">
            <a:spAutoFit/>
          </a:bodyPr>
          <a:lstStyle/>
          <a:p>
            <a:r>
              <a:rPr sz="2000" b="1" i="0">
                <a:solidFill>
                  <a:srgbClr val="004EA8"/>
                </a:solidFill>
                <a:latin typeface="Arial"/>
              </a:rPr>
              <a:t>TAT</a:t>
            </a:r>
          </a:p>
        </p:txBody>
      </p:sp>
      <p:sp>
        <p:nvSpPr>
          <p:cNvPr id="27" name="TextBox 26"/>
          <p:cNvSpPr txBox="1"/>
          <p:nvPr/>
        </p:nvSpPr>
        <p:spPr>
          <a:xfrm>
            <a:off x="5880506" y="4142232"/>
            <a:ext cx="1884578" cy="713232"/>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per referred case, which BDOI wants visible (Case To-Be)</a:t>
            </a:r>
          </a:p>
        </p:txBody>
      </p:sp>
      <p:sp>
        <p:nvSpPr>
          <p:cNvPr id="28" name="Rounded Rectangle 27"/>
          <p:cNvSpPr/>
          <p:nvPr/>
        </p:nvSpPr>
        <p:spPr>
          <a:xfrm>
            <a:off x="8066836" y="1280160"/>
            <a:ext cx="3576218" cy="361188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8066836" y="1280160"/>
            <a:ext cx="3576218" cy="41148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176564" y="1280160"/>
            <a:ext cx="3576218" cy="411480"/>
          </a:xfrm>
          <a:prstGeom prst="rect">
            <a:avLst/>
          </a:prstGeom>
          <a:noFill/>
        </p:spPr>
        <p:txBody>
          <a:bodyPr wrap="square" anchor="ctr" lIns="45720" rIns="45720">
            <a:spAutoFit/>
          </a:bodyPr>
          <a:lstStyle/>
          <a:p>
            <a:r>
              <a:rPr sz="1400" b="1" i="0">
                <a:solidFill>
                  <a:srgbClr val="FFFFFF"/>
                </a:solidFill>
                <a:latin typeface="Arial"/>
              </a:rPr>
              <a:t>How we learned it</a:t>
            </a:r>
          </a:p>
        </p:txBody>
      </p:sp>
      <p:sp>
        <p:nvSpPr>
          <p:cNvPr id="31" name="TextBox 30"/>
          <p:cNvSpPr txBox="1"/>
          <p:nvPr/>
        </p:nvSpPr>
        <p:spPr>
          <a:xfrm>
            <a:off x="8158276" y="1783080"/>
            <a:ext cx="3393338" cy="3063240"/>
          </a:xfrm>
          <a:prstGeom prst="rect">
            <a:avLst/>
          </a:prstGeom>
          <a:noFill/>
        </p:spPr>
        <p:txBody>
          <a:bodyPr wrap="square" anchor="t" lIns="45720" rIns="45720" tIns="18288" bIns="18288">
            <a:spAutoFit/>
          </a:bodyPr>
          <a:lstStyle/>
          <a:p>
            <a:pPr>
              <a:spcAft>
                <a:spcPts val="400"/>
              </a:spcAft>
            </a:pPr>
            <a:r>
              <a:rPr sz="1100" b="1">
                <a:solidFill>
                  <a:srgbClr val="004EA8"/>
                </a:solidFill>
                <a:latin typeface="Arial"/>
              </a:rPr>
              <a:t>Floor walk: </a:t>
            </a:r>
            <a:r>
              <a:rPr sz="1100" b="0">
                <a:solidFill>
                  <a:srgbClr val="2E2E2E"/>
                </a:solidFill>
                <a:latin typeface="Arial"/>
              </a:rPr>
              <a:t>Process flows shared by BDOI; the contact centre was not in the September floor-walk slots</a:t>
            </a:r>
          </a:p>
          <a:p>
            <a:pPr>
              <a:spcAft>
                <a:spcPts val="400"/>
              </a:spcAft>
            </a:pPr>
            <a:r>
              <a:rPr sz="1100" b="1">
                <a:solidFill>
                  <a:srgbClr val="004EA8"/>
                </a:solidFill>
                <a:latin typeface="Arial"/>
              </a:rPr>
              <a:t>Process owners: </a:t>
            </a:r>
            <a:r>
              <a:rPr sz="1100" b="0">
                <a:solidFill>
                  <a:srgbClr val="4B4B4B"/>
                </a:solidFill>
                <a:latin typeface="Arial"/>
              </a:rPr>
              <a:t>Contact Center Management (BDO Insure)</a:t>
            </a:r>
          </a:p>
          <a:p>
            <a:pPr>
              <a:spcAft>
                <a:spcPts val="400"/>
              </a:spcAft>
            </a:pPr>
            <a:r>
              <a:rPr sz="1100" b="0">
                <a:solidFill>
                  <a:srgbClr val="004EA8"/>
                </a:solidFill>
                <a:latin typeface="Arial"/>
              </a:rPr>
              <a:t>•  </a:t>
            </a:r>
            <a:r>
              <a:rPr sz="1100" b="0">
                <a:solidFill>
                  <a:srgbClr val="4B4B4B"/>
                </a:solidFill>
                <a:latin typeface="Arial"/>
              </a:rPr>
              <a:t>Customer Servicing Facility process flow</a:t>
            </a:r>
          </a:p>
          <a:p>
            <a:pPr>
              <a:spcAft>
                <a:spcPts val="400"/>
              </a:spcAft>
            </a:pPr>
            <a:r>
              <a:rPr sz="1100" b="0">
                <a:solidFill>
                  <a:srgbClr val="004EA8"/>
                </a:solidFill>
                <a:latin typeface="Arial"/>
              </a:rPr>
              <a:t>•  </a:t>
            </a:r>
            <a:r>
              <a:rPr sz="1100" b="0">
                <a:solidFill>
                  <a:srgbClr val="4B4B4B"/>
                </a:solidFill>
                <a:latin typeface="Arial"/>
              </a:rPr>
              <a:t>BDOI Case Management To-Be process flow, 15-Jul-2026</a:t>
            </a:r>
          </a:p>
          <a:p>
            <a:pPr>
              <a:spcAft>
                <a:spcPts val="400"/>
              </a:spcAft>
            </a:pPr>
            <a:r>
              <a:rPr sz="1100" b="0">
                <a:solidFill>
                  <a:srgbClr val="004EA8"/>
                </a:solidFill>
                <a:latin typeface="Arial"/>
              </a:rPr>
              <a:t>•  </a:t>
            </a:r>
            <a:r>
              <a:rPr sz="1100" b="0">
                <a:solidFill>
                  <a:srgbClr val="4B4B4B"/>
                </a:solidFill>
                <a:latin typeface="Arial"/>
              </a:rPr>
              <a:t>New Business and Renewal flows (e-policy after a fall-out)</a:t>
            </a:r>
          </a:p>
        </p:txBody>
      </p:sp>
      <p:sp>
        <p:nvSpPr>
          <p:cNvPr id="32" name="TextBox 31"/>
          <p:cNvSpPr txBox="1"/>
          <p:nvPr/>
        </p:nvSpPr>
        <p:spPr>
          <a:xfrm>
            <a:off x="548640" y="5093208"/>
            <a:ext cx="11094415" cy="274320"/>
          </a:xfrm>
          <a:prstGeom prst="rect">
            <a:avLst/>
          </a:prstGeom>
          <a:noFill/>
        </p:spPr>
        <p:txBody>
          <a:bodyPr wrap="square" anchor="t" lIns="45720" rIns="45720">
            <a:spAutoFit/>
          </a:bodyPr>
          <a:lstStyle/>
          <a:p>
            <a:r>
              <a:rPr sz="1200" b="1" i="0">
                <a:solidFill>
                  <a:srgbClr val="656565"/>
                </a:solidFill>
                <a:latin typeface="Arial"/>
              </a:rPr>
              <a:t>The process in one line</a:t>
            </a:r>
          </a:p>
        </p:txBody>
      </p:sp>
      <p:sp>
        <p:nvSpPr>
          <p:cNvPr id="33" name="Pentagon 32"/>
          <p:cNvSpPr/>
          <p:nvPr/>
        </p:nvSpPr>
        <p:spPr>
          <a:xfrm>
            <a:off x="548640" y="5385816"/>
            <a:ext cx="1496529" cy="658368"/>
          </a:xfrm>
          <a:prstGeom prst="homePlate">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585216"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Contact</a:t>
            </a:r>
          </a:p>
        </p:txBody>
      </p:sp>
      <p:sp>
        <p:nvSpPr>
          <p:cNvPr id="35" name="Chevron 34"/>
          <p:cNvSpPr/>
          <p:nvPr/>
        </p:nvSpPr>
        <p:spPr>
          <a:xfrm>
            <a:off x="1935441"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211832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Identify</a:t>
            </a:r>
          </a:p>
        </p:txBody>
      </p:sp>
      <p:sp>
        <p:nvSpPr>
          <p:cNvPr id="37" name="Chevron 36"/>
          <p:cNvSpPr/>
          <p:nvPr/>
        </p:nvSpPr>
        <p:spPr>
          <a:xfrm>
            <a:off x="3322243"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350512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Search</a:t>
            </a:r>
          </a:p>
        </p:txBody>
      </p:sp>
      <p:sp>
        <p:nvSpPr>
          <p:cNvPr id="39" name="Chevron 38"/>
          <p:cNvSpPr/>
          <p:nvPr/>
        </p:nvSpPr>
        <p:spPr>
          <a:xfrm>
            <a:off x="4709045"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4891925"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View</a:t>
            </a:r>
          </a:p>
        </p:txBody>
      </p:sp>
      <p:sp>
        <p:nvSpPr>
          <p:cNvPr id="41" name="Chevron 40"/>
          <p:cNvSpPr/>
          <p:nvPr/>
        </p:nvSpPr>
        <p:spPr>
          <a:xfrm>
            <a:off x="6095847"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278727"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Verify</a:t>
            </a:r>
          </a:p>
        </p:txBody>
      </p:sp>
      <p:sp>
        <p:nvSpPr>
          <p:cNvPr id="43" name="Chevron 42"/>
          <p:cNvSpPr/>
          <p:nvPr/>
        </p:nvSpPr>
        <p:spPr>
          <a:xfrm>
            <a:off x="7482649"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7665529"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Update</a:t>
            </a:r>
          </a:p>
        </p:txBody>
      </p:sp>
      <p:sp>
        <p:nvSpPr>
          <p:cNvPr id="45" name="Chevron 44"/>
          <p:cNvSpPr/>
          <p:nvPr/>
        </p:nvSpPr>
        <p:spPr>
          <a:xfrm>
            <a:off x="8869451" y="5385816"/>
            <a:ext cx="1496529" cy="658368"/>
          </a:xfrm>
          <a:prstGeom prst="chevron">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052331"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Resend or refer</a:t>
            </a:r>
          </a:p>
        </p:txBody>
      </p:sp>
      <p:sp>
        <p:nvSpPr>
          <p:cNvPr id="47" name="Chevron 46"/>
          <p:cNvSpPr/>
          <p:nvPr/>
        </p:nvSpPr>
        <p:spPr>
          <a:xfrm>
            <a:off x="10256253" y="5385816"/>
            <a:ext cx="1496529" cy="658368"/>
          </a:xfrm>
          <a:prstGeom prst="chevron">
            <a:avLst/>
          </a:prstGeom>
          <a:solidFill>
            <a:srgbClr val="FFFF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439133" y="5385816"/>
            <a:ext cx="1167345" cy="658368"/>
          </a:xfrm>
          <a:prstGeom prst="rect">
            <a:avLst/>
          </a:prstGeom>
          <a:noFill/>
        </p:spPr>
        <p:txBody>
          <a:bodyPr wrap="square" anchor="ctr" lIns="45720" rIns="45720" tIns="18288" bIns="18288">
            <a:spAutoFit/>
          </a:bodyPr>
          <a:lstStyle/>
          <a:p>
            <a:pPr algn="ctr">
              <a:spcAft>
                <a:spcPts val="0"/>
              </a:spcAft>
            </a:pPr>
            <a:r>
              <a:rPr sz="1100" b="1">
                <a:solidFill>
                  <a:srgbClr val="004EA8"/>
                </a:solidFill>
                <a:latin typeface="Arial"/>
              </a:rPr>
              <a:t>Close</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Customer Servicing: what we heard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736558"/>
                <a:gridCol w="1749326"/>
                <a:gridCol w="1242942"/>
                <a:gridCol w="4235212"/>
                <a:gridCol w="3130374"/>
              </a:tblGrid>
              <a:tr h="365760">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Topic</a:t>
                      </a:r>
                    </a:p>
                  </a:txBody>
                  <a:tcPr marL="64008" marR="64008" marT="27432" marB="27432" anchor="ctr">
                    <a:solidFill>
                      <a:srgbClr val="004EA8"/>
                    </a:solidFill>
                  </a:tcPr>
                </a:tc>
                <a:tc>
                  <a:txBody>
                    <a:bodyPr wrap="square"/>
                    <a:lstStyle/>
                    <a:p>
                      <a:r>
                        <a:rPr sz="1100" b="1">
                          <a:solidFill>
                            <a:srgbClr val="FFFFFF"/>
                          </a:solidFill>
                          <a:latin typeface="Arial"/>
                        </a:rPr>
                        <a:t>Type</a:t>
                      </a:r>
                    </a:p>
                  </a:txBody>
                  <a:tcPr marL="64008" marR="64008" marT="27432" marB="27432" anchor="ctr">
                    <a:solidFill>
                      <a:srgbClr val="004EA8"/>
                    </a:solidFill>
                  </a:tcPr>
                </a:tc>
                <a:tc>
                  <a:txBody>
                    <a:bodyPr wrap="square"/>
                    <a:lstStyle/>
                    <a:p>
                      <a:r>
                        <a:rPr sz="1100" b="1">
                          <a:solidFill>
                            <a:srgbClr val="FFFFFF"/>
                          </a:solidFill>
                          <a:latin typeface="Arial"/>
                        </a:rPr>
                        <a:t>What we heard (As-Is)</a:t>
                      </a:r>
                    </a:p>
                  </a:txBody>
                  <a:tcPr marL="64008" marR="64008" marT="27432" marB="27432" anchor="ctr">
                    <a:solidFill>
                      <a:srgbClr val="004EA8"/>
                    </a:solidFill>
                  </a:tcPr>
                </a:tc>
                <a:tc>
                  <a:txBody>
                    <a:bodyPr wrap="square"/>
                    <a:lstStyle/>
                    <a:p>
                      <a:r>
                        <a:rPr sz="1100" b="1">
                          <a:solidFill>
                            <a:srgbClr val="FFFFFF"/>
                          </a:solidFill>
                          <a:latin typeface="Arial"/>
                        </a:rPr>
                        <a:t>What the business wants (To-Be)</a:t>
                      </a:r>
                    </a:p>
                  </a:txBody>
                  <a:tcPr marL="64008" marR="64008" marT="27432" marB="27432" anchor="ctr">
                    <a:solidFill>
                      <a:srgbClr val="004EA8"/>
                    </a:solidFill>
                  </a:tcPr>
                </a:tc>
              </a:tr>
              <a:tr h="758952">
                <a:tc>
                  <a:txBody>
                    <a:bodyPr wrap="square"/>
                    <a:lstStyle/>
                    <a:p>
                      <a:r>
                        <a:rPr sz="1100" b="1">
                          <a:solidFill>
                            <a:srgbClr val="4B4B4B"/>
                          </a:solidFill>
                          <a:latin typeface="Arial"/>
                        </a:rPr>
                        <a:t>CSF flow</a:t>
                      </a:r>
                    </a:p>
                  </a:txBody>
                  <a:tcPr marL="64008" marR="64008" marT="27432" marB="27432" anchor="ctr">
                    <a:solidFill>
                      <a:srgbClr val="FFFFFF"/>
                    </a:solidFill>
                  </a:tcPr>
                </a:tc>
                <a:tc>
                  <a:txBody>
                    <a:bodyPr wrap="square"/>
                    <a:lstStyle/>
                    <a:p>
                      <a:r>
                        <a:rPr sz="1100" b="0">
                          <a:solidFill>
                            <a:srgbClr val="4B4B4B"/>
                          </a:solidFill>
                          <a:latin typeface="Arial"/>
                        </a:rPr>
                        <a:t>Search</a:t>
                      </a:r>
                    </a:p>
                  </a:txBody>
                  <a:tcPr marL="64008" marR="64008" marT="27432" marB="27432" anchor="ctr">
                    <a:solidFill>
                      <a:srgbClr val="FFFFFF"/>
                    </a:solidFill>
                  </a:tcPr>
                </a:tc>
                <a:tc>
                  <a:txBody>
                    <a:bodyPr wrap="square"/>
                    <a:lstStyle/>
                    <a:p>
                      <a:pPr algn="ctr"/>
                      <a:r>
                        <a:rPr sz="1100" b="1">
                          <a:solidFill>
                            <a:srgbClr val="2E2E2E"/>
                          </a:solidFill>
                          <a:latin typeface="Arial"/>
                        </a:rPr>
                        <a:t>As-Is</a:t>
                      </a:r>
                    </a:p>
                  </a:txBody>
                  <a:tcPr marL="64008" marR="64008" marT="27432" marB="27432" anchor="ctr">
                    <a:solidFill>
                      <a:srgbClr val="F6F6F6"/>
                    </a:solidFill>
                  </a:tcPr>
                </a:tc>
                <a:tc>
                  <a:txBody>
                    <a:bodyPr wrap="square"/>
                    <a:lstStyle/>
                    <a:p>
                      <a:r>
                        <a:rPr sz="1100" b="0">
                          <a:solidFill>
                            <a:srgbClr val="4B4B4B"/>
                          </a:solidFill>
                          <a:latin typeface="Arial"/>
                        </a:rPr>
                        <a:t>Account inquiry by invoice number, PN number, last, first or full name (CBG); client inquiry by name for Non-CBG; open the account from the invoice or client code; view contact and insurance details.</a:t>
                      </a:r>
                    </a:p>
                  </a:txBody>
                  <a:tcPr marL="64008" marR="64008" marT="27432" marB="27432" anchor="ctr">
                    <a:solidFill>
                      <a:srgbClr val="FFFFFF"/>
                    </a:solidFill>
                  </a:tcPr>
                </a:tc>
                <a:tc>
                  <a:txBody>
                    <a:bodyPr wrap="square"/>
                    <a:lstStyle/>
                    <a:p>
                      <a:r>
                        <a:rPr sz="1100" b="0">
                          <a:solidFill>
                            <a:srgbClr val="4B4B4B"/>
                          </a:solidFill>
                          <a:latin typeface="Arial"/>
                        </a:rPr>
                        <a:t>-</a:t>
                      </a:r>
                    </a:p>
                  </a:txBody>
                  <a:tcPr marL="64008" marR="64008" marT="27432" marB="27432" anchor="ctr">
                    <a:solidFill>
                      <a:srgbClr val="FFFFFF"/>
                    </a:solidFill>
                  </a:tcPr>
                </a:tc>
              </a:tr>
              <a:tr h="758952">
                <a:tc>
                  <a:txBody>
                    <a:bodyPr wrap="square"/>
                    <a:lstStyle/>
                    <a:p>
                      <a:r>
                        <a:rPr sz="1100" b="1">
                          <a:solidFill>
                            <a:srgbClr val="4B4B4B"/>
                          </a:solidFill>
                          <a:latin typeface="Arial"/>
                        </a:rPr>
                        <a:t>CSF flow</a:t>
                      </a:r>
                    </a:p>
                  </a:txBody>
                  <a:tcPr marL="64008" marR="64008" marT="27432" marB="27432" anchor="ctr">
                    <a:solidFill>
                      <a:srgbClr val="E5F5FF"/>
                    </a:solidFill>
                  </a:tcPr>
                </a:tc>
                <a:tc>
                  <a:txBody>
                    <a:bodyPr wrap="square"/>
                    <a:lstStyle/>
                    <a:p>
                      <a:r>
                        <a:rPr sz="1100" b="0">
                          <a:solidFill>
                            <a:srgbClr val="4B4B4B"/>
                          </a:solidFill>
                          <a:latin typeface="Arial"/>
                        </a:rPr>
                        <a:t>Contact update</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When contact details change, the agent updates them and the system migration updates the source databases (QPS, EBIX).</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r h="758952">
                <a:tc>
                  <a:txBody>
                    <a:bodyPr wrap="square"/>
                    <a:lstStyle/>
                    <a:p>
                      <a:r>
                        <a:rPr sz="1100" b="1">
                          <a:solidFill>
                            <a:srgbClr val="4B4B4B"/>
                          </a:solidFill>
                          <a:latin typeface="Arial"/>
                        </a:rPr>
                        <a:t>Case To-Be</a:t>
                      </a:r>
                    </a:p>
                  </a:txBody>
                  <a:tcPr marL="64008" marR="64008" marT="27432" marB="27432" anchor="ctr">
                    <a:solidFill>
                      <a:srgbClr val="FFFFFF"/>
                    </a:solidFill>
                  </a:tcPr>
                </a:tc>
                <a:tc>
                  <a:txBody>
                    <a:bodyPr wrap="square"/>
                    <a:lstStyle/>
                    <a:p>
                      <a:r>
                        <a:rPr sz="1100" b="0">
                          <a:solidFill>
                            <a:srgbClr val="4B4B4B"/>
                          </a:solidFill>
                          <a:latin typeface="Arial"/>
                        </a:rPr>
                        <a:t>Case logging</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Agent identifies the client and the concern; logs every concern in CLS by typing it in; general inquiries answered from CC Nav and closed.</a:t>
                      </a:r>
                    </a:p>
                  </a:txBody>
                  <a:tcPr marL="64008" marR="64008" marT="27432" marB="27432" anchor="ctr">
                    <a:solidFill>
                      <a:srgbClr val="FFFFFF"/>
                    </a:solidFill>
                  </a:tcPr>
                </a:tc>
                <a:tc>
                  <a:txBody>
                    <a:bodyPr wrap="square"/>
                    <a:lstStyle/>
                    <a:p>
                      <a:r>
                        <a:rPr sz="1100" b="0">
                          <a:solidFill>
                            <a:srgbClr val="4B4B4B"/>
                          </a:solidFill>
                          <a:latin typeface="Arial"/>
                        </a:rPr>
                        <a:t>Client details filled in automatically in the case form.</a:t>
                      </a:r>
                    </a:p>
                  </a:txBody>
                  <a:tcPr marL="64008" marR="64008" marT="27432" marB="27432" anchor="ctr">
                    <a:solidFill>
                      <a:srgbClr val="FFFFFF"/>
                    </a:solidFill>
                  </a:tcPr>
                </a:tc>
              </a:tr>
              <a:tr h="758952">
                <a:tc>
                  <a:txBody>
                    <a:bodyPr wrap="square"/>
                    <a:lstStyle/>
                    <a:p>
                      <a:r>
                        <a:rPr sz="1100" b="1">
                          <a:solidFill>
                            <a:srgbClr val="4B4B4B"/>
                          </a:solidFill>
                          <a:latin typeface="Arial"/>
                        </a:rPr>
                        <a:t>Case To-Be</a:t>
                      </a:r>
                    </a:p>
                  </a:txBody>
                  <a:tcPr marL="64008" marR="64008" marT="27432" marB="27432" anchor="ctr">
                    <a:solidFill>
                      <a:srgbClr val="E5F5FF"/>
                    </a:solidFill>
                  </a:tcPr>
                </a:tc>
                <a:tc>
                  <a:txBody>
                    <a:bodyPr wrap="square"/>
                    <a:lstStyle/>
                    <a:p>
                      <a:r>
                        <a:rPr sz="1100" b="0">
                          <a:solidFill>
                            <a:srgbClr val="4B4B4B"/>
                          </a:solidFill>
                          <a:latin typeface="Arial"/>
                        </a:rPr>
                        <a:t>Positive identification</a:t>
                      </a:r>
                    </a:p>
                  </a:txBody>
                  <a:tcPr marL="64008" marR="64008" marT="27432" marB="27432" anchor="ctr">
                    <a:solidFill>
                      <a:srgbClr val="E5F5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Positive identification (PID) of the client before any account transaction; failed PID closes the case.</a:t>
                      </a:r>
                    </a:p>
                  </a:txBody>
                  <a:tcPr marL="64008" marR="64008" marT="27432" marB="27432" anchor="ctr">
                    <a:solidFill>
                      <a:srgbClr val="E5F5FF"/>
                    </a:solidFill>
                  </a:tcPr>
                </a:tc>
                <a:tc>
                  <a:txBody>
                    <a:bodyPr wrap="square"/>
                    <a:lstStyle/>
                    <a:p>
                      <a:r>
                        <a:rPr sz="1100" b="0">
                          <a:solidFill>
                            <a:srgbClr val="4B4B4B"/>
                          </a:solidFill>
                          <a:latin typeface="Arial"/>
                        </a:rPr>
                        <a:t>PID as a step of the case.</a:t>
                      </a:r>
                    </a:p>
                  </a:txBody>
                  <a:tcPr marL="64008" marR="64008" marT="27432" marB="27432" anchor="ctr">
                    <a:solidFill>
                      <a:srgbClr val="E5F5FF"/>
                    </a:solidFill>
                  </a:tcPr>
                </a:tc>
              </a:tr>
              <a:tr h="758952">
                <a:tc>
                  <a:txBody>
                    <a:bodyPr wrap="square"/>
                    <a:lstStyle/>
                    <a:p>
                      <a:r>
                        <a:rPr sz="1100" b="1">
                          <a:solidFill>
                            <a:srgbClr val="4B4B4B"/>
                          </a:solidFill>
                          <a:latin typeface="Arial"/>
                        </a:rPr>
                        <a:t>Case To-Be</a:t>
                      </a:r>
                    </a:p>
                  </a:txBody>
                  <a:tcPr marL="64008" marR="64008" marT="27432" marB="27432" anchor="ctr">
                    <a:solidFill>
                      <a:srgbClr val="FFFFFF"/>
                    </a:solidFill>
                  </a:tcPr>
                </a:tc>
                <a:tc>
                  <a:txBody>
                    <a:bodyPr wrap="square"/>
                    <a:lstStyle/>
                    <a:p>
                      <a:r>
                        <a:rPr sz="1100" b="0">
                          <a:solidFill>
                            <a:srgbClr val="4B4B4B"/>
                          </a:solidFill>
                          <a:latin typeface="Arial"/>
                        </a:rPr>
                        <a:t>Referral and TAT</a:t>
                      </a:r>
                    </a:p>
                  </a:txBody>
                  <a:tcPr marL="64008" marR="64008" marT="27432" marB="27432" anchor="ctr">
                    <a:solidFill>
                      <a:srgbClr val="FFFFFF"/>
                    </a:solidFill>
                  </a:tcPr>
                </a:tc>
                <a:tc>
                  <a:txBody>
                    <a:bodyPr wrap="square"/>
                    <a:lstStyle/>
                    <a:p>
                      <a:pPr algn="ctr"/>
                      <a:r>
                        <a:rPr sz="1100" b="1">
                          <a:solidFill>
                            <a:srgbClr val="004EA8"/>
                          </a:solidFill>
                          <a:latin typeface="Arial"/>
                        </a:rPr>
                        <a:t>User aspiration</a:t>
                      </a:r>
                    </a:p>
                  </a:txBody>
                  <a:tcPr marL="64008" marR="64008" marT="27432" marB="27432" anchor="ctr">
                    <a:solidFill>
                      <a:srgbClr val="E5F5FF"/>
                    </a:solidFill>
                  </a:tcPr>
                </a:tc>
                <a:tc>
                  <a:txBody>
                    <a:bodyPr wrap="square"/>
                    <a:lstStyle/>
                    <a:p>
                      <a:r>
                        <a:rPr sz="1100" b="0">
                          <a:solidFill>
                            <a:srgbClr val="4B4B4B"/>
                          </a:solidFill>
                          <a:latin typeface="Arial"/>
                        </a:rPr>
                        <a:t>Concerns not solved at the first contact are referred to the fulfilment unit by e-mail and a CLS prompt.</a:t>
                      </a:r>
                    </a:p>
                  </a:txBody>
                  <a:tcPr marL="64008" marR="64008" marT="27432" marB="27432" anchor="ctr">
                    <a:solidFill>
                      <a:srgbClr val="FFFFFF"/>
                    </a:solidFill>
                  </a:tcPr>
                </a:tc>
                <a:tc>
                  <a:txBody>
                    <a:bodyPr wrap="square"/>
                    <a:lstStyle/>
                    <a:p>
                      <a:r>
                        <a:rPr sz="1100" b="0">
                          <a:solidFill>
                            <a:srgbClr val="4B4B4B"/>
                          </a:solidFill>
                          <a:latin typeface="Arial"/>
                        </a:rPr>
                        <a:t>Cases routed automatically to the Marketing unit of the account; open cases within or past TAT visible; invalid returns re-logged by BDO CCC.</a:t>
                      </a:r>
                    </a:p>
                  </a:txBody>
                  <a:tcPr marL="64008" marR="64008" marT="27432" marB="27432" anchor="ctr">
                    <a:solidFill>
                      <a:srgbClr val="FFFFFF"/>
                    </a:solidFill>
                  </a:tcPr>
                </a:tc>
              </a:tr>
              <a:tr h="758952">
                <a:tc>
                  <a:txBody>
                    <a:bodyPr wrap="square"/>
                    <a:lstStyle/>
                    <a:p>
                      <a:r>
                        <a:rPr sz="1100" b="1">
                          <a:solidFill>
                            <a:srgbClr val="4B4B4B"/>
                          </a:solidFill>
                          <a:latin typeface="Arial"/>
                        </a:rPr>
                        <a:t>NB and RN flows</a:t>
                      </a:r>
                    </a:p>
                  </a:txBody>
                  <a:tcPr marL="64008" marR="64008" marT="27432" marB="27432" anchor="ctr">
                    <a:solidFill>
                      <a:srgbClr val="E5F5FF"/>
                    </a:solidFill>
                  </a:tcPr>
                </a:tc>
                <a:tc>
                  <a:txBody>
                    <a:bodyPr wrap="square"/>
                    <a:lstStyle/>
                    <a:p>
                      <a:r>
                        <a:rPr sz="1100" b="0">
                          <a:solidFill>
                            <a:srgbClr val="4B4B4B"/>
                          </a:solidFill>
                          <a:latin typeface="Arial"/>
                        </a:rPr>
                        <a:t>E-policy after fall-out</a:t>
                      </a:r>
                    </a:p>
                  </a:txBody>
                  <a:tcPr marL="64008" marR="64008" marT="27432" marB="27432" anchor="ctr">
                    <a:solidFill>
                      <a:srgbClr val="E5F5FF"/>
                    </a:solidFill>
                  </a:tcPr>
                </a:tc>
                <a:tc>
                  <a:txBody>
                    <a:bodyPr wrap="square"/>
                    <a:lstStyle/>
                    <a:p>
                      <a:pPr algn="ctr"/>
                      <a:r>
                        <a:rPr sz="1100" b="1">
                          <a:solidFill>
                            <a:srgbClr val="C62828"/>
                          </a:solidFill>
                          <a:latin typeface="Arial"/>
                        </a:rPr>
                        <a:t>Pain point</a:t>
                      </a:r>
                    </a:p>
                  </a:txBody>
                  <a:tcPr marL="64008" marR="64008" marT="27432" marB="27432" anchor="ctr">
                    <a:solidFill>
                      <a:srgbClr val="FDECEA"/>
                    </a:solidFill>
                  </a:tcPr>
                </a:tc>
                <a:tc>
                  <a:txBody>
                    <a:bodyPr wrap="square"/>
                    <a:lstStyle/>
                    <a:p>
                      <a:r>
                        <a:rPr sz="1100" b="0">
                          <a:solidFill>
                            <a:srgbClr val="4B4B4B"/>
                          </a:solidFill>
                          <a:latin typeface="Arial"/>
                        </a:rPr>
                        <a:t>After an SFTP fall-out Marketing fixes the e-policy and the BDOI contact centre sends it to the client.</a:t>
                      </a:r>
                    </a:p>
                  </a:txBody>
                  <a:tcPr marL="64008" marR="64008" marT="27432" marB="27432" anchor="ctr">
                    <a:solidFill>
                      <a:srgbClr val="E5F5FF"/>
                    </a:solidFill>
                  </a:tcPr>
                </a:tc>
                <a:tc>
                  <a:txBody>
                    <a:bodyPr wrap="square"/>
                    <a:lstStyle/>
                    <a:p>
                      <a:r>
                        <a:rPr sz="1100" b="0">
                          <a:solidFill>
                            <a:srgbClr val="4B4B4B"/>
                          </a:solidFill>
                          <a:latin typeface="Arial"/>
                        </a:rPr>
                        <a:t>-</a:t>
                      </a:r>
                    </a:p>
                  </a:txBody>
                  <a:tcPr marL="64008" marR="64008" marT="27432" marB="27432" anchor="ctr">
                    <a:solidFill>
                      <a:srgbClr val="E5F5FF"/>
                    </a:solidFill>
                  </a:tcPr>
                </a:tc>
              </a:tr>
            </a:tbl>
          </a:graphicData>
        </a:graphic>
      </p:graphicFrame>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Customer Servicing: As-Is process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pic>
        <p:nvPicPr>
          <p:cNvPr id="9" name="Picture 8" descr="brd09_fw_asis.png"/>
          <p:cNvPicPr>
            <a:picLocks noChangeAspect="1"/>
          </p:cNvPicPr>
          <p:nvPr/>
        </p:nvPicPr>
        <p:blipFill>
          <a:blip r:embed="rId3"/>
          <a:stretch>
            <a:fillRect/>
          </a:stretch>
        </p:blipFill>
        <p:spPr>
          <a:xfrm>
            <a:off x="613352" y="1243584"/>
            <a:ext cx="10964990" cy="4727448"/>
          </a:xfrm>
          <a:prstGeom prst="rect">
            <a:avLst/>
          </a:prstGeom>
        </p:spPr>
      </p:pic>
      <p:sp>
        <p:nvSpPr>
          <p:cNvPr id="10" name="TextBox 9"/>
          <p:cNvSpPr txBox="1"/>
          <p:nvPr/>
        </p:nvSpPr>
        <p:spPr>
          <a:xfrm>
            <a:off x="548640" y="5989320"/>
            <a:ext cx="11094415" cy="310896"/>
          </a:xfrm>
          <a:prstGeom prst="rect">
            <a:avLst/>
          </a:prstGeom>
          <a:noFill/>
        </p:spPr>
        <p:txBody>
          <a:bodyPr wrap="square" anchor="t" lIns="45720" rIns="45720">
            <a:spAutoFit/>
          </a:bodyPr>
          <a:lstStyle/>
          <a:p>
            <a:pPr algn="ctr"/>
            <a:r>
              <a:rPr sz="1200" b="0" i="1">
                <a:solidFill>
                  <a:srgbClr val="656565"/>
                </a:solidFill>
                <a:latin typeface="Arial"/>
              </a:rPr>
              <a:t>Contact-centre servicing today (CSF process flow; Case Management flow; NB flow)</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Customer Servicing: pain points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Oval 8"/>
          <p:cNvSpPr/>
          <p:nvPr/>
        </p:nvSpPr>
        <p:spPr>
          <a:xfrm>
            <a:off x="548640"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0" name="TextBox 9"/>
          <p:cNvSpPr txBox="1"/>
          <p:nvPr/>
        </p:nvSpPr>
        <p:spPr>
          <a:xfrm>
            <a:off x="1024128"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Two search paths</a:t>
            </a:r>
          </a:p>
          <a:p>
            <a:pPr>
              <a:spcAft>
                <a:spcPts val="100"/>
              </a:spcAft>
            </a:pPr>
            <a:r>
              <a:rPr sz="1200" b="0">
                <a:solidFill>
                  <a:srgbClr val="4B4B4B"/>
                </a:solidFill>
                <a:latin typeface="Arial"/>
              </a:rPr>
              <a:t>CBG accounts by invoice or PN; non-CBG accounts by name only.</a:t>
            </a:r>
          </a:p>
          <a:p>
            <a:pPr>
              <a:spcAft>
                <a:spcPts val="100"/>
              </a:spcAft>
            </a:pPr>
            <a:r>
              <a:rPr sz="1200" b="0">
                <a:solidFill>
                  <a:srgbClr val="0072D8"/>
                </a:solidFill>
                <a:latin typeface="Arial"/>
              </a:rPr>
              <a:t>CSF flow</a:t>
            </a:r>
          </a:p>
        </p:txBody>
      </p:sp>
      <p:sp>
        <p:nvSpPr>
          <p:cNvPr id="11" name="Oval 10"/>
          <p:cNvSpPr/>
          <p:nvPr/>
        </p:nvSpPr>
        <p:spPr>
          <a:xfrm>
            <a:off x="548640"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2" name="TextBox 11"/>
          <p:cNvSpPr txBox="1"/>
          <p:nvPr/>
        </p:nvSpPr>
        <p:spPr>
          <a:xfrm>
            <a:off x="1024128"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PID and answers by hand</a:t>
            </a:r>
          </a:p>
          <a:p>
            <a:pPr>
              <a:spcAft>
                <a:spcPts val="100"/>
              </a:spcAft>
            </a:pPr>
            <a:r>
              <a:rPr sz="1200" b="0">
                <a:solidFill>
                  <a:srgbClr val="4B4B4B"/>
                </a:solidFill>
                <a:latin typeface="Arial"/>
              </a:rPr>
              <a:t>Identity checked by questions; answers looked up in CC Nav.</a:t>
            </a:r>
          </a:p>
          <a:p>
            <a:pPr>
              <a:spcAft>
                <a:spcPts val="100"/>
              </a:spcAft>
            </a:pPr>
            <a:r>
              <a:rPr sz="1200" b="0">
                <a:solidFill>
                  <a:srgbClr val="0072D8"/>
                </a:solidFill>
                <a:latin typeface="Arial"/>
              </a:rPr>
              <a:t>Case Management flow</a:t>
            </a:r>
          </a:p>
        </p:txBody>
      </p:sp>
      <p:sp>
        <p:nvSpPr>
          <p:cNvPr id="13" name="Oval 12"/>
          <p:cNvSpPr/>
          <p:nvPr/>
        </p:nvSpPr>
        <p:spPr>
          <a:xfrm>
            <a:off x="548640"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14" name="TextBox 13"/>
          <p:cNvSpPr txBox="1"/>
          <p:nvPr/>
        </p:nvSpPr>
        <p:spPr>
          <a:xfrm>
            <a:off x="1024128"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Updates pushed to legacy</a:t>
            </a:r>
          </a:p>
          <a:p>
            <a:pPr>
              <a:spcAft>
                <a:spcPts val="100"/>
              </a:spcAft>
            </a:pPr>
            <a:r>
              <a:rPr sz="1200" b="0">
                <a:solidFill>
                  <a:srgbClr val="4B4B4B"/>
                </a:solidFill>
                <a:latin typeface="Arial"/>
              </a:rPr>
              <a:t>Contact changes written to the QPS and EBIX databases.</a:t>
            </a:r>
          </a:p>
          <a:p>
            <a:pPr>
              <a:spcAft>
                <a:spcPts val="100"/>
              </a:spcAft>
            </a:pPr>
            <a:r>
              <a:rPr sz="1200" b="0">
                <a:solidFill>
                  <a:srgbClr val="0072D8"/>
                </a:solidFill>
                <a:latin typeface="Arial"/>
              </a:rPr>
              <a:t>CSF flow</a:t>
            </a:r>
          </a:p>
        </p:txBody>
      </p:sp>
      <p:sp>
        <p:nvSpPr>
          <p:cNvPr id="15" name="Oval 14"/>
          <p:cNvSpPr/>
          <p:nvPr/>
        </p:nvSpPr>
        <p:spPr>
          <a:xfrm>
            <a:off x="548640" y="4745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16" name="TextBox 15"/>
          <p:cNvSpPr txBox="1"/>
          <p:nvPr/>
        </p:nvSpPr>
        <p:spPr>
          <a:xfrm>
            <a:off x="1024128" y="4709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Every concern keyed into CLS</a:t>
            </a:r>
          </a:p>
          <a:p>
            <a:pPr>
              <a:spcAft>
                <a:spcPts val="100"/>
              </a:spcAft>
            </a:pPr>
            <a:r>
              <a:rPr sz="1200" b="0">
                <a:solidFill>
                  <a:srgbClr val="4B4B4B"/>
                </a:solidFill>
                <a:latin typeface="Arial"/>
              </a:rPr>
              <a:t>Agents type every contact into CLS, even resolved ones.</a:t>
            </a:r>
          </a:p>
          <a:p>
            <a:pPr>
              <a:spcAft>
                <a:spcPts val="100"/>
              </a:spcAft>
            </a:pPr>
            <a:r>
              <a:rPr sz="1200" b="0">
                <a:solidFill>
                  <a:srgbClr val="0072D8"/>
                </a:solidFill>
                <a:latin typeface="Arial"/>
              </a:rPr>
              <a:t>Case Management flow</a:t>
            </a:r>
          </a:p>
        </p:txBody>
      </p:sp>
      <p:sp>
        <p:nvSpPr>
          <p:cNvPr id="17" name="Oval 16"/>
          <p:cNvSpPr/>
          <p:nvPr/>
        </p:nvSpPr>
        <p:spPr>
          <a:xfrm>
            <a:off x="6233007" y="1316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5</a:t>
            </a:r>
          </a:p>
        </p:txBody>
      </p:sp>
      <p:sp>
        <p:nvSpPr>
          <p:cNvPr id="18" name="TextBox 17"/>
          <p:cNvSpPr txBox="1"/>
          <p:nvPr/>
        </p:nvSpPr>
        <p:spPr>
          <a:xfrm>
            <a:off x="6708495" y="1280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Referrals by e-mail</a:t>
            </a:r>
          </a:p>
          <a:p>
            <a:pPr>
              <a:spcAft>
                <a:spcPts val="100"/>
              </a:spcAft>
            </a:pPr>
            <a:r>
              <a:rPr sz="1200" b="0">
                <a:solidFill>
                  <a:srgbClr val="4B4B4B"/>
                </a:solidFill>
                <a:latin typeface="Arial"/>
              </a:rPr>
              <a:t>Fulfilment units are told by e-mail; no view of TAT.</a:t>
            </a:r>
          </a:p>
          <a:p>
            <a:pPr>
              <a:spcAft>
                <a:spcPts val="100"/>
              </a:spcAft>
            </a:pPr>
            <a:r>
              <a:rPr sz="1200" b="0">
                <a:solidFill>
                  <a:srgbClr val="0072D8"/>
                </a:solidFill>
                <a:latin typeface="Arial"/>
              </a:rPr>
              <a:t>Case Management flow</a:t>
            </a:r>
          </a:p>
        </p:txBody>
      </p:sp>
      <p:sp>
        <p:nvSpPr>
          <p:cNvPr id="19" name="Oval 18"/>
          <p:cNvSpPr/>
          <p:nvPr/>
        </p:nvSpPr>
        <p:spPr>
          <a:xfrm>
            <a:off x="6233007" y="2459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6</a:t>
            </a:r>
          </a:p>
        </p:txBody>
      </p:sp>
      <p:sp>
        <p:nvSpPr>
          <p:cNvPr id="20" name="TextBox 19"/>
          <p:cNvSpPr txBox="1"/>
          <p:nvPr/>
        </p:nvSpPr>
        <p:spPr>
          <a:xfrm>
            <a:off x="6708495" y="2423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Returned cases re-logged</a:t>
            </a:r>
          </a:p>
          <a:p>
            <a:pPr>
              <a:spcAft>
                <a:spcPts val="100"/>
              </a:spcAft>
            </a:pPr>
            <a:r>
              <a:rPr sz="1200" b="0">
                <a:solidFill>
                  <a:srgbClr val="4B4B4B"/>
                </a:solidFill>
                <a:latin typeface="Arial"/>
              </a:rPr>
              <a:t>Erroneous cases go back and BDO CCC logs them again.</a:t>
            </a:r>
          </a:p>
          <a:p>
            <a:pPr>
              <a:spcAft>
                <a:spcPts val="100"/>
              </a:spcAft>
            </a:pPr>
            <a:r>
              <a:rPr sz="1200" b="0">
                <a:solidFill>
                  <a:srgbClr val="0072D8"/>
                </a:solidFill>
                <a:latin typeface="Arial"/>
              </a:rPr>
              <a:t>Case Management flow</a:t>
            </a:r>
          </a:p>
        </p:txBody>
      </p:sp>
      <p:sp>
        <p:nvSpPr>
          <p:cNvPr id="21" name="Oval 20"/>
          <p:cNvSpPr/>
          <p:nvPr/>
        </p:nvSpPr>
        <p:spPr>
          <a:xfrm>
            <a:off x="6233007" y="3602736"/>
            <a:ext cx="384048" cy="384048"/>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7</a:t>
            </a:r>
          </a:p>
        </p:txBody>
      </p:sp>
      <p:sp>
        <p:nvSpPr>
          <p:cNvPr id="22" name="TextBox 21"/>
          <p:cNvSpPr txBox="1"/>
          <p:nvPr/>
        </p:nvSpPr>
        <p:spPr>
          <a:xfrm>
            <a:off x="6708495" y="3566160"/>
            <a:ext cx="4907127" cy="1097280"/>
          </a:xfrm>
          <a:prstGeom prst="rect">
            <a:avLst/>
          </a:prstGeom>
          <a:noFill/>
        </p:spPr>
        <p:txBody>
          <a:bodyPr wrap="square" anchor="t" lIns="45720" rIns="45720" tIns="18288" bIns="18288">
            <a:spAutoFit/>
          </a:bodyPr>
          <a:lstStyle/>
          <a:p>
            <a:pPr>
              <a:spcAft>
                <a:spcPts val="100"/>
              </a:spcAft>
            </a:pPr>
            <a:r>
              <a:rPr sz="1200" b="1">
                <a:solidFill>
                  <a:srgbClr val="2E2E2E"/>
                </a:solidFill>
                <a:latin typeface="Arial"/>
              </a:rPr>
              <a:t>Contact centre sends fall-outs</a:t>
            </a:r>
          </a:p>
          <a:p>
            <a:pPr>
              <a:spcAft>
                <a:spcPts val="100"/>
              </a:spcAft>
            </a:pPr>
            <a:r>
              <a:rPr sz="1200" b="0">
                <a:solidFill>
                  <a:srgbClr val="4B4B4B"/>
                </a:solidFill>
                <a:latin typeface="Arial"/>
              </a:rPr>
              <a:t>E-policies fixed by Marketing are sent by the contact centre.</a:t>
            </a:r>
          </a:p>
          <a:p>
            <a:pPr>
              <a:spcAft>
                <a:spcPts val="100"/>
              </a:spcAft>
            </a:pPr>
            <a:r>
              <a:rPr sz="1200" b="0">
                <a:solidFill>
                  <a:srgbClr val="0072D8"/>
                </a:solidFill>
                <a:latin typeface="Arial"/>
              </a:rPr>
              <a:t>NB flow</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Customer Servicing: what the business wants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TextBox 8"/>
          <p:cNvSpPr txBox="1"/>
          <p:nvPr/>
        </p:nvSpPr>
        <p:spPr>
          <a:xfrm>
            <a:off x="1005840" y="1261872"/>
            <a:ext cx="3383280" cy="274320"/>
          </a:xfrm>
          <a:prstGeom prst="rect">
            <a:avLst/>
          </a:prstGeom>
          <a:noFill/>
        </p:spPr>
        <p:txBody>
          <a:bodyPr wrap="square" anchor="t" lIns="45720" rIns="45720">
            <a:spAutoFit/>
          </a:bodyPr>
          <a:lstStyle/>
          <a:p>
            <a:r>
              <a:rPr sz="1200" b="1" i="0">
                <a:solidFill>
                  <a:srgbClr val="004EA8"/>
                </a:solidFill>
                <a:latin typeface="Arial"/>
              </a:rPr>
              <a:t>Pain point today</a:t>
            </a:r>
          </a:p>
        </p:txBody>
      </p:sp>
      <p:sp>
        <p:nvSpPr>
          <p:cNvPr id="10" name="TextBox 9"/>
          <p:cNvSpPr txBox="1"/>
          <p:nvPr/>
        </p:nvSpPr>
        <p:spPr>
          <a:xfrm>
            <a:off x="4800600" y="1261872"/>
            <a:ext cx="4754880" cy="274320"/>
          </a:xfrm>
          <a:prstGeom prst="rect">
            <a:avLst/>
          </a:prstGeom>
          <a:noFill/>
        </p:spPr>
        <p:txBody>
          <a:bodyPr wrap="square" anchor="t" lIns="45720" rIns="45720">
            <a:spAutoFit/>
          </a:bodyPr>
          <a:lstStyle/>
          <a:p>
            <a:r>
              <a:rPr sz="1200" b="1" i="0">
                <a:solidFill>
                  <a:srgbClr val="004EA8"/>
                </a:solidFill>
                <a:latin typeface="Arial"/>
              </a:rPr>
              <a:t>What the business wants</a:t>
            </a:r>
          </a:p>
        </p:txBody>
      </p:sp>
      <p:sp>
        <p:nvSpPr>
          <p:cNvPr id="11" name="TextBox 10"/>
          <p:cNvSpPr txBox="1"/>
          <p:nvPr/>
        </p:nvSpPr>
        <p:spPr>
          <a:xfrm>
            <a:off x="9665208" y="1261872"/>
            <a:ext cx="1977847" cy="274320"/>
          </a:xfrm>
          <a:prstGeom prst="rect">
            <a:avLst/>
          </a:prstGeom>
          <a:noFill/>
        </p:spPr>
        <p:txBody>
          <a:bodyPr wrap="square" anchor="t" lIns="45720" rIns="45720">
            <a:spAutoFit/>
          </a:bodyPr>
          <a:lstStyle/>
          <a:p>
            <a:r>
              <a:rPr sz="1200" b="1" i="0">
                <a:solidFill>
                  <a:srgbClr val="004EA8"/>
                </a:solidFill>
                <a:latin typeface="Arial"/>
              </a:rPr>
              <a:t>Lever</a:t>
            </a:r>
          </a:p>
        </p:txBody>
      </p:sp>
      <p:sp>
        <p:nvSpPr>
          <p:cNvPr id="12" name="Oval 11"/>
          <p:cNvSpPr/>
          <p:nvPr/>
        </p:nvSpPr>
        <p:spPr>
          <a:xfrm>
            <a:off x="548640" y="1698171"/>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1</a:t>
            </a:r>
          </a:p>
        </p:txBody>
      </p:sp>
      <p:sp>
        <p:nvSpPr>
          <p:cNvPr id="13" name="Rounded Rectangle 12"/>
          <p:cNvSpPr/>
          <p:nvPr/>
        </p:nvSpPr>
        <p:spPr>
          <a:xfrm>
            <a:off x="1005840" y="1572768"/>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051560" y="1572768"/>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Two search paths</a:t>
            </a:r>
          </a:p>
        </p:txBody>
      </p:sp>
      <p:sp>
        <p:nvSpPr>
          <p:cNvPr id="15" name="Right Arrow 14"/>
          <p:cNvSpPr/>
          <p:nvPr/>
        </p:nvSpPr>
        <p:spPr>
          <a:xfrm>
            <a:off x="4462272" y="1753035"/>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4800600" y="1572768"/>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846320" y="1572768"/>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search across every account, CBG and non-CBG</a:t>
            </a:r>
          </a:p>
        </p:txBody>
      </p:sp>
      <p:sp>
        <p:nvSpPr>
          <p:cNvPr id="18" name="TextBox 17"/>
          <p:cNvSpPr txBox="1"/>
          <p:nvPr/>
        </p:nvSpPr>
        <p:spPr>
          <a:xfrm>
            <a:off x="9665208" y="1572768"/>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view</a:t>
            </a:r>
          </a:p>
        </p:txBody>
      </p:sp>
      <p:sp>
        <p:nvSpPr>
          <p:cNvPr id="19" name="Oval 18"/>
          <p:cNvSpPr/>
          <p:nvPr/>
        </p:nvSpPr>
        <p:spPr>
          <a:xfrm>
            <a:off x="548640" y="2351314"/>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2</a:t>
            </a:r>
          </a:p>
        </p:txBody>
      </p:sp>
      <p:sp>
        <p:nvSpPr>
          <p:cNvPr id="20" name="Rounded Rectangle 19"/>
          <p:cNvSpPr/>
          <p:nvPr/>
        </p:nvSpPr>
        <p:spPr>
          <a:xfrm>
            <a:off x="1005840" y="2225910"/>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1051560" y="2225910"/>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PID and answers by hand</a:t>
            </a:r>
          </a:p>
        </p:txBody>
      </p:sp>
      <p:sp>
        <p:nvSpPr>
          <p:cNvPr id="22" name="Right Arrow 21"/>
          <p:cNvSpPr/>
          <p:nvPr/>
        </p:nvSpPr>
        <p:spPr>
          <a:xfrm>
            <a:off x="4462272" y="2406178"/>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ounded Rectangle 22"/>
          <p:cNvSpPr/>
          <p:nvPr/>
        </p:nvSpPr>
        <p:spPr>
          <a:xfrm>
            <a:off x="4800600" y="2225910"/>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4846320" y="2225910"/>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PID as a step of the case; answers at hand</a:t>
            </a:r>
          </a:p>
        </p:txBody>
      </p:sp>
      <p:sp>
        <p:nvSpPr>
          <p:cNvPr id="25" name="TextBox 24"/>
          <p:cNvSpPr txBox="1"/>
          <p:nvPr/>
        </p:nvSpPr>
        <p:spPr>
          <a:xfrm>
            <a:off x="9665208" y="2225910"/>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PID step</a:t>
            </a:r>
          </a:p>
        </p:txBody>
      </p:sp>
      <p:sp>
        <p:nvSpPr>
          <p:cNvPr id="26" name="Oval 25"/>
          <p:cNvSpPr/>
          <p:nvPr/>
        </p:nvSpPr>
        <p:spPr>
          <a:xfrm>
            <a:off x="548640" y="3004457"/>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3</a:t>
            </a:r>
          </a:p>
        </p:txBody>
      </p:sp>
      <p:sp>
        <p:nvSpPr>
          <p:cNvPr id="27" name="Rounded Rectangle 26"/>
          <p:cNvSpPr/>
          <p:nvPr/>
        </p:nvSpPr>
        <p:spPr>
          <a:xfrm>
            <a:off x="1005840" y="2879053"/>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51560" y="2879053"/>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Updates pushed to legacy</a:t>
            </a:r>
          </a:p>
        </p:txBody>
      </p:sp>
      <p:sp>
        <p:nvSpPr>
          <p:cNvPr id="29" name="Right Arrow 28"/>
          <p:cNvSpPr/>
          <p:nvPr/>
        </p:nvSpPr>
        <p:spPr>
          <a:xfrm>
            <a:off x="4462272" y="3059321"/>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ounded Rectangle 29"/>
          <p:cNvSpPr/>
          <p:nvPr/>
        </p:nvSpPr>
        <p:spPr>
          <a:xfrm>
            <a:off x="4800600" y="2879053"/>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846320" y="2879053"/>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Contact changes made once in one client record</a:t>
            </a:r>
          </a:p>
        </p:txBody>
      </p:sp>
      <p:sp>
        <p:nvSpPr>
          <p:cNvPr id="32" name="TextBox 31"/>
          <p:cNvSpPr txBox="1"/>
          <p:nvPr/>
        </p:nvSpPr>
        <p:spPr>
          <a:xfrm>
            <a:off x="9665208" y="2879053"/>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client</a:t>
            </a:r>
          </a:p>
        </p:txBody>
      </p:sp>
      <p:sp>
        <p:nvSpPr>
          <p:cNvPr id="33" name="Oval 32"/>
          <p:cNvSpPr/>
          <p:nvPr/>
        </p:nvSpPr>
        <p:spPr>
          <a:xfrm>
            <a:off x="548640" y="3657600"/>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4</a:t>
            </a:r>
          </a:p>
        </p:txBody>
      </p:sp>
      <p:sp>
        <p:nvSpPr>
          <p:cNvPr id="34" name="Rounded Rectangle 33"/>
          <p:cNvSpPr/>
          <p:nvPr/>
        </p:nvSpPr>
        <p:spPr>
          <a:xfrm>
            <a:off x="1005840" y="3532196"/>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 y="3532196"/>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Every concern keyed into CLS</a:t>
            </a:r>
          </a:p>
        </p:txBody>
      </p:sp>
      <p:sp>
        <p:nvSpPr>
          <p:cNvPr id="36" name="Right Arrow 35"/>
          <p:cNvSpPr/>
          <p:nvPr/>
        </p:nvSpPr>
        <p:spPr>
          <a:xfrm>
            <a:off x="4462272" y="3712464"/>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ounded Rectangle 36"/>
          <p:cNvSpPr/>
          <p:nvPr/>
        </p:nvSpPr>
        <p:spPr>
          <a:xfrm>
            <a:off x="4800600" y="3532196"/>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846320" y="3532196"/>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Case form filled with the client's details automatically</a:t>
            </a:r>
          </a:p>
        </p:txBody>
      </p:sp>
      <p:sp>
        <p:nvSpPr>
          <p:cNvPr id="39" name="TextBox 38"/>
          <p:cNvSpPr txBox="1"/>
          <p:nvPr/>
        </p:nvSpPr>
        <p:spPr>
          <a:xfrm>
            <a:off x="9665208" y="3532196"/>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Case management</a:t>
            </a:r>
          </a:p>
        </p:txBody>
      </p:sp>
      <p:sp>
        <p:nvSpPr>
          <p:cNvPr id="40" name="Oval 39"/>
          <p:cNvSpPr/>
          <p:nvPr/>
        </p:nvSpPr>
        <p:spPr>
          <a:xfrm>
            <a:off x="548640" y="4310742"/>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5</a:t>
            </a:r>
          </a:p>
        </p:txBody>
      </p:sp>
      <p:sp>
        <p:nvSpPr>
          <p:cNvPr id="41" name="Rounded Rectangle 40"/>
          <p:cNvSpPr/>
          <p:nvPr/>
        </p:nvSpPr>
        <p:spPr>
          <a:xfrm>
            <a:off x="1005840" y="4185339"/>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51560" y="4185339"/>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Referrals by e-mail</a:t>
            </a:r>
          </a:p>
        </p:txBody>
      </p:sp>
      <p:sp>
        <p:nvSpPr>
          <p:cNvPr id="43" name="Right Arrow 42"/>
          <p:cNvSpPr/>
          <p:nvPr/>
        </p:nvSpPr>
        <p:spPr>
          <a:xfrm>
            <a:off x="4462272" y="4365606"/>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ounded Rectangle 43"/>
          <p:cNvSpPr/>
          <p:nvPr/>
        </p:nvSpPr>
        <p:spPr>
          <a:xfrm>
            <a:off x="4800600" y="4185339"/>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4846320" y="4185339"/>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Cases routed automatically to the Marketing unit of the account; TAT visible</a:t>
            </a:r>
          </a:p>
        </p:txBody>
      </p:sp>
      <p:sp>
        <p:nvSpPr>
          <p:cNvPr id="46" name="TextBox 45"/>
          <p:cNvSpPr txBox="1"/>
          <p:nvPr/>
        </p:nvSpPr>
        <p:spPr>
          <a:xfrm>
            <a:off x="9665208" y="4185339"/>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Routing and TAT</a:t>
            </a:r>
          </a:p>
        </p:txBody>
      </p:sp>
      <p:sp>
        <p:nvSpPr>
          <p:cNvPr id="47" name="Oval 46"/>
          <p:cNvSpPr/>
          <p:nvPr/>
        </p:nvSpPr>
        <p:spPr>
          <a:xfrm>
            <a:off x="548640" y="4963885"/>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6</a:t>
            </a:r>
          </a:p>
        </p:txBody>
      </p:sp>
      <p:sp>
        <p:nvSpPr>
          <p:cNvPr id="48" name="Rounded Rectangle 47"/>
          <p:cNvSpPr/>
          <p:nvPr/>
        </p:nvSpPr>
        <p:spPr>
          <a:xfrm>
            <a:off x="1005840" y="4838482"/>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51560" y="4838482"/>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Returned cases re-logged</a:t>
            </a:r>
          </a:p>
        </p:txBody>
      </p:sp>
      <p:sp>
        <p:nvSpPr>
          <p:cNvPr id="50" name="Right Arrow 49"/>
          <p:cNvSpPr/>
          <p:nvPr/>
        </p:nvSpPr>
        <p:spPr>
          <a:xfrm>
            <a:off x="4462272" y="5018749"/>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ounded Rectangle 50"/>
          <p:cNvSpPr/>
          <p:nvPr/>
        </p:nvSpPr>
        <p:spPr>
          <a:xfrm>
            <a:off x="4800600" y="4838482"/>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846320" y="4838482"/>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Return loop in the case, without re-logging</a:t>
            </a:r>
          </a:p>
        </p:txBody>
      </p:sp>
      <p:sp>
        <p:nvSpPr>
          <p:cNvPr id="53" name="TextBox 52"/>
          <p:cNvSpPr txBox="1"/>
          <p:nvPr/>
        </p:nvSpPr>
        <p:spPr>
          <a:xfrm>
            <a:off x="9665208" y="4838482"/>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Case history</a:t>
            </a:r>
          </a:p>
        </p:txBody>
      </p:sp>
      <p:sp>
        <p:nvSpPr>
          <p:cNvPr id="54" name="Oval 53"/>
          <p:cNvSpPr/>
          <p:nvPr/>
        </p:nvSpPr>
        <p:spPr>
          <a:xfrm>
            <a:off x="548640" y="5617028"/>
            <a:ext cx="329184" cy="329184"/>
          </a:xfrm>
          <a:prstGeom prst="ellipse">
            <a:avLst/>
          </a:prstGeom>
          <a:solidFill>
            <a:srgbClr val="FDB913"/>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200" b="1">
                <a:solidFill>
                  <a:srgbClr val="2E2E2E"/>
                </a:solidFill>
                <a:latin typeface="Arial"/>
              </a:rPr>
              <a:t>7</a:t>
            </a:r>
          </a:p>
        </p:txBody>
      </p:sp>
      <p:sp>
        <p:nvSpPr>
          <p:cNvPr id="55" name="Rounded Rectangle 54"/>
          <p:cNvSpPr/>
          <p:nvPr/>
        </p:nvSpPr>
        <p:spPr>
          <a:xfrm>
            <a:off x="1005840" y="5491625"/>
            <a:ext cx="3383280" cy="579990"/>
          </a:xfrm>
          <a:prstGeom prst="roundRect">
            <a:avLst>
              <a:gd name="adj" fmla="val 8000"/>
            </a:avLst>
          </a:prstGeom>
          <a:solidFill>
            <a:srgbClr val="F6F6F6"/>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1051560" y="5491625"/>
            <a:ext cx="3291840" cy="579990"/>
          </a:xfrm>
          <a:prstGeom prst="rect">
            <a:avLst/>
          </a:prstGeom>
          <a:noFill/>
        </p:spPr>
        <p:txBody>
          <a:bodyPr wrap="square" anchor="ctr" lIns="45720" rIns="45720" tIns="18288" bIns="18288">
            <a:spAutoFit/>
          </a:bodyPr>
          <a:lstStyle/>
          <a:p>
            <a:pPr>
              <a:spcAft>
                <a:spcPts val="0"/>
              </a:spcAft>
            </a:pPr>
            <a:r>
              <a:rPr sz="1200" b="0">
                <a:solidFill>
                  <a:srgbClr val="4B4B4B"/>
                </a:solidFill>
                <a:latin typeface="Arial"/>
              </a:rPr>
              <a:t>Contact centre sends fall-outs</a:t>
            </a:r>
          </a:p>
        </p:txBody>
      </p:sp>
      <p:sp>
        <p:nvSpPr>
          <p:cNvPr id="57" name="Right Arrow 56"/>
          <p:cNvSpPr/>
          <p:nvPr/>
        </p:nvSpPr>
        <p:spPr>
          <a:xfrm>
            <a:off x="4462272" y="5671892"/>
            <a:ext cx="274320" cy="219456"/>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Rounded Rectangle 57"/>
          <p:cNvSpPr/>
          <p:nvPr/>
        </p:nvSpPr>
        <p:spPr>
          <a:xfrm>
            <a:off x="4800600" y="5491625"/>
            <a:ext cx="4754880" cy="579990"/>
          </a:xfrm>
          <a:prstGeom prst="roundRect">
            <a:avLst>
              <a:gd name="adj" fmla="val 8000"/>
            </a:avLst>
          </a:prstGeom>
          <a:solidFill>
            <a:srgbClr val="E5F5FF"/>
          </a:solidFill>
          <a:ln w="12700">
            <a:solidFill>
              <a:srgbClr val="0072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846320" y="5491625"/>
            <a:ext cx="4663440" cy="579990"/>
          </a:xfrm>
          <a:prstGeom prst="rect">
            <a:avLst/>
          </a:prstGeom>
          <a:noFill/>
        </p:spPr>
        <p:txBody>
          <a:bodyPr wrap="square" anchor="ctr" lIns="45720" rIns="45720" tIns="18288" bIns="18288">
            <a:spAutoFit/>
          </a:bodyPr>
          <a:lstStyle/>
          <a:p>
            <a:pPr>
              <a:spcAft>
                <a:spcPts val="0"/>
              </a:spcAft>
            </a:pPr>
            <a:r>
              <a:rPr sz="1100" b="0">
                <a:solidFill>
                  <a:srgbClr val="4B4B4B"/>
                </a:solidFill>
                <a:latin typeface="Arial"/>
              </a:rPr>
              <a:t>One e-policy sender (see chapter 1)</a:t>
            </a:r>
          </a:p>
        </p:txBody>
      </p:sp>
      <p:sp>
        <p:nvSpPr>
          <p:cNvPr id="60" name="TextBox 59"/>
          <p:cNvSpPr txBox="1"/>
          <p:nvPr/>
        </p:nvSpPr>
        <p:spPr>
          <a:xfrm>
            <a:off x="9665208" y="5491625"/>
            <a:ext cx="1977847" cy="579990"/>
          </a:xfrm>
          <a:prstGeom prst="rect">
            <a:avLst/>
          </a:prstGeom>
          <a:noFill/>
        </p:spPr>
        <p:txBody>
          <a:bodyPr wrap="square" anchor="ctr" lIns="45720" rIns="45720" tIns="18288" bIns="18288">
            <a:spAutoFit/>
          </a:bodyPr>
          <a:lstStyle/>
          <a:p>
            <a:pPr>
              <a:spcAft>
                <a:spcPts val="0"/>
              </a:spcAft>
            </a:pPr>
            <a:r>
              <a:rPr sz="1100" b="1">
                <a:solidFill>
                  <a:srgbClr val="2E7D32"/>
                </a:solidFill>
                <a:latin typeface="Arial"/>
              </a:rPr>
              <a:t>One sender</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300" b="1" i="0">
                <a:solidFill>
                  <a:srgbClr val="004EA8"/>
                </a:solidFill>
                <a:latin typeface="Arial"/>
              </a:rPr>
              <a:t>10. Customer Servicing: BDOI's case-management To-Be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graphicFrame>
        <p:nvGraphicFramePr>
          <p:cNvPr id="9" name="Table 8"/>
          <p:cNvGraphicFramePr>
            <a:graphicFrameLocks noGrp="1"/>
          </p:cNvGraphicFramePr>
          <p:nvPr/>
        </p:nvGraphicFramePr>
        <p:xfrm>
          <a:off x="548640" y="1280160"/>
          <a:ext cx="11094413" cy="4919470"/>
        </p:xfrm>
        <a:graphic>
          <a:graphicData uri="http://schemas.openxmlformats.org/drawingml/2006/table">
            <a:tbl>
              <a:tblPr firstRow="1" bandRow="1">
                <a:tableStyleId>{5C22544A-7EE6-4342-B048-85BDC9FD1C3A}</a:tableStyleId>
              </a:tblPr>
              <a:tblGrid>
                <a:gridCol w="1968363"/>
                <a:gridCol w="6799802"/>
                <a:gridCol w="2326248"/>
              </a:tblGrid>
              <a:tr h="365760">
                <a:tc>
                  <a:txBody>
                    <a:bodyPr wrap="square"/>
                    <a:lstStyle/>
                    <a:p>
                      <a:r>
                        <a:rPr sz="1100" b="1">
                          <a:solidFill>
                            <a:srgbClr val="FFFFFF"/>
                          </a:solidFill>
                          <a:latin typeface="Arial"/>
                        </a:rPr>
                        <a:t>Step</a:t>
                      </a:r>
                    </a:p>
                  </a:txBody>
                  <a:tcPr marL="64008" marR="64008" marT="27432" marB="27432" anchor="ctr">
                    <a:solidFill>
                      <a:srgbClr val="004EA8"/>
                    </a:solidFill>
                  </a:tcPr>
                </a:tc>
                <a:tc>
                  <a:txBody>
                    <a:bodyPr wrap="square"/>
                    <a:lstStyle/>
                    <a:p>
                      <a:r>
                        <a:rPr sz="1100" b="1">
                          <a:solidFill>
                            <a:srgbClr val="FFFFFF"/>
                          </a:solidFill>
                          <a:latin typeface="Arial"/>
                        </a:rPr>
                        <a:t>What happens</a:t>
                      </a:r>
                    </a:p>
                  </a:txBody>
                  <a:tcPr marL="64008" marR="64008" marT="27432" marB="27432" anchor="ctr">
                    <a:solidFill>
                      <a:srgbClr val="004EA8"/>
                    </a:solidFill>
                  </a:tcPr>
                </a:tc>
                <a:tc>
                  <a:txBody>
                    <a:bodyPr wrap="square"/>
                    <a:lstStyle/>
                    <a:p>
                      <a:r>
                        <a:rPr sz="1100" b="1">
                          <a:solidFill>
                            <a:srgbClr val="FFFFFF"/>
                          </a:solidFill>
                          <a:latin typeface="Arial"/>
                        </a:rPr>
                        <a:t>Who</a:t>
                      </a:r>
                    </a:p>
                  </a:txBody>
                  <a:tcPr marL="64008" marR="64008" marT="27432" marB="27432" anchor="ctr">
                    <a:solidFill>
                      <a:srgbClr val="004EA8"/>
                    </a:solidFill>
                  </a:tcPr>
                </a:tc>
              </a:tr>
              <a:tr h="650530">
                <a:tc>
                  <a:txBody>
                    <a:bodyPr wrap="square"/>
                    <a:lstStyle/>
                    <a:p>
                      <a:r>
                        <a:rPr sz="1100" b="1">
                          <a:solidFill>
                            <a:srgbClr val="4B4B4B"/>
                          </a:solidFill>
                          <a:latin typeface="Arial"/>
                        </a:rPr>
                        <a:t>1 Contact</a:t>
                      </a:r>
                    </a:p>
                  </a:txBody>
                  <a:tcPr marL="64008" marR="64008" marT="27432" marB="27432" anchor="ctr">
                    <a:solidFill>
                      <a:srgbClr val="FFFFFF"/>
                    </a:solidFill>
                  </a:tcPr>
                </a:tc>
                <a:tc>
                  <a:txBody>
                    <a:bodyPr wrap="square"/>
                    <a:lstStyle/>
                    <a:p>
                      <a:r>
                        <a:rPr sz="1100" b="0">
                          <a:solidFill>
                            <a:srgbClr val="4B4B4B"/>
                          </a:solidFill>
                          <a:latin typeface="Arial"/>
                        </a:rPr>
                        <a:t>Customer contacts the BDO Insure contact centre by phone, e-mail, web or digital channel</a:t>
                      </a:r>
                    </a:p>
                  </a:txBody>
                  <a:tcPr marL="64008" marR="64008" marT="27432" marB="27432" anchor="ctr">
                    <a:solidFill>
                      <a:srgbClr val="FFFFFF"/>
                    </a:solidFill>
                  </a:tcPr>
                </a:tc>
                <a:tc>
                  <a:txBody>
                    <a:bodyPr wrap="square"/>
                    <a:lstStyle/>
                    <a:p>
                      <a:r>
                        <a:rPr sz="1100" b="0">
                          <a:solidFill>
                            <a:srgbClr val="4B4B4B"/>
                          </a:solidFill>
                          <a:latin typeface="Arial"/>
                        </a:rPr>
                        <a:t>Customer</a:t>
                      </a:r>
                    </a:p>
                  </a:txBody>
                  <a:tcPr marL="64008" marR="64008" marT="27432" marB="27432" anchor="ctr">
                    <a:solidFill>
                      <a:srgbClr val="FFFFFF"/>
                    </a:solidFill>
                  </a:tcPr>
                </a:tc>
              </a:tr>
              <a:tr h="650530">
                <a:tc>
                  <a:txBody>
                    <a:bodyPr wrap="square"/>
                    <a:lstStyle/>
                    <a:p>
                      <a:r>
                        <a:rPr sz="1100" b="1">
                          <a:solidFill>
                            <a:srgbClr val="4B4B4B"/>
                          </a:solidFill>
                          <a:latin typeface="Arial"/>
                        </a:rPr>
                        <a:t>2 Identify</a:t>
                      </a:r>
                    </a:p>
                  </a:txBody>
                  <a:tcPr marL="64008" marR="64008" marT="27432" marB="27432" anchor="ctr">
                    <a:solidFill>
                      <a:srgbClr val="E5F5FF"/>
                    </a:solidFill>
                  </a:tcPr>
                </a:tc>
                <a:tc>
                  <a:txBody>
                    <a:bodyPr wrap="square"/>
                    <a:lstStyle/>
                    <a:p>
                      <a:r>
                        <a:rPr sz="1100" b="0">
                          <a:solidFill>
                            <a:srgbClr val="4B4B4B"/>
                          </a:solidFill>
                          <a:latin typeface="Arial"/>
                        </a:rPr>
                        <a:t>Agent identifies the client and whether the concern is account-related or a general inquiry</a:t>
                      </a:r>
                    </a:p>
                  </a:txBody>
                  <a:tcPr marL="64008" marR="64008" marT="27432" marB="27432" anchor="ctr">
                    <a:solidFill>
                      <a:srgbClr val="E5F5FF"/>
                    </a:solidFill>
                  </a:tcPr>
                </a:tc>
                <a:tc>
                  <a:txBody>
                    <a:bodyPr wrap="square"/>
                    <a:lstStyle/>
                    <a:p>
                      <a:r>
                        <a:rPr sz="1100" b="0">
                          <a:solidFill>
                            <a:srgbClr val="4B4B4B"/>
                          </a:solidFill>
                          <a:latin typeface="Arial"/>
                        </a:rPr>
                        <a:t>BDO Insure agent</a:t>
                      </a:r>
                    </a:p>
                  </a:txBody>
                  <a:tcPr marL="64008" marR="64008" marT="27432" marB="27432" anchor="ctr">
                    <a:solidFill>
                      <a:srgbClr val="E5F5FF"/>
                    </a:solidFill>
                  </a:tcPr>
                </a:tc>
              </a:tr>
              <a:tr h="650530">
                <a:tc>
                  <a:txBody>
                    <a:bodyPr wrap="square"/>
                    <a:lstStyle/>
                    <a:p>
                      <a:r>
                        <a:rPr sz="1100" b="1">
                          <a:solidFill>
                            <a:srgbClr val="4B4B4B"/>
                          </a:solidFill>
                          <a:latin typeface="Arial"/>
                        </a:rPr>
                        <a:t>3 General inquiry</a:t>
                      </a:r>
                    </a:p>
                  </a:txBody>
                  <a:tcPr marL="64008" marR="64008" marT="27432" marB="27432" anchor="ctr">
                    <a:solidFill>
                      <a:srgbClr val="FFFFFF"/>
                    </a:solidFill>
                  </a:tcPr>
                </a:tc>
                <a:tc>
                  <a:txBody>
                    <a:bodyPr wrap="square"/>
                    <a:lstStyle/>
                    <a:p>
                      <a:r>
                        <a:rPr sz="1100" b="0">
                          <a:solidFill>
                            <a:srgbClr val="4B4B4B"/>
                          </a:solidFill>
                          <a:latin typeface="Arial"/>
                        </a:rPr>
                        <a:t>Answered from CC Nav; concern logged and closed</a:t>
                      </a:r>
                    </a:p>
                  </a:txBody>
                  <a:tcPr marL="64008" marR="64008" marT="27432" marB="27432" anchor="ctr">
                    <a:solidFill>
                      <a:srgbClr val="FFFFFF"/>
                    </a:solidFill>
                  </a:tcPr>
                </a:tc>
                <a:tc>
                  <a:txBody>
                    <a:bodyPr wrap="square"/>
                    <a:lstStyle/>
                    <a:p>
                      <a:r>
                        <a:rPr sz="1100" b="0">
                          <a:solidFill>
                            <a:srgbClr val="4B4B4B"/>
                          </a:solidFill>
                          <a:latin typeface="Arial"/>
                        </a:rPr>
                        <a:t>BDO Insure agent</a:t>
                      </a:r>
                    </a:p>
                  </a:txBody>
                  <a:tcPr marL="64008" marR="64008" marT="27432" marB="27432" anchor="ctr">
                    <a:solidFill>
                      <a:srgbClr val="FFFFFF"/>
                    </a:solidFill>
                  </a:tcPr>
                </a:tc>
              </a:tr>
              <a:tr h="650530">
                <a:tc>
                  <a:txBody>
                    <a:bodyPr wrap="square"/>
                    <a:lstStyle/>
                    <a:p>
                      <a:r>
                        <a:rPr sz="1100" b="1">
                          <a:solidFill>
                            <a:srgbClr val="4B4B4B"/>
                          </a:solidFill>
                          <a:latin typeface="Arial"/>
                        </a:rPr>
                        <a:t>4 PID</a:t>
                      </a:r>
                    </a:p>
                  </a:txBody>
                  <a:tcPr marL="64008" marR="64008" marT="27432" marB="27432" anchor="ctr">
                    <a:solidFill>
                      <a:srgbClr val="E5F5FF"/>
                    </a:solidFill>
                  </a:tcPr>
                </a:tc>
                <a:tc>
                  <a:txBody>
                    <a:bodyPr wrap="square"/>
                    <a:lstStyle/>
                    <a:p>
                      <a:r>
                        <a:rPr sz="1100" b="0">
                          <a:solidFill>
                            <a:srgbClr val="4B4B4B"/>
                          </a:solidFill>
                          <a:latin typeface="Arial"/>
                        </a:rPr>
                        <a:t>Existing client: positive identification; failed PID ends the transaction and the case is logged and closed</a:t>
                      </a:r>
                    </a:p>
                  </a:txBody>
                  <a:tcPr marL="64008" marR="64008" marT="27432" marB="27432" anchor="ctr">
                    <a:solidFill>
                      <a:srgbClr val="E5F5FF"/>
                    </a:solidFill>
                  </a:tcPr>
                </a:tc>
                <a:tc>
                  <a:txBody>
                    <a:bodyPr wrap="square"/>
                    <a:lstStyle/>
                    <a:p>
                      <a:r>
                        <a:rPr sz="1100" b="0">
                          <a:solidFill>
                            <a:srgbClr val="4B4B4B"/>
                          </a:solidFill>
                          <a:latin typeface="Arial"/>
                        </a:rPr>
                        <a:t>BDO Insure agent</a:t>
                      </a:r>
                    </a:p>
                  </a:txBody>
                  <a:tcPr marL="64008" marR="64008" marT="27432" marB="27432" anchor="ctr">
                    <a:solidFill>
                      <a:srgbClr val="E5F5FF"/>
                    </a:solidFill>
                  </a:tcPr>
                </a:tc>
              </a:tr>
              <a:tr h="650530">
                <a:tc>
                  <a:txBody>
                    <a:bodyPr wrap="square"/>
                    <a:lstStyle/>
                    <a:p>
                      <a:r>
                        <a:rPr sz="1100" b="1">
                          <a:solidFill>
                            <a:srgbClr val="4B4B4B"/>
                          </a:solidFill>
                          <a:latin typeface="Arial"/>
                        </a:rPr>
                        <a:t>5 First-contact fix</a:t>
                      </a:r>
                    </a:p>
                  </a:txBody>
                  <a:tcPr marL="64008" marR="64008" marT="27432" marB="27432" anchor="ctr">
                    <a:solidFill>
                      <a:srgbClr val="FFFFFF"/>
                    </a:solidFill>
                  </a:tcPr>
                </a:tc>
                <a:tc>
                  <a:txBody>
                    <a:bodyPr wrap="square"/>
                    <a:lstStyle/>
                    <a:p>
                      <a:r>
                        <a:rPr sz="1100" b="0">
                          <a:solidFill>
                            <a:srgbClr val="4B4B4B"/>
                          </a:solidFill>
                          <a:latin typeface="Arial"/>
                        </a:rPr>
                        <a:t>Solved at the point of contact: request fulfilled; case logged with client details filled in automatically; closed</a:t>
                      </a:r>
                    </a:p>
                  </a:txBody>
                  <a:tcPr marL="64008" marR="64008" marT="27432" marB="27432" anchor="ctr">
                    <a:solidFill>
                      <a:srgbClr val="FFFFFF"/>
                    </a:solidFill>
                  </a:tcPr>
                </a:tc>
                <a:tc>
                  <a:txBody>
                    <a:bodyPr wrap="square"/>
                    <a:lstStyle/>
                    <a:p>
                      <a:r>
                        <a:rPr sz="1100" b="0">
                          <a:solidFill>
                            <a:srgbClr val="4B4B4B"/>
                          </a:solidFill>
                          <a:latin typeface="Arial"/>
                        </a:rPr>
                        <a:t>BDO Insure agent</a:t>
                      </a:r>
                    </a:p>
                  </a:txBody>
                  <a:tcPr marL="64008" marR="64008" marT="27432" marB="27432" anchor="ctr">
                    <a:solidFill>
                      <a:srgbClr val="FFFFFF"/>
                    </a:solidFill>
                  </a:tcPr>
                </a:tc>
              </a:tr>
              <a:tr h="650530">
                <a:tc>
                  <a:txBody>
                    <a:bodyPr wrap="square"/>
                    <a:lstStyle/>
                    <a:p>
                      <a:r>
                        <a:rPr sz="1100" b="1">
                          <a:solidFill>
                            <a:srgbClr val="4B4B4B"/>
                          </a:solidFill>
                          <a:latin typeface="Arial"/>
                        </a:rPr>
                        <a:t>6 Referral</a:t>
                      </a:r>
                    </a:p>
                  </a:txBody>
                  <a:tcPr marL="64008" marR="64008" marT="27432" marB="27432" anchor="ctr">
                    <a:solidFill>
                      <a:srgbClr val="E5F5FF"/>
                    </a:solidFill>
                  </a:tcPr>
                </a:tc>
                <a:tc>
                  <a:txBody>
                    <a:bodyPr wrap="square"/>
                    <a:lstStyle/>
                    <a:p>
                      <a:r>
                        <a:rPr sz="1100" b="0">
                          <a:solidFill>
                            <a:srgbClr val="4B4B4B"/>
                          </a:solidFill>
                          <a:latin typeface="Arial"/>
                        </a:rPr>
                        <a:t>Not solvable at first contact: case routed automatically to the Marketing unit of the account; unit notified</a:t>
                      </a:r>
                    </a:p>
                  </a:txBody>
                  <a:tcPr marL="64008" marR="64008" marT="27432" marB="27432" anchor="ctr">
                    <a:solidFill>
                      <a:srgbClr val="E5F5FF"/>
                    </a:solidFill>
                  </a:tcPr>
                </a:tc>
                <a:tc>
                  <a:txBody>
                    <a:bodyPr wrap="square"/>
                    <a:lstStyle/>
                    <a:p>
                      <a:r>
                        <a:rPr sz="1100" b="0">
                          <a:solidFill>
                            <a:srgbClr val="4B4B4B"/>
                          </a:solidFill>
                          <a:latin typeface="Arial"/>
                        </a:rPr>
                        <a:t>Agent, system</a:t>
                      </a:r>
                    </a:p>
                  </a:txBody>
                  <a:tcPr marL="64008" marR="64008" marT="27432" marB="27432" anchor="ctr">
                    <a:solidFill>
                      <a:srgbClr val="E5F5FF"/>
                    </a:solidFill>
                  </a:tcPr>
                </a:tc>
              </a:tr>
              <a:tr h="650530">
                <a:tc>
                  <a:txBody>
                    <a:bodyPr wrap="square"/>
                    <a:lstStyle/>
                    <a:p>
                      <a:r>
                        <a:rPr sz="1100" b="1">
                          <a:solidFill>
                            <a:srgbClr val="4B4B4B"/>
                          </a:solidFill>
                          <a:latin typeface="Arial"/>
                        </a:rPr>
                        <a:t>7 Resolve or return</a:t>
                      </a:r>
                    </a:p>
                  </a:txBody>
                  <a:tcPr marL="64008" marR="64008" marT="27432" marB="27432" anchor="ctr">
                    <a:solidFill>
                      <a:srgbClr val="FFFFFF"/>
                    </a:solidFill>
                  </a:tcPr>
                </a:tc>
                <a:tc>
                  <a:txBody>
                    <a:bodyPr wrap="square"/>
                    <a:lstStyle/>
                    <a:p>
                      <a:r>
                        <a:rPr sz="1100" b="0">
                          <a:solidFill>
                            <a:srgbClr val="4B4B4B"/>
                          </a:solidFill>
                          <a:latin typeface="Arial"/>
                        </a:rPr>
                        <a:t>Fulfilment unit filters open cases within or past TAT, resolves and closes, or returns an erroneous case; BDO CCC re-logs valid returns</a:t>
                      </a:r>
                    </a:p>
                  </a:txBody>
                  <a:tcPr marL="64008" marR="64008" marT="27432" marB="27432" anchor="ctr">
                    <a:solidFill>
                      <a:srgbClr val="FFFFFF"/>
                    </a:solidFill>
                  </a:tcPr>
                </a:tc>
                <a:tc>
                  <a:txBody>
                    <a:bodyPr wrap="square"/>
                    <a:lstStyle/>
                    <a:p>
                      <a:r>
                        <a:rPr sz="1100" b="0">
                          <a:solidFill>
                            <a:srgbClr val="4B4B4B"/>
                          </a:solidFill>
                          <a:latin typeface="Arial"/>
                        </a:rPr>
                        <a:t>Fulfilment unit, BDO CCC</a:t>
                      </a:r>
                    </a:p>
                  </a:txBody>
                  <a:tcPr marL="64008" marR="64008" marT="27432" marB="27432" anchor="ctr">
                    <a:solidFill>
                      <a:srgbClr val="FFFFFF"/>
                    </a:solidFill>
                  </a:tcPr>
                </a:tc>
              </a:tr>
            </a:tbl>
          </a:graphicData>
        </a:graphic>
      </p:graphicFrame>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10. Customer Servicing: best practice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sp>
        <p:nvSpPr>
          <p:cNvPr id="9" name="Rounded Rectangle 8"/>
          <p:cNvSpPr/>
          <p:nvPr/>
        </p:nvSpPr>
        <p:spPr>
          <a:xfrm>
            <a:off x="548640"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Omnichannel case management</a:t>
            </a:r>
          </a:p>
        </p:txBody>
      </p:sp>
      <p:sp>
        <p:nvSpPr>
          <p:cNvPr id="12" name="TextBox 11"/>
          <p:cNvSpPr txBox="1"/>
          <p:nvPr/>
        </p:nvSpPr>
        <p:spPr>
          <a:xfrm>
            <a:off x="640080"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One view of every concern</a:t>
            </a:r>
          </a:p>
        </p:txBody>
      </p:sp>
      <p:sp>
        <p:nvSpPr>
          <p:cNvPr id="13" name="TextBox 12"/>
          <p:cNvSpPr txBox="1"/>
          <p:nvPr/>
        </p:nvSpPr>
        <p:spPr>
          <a:xfrm>
            <a:off x="621792"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Every call, e-mail and chat is a case with SLA, routing and history on the client record.</a:t>
            </a:r>
          </a:p>
          <a:p>
            <a:pPr>
              <a:spcAft>
                <a:spcPts val="400"/>
              </a:spcAft>
            </a:pPr>
            <a:r>
              <a:rPr sz="1200" b="1">
                <a:solidFill>
                  <a:srgbClr val="004EA8"/>
                </a:solidFill>
                <a:latin typeface="Arial"/>
              </a:rPr>
              <a:t>For BDOI: </a:t>
            </a:r>
            <a:r>
              <a:rPr sz="1200" b="0">
                <a:solidFill>
                  <a:srgbClr val="4B4B4B"/>
                </a:solidFill>
                <a:latin typeface="Arial"/>
              </a:rPr>
              <a:t>Adopt BDOI's 15-Jul To-Be.</a:t>
            </a:r>
          </a:p>
        </p:txBody>
      </p:sp>
      <p:sp>
        <p:nvSpPr>
          <p:cNvPr id="14" name="Rounded Rectangle 13"/>
          <p:cNvSpPr/>
          <p:nvPr/>
        </p:nvSpPr>
        <p:spPr>
          <a:xfrm>
            <a:off x="4301642"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301642"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74794"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Screen-pop and assisted PID</a:t>
            </a:r>
          </a:p>
        </p:txBody>
      </p:sp>
      <p:sp>
        <p:nvSpPr>
          <p:cNvPr id="17" name="TextBox 16"/>
          <p:cNvSpPr txBox="1"/>
          <p:nvPr/>
        </p:nvSpPr>
        <p:spPr>
          <a:xfrm>
            <a:off x="4393082"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Shorter calls</a:t>
            </a:r>
          </a:p>
        </p:txBody>
      </p:sp>
      <p:sp>
        <p:nvSpPr>
          <p:cNvPr id="18" name="TextBox 17"/>
          <p:cNvSpPr txBox="1"/>
          <p:nvPr/>
        </p:nvSpPr>
        <p:spPr>
          <a:xfrm>
            <a:off x="4374794"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Caller recognised from the number; PID by OTP or questions from the client record.</a:t>
            </a:r>
          </a:p>
          <a:p>
            <a:pPr>
              <a:spcAft>
                <a:spcPts val="400"/>
              </a:spcAft>
            </a:pPr>
            <a:r>
              <a:rPr sz="1200" b="1">
                <a:solidFill>
                  <a:srgbClr val="004EA8"/>
                </a:solidFill>
                <a:latin typeface="Arial"/>
              </a:rPr>
              <a:t>For BDOI: </a:t>
            </a:r>
            <a:r>
              <a:rPr sz="1200" b="0">
                <a:solidFill>
                  <a:srgbClr val="4B4B4B"/>
                </a:solidFill>
                <a:latin typeface="Arial"/>
              </a:rPr>
              <a:t>Add PID to the servicing view.</a:t>
            </a:r>
          </a:p>
        </p:txBody>
      </p:sp>
      <p:sp>
        <p:nvSpPr>
          <p:cNvPr id="19" name="Rounded Rectangle 18"/>
          <p:cNvSpPr/>
          <p:nvPr/>
        </p:nvSpPr>
        <p:spPr>
          <a:xfrm>
            <a:off x="8054644" y="1280160"/>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8054644" y="1280160"/>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27796" y="1280160"/>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Self-service</a:t>
            </a:r>
          </a:p>
        </p:txBody>
      </p:sp>
      <p:sp>
        <p:nvSpPr>
          <p:cNvPr id="22" name="TextBox 21"/>
          <p:cNvSpPr txBox="1"/>
          <p:nvPr/>
        </p:nvSpPr>
        <p:spPr>
          <a:xfrm>
            <a:off x="8146084" y="1901952"/>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Fewer calls</a:t>
            </a:r>
          </a:p>
        </p:txBody>
      </p:sp>
      <p:sp>
        <p:nvSpPr>
          <p:cNvPr id="23" name="TextBox 22"/>
          <p:cNvSpPr txBox="1"/>
          <p:nvPr/>
        </p:nvSpPr>
        <p:spPr>
          <a:xfrm>
            <a:off x="8127796" y="2212848"/>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Clients get RA, e-policy, SOA and payment status online or by chatbot.</a:t>
            </a:r>
          </a:p>
          <a:p>
            <a:pPr>
              <a:spcAft>
                <a:spcPts val="400"/>
              </a:spcAft>
            </a:pPr>
            <a:r>
              <a:rPr sz="1200" b="1">
                <a:solidFill>
                  <a:srgbClr val="004EA8"/>
                </a:solidFill>
                <a:latin typeface="Arial"/>
              </a:rPr>
              <a:t>For BDOI: </a:t>
            </a:r>
            <a:r>
              <a:rPr sz="1200" b="0">
                <a:solidFill>
                  <a:srgbClr val="4B4B4B"/>
                </a:solidFill>
                <a:latin typeface="Arial"/>
              </a:rPr>
              <a:t>Phase after go-live; start with document download.</a:t>
            </a:r>
          </a:p>
        </p:txBody>
      </p:sp>
      <p:sp>
        <p:nvSpPr>
          <p:cNvPr id="24" name="Rounded Rectangle 23"/>
          <p:cNvSpPr/>
          <p:nvPr/>
        </p:nvSpPr>
        <p:spPr>
          <a:xfrm>
            <a:off x="548640"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548640"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21792"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Knowledge base and scripts</a:t>
            </a:r>
          </a:p>
        </p:txBody>
      </p:sp>
      <p:sp>
        <p:nvSpPr>
          <p:cNvPr id="27" name="TextBox 26"/>
          <p:cNvSpPr txBox="1"/>
          <p:nvPr/>
        </p:nvSpPr>
        <p:spPr>
          <a:xfrm>
            <a:off x="640080"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Consistent answers</a:t>
            </a:r>
          </a:p>
        </p:txBody>
      </p:sp>
      <p:sp>
        <p:nvSpPr>
          <p:cNvPr id="28" name="TextBox 27"/>
          <p:cNvSpPr txBox="1"/>
          <p:nvPr/>
        </p:nvSpPr>
        <p:spPr>
          <a:xfrm>
            <a:off x="621792"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Answers and call scripts per concern type, kept by the contact centre.</a:t>
            </a:r>
          </a:p>
          <a:p>
            <a:pPr>
              <a:spcAft>
                <a:spcPts val="400"/>
              </a:spcAft>
            </a:pPr>
            <a:r>
              <a:rPr sz="1200" b="1">
                <a:solidFill>
                  <a:srgbClr val="004EA8"/>
                </a:solidFill>
                <a:latin typeface="Arial"/>
              </a:rPr>
              <a:t>For BDOI: </a:t>
            </a:r>
            <a:r>
              <a:rPr sz="1200" b="0">
                <a:solidFill>
                  <a:srgbClr val="4B4B4B"/>
                </a:solidFill>
                <a:latin typeface="Arial"/>
              </a:rPr>
              <a:t>Move CC Nav content into the case tool.</a:t>
            </a:r>
          </a:p>
        </p:txBody>
      </p:sp>
      <p:sp>
        <p:nvSpPr>
          <p:cNvPr id="29" name="Rounded Rectangle 28"/>
          <p:cNvSpPr/>
          <p:nvPr/>
        </p:nvSpPr>
        <p:spPr>
          <a:xfrm>
            <a:off x="4301642" y="3808476"/>
            <a:ext cx="3588410" cy="2363724"/>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301642" y="3808476"/>
            <a:ext cx="3588410" cy="566928"/>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374794" y="3808476"/>
            <a:ext cx="3442106" cy="566928"/>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First-contact resolution metrics</a:t>
            </a:r>
          </a:p>
        </p:txBody>
      </p:sp>
      <p:sp>
        <p:nvSpPr>
          <p:cNvPr id="32" name="TextBox 31"/>
          <p:cNvSpPr txBox="1"/>
          <p:nvPr/>
        </p:nvSpPr>
        <p:spPr>
          <a:xfrm>
            <a:off x="4393082" y="4430268"/>
            <a:ext cx="3405530" cy="292608"/>
          </a:xfrm>
          <a:prstGeom prst="rect">
            <a:avLst/>
          </a:prstGeom>
          <a:noFill/>
        </p:spPr>
        <p:txBody>
          <a:bodyPr wrap="square" anchor="ctr" lIns="45720" rIns="45720" tIns="18288" bIns="18288">
            <a:spAutoFit/>
          </a:bodyPr>
          <a:lstStyle/>
          <a:p>
            <a:pPr>
              <a:spcAft>
                <a:spcPts val="0"/>
              </a:spcAft>
            </a:pPr>
            <a:r>
              <a:rPr sz="1100" b="1">
                <a:solidFill>
                  <a:srgbClr val="0072D8"/>
                </a:solidFill>
                <a:latin typeface="Arial"/>
              </a:rPr>
              <a:t>Service quality</a:t>
            </a:r>
          </a:p>
        </p:txBody>
      </p:sp>
      <p:sp>
        <p:nvSpPr>
          <p:cNvPr id="33" name="TextBox 32"/>
          <p:cNvSpPr txBox="1"/>
          <p:nvPr/>
        </p:nvSpPr>
        <p:spPr>
          <a:xfrm>
            <a:off x="4374794" y="4741164"/>
            <a:ext cx="3442106" cy="1403604"/>
          </a:xfrm>
          <a:prstGeom prst="rect">
            <a:avLst/>
          </a:prstGeom>
          <a:noFill/>
        </p:spPr>
        <p:txBody>
          <a:bodyPr wrap="square" anchor="t" lIns="45720" rIns="45720" tIns="18288" bIns="18288">
            <a:spAutoFit/>
          </a:bodyPr>
          <a:lstStyle/>
          <a:p>
            <a:pPr>
              <a:spcAft>
                <a:spcPts val="400"/>
              </a:spcAft>
            </a:pPr>
            <a:r>
              <a:rPr sz="1200" b="1">
                <a:solidFill>
                  <a:srgbClr val="004EA8"/>
                </a:solidFill>
                <a:latin typeface="Arial"/>
              </a:rPr>
              <a:t>Industry practice: </a:t>
            </a:r>
            <a:r>
              <a:rPr sz="1200" b="0">
                <a:solidFill>
                  <a:srgbClr val="4B4B4B"/>
                </a:solidFill>
                <a:latin typeface="Arial"/>
              </a:rPr>
              <a:t>First-contact resolution, TAT met and satisfaction per unit.</a:t>
            </a:r>
          </a:p>
          <a:p>
            <a:pPr>
              <a:spcAft>
                <a:spcPts val="400"/>
              </a:spcAft>
            </a:pPr>
            <a:r>
              <a:rPr sz="1200" b="1">
                <a:solidFill>
                  <a:srgbClr val="004EA8"/>
                </a:solidFill>
                <a:latin typeface="Arial"/>
              </a:rPr>
              <a:t>For BDOI: </a:t>
            </a:r>
            <a:r>
              <a:rPr sz="1200" b="0">
                <a:solidFill>
                  <a:srgbClr val="4B4B4B"/>
                </a:solidFill>
                <a:latin typeface="Arial"/>
              </a:rPr>
              <a:t>Report from case data.</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F</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Cross-cutting topics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Data, integrations and shared needs we saw in every department</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11.  </a:t>
            </a:r>
            <a:r>
              <a:rPr sz="1500" b="1">
                <a:solidFill>
                  <a:srgbClr val="FFFFFF"/>
                </a:solidFill>
                <a:latin typeface="Arial"/>
              </a:rPr>
              <a:t>Data we will have to move</a:t>
            </a:r>
            <a:r>
              <a:rPr sz="1500" b="0">
                <a:solidFill>
                  <a:srgbClr val="99C1E7"/>
                </a:solidFill>
                <a:latin typeface="Arial"/>
              </a:rPr>
              <a:t>   What the floor walk tells us</a:t>
            </a:r>
          </a:p>
        </p:txBody>
      </p:sp>
      <p:sp>
        <p:nvSpPr>
          <p:cNvPr id="8" name="TextBox 7"/>
          <p:cNvSpPr txBox="1"/>
          <p:nvPr/>
        </p:nvSpPr>
        <p:spPr>
          <a:xfrm>
            <a:off x="548640" y="4361687"/>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12.  </a:t>
            </a:r>
            <a:r>
              <a:rPr sz="1500" b="1">
                <a:solidFill>
                  <a:srgbClr val="FFFFFF"/>
                </a:solidFill>
                <a:latin typeface="Arial"/>
              </a:rPr>
              <a:t>Integrations</a:t>
            </a:r>
            <a:r>
              <a:rPr sz="1500" b="0">
                <a:solidFill>
                  <a:srgbClr val="99C1E7"/>
                </a:solidFill>
                <a:latin typeface="Arial"/>
              </a:rPr>
              <a:t>   Channels we saw on the floor</a:t>
            </a:r>
          </a:p>
        </p:txBody>
      </p:sp>
      <p:sp>
        <p:nvSpPr>
          <p:cNvPr id="9" name="TextBox 8"/>
          <p:cNvSpPr txBox="1"/>
          <p:nvPr/>
        </p:nvSpPr>
        <p:spPr>
          <a:xfrm>
            <a:off x="548640" y="4745735"/>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13.  </a:t>
            </a:r>
            <a:r>
              <a:rPr sz="1500" b="1">
                <a:solidFill>
                  <a:srgbClr val="FFFFFF"/>
                </a:solidFill>
                <a:latin typeface="Arial"/>
              </a:rPr>
              <a:t>Shared needs</a:t>
            </a:r>
            <a:r>
              <a:rPr sz="1500" b="0">
                <a:solidFill>
                  <a:srgbClr val="99C1E7"/>
                </a:solidFill>
                <a:latin typeface="Arial"/>
              </a:rPr>
              <a:t>   Across departments</a:t>
            </a:r>
          </a:p>
        </p:txBody>
      </p:sp>
      <p:sp>
        <p:nvSpPr>
          <p:cNvPr id="10" name="TextBox 9"/>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Data: where it lives today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graphicFrame>
        <p:nvGraphicFramePr>
          <p:cNvPr id="9" name="Table 8"/>
          <p:cNvGraphicFramePr>
            <a:graphicFrameLocks noGrp="1"/>
          </p:cNvGraphicFramePr>
          <p:nvPr/>
        </p:nvGraphicFramePr>
        <p:xfrm>
          <a:off x="548640" y="1280160"/>
          <a:ext cx="11094414" cy="4754880"/>
        </p:xfrm>
        <a:graphic>
          <a:graphicData uri="http://schemas.openxmlformats.org/drawingml/2006/table">
            <a:tbl>
              <a:tblPr firstRow="1" bandRow="1">
                <a:tableStyleId>{5C22544A-7EE6-4342-B048-85BDC9FD1C3A}</a:tableStyleId>
              </a:tblPr>
              <a:tblGrid>
                <a:gridCol w="2147306"/>
                <a:gridCol w="6262976"/>
                <a:gridCol w="2684132"/>
              </a:tblGrid>
              <a:tr h="365760">
                <a:tc>
                  <a:txBody>
                    <a:bodyPr wrap="square"/>
                    <a:lstStyle/>
                    <a:p>
                      <a:r>
                        <a:rPr sz="1100" b="1">
                          <a:solidFill>
                            <a:srgbClr val="FFFFFF"/>
                          </a:solidFill>
                          <a:latin typeface="Arial"/>
                        </a:rPr>
                        <a:t>Where</a:t>
                      </a:r>
                    </a:p>
                  </a:txBody>
                  <a:tcPr marL="64008" marR="64008" marT="27432" marB="27432" anchor="ctr">
                    <a:solidFill>
                      <a:srgbClr val="004EA8"/>
                    </a:solidFill>
                  </a:tcPr>
                </a:tc>
                <a:tc>
                  <a:txBody>
                    <a:bodyPr wrap="square"/>
                    <a:lstStyle/>
                    <a:p>
                      <a:r>
                        <a:rPr sz="1100" b="1">
                          <a:solidFill>
                            <a:srgbClr val="FFFFFF"/>
                          </a:solidFill>
                          <a:latin typeface="Arial"/>
                        </a:rPr>
                        <a:t>What we saw it hold</a:t>
                      </a:r>
                    </a:p>
                  </a:txBody>
                  <a:tcPr marL="64008" marR="64008" marT="27432" marB="27432" anchor="ctr">
                    <a:solidFill>
                      <a:srgbClr val="004EA8"/>
                    </a:solidFill>
                  </a:tcPr>
                </a:tc>
                <a:tc>
                  <a:txBody>
                    <a:bodyPr wrap="square"/>
                    <a:lstStyle/>
                    <a:p>
                      <a:r>
                        <a:rPr sz="1100" b="1">
                          <a:solidFill>
                            <a:srgbClr val="FFFFFF"/>
                          </a:solidFill>
                          <a:latin typeface="Arial"/>
                        </a:rPr>
                        <a:t>Seen in</a:t>
                      </a:r>
                    </a:p>
                  </a:txBody>
                  <a:tcPr marL="64008" marR="64008" marT="27432" marB="27432" anchor="ctr">
                    <a:solidFill>
                      <a:srgbClr val="004EA8"/>
                    </a:solidFill>
                  </a:tcPr>
                </a:tc>
              </a:tr>
              <a:tr h="731520">
                <a:tc>
                  <a:txBody>
                    <a:bodyPr wrap="square"/>
                    <a:lstStyle/>
                    <a:p>
                      <a:r>
                        <a:rPr sz="1100" b="1">
                          <a:solidFill>
                            <a:srgbClr val="4B4B4B"/>
                          </a:solidFill>
                          <a:latin typeface="Arial"/>
                        </a:rPr>
                        <a:t>EBIX Evolution</a:t>
                      </a:r>
                    </a:p>
                  </a:txBody>
                  <a:tcPr marL="64008" marR="64008" marT="27432" marB="27432" anchor="ctr">
                    <a:solidFill>
                      <a:srgbClr val="FFFFFF"/>
                    </a:solidFill>
                  </a:tcPr>
                </a:tc>
                <a:tc>
                  <a:txBody>
                    <a:bodyPr wrap="square"/>
                    <a:lstStyle/>
                    <a:p>
                      <a:r>
                        <a:rPr sz="1100" b="0">
                          <a:solidFill>
                            <a:srgbClr val="4B4B4B"/>
                          </a:solidFill>
                          <a:latin typeface="Arial"/>
                        </a:rPr>
                        <a:t>Booking, invoices, AR / OR, remittance, unapplied, GL, payees, policy-fee invoices; DP tags without premium entries</a:t>
                      </a:r>
                    </a:p>
                  </a:txBody>
                  <a:tcPr marL="64008" marR="64008" marT="27432" marB="27432" anchor="ctr">
                    <a:solidFill>
                      <a:srgbClr val="FFFFFF"/>
                    </a:solidFill>
                  </a:tcPr>
                </a:tc>
                <a:tc>
                  <a:txBody>
                    <a:bodyPr wrap="square"/>
                    <a:lstStyle/>
                    <a:p>
                      <a:r>
                        <a:rPr sz="1100" b="0">
                          <a:solidFill>
                            <a:srgbClr val="4B4B4B"/>
                          </a:solidFill>
                          <a:latin typeface="Arial"/>
                        </a:rPr>
                        <a:t>Operations, Comptrollership flows; CA-03</a:t>
                      </a:r>
                    </a:p>
                  </a:txBody>
                  <a:tcPr marL="64008" marR="64008" marT="27432" marB="27432" anchor="ctr">
                    <a:solidFill>
                      <a:srgbClr val="FFFFFF"/>
                    </a:solidFill>
                  </a:tcPr>
                </a:tc>
              </a:tr>
              <a:tr h="731520">
                <a:tc>
                  <a:txBody>
                    <a:bodyPr wrap="square"/>
                    <a:lstStyle/>
                    <a:p>
                      <a:r>
                        <a:rPr sz="1100" b="1">
                          <a:solidFill>
                            <a:srgbClr val="4B4B4B"/>
                          </a:solidFill>
                          <a:latin typeface="Arial"/>
                        </a:rPr>
                        <a:t>QPS</a:t>
                      </a:r>
                    </a:p>
                  </a:txBody>
                  <a:tcPr marL="64008" marR="64008" marT="27432" marB="27432" anchor="ctr">
                    <a:solidFill>
                      <a:srgbClr val="E5F5FF"/>
                    </a:solidFill>
                  </a:tcPr>
                </a:tc>
                <a:tc>
                  <a:txBody>
                    <a:bodyPr wrap="square"/>
                    <a:lstStyle/>
                    <a:p>
                      <a:r>
                        <a:rPr sz="1100" b="0">
                          <a:solidFill>
                            <a:srgbClr val="4B4B4B"/>
                          </a:solidFill>
                          <a:latin typeface="Arial"/>
                        </a:rPr>
                        <a:t>Quotations, package policies, renewals; holds the three references</a:t>
                      </a:r>
                    </a:p>
                  </a:txBody>
                  <a:tcPr marL="64008" marR="64008" marT="27432" marB="27432" anchor="ctr">
                    <a:solidFill>
                      <a:srgbClr val="E5F5FF"/>
                    </a:solidFill>
                  </a:tcPr>
                </a:tc>
                <a:tc>
                  <a:txBody>
                    <a:bodyPr wrap="square"/>
                    <a:lstStyle/>
                    <a:p>
                      <a:r>
                        <a:rPr sz="1100" b="0">
                          <a:solidFill>
                            <a:srgbClr val="4B4B4B"/>
                          </a:solidFill>
                          <a:latin typeface="Arial"/>
                        </a:rPr>
                        <a:t>NB flow; OV-03</a:t>
                      </a:r>
                    </a:p>
                  </a:txBody>
                  <a:tcPr marL="64008" marR="64008" marT="27432" marB="27432" anchor="ctr">
                    <a:solidFill>
                      <a:srgbClr val="E5F5FF"/>
                    </a:solidFill>
                  </a:tcPr>
                </a:tc>
              </a:tr>
              <a:tr h="731520">
                <a:tc>
                  <a:txBody>
                    <a:bodyPr wrap="square"/>
                    <a:lstStyle/>
                    <a:p>
                      <a:r>
                        <a:rPr sz="1100" b="1">
                          <a:solidFill>
                            <a:srgbClr val="4B4B4B"/>
                          </a:solidFill>
                          <a:latin typeface="Arial"/>
                        </a:rPr>
                        <a:t>ISYS / Broker</a:t>
                      </a:r>
                    </a:p>
                  </a:txBody>
                  <a:tcPr marL="64008" marR="64008" marT="27432" marB="27432" anchor="ctr">
                    <a:solidFill>
                      <a:srgbClr val="FFFFFF"/>
                    </a:solidFill>
                  </a:tcPr>
                </a:tc>
                <a:tc>
                  <a:txBody>
                    <a:bodyPr wrap="square"/>
                    <a:lstStyle/>
                    <a:p>
                      <a:r>
                        <a:rPr sz="1100" b="0">
                          <a:solidFill>
                            <a:srgbClr val="4B4B4B"/>
                          </a:solidFill>
                          <a:latin typeface="Arial"/>
                        </a:rPr>
                        <a:t>Leads, clients, accounts, Marketing Diary; client codes kept for renewal</a:t>
                      </a:r>
                    </a:p>
                  </a:txBody>
                  <a:tcPr marL="64008" marR="64008" marT="27432" marB="27432" anchor="ctr">
                    <a:solidFill>
                      <a:srgbClr val="FFFFFF"/>
                    </a:solidFill>
                  </a:tcPr>
                </a:tc>
                <a:tc>
                  <a:txBody>
                    <a:bodyPr wrap="square"/>
                    <a:lstStyle/>
                    <a:p>
                      <a:r>
                        <a:rPr sz="1100" b="0">
                          <a:solidFill>
                            <a:srgbClr val="4B4B4B"/>
                          </a:solidFill>
                          <a:latin typeface="Arial"/>
                        </a:rPr>
                        <a:t>NB flow; NB-15; Collections flow</a:t>
                      </a:r>
                    </a:p>
                  </a:txBody>
                  <a:tcPr marL="64008" marR="64008" marT="27432" marB="27432" anchor="ctr">
                    <a:solidFill>
                      <a:srgbClr val="FFFFFF"/>
                    </a:solidFill>
                  </a:tcPr>
                </a:tc>
              </a:tr>
              <a:tr h="731520">
                <a:tc>
                  <a:txBody>
                    <a:bodyPr wrap="square"/>
                    <a:lstStyle/>
                    <a:p>
                      <a:r>
                        <a:rPr sz="1100" b="1">
                          <a:solidFill>
                            <a:srgbClr val="4B4B4B"/>
                          </a:solidFill>
                          <a:latin typeface="Arial"/>
                        </a:rPr>
                        <a:t>ICS</a:t>
                      </a:r>
                    </a:p>
                  </a:txBody>
                  <a:tcPr marL="64008" marR="64008" marT="27432" marB="27432" anchor="ctr">
                    <a:solidFill>
                      <a:srgbClr val="E5F5FF"/>
                    </a:solidFill>
                  </a:tcPr>
                </a:tc>
                <a:tc>
                  <a:txBody>
                    <a:bodyPr wrap="square"/>
                    <a:lstStyle/>
                    <a:p>
                      <a:r>
                        <a:rPr sz="1100" b="0">
                          <a:solidFill>
                            <a:srgbClr val="4B4B4B"/>
                          </a:solidFill>
                          <a:latin typeface="Arial"/>
                        </a:rPr>
                        <a:t>Premium and commission collection status and ageing</a:t>
                      </a:r>
                    </a:p>
                  </a:txBody>
                  <a:tcPr marL="64008" marR="64008" marT="27432" marB="27432" anchor="ctr">
                    <a:solidFill>
                      <a:srgbClr val="E5F5FF"/>
                    </a:solidFill>
                  </a:tcPr>
                </a:tc>
                <a:tc>
                  <a:txBody>
                    <a:bodyPr wrap="square"/>
                    <a:lstStyle/>
                    <a:p>
                      <a:r>
                        <a:rPr sz="1100" b="0">
                          <a:solidFill>
                            <a:srgbClr val="4B4B4B"/>
                          </a:solidFill>
                          <a:latin typeface="Arial"/>
                        </a:rPr>
                        <a:t>CO-02</a:t>
                      </a:r>
                    </a:p>
                  </a:txBody>
                  <a:tcPr marL="64008" marR="64008" marT="27432" marB="27432" anchor="ctr">
                    <a:solidFill>
                      <a:srgbClr val="E5F5FF"/>
                    </a:solidFill>
                  </a:tcPr>
                </a:tc>
              </a:tr>
              <a:tr h="731520">
                <a:tc>
                  <a:txBody>
                    <a:bodyPr wrap="square"/>
                    <a:lstStyle/>
                    <a:p>
                      <a:r>
                        <a:rPr sz="1100" b="1">
                          <a:solidFill>
                            <a:srgbClr val="4B4B4B"/>
                          </a:solidFill>
                          <a:latin typeface="Arial"/>
                        </a:rPr>
                        <a:t>Excel, Drive H, SharePoint</a:t>
                      </a:r>
                    </a:p>
                  </a:txBody>
                  <a:tcPr marL="64008" marR="64008" marT="27432" marB="27432" anchor="ctr">
                    <a:solidFill>
                      <a:srgbClr val="FFFFFF"/>
                    </a:solidFill>
                  </a:tcPr>
                </a:tc>
                <a:tc>
                  <a:txBody>
                    <a:bodyPr wrap="square"/>
                    <a:lstStyle/>
                    <a:p>
                      <a:r>
                        <a:rPr sz="1100" b="0">
                          <a:solidFill>
                            <a:srgbClr val="4B4B4B"/>
                          </a:solidFill>
                          <a:latin typeface="Arial"/>
                        </a:rPr>
                        <a:t>NB masterlist, RMEL dispositions, submitted masterlists, DP lists, commission trackers, ManCom unbooked list, UPP list</a:t>
                      </a:r>
                    </a:p>
                  </a:txBody>
                  <a:tcPr marL="64008" marR="64008" marT="27432" marB="27432" anchor="ctr">
                    <a:solidFill>
                      <a:srgbClr val="FFFFFF"/>
                    </a:solidFill>
                  </a:tcPr>
                </a:tc>
                <a:tc>
                  <a:txBody>
                    <a:bodyPr wrap="square"/>
                    <a:lstStyle/>
                    <a:p>
                      <a:r>
                        <a:rPr sz="1100" b="0">
                          <a:solidFill>
                            <a:srgbClr val="4B4B4B"/>
                          </a:solidFill>
                          <a:latin typeface="Arial"/>
                        </a:rPr>
                        <a:t>NB, Renewal, SP, Operations flows</a:t>
                      </a:r>
                    </a:p>
                  </a:txBody>
                  <a:tcPr marL="64008" marR="64008" marT="27432" marB="27432" anchor="ctr">
                    <a:solidFill>
                      <a:srgbClr val="FFFFFF"/>
                    </a:solidFill>
                  </a:tcPr>
                </a:tc>
              </a:tr>
              <a:tr h="731520">
                <a:tc>
                  <a:txBody>
                    <a:bodyPr wrap="square"/>
                    <a:lstStyle/>
                    <a:p>
                      <a:r>
                        <a:rPr sz="1100" b="1">
                          <a:solidFill>
                            <a:srgbClr val="4B4B4B"/>
                          </a:solidFill>
                          <a:latin typeface="Arial"/>
                        </a:rPr>
                        <a:t>CLS, CC Nav</a:t>
                      </a:r>
                    </a:p>
                  </a:txBody>
                  <a:tcPr marL="64008" marR="64008" marT="27432" marB="27432" anchor="ctr">
                    <a:solidFill>
                      <a:srgbClr val="E5F5FF"/>
                    </a:solidFill>
                  </a:tcPr>
                </a:tc>
                <a:tc>
                  <a:txBody>
                    <a:bodyPr wrap="square"/>
                    <a:lstStyle/>
                    <a:p>
                      <a:r>
                        <a:rPr sz="1100" b="0">
                          <a:solidFill>
                            <a:srgbClr val="4B4B4B"/>
                          </a:solidFill>
                          <a:latin typeface="Arial"/>
                        </a:rPr>
                        <a:t>Contact-centre cases and knowledge</a:t>
                      </a:r>
                    </a:p>
                  </a:txBody>
                  <a:tcPr marL="64008" marR="64008" marT="27432" marB="27432" anchor="ctr">
                    <a:solidFill>
                      <a:srgbClr val="E5F5FF"/>
                    </a:solidFill>
                  </a:tcPr>
                </a:tc>
                <a:tc>
                  <a:txBody>
                    <a:bodyPr wrap="square"/>
                    <a:lstStyle/>
                    <a:p>
                      <a:r>
                        <a:rPr sz="1100" b="0">
                          <a:solidFill>
                            <a:srgbClr val="4B4B4B"/>
                          </a:solidFill>
                          <a:latin typeface="Arial"/>
                        </a:rPr>
                        <a:t>Case Management flow</a:t>
                      </a:r>
                    </a:p>
                  </a:txBody>
                  <a:tcPr marL="64008" marR="64008" marT="27432" marB="27432" anchor="ctr">
                    <a:solidFill>
                      <a:srgbClr val="E5F5FF"/>
                    </a:solidFill>
                  </a:tcPr>
                </a:tc>
              </a:tr>
            </a:tbl>
          </a:graphicData>
        </a:graphic>
      </p:graphicFrame>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11. Data: challenges we see for the move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548640"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Several references per transaction</a:t>
            </a:r>
          </a:p>
        </p:txBody>
      </p:sp>
      <p:sp>
        <p:nvSpPr>
          <p:cNvPr id="12" name="TextBox 11"/>
          <p:cNvSpPr txBox="1"/>
          <p:nvPr/>
        </p:nvSpPr>
        <p:spPr>
          <a:xfrm>
            <a:off x="621792"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ISYS, QPS, EBIX and payment references (OV-03)</a:t>
            </a:r>
          </a:p>
          <a:p>
            <a:pPr>
              <a:spcAft>
                <a:spcPts val="300"/>
              </a:spcAft>
            </a:pPr>
            <a:r>
              <a:rPr sz="1400" b="0">
                <a:solidFill>
                  <a:srgbClr val="004EA8"/>
                </a:solidFill>
                <a:latin typeface="Arial"/>
              </a:rPr>
              <a:t>•  </a:t>
            </a:r>
            <a:r>
              <a:rPr sz="1400" b="0">
                <a:solidFill>
                  <a:srgbClr val="4B4B4B"/>
                </a:solidFill>
                <a:latin typeface="Arial"/>
              </a:rPr>
              <a:t>Each must map to one record</a:t>
            </a:r>
          </a:p>
          <a:p>
            <a:pPr>
              <a:spcAft>
                <a:spcPts val="300"/>
              </a:spcAft>
            </a:pPr>
            <a:r>
              <a:rPr sz="1400" b="0">
                <a:solidFill>
                  <a:srgbClr val="004EA8"/>
                </a:solidFill>
                <a:latin typeface="Arial"/>
              </a:rPr>
              <a:t>•  </a:t>
            </a:r>
            <a:r>
              <a:rPr sz="1400" b="0">
                <a:solidFill>
                  <a:srgbClr val="4B4B4B"/>
                </a:solidFill>
                <a:latin typeface="Arial"/>
              </a:rPr>
              <a:t>Decide the one reference first</a:t>
            </a:r>
          </a:p>
        </p:txBody>
      </p:sp>
      <p:sp>
        <p:nvSpPr>
          <p:cNvPr id="13" name="Rounded Rectangle 12"/>
          <p:cNvSpPr/>
          <p:nvPr/>
        </p:nvSpPr>
        <p:spPr>
          <a:xfrm>
            <a:off x="4301642"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642"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4794"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Client categories and duplicates</a:t>
            </a:r>
          </a:p>
        </p:txBody>
      </p:sp>
      <p:sp>
        <p:nvSpPr>
          <p:cNvPr id="16" name="TextBox 15"/>
          <p:cNvSpPr txBox="1"/>
          <p:nvPr/>
        </p:nvSpPr>
        <p:spPr>
          <a:xfrm>
            <a:off x="4374794"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Leads and existing customers in one category (OV-04)</a:t>
            </a:r>
          </a:p>
          <a:p>
            <a:pPr>
              <a:spcAft>
                <a:spcPts val="300"/>
              </a:spcAft>
            </a:pPr>
            <a:r>
              <a:rPr sz="1400" b="0">
                <a:solidFill>
                  <a:srgbClr val="004EA8"/>
                </a:solidFill>
                <a:latin typeface="Arial"/>
              </a:rPr>
              <a:t>•  </a:t>
            </a:r>
            <a:r>
              <a:rPr sz="1400" b="0">
                <a:solidFill>
                  <a:srgbClr val="4B4B4B"/>
                </a:solidFill>
                <a:latin typeface="Arial"/>
              </a:rPr>
              <a:t>Same client in Broker, QPS and EBIX</a:t>
            </a:r>
          </a:p>
          <a:p>
            <a:pPr>
              <a:spcAft>
                <a:spcPts val="300"/>
              </a:spcAft>
            </a:pPr>
            <a:r>
              <a:rPr sz="1400" b="0">
                <a:solidFill>
                  <a:srgbClr val="004EA8"/>
                </a:solidFill>
                <a:latin typeface="Arial"/>
              </a:rPr>
              <a:t>•  </a:t>
            </a:r>
            <a:r>
              <a:rPr sz="1400" b="0">
                <a:solidFill>
                  <a:srgbClr val="4B4B4B"/>
                </a:solidFill>
                <a:latin typeface="Arial"/>
              </a:rPr>
              <a:t>Clean-up before the move</a:t>
            </a:r>
          </a:p>
        </p:txBody>
      </p:sp>
      <p:sp>
        <p:nvSpPr>
          <p:cNvPr id="17" name="Rounded Rectangle 16"/>
          <p:cNvSpPr/>
          <p:nvPr/>
        </p:nvSpPr>
        <p:spPr>
          <a:xfrm>
            <a:off x="8054644"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4644"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7796"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Balances with workarounds</a:t>
            </a:r>
          </a:p>
        </p:txBody>
      </p:sp>
      <p:sp>
        <p:nvSpPr>
          <p:cNvPr id="20" name="TextBox 19"/>
          <p:cNvSpPr txBox="1"/>
          <p:nvPr/>
        </p:nvSpPr>
        <p:spPr>
          <a:xfrm>
            <a:off x="8127796"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Direct-pay tags without premium entries (CA-03)</a:t>
            </a:r>
          </a:p>
          <a:p>
            <a:pPr>
              <a:spcAft>
                <a:spcPts val="300"/>
              </a:spcAft>
            </a:pPr>
            <a:r>
              <a:rPr sz="1400" b="0">
                <a:solidFill>
                  <a:srgbClr val="004EA8"/>
                </a:solidFill>
                <a:latin typeface="Arial"/>
              </a:rPr>
              <a:t>•  </a:t>
            </a:r>
            <a:r>
              <a:rPr sz="1400" b="0">
                <a:solidFill>
                  <a:srgbClr val="4B4B4B"/>
                </a:solidFill>
                <a:latin typeface="Arial"/>
              </a:rPr>
              <a:t>Threshold account for amounts below 0.99 (CA-02)</a:t>
            </a:r>
          </a:p>
          <a:p>
            <a:pPr>
              <a:spcAft>
                <a:spcPts val="300"/>
              </a:spcAft>
            </a:pPr>
            <a:r>
              <a:rPr sz="1400" b="0">
                <a:solidFill>
                  <a:srgbClr val="004EA8"/>
                </a:solidFill>
                <a:latin typeface="Arial"/>
              </a:rPr>
              <a:t>•  </a:t>
            </a:r>
            <a:r>
              <a:rPr sz="1400" b="0">
                <a:solidFill>
                  <a:srgbClr val="4B4B4B"/>
                </a:solidFill>
                <a:latin typeface="Arial"/>
              </a:rPr>
              <a:t>Reversal variances 0.01-0.99</a:t>
            </a:r>
          </a:p>
        </p:txBody>
      </p:sp>
      <p:sp>
        <p:nvSpPr>
          <p:cNvPr id="21" name="Rounded Rectangle 20"/>
          <p:cNvSpPr/>
          <p:nvPr/>
        </p:nvSpPr>
        <p:spPr>
          <a:xfrm>
            <a:off x="548640"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Status not reliable</a:t>
            </a:r>
          </a:p>
        </p:txBody>
      </p:sp>
      <p:sp>
        <p:nvSpPr>
          <p:cNvPr id="24" name="TextBox 23"/>
          <p:cNvSpPr txBox="1"/>
          <p:nvPr/>
        </p:nvSpPr>
        <p:spPr>
          <a:xfrm>
            <a:off x="621792"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ICS status stays on the last action; ageing runs (CO-02)</a:t>
            </a:r>
          </a:p>
          <a:p>
            <a:pPr>
              <a:spcAft>
                <a:spcPts val="300"/>
              </a:spcAft>
            </a:pPr>
            <a:r>
              <a:rPr sz="1400" b="0">
                <a:solidFill>
                  <a:srgbClr val="004EA8"/>
                </a:solidFill>
                <a:latin typeface="Arial"/>
              </a:rPr>
              <a:t>•  </a:t>
            </a:r>
            <a:r>
              <a:rPr sz="1400" b="0">
                <a:solidFill>
                  <a:srgbClr val="4B4B4B"/>
                </a:solidFill>
                <a:latin typeface="Arial"/>
              </a:rPr>
              <a:t>Outstanding per client not shown properly (CO-01)</a:t>
            </a:r>
          </a:p>
          <a:p>
            <a:pPr>
              <a:spcAft>
                <a:spcPts val="300"/>
              </a:spcAft>
            </a:pPr>
            <a:r>
              <a:rPr sz="1400" b="0">
                <a:solidFill>
                  <a:srgbClr val="004EA8"/>
                </a:solidFill>
                <a:latin typeface="Arial"/>
              </a:rPr>
              <a:t>•  </a:t>
            </a:r>
            <a:r>
              <a:rPr sz="1400" b="0">
                <a:solidFill>
                  <a:srgbClr val="4B4B4B"/>
                </a:solidFill>
                <a:latin typeface="Arial"/>
              </a:rPr>
              <a:t>Needs a reconciliation before the move</a:t>
            </a:r>
          </a:p>
        </p:txBody>
      </p:sp>
      <p:sp>
        <p:nvSpPr>
          <p:cNvPr id="25" name="Rounded Rectangle 24"/>
          <p:cNvSpPr/>
          <p:nvPr/>
        </p:nvSpPr>
        <p:spPr>
          <a:xfrm>
            <a:off x="4301642"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01642"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4794"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Data in spreadsheets</a:t>
            </a:r>
          </a:p>
        </p:txBody>
      </p:sp>
      <p:sp>
        <p:nvSpPr>
          <p:cNvPr id="28" name="TextBox 27"/>
          <p:cNvSpPr txBox="1"/>
          <p:nvPr/>
        </p:nvSpPr>
        <p:spPr>
          <a:xfrm>
            <a:off x="4374794"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Trackers and masterlists in Excel and SharePoint</a:t>
            </a:r>
          </a:p>
          <a:p>
            <a:pPr>
              <a:spcAft>
                <a:spcPts val="300"/>
              </a:spcAft>
            </a:pPr>
            <a:r>
              <a:rPr sz="1400" b="0">
                <a:solidFill>
                  <a:srgbClr val="004EA8"/>
                </a:solidFill>
                <a:latin typeface="Arial"/>
              </a:rPr>
              <a:t>•  </a:t>
            </a:r>
            <a:r>
              <a:rPr sz="1400" b="0">
                <a:solidFill>
                  <a:srgbClr val="4B4B4B"/>
                </a:solidFill>
                <a:latin typeface="Arial"/>
              </a:rPr>
              <a:t>Some are the only record of the work</a:t>
            </a:r>
          </a:p>
          <a:p>
            <a:pPr>
              <a:spcAft>
                <a:spcPts val="300"/>
              </a:spcAft>
            </a:pPr>
            <a:r>
              <a:rPr sz="1400" b="0">
                <a:solidFill>
                  <a:srgbClr val="004EA8"/>
                </a:solidFill>
                <a:latin typeface="Arial"/>
              </a:rPr>
              <a:t>•  </a:t>
            </a:r>
            <a:r>
              <a:rPr sz="1400" b="0">
                <a:solidFill>
                  <a:srgbClr val="4B4B4B"/>
                </a:solidFill>
                <a:latin typeface="Arial"/>
              </a:rPr>
              <a:t>Decide per tracker: move or archive</a:t>
            </a:r>
          </a:p>
        </p:txBody>
      </p:sp>
      <p:sp>
        <p:nvSpPr>
          <p:cNvPr id="29" name="Rounded Rectangle 28"/>
          <p:cNvSpPr/>
          <p:nvPr/>
        </p:nvSpPr>
        <p:spPr>
          <a:xfrm>
            <a:off x="8054644"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54644"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7796"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Volumes</a:t>
            </a:r>
          </a:p>
        </p:txBody>
      </p:sp>
      <p:sp>
        <p:nvSpPr>
          <p:cNvPr id="32" name="TextBox 31"/>
          <p:cNvSpPr txBox="1"/>
          <p:nvPr/>
        </p:nvSpPr>
        <p:spPr>
          <a:xfrm>
            <a:off x="8127796"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50,000+ EB members (EB-01)</a:t>
            </a:r>
          </a:p>
          <a:p>
            <a:pPr>
              <a:spcAft>
                <a:spcPts val="300"/>
              </a:spcAft>
            </a:pPr>
            <a:r>
              <a:rPr sz="1400" b="0">
                <a:solidFill>
                  <a:srgbClr val="004EA8"/>
                </a:solidFill>
                <a:latin typeface="Arial"/>
              </a:rPr>
              <a:t>•  </a:t>
            </a:r>
            <a:r>
              <a:rPr sz="1400" b="0">
                <a:solidFill>
                  <a:srgbClr val="4B4B4B"/>
                </a:solidFill>
                <a:latin typeface="Arial"/>
              </a:rPr>
              <a:t>20-30K recon lines per insurer a month</a:t>
            </a:r>
          </a:p>
          <a:p>
            <a:pPr>
              <a:spcAft>
                <a:spcPts val="300"/>
              </a:spcAft>
            </a:pPr>
            <a:r>
              <a:rPr sz="1400" b="0">
                <a:solidFill>
                  <a:srgbClr val="004EA8"/>
                </a:solidFill>
                <a:latin typeface="Arial"/>
              </a:rPr>
              <a:t>•  </a:t>
            </a:r>
            <a:r>
              <a:rPr sz="1400" b="0">
                <a:solidFill>
                  <a:srgbClr val="4B4B4B"/>
                </a:solidFill>
                <a:latin typeface="Arial"/>
              </a:rPr>
              <a:t>Bulk files of about 2,000 records</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Integrations: channels we saw on the floor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graphicFrame>
        <p:nvGraphicFramePr>
          <p:cNvPr id="9" name="Table 8"/>
          <p:cNvGraphicFramePr>
            <a:graphicFrameLocks noGrp="1"/>
          </p:cNvGraphicFramePr>
          <p:nvPr/>
        </p:nvGraphicFramePr>
        <p:xfrm>
          <a:off x="548640" y="1280160"/>
          <a:ext cx="11094414" cy="4919470"/>
        </p:xfrm>
        <a:graphic>
          <a:graphicData uri="http://schemas.openxmlformats.org/drawingml/2006/table">
            <a:tbl>
              <a:tblPr firstRow="1" bandRow="1">
                <a:tableStyleId>{5C22544A-7EE6-4342-B048-85BDC9FD1C3A}</a:tableStyleId>
              </a:tblPr>
              <a:tblGrid>
                <a:gridCol w="2326248"/>
                <a:gridCol w="3399901"/>
                <a:gridCol w="3042017"/>
                <a:gridCol w="2326248"/>
              </a:tblGrid>
              <a:tr h="365760">
                <a:tc>
                  <a:txBody>
                    <a:bodyPr wrap="square"/>
                    <a:lstStyle/>
                    <a:p>
                      <a:r>
                        <a:rPr sz="1100" b="1">
                          <a:solidFill>
                            <a:srgbClr val="FFFFFF"/>
                          </a:solidFill>
                          <a:latin typeface="Arial"/>
                        </a:rPr>
                        <a:t>Counterparty</a:t>
                      </a:r>
                    </a:p>
                  </a:txBody>
                  <a:tcPr marL="64008" marR="64008" marT="27432" marB="27432" anchor="ctr">
                    <a:solidFill>
                      <a:srgbClr val="004EA8"/>
                    </a:solidFill>
                  </a:tcPr>
                </a:tc>
                <a:tc>
                  <a:txBody>
                    <a:bodyPr wrap="square"/>
                    <a:lstStyle/>
                    <a:p>
                      <a:r>
                        <a:rPr sz="1100" b="1">
                          <a:solidFill>
                            <a:srgbClr val="FFFFFF"/>
                          </a:solidFill>
                          <a:latin typeface="Arial"/>
                        </a:rPr>
                        <a:t>What passes</a:t>
                      </a:r>
                    </a:p>
                  </a:txBody>
                  <a:tcPr marL="64008" marR="64008" marT="27432" marB="27432" anchor="ctr">
                    <a:solidFill>
                      <a:srgbClr val="004EA8"/>
                    </a:solidFill>
                  </a:tcPr>
                </a:tc>
                <a:tc>
                  <a:txBody>
                    <a:bodyPr wrap="square"/>
                    <a:lstStyle/>
                    <a:p>
                      <a:r>
                        <a:rPr sz="1100" b="1">
                          <a:solidFill>
                            <a:srgbClr val="FFFFFF"/>
                          </a:solidFill>
                          <a:latin typeface="Arial"/>
                        </a:rPr>
                        <a:t>How it works today</a:t>
                      </a:r>
                    </a:p>
                  </a:txBody>
                  <a:tcPr marL="64008" marR="64008" marT="27432" marB="27432" anchor="ctr">
                    <a:solidFill>
                      <a:srgbClr val="004EA8"/>
                    </a:solidFill>
                  </a:tcPr>
                </a:tc>
                <a:tc>
                  <a:txBody>
                    <a:bodyPr wrap="square"/>
                    <a:lstStyle/>
                    <a:p>
                      <a:r>
                        <a:rPr sz="1100" b="1">
                          <a:solidFill>
                            <a:srgbClr val="FFFFFF"/>
                          </a:solidFill>
                          <a:latin typeface="Arial"/>
                        </a:rPr>
                        <a:t>Seen in</a:t>
                      </a:r>
                    </a:p>
                  </a:txBody>
                  <a:tcPr marL="64008" marR="64008" marT="27432" marB="27432" anchor="ctr">
                    <a:solidFill>
                      <a:srgbClr val="004EA8"/>
                    </a:solidFill>
                  </a:tcPr>
                </a:tc>
              </a:tr>
              <a:tr h="650530">
                <a:tc>
                  <a:txBody>
                    <a:bodyPr wrap="square"/>
                    <a:lstStyle/>
                    <a:p>
                      <a:r>
                        <a:rPr sz="1100" b="1">
                          <a:solidFill>
                            <a:srgbClr val="4B4B4B"/>
                          </a:solidFill>
                          <a:latin typeface="Arial"/>
                        </a:rPr>
                        <a:t>Insurers (~55)</a:t>
                      </a:r>
                    </a:p>
                  </a:txBody>
                  <a:tcPr marL="64008" marR="64008" marT="27432" marB="27432" anchor="ctr">
                    <a:solidFill>
                      <a:srgbClr val="FFFFFF"/>
                    </a:solidFill>
                  </a:tcPr>
                </a:tc>
                <a:tc>
                  <a:txBody>
                    <a:bodyPr wrap="square"/>
                    <a:lstStyle/>
                    <a:p>
                      <a:r>
                        <a:rPr sz="1100" b="0">
                          <a:solidFill>
                            <a:srgbClr val="4B4B4B"/>
                          </a:solidFill>
                          <a:latin typeface="Arial"/>
                        </a:rPr>
                        <a:t>Placement slips, returns, e-policies, SOAs, production recon, DP billing, ORs</a:t>
                      </a:r>
                    </a:p>
                  </a:txBody>
                  <a:tcPr marL="64008" marR="64008" marT="27432" marB="27432" anchor="ctr">
                    <a:solidFill>
                      <a:srgbClr val="FFFFFF"/>
                    </a:solidFill>
                  </a:tcPr>
                </a:tc>
                <a:tc>
                  <a:txBody>
                    <a:bodyPr wrap="square"/>
                    <a:lstStyle/>
                    <a:p>
                      <a:r>
                        <a:rPr sz="1100" b="0">
                          <a:solidFill>
                            <a:srgbClr val="4B4B4B"/>
                          </a:solidFill>
                          <a:latin typeface="Arial"/>
                        </a:rPr>
                        <a:t>E-mail; SFTP for enrolled insurers; each handled differently</a:t>
                      </a:r>
                    </a:p>
                  </a:txBody>
                  <a:tcPr marL="64008" marR="64008" marT="27432" marB="27432" anchor="ctr">
                    <a:solidFill>
                      <a:srgbClr val="FFFFFF"/>
                    </a:solidFill>
                  </a:tcPr>
                </a:tc>
                <a:tc>
                  <a:txBody>
                    <a:bodyPr wrap="square"/>
                    <a:lstStyle/>
                    <a:p>
                      <a:r>
                        <a:rPr sz="1100" b="0">
                          <a:solidFill>
                            <a:srgbClr val="4B4B4B"/>
                          </a:solidFill>
                          <a:latin typeface="Arial"/>
                        </a:rPr>
                        <a:t>OV-01; NB, Operations flows</a:t>
                      </a:r>
                    </a:p>
                  </a:txBody>
                  <a:tcPr marL="64008" marR="64008" marT="27432" marB="27432" anchor="ctr">
                    <a:solidFill>
                      <a:srgbClr val="FFFFFF"/>
                    </a:solidFill>
                  </a:tcPr>
                </a:tc>
              </a:tr>
              <a:tr h="650530">
                <a:tc>
                  <a:txBody>
                    <a:bodyPr wrap="square"/>
                    <a:lstStyle/>
                    <a:p>
                      <a:r>
                        <a:rPr sz="1100" b="1">
                          <a:solidFill>
                            <a:srgbClr val="4B4B4B"/>
                          </a:solidFill>
                          <a:latin typeface="Arial"/>
                        </a:rPr>
                        <a:t>BDO bank units (HLS, LAD, CLAS, CTS, LAMD, LFS, CIU)</a:t>
                      </a:r>
                    </a:p>
                  </a:txBody>
                  <a:tcPr marL="64008" marR="64008" marT="27432" marB="27432" anchor="ctr">
                    <a:solidFill>
                      <a:srgbClr val="E5F5FF"/>
                    </a:solidFill>
                  </a:tcPr>
                </a:tc>
                <a:tc>
                  <a:txBody>
                    <a:bodyPr wrap="square"/>
                    <a:lstStyle/>
                    <a:p>
                      <a:r>
                        <a:rPr sz="1100" b="0">
                          <a:solidFill>
                            <a:srgbClr val="4B4B4B"/>
                          </a:solidFill>
                          <a:latin typeface="Arial"/>
                        </a:rPr>
                        <a:t>Loan lists, insurance reports, submitted policies</a:t>
                      </a:r>
                    </a:p>
                  </a:txBody>
                  <a:tcPr marL="64008" marR="64008" marT="27432" marB="27432" anchor="ctr">
                    <a:solidFill>
                      <a:srgbClr val="E5F5FF"/>
                    </a:solidFill>
                  </a:tcPr>
                </a:tc>
                <a:tc>
                  <a:txBody>
                    <a:bodyPr wrap="square"/>
                    <a:lstStyle/>
                    <a:p>
                      <a:r>
                        <a:rPr sz="1100" b="0">
                          <a:solidFill>
                            <a:srgbClr val="4B4B4B"/>
                          </a:solidFill>
                          <a:latin typeface="Arial"/>
                        </a:rPr>
                        <a:t>Excel reports sanitised by hand</a:t>
                      </a:r>
                    </a:p>
                  </a:txBody>
                  <a:tcPr marL="64008" marR="64008" marT="27432" marB="27432" anchor="ctr">
                    <a:solidFill>
                      <a:srgbClr val="E5F5FF"/>
                    </a:solidFill>
                  </a:tcPr>
                </a:tc>
                <a:tc>
                  <a:txBody>
                    <a:bodyPr wrap="square"/>
                    <a:lstStyle/>
                    <a:p>
                      <a:r>
                        <a:rPr sz="1100" b="0">
                          <a:solidFill>
                            <a:srgbClr val="4B4B4B"/>
                          </a:solidFill>
                          <a:latin typeface="Arial"/>
                        </a:rPr>
                        <a:t>NB, SP flows</a:t>
                      </a:r>
                    </a:p>
                  </a:txBody>
                  <a:tcPr marL="64008" marR="64008" marT="27432" marB="27432" anchor="ctr">
                    <a:solidFill>
                      <a:srgbClr val="E5F5FF"/>
                    </a:solidFill>
                  </a:tcPr>
                </a:tc>
              </a:tr>
              <a:tr h="650530">
                <a:tc>
                  <a:txBody>
                    <a:bodyPr wrap="square"/>
                    <a:lstStyle/>
                    <a:p>
                      <a:r>
                        <a:rPr sz="1100" b="1">
                          <a:solidFill>
                            <a:srgbClr val="4B4B4B"/>
                          </a:solidFill>
                          <a:latin typeface="Arial"/>
                        </a:rPr>
                        <a:t>CLPC</a:t>
                      </a:r>
                    </a:p>
                  </a:txBody>
                  <a:tcPr marL="64008" marR="64008" marT="27432" marB="27432" anchor="ctr">
                    <a:solidFill>
                      <a:srgbClr val="FFFFFF"/>
                    </a:solidFill>
                  </a:tcPr>
                </a:tc>
                <a:tc>
                  <a:txBody>
                    <a:bodyPr wrap="square"/>
                    <a:lstStyle/>
                    <a:p>
                      <a:r>
                        <a:rPr sz="1100" b="0">
                          <a:solidFill>
                            <a:srgbClr val="4B4B4B"/>
                          </a:solidFill>
                          <a:latin typeface="Arial"/>
                        </a:rPr>
                        <a:t>CBG Fire billing and payment confirmation</a:t>
                      </a:r>
                    </a:p>
                  </a:txBody>
                  <a:tcPr marL="64008" marR="64008" marT="27432" marB="27432" anchor="ctr">
                    <a:solidFill>
                      <a:srgbClr val="FFFFFF"/>
                    </a:solidFill>
                  </a:tcPr>
                </a:tc>
                <a:tc>
                  <a:txBody>
                    <a:bodyPr wrap="square"/>
                    <a:lstStyle/>
                    <a:p>
                      <a:r>
                        <a:rPr sz="1100" b="0">
                          <a:solidFill>
                            <a:srgbClr val="4B4B4B"/>
                          </a:solidFill>
                          <a:latin typeface="Arial"/>
                        </a:rPr>
                        <a:t>Excel billing file; masterlist check</a:t>
                      </a:r>
                    </a:p>
                  </a:txBody>
                  <a:tcPr marL="64008" marR="64008" marT="27432" marB="27432" anchor="ctr">
                    <a:solidFill>
                      <a:srgbClr val="FFFFFF"/>
                    </a:solidFill>
                  </a:tcPr>
                </a:tc>
                <a:tc>
                  <a:txBody>
                    <a:bodyPr wrap="square"/>
                    <a:lstStyle/>
                    <a:p>
                      <a:r>
                        <a:rPr sz="1100" b="0">
                          <a:solidFill>
                            <a:srgbClr val="4B4B4B"/>
                          </a:solidFill>
                          <a:latin typeface="Arial"/>
                        </a:rPr>
                        <a:t>NB flow</a:t>
                      </a:r>
                    </a:p>
                  </a:txBody>
                  <a:tcPr marL="64008" marR="64008" marT="27432" marB="27432" anchor="ctr">
                    <a:solidFill>
                      <a:srgbClr val="FFFFFF"/>
                    </a:solidFill>
                  </a:tcPr>
                </a:tc>
              </a:tr>
              <a:tr h="650530">
                <a:tc>
                  <a:txBody>
                    <a:bodyPr wrap="square"/>
                    <a:lstStyle/>
                    <a:p>
                      <a:r>
                        <a:rPr sz="1100" b="1">
                          <a:solidFill>
                            <a:srgbClr val="4B4B4B"/>
                          </a:solidFill>
                          <a:latin typeface="Arial"/>
                        </a:rPr>
                        <a:t>Bank payment files</a:t>
                      </a:r>
                    </a:p>
                  </a:txBody>
                  <a:tcPr marL="64008" marR="64008" marT="27432" marB="27432" anchor="ctr">
                    <a:solidFill>
                      <a:srgbClr val="E5F5FF"/>
                    </a:solidFill>
                  </a:tcPr>
                </a:tc>
                <a:tc>
                  <a:txBody>
                    <a:bodyPr wrap="square"/>
                    <a:lstStyle/>
                    <a:p>
                      <a:r>
                        <a:rPr sz="1100" b="0">
                          <a:solidFill>
                            <a:srgbClr val="4B4B4B"/>
                          </a:solidFill>
                          <a:latin typeface="Arial"/>
                        </a:rPr>
                        <a:t>Bills payment, CLPC, PMS (PDC), Trade, direct credit, FS04</a:t>
                      </a:r>
                    </a:p>
                  </a:txBody>
                  <a:tcPr marL="64008" marR="64008" marT="27432" marB="27432" anchor="ctr">
                    <a:solidFill>
                      <a:srgbClr val="E5F5FF"/>
                    </a:solidFill>
                  </a:tcPr>
                </a:tc>
                <a:tc>
                  <a:txBody>
                    <a:bodyPr wrap="square"/>
                    <a:lstStyle/>
                    <a:p>
                      <a:r>
                        <a:rPr sz="1100" b="0">
                          <a:solidFill>
                            <a:srgbClr val="4B4B4B"/>
                          </a:solidFill>
                          <a:latin typeface="Arial"/>
                        </a:rPr>
                        <a:t>Files uploaded or run by IT; Autopay</a:t>
                      </a:r>
                    </a:p>
                  </a:txBody>
                  <a:tcPr marL="64008" marR="64008" marT="27432" marB="27432" anchor="ctr">
                    <a:solidFill>
                      <a:srgbClr val="E5F5FF"/>
                    </a:solidFill>
                  </a:tcPr>
                </a:tc>
                <a:tc>
                  <a:txBody>
                    <a:bodyPr wrap="square"/>
                    <a:lstStyle/>
                    <a:p>
                      <a:r>
                        <a:rPr sz="1100" b="0">
                          <a:solidFill>
                            <a:srgbClr val="4B4B4B"/>
                          </a:solidFill>
                          <a:latin typeface="Arial"/>
                        </a:rPr>
                        <a:t>Day 1 p.20</a:t>
                      </a:r>
                    </a:p>
                  </a:txBody>
                  <a:tcPr marL="64008" marR="64008" marT="27432" marB="27432" anchor="ctr">
                    <a:solidFill>
                      <a:srgbClr val="E5F5FF"/>
                    </a:solidFill>
                  </a:tcPr>
                </a:tc>
              </a:tr>
              <a:tr h="650530">
                <a:tc>
                  <a:txBody>
                    <a:bodyPr wrap="square"/>
                    <a:lstStyle/>
                    <a:p>
                      <a:r>
                        <a:rPr sz="1100" b="1">
                          <a:solidFill>
                            <a:srgbClr val="4B4B4B"/>
                          </a:solidFill>
                          <a:latin typeface="Arial"/>
                        </a:rPr>
                        <a:t>BDO TPD, branches</a:t>
                      </a:r>
                    </a:p>
                  </a:txBody>
                  <a:tcPr marL="64008" marR="64008" marT="27432" marB="27432" anchor="ctr">
                    <a:solidFill>
                      <a:srgbClr val="FFFFFF"/>
                    </a:solidFill>
                  </a:tcPr>
                </a:tc>
                <a:tc>
                  <a:txBody>
                    <a:bodyPr wrap="square"/>
                    <a:lstStyle/>
                    <a:p>
                      <a:r>
                        <a:rPr sz="1100" b="0">
                          <a:solidFill>
                            <a:srgbClr val="4B4B4B"/>
                          </a:solidFill>
                          <a:latin typeface="Arial"/>
                        </a:rPr>
                        <a:t>Credit files; MC, TT, DD, ATD, credit tickets</a:t>
                      </a:r>
                    </a:p>
                  </a:txBody>
                  <a:tcPr marL="64008" marR="64008" marT="27432" marB="27432" anchor="ctr">
                    <a:solidFill>
                      <a:srgbClr val="FFFFFF"/>
                    </a:solidFill>
                  </a:tcPr>
                </a:tc>
                <a:tc>
                  <a:txBody>
                    <a:bodyPr wrap="square"/>
                    <a:lstStyle/>
                    <a:p>
                      <a:r>
                        <a:rPr sz="1100" b="0">
                          <a:solidFill>
                            <a:srgbClr val="4B4B4B"/>
                          </a:solidFill>
                          <a:latin typeface="Arial"/>
                        </a:rPr>
                        <a:t>QPS text file via WinSCP; bank forms at a branch</a:t>
                      </a:r>
                    </a:p>
                  </a:txBody>
                  <a:tcPr marL="64008" marR="64008" marT="27432" marB="27432" anchor="ctr">
                    <a:solidFill>
                      <a:srgbClr val="FFFFFF"/>
                    </a:solidFill>
                  </a:tcPr>
                </a:tc>
                <a:tc>
                  <a:txBody>
                    <a:bodyPr wrap="square"/>
                    <a:lstStyle/>
                    <a:p>
                      <a:r>
                        <a:rPr sz="1100" b="0">
                          <a:solidFill>
                            <a:srgbClr val="4B4B4B"/>
                          </a:solidFill>
                          <a:latin typeface="Arial"/>
                        </a:rPr>
                        <a:t>Disbursement flow</a:t>
                      </a:r>
                    </a:p>
                  </a:txBody>
                  <a:tcPr marL="64008" marR="64008" marT="27432" marB="27432" anchor="ctr">
                    <a:solidFill>
                      <a:srgbClr val="FFFFFF"/>
                    </a:solidFill>
                  </a:tcPr>
                </a:tc>
              </a:tr>
              <a:tr h="650530">
                <a:tc>
                  <a:txBody>
                    <a:bodyPr wrap="square"/>
                    <a:lstStyle/>
                    <a:p>
                      <a:r>
                        <a:rPr sz="1100" b="1">
                          <a:solidFill>
                            <a:srgbClr val="4B4B4B"/>
                          </a:solidFill>
                          <a:latin typeface="Arial"/>
                        </a:rPr>
                        <a:t>Government</a:t>
                      </a:r>
                    </a:p>
                  </a:txBody>
                  <a:tcPr marL="64008" marR="64008" marT="27432" marB="27432" anchor="ctr">
                    <a:solidFill>
                      <a:srgbClr val="E5F5FF"/>
                    </a:solidFill>
                  </a:tcPr>
                </a:tc>
                <a:tc>
                  <a:txBody>
                    <a:bodyPr wrap="square"/>
                    <a:lstStyle/>
                    <a:p>
                      <a:r>
                        <a:rPr sz="1100" b="0">
                          <a:solidFill>
                            <a:srgbClr val="4B4B4B"/>
                          </a:solidFill>
                          <a:latin typeface="Arial"/>
                        </a:rPr>
                        <a:t>BIR (EFPS); SSS, Pag-IBIG, PhilHealth (BancNet)</a:t>
                      </a:r>
                    </a:p>
                  </a:txBody>
                  <a:tcPr marL="64008" marR="64008" marT="27432" marB="27432" anchor="ctr">
                    <a:solidFill>
                      <a:srgbClr val="E5F5FF"/>
                    </a:solidFill>
                  </a:tcPr>
                </a:tc>
                <a:tc>
                  <a:txBody>
                    <a:bodyPr wrap="square"/>
                    <a:lstStyle/>
                    <a:p>
                      <a:r>
                        <a:rPr sz="1100" b="0">
                          <a:solidFill>
                            <a:srgbClr val="4B4B4B"/>
                          </a:solidFill>
                          <a:latin typeface="Arial"/>
                        </a:rPr>
                        <a:t>Filed and paid by hand; websites watched</a:t>
                      </a:r>
                    </a:p>
                  </a:txBody>
                  <a:tcPr marL="64008" marR="64008" marT="27432" marB="27432" anchor="ctr">
                    <a:solidFill>
                      <a:srgbClr val="E5F5FF"/>
                    </a:solidFill>
                  </a:tcPr>
                </a:tc>
                <a:tc>
                  <a:txBody>
                    <a:bodyPr wrap="square"/>
                    <a:lstStyle/>
                    <a:p>
                      <a:r>
                        <a:rPr sz="1100" b="0">
                          <a:solidFill>
                            <a:srgbClr val="4B4B4B"/>
                          </a:solidFill>
                          <a:latin typeface="Arial"/>
                        </a:rPr>
                        <a:t>Disbursement flow</a:t>
                      </a:r>
                    </a:p>
                  </a:txBody>
                  <a:tcPr marL="64008" marR="64008" marT="27432" marB="27432" anchor="ctr">
                    <a:solidFill>
                      <a:srgbClr val="E5F5FF"/>
                    </a:solidFill>
                  </a:tcPr>
                </a:tc>
              </a:tr>
              <a:tr h="650530">
                <a:tc>
                  <a:txBody>
                    <a:bodyPr wrap="square"/>
                    <a:lstStyle/>
                    <a:p>
                      <a:r>
                        <a:rPr sz="1100" b="1">
                          <a:solidFill>
                            <a:srgbClr val="4B4B4B"/>
                          </a:solidFill>
                          <a:latin typeface="Arial"/>
                        </a:rPr>
                        <a:t>Clients</a:t>
                      </a:r>
                    </a:p>
                  </a:txBody>
                  <a:tcPr marL="64008" marR="64008" marT="27432" marB="27432" anchor="ctr">
                    <a:solidFill>
                      <a:srgbClr val="FFFFFF"/>
                    </a:solidFill>
                  </a:tcPr>
                </a:tc>
                <a:tc>
                  <a:txBody>
                    <a:bodyPr wrap="square"/>
                    <a:lstStyle/>
                    <a:p>
                      <a:r>
                        <a:rPr sz="1100" b="0">
                          <a:solidFill>
                            <a:srgbClr val="4B4B4B"/>
                          </a:solidFill>
                          <a:latin typeface="Arial"/>
                        </a:rPr>
                        <a:t>Quotations, RA letters, e-policies, SOAs</a:t>
                      </a:r>
                    </a:p>
                  </a:txBody>
                  <a:tcPr marL="64008" marR="64008" marT="27432" marB="27432" anchor="ctr">
                    <a:solidFill>
                      <a:srgbClr val="FFFFFF"/>
                    </a:solidFill>
                  </a:tcPr>
                </a:tc>
                <a:tc>
                  <a:txBody>
                    <a:bodyPr wrap="square"/>
                    <a:lstStyle/>
                    <a:p>
                      <a:r>
                        <a:rPr sz="1100" b="0">
                          <a:solidFill>
                            <a:srgbClr val="4B4B4B"/>
                          </a:solidFill>
                          <a:latin typeface="Arial"/>
                        </a:rPr>
                        <a:t>E-mail; snail mail through COG</a:t>
                      </a:r>
                    </a:p>
                  </a:txBody>
                  <a:tcPr marL="64008" marR="64008" marT="27432" marB="27432" anchor="ctr">
                    <a:solidFill>
                      <a:srgbClr val="FFFFFF"/>
                    </a:solidFill>
                  </a:tcPr>
                </a:tc>
                <a:tc>
                  <a:txBody>
                    <a:bodyPr wrap="square"/>
                    <a:lstStyle/>
                    <a:p>
                      <a:r>
                        <a:rPr sz="1100" b="0">
                          <a:solidFill>
                            <a:srgbClr val="4B4B4B"/>
                          </a:solidFill>
                          <a:latin typeface="Arial"/>
                        </a:rPr>
                        <a:t>NB, Renewal, SP flows</a:t>
                      </a:r>
                    </a:p>
                  </a:txBody>
                  <a:tcPr marL="64008" marR="64008" marT="27432" marB="27432" anchor="ctr">
                    <a:solidFill>
                      <a:srgbClr val="FFFFFF"/>
                    </a:solidFill>
                  </a:tcPr>
                </a:tc>
              </a:tr>
            </a:tbl>
          </a:graphicData>
        </a:graphic>
      </p:graphicFrame>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12. Integrations: challenges we see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548640"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21792"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55 insurers, 55 ways</a:t>
            </a:r>
          </a:p>
        </p:txBody>
      </p:sp>
      <p:sp>
        <p:nvSpPr>
          <p:cNvPr id="12" name="TextBox 11"/>
          <p:cNvSpPr txBox="1"/>
          <p:nvPr/>
        </p:nvSpPr>
        <p:spPr>
          <a:xfrm>
            <a:off x="621792"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Each partner handled differently (OV-01)</a:t>
            </a:r>
          </a:p>
          <a:p>
            <a:pPr>
              <a:spcAft>
                <a:spcPts val="300"/>
              </a:spcAft>
            </a:pPr>
            <a:r>
              <a:rPr sz="1400" b="0">
                <a:solidFill>
                  <a:srgbClr val="004EA8"/>
                </a:solidFill>
                <a:latin typeface="Arial"/>
              </a:rPr>
              <a:t>•  </a:t>
            </a:r>
            <a:r>
              <a:rPr sz="1400" b="0">
                <a:solidFill>
                  <a:srgbClr val="4B4B4B"/>
                </a:solidFill>
                <a:latin typeface="Arial"/>
              </a:rPr>
              <a:t>SFTP for some, e-mail for the rest</a:t>
            </a:r>
          </a:p>
          <a:p>
            <a:pPr>
              <a:spcAft>
                <a:spcPts val="300"/>
              </a:spcAft>
            </a:pPr>
            <a:r>
              <a:rPr sz="1400" b="0">
                <a:solidFill>
                  <a:srgbClr val="004EA8"/>
                </a:solidFill>
                <a:latin typeface="Arial"/>
              </a:rPr>
              <a:t>•  </a:t>
            </a:r>
            <a:r>
              <a:rPr sz="1400" b="0">
                <a:solidFill>
                  <a:srgbClr val="4B4B4B"/>
                </a:solidFill>
                <a:latin typeface="Arial"/>
              </a:rPr>
              <a:t>The business asked for one common solution</a:t>
            </a:r>
          </a:p>
        </p:txBody>
      </p:sp>
      <p:sp>
        <p:nvSpPr>
          <p:cNvPr id="13" name="Rounded Rectangle 12"/>
          <p:cNvSpPr/>
          <p:nvPr/>
        </p:nvSpPr>
        <p:spPr>
          <a:xfrm>
            <a:off x="4301642"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301642"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74794"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IT runs the files</a:t>
            </a:r>
          </a:p>
        </p:txBody>
      </p:sp>
      <p:sp>
        <p:nvSpPr>
          <p:cNvPr id="16" name="TextBox 15"/>
          <p:cNvSpPr txBox="1"/>
          <p:nvPr/>
        </p:nvSpPr>
        <p:spPr>
          <a:xfrm>
            <a:off x="4374794"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Extracts, batches and migrations by IT</a:t>
            </a:r>
          </a:p>
          <a:p>
            <a:pPr>
              <a:spcAft>
                <a:spcPts val="300"/>
              </a:spcAft>
            </a:pPr>
            <a:r>
              <a:rPr sz="1400" b="0">
                <a:solidFill>
                  <a:srgbClr val="004EA8"/>
                </a:solidFill>
                <a:latin typeface="Arial"/>
              </a:rPr>
              <a:t>•  </a:t>
            </a:r>
            <a:r>
              <a:rPr sz="1400" b="0">
                <a:solidFill>
                  <a:srgbClr val="4B4B4B"/>
                </a:solidFill>
                <a:latin typeface="Arial"/>
              </a:rPr>
              <a:t>Text files for policy-number updates</a:t>
            </a:r>
          </a:p>
          <a:p>
            <a:pPr>
              <a:spcAft>
                <a:spcPts val="300"/>
              </a:spcAft>
            </a:pPr>
            <a:r>
              <a:rPr sz="1400" b="0">
                <a:solidFill>
                  <a:srgbClr val="004EA8"/>
                </a:solidFill>
                <a:latin typeface="Arial"/>
              </a:rPr>
              <a:t>•  </a:t>
            </a:r>
            <a:r>
              <a:rPr sz="1400" b="0">
                <a:solidFill>
                  <a:srgbClr val="4B4B4B"/>
                </a:solidFill>
                <a:latin typeface="Arial"/>
              </a:rPr>
              <a:t>WinSCP for credit files</a:t>
            </a:r>
          </a:p>
        </p:txBody>
      </p:sp>
      <p:sp>
        <p:nvSpPr>
          <p:cNvPr id="17" name="Rounded Rectangle 16"/>
          <p:cNvSpPr/>
          <p:nvPr/>
        </p:nvSpPr>
        <p:spPr>
          <a:xfrm>
            <a:off x="8054644" y="1280160"/>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054644" y="1280160"/>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127796" y="1280160"/>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Bank lists by hand</a:t>
            </a:r>
          </a:p>
        </p:txBody>
      </p:sp>
      <p:sp>
        <p:nvSpPr>
          <p:cNvPr id="20" name="TextBox 19"/>
          <p:cNvSpPr txBox="1"/>
          <p:nvPr/>
        </p:nvSpPr>
        <p:spPr>
          <a:xfrm>
            <a:off x="8127796" y="1810512"/>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HLS, LAD, CLAS, CTS and LAMD reports sanitised in Excel</a:t>
            </a:r>
          </a:p>
          <a:p>
            <a:pPr>
              <a:spcAft>
                <a:spcPts val="300"/>
              </a:spcAft>
            </a:pPr>
            <a:r>
              <a:rPr sz="1400" b="0">
                <a:solidFill>
                  <a:srgbClr val="004EA8"/>
                </a:solidFill>
                <a:latin typeface="Arial"/>
              </a:rPr>
              <a:t>•  </a:t>
            </a:r>
            <a:r>
              <a:rPr sz="1400" b="0">
                <a:solidFill>
                  <a:srgbClr val="4B4B4B"/>
                </a:solidFill>
                <a:latin typeface="Arial"/>
              </a:rPr>
              <a:t>CLPC billing and paid lists matched by hand</a:t>
            </a:r>
          </a:p>
          <a:p>
            <a:pPr>
              <a:spcAft>
                <a:spcPts val="300"/>
              </a:spcAft>
            </a:pPr>
            <a:r>
              <a:rPr sz="1400" b="0">
                <a:solidFill>
                  <a:srgbClr val="004EA8"/>
                </a:solidFill>
                <a:latin typeface="Arial"/>
              </a:rPr>
              <a:t>•  </a:t>
            </a:r>
            <a:r>
              <a:rPr sz="1400" b="0">
                <a:solidFill>
                  <a:srgbClr val="4B4B4B"/>
                </a:solidFill>
                <a:latin typeface="Arial"/>
              </a:rPr>
              <a:t>Loan status updated manually</a:t>
            </a:r>
          </a:p>
        </p:txBody>
      </p:sp>
      <p:sp>
        <p:nvSpPr>
          <p:cNvPr id="21" name="Rounded Rectangle 20"/>
          <p:cNvSpPr/>
          <p:nvPr/>
        </p:nvSpPr>
        <p:spPr>
          <a:xfrm>
            <a:off x="548640"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548640"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21792"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Government by hand</a:t>
            </a:r>
          </a:p>
        </p:txBody>
      </p:sp>
      <p:sp>
        <p:nvSpPr>
          <p:cNvPr id="24" name="TextBox 23"/>
          <p:cNvSpPr txBox="1"/>
          <p:nvPr/>
        </p:nvSpPr>
        <p:spPr>
          <a:xfrm>
            <a:off x="621792"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EFPS filing and BancNet payments</a:t>
            </a:r>
          </a:p>
          <a:p>
            <a:pPr>
              <a:spcAft>
                <a:spcPts val="300"/>
              </a:spcAft>
            </a:pPr>
            <a:r>
              <a:rPr sz="1400" b="0">
                <a:solidFill>
                  <a:srgbClr val="004EA8"/>
                </a:solidFill>
                <a:latin typeface="Arial"/>
              </a:rPr>
              <a:t>•  </a:t>
            </a:r>
            <a:r>
              <a:rPr sz="1400" b="0">
                <a:solidFill>
                  <a:srgbClr val="4B4B4B"/>
                </a:solidFill>
                <a:latin typeface="Arial"/>
              </a:rPr>
              <a:t>24-hour posting; websites watched</a:t>
            </a:r>
          </a:p>
          <a:p>
            <a:pPr>
              <a:spcAft>
                <a:spcPts val="300"/>
              </a:spcAft>
            </a:pPr>
            <a:r>
              <a:rPr sz="1400" b="0">
                <a:solidFill>
                  <a:srgbClr val="004EA8"/>
                </a:solidFill>
                <a:latin typeface="Arial"/>
              </a:rPr>
              <a:t>•  </a:t>
            </a:r>
            <a:r>
              <a:rPr sz="1400" b="0">
                <a:solidFill>
                  <a:srgbClr val="4B4B4B"/>
                </a:solidFill>
                <a:latin typeface="Arial"/>
              </a:rPr>
              <a:t>No calendar or confirmation record</a:t>
            </a:r>
          </a:p>
        </p:txBody>
      </p:sp>
      <p:sp>
        <p:nvSpPr>
          <p:cNvPr id="25" name="Rounded Rectangle 24"/>
          <p:cNvSpPr/>
          <p:nvPr/>
        </p:nvSpPr>
        <p:spPr>
          <a:xfrm>
            <a:off x="4301642"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301642"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374794"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Letters by print and mail</a:t>
            </a:r>
          </a:p>
        </p:txBody>
      </p:sp>
      <p:sp>
        <p:nvSpPr>
          <p:cNvPr id="28" name="TextBox 27"/>
          <p:cNvSpPr txBox="1"/>
          <p:nvPr/>
        </p:nvSpPr>
        <p:spPr>
          <a:xfrm>
            <a:off x="4374794"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RA and reminders printed by COG</a:t>
            </a:r>
          </a:p>
          <a:p>
            <a:pPr>
              <a:spcAft>
                <a:spcPts val="300"/>
              </a:spcAft>
            </a:pPr>
            <a:r>
              <a:rPr sz="1400" b="0">
                <a:solidFill>
                  <a:srgbClr val="004EA8"/>
                </a:solidFill>
                <a:latin typeface="Arial"/>
              </a:rPr>
              <a:t>•  </a:t>
            </a:r>
            <a:r>
              <a:rPr sz="1400" b="0">
                <a:solidFill>
                  <a:srgbClr val="4B4B4B"/>
                </a:solidFill>
                <a:latin typeface="Arial"/>
              </a:rPr>
              <a:t>Snail mail for CBG clients</a:t>
            </a:r>
          </a:p>
          <a:p>
            <a:pPr>
              <a:spcAft>
                <a:spcPts val="300"/>
              </a:spcAft>
            </a:pPr>
            <a:r>
              <a:rPr sz="1400" b="0">
                <a:solidFill>
                  <a:srgbClr val="004EA8"/>
                </a:solidFill>
                <a:latin typeface="Arial"/>
              </a:rPr>
              <a:t>•  </a:t>
            </a:r>
            <a:r>
              <a:rPr sz="1400" b="0">
                <a:solidFill>
                  <a:srgbClr val="4B4B4B"/>
                </a:solidFill>
                <a:latin typeface="Arial"/>
              </a:rPr>
              <a:t>NRNS lists blasted as text files</a:t>
            </a:r>
          </a:p>
        </p:txBody>
      </p:sp>
      <p:sp>
        <p:nvSpPr>
          <p:cNvPr id="29" name="Rounded Rectangle 28"/>
          <p:cNvSpPr/>
          <p:nvPr/>
        </p:nvSpPr>
        <p:spPr>
          <a:xfrm>
            <a:off x="8054644" y="3822192"/>
            <a:ext cx="3588410" cy="237744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8054644" y="3822192"/>
            <a:ext cx="3588410"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8127796" y="3822192"/>
            <a:ext cx="3442106" cy="45720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E-policy fall-outs</a:t>
            </a:r>
          </a:p>
        </p:txBody>
      </p:sp>
      <p:sp>
        <p:nvSpPr>
          <p:cNvPr id="32" name="TextBox 31"/>
          <p:cNvSpPr txBox="1"/>
          <p:nvPr/>
        </p:nvSpPr>
        <p:spPr>
          <a:xfrm>
            <a:off x="8127796" y="4352544"/>
            <a:ext cx="3442106" cy="1810512"/>
          </a:xfrm>
          <a:prstGeom prst="rect">
            <a:avLst/>
          </a:prstGeom>
          <a:noFill/>
        </p:spPr>
        <p:txBody>
          <a:bodyPr wrap="square" anchor="t" lIns="45720" rIns="45720" tIns="18288" bIns="18288">
            <a:spAutoFit/>
          </a:bodyPr>
          <a:lstStyle/>
          <a:p>
            <a:pPr>
              <a:spcAft>
                <a:spcPts val="300"/>
              </a:spcAft>
            </a:pPr>
            <a:r>
              <a:rPr sz="1400" b="0">
                <a:solidFill>
                  <a:srgbClr val="004EA8"/>
                </a:solidFill>
                <a:latin typeface="Arial"/>
              </a:rPr>
              <a:t>•  </a:t>
            </a:r>
            <a:r>
              <a:rPr sz="1400" b="0">
                <a:solidFill>
                  <a:srgbClr val="4B4B4B"/>
                </a:solidFill>
                <a:latin typeface="Arial"/>
              </a:rPr>
              <a:t>SFTP fall-outs need text files and an IT exception report</a:t>
            </a:r>
          </a:p>
          <a:p>
            <a:pPr>
              <a:spcAft>
                <a:spcPts val="300"/>
              </a:spcAft>
            </a:pPr>
            <a:r>
              <a:rPr sz="1400" b="0">
                <a:solidFill>
                  <a:srgbClr val="004EA8"/>
                </a:solidFill>
                <a:latin typeface="Arial"/>
              </a:rPr>
              <a:t>•  </a:t>
            </a:r>
            <a:r>
              <a:rPr sz="1400" b="0">
                <a:solidFill>
                  <a:srgbClr val="4B4B4B"/>
                </a:solidFill>
                <a:latin typeface="Arial"/>
              </a:rPr>
              <a:t>Three different senders</a:t>
            </a:r>
          </a:p>
          <a:p>
            <a:pPr>
              <a:spcAft>
                <a:spcPts val="300"/>
              </a:spcAft>
            </a:pPr>
            <a:r>
              <a:rPr sz="1400" b="0">
                <a:solidFill>
                  <a:srgbClr val="004EA8"/>
                </a:solidFill>
                <a:latin typeface="Arial"/>
              </a:rPr>
              <a:t>•  </a:t>
            </a:r>
            <a:r>
              <a:rPr sz="1400" b="0">
                <a:solidFill>
                  <a:srgbClr val="4B4B4B"/>
                </a:solidFill>
                <a:latin typeface="Arial"/>
              </a:rPr>
              <a:t>Contact centre sends after Marketing fixes</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13. Shared needs every department raised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graphicFrame>
        <p:nvGraphicFramePr>
          <p:cNvPr id="9" name="Table 8"/>
          <p:cNvGraphicFramePr>
            <a:graphicFrameLocks noGrp="1"/>
          </p:cNvGraphicFramePr>
          <p:nvPr/>
        </p:nvGraphicFramePr>
        <p:xfrm>
          <a:off x="548640" y="1280160"/>
          <a:ext cx="11094413" cy="4919472"/>
        </p:xfrm>
        <a:graphic>
          <a:graphicData uri="http://schemas.openxmlformats.org/drawingml/2006/table">
            <a:tbl>
              <a:tblPr firstRow="1" bandRow="1">
                <a:tableStyleId>{5C22544A-7EE6-4342-B048-85BDC9FD1C3A}</a:tableStyleId>
              </a:tblPr>
              <a:tblGrid>
                <a:gridCol w="1968363"/>
                <a:gridCol w="4652496"/>
                <a:gridCol w="4473554"/>
              </a:tblGrid>
              <a:tr h="365760">
                <a:tc>
                  <a:txBody>
                    <a:bodyPr wrap="square"/>
                    <a:lstStyle/>
                    <a:p>
                      <a:r>
                        <a:rPr sz="1100" b="1">
                          <a:solidFill>
                            <a:srgbClr val="FFFFFF"/>
                          </a:solidFill>
                          <a:latin typeface="Arial"/>
                        </a:rPr>
                        <a:t>Need</a:t>
                      </a:r>
                    </a:p>
                  </a:txBody>
                  <a:tcPr marL="64008" marR="64008" marT="27432" marB="27432" anchor="ctr">
                    <a:solidFill>
                      <a:srgbClr val="004EA8"/>
                    </a:solidFill>
                  </a:tcPr>
                </a:tc>
                <a:tc>
                  <a:txBody>
                    <a:bodyPr wrap="square"/>
                    <a:lstStyle/>
                    <a:p>
                      <a:r>
                        <a:rPr sz="1100" b="1">
                          <a:solidFill>
                            <a:srgbClr val="FFFFFF"/>
                          </a:solidFill>
                          <a:latin typeface="Arial"/>
                        </a:rPr>
                        <a:t>What the floor walk showed</a:t>
                      </a:r>
                    </a:p>
                  </a:txBody>
                  <a:tcPr marL="64008" marR="64008" marT="27432" marB="27432" anchor="ctr">
                    <a:solidFill>
                      <a:srgbClr val="004EA8"/>
                    </a:solidFill>
                  </a:tcPr>
                </a:tc>
                <a:tc>
                  <a:txBody>
                    <a:bodyPr wrap="square"/>
                    <a:lstStyle/>
                    <a:p>
                      <a:r>
                        <a:rPr sz="1100" b="1">
                          <a:solidFill>
                            <a:srgbClr val="FFFFFF"/>
                          </a:solidFill>
                          <a:latin typeface="Arial"/>
                        </a:rPr>
                        <a:t>Our suggestion</a:t>
                      </a:r>
                    </a:p>
                  </a:txBody>
                  <a:tcPr marL="64008" marR="64008" marT="27432" marB="27432" anchor="ctr">
                    <a:solidFill>
                      <a:srgbClr val="004EA8"/>
                    </a:solidFill>
                  </a:tcPr>
                </a:tc>
              </a:tr>
              <a:tr h="569214">
                <a:tc>
                  <a:txBody>
                    <a:bodyPr wrap="square"/>
                    <a:lstStyle/>
                    <a:p>
                      <a:r>
                        <a:rPr sz="1100" b="1">
                          <a:solidFill>
                            <a:srgbClr val="4B4B4B"/>
                          </a:solidFill>
                          <a:latin typeface="Arial"/>
                        </a:rPr>
                        <a:t>One lifecycle reference</a:t>
                      </a:r>
                    </a:p>
                  </a:txBody>
                  <a:tcPr marL="64008" marR="64008" marT="27432" marB="27432" anchor="ctr">
                    <a:solidFill>
                      <a:srgbClr val="FFFFFF"/>
                    </a:solidFill>
                  </a:tcPr>
                </a:tc>
                <a:tc>
                  <a:txBody>
                    <a:bodyPr wrap="square"/>
                    <a:lstStyle/>
                    <a:p>
                      <a:r>
                        <a:rPr sz="1100" b="0">
                          <a:solidFill>
                            <a:srgbClr val="4B4B4B"/>
                          </a:solidFill>
                          <a:latin typeface="Arial"/>
                        </a:rPr>
                        <a:t>Three system references per deal (OV-03)</a:t>
                      </a:r>
                    </a:p>
                  </a:txBody>
                  <a:tcPr marL="64008" marR="64008" marT="27432" marB="27432" anchor="ctr">
                    <a:solidFill>
                      <a:srgbClr val="FFFFFF"/>
                    </a:solidFill>
                  </a:tcPr>
                </a:tc>
                <a:tc>
                  <a:txBody>
                    <a:bodyPr wrap="square"/>
                    <a:lstStyle/>
                    <a:p>
                      <a:r>
                        <a:rPr sz="1100" b="0">
                          <a:solidFill>
                            <a:srgbClr val="4B4B4B"/>
                          </a:solidFill>
                          <a:latin typeface="Arial"/>
                        </a:rPr>
                        <a:t>One reference on every document</a:t>
                      </a:r>
                    </a:p>
                  </a:txBody>
                  <a:tcPr marL="64008" marR="64008" marT="27432" marB="27432" anchor="ctr">
                    <a:solidFill>
                      <a:srgbClr val="FFFFFF"/>
                    </a:solidFill>
                  </a:tcPr>
                </a:tc>
              </a:tr>
              <a:tr h="569214">
                <a:tc>
                  <a:txBody>
                    <a:bodyPr wrap="square"/>
                    <a:lstStyle/>
                    <a:p>
                      <a:r>
                        <a:rPr sz="1100" b="1">
                          <a:solidFill>
                            <a:srgbClr val="4B4B4B"/>
                          </a:solidFill>
                          <a:latin typeface="Arial"/>
                        </a:rPr>
                        <a:t>Documents and templates</a:t>
                      </a:r>
                    </a:p>
                  </a:txBody>
                  <a:tcPr marL="64008" marR="64008" marT="27432" marB="27432" anchor="ctr">
                    <a:solidFill>
                      <a:srgbClr val="E5F5FF"/>
                    </a:solidFill>
                  </a:tcPr>
                </a:tc>
                <a:tc>
                  <a:txBody>
                    <a:bodyPr wrap="square"/>
                    <a:lstStyle/>
                    <a:p>
                      <a:r>
                        <a:rPr sz="1100" b="0">
                          <a:solidFill>
                            <a:srgbClr val="4B4B4B"/>
                          </a:solidFill>
                          <a:latin typeface="Arial"/>
                        </a:rPr>
                        <a:t>Insurer templates for schedules; BDOI template for RA only (DC-01)</a:t>
                      </a:r>
                    </a:p>
                  </a:txBody>
                  <a:tcPr marL="64008" marR="64008" marT="27432" marB="27432" anchor="ctr">
                    <a:solidFill>
                      <a:srgbClr val="E5F5FF"/>
                    </a:solidFill>
                  </a:tcPr>
                </a:tc>
                <a:tc>
                  <a:txBody>
                    <a:bodyPr wrap="square"/>
                    <a:lstStyle/>
                    <a:p>
                      <a:r>
                        <a:rPr sz="1100" b="0">
                          <a:solidFill>
                            <a:srgbClr val="4B4B4B"/>
                          </a:solidFill>
                          <a:latin typeface="Arial"/>
                        </a:rPr>
                        <a:t>One template library owned by the business</a:t>
                      </a:r>
                    </a:p>
                  </a:txBody>
                  <a:tcPr marL="64008" marR="64008" marT="27432" marB="27432" anchor="ctr">
                    <a:solidFill>
                      <a:srgbClr val="E5F5FF"/>
                    </a:solidFill>
                  </a:tcPr>
                </a:tc>
              </a:tr>
              <a:tr h="569214">
                <a:tc>
                  <a:txBody>
                    <a:bodyPr wrap="square"/>
                    <a:lstStyle/>
                    <a:p>
                      <a:r>
                        <a:rPr sz="1100" b="1">
                          <a:solidFill>
                            <a:srgbClr val="4B4B4B"/>
                          </a:solidFill>
                          <a:latin typeface="Arial"/>
                        </a:rPr>
                        <a:t>E-signature</a:t>
                      </a:r>
                    </a:p>
                  </a:txBody>
                  <a:tcPr marL="64008" marR="64008" marT="27432" marB="27432" anchor="ctr">
                    <a:solidFill>
                      <a:srgbClr val="FFFFFF"/>
                    </a:solidFill>
                  </a:tcPr>
                </a:tc>
                <a:tc>
                  <a:txBody>
                    <a:bodyPr wrap="square"/>
                    <a:lstStyle/>
                    <a:p>
                      <a:r>
                        <a:rPr sz="1100" b="0">
                          <a:solidFill>
                            <a:srgbClr val="4B4B4B"/>
                          </a:solidFill>
                          <a:latin typeface="Arial"/>
                        </a:rPr>
                        <a:t>Wet signatures on refunds, disbursements, ManCom; signed copy for audit (CP-01)</a:t>
                      </a:r>
                    </a:p>
                  </a:txBody>
                  <a:tcPr marL="64008" marR="64008" marT="27432" marB="27432" anchor="ctr">
                    <a:solidFill>
                      <a:srgbClr val="FFFFFF"/>
                    </a:solidFill>
                  </a:tcPr>
                </a:tc>
                <a:tc>
                  <a:txBody>
                    <a:bodyPr wrap="square"/>
                    <a:lstStyle/>
                    <a:p>
                      <a:r>
                        <a:rPr sz="1100" b="0">
                          <a:solidFill>
                            <a:srgbClr val="4B4B4B"/>
                          </a:solidFill>
                          <a:latin typeface="Arial"/>
                        </a:rPr>
                        <a:t>Decision with Legal and Compliance</a:t>
                      </a:r>
                    </a:p>
                  </a:txBody>
                  <a:tcPr marL="64008" marR="64008" marT="27432" marB="27432" anchor="ctr">
                    <a:solidFill>
                      <a:srgbClr val="FFFFFF"/>
                    </a:solidFill>
                  </a:tcPr>
                </a:tc>
              </a:tr>
              <a:tr h="569214">
                <a:tc>
                  <a:txBody>
                    <a:bodyPr wrap="square"/>
                    <a:lstStyle/>
                    <a:p>
                      <a:r>
                        <a:rPr sz="1100" b="1">
                          <a:solidFill>
                            <a:srgbClr val="4B4B4B"/>
                          </a:solidFill>
                          <a:latin typeface="Arial"/>
                        </a:rPr>
                        <a:t>SLA and TAT</a:t>
                      </a:r>
                    </a:p>
                  </a:txBody>
                  <a:tcPr marL="64008" marR="64008" marT="27432" marB="27432" anchor="ctr">
                    <a:solidFill>
                      <a:srgbClr val="E5F5FF"/>
                    </a:solidFill>
                  </a:tcPr>
                </a:tc>
                <a:tc>
                  <a:txBody>
                    <a:bodyPr wrap="square"/>
                    <a:lstStyle/>
                    <a:p>
                      <a:r>
                        <a:rPr sz="1100" b="0">
                          <a:solidFill>
                            <a:srgbClr val="4B4B4B"/>
                          </a:solidFill>
                          <a:latin typeface="Arial"/>
                        </a:rPr>
                        <a:t>7 / 3 days for quotes, TAT for referred cases</a:t>
                      </a:r>
                    </a:p>
                  </a:txBody>
                  <a:tcPr marL="64008" marR="64008" marT="27432" marB="27432" anchor="ctr">
                    <a:solidFill>
                      <a:srgbClr val="E5F5FF"/>
                    </a:solidFill>
                  </a:tcPr>
                </a:tc>
                <a:tc>
                  <a:txBody>
                    <a:bodyPr wrap="square"/>
                    <a:lstStyle/>
                    <a:p>
                      <a:r>
                        <a:rPr sz="1100" b="0">
                          <a:solidFill>
                            <a:srgbClr val="4B4B4B"/>
                          </a:solidFill>
                          <a:latin typeface="Arial"/>
                        </a:rPr>
                        <a:t>One SLA catalogue with values per step</a:t>
                      </a:r>
                    </a:p>
                  </a:txBody>
                  <a:tcPr marL="64008" marR="64008" marT="27432" marB="27432" anchor="ctr">
                    <a:solidFill>
                      <a:srgbClr val="E5F5FF"/>
                    </a:solidFill>
                  </a:tcPr>
                </a:tc>
              </a:tr>
              <a:tr h="569214">
                <a:tc>
                  <a:txBody>
                    <a:bodyPr wrap="square"/>
                    <a:lstStyle/>
                    <a:p>
                      <a:r>
                        <a:rPr sz="1100" b="1">
                          <a:solidFill>
                            <a:srgbClr val="4B4B4B"/>
                          </a:solidFill>
                          <a:latin typeface="Arial"/>
                        </a:rPr>
                        <a:t>Notifications</a:t>
                      </a:r>
                    </a:p>
                  </a:txBody>
                  <a:tcPr marL="64008" marR="64008" marT="27432" marB="27432" anchor="ctr">
                    <a:solidFill>
                      <a:srgbClr val="FFFFFF"/>
                    </a:solidFill>
                  </a:tcPr>
                </a:tc>
                <a:tc>
                  <a:txBody>
                    <a:bodyPr wrap="square"/>
                    <a:lstStyle/>
                    <a:p>
                      <a:r>
                        <a:rPr sz="1100" b="0">
                          <a:solidFill>
                            <a:srgbClr val="4B4B4B"/>
                          </a:solidFill>
                          <a:latin typeface="Arial"/>
                        </a:rPr>
                        <a:t>Follow-ups by e-mail, phone, chat</a:t>
                      </a:r>
                    </a:p>
                  </a:txBody>
                  <a:tcPr marL="64008" marR="64008" marT="27432" marB="27432" anchor="ctr">
                    <a:solidFill>
                      <a:srgbClr val="FFFFFF"/>
                    </a:solidFill>
                  </a:tcPr>
                </a:tc>
                <a:tc>
                  <a:txBody>
                    <a:bodyPr wrap="square"/>
                    <a:lstStyle/>
                    <a:p>
                      <a:r>
                        <a:rPr sz="1100" b="0">
                          <a:solidFill>
                            <a:srgbClr val="4B4B4B"/>
                          </a:solidFill>
                          <a:latin typeface="Arial"/>
                        </a:rPr>
                        <a:t>Automatic reminders to clients and staff</a:t>
                      </a:r>
                    </a:p>
                  </a:txBody>
                  <a:tcPr marL="64008" marR="64008" marT="27432" marB="27432" anchor="ctr">
                    <a:solidFill>
                      <a:srgbClr val="FFFFFF"/>
                    </a:solidFill>
                  </a:tcPr>
                </a:tc>
              </a:tr>
              <a:tr h="569214">
                <a:tc>
                  <a:txBody>
                    <a:bodyPr wrap="square"/>
                    <a:lstStyle/>
                    <a:p>
                      <a:r>
                        <a:rPr sz="1100" b="1">
                          <a:solidFill>
                            <a:srgbClr val="4B4B4B"/>
                          </a:solidFill>
                          <a:latin typeface="Arial"/>
                        </a:rPr>
                        <a:t>Self-service reports</a:t>
                      </a:r>
                    </a:p>
                  </a:txBody>
                  <a:tcPr marL="64008" marR="64008" marT="27432" marB="27432" anchor="ctr">
                    <a:solidFill>
                      <a:srgbClr val="E5F5FF"/>
                    </a:solidFill>
                  </a:tcPr>
                </a:tc>
                <a:tc>
                  <a:txBody>
                    <a:bodyPr wrap="square"/>
                    <a:lstStyle/>
                    <a:p>
                      <a:r>
                        <a:rPr sz="1100" b="0">
                          <a:solidFill>
                            <a:srgbClr val="4B4B4B"/>
                          </a:solidFill>
                          <a:latin typeface="Arial"/>
                        </a:rPr>
                        <a:t>Reports need IT (RP-01)</a:t>
                      </a:r>
                    </a:p>
                  </a:txBody>
                  <a:tcPr marL="64008" marR="64008" marT="27432" marB="27432" anchor="ctr">
                    <a:solidFill>
                      <a:srgbClr val="E5F5FF"/>
                    </a:solidFill>
                  </a:tcPr>
                </a:tc>
                <a:tc>
                  <a:txBody>
                    <a:bodyPr wrap="square"/>
                    <a:lstStyle/>
                    <a:p>
                      <a:r>
                        <a:rPr sz="1100" b="0">
                          <a:solidFill>
                            <a:srgbClr val="4B4B4B"/>
                          </a:solidFill>
                          <a:latin typeface="Arial"/>
                        </a:rPr>
                        <a:t>Business-run reports and dashboards</a:t>
                      </a:r>
                    </a:p>
                  </a:txBody>
                  <a:tcPr marL="64008" marR="64008" marT="27432" marB="27432" anchor="ctr">
                    <a:solidFill>
                      <a:srgbClr val="E5F5FF"/>
                    </a:solidFill>
                  </a:tcPr>
                </a:tc>
              </a:tr>
              <a:tr h="569214">
                <a:tc>
                  <a:txBody>
                    <a:bodyPr wrap="square"/>
                    <a:lstStyle/>
                    <a:p>
                      <a:r>
                        <a:rPr sz="1100" b="1">
                          <a:solidFill>
                            <a:srgbClr val="4B4B4B"/>
                          </a:solidFill>
                          <a:latin typeface="Arial"/>
                        </a:rPr>
                        <a:t>Reference data</a:t>
                      </a:r>
                    </a:p>
                  </a:txBody>
                  <a:tcPr marL="64008" marR="64008" marT="27432" marB="27432" anchor="ctr">
                    <a:solidFill>
                      <a:srgbClr val="FFFFFF"/>
                    </a:solidFill>
                  </a:tcPr>
                </a:tc>
                <a:tc>
                  <a:txBody>
                    <a:bodyPr wrap="square"/>
                    <a:lstStyle/>
                    <a:p>
                      <a:r>
                        <a:rPr sz="1100" b="0">
                          <a:solidFill>
                            <a:srgbClr val="4B4B4B"/>
                          </a:solidFill>
                          <a:latin typeface="Arial"/>
                        </a:rPr>
                        <a:t>Insurers, products, LOVs, MIS fields, audit (Day 1 p.9)</a:t>
                      </a:r>
                    </a:p>
                  </a:txBody>
                  <a:tcPr marL="64008" marR="64008" marT="27432" marB="27432" anchor="ctr">
                    <a:solidFill>
                      <a:srgbClr val="FFFFFF"/>
                    </a:solidFill>
                  </a:tcPr>
                </a:tc>
                <a:tc>
                  <a:txBody>
                    <a:bodyPr wrap="square"/>
                    <a:lstStyle/>
                    <a:p>
                      <a:r>
                        <a:rPr sz="1100" b="0">
                          <a:solidFill>
                            <a:srgbClr val="4B4B4B"/>
                          </a:solidFill>
                          <a:latin typeface="Arial"/>
                        </a:rPr>
                        <a:t>Business owners per master</a:t>
                      </a:r>
                    </a:p>
                  </a:txBody>
                  <a:tcPr marL="64008" marR="64008" marT="27432" marB="27432" anchor="ctr">
                    <a:solidFill>
                      <a:srgbClr val="FFFFFF"/>
                    </a:solidFill>
                  </a:tcPr>
                </a:tc>
              </a:tr>
              <a:tr h="569214">
                <a:tc>
                  <a:txBody>
                    <a:bodyPr wrap="square"/>
                    <a:lstStyle/>
                    <a:p>
                      <a:r>
                        <a:rPr sz="1100" b="1">
                          <a:solidFill>
                            <a:srgbClr val="4B4B4B"/>
                          </a:solidFill>
                          <a:latin typeface="Arial"/>
                        </a:rPr>
                        <a:t>Tolerances</a:t>
                      </a:r>
                    </a:p>
                  </a:txBody>
                  <a:tcPr marL="64008" marR="64008" marT="27432" marB="27432" anchor="ctr">
                    <a:solidFill>
                      <a:srgbClr val="E5F5FF"/>
                    </a:solidFill>
                  </a:tcPr>
                </a:tc>
                <a:tc>
                  <a:txBody>
                    <a:bodyPr wrap="square"/>
                    <a:lstStyle/>
                    <a:p>
                      <a:r>
                        <a:rPr sz="1100" b="0">
                          <a:solidFill>
                            <a:srgbClr val="4B4B4B"/>
                          </a:solidFill>
                          <a:latin typeface="Arial"/>
                        </a:rPr>
                        <a:t>Threshold account and reversal variances (CA-02)</a:t>
                      </a:r>
                    </a:p>
                  </a:txBody>
                  <a:tcPr marL="64008" marR="64008" marT="27432" marB="27432" anchor="ctr">
                    <a:solidFill>
                      <a:srgbClr val="E5F5FF"/>
                    </a:solidFill>
                  </a:tcPr>
                </a:tc>
                <a:tc>
                  <a:txBody>
                    <a:bodyPr wrap="square"/>
                    <a:lstStyle/>
                    <a:p>
                      <a:r>
                        <a:rPr sz="1100" b="0">
                          <a:solidFill>
                            <a:srgbClr val="4B4B4B"/>
                          </a:solidFill>
                          <a:latin typeface="Arial"/>
                        </a:rPr>
                        <a:t>One configurable tolerance table</a:t>
                      </a:r>
                    </a:p>
                  </a:txBody>
                  <a:tcPr marL="64008" marR="64008" marT="27432" marB="27432" anchor="ctr">
                    <a:solidFill>
                      <a:srgbClr val="E5F5FF"/>
                    </a:solidFill>
                  </a:tcPr>
                </a:tc>
              </a:tr>
            </a:tbl>
          </a:graphicData>
        </a:graphic>
      </p:graphicFrame>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371600"/>
            <a:ext cx="10515600" cy="548640"/>
          </a:xfrm>
          <a:prstGeom prst="rect">
            <a:avLst/>
          </a:prstGeom>
          <a:noFill/>
        </p:spPr>
        <p:txBody>
          <a:bodyPr wrap="square" anchor="t" lIns="45720" rIns="45720">
            <a:spAutoFit/>
          </a:bodyPr>
          <a:lstStyle/>
          <a:p>
            <a:r>
              <a:rPr sz="2000" b="1" i="0">
                <a:solidFill>
                  <a:srgbClr val="FDB913"/>
                </a:solidFill>
                <a:latin typeface="Arial"/>
              </a:rPr>
              <a:t>Part G</a:t>
            </a:r>
          </a:p>
        </p:txBody>
      </p:sp>
      <p:sp>
        <p:nvSpPr>
          <p:cNvPr id="4" name="TextBox 3"/>
          <p:cNvSpPr txBox="1"/>
          <p:nvPr/>
        </p:nvSpPr>
        <p:spPr>
          <a:xfrm>
            <a:off x="548640" y="1874519"/>
            <a:ext cx="10515600" cy="914400"/>
          </a:xfrm>
          <a:prstGeom prst="rect">
            <a:avLst/>
          </a:prstGeom>
          <a:noFill/>
        </p:spPr>
        <p:txBody>
          <a:bodyPr wrap="square" anchor="t" lIns="45720" rIns="45720">
            <a:spAutoFit/>
          </a:bodyPr>
          <a:lstStyle/>
          <a:p>
            <a:r>
              <a:rPr sz="3600" b="1" i="0">
                <a:solidFill>
                  <a:srgbClr val="FFFFFF"/>
                </a:solidFill>
                <a:latin typeface="Arial"/>
              </a:rPr>
              <a:t>Roadmap and open points</a:t>
            </a:r>
          </a:p>
        </p:txBody>
      </p:sp>
      <p:sp>
        <p:nvSpPr>
          <p:cNvPr id="5" name="Rectangle 4"/>
          <p:cNvSpPr/>
          <p:nvPr/>
        </p:nvSpPr>
        <p:spPr>
          <a:xfrm>
            <a:off x="548640" y="288036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3063240"/>
            <a:ext cx="10515600" cy="822960"/>
          </a:xfrm>
          <a:prstGeom prst="rect">
            <a:avLst/>
          </a:prstGeom>
          <a:noFill/>
        </p:spPr>
        <p:txBody>
          <a:bodyPr wrap="square" anchor="t" lIns="45720" rIns="45720" tIns="18288" bIns="18288">
            <a:spAutoFit/>
          </a:bodyPr>
          <a:lstStyle/>
          <a:p>
            <a:pPr>
              <a:spcAft>
                <a:spcPts val="400"/>
              </a:spcAft>
            </a:pPr>
            <a:r>
              <a:rPr sz="1600" b="0">
                <a:solidFill>
                  <a:srgbClr val="E5F5FF"/>
                </a:solidFill>
                <a:latin typeface="Arial"/>
              </a:rPr>
              <a:t>Streamline first, then automate: what BDOI can do now, at go-live and after</a:t>
            </a:r>
          </a:p>
        </p:txBody>
      </p:sp>
      <p:sp>
        <p:nvSpPr>
          <p:cNvPr id="7" name="TextBox 6"/>
          <p:cNvSpPr txBox="1"/>
          <p:nvPr/>
        </p:nvSpPr>
        <p:spPr>
          <a:xfrm>
            <a:off x="548640" y="3977639"/>
            <a:ext cx="10515600" cy="365760"/>
          </a:xfrm>
          <a:prstGeom prst="rect">
            <a:avLst/>
          </a:prstGeom>
          <a:noFill/>
        </p:spPr>
        <p:txBody>
          <a:bodyPr wrap="square" anchor="t" lIns="45720" rIns="45720" tIns="18288" bIns="18288">
            <a:spAutoFit/>
          </a:bodyPr>
          <a:lstStyle/>
          <a:p>
            <a:pPr>
              <a:spcAft>
                <a:spcPts val="0"/>
              </a:spcAft>
            </a:pPr>
            <a:r>
              <a:rPr sz="1500" b="1">
                <a:solidFill>
                  <a:srgbClr val="FDB913"/>
                </a:solidFill>
                <a:latin typeface="Arial"/>
              </a:rPr>
              <a:t>14.  </a:t>
            </a:r>
            <a:r>
              <a:rPr sz="1500" b="1">
                <a:solidFill>
                  <a:srgbClr val="FFFFFF"/>
                </a:solidFill>
                <a:latin typeface="Arial"/>
              </a:rPr>
              <a:t>Roadmap and open points</a:t>
            </a:r>
            <a:r>
              <a:rPr sz="1500" b="0">
                <a:solidFill>
                  <a:srgbClr val="99C1E7"/>
                </a:solidFill>
                <a:latin typeface="Arial"/>
              </a:rPr>
              <a:t>   Levers, automation map, horizons, KPIs, open points</a:t>
            </a:r>
          </a:p>
        </p:txBody>
      </p:sp>
      <p:sp>
        <p:nvSpPr>
          <p:cNvPr id="8" name="TextBox 7"/>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BDOI Reverse KT - Floor Walk</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Five levers to streamline before we automate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Oval 8"/>
          <p:cNvSpPr/>
          <p:nvPr/>
        </p:nvSpPr>
        <p:spPr>
          <a:xfrm>
            <a:off x="1246601"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1</a:t>
            </a:r>
          </a:p>
        </p:txBody>
      </p:sp>
      <p:sp>
        <p:nvSpPr>
          <p:cNvPr id="10" name="TextBox 9"/>
          <p:cNvSpPr txBox="1"/>
          <p:nvPr/>
        </p:nvSpPr>
        <p:spPr>
          <a:xfrm>
            <a:off x="621792"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Eliminate</a:t>
            </a:r>
          </a:p>
        </p:txBody>
      </p:sp>
      <p:sp>
        <p:nvSpPr>
          <p:cNvPr id="11" name="TextBox 10"/>
          <p:cNvSpPr txBox="1"/>
          <p:nvPr/>
        </p:nvSpPr>
        <p:spPr>
          <a:xfrm>
            <a:off x="640080"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Remove steps that exist only because systems are separate</a:t>
            </a:r>
          </a:p>
        </p:txBody>
      </p:sp>
      <p:sp>
        <p:nvSpPr>
          <p:cNvPr id="12" name="Rounded Rectangle 11"/>
          <p:cNvSpPr/>
          <p:nvPr/>
        </p:nvSpPr>
        <p:spPr>
          <a:xfrm>
            <a:off x="640080"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4944"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ISYS to QPS migration</a:t>
            </a:r>
          </a:p>
          <a:p>
            <a:pPr>
              <a:spcAft>
                <a:spcPts val="300"/>
              </a:spcAft>
            </a:pPr>
            <a:r>
              <a:rPr sz="1100" b="0">
                <a:solidFill>
                  <a:srgbClr val="004EA8"/>
                </a:solidFill>
                <a:latin typeface="Arial"/>
              </a:rPr>
              <a:t>•  </a:t>
            </a:r>
            <a:r>
              <a:rPr sz="1100" b="0">
                <a:solidFill>
                  <a:srgbClr val="2E2E2E"/>
                </a:solidFill>
                <a:latin typeface="Arial"/>
              </a:rPr>
              <a:t>Split payment files</a:t>
            </a:r>
          </a:p>
          <a:p>
            <a:pPr>
              <a:spcAft>
                <a:spcPts val="300"/>
              </a:spcAft>
            </a:pPr>
            <a:r>
              <a:rPr sz="1100" b="0">
                <a:solidFill>
                  <a:srgbClr val="004EA8"/>
                </a:solidFill>
                <a:latin typeface="Arial"/>
              </a:rPr>
              <a:t>•  </a:t>
            </a:r>
            <a:r>
              <a:rPr sz="1100" b="0">
                <a:solidFill>
                  <a:srgbClr val="2E2E2E"/>
                </a:solidFill>
                <a:latin typeface="Arial"/>
              </a:rPr>
              <a:t>Text files for e-policy updates</a:t>
            </a:r>
          </a:p>
          <a:p>
            <a:pPr>
              <a:spcAft>
                <a:spcPts val="300"/>
              </a:spcAft>
            </a:pPr>
            <a:r>
              <a:rPr sz="1100" b="0">
                <a:solidFill>
                  <a:srgbClr val="004EA8"/>
                </a:solidFill>
                <a:latin typeface="Arial"/>
              </a:rPr>
              <a:t>•  </a:t>
            </a:r>
            <a:r>
              <a:rPr sz="1100" b="0">
                <a:solidFill>
                  <a:srgbClr val="2E2E2E"/>
                </a:solidFill>
                <a:latin typeface="Arial"/>
              </a:rPr>
              <a:t>Zero-value remittance workfile</a:t>
            </a:r>
          </a:p>
        </p:txBody>
      </p:sp>
      <p:sp>
        <p:nvSpPr>
          <p:cNvPr id="14" name="Oval 13"/>
          <p:cNvSpPr/>
          <p:nvPr/>
        </p:nvSpPr>
        <p:spPr>
          <a:xfrm>
            <a:off x="3465484"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2</a:t>
            </a:r>
          </a:p>
        </p:txBody>
      </p:sp>
      <p:sp>
        <p:nvSpPr>
          <p:cNvPr id="15" name="TextBox 14"/>
          <p:cNvSpPr txBox="1"/>
          <p:nvPr/>
        </p:nvSpPr>
        <p:spPr>
          <a:xfrm>
            <a:off x="2840675"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Simplify</a:t>
            </a:r>
          </a:p>
        </p:txBody>
      </p:sp>
      <p:sp>
        <p:nvSpPr>
          <p:cNvPr id="16" name="TextBox 15"/>
          <p:cNvSpPr txBox="1"/>
          <p:nvPr/>
        </p:nvSpPr>
        <p:spPr>
          <a:xfrm>
            <a:off x="2858963"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Fewer hand-offs and approval levels</a:t>
            </a:r>
          </a:p>
        </p:txBody>
      </p:sp>
      <p:sp>
        <p:nvSpPr>
          <p:cNvPr id="17" name="Rounded Rectangle 16"/>
          <p:cNvSpPr/>
          <p:nvPr/>
        </p:nvSpPr>
        <p:spPr>
          <a:xfrm>
            <a:off x="2858963"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913827"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Five refund chains to one rule</a:t>
            </a:r>
          </a:p>
          <a:p>
            <a:pPr>
              <a:spcAft>
                <a:spcPts val="300"/>
              </a:spcAft>
            </a:pPr>
            <a:r>
              <a:rPr sz="1100" b="0">
                <a:solidFill>
                  <a:srgbClr val="004EA8"/>
                </a:solidFill>
                <a:latin typeface="Arial"/>
              </a:rPr>
              <a:t>•  </a:t>
            </a:r>
            <a:r>
              <a:rPr sz="1100" b="0">
                <a:solidFill>
                  <a:srgbClr val="2E2E2E"/>
                </a:solidFill>
                <a:latin typeface="Arial"/>
              </a:rPr>
              <a:t>3-4 signatures to an approval matrix</a:t>
            </a:r>
          </a:p>
          <a:p>
            <a:pPr>
              <a:spcAft>
                <a:spcPts val="300"/>
              </a:spcAft>
            </a:pPr>
            <a:r>
              <a:rPr sz="1100" b="0">
                <a:solidFill>
                  <a:srgbClr val="004EA8"/>
                </a:solidFill>
                <a:latin typeface="Arial"/>
              </a:rPr>
              <a:t>•  </a:t>
            </a:r>
            <a:r>
              <a:rPr sz="1100" b="0">
                <a:solidFill>
                  <a:srgbClr val="2E2E2E"/>
                </a:solidFill>
                <a:latin typeface="Arial"/>
              </a:rPr>
              <a:t>RMEL passed through 4 hands</a:t>
            </a:r>
          </a:p>
        </p:txBody>
      </p:sp>
      <p:sp>
        <p:nvSpPr>
          <p:cNvPr id="19" name="Oval 18"/>
          <p:cNvSpPr/>
          <p:nvPr/>
        </p:nvSpPr>
        <p:spPr>
          <a:xfrm>
            <a:off x="5684367"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3</a:t>
            </a:r>
          </a:p>
        </p:txBody>
      </p:sp>
      <p:sp>
        <p:nvSpPr>
          <p:cNvPr id="20" name="TextBox 19"/>
          <p:cNvSpPr txBox="1"/>
          <p:nvPr/>
        </p:nvSpPr>
        <p:spPr>
          <a:xfrm>
            <a:off x="5059558"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Standardise</a:t>
            </a:r>
          </a:p>
        </p:txBody>
      </p:sp>
      <p:sp>
        <p:nvSpPr>
          <p:cNvPr id="21" name="TextBox 20"/>
          <p:cNvSpPr txBox="1"/>
          <p:nvPr/>
        </p:nvSpPr>
        <p:spPr>
          <a:xfrm>
            <a:off x="5077846"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One rule, one value, one template</a:t>
            </a:r>
          </a:p>
        </p:txBody>
      </p:sp>
      <p:sp>
        <p:nvSpPr>
          <p:cNvPr id="22" name="Rounded Rectangle 21"/>
          <p:cNvSpPr/>
          <p:nvPr/>
        </p:nvSpPr>
        <p:spPr>
          <a:xfrm>
            <a:off x="5077846"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132710"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One tolerance table</a:t>
            </a:r>
          </a:p>
          <a:p>
            <a:pPr>
              <a:spcAft>
                <a:spcPts val="300"/>
              </a:spcAft>
            </a:pPr>
            <a:r>
              <a:rPr sz="1100" b="0">
                <a:solidFill>
                  <a:srgbClr val="004EA8"/>
                </a:solidFill>
                <a:latin typeface="Arial"/>
              </a:rPr>
              <a:t>•  </a:t>
            </a:r>
            <a:r>
              <a:rPr sz="1100" b="0">
                <a:solidFill>
                  <a:srgbClr val="2E2E2E"/>
                </a:solidFill>
                <a:latin typeface="Arial"/>
              </a:rPr>
              <a:t>One credit policy</a:t>
            </a:r>
          </a:p>
          <a:p>
            <a:pPr>
              <a:spcAft>
                <a:spcPts val="300"/>
              </a:spcAft>
            </a:pPr>
            <a:r>
              <a:rPr sz="1100" b="0">
                <a:solidFill>
                  <a:srgbClr val="004EA8"/>
                </a:solidFill>
                <a:latin typeface="Arial"/>
              </a:rPr>
              <a:t>•  </a:t>
            </a:r>
            <a:r>
              <a:rPr sz="1100" b="0">
                <a:solidFill>
                  <a:srgbClr val="2E2E2E"/>
                </a:solidFill>
                <a:latin typeface="Arial"/>
              </a:rPr>
              <a:t>One insurer layout</a:t>
            </a:r>
          </a:p>
          <a:p>
            <a:pPr>
              <a:spcAft>
                <a:spcPts val="300"/>
              </a:spcAft>
            </a:pPr>
            <a:r>
              <a:rPr sz="1100" b="0">
                <a:solidFill>
                  <a:srgbClr val="004EA8"/>
                </a:solidFill>
                <a:latin typeface="Arial"/>
              </a:rPr>
              <a:t>•  </a:t>
            </a:r>
            <a:r>
              <a:rPr sz="1100" b="0">
                <a:solidFill>
                  <a:srgbClr val="2E2E2E"/>
                </a:solidFill>
                <a:latin typeface="Arial"/>
              </a:rPr>
              <a:t>Notice days per segment</a:t>
            </a:r>
          </a:p>
        </p:txBody>
      </p:sp>
      <p:sp>
        <p:nvSpPr>
          <p:cNvPr id="24" name="Oval 23"/>
          <p:cNvSpPr/>
          <p:nvPr/>
        </p:nvSpPr>
        <p:spPr>
          <a:xfrm>
            <a:off x="7903250"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4</a:t>
            </a:r>
          </a:p>
        </p:txBody>
      </p:sp>
      <p:sp>
        <p:nvSpPr>
          <p:cNvPr id="25" name="TextBox 24"/>
          <p:cNvSpPr txBox="1"/>
          <p:nvPr/>
        </p:nvSpPr>
        <p:spPr>
          <a:xfrm>
            <a:off x="7278441"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Automate</a:t>
            </a:r>
          </a:p>
        </p:txBody>
      </p:sp>
      <p:sp>
        <p:nvSpPr>
          <p:cNvPr id="26" name="TextBox 25"/>
          <p:cNvSpPr txBox="1"/>
          <p:nvPr/>
        </p:nvSpPr>
        <p:spPr>
          <a:xfrm>
            <a:off x="7296729"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Let the system do the routine; people handle exceptions</a:t>
            </a:r>
          </a:p>
        </p:txBody>
      </p:sp>
      <p:sp>
        <p:nvSpPr>
          <p:cNvPr id="27" name="Rounded Rectangle 26"/>
          <p:cNvSpPr/>
          <p:nvPr/>
        </p:nvSpPr>
        <p:spPr>
          <a:xfrm>
            <a:off x="7296729"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351593"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Cash application</a:t>
            </a:r>
          </a:p>
          <a:p>
            <a:pPr>
              <a:spcAft>
                <a:spcPts val="300"/>
              </a:spcAft>
            </a:pPr>
            <a:r>
              <a:rPr sz="1100" b="0">
                <a:solidFill>
                  <a:srgbClr val="004EA8"/>
                </a:solidFill>
                <a:latin typeface="Arial"/>
              </a:rPr>
              <a:t>•  </a:t>
            </a:r>
            <a:r>
              <a:rPr sz="1100" b="0">
                <a:solidFill>
                  <a:srgbClr val="2E2E2E"/>
                </a:solidFill>
                <a:latin typeface="Arial"/>
              </a:rPr>
              <a:t>Insurer recon</a:t>
            </a:r>
          </a:p>
          <a:p>
            <a:pPr>
              <a:spcAft>
                <a:spcPts val="300"/>
              </a:spcAft>
            </a:pPr>
            <a:r>
              <a:rPr sz="1100" b="0">
                <a:solidFill>
                  <a:srgbClr val="004EA8"/>
                </a:solidFill>
                <a:latin typeface="Arial"/>
              </a:rPr>
              <a:t>•  </a:t>
            </a:r>
            <a:r>
              <a:rPr sz="1100" b="0">
                <a:solidFill>
                  <a:srgbClr val="2E2E2E"/>
                </a:solidFill>
                <a:latin typeface="Arial"/>
              </a:rPr>
              <a:t>Renewal rules</a:t>
            </a:r>
          </a:p>
          <a:p>
            <a:pPr>
              <a:spcAft>
                <a:spcPts val="300"/>
              </a:spcAft>
            </a:pPr>
            <a:r>
              <a:rPr sz="1100" b="0">
                <a:solidFill>
                  <a:srgbClr val="004EA8"/>
                </a:solidFill>
                <a:latin typeface="Arial"/>
              </a:rPr>
              <a:t>•  </a:t>
            </a:r>
            <a:r>
              <a:rPr sz="1100" b="0">
                <a:solidFill>
                  <a:srgbClr val="2E2E2E"/>
                </a:solidFill>
                <a:latin typeface="Arial"/>
              </a:rPr>
              <a:t>Reversals and entries</a:t>
            </a:r>
          </a:p>
        </p:txBody>
      </p:sp>
      <p:sp>
        <p:nvSpPr>
          <p:cNvPr id="29" name="Oval 28"/>
          <p:cNvSpPr/>
          <p:nvPr/>
        </p:nvSpPr>
        <p:spPr>
          <a:xfrm>
            <a:off x="10122133" y="1371600"/>
            <a:ext cx="822960" cy="822960"/>
          </a:xfrm>
          <a:prstGeom prst="ellipse">
            <a:avLst/>
          </a:prstGeom>
          <a:solidFill>
            <a:srgbClr val="004EA8"/>
          </a:solidFill>
          <a:ln w="9525">
            <a:solidFill>
              <a:srgbClr val="2E2E2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2400" b="1">
                <a:solidFill>
                  <a:srgbClr val="FFFFFF"/>
                </a:solidFill>
                <a:latin typeface="Arial"/>
              </a:rPr>
              <a:t>5</a:t>
            </a:r>
          </a:p>
        </p:txBody>
      </p:sp>
      <p:sp>
        <p:nvSpPr>
          <p:cNvPr id="30" name="TextBox 29"/>
          <p:cNvSpPr txBox="1"/>
          <p:nvPr/>
        </p:nvSpPr>
        <p:spPr>
          <a:xfrm>
            <a:off x="9497324" y="2286000"/>
            <a:ext cx="2072579" cy="457200"/>
          </a:xfrm>
          <a:prstGeom prst="rect">
            <a:avLst/>
          </a:prstGeom>
          <a:noFill/>
        </p:spPr>
        <p:txBody>
          <a:bodyPr wrap="square" anchor="t" lIns="45720" rIns="45720" tIns="18288" bIns="18288">
            <a:spAutoFit/>
          </a:bodyPr>
          <a:lstStyle/>
          <a:p>
            <a:pPr algn="ctr">
              <a:spcAft>
                <a:spcPts val="0"/>
              </a:spcAft>
            </a:pPr>
            <a:r>
              <a:rPr sz="1500" b="1">
                <a:solidFill>
                  <a:srgbClr val="004EA8"/>
                </a:solidFill>
                <a:latin typeface="Arial"/>
              </a:rPr>
              <a:t>Integrate and measure</a:t>
            </a:r>
          </a:p>
        </p:txBody>
      </p:sp>
      <p:sp>
        <p:nvSpPr>
          <p:cNvPr id="31" name="TextBox 30"/>
          <p:cNvSpPr txBox="1"/>
          <p:nvPr/>
        </p:nvSpPr>
        <p:spPr>
          <a:xfrm>
            <a:off x="9515612" y="2743200"/>
            <a:ext cx="2036003" cy="1188720"/>
          </a:xfrm>
          <a:prstGeom prst="rect">
            <a:avLst/>
          </a:prstGeom>
          <a:noFill/>
        </p:spPr>
        <p:txBody>
          <a:bodyPr wrap="square" anchor="t" lIns="45720" rIns="45720" tIns="18288" bIns="18288">
            <a:spAutoFit/>
          </a:bodyPr>
          <a:lstStyle/>
          <a:p>
            <a:pPr algn="ctr">
              <a:spcAft>
                <a:spcPts val="0"/>
              </a:spcAft>
            </a:pPr>
            <a:r>
              <a:rPr sz="1200" b="0">
                <a:solidFill>
                  <a:srgbClr val="4B4B4B"/>
                </a:solidFill>
                <a:latin typeface="Arial"/>
              </a:rPr>
              <a:t>Connect partners; run on KPIs</a:t>
            </a:r>
          </a:p>
        </p:txBody>
      </p:sp>
      <p:sp>
        <p:nvSpPr>
          <p:cNvPr id="32" name="Rounded Rectangle 31"/>
          <p:cNvSpPr/>
          <p:nvPr/>
        </p:nvSpPr>
        <p:spPr>
          <a:xfrm>
            <a:off x="9515612" y="3977640"/>
            <a:ext cx="2036003" cy="2221992"/>
          </a:xfrm>
          <a:prstGeom prst="roundRect">
            <a:avLst>
              <a:gd name="adj" fmla="val 8000"/>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570476" y="4023360"/>
            <a:ext cx="1926275" cy="2130552"/>
          </a:xfrm>
          <a:prstGeom prst="rect">
            <a:avLst/>
          </a:prstGeom>
          <a:noFill/>
        </p:spPr>
        <p:txBody>
          <a:bodyPr wrap="square" anchor="t" lIns="45720" rIns="45720" tIns="18288" bIns="18288">
            <a:spAutoFit/>
          </a:bodyPr>
          <a:lstStyle/>
          <a:p>
            <a:pPr>
              <a:spcAft>
                <a:spcPts val="300"/>
              </a:spcAft>
            </a:pPr>
            <a:r>
              <a:rPr sz="1100" b="1">
                <a:solidFill>
                  <a:srgbClr val="004EA8"/>
                </a:solidFill>
                <a:latin typeface="Arial"/>
              </a:rPr>
              <a:t>At BDOI</a:t>
            </a:r>
          </a:p>
          <a:p>
            <a:pPr>
              <a:spcAft>
                <a:spcPts val="300"/>
              </a:spcAft>
            </a:pPr>
            <a:r>
              <a:rPr sz="1100" b="0">
                <a:solidFill>
                  <a:srgbClr val="004EA8"/>
                </a:solidFill>
                <a:latin typeface="Arial"/>
              </a:rPr>
              <a:t>•  </a:t>
            </a:r>
            <a:r>
              <a:rPr sz="1100" b="0">
                <a:solidFill>
                  <a:srgbClr val="2E2E2E"/>
                </a:solidFill>
                <a:latin typeface="Arial"/>
              </a:rPr>
              <a:t>Insurer and bank channels</a:t>
            </a:r>
          </a:p>
          <a:p>
            <a:pPr>
              <a:spcAft>
                <a:spcPts val="300"/>
              </a:spcAft>
            </a:pPr>
            <a:r>
              <a:rPr sz="1100" b="0">
                <a:solidFill>
                  <a:srgbClr val="004EA8"/>
                </a:solidFill>
                <a:latin typeface="Arial"/>
              </a:rPr>
              <a:t>•  </a:t>
            </a:r>
            <a:r>
              <a:rPr sz="1100" b="0">
                <a:solidFill>
                  <a:srgbClr val="2E2E2E"/>
                </a:solidFill>
                <a:latin typeface="Arial"/>
              </a:rPr>
              <a:t>SLA and TAT dashboards</a:t>
            </a:r>
          </a:p>
          <a:p>
            <a:pPr>
              <a:spcAft>
                <a:spcPts val="300"/>
              </a:spcAft>
            </a:pPr>
            <a:r>
              <a:rPr sz="1100" b="0">
                <a:solidFill>
                  <a:srgbClr val="004EA8"/>
                </a:solidFill>
                <a:latin typeface="Arial"/>
              </a:rPr>
              <a:t>•  </a:t>
            </a:r>
            <a:r>
              <a:rPr sz="1100" b="0">
                <a:solidFill>
                  <a:srgbClr val="2E2E2E"/>
                </a:solidFill>
                <a:latin typeface="Arial"/>
              </a:rPr>
              <a:t>Self-service reports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Automation opportunities by department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1968363"/>
                <a:gridCol w="4294612"/>
                <a:gridCol w="3757785"/>
                <a:gridCol w="1073653"/>
              </a:tblGrid>
              <a:tr h="365760">
                <a:tc>
                  <a:txBody>
                    <a:bodyPr wrap="square"/>
                    <a:lstStyle/>
                    <a:p>
                      <a:r>
                        <a:rPr sz="1100" b="1">
                          <a:solidFill>
                            <a:srgbClr val="FFFFFF"/>
                          </a:solidFill>
                          <a:latin typeface="Arial"/>
                        </a:rPr>
                        <a:t>Department</a:t>
                      </a:r>
                    </a:p>
                  </a:txBody>
                  <a:tcPr marL="64008" marR="64008" marT="27432" marB="27432" anchor="ctr">
                    <a:solidFill>
                      <a:srgbClr val="004EA8"/>
                    </a:solidFill>
                  </a:tcPr>
                </a:tc>
                <a:tc>
                  <a:txBody>
                    <a:bodyPr wrap="square"/>
                    <a:lstStyle/>
                    <a:p>
                      <a:r>
                        <a:rPr sz="1100" b="1">
                          <a:solidFill>
                            <a:srgbClr val="FFFFFF"/>
                          </a:solidFill>
                          <a:latin typeface="Arial"/>
                        </a:rPr>
                        <a:t>Manual work today (floor walk)</a:t>
                      </a:r>
                    </a:p>
                  </a:txBody>
                  <a:tcPr marL="64008" marR="64008" marT="27432" marB="27432" anchor="ctr">
                    <a:solidFill>
                      <a:srgbClr val="004EA8"/>
                    </a:solidFill>
                  </a:tcPr>
                </a:tc>
                <a:tc>
                  <a:txBody>
                    <a:bodyPr wrap="square"/>
                    <a:lstStyle/>
                    <a:p>
                      <a:r>
                        <a:rPr sz="1100" b="1">
                          <a:solidFill>
                            <a:srgbClr val="FFFFFF"/>
                          </a:solidFill>
                          <a:latin typeface="Arial"/>
                        </a:rPr>
                        <a:t>Lever</a:t>
                      </a:r>
                    </a:p>
                  </a:txBody>
                  <a:tcPr marL="64008" marR="64008" marT="27432" marB="27432" anchor="ctr">
                    <a:solidFill>
                      <a:srgbClr val="004EA8"/>
                    </a:solidFill>
                  </a:tcPr>
                </a:tc>
                <a:tc>
                  <a:txBody>
                    <a:bodyPr wrap="square"/>
                    <a:lstStyle/>
                    <a:p>
                      <a:r>
                        <a:rPr sz="1100" b="1">
                          <a:solidFill>
                            <a:srgbClr val="FFFFFF"/>
                          </a:solidFill>
                          <a:latin typeface="Arial"/>
                        </a:rPr>
                        <a:t>Benefit</a:t>
                      </a:r>
                    </a:p>
                  </a:txBody>
                  <a:tcPr marL="64008" marR="64008" marT="27432" marB="27432" anchor="ctr">
                    <a:solidFill>
                      <a:srgbClr val="004EA8"/>
                    </a:solidFill>
                  </a:tcPr>
                </a:tc>
              </a:tr>
              <a:tr h="731520">
                <a:tc>
                  <a:txBody>
                    <a:bodyPr wrap="square"/>
                    <a:lstStyle/>
                    <a:p>
                      <a:r>
                        <a:rPr sz="1100" b="1">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Excel quotes; three systems; e-policy fall-outs</a:t>
                      </a:r>
                    </a:p>
                  </a:txBody>
                  <a:tcPr marL="64008" marR="64008" marT="27432" marB="27432" anchor="ctr">
                    <a:solidFill>
                      <a:srgbClr val="FFFFFF"/>
                    </a:solidFill>
                  </a:tcPr>
                </a:tc>
                <a:tc>
                  <a:txBody>
                    <a:bodyPr wrap="square"/>
                    <a:lstStyle/>
                    <a:p>
                      <a:r>
                        <a:rPr sz="1100" b="0">
                          <a:solidFill>
                            <a:srgbClr val="4B4B4B"/>
                          </a:solidFill>
                          <a:latin typeface="Arial"/>
                        </a:rPr>
                        <a:t>One client and account; exception queue; insurer standard</a:t>
                      </a:r>
                    </a:p>
                  </a:txBody>
                  <a:tcPr marL="64008" marR="64008" marT="27432" marB="27432" anchor="ctr">
                    <a:solidFill>
                      <a:srgbClr val="FFFF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Renewal</a:t>
                      </a:r>
                    </a:p>
                  </a:txBody>
                  <a:tcPr marL="64008" marR="64008" marT="27432" marB="27432" anchor="ctr">
                    <a:solidFill>
                      <a:srgbClr val="E5F5FF"/>
                    </a:solidFill>
                  </a:tcPr>
                </a:tc>
                <a:tc>
                  <a:txBody>
                    <a:bodyPr wrap="square"/>
                    <a:lstStyle/>
                    <a:p>
                      <a:r>
                        <a:rPr sz="1100" b="0">
                          <a:solidFill>
                            <a:srgbClr val="4B4B4B"/>
                          </a:solidFill>
                          <a:latin typeface="Arial"/>
                        </a:rPr>
                        <a:t>Excel sanitation and dispositions; RA text files; snail mail</a:t>
                      </a:r>
                    </a:p>
                  </a:txBody>
                  <a:tcPr marL="64008" marR="64008" marT="27432" marB="27432" anchor="ctr">
                    <a:solidFill>
                      <a:srgbClr val="E5F5FF"/>
                    </a:solidFill>
                  </a:tcPr>
                </a:tc>
                <a:tc>
                  <a:txBody>
                    <a:bodyPr wrap="square"/>
                    <a:lstStyle/>
                    <a:p>
                      <a:r>
                        <a:rPr sz="1100" b="0">
                          <a:solidFill>
                            <a:srgbClr val="4B4B4B"/>
                          </a:solidFill>
                          <a:latin typeface="Arial"/>
                        </a:rPr>
                        <a:t>Renewal rules; RA in batch; print batch</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Submitted Policies</a:t>
                      </a:r>
                    </a:p>
                  </a:txBody>
                  <a:tcPr marL="64008" marR="64008" marT="27432" marB="27432" anchor="ctr">
                    <a:solidFill>
                      <a:srgbClr val="FFFFFF"/>
                    </a:solidFill>
                  </a:tcPr>
                </a:tc>
                <a:tc>
                  <a:txBody>
                    <a:bodyPr wrap="square"/>
                    <a:lstStyle/>
                    <a:p>
                      <a:r>
                        <a:rPr sz="1100" b="0">
                          <a:solidFill>
                            <a:srgbClr val="4B4B4B"/>
                          </a:solidFill>
                          <a:latin typeface="Arial"/>
                        </a:rPr>
                        <a:t>Masterlists on Drive H; LAMD matching by hand</a:t>
                      </a:r>
                    </a:p>
                  </a:txBody>
                  <a:tcPr marL="64008" marR="64008" marT="27432" marB="27432" anchor="ctr">
                    <a:solidFill>
                      <a:srgbClr val="FFFFFF"/>
                    </a:solidFill>
                  </a:tcPr>
                </a:tc>
                <a:tc>
                  <a:txBody>
                    <a:bodyPr wrap="square"/>
                    <a:lstStyle/>
                    <a:p>
                      <a:r>
                        <a:rPr sz="1100" b="0">
                          <a:solidFill>
                            <a:srgbClr val="4B4B4B"/>
                          </a:solidFill>
                          <a:latin typeface="Arial"/>
                        </a:rPr>
                        <a:t>Rules on one masterlist; bank feeds</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Employee Benefits</a:t>
                      </a:r>
                    </a:p>
                  </a:txBody>
                  <a:tcPr marL="64008" marR="64008" marT="27432" marB="27432" anchor="ctr">
                    <a:solidFill>
                      <a:srgbClr val="E5F5FF"/>
                    </a:solidFill>
                  </a:tcPr>
                </a:tc>
                <a:tc>
                  <a:txBody>
                    <a:bodyPr wrap="square"/>
                    <a:lstStyle/>
                    <a:p>
                      <a:r>
                        <a:rPr sz="1100" b="0">
                          <a:solidFill>
                            <a:srgbClr val="4B4B4B"/>
                          </a:solidFill>
                          <a:latin typeface="Arial"/>
                        </a:rPr>
                        <a:t>50K+ member lists by e-mail</a:t>
                      </a:r>
                    </a:p>
                  </a:txBody>
                  <a:tcPr marL="64008" marR="64008" marT="27432" marB="27432" anchor="ctr">
                    <a:solidFill>
                      <a:srgbClr val="E5F5FF"/>
                    </a:solidFill>
                  </a:tcPr>
                </a:tc>
                <a:tc>
                  <a:txBody>
                    <a:bodyPr wrap="square"/>
                    <a:lstStyle/>
                    <a:p>
                      <a:r>
                        <a:rPr sz="1100" b="0">
                          <a:solidFill>
                            <a:srgbClr val="4B4B4B"/>
                          </a:solidFill>
                          <a:latin typeface="Arial"/>
                        </a:rPr>
                        <a:t>Census upload with checks; portals</a:t>
                      </a:r>
                    </a:p>
                  </a:txBody>
                  <a:tcPr marL="64008" marR="64008" marT="27432" marB="27432" anchor="ctr">
                    <a:solidFill>
                      <a:srgbClr val="E5F5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TSU, Product</a:t>
                      </a:r>
                    </a:p>
                  </a:txBody>
                  <a:tcPr marL="64008" marR="64008" marT="27432" marB="27432" anchor="ctr">
                    <a:solidFill>
                      <a:srgbClr val="FFFFFF"/>
                    </a:solidFill>
                  </a:tcPr>
                </a:tc>
                <a:tc>
                  <a:txBody>
                    <a:bodyPr wrap="square"/>
                    <a:lstStyle/>
                    <a:p>
                      <a:r>
                        <a:rPr sz="1100" b="0">
                          <a:solidFill>
                            <a:srgbClr val="4B4B4B"/>
                          </a:solidFill>
                          <a:latin typeface="Arial"/>
                        </a:rPr>
                        <a:t>Excel tracker and comparative; IT for set-up</a:t>
                      </a:r>
                    </a:p>
                  </a:txBody>
                  <a:tcPr marL="64008" marR="64008" marT="27432" marB="27432" anchor="ctr">
                    <a:solidFill>
                      <a:srgbClr val="FFFFFF"/>
                    </a:solidFill>
                  </a:tcPr>
                </a:tc>
                <a:tc>
                  <a:txBody>
                    <a:bodyPr wrap="square"/>
                    <a:lstStyle/>
                    <a:p>
                      <a:r>
                        <a:rPr sz="1100" b="0">
                          <a:solidFill>
                            <a:srgbClr val="4B4B4B"/>
                          </a:solidFill>
                          <a:latin typeface="Arial"/>
                        </a:rPr>
                        <a:t>Workflow; rules maintained by TSU</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Cashiering</a:t>
                      </a:r>
                    </a:p>
                  </a:txBody>
                  <a:tcPr marL="64008" marR="64008" marT="27432" marB="27432" anchor="ctr">
                    <a:solidFill>
                      <a:srgbClr val="E5F5FF"/>
                    </a:solidFill>
                  </a:tcPr>
                </a:tc>
                <a:tc>
                  <a:txBody>
                    <a:bodyPr wrap="square"/>
                    <a:lstStyle/>
                    <a:p>
                      <a:r>
                        <a:rPr sz="1100" b="0">
                          <a:solidFill>
                            <a:srgbClr val="4B4B4B"/>
                          </a:solidFill>
                          <a:latin typeface="Arial"/>
                        </a:rPr>
                        <a:t>Intake checks; split files; receipts</a:t>
                      </a:r>
                    </a:p>
                  </a:txBody>
                  <a:tcPr marL="64008" marR="64008" marT="27432" marB="27432" anchor="ctr">
                    <a:solidFill>
                      <a:srgbClr val="E5F5FF"/>
                    </a:solidFill>
                  </a:tcPr>
                </a:tc>
                <a:tc>
                  <a:txBody>
                    <a:bodyPr wrap="square"/>
                    <a:lstStyle/>
                    <a:p>
                      <a:r>
                        <a:rPr sz="1100" b="0">
                          <a:solidFill>
                            <a:srgbClr val="4B4B4B"/>
                          </a:solidFill>
                          <a:latin typeface="Arial"/>
                        </a:rPr>
                        <a:t>Auto application; unique payment reference</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bl>
          </a:graphicData>
        </a:graphic>
      </p:graphicFrame>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Automation opportunities by department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1968363"/>
                <a:gridCol w="4294612"/>
                <a:gridCol w="3757785"/>
                <a:gridCol w="1073653"/>
              </a:tblGrid>
              <a:tr h="365760">
                <a:tc>
                  <a:txBody>
                    <a:bodyPr wrap="square"/>
                    <a:lstStyle/>
                    <a:p>
                      <a:r>
                        <a:rPr sz="1100" b="1">
                          <a:solidFill>
                            <a:srgbClr val="FFFFFF"/>
                          </a:solidFill>
                          <a:latin typeface="Arial"/>
                        </a:rPr>
                        <a:t>Department</a:t>
                      </a:r>
                    </a:p>
                  </a:txBody>
                  <a:tcPr marL="64008" marR="64008" marT="27432" marB="27432" anchor="ctr">
                    <a:solidFill>
                      <a:srgbClr val="004EA8"/>
                    </a:solidFill>
                  </a:tcPr>
                </a:tc>
                <a:tc>
                  <a:txBody>
                    <a:bodyPr wrap="square"/>
                    <a:lstStyle/>
                    <a:p>
                      <a:r>
                        <a:rPr sz="1100" b="1">
                          <a:solidFill>
                            <a:srgbClr val="FFFFFF"/>
                          </a:solidFill>
                          <a:latin typeface="Arial"/>
                        </a:rPr>
                        <a:t>Manual work today (floor walk)</a:t>
                      </a:r>
                    </a:p>
                  </a:txBody>
                  <a:tcPr marL="64008" marR="64008" marT="27432" marB="27432" anchor="ctr">
                    <a:solidFill>
                      <a:srgbClr val="004EA8"/>
                    </a:solidFill>
                  </a:tcPr>
                </a:tc>
                <a:tc>
                  <a:txBody>
                    <a:bodyPr wrap="square"/>
                    <a:lstStyle/>
                    <a:p>
                      <a:r>
                        <a:rPr sz="1100" b="1">
                          <a:solidFill>
                            <a:srgbClr val="FFFFFF"/>
                          </a:solidFill>
                          <a:latin typeface="Arial"/>
                        </a:rPr>
                        <a:t>Lever</a:t>
                      </a:r>
                    </a:p>
                  </a:txBody>
                  <a:tcPr marL="64008" marR="64008" marT="27432" marB="27432" anchor="ctr">
                    <a:solidFill>
                      <a:srgbClr val="004EA8"/>
                    </a:solidFill>
                  </a:tcPr>
                </a:tc>
                <a:tc>
                  <a:txBody>
                    <a:bodyPr wrap="square"/>
                    <a:lstStyle/>
                    <a:p>
                      <a:r>
                        <a:rPr sz="1100" b="1">
                          <a:solidFill>
                            <a:srgbClr val="FFFFFF"/>
                          </a:solidFill>
                          <a:latin typeface="Arial"/>
                        </a:rPr>
                        <a:t>Benefit</a:t>
                      </a:r>
                    </a:p>
                  </a:txBody>
                  <a:tcPr marL="64008" marR="64008" marT="27432" marB="27432" anchor="ctr">
                    <a:solidFill>
                      <a:srgbClr val="004EA8"/>
                    </a:solidFill>
                  </a:tcPr>
                </a:tc>
              </a:tr>
              <a:tr h="731520">
                <a:tc>
                  <a:txBody>
                    <a:bodyPr wrap="square"/>
                    <a:lstStyle/>
                    <a:p>
                      <a:r>
                        <a:rPr sz="1100" b="1">
                          <a:solidFill>
                            <a:srgbClr val="4B4B4B"/>
                          </a:solidFill>
                          <a:latin typeface="Arial"/>
                        </a:rPr>
                        <a:t>Remittance, Recon</a:t>
                      </a:r>
                    </a:p>
                  </a:txBody>
                  <a:tcPr marL="64008" marR="64008" marT="27432" marB="27432" anchor="ctr">
                    <a:solidFill>
                      <a:srgbClr val="FFFFFF"/>
                    </a:solidFill>
                  </a:tcPr>
                </a:tc>
                <a:tc>
                  <a:txBody>
                    <a:bodyPr wrap="square"/>
                    <a:lstStyle/>
                    <a:p>
                      <a:r>
                        <a:rPr sz="1100" b="0">
                          <a:solidFill>
                            <a:srgbClr val="4B4B4B"/>
                          </a:solidFill>
                          <a:latin typeface="Arial"/>
                        </a:rPr>
                        <a:t>Excel sanitising; 20-30K lines per insurer</a:t>
                      </a:r>
                    </a:p>
                  </a:txBody>
                  <a:tcPr marL="64008" marR="64008" marT="27432" marB="27432" anchor="ctr">
                    <a:solidFill>
                      <a:srgbClr val="FFFFFF"/>
                    </a:solidFill>
                  </a:tcPr>
                </a:tc>
                <a:tc>
                  <a:txBody>
                    <a:bodyPr wrap="square"/>
                    <a:lstStyle/>
                    <a:p>
                      <a:r>
                        <a:rPr sz="1100" b="0">
                          <a:solidFill>
                            <a:srgbClr val="4B4B4B"/>
                          </a:solidFill>
                          <a:latin typeface="Arial"/>
                        </a:rPr>
                        <a:t>Scheduled batches; automatic matching</a:t>
                      </a:r>
                    </a:p>
                  </a:txBody>
                  <a:tcPr marL="64008" marR="64008" marT="27432" marB="27432" anchor="ctr">
                    <a:solidFill>
                      <a:srgbClr val="FFFF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Commission</a:t>
                      </a:r>
                    </a:p>
                  </a:txBody>
                  <a:tcPr marL="64008" marR="64008" marT="27432" marB="27432" anchor="ctr">
                    <a:solidFill>
                      <a:srgbClr val="E5F5FF"/>
                    </a:solidFill>
                  </a:tcPr>
                </a:tc>
                <a:tc>
                  <a:txBody>
                    <a:bodyPr wrap="square"/>
                    <a:lstStyle/>
                    <a:p>
                      <a:r>
                        <a:rPr sz="1100" b="0">
                          <a:solidFill>
                            <a:srgbClr val="4B4B4B"/>
                          </a:solidFill>
                          <a:latin typeface="Arial"/>
                        </a:rPr>
                        <a:t>DP lists in Excel; reversals via IT</a:t>
                      </a:r>
                    </a:p>
                  </a:txBody>
                  <a:tcPr marL="64008" marR="64008" marT="27432" marB="27432" anchor="ctr">
                    <a:solidFill>
                      <a:srgbClr val="E5F5FF"/>
                    </a:solidFill>
                  </a:tcPr>
                </a:tc>
                <a:tc>
                  <a:txBody>
                    <a:bodyPr wrap="square"/>
                    <a:lstStyle/>
                    <a:p>
                      <a:r>
                        <a:rPr sz="1100" b="0">
                          <a:solidFill>
                            <a:srgbClr val="4B4B4B"/>
                          </a:solidFill>
                          <a:latin typeface="Arial"/>
                        </a:rPr>
                        <a:t>DP billing tracked; reversal entries generated</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Collections</a:t>
                      </a:r>
                    </a:p>
                  </a:txBody>
                  <a:tcPr marL="64008" marR="64008" marT="27432" marB="27432" anchor="ctr">
                    <a:solidFill>
                      <a:srgbClr val="FFFFFF"/>
                    </a:solidFill>
                  </a:tcPr>
                </a:tc>
                <a:tc>
                  <a:txBody>
                    <a:bodyPr wrap="square"/>
                    <a:lstStyle/>
                    <a:p>
                      <a:r>
                        <a:rPr sz="1100" b="0">
                          <a:solidFill>
                            <a:srgbClr val="4B4B4B"/>
                          </a:solidFill>
                          <a:latin typeface="Arial"/>
                        </a:rPr>
                        <a:t>ICS status; CTE by e-mail</a:t>
                      </a:r>
                    </a:p>
                  </a:txBody>
                  <a:tcPr marL="64008" marR="64008" marT="27432" marB="27432" anchor="ctr">
                    <a:solidFill>
                      <a:srgbClr val="FFFFFF"/>
                    </a:solidFill>
                  </a:tcPr>
                </a:tc>
                <a:tc>
                  <a:txBody>
                    <a:bodyPr wrap="square"/>
                    <a:lstStyle/>
                    <a:p>
                      <a:r>
                        <a:rPr sz="1100" b="0">
                          <a:solidFill>
                            <a:srgbClr val="4B4B4B"/>
                          </a:solidFill>
                          <a:latin typeface="Arial"/>
                        </a:rPr>
                        <a:t>Worklist with rules; reminders; credit policy</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Comptrollership</a:t>
                      </a:r>
                    </a:p>
                  </a:txBody>
                  <a:tcPr marL="64008" marR="64008" marT="27432" marB="27432" anchor="ctr">
                    <a:solidFill>
                      <a:srgbClr val="E5F5FF"/>
                    </a:solidFill>
                  </a:tcPr>
                </a:tc>
                <a:tc>
                  <a:txBody>
                    <a:bodyPr wrap="square"/>
                    <a:lstStyle/>
                    <a:p>
                      <a:r>
                        <a:rPr sz="1100" b="0">
                          <a:solidFill>
                            <a:srgbClr val="4B4B4B"/>
                          </a:solidFill>
                          <a:latin typeface="Arial"/>
                        </a:rPr>
                        <a:t>Wet signatures; WinSCP; journals; IT close</a:t>
                      </a:r>
                    </a:p>
                  </a:txBody>
                  <a:tcPr marL="64008" marR="64008" marT="27432" marB="27432" anchor="ctr">
                    <a:solidFill>
                      <a:srgbClr val="E5F5FF"/>
                    </a:solidFill>
                  </a:tcPr>
                </a:tc>
                <a:tc>
                  <a:txBody>
                    <a:bodyPr wrap="square"/>
                    <a:lstStyle/>
                    <a:p>
                      <a:r>
                        <a:rPr sz="1100" b="0">
                          <a:solidFill>
                            <a:srgbClr val="4B4B4B"/>
                          </a:solidFill>
                          <a:latin typeface="Arial"/>
                        </a:rPr>
                        <a:t>E-approval; host-to-host; entries at source</a:t>
                      </a:r>
                    </a:p>
                  </a:txBody>
                  <a:tcPr marL="64008" marR="64008" marT="27432" marB="27432" anchor="ctr">
                    <a:solidFill>
                      <a:srgbClr val="E5F5FF"/>
                    </a:solidFill>
                  </a:tcPr>
                </a:tc>
                <a:tc>
                  <a:txBody>
                    <a:bodyPr wrap="square"/>
                    <a:lstStyle/>
                    <a:p>
                      <a:pPr algn="ctr"/>
                      <a:r>
                        <a:rPr sz="1100" b="1">
                          <a:solidFill>
                            <a:srgbClr val="2E7D32"/>
                          </a:solidFill>
                          <a:latin typeface="Arial"/>
                        </a:rPr>
                        <a:t>High</a:t>
                      </a:r>
                    </a:p>
                  </a:txBody>
                  <a:tcPr marL="64008" marR="64008" marT="27432" marB="27432" anchor="ctr">
                    <a:solidFill>
                      <a:srgbClr val="E8F5E9"/>
                    </a:solidFill>
                  </a:tcPr>
                </a:tc>
              </a:tr>
              <a:tr h="731520">
                <a:tc>
                  <a:txBody>
                    <a:bodyPr wrap="square"/>
                    <a:lstStyle/>
                    <a:p>
                      <a:r>
                        <a:rPr sz="1100" b="1">
                          <a:solidFill>
                            <a:srgbClr val="4B4B4B"/>
                          </a:solidFill>
                          <a:latin typeface="Arial"/>
                        </a:rPr>
                        <a:t>Claims</a:t>
                      </a:r>
                    </a:p>
                  </a:txBody>
                  <a:tcPr marL="64008" marR="64008" marT="27432" marB="27432" anchor="ctr">
                    <a:solidFill>
                      <a:srgbClr val="FFFFFF"/>
                    </a:solidFill>
                  </a:tcPr>
                </a:tc>
                <a:tc>
                  <a:txBody>
                    <a:bodyPr wrap="square"/>
                    <a:lstStyle/>
                    <a:p>
                      <a:r>
                        <a:rPr sz="1100" b="0">
                          <a:solidFill>
                            <a:srgbClr val="4B4B4B"/>
                          </a:solidFill>
                          <a:latin typeface="Arial"/>
                        </a:rPr>
                        <a:t>Offline claims and repairs</a:t>
                      </a:r>
                    </a:p>
                  </a:txBody>
                  <a:tcPr marL="64008" marR="64008" marT="27432" marB="27432" anchor="ctr">
                    <a:solidFill>
                      <a:srgbClr val="FFFFFF"/>
                    </a:solidFill>
                  </a:tcPr>
                </a:tc>
                <a:tc>
                  <a:txBody>
                    <a:bodyPr wrap="square"/>
                    <a:lstStyle/>
                    <a:p>
                      <a:r>
                        <a:rPr sz="1100" b="0">
                          <a:solidFill>
                            <a:srgbClr val="4B4B4B"/>
                          </a:solidFill>
                          <a:latin typeface="Arial"/>
                        </a:rPr>
                        <a:t>Claim on the policy; client notices</a:t>
                      </a:r>
                    </a:p>
                  </a:txBody>
                  <a:tcPr marL="64008" marR="64008" marT="27432" marB="27432" anchor="ctr">
                    <a:solidFill>
                      <a:srgbClr val="FFFF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r h="731520">
                <a:tc>
                  <a:txBody>
                    <a:bodyPr wrap="square"/>
                    <a:lstStyle/>
                    <a:p>
                      <a:r>
                        <a:rPr sz="1100" b="1">
                          <a:solidFill>
                            <a:srgbClr val="4B4B4B"/>
                          </a:solidFill>
                          <a:latin typeface="Arial"/>
                        </a:rPr>
                        <a:t>Contact centre</a:t>
                      </a:r>
                    </a:p>
                  </a:txBody>
                  <a:tcPr marL="64008" marR="64008" marT="27432" marB="27432" anchor="ctr">
                    <a:solidFill>
                      <a:srgbClr val="E5F5FF"/>
                    </a:solidFill>
                  </a:tcPr>
                </a:tc>
                <a:tc>
                  <a:txBody>
                    <a:bodyPr wrap="square"/>
                    <a:lstStyle/>
                    <a:p>
                      <a:r>
                        <a:rPr sz="1100" b="0">
                          <a:solidFill>
                            <a:srgbClr val="4B4B4B"/>
                          </a:solidFill>
                          <a:latin typeface="Arial"/>
                        </a:rPr>
                        <a:t>Cases logged by hand in CLS</a:t>
                      </a:r>
                    </a:p>
                  </a:txBody>
                  <a:tcPr marL="64008" marR="64008" marT="27432" marB="27432" anchor="ctr">
                    <a:solidFill>
                      <a:srgbClr val="E5F5FF"/>
                    </a:solidFill>
                  </a:tcPr>
                </a:tc>
                <a:tc>
                  <a:txBody>
                    <a:bodyPr wrap="square"/>
                    <a:lstStyle/>
                    <a:p>
                      <a:r>
                        <a:rPr sz="1100" b="0">
                          <a:solidFill>
                            <a:srgbClr val="4B4B4B"/>
                          </a:solidFill>
                          <a:latin typeface="Arial"/>
                        </a:rPr>
                        <a:t>Case management (BDOI's To-Be)</a:t>
                      </a:r>
                    </a:p>
                  </a:txBody>
                  <a:tcPr marL="64008" marR="64008" marT="27432" marB="27432" anchor="ctr">
                    <a:solidFill>
                      <a:srgbClr val="E5F5FF"/>
                    </a:solidFill>
                  </a:tcPr>
                </a:tc>
                <a:tc>
                  <a:txBody>
                    <a:bodyPr wrap="square"/>
                    <a:lstStyle/>
                    <a:p>
                      <a:pPr algn="ctr"/>
                      <a:r>
                        <a:rPr sz="1100" b="1">
                          <a:solidFill>
                            <a:srgbClr val="8A5A00"/>
                          </a:solidFill>
                          <a:latin typeface="Arial"/>
                        </a:rPr>
                        <a:t>Medium</a:t>
                      </a:r>
                    </a:p>
                  </a:txBody>
                  <a:tcPr marL="64008" marR="64008" marT="27432" marB="27432" anchor="ctr">
                    <a:solidFill>
                      <a:srgbClr val="FFF4D6"/>
                    </a:solidFill>
                  </a:tcPr>
                </a:tc>
              </a:tr>
            </a:tbl>
          </a:graphicData>
        </a:graphic>
      </p:graphicFrame>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Roadmap in four horizons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548640"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548640" y="1280160"/>
            <a:ext cx="2636443" cy="731520"/>
          </a:xfrm>
          <a:prstGeom prst="rect">
            <a:avLst/>
          </a:prstGeom>
          <a:solidFill>
            <a:srgbClr val="F6F6F6"/>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1280160"/>
            <a:ext cx="2453563" cy="731520"/>
          </a:xfrm>
          <a:prstGeom prst="rect">
            <a:avLst/>
          </a:prstGeom>
          <a:noFill/>
        </p:spPr>
        <p:txBody>
          <a:bodyPr wrap="square" anchor="ctr" lIns="45720" rIns="45720" tIns="18288" bIns="18288">
            <a:spAutoFit/>
          </a:bodyPr>
          <a:lstStyle/>
          <a:p>
            <a:pPr>
              <a:spcAft>
                <a:spcPts val="0"/>
              </a:spcAft>
            </a:pPr>
            <a:r>
              <a:rPr sz="1300" b="1">
                <a:solidFill>
                  <a:srgbClr val="004EA8"/>
                </a:solidFill>
                <a:latin typeface="Arial"/>
              </a:rPr>
              <a:t>H0: Prepare</a:t>
            </a:r>
          </a:p>
          <a:p>
            <a:pPr>
              <a:spcAft>
                <a:spcPts val="0"/>
              </a:spcAft>
            </a:pPr>
            <a:r>
              <a:rPr sz="1300" b="0">
                <a:solidFill>
                  <a:srgbClr val="004EA8"/>
                </a:solidFill>
                <a:latin typeface="Arial"/>
              </a:rPr>
              <a:t>Now to Dec 2027</a:t>
            </a:r>
          </a:p>
        </p:txBody>
      </p:sp>
      <p:sp>
        <p:nvSpPr>
          <p:cNvPr id="12" name="TextBox 11"/>
          <p:cNvSpPr txBox="1"/>
          <p:nvPr/>
        </p:nvSpPr>
        <p:spPr>
          <a:xfrm>
            <a:off x="640080"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Streamline and decide</a:t>
            </a:r>
          </a:p>
          <a:p>
            <a:pPr>
              <a:spcAft>
                <a:spcPts val="300"/>
              </a:spcAft>
            </a:pPr>
            <a:r>
              <a:rPr sz="1200" b="0">
                <a:solidFill>
                  <a:srgbClr val="004EA8"/>
                </a:solidFill>
                <a:latin typeface="Arial"/>
              </a:rPr>
              <a:t>•  </a:t>
            </a:r>
            <a:r>
              <a:rPr sz="1200" b="0">
                <a:solidFill>
                  <a:srgbClr val="4B4B4B"/>
                </a:solidFill>
                <a:latin typeface="Arial"/>
              </a:rPr>
              <a:t>Credit policy, approval matrix, tolerance table</a:t>
            </a:r>
          </a:p>
          <a:p>
            <a:pPr>
              <a:spcAft>
                <a:spcPts val="300"/>
              </a:spcAft>
            </a:pPr>
            <a:r>
              <a:rPr sz="1200" b="0">
                <a:solidFill>
                  <a:srgbClr val="004EA8"/>
                </a:solidFill>
                <a:latin typeface="Arial"/>
              </a:rPr>
              <a:t>•  </a:t>
            </a:r>
            <a:r>
              <a:rPr sz="1200" b="0">
                <a:solidFill>
                  <a:srgbClr val="4B4B4B"/>
                </a:solidFill>
                <a:latin typeface="Arial"/>
              </a:rPr>
              <a:t>One reference; notice days; SLA values</a:t>
            </a:r>
          </a:p>
          <a:p>
            <a:pPr>
              <a:spcAft>
                <a:spcPts val="300"/>
              </a:spcAft>
            </a:pPr>
            <a:r>
              <a:rPr sz="1200" b="0">
                <a:solidFill>
                  <a:srgbClr val="004EA8"/>
                </a:solidFill>
                <a:latin typeface="Arial"/>
              </a:rPr>
              <a:t>•  </a:t>
            </a:r>
            <a:r>
              <a:rPr sz="1200" b="0">
                <a:solidFill>
                  <a:srgbClr val="4B4B4B"/>
                </a:solidFill>
                <a:latin typeface="Arial"/>
              </a:rPr>
              <a:t>Data owners; clean-up at source</a:t>
            </a:r>
          </a:p>
          <a:p>
            <a:pPr>
              <a:spcAft>
                <a:spcPts val="300"/>
              </a:spcAft>
            </a:pPr>
            <a:r>
              <a:rPr sz="1200" b="0">
                <a:solidFill>
                  <a:srgbClr val="004EA8"/>
                </a:solidFill>
                <a:latin typeface="Arial"/>
              </a:rPr>
              <a:t>•  </a:t>
            </a:r>
            <a:r>
              <a:rPr sz="1200" b="0">
                <a:solidFill>
                  <a:srgbClr val="4B4B4B"/>
                </a:solidFill>
                <a:latin typeface="Arial"/>
              </a:rPr>
              <a:t>Insurer interface standard agreed</a:t>
            </a:r>
          </a:p>
          <a:p>
            <a:pPr>
              <a:spcAft>
                <a:spcPts val="300"/>
              </a:spcAft>
            </a:pPr>
            <a:r>
              <a:rPr sz="1200" b="0">
                <a:solidFill>
                  <a:srgbClr val="004EA8"/>
                </a:solidFill>
                <a:latin typeface="Arial"/>
              </a:rPr>
              <a:t>•  </a:t>
            </a:r>
            <a:r>
              <a:rPr sz="1200" b="0">
                <a:solidFill>
                  <a:srgbClr val="4B4B4B"/>
                </a:solidFill>
                <a:latin typeface="Arial"/>
              </a:rPr>
              <a:t>Retire trackers per department</a:t>
            </a:r>
          </a:p>
        </p:txBody>
      </p:sp>
      <p:sp>
        <p:nvSpPr>
          <p:cNvPr id="13" name="Right Arrow 12"/>
          <p:cNvSpPr/>
          <p:nvPr/>
        </p:nvSpPr>
        <p:spPr>
          <a:xfrm>
            <a:off x="3166795" y="1517904"/>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ounded Rectangle 13"/>
          <p:cNvSpPr/>
          <p:nvPr/>
        </p:nvSpPr>
        <p:spPr>
          <a:xfrm>
            <a:off x="3367963"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367963" y="1280160"/>
            <a:ext cx="2636443" cy="731520"/>
          </a:xfrm>
          <a:prstGeom prst="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459403" y="1280160"/>
            <a:ext cx="2453563" cy="731520"/>
          </a:xfrm>
          <a:prstGeom prst="rect">
            <a:avLst/>
          </a:prstGeom>
          <a:noFill/>
        </p:spPr>
        <p:txBody>
          <a:bodyPr wrap="square" anchor="ctr" lIns="45720" rIns="45720" tIns="18288" bIns="18288">
            <a:spAutoFit/>
          </a:bodyPr>
          <a:lstStyle/>
          <a:p>
            <a:pPr>
              <a:spcAft>
                <a:spcPts val="0"/>
              </a:spcAft>
            </a:pPr>
            <a:r>
              <a:rPr sz="1300" b="1">
                <a:solidFill>
                  <a:srgbClr val="004EA8"/>
                </a:solidFill>
                <a:latin typeface="Arial"/>
              </a:rPr>
              <a:t>H1: Go-live</a:t>
            </a:r>
          </a:p>
          <a:p>
            <a:pPr>
              <a:spcAft>
                <a:spcPts val="0"/>
              </a:spcAft>
            </a:pPr>
            <a:r>
              <a:rPr sz="1300" b="0">
                <a:solidFill>
                  <a:srgbClr val="004EA8"/>
                </a:solidFill>
                <a:latin typeface="Arial"/>
              </a:rPr>
              <a:t>Jan 2028</a:t>
            </a:r>
          </a:p>
        </p:txBody>
      </p:sp>
      <p:sp>
        <p:nvSpPr>
          <p:cNvPr id="17" name="TextBox 16"/>
          <p:cNvSpPr txBox="1"/>
          <p:nvPr/>
        </p:nvSpPr>
        <p:spPr>
          <a:xfrm>
            <a:off x="3459403"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One system for the daily work</a:t>
            </a:r>
          </a:p>
          <a:p>
            <a:pPr>
              <a:spcAft>
                <a:spcPts val="300"/>
              </a:spcAft>
            </a:pPr>
            <a:r>
              <a:rPr sz="1200" b="0">
                <a:solidFill>
                  <a:srgbClr val="004EA8"/>
                </a:solidFill>
                <a:latin typeface="Arial"/>
              </a:rPr>
              <a:t>•  </a:t>
            </a:r>
            <a:r>
              <a:rPr sz="1200" b="0">
                <a:solidFill>
                  <a:srgbClr val="4B4B4B"/>
                </a:solidFill>
                <a:latin typeface="Arial"/>
              </a:rPr>
              <a:t>One client, one account, one invoice</a:t>
            </a:r>
          </a:p>
          <a:p>
            <a:pPr>
              <a:spcAft>
                <a:spcPts val="300"/>
              </a:spcAft>
            </a:pPr>
            <a:r>
              <a:rPr sz="1200" b="0">
                <a:solidFill>
                  <a:srgbClr val="004EA8"/>
                </a:solidFill>
                <a:latin typeface="Arial"/>
              </a:rPr>
              <a:t>•  </a:t>
            </a:r>
            <a:r>
              <a:rPr sz="1200" b="0">
                <a:solidFill>
                  <a:srgbClr val="4B4B4B"/>
                </a:solidFill>
                <a:latin typeface="Arial"/>
              </a:rPr>
              <a:t>Workflows with maker-checker</a:t>
            </a:r>
          </a:p>
          <a:p>
            <a:pPr>
              <a:spcAft>
                <a:spcPts val="300"/>
              </a:spcAft>
            </a:pPr>
            <a:r>
              <a:rPr sz="1200" b="0">
                <a:solidFill>
                  <a:srgbClr val="004EA8"/>
                </a:solidFill>
                <a:latin typeface="Arial"/>
              </a:rPr>
              <a:t>•  </a:t>
            </a:r>
            <a:r>
              <a:rPr sz="1200" b="0">
                <a:solidFill>
                  <a:srgbClr val="4B4B4B"/>
                </a:solidFill>
                <a:latin typeface="Arial"/>
              </a:rPr>
              <a:t>Matching, batches, renewal rules</a:t>
            </a:r>
          </a:p>
          <a:p>
            <a:pPr>
              <a:spcAft>
                <a:spcPts val="300"/>
              </a:spcAft>
            </a:pPr>
            <a:r>
              <a:rPr sz="1200" b="0">
                <a:solidFill>
                  <a:srgbClr val="004EA8"/>
                </a:solidFill>
                <a:latin typeface="Arial"/>
              </a:rPr>
              <a:t>•  </a:t>
            </a:r>
            <a:r>
              <a:rPr sz="1200" b="0">
                <a:solidFill>
                  <a:srgbClr val="4B4B4B"/>
                </a:solidFill>
                <a:latin typeface="Arial"/>
              </a:rPr>
              <a:t>Reports run by users</a:t>
            </a:r>
          </a:p>
          <a:p>
            <a:pPr>
              <a:spcAft>
                <a:spcPts val="300"/>
              </a:spcAft>
            </a:pPr>
            <a:r>
              <a:rPr sz="1200" b="0">
                <a:solidFill>
                  <a:srgbClr val="004EA8"/>
                </a:solidFill>
                <a:latin typeface="Arial"/>
              </a:rPr>
              <a:t>•  </a:t>
            </a:r>
            <a:r>
              <a:rPr sz="1200" b="0">
                <a:solidFill>
                  <a:srgbClr val="4B4B4B"/>
                </a:solidFill>
                <a:latin typeface="Arial"/>
              </a:rPr>
              <a:t>Masters and open items moved</a:t>
            </a:r>
          </a:p>
        </p:txBody>
      </p:sp>
      <p:sp>
        <p:nvSpPr>
          <p:cNvPr id="18" name="Right Arrow 17"/>
          <p:cNvSpPr/>
          <p:nvPr/>
        </p:nvSpPr>
        <p:spPr>
          <a:xfrm>
            <a:off x="5986119" y="1517904"/>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187287"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187287" y="1280160"/>
            <a:ext cx="2636443" cy="731520"/>
          </a:xfrm>
          <a:prstGeom prst="rect">
            <a:avLst/>
          </a:prstGeom>
          <a:solidFill>
            <a:srgbClr val="99C1E7"/>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278727" y="1280160"/>
            <a:ext cx="2453563" cy="731520"/>
          </a:xfrm>
          <a:prstGeom prst="rect">
            <a:avLst/>
          </a:prstGeom>
          <a:noFill/>
        </p:spPr>
        <p:txBody>
          <a:bodyPr wrap="square" anchor="ctr" lIns="45720" rIns="45720" tIns="18288" bIns="18288">
            <a:spAutoFit/>
          </a:bodyPr>
          <a:lstStyle/>
          <a:p>
            <a:pPr>
              <a:spcAft>
                <a:spcPts val="0"/>
              </a:spcAft>
            </a:pPr>
            <a:r>
              <a:rPr sz="1300" b="1">
                <a:solidFill>
                  <a:srgbClr val="004EA8"/>
                </a:solidFill>
                <a:latin typeface="Arial"/>
              </a:rPr>
              <a:t>H2: Automate</a:t>
            </a:r>
          </a:p>
          <a:p>
            <a:pPr>
              <a:spcAft>
                <a:spcPts val="0"/>
              </a:spcAft>
            </a:pPr>
            <a:r>
              <a:rPr sz="1300" b="0">
                <a:solidFill>
                  <a:srgbClr val="004EA8"/>
                </a:solidFill>
                <a:latin typeface="Arial"/>
              </a:rPr>
              <a:t>Feb 2028 - Dec 2028</a:t>
            </a:r>
          </a:p>
        </p:txBody>
      </p:sp>
      <p:sp>
        <p:nvSpPr>
          <p:cNvPr id="22" name="TextBox 21"/>
          <p:cNvSpPr txBox="1"/>
          <p:nvPr/>
        </p:nvSpPr>
        <p:spPr>
          <a:xfrm>
            <a:off x="6278727"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Exceptions only</a:t>
            </a:r>
          </a:p>
          <a:p>
            <a:pPr>
              <a:spcAft>
                <a:spcPts val="300"/>
              </a:spcAft>
            </a:pPr>
            <a:r>
              <a:rPr sz="1200" b="0">
                <a:solidFill>
                  <a:srgbClr val="004EA8"/>
                </a:solidFill>
                <a:latin typeface="Arial"/>
              </a:rPr>
              <a:t>•  </a:t>
            </a:r>
            <a:r>
              <a:rPr sz="1200" b="0">
                <a:solidFill>
                  <a:srgbClr val="4B4B4B"/>
                </a:solidFill>
                <a:latin typeface="Arial"/>
              </a:rPr>
              <a:t>Cash application with scoring; payment references</a:t>
            </a:r>
          </a:p>
          <a:p>
            <a:pPr>
              <a:spcAft>
                <a:spcPts val="300"/>
              </a:spcAft>
            </a:pPr>
            <a:r>
              <a:rPr sz="1200" b="0">
                <a:solidFill>
                  <a:srgbClr val="004EA8"/>
                </a:solidFill>
                <a:latin typeface="Arial"/>
              </a:rPr>
              <a:t>•  </a:t>
            </a:r>
            <a:r>
              <a:rPr sz="1200" b="0">
                <a:solidFill>
                  <a:srgbClr val="4B4B4B"/>
                </a:solidFill>
                <a:latin typeface="Arial"/>
              </a:rPr>
              <a:t>E-policy reading; fall-out queue</a:t>
            </a:r>
          </a:p>
          <a:p>
            <a:pPr>
              <a:spcAft>
                <a:spcPts val="300"/>
              </a:spcAft>
            </a:pPr>
            <a:r>
              <a:rPr sz="1200" b="0">
                <a:solidFill>
                  <a:srgbClr val="004EA8"/>
                </a:solidFill>
                <a:latin typeface="Arial"/>
              </a:rPr>
              <a:t>•  </a:t>
            </a:r>
            <a:r>
              <a:rPr sz="1200" b="0">
                <a:solidFill>
                  <a:srgbClr val="4B4B4B"/>
                </a:solidFill>
                <a:latin typeface="Arial"/>
              </a:rPr>
              <a:t>Case management; client notices</a:t>
            </a:r>
          </a:p>
          <a:p>
            <a:pPr>
              <a:spcAft>
                <a:spcPts val="300"/>
              </a:spcAft>
            </a:pPr>
            <a:r>
              <a:rPr sz="1200" b="0">
                <a:solidFill>
                  <a:srgbClr val="004EA8"/>
                </a:solidFill>
                <a:latin typeface="Arial"/>
              </a:rPr>
              <a:t>•  </a:t>
            </a:r>
            <a:r>
              <a:rPr sz="1200" b="0">
                <a:solidFill>
                  <a:srgbClr val="4B4B4B"/>
                </a:solidFill>
                <a:latin typeface="Arial"/>
              </a:rPr>
              <a:t>Bank host-to-host; government calendar</a:t>
            </a:r>
          </a:p>
        </p:txBody>
      </p:sp>
      <p:sp>
        <p:nvSpPr>
          <p:cNvPr id="23" name="Right Arrow 22"/>
          <p:cNvSpPr/>
          <p:nvPr/>
        </p:nvSpPr>
        <p:spPr>
          <a:xfrm>
            <a:off x="8805443" y="1517904"/>
            <a:ext cx="219456" cy="274320"/>
          </a:xfrm>
          <a:prstGeom prst="rightArrow">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9006611" y="1280160"/>
            <a:ext cx="2636443" cy="3657600"/>
          </a:xfrm>
          <a:prstGeom prst="roundRect">
            <a:avLst>
              <a:gd name="adj" fmla="val 8000"/>
            </a:avLst>
          </a:prstGeom>
          <a:solidFill>
            <a:srgbClr val="FFFFFF"/>
          </a:solidFill>
          <a:ln w="12700">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9006611" y="1280160"/>
            <a:ext cx="2636443" cy="731520"/>
          </a:xfrm>
          <a:prstGeom prst="rect">
            <a:avLst/>
          </a:prstGeom>
          <a:solidFill>
            <a:srgbClr val="0072D8"/>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098051" y="1280160"/>
            <a:ext cx="2453563" cy="731520"/>
          </a:xfrm>
          <a:prstGeom prst="rect">
            <a:avLst/>
          </a:prstGeom>
          <a:noFill/>
        </p:spPr>
        <p:txBody>
          <a:bodyPr wrap="square" anchor="ctr" lIns="45720" rIns="45720" tIns="18288" bIns="18288">
            <a:spAutoFit/>
          </a:bodyPr>
          <a:lstStyle/>
          <a:p>
            <a:pPr>
              <a:spcAft>
                <a:spcPts val="0"/>
              </a:spcAft>
            </a:pPr>
            <a:r>
              <a:rPr sz="1300" b="1">
                <a:solidFill>
                  <a:srgbClr val="FFFFFF"/>
                </a:solidFill>
                <a:latin typeface="Arial"/>
              </a:rPr>
              <a:t>H3: Optimise</a:t>
            </a:r>
          </a:p>
          <a:p>
            <a:pPr>
              <a:spcAft>
                <a:spcPts val="0"/>
              </a:spcAft>
            </a:pPr>
            <a:r>
              <a:rPr sz="1300" b="0">
                <a:solidFill>
                  <a:srgbClr val="FFFFFF"/>
                </a:solidFill>
                <a:latin typeface="Arial"/>
              </a:rPr>
              <a:t>2029 onward</a:t>
            </a:r>
          </a:p>
        </p:txBody>
      </p:sp>
      <p:sp>
        <p:nvSpPr>
          <p:cNvPr id="27" name="TextBox 26"/>
          <p:cNvSpPr txBox="1"/>
          <p:nvPr/>
        </p:nvSpPr>
        <p:spPr>
          <a:xfrm>
            <a:off x="9098051" y="2084832"/>
            <a:ext cx="2453563" cy="2816352"/>
          </a:xfrm>
          <a:prstGeom prst="rect">
            <a:avLst/>
          </a:prstGeom>
          <a:noFill/>
        </p:spPr>
        <p:txBody>
          <a:bodyPr wrap="square" anchor="t" lIns="45720" rIns="45720" tIns="18288" bIns="18288">
            <a:spAutoFit/>
          </a:bodyPr>
          <a:lstStyle/>
          <a:p>
            <a:pPr>
              <a:spcAft>
                <a:spcPts val="300"/>
              </a:spcAft>
            </a:pPr>
            <a:r>
              <a:rPr sz="1200" b="1">
                <a:solidFill>
                  <a:srgbClr val="2E2E2E"/>
                </a:solidFill>
                <a:latin typeface="Arial"/>
              </a:rPr>
              <a:t>Integrated and measured</a:t>
            </a:r>
          </a:p>
          <a:p>
            <a:pPr>
              <a:spcAft>
                <a:spcPts val="300"/>
              </a:spcAft>
            </a:pPr>
            <a:r>
              <a:rPr sz="1200" b="0">
                <a:solidFill>
                  <a:srgbClr val="004EA8"/>
                </a:solidFill>
                <a:latin typeface="Arial"/>
              </a:rPr>
              <a:t>•  </a:t>
            </a:r>
            <a:r>
              <a:rPr sz="1200" b="0">
                <a:solidFill>
                  <a:srgbClr val="4B4B4B"/>
                </a:solidFill>
                <a:latin typeface="Arial"/>
              </a:rPr>
              <a:t>Insurer APIs and portals</a:t>
            </a:r>
          </a:p>
          <a:p>
            <a:pPr>
              <a:spcAft>
                <a:spcPts val="300"/>
              </a:spcAft>
            </a:pPr>
            <a:r>
              <a:rPr sz="1200" b="0">
                <a:solidFill>
                  <a:srgbClr val="004EA8"/>
                </a:solidFill>
                <a:latin typeface="Arial"/>
              </a:rPr>
              <a:t>•  </a:t>
            </a:r>
            <a:r>
              <a:rPr sz="1200" b="0">
                <a:solidFill>
                  <a:srgbClr val="4B4B4B"/>
                </a:solidFill>
                <a:latin typeface="Arial"/>
              </a:rPr>
              <a:t>Self-service for clients and HR</a:t>
            </a:r>
          </a:p>
          <a:p>
            <a:pPr>
              <a:spcAft>
                <a:spcPts val="300"/>
              </a:spcAft>
            </a:pPr>
            <a:r>
              <a:rPr sz="1200" b="0">
                <a:solidFill>
                  <a:srgbClr val="004EA8"/>
                </a:solidFill>
                <a:latin typeface="Arial"/>
              </a:rPr>
              <a:t>•  </a:t>
            </a:r>
            <a:r>
              <a:rPr sz="1200" b="0">
                <a:solidFill>
                  <a:srgbClr val="4B4B4B"/>
                </a:solidFill>
                <a:latin typeface="Arial"/>
              </a:rPr>
              <a:t>Analytics: retention, profitability</a:t>
            </a:r>
          </a:p>
          <a:p>
            <a:pPr>
              <a:spcAft>
                <a:spcPts val="300"/>
              </a:spcAft>
            </a:pPr>
            <a:r>
              <a:rPr sz="1200" b="0">
                <a:solidFill>
                  <a:srgbClr val="004EA8"/>
                </a:solidFill>
                <a:latin typeface="Arial"/>
              </a:rPr>
              <a:t>•  </a:t>
            </a:r>
            <a:r>
              <a:rPr sz="1200" b="0">
                <a:solidFill>
                  <a:srgbClr val="4B4B4B"/>
                </a:solidFill>
                <a:latin typeface="Arial"/>
              </a:rPr>
              <a:t>Continuous close</a:t>
            </a:r>
          </a:p>
          <a:p>
            <a:pPr>
              <a:spcAft>
                <a:spcPts val="300"/>
              </a:spcAft>
            </a:pPr>
            <a:r>
              <a:rPr sz="1200" b="0">
                <a:solidFill>
                  <a:srgbClr val="004EA8"/>
                </a:solidFill>
                <a:latin typeface="Arial"/>
              </a:rPr>
              <a:t>•  </a:t>
            </a:r>
            <a:r>
              <a:rPr sz="1200" b="0">
                <a:solidFill>
                  <a:srgbClr val="4B4B4B"/>
                </a:solidFill>
                <a:latin typeface="Arial"/>
              </a:rPr>
              <a:t>Assisted work: document reading, next best action</a:t>
            </a:r>
          </a:p>
        </p:txBody>
      </p:sp>
      <p:sp>
        <p:nvSpPr>
          <p:cNvPr id="28" name="Rounded Rectangle 27"/>
          <p:cNvSpPr/>
          <p:nvPr/>
        </p:nvSpPr>
        <p:spPr>
          <a:xfrm>
            <a:off x="548640" y="5074920"/>
            <a:ext cx="11094415" cy="1143000"/>
          </a:xfrm>
          <a:prstGeom prst="roundRect">
            <a:avLst>
              <a:gd name="adj" fmla="val 8000"/>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58368" y="5102352"/>
            <a:ext cx="11094415" cy="292608"/>
          </a:xfrm>
          <a:prstGeom prst="rect">
            <a:avLst/>
          </a:prstGeom>
          <a:noFill/>
        </p:spPr>
        <p:txBody>
          <a:bodyPr wrap="square" anchor="t" lIns="45720" rIns="45720">
            <a:spAutoFit/>
          </a:bodyPr>
          <a:lstStyle/>
          <a:p>
            <a:r>
              <a:rPr sz="1300" b="1" i="0">
                <a:solidFill>
                  <a:srgbClr val="004EA8"/>
                </a:solidFill>
                <a:latin typeface="Arial"/>
              </a:rPr>
              <a:t>Enablers across the horizons</a:t>
            </a:r>
          </a:p>
        </p:txBody>
      </p:sp>
      <p:sp>
        <p:nvSpPr>
          <p:cNvPr id="30" name="TextBox 29"/>
          <p:cNvSpPr txBox="1"/>
          <p:nvPr/>
        </p:nvSpPr>
        <p:spPr>
          <a:xfrm>
            <a:off x="658368" y="5404104"/>
            <a:ext cx="5318607" cy="758952"/>
          </a:xfrm>
          <a:prstGeom prst="rect">
            <a:avLst/>
          </a:prstGeom>
          <a:noFill/>
        </p:spPr>
        <p:txBody>
          <a:bodyPr wrap="square" anchor="t" lIns="45720" rIns="45720" tIns="18288" bIns="18288">
            <a:spAutoFit/>
          </a:bodyPr>
          <a:lstStyle/>
          <a:p>
            <a:pPr>
              <a:spcAft>
                <a:spcPts val="200"/>
              </a:spcAft>
            </a:pPr>
            <a:r>
              <a:rPr sz="1100" b="0">
                <a:solidFill>
                  <a:srgbClr val="004EA8"/>
                </a:solidFill>
                <a:latin typeface="Arial"/>
              </a:rPr>
              <a:t>•  </a:t>
            </a:r>
            <a:r>
              <a:rPr sz="1100" b="0">
                <a:solidFill>
                  <a:srgbClr val="2E2E2E"/>
                </a:solidFill>
                <a:latin typeface="Arial"/>
              </a:rPr>
              <a:t>Business owners for every master, rule and report</a:t>
            </a:r>
          </a:p>
          <a:p>
            <a:pPr>
              <a:spcAft>
                <a:spcPts val="200"/>
              </a:spcAft>
            </a:pPr>
            <a:r>
              <a:rPr sz="1100" b="0">
                <a:solidFill>
                  <a:srgbClr val="004EA8"/>
                </a:solidFill>
                <a:latin typeface="Arial"/>
              </a:rPr>
              <a:t>•  </a:t>
            </a:r>
            <a:r>
              <a:rPr sz="1100" b="0">
                <a:solidFill>
                  <a:srgbClr val="2E2E2E"/>
                </a:solidFill>
                <a:latin typeface="Arial"/>
              </a:rPr>
              <a:t>Change champions (21) and SMEs (38) per department</a:t>
            </a:r>
          </a:p>
          <a:p>
            <a:pPr>
              <a:spcAft>
                <a:spcPts val="200"/>
              </a:spcAft>
            </a:pPr>
            <a:r>
              <a:rPr sz="1100" b="0">
                <a:solidFill>
                  <a:srgbClr val="004EA8"/>
                </a:solidFill>
                <a:latin typeface="Arial"/>
              </a:rPr>
              <a:t>•  </a:t>
            </a:r>
            <a:r>
              <a:rPr sz="1100" b="0">
                <a:solidFill>
                  <a:srgbClr val="2E2E2E"/>
                </a:solidFill>
                <a:latin typeface="Arial"/>
              </a:rPr>
              <a:t>BDO IT for bank, insurer and government channels</a:t>
            </a:r>
          </a:p>
        </p:txBody>
      </p:sp>
      <p:sp>
        <p:nvSpPr>
          <p:cNvPr id="31" name="TextBox 30"/>
          <p:cNvSpPr txBox="1"/>
          <p:nvPr/>
        </p:nvSpPr>
        <p:spPr>
          <a:xfrm>
            <a:off x="6205575" y="5404104"/>
            <a:ext cx="5318607" cy="758952"/>
          </a:xfrm>
          <a:prstGeom prst="rect">
            <a:avLst/>
          </a:prstGeom>
          <a:noFill/>
        </p:spPr>
        <p:txBody>
          <a:bodyPr wrap="square" anchor="t" lIns="45720" rIns="45720" tIns="18288" bIns="18288">
            <a:spAutoFit/>
          </a:bodyPr>
          <a:lstStyle/>
          <a:p>
            <a:pPr>
              <a:spcAft>
                <a:spcPts val="200"/>
              </a:spcAft>
            </a:pPr>
            <a:r>
              <a:rPr sz="1100" b="0">
                <a:solidFill>
                  <a:srgbClr val="004EA8"/>
                </a:solidFill>
                <a:latin typeface="Arial"/>
              </a:rPr>
              <a:t>•  </a:t>
            </a:r>
            <a:r>
              <a:rPr sz="1100" b="0">
                <a:solidFill>
                  <a:srgbClr val="2E2E2E"/>
                </a:solidFill>
                <a:latin typeface="Arial"/>
              </a:rPr>
              <a:t>Answers to the open points of the floor walk</a:t>
            </a:r>
          </a:p>
          <a:p>
            <a:pPr>
              <a:spcAft>
                <a:spcPts val="200"/>
              </a:spcAft>
            </a:pPr>
            <a:r>
              <a:rPr sz="1100" b="0">
                <a:solidFill>
                  <a:srgbClr val="004EA8"/>
                </a:solidFill>
                <a:latin typeface="Arial"/>
              </a:rPr>
              <a:t>•  </a:t>
            </a:r>
            <a:r>
              <a:rPr sz="1100" b="0">
                <a:solidFill>
                  <a:srgbClr val="2E2E2E"/>
                </a:solidFill>
                <a:latin typeface="Arial"/>
              </a:rPr>
              <a:t>Training and quick-reference cards per role</a:t>
            </a:r>
          </a:p>
          <a:p>
            <a:pPr>
              <a:spcAft>
                <a:spcPts val="200"/>
              </a:spcAft>
            </a:pPr>
            <a:r>
              <a:rPr sz="1100" b="0">
                <a:solidFill>
                  <a:srgbClr val="004EA8"/>
                </a:solidFill>
                <a:latin typeface="Arial"/>
              </a:rPr>
              <a:t>•  </a:t>
            </a:r>
            <a:r>
              <a:rPr sz="1100" b="0">
                <a:solidFill>
                  <a:srgbClr val="2E2E2E"/>
                </a:solidFill>
                <a:latin typeface="Arial"/>
              </a:rPr>
              <a:t>KPIs measured from go-live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KPIs to measure operational efficiency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graphicFrame>
        <p:nvGraphicFramePr>
          <p:cNvPr id="9" name="Table 8"/>
          <p:cNvGraphicFramePr>
            <a:graphicFrameLocks noGrp="1"/>
          </p:cNvGraphicFramePr>
          <p:nvPr/>
        </p:nvGraphicFramePr>
        <p:xfrm>
          <a:off x="548640" y="1280160"/>
          <a:ext cx="11094413" cy="4754880"/>
        </p:xfrm>
        <a:graphic>
          <a:graphicData uri="http://schemas.openxmlformats.org/drawingml/2006/table">
            <a:tbl>
              <a:tblPr firstRow="1" bandRow="1">
                <a:tableStyleId>{5C22544A-7EE6-4342-B048-85BDC9FD1C3A}</a:tableStyleId>
              </a:tblPr>
              <a:tblGrid>
                <a:gridCol w="2728134"/>
                <a:gridCol w="3091886"/>
                <a:gridCol w="3091886"/>
                <a:gridCol w="2182507"/>
              </a:tblGrid>
              <a:tr h="365760">
                <a:tc>
                  <a:txBody>
                    <a:bodyPr wrap="square"/>
                    <a:lstStyle/>
                    <a:p>
                      <a:r>
                        <a:rPr sz="1100" b="1">
                          <a:solidFill>
                            <a:srgbClr val="FFFFFF"/>
                          </a:solidFill>
                          <a:latin typeface="Arial"/>
                        </a:rPr>
                        <a:t>KPI</a:t>
                      </a:r>
                    </a:p>
                  </a:txBody>
                  <a:tcPr marL="64008" marR="64008" marT="27432" marB="27432" anchor="ctr">
                    <a:solidFill>
                      <a:srgbClr val="004EA8"/>
                    </a:solidFill>
                  </a:tcPr>
                </a:tc>
                <a:tc>
                  <a:txBody>
                    <a:bodyPr wrap="square"/>
                    <a:lstStyle/>
                    <a:p>
                      <a:r>
                        <a:rPr sz="1100" b="1">
                          <a:solidFill>
                            <a:srgbClr val="FFFFFF"/>
                          </a:solidFill>
                          <a:latin typeface="Arial"/>
                        </a:rPr>
                        <a:t>How it is today</a:t>
                      </a:r>
                    </a:p>
                  </a:txBody>
                  <a:tcPr marL="64008" marR="64008" marT="27432" marB="27432" anchor="ctr">
                    <a:solidFill>
                      <a:srgbClr val="004EA8"/>
                    </a:solidFill>
                  </a:tcPr>
                </a:tc>
                <a:tc>
                  <a:txBody>
                    <a:bodyPr wrap="square"/>
                    <a:lstStyle/>
                    <a:p>
                      <a:r>
                        <a:rPr sz="1100" b="1">
                          <a:solidFill>
                            <a:srgbClr val="FFFFFF"/>
                          </a:solidFill>
                          <a:latin typeface="Arial"/>
                        </a:rPr>
                        <a:t>Target idea</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r>
              <a:tr h="731520">
                <a:tc>
                  <a:txBody>
                    <a:bodyPr wrap="square"/>
                    <a:lstStyle/>
                    <a:p>
                      <a:r>
                        <a:rPr sz="1100" b="1">
                          <a:solidFill>
                            <a:srgbClr val="4B4B4B"/>
                          </a:solidFill>
                          <a:latin typeface="Arial"/>
                        </a:rPr>
                        <a:t>Quote turnaround</a:t>
                      </a:r>
                    </a:p>
                  </a:txBody>
                  <a:tcPr marL="64008" marR="64008" marT="27432" marB="27432" anchor="ctr">
                    <a:solidFill>
                      <a:srgbClr val="FFFFFF"/>
                    </a:solidFill>
                  </a:tcPr>
                </a:tc>
                <a:tc>
                  <a:txBody>
                    <a:bodyPr wrap="square"/>
                    <a:lstStyle/>
                    <a:p>
                      <a:r>
                        <a:rPr sz="1100" b="0">
                          <a:solidFill>
                            <a:srgbClr val="4B4B4B"/>
                          </a:solidFill>
                          <a:latin typeface="Arial"/>
                        </a:rPr>
                        <a:t>7 / 3 days, not tracked (NB-07)</a:t>
                      </a:r>
                    </a:p>
                  </a:txBody>
                  <a:tcPr marL="64008" marR="64008" marT="27432" marB="27432" anchor="ctr">
                    <a:solidFill>
                      <a:srgbClr val="FFFFFF"/>
                    </a:solidFill>
                  </a:tcPr>
                </a:tc>
                <a:tc>
                  <a:txBody>
                    <a:bodyPr wrap="square"/>
                    <a:lstStyle/>
                    <a:p>
                      <a:r>
                        <a:rPr sz="1100" b="0">
                          <a:solidFill>
                            <a:srgbClr val="4B4B4B"/>
                          </a:solidFill>
                          <a:latin typeface="Arial"/>
                        </a:rPr>
                        <a:t>Measured per quote; share within SLA</a:t>
                      </a:r>
                    </a:p>
                  </a:txBody>
                  <a:tcPr marL="64008" marR="64008" marT="27432" marB="27432" anchor="ctr">
                    <a:solidFill>
                      <a:srgbClr val="FFFFFF"/>
                    </a:solidFill>
                  </a:tcPr>
                </a:tc>
                <a:tc>
                  <a:txBody>
                    <a:bodyPr wrap="square"/>
                    <a:lstStyle/>
                    <a:p>
                      <a:r>
                        <a:rPr sz="1100" b="0">
                          <a:solidFill>
                            <a:srgbClr val="4B4B4B"/>
                          </a:solidFill>
                          <a:latin typeface="Arial"/>
                        </a:rPr>
                        <a:t>Marketing</a:t>
                      </a:r>
                    </a:p>
                  </a:txBody>
                  <a:tcPr marL="64008" marR="64008" marT="27432" marB="27432" anchor="ctr">
                    <a:solidFill>
                      <a:srgbClr val="FFFFFF"/>
                    </a:solidFill>
                  </a:tcPr>
                </a:tc>
              </a:tr>
              <a:tr h="731520">
                <a:tc>
                  <a:txBody>
                    <a:bodyPr wrap="square"/>
                    <a:lstStyle/>
                    <a:p>
                      <a:r>
                        <a:rPr sz="1100" b="1">
                          <a:solidFill>
                            <a:srgbClr val="4B4B4B"/>
                          </a:solidFill>
                          <a:latin typeface="Arial"/>
                        </a:rPr>
                        <a:t>Request to booked policy</a:t>
                      </a:r>
                    </a:p>
                  </a:txBody>
                  <a:tcPr marL="64008" marR="64008" marT="27432" marB="27432" anchor="ctr">
                    <a:solidFill>
                      <a:srgbClr val="E5F5FF"/>
                    </a:solidFill>
                  </a:tcPr>
                </a:tc>
                <a:tc>
                  <a:txBody>
                    <a:bodyPr wrap="square"/>
                    <a:lstStyle/>
                    <a:p>
                      <a:r>
                        <a:rPr sz="1100" b="0">
                          <a:solidFill>
                            <a:srgbClr val="4B4B4B"/>
                          </a:solidFill>
                          <a:latin typeface="Arial"/>
                        </a:rPr>
                        <a:t>Not measured; three systems</a:t>
                      </a:r>
                    </a:p>
                  </a:txBody>
                  <a:tcPr marL="64008" marR="64008" marT="27432" marB="27432" anchor="ctr">
                    <a:solidFill>
                      <a:srgbClr val="E5F5FF"/>
                    </a:solidFill>
                  </a:tcPr>
                </a:tc>
                <a:tc>
                  <a:txBody>
                    <a:bodyPr wrap="square"/>
                    <a:lstStyle/>
                    <a:p>
                      <a:r>
                        <a:rPr sz="1100" b="0">
                          <a:solidFill>
                            <a:srgbClr val="4B4B4B"/>
                          </a:solidFill>
                          <a:latin typeface="Arial"/>
                        </a:rPr>
                        <a:t>Days from acceptance to booking</a:t>
                      </a:r>
                    </a:p>
                  </a:txBody>
                  <a:tcPr marL="64008" marR="64008" marT="27432" marB="27432" anchor="ctr">
                    <a:solidFill>
                      <a:srgbClr val="E5F5FF"/>
                    </a:solidFill>
                  </a:tcPr>
                </a:tc>
                <a:tc>
                  <a:txBody>
                    <a:bodyPr wrap="square"/>
                    <a:lstStyle/>
                    <a:p>
                      <a:r>
                        <a:rPr sz="1100" b="0">
                          <a:solidFill>
                            <a:srgbClr val="4B4B4B"/>
                          </a:solidFill>
                          <a:latin typeface="Arial"/>
                        </a:rPr>
                        <a:t>Processing</a:t>
                      </a:r>
                    </a:p>
                  </a:txBody>
                  <a:tcPr marL="64008" marR="64008" marT="27432" marB="27432" anchor="ctr">
                    <a:solidFill>
                      <a:srgbClr val="E5F5FF"/>
                    </a:solidFill>
                  </a:tcPr>
                </a:tc>
              </a:tr>
              <a:tr h="731520">
                <a:tc>
                  <a:txBody>
                    <a:bodyPr wrap="square"/>
                    <a:lstStyle/>
                    <a:p>
                      <a:r>
                        <a:rPr sz="1100" b="1">
                          <a:solidFill>
                            <a:srgbClr val="4B4B4B"/>
                          </a:solidFill>
                          <a:latin typeface="Arial"/>
                        </a:rPr>
                        <a:t>E-policy fall-outs</a:t>
                      </a:r>
                    </a:p>
                  </a:txBody>
                  <a:tcPr marL="64008" marR="64008" marT="27432" marB="27432" anchor="ctr">
                    <a:solidFill>
                      <a:srgbClr val="FFFFFF"/>
                    </a:solidFill>
                  </a:tcPr>
                </a:tc>
                <a:tc>
                  <a:txBody>
                    <a:bodyPr wrap="square"/>
                    <a:lstStyle/>
                    <a:p>
                      <a:r>
                        <a:rPr sz="1100" b="0">
                          <a:solidFill>
                            <a:srgbClr val="4B4B4B"/>
                          </a:solidFill>
                          <a:latin typeface="Arial"/>
                        </a:rPr>
                        <a:t>Exception report from IT</a:t>
                      </a:r>
                    </a:p>
                  </a:txBody>
                  <a:tcPr marL="64008" marR="64008" marT="27432" marB="27432" anchor="ctr">
                    <a:solidFill>
                      <a:srgbClr val="FFFFFF"/>
                    </a:solidFill>
                  </a:tcPr>
                </a:tc>
                <a:tc>
                  <a:txBody>
                    <a:bodyPr wrap="square"/>
                    <a:lstStyle/>
                    <a:p>
                      <a:r>
                        <a:rPr sz="1100" b="0">
                          <a:solidFill>
                            <a:srgbClr val="4B4B4B"/>
                          </a:solidFill>
                          <a:latin typeface="Arial"/>
                        </a:rPr>
                        <a:t>Share of e-policies without fall-out</a:t>
                      </a:r>
                    </a:p>
                  </a:txBody>
                  <a:tcPr marL="64008" marR="64008" marT="27432" marB="27432" anchor="ctr">
                    <a:solidFill>
                      <a:srgbClr val="FFFFFF"/>
                    </a:solidFill>
                  </a:tcPr>
                </a:tc>
                <a:tc>
                  <a:txBody>
                    <a:bodyPr wrap="square"/>
                    <a:lstStyle/>
                    <a:p>
                      <a:r>
                        <a:rPr sz="1100" b="0">
                          <a:solidFill>
                            <a:srgbClr val="4B4B4B"/>
                          </a:solidFill>
                          <a:latin typeface="Arial"/>
                        </a:rPr>
                        <a:t>Processing, IT</a:t>
                      </a:r>
                    </a:p>
                  </a:txBody>
                  <a:tcPr marL="64008" marR="64008" marT="27432" marB="27432" anchor="ctr">
                    <a:solidFill>
                      <a:srgbClr val="FFFFFF"/>
                    </a:solidFill>
                  </a:tcPr>
                </a:tc>
              </a:tr>
              <a:tr h="731520">
                <a:tc>
                  <a:txBody>
                    <a:bodyPr wrap="square"/>
                    <a:lstStyle/>
                    <a:p>
                      <a:r>
                        <a:rPr sz="1100" b="1">
                          <a:solidFill>
                            <a:srgbClr val="4B4B4B"/>
                          </a:solidFill>
                          <a:latin typeface="Arial"/>
                        </a:rPr>
                        <a:t>Renewal retention</a:t>
                      </a:r>
                    </a:p>
                  </a:txBody>
                  <a:tcPr marL="64008" marR="64008" marT="27432" marB="27432" anchor="ctr">
                    <a:solidFill>
                      <a:srgbClr val="E5F5FF"/>
                    </a:solidFill>
                  </a:tcPr>
                </a:tc>
                <a:tc>
                  <a:txBody>
                    <a:bodyPr wrap="square"/>
                    <a:lstStyle/>
                    <a:p>
                      <a:r>
                        <a:rPr sz="1100" b="0">
                          <a:solidFill>
                            <a:srgbClr val="4B4B4B"/>
                          </a:solidFill>
                          <a:latin typeface="Arial"/>
                        </a:rPr>
                        <a:t>Excel dispositions</a:t>
                      </a:r>
                    </a:p>
                  </a:txBody>
                  <a:tcPr marL="64008" marR="64008" marT="27432" marB="27432" anchor="ctr">
                    <a:solidFill>
                      <a:srgbClr val="E5F5FF"/>
                    </a:solidFill>
                  </a:tcPr>
                </a:tc>
                <a:tc>
                  <a:txBody>
                    <a:bodyPr wrap="square"/>
                    <a:lstStyle/>
                    <a:p>
                      <a:r>
                        <a:rPr sz="1100" b="0">
                          <a:solidFill>
                            <a:srgbClr val="4B4B4B"/>
                          </a:solidFill>
                          <a:latin typeface="Arial"/>
                        </a:rPr>
                        <a:t>Retention and reasons per segment</a:t>
                      </a:r>
                    </a:p>
                  </a:txBody>
                  <a:tcPr marL="64008" marR="64008" marT="27432" marB="27432" anchor="ctr">
                    <a:solidFill>
                      <a:srgbClr val="E5F5FF"/>
                    </a:solidFill>
                  </a:tcPr>
                </a:tc>
                <a:tc>
                  <a:txBody>
                    <a:bodyPr wrap="square"/>
                    <a:lstStyle/>
                    <a:p>
                      <a:r>
                        <a:rPr sz="1100" b="0">
                          <a:solidFill>
                            <a:srgbClr val="4B4B4B"/>
                          </a:solidFill>
                          <a:latin typeface="Arial"/>
                        </a:rPr>
                        <a:t>Marketing</a:t>
                      </a:r>
                    </a:p>
                  </a:txBody>
                  <a:tcPr marL="64008" marR="64008" marT="27432" marB="27432" anchor="ctr">
                    <a:solidFill>
                      <a:srgbClr val="E5F5FF"/>
                    </a:solidFill>
                  </a:tcPr>
                </a:tc>
              </a:tr>
              <a:tr h="731520">
                <a:tc>
                  <a:txBody>
                    <a:bodyPr wrap="square"/>
                    <a:lstStyle/>
                    <a:p>
                      <a:r>
                        <a:rPr sz="1100" b="1">
                          <a:solidFill>
                            <a:srgbClr val="4B4B4B"/>
                          </a:solidFill>
                          <a:latin typeface="Arial"/>
                        </a:rPr>
                        <a:t>Unapplied cash</a:t>
                      </a:r>
                    </a:p>
                  </a:txBody>
                  <a:tcPr marL="64008" marR="64008" marT="27432" marB="27432" anchor="ctr">
                    <a:solidFill>
                      <a:srgbClr val="FFFFFF"/>
                    </a:solidFill>
                  </a:tcPr>
                </a:tc>
                <a:tc>
                  <a:txBody>
                    <a:bodyPr wrap="square"/>
                    <a:lstStyle/>
                    <a:p>
                      <a:r>
                        <a:rPr sz="1100" b="0">
                          <a:solidFill>
                            <a:srgbClr val="4B4B4B"/>
                          </a:solidFill>
                          <a:latin typeface="Arial"/>
                        </a:rPr>
                        <a:t>Unapplied report worked offline</a:t>
                      </a:r>
                    </a:p>
                  </a:txBody>
                  <a:tcPr marL="64008" marR="64008" marT="27432" marB="27432" anchor="ctr">
                    <a:solidFill>
                      <a:srgbClr val="FFFFFF"/>
                    </a:solidFill>
                  </a:tcPr>
                </a:tc>
                <a:tc>
                  <a:txBody>
                    <a:bodyPr wrap="square"/>
                    <a:lstStyle/>
                    <a:p>
                      <a:r>
                        <a:rPr sz="1100" b="0">
                          <a:solidFill>
                            <a:srgbClr val="4B4B4B"/>
                          </a:solidFill>
                          <a:latin typeface="Arial"/>
                        </a:rPr>
                        <a:t>Amount and age of unapplied</a:t>
                      </a:r>
                    </a:p>
                  </a:txBody>
                  <a:tcPr marL="64008" marR="64008" marT="27432" marB="27432" anchor="ctr">
                    <a:solidFill>
                      <a:srgbClr val="FFFFFF"/>
                    </a:solidFill>
                  </a:tcPr>
                </a:tc>
                <a:tc>
                  <a:txBody>
                    <a:bodyPr wrap="square"/>
                    <a:lstStyle/>
                    <a:p>
                      <a:r>
                        <a:rPr sz="1100" b="0">
                          <a:solidFill>
                            <a:srgbClr val="4B4B4B"/>
                          </a:solidFill>
                          <a:latin typeface="Arial"/>
                        </a:rPr>
                        <a:t>Cashiering</a:t>
                      </a:r>
                    </a:p>
                  </a:txBody>
                  <a:tcPr marL="64008" marR="64008" marT="27432" marB="27432" anchor="ctr">
                    <a:solidFill>
                      <a:srgbClr val="FFFFFF"/>
                    </a:solidFill>
                  </a:tcPr>
                </a:tc>
              </a:tr>
              <a:tr h="731520">
                <a:tc>
                  <a:txBody>
                    <a:bodyPr wrap="square"/>
                    <a:lstStyle/>
                    <a:p>
                      <a:r>
                        <a:rPr sz="1100" b="1">
                          <a:solidFill>
                            <a:srgbClr val="4B4B4B"/>
                          </a:solidFill>
                          <a:latin typeface="Arial"/>
                        </a:rPr>
                        <a:t>Days sales outstanding</a:t>
                      </a:r>
                    </a:p>
                  </a:txBody>
                  <a:tcPr marL="64008" marR="64008" marT="27432" marB="27432" anchor="ctr">
                    <a:solidFill>
                      <a:srgbClr val="E5F5FF"/>
                    </a:solidFill>
                  </a:tcPr>
                </a:tc>
                <a:tc>
                  <a:txBody>
                    <a:bodyPr wrap="square"/>
                    <a:lstStyle/>
                    <a:p>
                      <a:r>
                        <a:rPr sz="1100" b="0">
                          <a:solidFill>
                            <a:srgbClr val="4B4B4B"/>
                          </a:solidFill>
                          <a:latin typeface="Arial"/>
                        </a:rPr>
                        <a:t>ICS ageing unreliable (CO-02)</a:t>
                      </a:r>
                    </a:p>
                  </a:txBody>
                  <a:tcPr marL="64008" marR="64008" marT="27432" marB="27432" anchor="ctr">
                    <a:solidFill>
                      <a:srgbClr val="E5F5FF"/>
                    </a:solidFill>
                  </a:tcPr>
                </a:tc>
                <a:tc>
                  <a:txBody>
                    <a:bodyPr wrap="square"/>
                    <a:lstStyle/>
                    <a:p>
                      <a:r>
                        <a:rPr sz="1100" b="0">
                          <a:solidFill>
                            <a:srgbClr val="4B4B4B"/>
                          </a:solidFill>
                          <a:latin typeface="Arial"/>
                        </a:rPr>
                        <a:t>DSO per segment; promises kept</a:t>
                      </a:r>
                    </a:p>
                  </a:txBody>
                  <a:tcPr marL="64008" marR="64008" marT="27432" marB="27432" anchor="ctr">
                    <a:solidFill>
                      <a:srgbClr val="E5F5FF"/>
                    </a:solidFill>
                  </a:tcPr>
                </a:tc>
                <a:tc>
                  <a:txBody>
                    <a:bodyPr wrap="square"/>
                    <a:lstStyle/>
                    <a:p>
                      <a:r>
                        <a:rPr sz="1100" b="0">
                          <a:solidFill>
                            <a:srgbClr val="4B4B4B"/>
                          </a:solidFill>
                          <a:latin typeface="Arial"/>
                        </a:rPr>
                        <a:t>Collections</a:t>
                      </a:r>
                    </a:p>
                  </a:txBody>
                  <a:tcPr marL="64008" marR="64008" marT="27432" marB="27432" anchor="ctr">
                    <a:solidFill>
                      <a:srgbClr val="E5F5FF"/>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KPIs to measure operational efficiency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graphicFrame>
        <p:nvGraphicFramePr>
          <p:cNvPr id="9" name="Table 8"/>
          <p:cNvGraphicFramePr>
            <a:graphicFrameLocks noGrp="1"/>
          </p:cNvGraphicFramePr>
          <p:nvPr/>
        </p:nvGraphicFramePr>
        <p:xfrm>
          <a:off x="548640" y="1280160"/>
          <a:ext cx="11094413" cy="4023360"/>
        </p:xfrm>
        <a:graphic>
          <a:graphicData uri="http://schemas.openxmlformats.org/drawingml/2006/table">
            <a:tbl>
              <a:tblPr firstRow="1" bandRow="1">
                <a:tableStyleId>{5C22544A-7EE6-4342-B048-85BDC9FD1C3A}</a:tableStyleId>
              </a:tblPr>
              <a:tblGrid>
                <a:gridCol w="2728134"/>
                <a:gridCol w="3091886"/>
                <a:gridCol w="3091886"/>
                <a:gridCol w="2182507"/>
              </a:tblGrid>
              <a:tr h="365760">
                <a:tc>
                  <a:txBody>
                    <a:bodyPr wrap="square"/>
                    <a:lstStyle/>
                    <a:p>
                      <a:r>
                        <a:rPr sz="1100" b="1">
                          <a:solidFill>
                            <a:srgbClr val="FFFFFF"/>
                          </a:solidFill>
                          <a:latin typeface="Arial"/>
                        </a:rPr>
                        <a:t>KPI</a:t>
                      </a:r>
                    </a:p>
                  </a:txBody>
                  <a:tcPr marL="64008" marR="64008" marT="27432" marB="27432" anchor="ctr">
                    <a:solidFill>
                      <a:srgbClr val="004EA8"/>
                    </a:solidFill>
                  </a:tcPr>
                </a:tc>
                <a:tc>
                  <a:txBody>
                    <a:bodyPr wrap="square"/>
                    <a:lstStyle/>
                    <a:p>
                      <a:r>
                        <a:rPr sz="1100" b="1">
                          <a:solidFill>
                            <a:srgbClr val="FFFFFF"/>
                          </a:solidFill>
                          <a:latin typeface="Arial"/>
                        </a:rPr>
                        <a:t>How it is today</a:t>
                      </a:r>
                    </a:p>
                  </a:txBody>
                  <a:tcPr marL="64008" marR="64008" marT="27432" marB="27432" anchor="ctr">
                    <a:solidFill>
                      <a:srgbClr val="004EA8"/>
                    </a:solidFill>
                  </a:tcPr>
                </a:tc>
                <a:tc>
                  <a:txBody>
                    <a:bodyPr wrap="square"/>
                    <a:lstStyle/>
                    <a:p>
                      <a:r>
                        <a:rPr sz="1100" b="1">
                          <a:solidFill>
                            <a:srgbClr val="FFFFFF"/>
                          </a:solidFill>
                          <a:latin typeface="Arial"/>
                        </a:rPr>
                        <a:t>Target idea</a:t>
                      </a:r>
                    </a:p>
                  </a:txBody>
                  <a:tcPr marL="64008" marR="64008" marT="27432" marB="27432" anchor="ctr">
                    <a:solidFill>
                      <a:srgbClr val="004EA8"/>
                    </a:solidFill>
                  </a:tcPr>
                </a:tc>
                <a:tc>
                  <a:txBody>
                    <a:bodyPr wrap="square"/>
                    <a:lstStyle/>
                    <a:p>
                      <a:r>
                        <a:rPr sz="1100" b="1">
                          <a:solidFill>
                            <a:srgbClr val="FFFFFF"/>
                          </a:solidFill>
                          <a:latin typeface="Arial"/>
                        </a:rPr>
                        <a:t>Owner</a:t>
                      </a:r>
                    </a:p>
                  </a:txBody>
                  <a:tcPr marL="64008" marR="64008" marT="27432" marB="27432" anchor="ctr">
                    <a:solidFill>
                      <a:srgbClr val="004EA8"/>
                    </a:solidFill>
                  </a:tcPr>
                </a:tc>
              </a:tr>
              <a:tr h="731520">
                <a:tc>
                  <a:txBody>
                    <a:bodyPr wrap="square"/>
                    <a:lstStyle/>
                    <a:p>
                      <a:r>
                        <a:rPr sz="1100" b="1">
                          <a:solidFill>
                            <a:srgbClr val="4B4B4B"/>
                          </a:solidFill>
                          <a:latin typeface="Arial"/>
                        </a:rPr>
                        <a:t>Remittance on time</a:t>
                      </a:r>
                    </a:p>
                  </a:txBody>
                  <a:tcPr marL="64008" marR="64008" marT="27432" marB="27432" anchor="ctr">
                    <a:solidFill>
                      <a:srgbClr val="FFFFFF"/>
                    </a:solidFill>
                  </a:tcPr>
                </a:tc>
                <a:tc>
                  <a:txBody>
                    <a:bodyPr wrap="square"/>
                    <a:lstStyle/>
                    <a:p>
                      <a:r>
                        <a:rPr sz="1100" b="0">
                          <a:solidFill>
                            <a:srgbClr val="4B4B4B"/>
                          </a:solidFill>
                          <a:latin typeface="Arial"/>
                        </a:rPr>
                        <a:t>Weekly, by hand</a:t>
                      </a:r>
                    </a:p>
                  </a:txBody>
                  <a:tcPr marL="64008" marR="64008" marT="27432" marB="27432" anchor="ctr">
                    <a:solidFill>
                      <a:srgbClr val="FFFFFF"/>
                    </a:solidFill>
                  </a:tcPr>
                </a:tc>
                <a:tc>
                  <a:txBody>
                    <a:bodyPr wrap="square"/>
                    <a:lstStyle/>
                    <a:p>
                      <a:r>
                        <a:rPr sz="1100" b="0">
                          <a:solidFill>
                            <a:srgbClr val="4B4B4B"/>
                          </a:solidFill>
                          <a:latin typeface="Arial"/>
                        </a:rPr>
                        <a:t>Share remitted in the incentive window</a:t>
                      </a:r>
                    </a:p>
                  </a:txBody>
                  <a:tcPr marL="64008" marR="64008" marT="27432" marB="27432" anchor="ctr">
                    <a:solidFill>
                      <a:srgbClr val="FFFFFF"/>
                    </a:solidFill>
                  </a:tcPr>
                </a:tc>
                <a:tc>
                  <a:txBody>
                    <a:bodyPr wrap="square"/>
                    <a:lstStyle/>
                    <a:p>
                      <a:r>
                        <a:rPr sz="1100" b="0">
                          <a:solidFill>
                            <a:srgbClr val="4B4B4B"/>
                          </a:solidFill>
                          <a:latin typeface="Arial"/>
                        </a:rPr>
                        <a:t>Remittance</a:t>
                      </a:r>
                    </a:p>
                  </a:txBody>
                  <a:tcPr marL="64008" marR="64008" marT="27432" marB="27432" anchor="ctr">
                    <a:solidFill>
                      <a:srgbClr val="FFFFFF"/>
                    </a:solidFill>
                  </a:tcPr>
                </a:tc>
              </a:tr>
              <a:tr h="731520">
                <a:tc>
                  <a:txBody>
                    <a:bodyPr wrap="square"/>
                    <a:lstStyle/>
                    <a:p>
                      <a:r>
                        <a:rPr sz="1100" b="1">
                          <a:solidFill>
                            <a:srgbClr val="4B4B4B"/>
                          </a:solidFill>
                          <a:latin typeface="Arial"/>
                        </a:rPr>
                        <a:t>Recon match rate</a:t>
                      </a:r>
                    </a:p>
                  </a:txBody>
                  <a:tcPr marL="64008" marR="64008" marT="27432" marB="27432" anchor="ctr">
                    <a:solidFill>
                      <a:srgbClr val="E5F5FF"/>
                    </a:solidFill>
                  </a:tcPr>
                </a:tc>
                <a:tc>
                  <a:txBody>
                    <a:bodyPr wrap="square"/>
                    <a:lstStyle/>
                    <a:p>
                      <a:r>
                        <a:rPr sz="1100" b="0">
                          <a:solidFill>
                            <a:srgbClr val="4B4B4B"/>
                          </a:solidFill>
                          <a:latin typeface="Arial"/>
                        </a:rPr>
                        <a:t>20-30K lines by hand</a:t>
                      </a:r>
                    </a:p>
                  </a:txBody>
                  <a:tcPr marL="64008" marR="64008" marT="27432" marB="27432" anchor="ctr">
                    <a:solidFill>
                      <a:srgbClr val="E5F5FF"/>
                    </a:solidFill>
                  </a:tcPr>
                </a:tc>
                <a:tc>
                  <a:txBody>
                    <a:bodyPr wrap="square"/>
                    <a:lstStyle/>
                    <a:p>
                      <a:r>
                        <a:rPr sz="1100" b="0">
                          <a:solidFill>
                            <a:srgbClr val="4B4B4B"/>
                          </a:solidFill>
                          <a:latin typeface="Arial"/>
                        </a:rPr>
                        <a:t>Share matched automatically</a:t>
                      </a:r>
                    </a:p>
                  </a:txBody>
                  <a:tcPr marL="64008" marR="64008" marT="27432" marB="27432" anchor="ctr">
                    <a:solidFill>
                      <a:srgbClr val="E5F5FF"/>
                    </a:solidFill>
                  </a:tcPr>
                </a:tc>
                <a:tc>
                  <a:txBody>
                    <a:bodyPr wrap="square"/>
                    <a:lstStyle/>
                    <a:p>
                      <a:r>
                        <a:rPr sz="1100" b="0">
                          <a:solidFill>
                            <a:srgbClr val="4B4B4B"/>
                          </a:solidFill>
                          <a:latin typeface="Arial"/>
                        </a:rPr>
                        <a:t>Production recon</a:t>
                      </a:r>
                    </a:p>
                  </a:txBody>
                  <a:tcPr marL="64008" marR="64008" marT="27432" marB="27432" anchor="ctr">
                    <a:solidFill>
                      <a:srgbClr val="E5F5FF"/>
                    </a:solidFill>
                  </a:tcPr>
                </a:tc>
              </a:tr>
              <a:tr h="731520">
                <a:tc>
                  <a:txBody>
                    <a:bodyPr wrap="square"/>
                    <a:lstStyle/>
                    <a:p>
                      <a:r>
                        <a:rPr sz="1100" b="1">
                          <a:solidFill>
                            <a:srgbClr val="4B4B4B"/>
                          </a:solidFill>
                          <a:latin typeface="Arial"/>
                        </a:rPr>
                        <a:t>Close duration</a:t>
                      </a:r>
                    </a:p>
                  </a:txBody>
                  <a:tcPr marL="64008" marR="64008" marT="27432" marB="27432" anchor="ctr">
                    <a:solidFill>
                      <a:srgbClr val="FFFFFF"/>
                    </a:solidFill>
                  </a:tcPr>
                </a:tc>
                <a:tc>
                  <a:txBody>
                    <a:bodyPr wrap="square"/>
                    <a:lstStyle/>
                    <a:p>
                      <a:r>
                        <a:rPr sz="1100" b="0">
                          <a:solidFill>
                            <a:srgbClr val="4B4B4B"/>
                          </a:solidFill>
                          <a:latin typeface="Arial"/>
                        </a:rPr>
                        <a:t>IT runs the close</a:t>
                      </a:r>
                    </a:p>
                  </a:txBody>
                  <a:tcPr marL="64008" marR="64008" marT="27432" marB="27432" anchor="ctr">
                    <a:solidFill>
                      <a:srgbClr val="FFFFFF"/>
                    </a:solidFill>
                  </a:tcPr>
                </a:tc>
                <a:tc>
                  <a:txBody>
                    <a:bodyPr wrap="square"/>
                    <a:lstStyle/>
                    <a:p>
                      <a:r>
                        <a:rPr sz="1100" b="0">
                          <a:solidFill>
                            <a:srgbClr val="4B4B4B"/>
                          </a:solidFill>
                          <a:latin typeface="Arial"/>
                        </a:rPr>
                        <a:t>Working days to close the month</a:t>
                      </a:r>
                    </a:p>
                  </a:txBody>
                  <a:tcPr marL="64008" marR="64008" marT="27432" marB="27432" anchor="ctr">
                    <a:solidFill>
                      <a:srgbClr val="FFFFFF"/>
                    </a:solidFill>
                  </a:tcPr>
                </a:tc>
                <a:tc>
                  <a:txBody>
                    <a:bodyPr wrap="square"/>
                    <a:lstStyle/>
                    <a:p>
                      <a:r>
                        <a:rPr sz="1100" b="0">
                          <a:solidFill>
                            <a:srgbClr val="4B4B4B"/>
                          </a:solidFill>
                          <a:latin typeface="Arial"/>
                        </a:rPr>
                        <a:t>FRBS</a:t>
                      </a:r>
                    </a:p>
                  </a:txBody>
                  <a:tcPr marL="64008" marR="64008" marT="27432" marB="27432" anchor="ctr">
                    <a:solidFill>
                      <a:srgbClr val="FFFFFF"/>
                    </a:solidFill>
                  </a:tcPr>
                </a:tc>
              </a:tr>
              <a:tr h="731520">
                <a:tc>
                  <a:txBody>
                    <a:bodyPr wrap="square"/>
                    <a:lstStyle/>
                    <a:p>
                      <a:r>
                        <a:rPr sz="1100" b="1">
                          <a:solidFill>
                            <a:srgbClr val="4B4B4B"/>
                          </a:solidFill>
                          <a:latin typeface="Arial"/>
                        </a:rPr>
                        <a:t>Claims cycle time</a:t>
                      </a:r>
                    </a:p>
                  </a:txBody>
                  <a:tcPr marL="64008" marR="64008" marT="27432" marB="27432" anchor="ctr">
                    <a:solidFill>
                      <a:srgbClr val="E5F5FF"/>
                    </a:solidFill>
                  </a:tcPr>
                </a:tc>
                <a:tc>
                  <a:txBody>
                    <a:bodyPr wrap="square"/>
                    <a:lstStyle/>
                    <a:p>
                      <a:r>
                        <a:rPr sz="1100" b="0">
                          <a:solidFill>
                            <a:srgbClr val="4B4B4B"/>
                          </a:solidFill>
                          <a:latin typeface="Arial"/>
                        </a:rPr>
                        <a:t>Offline</a:t>
                      </a:r>
                    </a:p>
                  </a:txBody>
                  <a:tcPr marL="64008" marR="64008" marT="27432" marB="27432" anchor="ctr">
                    <a:solidFill>
                      <a:srgbClr val="E5F5FF"/>
                    </a:solidFill>
                  </a:tcPr>
                </a:tc>
                <a:tc>
                  <a:txBody>
                    <a:bodyPr wrap="square"/>
                    <a:lstStyle/>
                    <a:p>
                      <a:r>
                        <a:rPr sz="1100" b="0">
                          <a:solidFill>
                            <a:srgbClr val="4B4B4B"/>
                          </a:solidFill>
                          <a:latin typeface="Arial"/>
                        </a:rPr>
                        <a:t>Notice to settlement, per insurer</a:t>
                      </a:r>
                    </a:p>
                  </a:txBody>
                  <a:tcPr marL="64008" marR="64008" marT="27432" marB="27432" anchor="ctr">
                    <a:solidFill>
                      <a:srgbClr val="E5F5FF"/>
                    </a:solidFill>
                  </a:tcPr>
                </a:tc>
                <a:tc>
                  <a:txBody>
                    <a:bodyPr wrap="square"/>
                    <a:lstStyle/>
                    <a:p>
                      <a:r>
                        <a:rPr sz="1100" b="0">
                          <a:solidFill>
                            <a:srgbClr val="4B4B4B"/>
                          </a:solidFill>
                          <a:latin typeface="Arial"/>
                        </a:rPr>
                        <a:t>Claims</a:t>
                      </a:r>
                    </a:p>
                  </a:txBody>
                  <a:tcPr marL="64008" marR="64008" marT="27432" marB="27432" anchor="ctr">
                    <a:solidFill>
                      <a:srgbClr val="E5F5FF"/>
                    </a:solidFill>
                  </a:tcPr>
                </a:tc>
              </a:tr>
              <a:tr h="731520">
                <a:tc>
                  <a:txBody>
                    <a:bodyPr wrap="square"/>
                    <a:lstStyle/>
                    <a:p>
                      <a:r>
                        <a:rPr sz="1100" b="1">
                          <a:solidFill>
                            <a:srgbClr val="4B4B4B"/>
                          </a:solidFill>
                          <a:latin typeface="Arial"/>
                        </a:rPr>
                        <a:t>First-contact resolution</a:t>
                      </a:r>
                    </a:p>
                  </a:txBody>
                  <a:tcPr marL="64008" marR="64008" marT="27432" marB="27432" anchor="ctr">
                    <a:solidFill>
                      <a:srgbClr val="FFFFFF"/>
                    </a:solidFill>
                  </a:tcPr>
                </a:tc>
                <a:tc>
                  <a:txBody>
                    <a:bodyPr wrap="square"/>
                    <a:lstStyle/>
                    <a:p>
                      <a:r>
                        <a:rPr sz="1100" b="0">
                          <a:solidFill>
                            <a:srgbClr val="4B4B4B"/>
                          </a:solidFill>
                          <a:latin typeface="Arial"/>
                        </a:rPr>
                        <a:t>Cases by hand in CLS</a:t>
                      </a:r>
                    </a:p>
                  </a:txBody>
                  <a:tcPr marL="64008" marR="64008" marT="27432" marB="27432" anchor="ctr">
                    <a:solidFill>
                      <a:srgbClr val="FFFFFF"/>
                    </a:solidFill>
                  </a:tcPr>
                </a:tc>
                <a:tc>
                  <a:txBody>
                    <a:bodyPr wrap="square"/>
                    <a:lstStyle/>
                    <a:p>
                      <a:r>
                        <a:rPr sz="1100" b="0">
                          <a:solidFill>
                            <a:srgbClr val="4B4B4B"/>
                          </a:solidFill>
                          <a:latin typeface="Arial"/>
                        </a:rPr>
                        <a:t>Share closed at first contact</a:t>
                      </a:r>
                    </a:p>
                  </a:txBody>
                  <a:tcPr marL="64008" marR="64008" marT="27432" marB="27432" anchor="ctr">
                    <a:solidFill>
                      <a:srgbClr val="FFFFFF"/>
                    </a:solidFill>
                  </a:tcPr>
                </a:tc>
                <a:tc>
                  <a:txBody>
                    <a:bodyPr wrap="square"/>
                    <a:lstStyle/>
                    <a:p>
                      <a:r>
                        <a:rPr sz="1100" b="0">
                          <a:solidFill>
                            <a:srgbClr val="4B4B4B"/>
                          </a:solidFill>
                          <a:latin typeface="Arial"/>
                        </a:rPr>
                        <a:t>Contact centre</a:t>
                      </a:r>
                    </a:p>
                  </a:txBody>
                  <a:tcPr marL="64008" marR="64008" marT="27432" marB="27432" anchor="ctr">
                    <a:solidFill>
                      <a:srgbClr val="FFFFFF"/>
                    </a:solidFill>
                  </a:tcPr>
                </a:tc>
              </a:tr>
            </a:tbl>
          </a:graphicData>
        </a:graphic>
      </p:graphicFrame>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Open points for BDOI to confirm (1/2)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447355"/>
                <a:gridCol w="1073653"/>
                <a:gridCol w="1968363"/>
                <a:gridCol w="5726149"/>
                <a:gridCol w="1878892"/>
              </a:tblGrid>
              <a:tr h="365760">
                <a:tc>
                  <a:txBody>
                    <a:bodyPr wrap="square"/>
                    <a:lstStyle/>
                    <a:p>
                      <a:r>
                        <a:rPr sz="1100" b="1">
                          <a:solidFill>
                            <a:srgbClr val="FFFFFF"/>
                          </a:solidFill>
                          <a:latin typeface="Arial"/>
                        </a:rPr>
                        <a:t>#</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Area</a:t>
                      </a:r>
                    </a:p>
                  </a:txBody>
                  <a:tcPr marL="64008" marR="64008" marT="27432" marB="27432" anchor="ctr">
                    <a:solidFill>
                      <a:srgbClr val="004EA8"/>
                    </a:solidFill>
                  </a:tcPr>
                </a:tc>
                <a:tc>
                  <a:txBody>
                    <a:bodyPr wrap="square"/>
                    <a:lstStyle/>
                    <a:p>
                      <a:r>
                        <a:rPr sz="1100" b="1">
                          <a:solidFill>
                            <a:srgbClr val="FFFFFF"/>
                          </a:solidFill>
                          <a:latin typeface="Arial"/>
                        </a:rPr>
                        <a:t>Open point</a:t>
                      </a:r>
                    </a:p>
                  </a:txBody>
                  <a:tcPr marL="64008" marR="64008" marT="27432" marB="27432" anchor="ctr">
                    <a:solidFill>
                      <a:srgbClr val="004EA8"/>
                    </a:solidFill>
                  </a:tcPr>
                </a:tc>
                <a:tc>
                  <a:txBody>
                    <a:bodyPr wrap="square"/>
                    <a:lstStyle/>
                    <a:p>
                      <a:r>
                        <a:rPr sz="1100" b="1">
                          <a:solidFill>
                            <a:srgbClr val="FFFFFF"/>
                          </a:solidFill>
                          <a:latin typeface="Arial"/>
                        </a:rPr>
                        <a:t>Where it closes</a:t>
                      </a:r>
                    </a:p>
                  </a:txBody>
                  <a:tcPr marL="64008" marR="64008" marT="27432" marB="27432" anchor="ctr">
                    <a:solidFill>
                      <a:srgbClr val="004EA8"/>
                    </a:solidFill>
                  </a:tcPr>
                </a:tc>
              </a:tr>
              <a:tr h="505968">
                <a:tc>
                  <a:txBody>
                    <a:bodyPr wrap="square"/>
                    <a:lstStyle/>
                    <a:p>
                      <a:r>
                        <a:rPr sz="1100" b="0">
                          <a:solidFill>
                            <a:srgbClr val="4B4B4B"/>
                          </a:solidFill>
                          <a:latin typeface="Arial"/>
                        </a:rPr>
                        <a:t>1</a:t>
                      </a:r>
                    </a:p>
                  </a:txBody>
                  <a:tcPr marL="64008" marR="64008" marT="27432" marB="27432" anchor="ctr">
                    <a:solidFill>
                      <a:srgbClr val="FFFFFF"/>
                    </a:solidFill>
                  </a:tcPr>
                </a:tc>
                <a:tc>
                  <a:txBody>
                    <a:bodyPr wrap="square"/>
                    <a:lstStyle/>
                    <a:p>
                      <a:r>
                        <a:rPr sz="1100" b="1">
                          <a:solidFill>
                            <a:srgbClr val="4B4B4B"/>
                          </a:solidFill>
                          <a:latin typeface="Arial"/>
                        </a:rPr>
                        <a:t>OV-03</a:t>
                      </a:r>
                    </a:p>
                  </a:txBody>
                  <a:tcPr marL="64008" marR="64008" marT="27432" marB="27432" anchor="ctr">
                    <a:solidFill>
                      <a:srgbClr val="FFFFFF"/>
                    </a:solidFill>
                  </a:tcPr>
                </a:tc>
                <a:tc>
                  <a:txBody>
                    <a:bodyPr wrap="square"/>
                    <a:lstStyle/>
                    <a:p>
                      <a:r>
                        <a:rPr sz="1100" b="0">
                          <a:solidFill>
                            <a:srgbClr val="4B4B4B"/>
                          </a:solidFill>
                          <a:latin typeface="Arial"/>
                        </a:rPr>
                        <a:t>Business overview</a:t>
                      </a:r>
                    </a:p>
                  </a:txBody>
                  <a:tcPr marL="64008" marR="64008" marT="27432" marB="27432" anchor="ctr">
                    <a:solidFill>
                      <a:srgbClr val="FFFFFF"/>
                    </a:solidFill>
                  </a:tcPr>
                </a:tc>
                <a:tc>
                  <a:txBody>
                    <a:bodyPr wrap="square"/>
                    <a:lstStyle/>
                    <a:p>
                      <a:r>
                        <a:rPr sz="1100" b="0">
                          <a:solidFill>
                            <a:srgbClr val="4B4B4B"/>
                          </a:solidFill>
                          <a:latin typeface="Arial"/>
                        </a:rPr>
                        <a:t>One common reference across the lifecycle?</a:t>
                      </a:r>
                    </a:p>
                  </a:txBody>
                  <a:tcPr marL="64008" marR="64008" marT="27432" marB="27432" anchor="ctr">
                    <a:solidFill>
                      <a:srgbClr val="FFFFFF"/>
                    </a:solidFill>
                  </a:tcPr>
                </a:tc>
                <a:tc>
                  <a:txBody>
                    <a:bodyPr wrap="square"/>
                    <a:lstStyle/>
                    <a:p>
                      <a:r>
                        <a:rPr sz="1100" b="0">
                          <a:solidFill>
                            <a:srgbClr val="4B4B4B"/>
                          </a:solidFill>
                          <a:latin typeface="Arial"/>
                        </a:rPr>
                        <a:t>BDOI to confirm</a:t>
                      </a:r>
                    </a:p>
                  </a:txBody>
                  <a:tcPr marL="64008" marR="64008" marT="27432" marB="27432" anchor="ctr">
                    <a:solidFill>
                      <a:srgbClr val="FFFFFF"/>
                    </a:solidFill>
                  </a:tcPr>
                </a:tc>
              </a:tr>
              <a:tr h="505968">
                <a:tc>
                  <a:txBody>
                    <a:bodyPr wrap="square"/>
                    <a:lstStyle/>
                    <a:p>
                      <a:r>
                        <a:rPr sz="1100" b="0">
                          <a:solidFill>
                            <a:srgbClr val="4B4B4B"/>
                          </a:solidFill>
                          <a:latin typeface="Arial"/>
                        </a:rPr>
                        <a:t>2</a:t>
                      </a:r>
                    </a:p>
                  </a:txBody>
                  <a:tcPr marL="64008" marR="64008" marT="27432" marB="27432" anchor="ctr">
                    <a:solidFill>
                      <a:srgbClr val="E5F5FF"/>
                    </a:solidFill>
                  </a:tcPr>
                </a:tc>
                <a:tc>
                  <a:txBody>
                    <a:bodyPr wrap="square"/>
                    <a:lstStyle/>
                    <a:p>
                      <a:r>
                        <a:rPr sz="1100" b="1">
                          <a:solidFill>
                            <a:srgbClr val="4B4B4B"/>
                          </a:solidFill>
                          <a:latin typeface="Arial"/>
                        </a:rPr>
                        <a:t>OV-04</a:t>
                      </a:r>
                    </a:p>
                  </a:txBody>
                  <a:tcPr marL="64008" marR="64008" marT="27432" marB="27432" anchor="ctr">
                    <a:solidFill>
                      <a:srgbClr val="E5F5FF"/>
                    </a:solidFill>
                  </a:tcPr>
                </a:tc>
                <a:tc>
                  <a:txBody>
                    <a:bodyPr wrap="square"/>
                    <a:lstStyle/>
                    <a:p>
                      <a:r>
                        <a:rPr sz="1100" b="0">
                          <a:solidFill>
                            <a:srgbClr val="4B4B4B"/>
                          </a:solidFill>
                          <a:latin typeface="Arial"/>
                        </a:rPr>
                        <a:t>Business overview</a:t>
                      </a:r>
                    </a:p>
                  </a:txBody>
                  <a:tcPr marL="64008" marR="64008" marT="27432" marB="27432" anchor="ctr">
                    <a:solidFill>
                      <a:srgbClr val="E5F5FF"/>
                    </a:solidFill>
                  </a:tcPr>
                </a:tc>
                <a:tc>
                  <a:txBody>
                    <a:bodyPr wrap="square"/>
                    <a:lstStyle/>
                    <a:p>
                      <a:r>
                        <a:rPr sz="1100" b="0">
                          <a:solidFill>
                            <a:srgbClr val="4B4B4B"/>
                          </a:solidFill>
                          <a:latin typeface="Arial"/>
                        </a:rPr>
                        <a:t>Client categories going forward: lead, prospect, existing; retail, corporate</a:t>
                      </a:r>
                    </a:p>
                  </a:txBody>
                  <a:tcPr marL="64008" marR="64008" marT="27432" marB="27432" anchor="ctr">
                    <a:solidFill>
                      <a:srgbClr val="E5F5FF"/>
                    </a:solidFill>
                  </a:tcPr>
                </a:tc>
                <a:tc>
                  <a:txBody>
                    <a:bodyPr wrap="square"/>
                    <a:lstStyle/>
                    <a:p>
                      <a:r>
                        <a:rPr sz="1100" b="0">
                          <a:solidFill>
                            <a:srgbClr val="4B4B4B"/>
                          </a:solidFill>
                          <a:latin typeface="Arial"/>
                        </a:rPr>
                        <a:t>BDOI to confirm</a:t>
                      </a:r>
                    </a:p>
                  </a:txBody>
                  <a:tcPr marL="64008" marR="64008" marT="27432" marB="27432" anchor="ctr">
                    <a:solidFill>
                      <a:srgbClr val="E5F5FF"/>
                    </a:solidFill>
                  </a:tcPr>
                </a:tc>
              </a:tr>
              <a:tr h="505968">
                <a:tc>
                  <a:txBody>
                    <a:bodyPr wrap="square"/>
                    <a:lstStyle/>
                    <a:p>
                      <a:r>
                        <a:rPr sz="1100" b="0">
                          <a:solidFill>
                            <a:srgbClr val="4B4B4B"/>
                          </a:solidFill>
                          <a:latin typeface="Arial"/>
                        </a:rPr>
                        <a:t>3</a:t>
                      </a:r>
                    </a:p>
                  </a:txBody>
                  <a:tcPr marL="64008" marR="64008" marT="27432" marB="27432" anchor="ctr">
                    <a:solidFill>
                      <a:srgbClr val="FFFFFF"/>
                    </a:solidFill>
                  </a:tcPr>
                </a:tc>
                <a:tc>
                  <a:txBody>
                    <a:bodyPr wrap="square"/>
                    <a:lstStyle/>
                    <a:p>
                      <a:r>
                        <a:rPr sz="1100" b="1">
                          <a:solidFill>
                            <a:srgbClr val="4B4B4B"/>
                          </a:solidFill>
                          <a:latin typeface="Arial"/>
                        </a:rPr>
                        <a:t>NB-01</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Routing per product type: TSU for non-package only? Package direct to placement?</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05968">
                <a:tc>
                  <a:txBody>
                    <a:bodyPr wrap="square"/>
                    <a:lstStyle/>
                    <a:p>
                      <a:r>
                        <a:rPr sz="1100" b="0">
                          <a:solidFill>
                            <a:srgbClr val="4B4B4B"/>
                          </a:solidFill>
                          <a:latin typeface="Arial"/>
                        </a:rPr>
                        <a:t>4</a:t>
                      </a:r>
                    </a:p>
                  </a:txBody>
                  <a:tcPr marL="64008" marR="64008" marT="27432" marB="27432" anchor="ctr">
                    <a:solidFill>
                      <a:srgbClr val="E5F5FF"/>
                    </a:solidFill>
                  </a:tcPr>
                </a:tc>
                <a:tc>
                  <a:txBody>
                    <a:bodyPr wrap="square"/>
                    <a:lstStyle/>
                    <a:p>
                      <a:r>
                        <a:rPr sz="1100" b="1">
                          <a:solidFill>
                            <a:srgbClr val="4B4B4B"/>
                          </a:solidFill>
                          <a:latin typeface="Arial"/>
                        </a:rPr>
                        <a:t>NB-04</a:t>
                      </a:r>
                    </a:p>
                  </a:txBody>
                  <a:tcPr marL="64008" marR="64008" marT="27432" marB="27432" anchor="ctr">
                    <a:solidFill>
                      <a:srgbClr val="E5F5FF"/>
                    </a:solidFill>
                  </a:tcPr>
                </a:tc>
                <a:tc>
                  <a:txBody>
                    <a:bodyPr wrap="square"/>
                    <a:lstStyle/>
                    <a:p>
                      <a:r>
                        <a:rPr sz="1100" b="0">
                          <a:solidFill>
                            <a:srgbClr val="4B4B4B"/>
                          </a:solidFill>
                          <a:latin typeface="Arial"/>
                        </a:rPr>
                        <a:t>New Business</a:t>
                      </a:r>
                    </a:p>
                  </a:txBody>
                  <a:tcPr marL="64008" marR="64008" marT="27432" marB="27432" anchor="ctr">
                    <a:solidFill>
                      <a:srgbClr val="E5F5FF"/>
                    </a:solidFill>
                  </a:tcPr>
                </a:tc>
                <a:tc>
                  <a:txBody>
                    <a:bodyPr wrap="square"/>
                    <a:lstStyle/>
                    <a:p>
                      <a:r>
                        <a:rPr sz="1100" b="0">
                          <a:solidFill>
                            <a:srgbClr val="4B4B4B"/>
                          </a:solidFill>
                          <a:latin typeface="Arial"/>
                        </a:rPr>
                        <a:t>KYC and AMLA in the system, or outside?</a:t>
                      </a:r>
                    </a:p>
                  </a:txBody>
                  <a:tcPr marL="64008" marR="64008" marT="27432" marB="27432" anchor="ctr">
                    <a:solidFill>
                      <a:srgbClr val="E5F5FF"/>
                    </a:solidFill>
                  </a:tcPr>
                </a:tc>
                <a:tc>
                  <a:txBody>
                    <a:bodyPr wrap="square"/>
                    <a:lstStyle/>
                    <a:p>
                      <a:r>
                        <a:rPr sz="1100" b="0">
                          <a:solidFill>
                            <a:srgbClr val="4B4B4B"/>
                          </a:solidFill>
                          <a:latin typeface="Arial"/>
                        </a:rPr>
                        <a:t>BDOI to confirm</a:t>
                      </a:r>
                    </a:p>
                  </a:txBody>
                  <a:tcPr marL="64008" marR="64008" marT="27432" marB="27432" anchor="ctr">
                    <a:solidFill>
                      <a:srgbClr val="E5F5FF"/>
                    </a:solidFill>
                  </a:tcPr>
                </a:tc>
              </a:tr>
              <a:tr h="505968">
                <a:tc>
                  <a:txBody>
                    <a:bodyPr wrap="square"/>
                    <a:lstStyle/>
                    <a:p>
                      <a:r>
                        <a:rPr sz="1100" b="0">
                          <a:solidFill>
                            <a:srgbClr val="4B4B4B"/>
                          </a:solidFill>
                          <a:latin typeface="Arial"/>
                        </a:rPr>
                        <a:t>5</a:t>
                      </a:r>
                    </a:p>
                  </a:txBody>
                  <a:tcPr marL="64008" marR="64008" marT="27432" marB="27432" anchor="ctr">
                    <a:solidFill>
                      <a:srgbClr val="FFFFFF"/>
                    </a:solidFill>
                  </a:tcPr>
                </a:tc>
                <a:tc>
                  <a:txBody>
                    <a:bodyPr wrap="square"/>
                    <a:lstStyle/>
                    <a:p>
                      <a:r>
                        <a:rPr sz="1100" b="1">
                          <a:solidFill>
                            <a:srgbClr val="4B4B4B"/>
                          </a:solidFill>
                          <a:latin typeface="Arial"/>
                        </a:rPr>
                        <a:t>NB-05</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Basis of the 500M risk-survey threshold (sum insured? PHP?)</a:t>
                      </a:r>
                    </a:p>
                  </a:txBody>
                  <a:tcPr marL="64008" marR="64008" marT="27432" marB="27432" anchor="ctr">
                    <a:solidFill>
                      <a:srgbClr val="FFFFFF"/>
                    </a:solidFill>
                  </a:tcPr>
                </a:tc>
                <a:tc>
                  <a:txBody>
                    <a:bodyPr wrap="square"/>
                    <a:lstStyle/>
                    <a:p>
                      <a:r>
                        <a:rPr sz="1100" b="0">
                          <a:solidFill>
                            <a:srgbClr val="4B4B4B"/>
                          </a:solidFill>
                          <a:latin typeface="Arial"/>
                        </a:rPr>
                        <a:t>BDOI to confirm</a:t>
                      </a:r>
                    </a:p>
                  </a:txBody>
                  <a:tcPr marL="64008" marR="64008" marT="27432" marB="27432" anchor="ctr">
                    <a:solidFill>
                      <a:srgbClr val="FFFFFF"/>
                    </a:solidFill>
                  </a:tcPr>
                </a:tc>
              </a:tr>
              <a:tr h="505968">
                <a:tc>
                  <a:txBody>
                    <a:bodyPr wrap="square"/>
                    <a:lstStyle/>
                    <a:p>
                      <a:r>
                        <a:rPr sz="1100" b="0">
                          <a:solidFill>
                            <a:srgbClr val="4B4B4B"/>
                          </a:solidFill>
                          <a:latin typeface="Arial"/>
                        </a:rPr>
                        <a:t>6</a:t>
                      </a:r>
                    </a:p>
                  </a:txBody>
                  <a:tcPr marL="64008" marR="64008" marT="27432" marB="27432" anchor="ctr">
                    <a:solidFill>
                      <a:srgbClr val="E5F5FF"/>
                    </a:solidFill>
                  </a:tcPr>
                </a:tc>
                <a:tc>
                  <a:txBody>
                    <a:bodyPr wrap="square"/>
                    <a:lstStyle/>
                    <a:p>
                      <a:r>
                        <a:rPr sz="1100" b="1">
                          <a:solidFill>
                            <a:srgbClr val="4B4B4B"/>
                          </a:solidFill>
                          <a:latin typeface="Arial"/>
                        </a:rPr>
                        <a:t>NB-09</a:t>
                      </a:r>
                    </a:p>
                  </a:txBody>
                  <a:tcPr marL="64008" marR="64008" marT="27432" marB="27432" anchor="ctr">
                    <a:solidFill>
                      <a:srgbClr val="E5F5FF"/>
                    </a:solidFill>
                  </a:tcPr>
                </a:tc>
                <a:tc>
                  <a:txBody>
                    <a:bodyPr wrap="square"/>
                    <a:lstStyle/>
                    <a:p>
                      <a:r>
                        <a:rPr sz="1100" b="0">
                          <a:solidFill>
                            <a:srgbClr val="4B4B4B"/>
                          </a:solidFill>
                          <a:latin typeface="Arial"/>
                        </a:rPr>
                        <a:t>New Business</a:t>
                      </a:r>
                    </a:p>
                  </a:txBody>
                  <a:tcPr marL="64008" marR="64008" marT="27432" marB="27432" anchor="ctr">
                    <a:solidFill>
                      <a:srgbClr val="E5F5FF"/>
                    </a:solidFill>
                  </a:tcPr>
                </a:tc>
                <a:tc>
                  <a:txBody>
                    <a:bodyPr wrap="square"/>
                    <a:lstStyle/>
                    <a:p>
                      <a:r>
                        <a:rPr sz="1100" b="0">
                          <a:solidFill>
                            <a:srgbClr val="4B4B4B"/>
                          </a:solidFill>
                          <a:latin typeface="Arial"/>
                        </a:rPr>
                        <a:t>Confirm "ibis" and "qbs" in our notes are EBIX and QPS</a:t>
                      </a:r>
                    </a:p>
                  </a:txBody>
                  <a:tcPr marL="64008" marR="64008" marT="27432" marB="27432" anchor="ctr">
                    <a:solidFill>
                      <a:srgbClr val="E5F5FF"/>
                    </a:solidFill>
                  </a:tcPr>
                </a:tc>
                <a:tc>
                  <a:txBody>
                    <a:bodyPr wrap="square"/>
                    <a:lstStyle/>
                    <a:p>
                      <a:r>
                        <a:rPr sz="1100" b="0">
                          <a:solidFill>
                            <a:srgbClr val="4B4B4B"/>
                          </a:solidFill>
                          <a:latin typeface="Arial"/>
                        </a:rPr>
                        <a:t>Internal</a:t>
                      </a:r>
                    </a:p>
                  </a:txBody>
                  <a:tcPr marL="64008" marR="64008" marT="27432" marB="27432" anchor="ctr">
                    <a:solidFill>
                      <a:srgbClr val="E5F5FF"/>
                    </a:solidFill>
                  </a:tcPr>
                </a:tc>
              </a:tr>
              <a:tr h="505968">
                <a:tc>
                  <a:txBody>
                    <a:bodyPr wrap="square"/>
                    <a:lstStyle/>
                    <a:p>
                      <a:r>
                        <a:rPr sz="1100" b="0">
                          <a:solidFill>
                            <a:srgbClr val="4B4B4B"/>
                          </a:solidFill>
                          <a:latin typeface="Arial"/>
                        </a:rPr>
                        <a:t>7</a:t>
                      </a:r>
                    </a:p>
                  </a:txBody>
                  <a:tcPr marL="64008" marR="64008" marT="27432" marB="27432" anchor="ctr">
                    <a:solidFill>
                      <a:srgbClr val="FFFFFF"/>
                    </a:solidFill>
                  </a:tcPr>
                </a:tc>
                <a:tc>
                  <a:txBody>
                    <a:bodyPr wrap="square"/>
                    <a:lstStyle/>
                    <a:p>
                      <a:r>
                        <a:rPr sz="1100" b="1">
                          <a:solidFill>
                            <a:srgbClr val="4B4B4B"/>
                          </a:solidFill>
                          <a:latin typeface="Arial"/>
                        </a:rPr>
                        <a:t>NB-14</a:t>
                      </a:r>
                    </a:p>
                  </a:txBody>
                  <a:tcPr marL="64008" marR="64008" marT="27432" marB="27432" anchor="ctr">
                    <a:solidFill>
                      <a:srgbClr val="FFFFFF"/>
                    </a:solidFill>
                  </a:tcPr>
                </a:tc>
                <a:tc>
                  <a:txBody>
                    <a:bodyPr wrap="square"/>
                    <a:lstStyle/>
                    <a:p>
                      <a:r>
                        <a:rPr sz="1100" b="0">
                          <a:solidFill>
                            <a:srgbClr val="4B4B4B"/>
                          </a:solidFill>
                          <a:latin typeface="Arial"/>
                        </a:rPr>
                        <a:t>New Business</a:t>
                      </a:r>
                    </a:p>
                  </a:txBody>
                  <a:tcPr marL="64008" marR="64008" marT="27432" marB="27432" anchor="ctr">
                    <a:solidFill>
                      <a:srgbClr val="FFFFFF"/>
                    </a:solidFill>
                  </a:tcPr>
                </a:tc>
                <a:tc>
                  <a:txBody>
                    <a:bodyPr wrap="square"/>
                    <a:lstStyle/>
                    <a:p>
                      <a:r>
                        <a:rPr sz="1100" b="0">
                          <a:solidFill>
                            <a:srgbClr val="4B4B4B"/>
                          </a:solidFill>
                          <a:latin typeface="Arial"/>
                        </a:rPr>
                        <a:t>Commission on the free first-year premium</a:t>
                      </a:r>
                    </a:p>
                  </a:txBody>
                  <a:tcPr marL="64008" marR="64008" marT="27432" marB="27432" anchor="ctr">
                    <a:solidFill>
                      <a:srgbClr val="FFFFFF"/>
                    </a:solidFill>
                  </a:tcPr>
                </a:tc>
                <a:tc>
                  <a:txBody>
                    <a:bodyPr wrap="square"/>
                    <a:lstStyle/>
                    <a:p>
                      <a:r>
                        <a:rPr sz="1100" b="0">
                          <a:solidFill>
                            <a:srgbClr val="4B4B4B"/>
                          </a:solidFill>
                          <a:latin typeface="Arial"/>
                        </a:rPr>
                        <a:t>Floor walk (Cashiering)</a:t>
                      </a:r>
                    </a:p>
                  </a:txBody>
                  <a:tcPr marL="64008" marR="64008" marT="27432" marB="27432" anchor="ctr">
                    <a:solidFill>
                      <a:srgbClr val="FFFFFF"/>
                    </a:solidFill>
                  </a:tcPr>
                </a:tc>
              </a:tr>
              <a:tr h="505968">
                <a:tc>
                  <a:txBody>
                    <a:bodyPr wrap="square"/>
                    <a:lstStyle/>
                    <a:p>
                      <a:r>
                        <a:rPr sz="1100" b="0">
                          <a:solidFill>
                            <a:srgbClr val="4B4B4B"/>
                          </a:solidFill>
                          <a:latin typeface="Arial"/>
                        </a:rPr>
                        <a:t>8</a:t>
                      </a:r>
                    </a:p>
                  </a:txBody>
                  <a:tcPr marL="64008" marR="64008" marT="27432" marB="27432" anchor="ctr">
                    <a:solidFill>
                      <a:srgbClr val="E5F5FF"/>
                    </a:solidFill>
                  </a:tcPr>
                </a:tc>
                <a:tc>
                  <a:txBody>
                    <a:bodyPr wrap="square"/>
                    <a:lstStyle/>
                    <a:p>
                      <a:r>
                        <a:rPr sz="1100" b="1">
                          <a:solidFill>
                            <a:srgbClr val="4B4B4B"/>
                          </a:solidFill>
                          <a:latin typeface="Arial"/>
                        </a:rPr>
                        <a:t>NB-15</a:t>
                      </a:r>
                    </a:p>
                  </a:txBody>
                  <a:tcPr marL="64008" marR="64008" marT="27432" marB="27432" anchor="ctr">
                    <a:solidFill>
                      <a:srgbClr val="E5F5FF"/>
                    </a:solidFill>
                  </a:tcPr>
                </a:tc>
                <a:tc>
                  <a:txBody>
                    <a:bodyPr wrap="square"/>
                    <a:lstStyle/>
                    <a:p>
                      <a:r>
                        <a:rPr sz="1100" b="0">
                          <a:solidFill>
                            <a:srgbClr val="4B4B4B"/>
                          </a:solidFill>
                          <a:latin typeface="Arial"/>
                        </a:rPr>
                        <a:t>New Business, Renewal</a:t>
                      </a:r>
                    </a:p>
                  </a:txBody>
                  <a:tcPr marL="64008" marR="64008" marT="27432" marB="27432" anchor="ctr">
                    <a:solidFill>
                      <a:srgbClr val="E5F5FF"/>
                    </a:solidFill>
                  </a:tcPr>
                </a:tc>
                <a:tc>
                  <a:txBody>
                    <a:bodyPr wrap="square"/>
                    <a:lstStyle/>
                    <a:p>
                      <a:r>
                        <a:rPr sz="1100" b="0">
                          <a:solidFill>
                            <a:srgbClr val="4B4B4B"/>
                          </a:solidFill>
                          <a:latin typeface="Arial"/>
                        </a:rPr>
                        <a:t>Non-CBG bank-referred clients at renewal</a:t>
                      </a:r>
                    </a:p>
                  </a:txBody>
                  <a:tcPr marL="64008" marR="64008" marT="27432" marB="27432" anchor="ctr">
                    <a:solidFill>
                      <a:srgbClr val="E5F5FF"/>
                    </a:solidFill>
                  </a:tcPr>
                </a:tc>
                <a:tc>
                  <a:txBody>
                    <a:bodyPr wrap="square"/>
                    <a:lstStyle/>
                    <a:p>
                      <a:r>
                        <a:rPr sz="1100" b="0">
                          <a:solidFill>
                            <a:srgbClr val="4B4B4B"/>
                          </a:solidFill>
                          <a:latin typeface="Arial"/>
                        </a:rPr>
                        <a:t>Floor walk (Renewal)</a:t>
                      </a:r>
                    </a:p>
                  </a:txBody>
                  <a:tcPr marL="64008" marR="64008" marT="27432" marB="27432" anchor="ctr">
                    <a:solidFill>
                      <a:srgbClr val="E5F5FF"/>
                    </a:solidFill>
                  </a:tcPr>
                </a:tc>
              </a:tr>
              <a:tr h="505968">
                <a:tc>
                  <a:txBody>
                    <a:bodyPr wrap="square"/>
                    <a:lstStyle/>
                    <a:p>
                      <a:r>
                        <a:rPr sz="1100" b="0">
                          <a:solidFill>
                            <a:srgbClr val="4B4B4B"/>
                          </a:solidFill>
                          <a:latin typeface="Arial"/>
                        </a:rPr>
                        <a:t>9</a:t>
                      </a:r>
                    </a:p>
                  </a:txBody>
                  <a:tcPr marL="64008" marR="64008" marT="27432" marB="27432" anchor="ctr">
                    <a:solidFill>
                      <a:srgbClr val="FFFFFF"/>
                    </a:solidFill>
                  </a:tcPr>
                </a:tc>
                <a:tc>
                  <a:txBody>
                    <a:bodyPr wrap="square"/>
                    <a:lstStyle/>
                    <a:p>
                      <a:r>
                        <a:rPr sz="1100" b="1">
                          <a:solidFill>
                            <a:srgbClr val="4B4B4B"/>
                          </a:solidFill>
                          <a:latin typeface="Arial"/>
                        </a:rPr>
                        <a:t>EN-02</a:t>
                      </a:r>
                    </a:p>
                  </a:txBody>
                  <a:tcPr marL="64008" marR="64008" marT="27432" marB="27432" anchor="ctr">
                    <a:solidFill>
                      <a:srgbClr val="FFFFFF"/>
                    </a:solidFill>
                  </a:tcPr>
                </a:tc>
                <a:tc>
                  <a:txBody>
                    <a:bodyPr wrap="square"/>
                    <a:lstStyle/>
                    <a:p>
                      <a:r>
                        <a:rPr sz="1100" b="0">
                          <a:solidFill>
                            <a:srgbClr val="4B4B4B"/>
                          </a:solidFill>
                          <a:latin typeface="Arial"/>
                        </a:rPr>
                        <a:t>Operations</a:t>
                      </a:r>
                    </a:p>
                  </a:txBody>
                  <a:tcPr marL="64008" marR="64008" marT="27432" marB="27432" anchor="ctr">
                    <a:solidFill>
                      <a:srgbClr val="FFFFFF"/>
                    </a:solidFill>
                  </a:tcPr>
                </a:tc>
                <a:tc>
                  <a:txBody>
                    <a:bodyPr wrap="square"/>
                    <a:lstStyle/>
                    <a:p>
                      <a:r>
                        <a:rPr sz="1100" b="0">
                          <a:solidFill>
                            <a:srgbClr val="4B4B4B"/>
                          </a:solidFill>
                          <a:latin typeface="Arial"/>
                        </a:rPr>
                        <a:t>Tax treatment on cancellation refunds</a:t>
                      </a:r>
                    </a:p>
                  </a:txBody>
                  <a:tcPr marL="64008" marR="64008" marT="27432" marB="27432" anchor="ctr">
                    <a:solidFill>
                      <a:srgbClr val="FFFFFF"/>
                    </a:solidFill>
                  </a:tcPr>
                </a:tc>
                <a:tc>
                  <a:txBody>
                    <a:bodyPr wrap="square"/>
                    <a:lstStyle/>
                    <a:p>
                      <a:r>
                        <a:rPr sz="1100" b="0">
                          <a:solidFill>
                            <a:srgbClr val="4B4B4B"/>
                          </a:solidFill>
                          <a:latin typeface="Arial"/>
                        </a:rPr>
                        <a:t>Follow-up session</a:t>
                      </a:r>
                    </a:p>
                  </a:txBody>
                  <a:tcPr marL="64008" marR="64008" marT="27432" marB="27432" anchor="ctr">
                    <a:solidFill>
                      <a:srgbClr val="FFFFFF"/>
                    </a:solidFill>
                  </a:tcPr>
                </a:tc>
              </a:tr>
            </a:tbl>
          </a:graphicData>
        </a:graphic>
      </p:graphicFrame>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14. Open points for BDOI to confirm (2/2)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graphicFrame>
        <p:nvGraphicFramePr>
          <p:cNvPr id="9" name="Table 8"/>
          <p:cNvGraphicFramePr>
            <a:graphicFrameLocks noGrp="1"/>
          </p:cNvGraphicFramePr>
          <p:nvPr/>
        </p:nvGraphicFramePr>
        <p:xfrm>
          <a:off x="548640" y="1280160"/>
          <a:ext cx="11094412" cy="4919472"/>
        </p:xfrm>
        <a:graphic>
          <a:graphicData uri="http://schemas.openxmlformats.org/drawingml/2006/table">
            <a:tbl>
              <a:tblPr firstRow="1" bandRow="1">
                <a:tableStyleId>{5C22544A-7EE6-4342-B048-85BDC9FD1C3A}</a:tableStyleId>
              </a:tblPr>
              <a:tblGrid>
                <a:gridCol w="447355"/>
                <a:gridCol w="1073653"/>
                <a:gridCol w="1968363"/>
                <a:gridCol w="5726149"/>
                <a:gridCol w="1878892"/>
              </a:tblGrid>
              <a:tr h="365760">
                <a:tc>
                  <a:txBody>
                    <a:bodyPr wrap="square"/>
                    <a:lstStyle/>
                    <a:p>
                      <a:r>
                        <a:rPr sz="1100" b="1">
                          <a:solidFill>
                            <a:srgbClr val="FFFFFF"/>
                          </a:solidFill>
                          <a:latin typeface="Arial"/>
                        </a:rPr>
                        <a:t>#</a:t>
                      </a:r>
                    </a:p>
                  </a:txBody>
                  <a:tcPr marL="64008" marR="64008" marT="27432" marB="27432" anchor="ctr">
                    <a:solidFill>
                      <a:srgbClr val="004EA8"/>
                    </a:solidFill>
                  </a:tcPr>
                </a:tc>
                <a:tc>
                  <a:txBody>
                    <a:bodyPr wrap="square"/>
                    <a:lstStyle/>
                    <a:p>
                      <a:r>
                        <a:rPr sz="1100" b="1">
                          <a:solidFill>
                            <a:srgbClr val="FFFFFF"/>
                          </a:solidFill>
                          <a:latin typeface="Arial"/>
                        </a:rPr>
                        <a:t>Ref</a:t>
                      </a:r>
                    </a:p>
                  </a:txBody>
                  <a:tcPr marL="64008" marR="64008" marT="27432" marB="27432" anchor="ctr">
                    <a:solidFill>
                      <a:srgbClr val="004EA8"/>
                    </a:solidFill>
                  </a:tcPr>
                </a:tc>
                <a:tc>
                  <a:txBody>
                    <a:bodyPr wrap="square"/>
                    <a:lstStyle/>
                    <a:p>
                      <a:r>
                        <a:rPr sz="1100" b="1">
                          <a:solidFill>
                            <a:srgbClr val="FFFFFF"/>
                          </a:solidFill>
                          <a:latin typeface="Arial"/>
                        </a:rPr>
                        <a:t>Area</a:t>
                      </a:r>
                    </a:p>
                  </a:txBody>
                  <a:tcPr marL="64008" marR="64008" marT="27432" marB="27432" anchor="ctr">
                    <a:solidFill>
                      <a:srgbClr val="004EA8"/>
                    </a:solidFill>
                  </a:tcPr>
                </a:tc>
                <a:tc>
                  <a:txBody>
                    <a:bodyPr wrap="square"/>
                    <a:lstStyle/>
                    <a:p>
                      <a:r>
                        <a:rPr sz="1100" b="1">
                          <a:solidFill>
                            <a:srgbClr val="FFFFFF"/>
                          </a:solidFill>
                          <a:latin typeface="Arial"/>
                        </a:rPr>
                        <a:t>Open point</a:t>
                      </a:r>
                    </a:p>
                  </a:txBody>
                  <a:tcPr marL="64008" marR="64008" marT="27432" marB="27432" anchor="ctr">
                    <a:solidFill>
                      <a:srgbClr val="004EA8"/>
                    </a:solidFill>
                  </a:tcPr>
                </a:tc>
                <a:tc>
                  <a:txBody>
                    <a:bodyPr wrap="square"/>
                    <a:lstStyle/>
                    <a:p>
                      <a:r>
                        <a:rPr sz="1100" b="1">
                          <a:solidFill>
                            <a:srgbClr val="FFFFFF"/>
                          </a:solidFill>
                          <a:latin typeface="Arial"/>
                        </a:rPr>
                        <a:t>Where it closes</a:t>
                      </a:r>
                    </a:p>
                  </a:txBody>
                  <a:tcPr marL="64008" marR="64008" marT="27432" marB="27432" anchor="ctr">
                    <a:solidFill>
                      <a:srgbClr val="004EA8"/>
                    </a:solidFill>
                  </a:tcPr>
                </a:tc>
              </a:tr>
              <a:tr h="569214">
                <a:tc>
                  <a:txBody>
                    <a:bodyPr wrap="square"/>
                    <a:lstStyle/>
                    <a:p>
                      <a:r>
                        <a:rPr sz="1100" b="0">
                          <a:solidFill>
                            <a:srgbClr val="4B4B4B"/>
                          </a:solidFill>
                          <a:latin typeface="Arial"/>
                        </a:rPr>
                        <a:t>10</a:t>
                      </a:r>
                    </a:p>
                  </a:txBody>
                  <a:tcPr marL="64008" marR="64008" marT="27432" marB="27432" anchor="ctr">
                    <a:solidFill>
                      <a:srgbClr val="FFFFFF"/>
                    </a:solidFill>
                  </a:tcPr>
                </a:tc>
                <a:tc>
                  <a:txBody>
                    <a:bodyPr wrap="square"/>
                    <a:lstStyle/>
                    <a:p>
                      <a:r>
                        <a:rPr sz="1100" b="1">
                          <a:solidFill>
                            <a:srgbClr val="4B4B4B"/>
                          </a:solidFill>
                          <a:latin typeface="Arial"/>
                        </a:rPr>
                        <a:t>TR-02</a:t>
                      </a:r>
                    </a:p>
                  </a:txBody>
                  <a:tcPr marL="64008" marR="64008" marT="27432" marB="27432" anchor="ctr">
                    <a:solidFill>
                      <a:srgbClr val="FFFFFF"/>
                    </a:solidFill>
                  </a:tcPr>
                </a:tc>
                <a:tc>
                  <a:txBody>
                    <a:bodyPr wrap="square"/>
                    <a:lstStyle/>
                    <a:p>
                      <a:r>
                        <a:rPr sz="1100" b="0">
                          <a:solidFill>
                            <a:srgbClr val="4B4B4B"/>
                          </a:solidFill>
                          <a:latin typeface="Arial"/>
                        </a:rPr>
                        <a:t>Trade, Marine</a:t>
                      </a:r>
                    </a:p>
                  </a:txBody>
                  <a:tcPr marL="64008" marR="64008" marT="27432" marB="27432" anchor="ctr">
                    <a:solidFill>
                      <a:srgbClr val="FFFFFF"/>
                    </a:solidFill>
                  </a:tcPr>
                </a:tc>
                <a:tc>
                  <a:txBody>
                    <a:bodyPr wrap="square"/>
                    <a:lstStyle/>
                    <a:p>
                      <a:r>
                        <a:rPr sz="1100" b="0">
                          <a:solidFill>
                            <a:srgbClr val="4B4B4B"/>
                          </a:solidFill>
                          <a:latin typeface="Arial"/>
                        </a:rPr>
                        <a:t>Marine accumulation by location</a:t>
                      </a:r>
                    </a:p>
                  </a:txBody>
                  <a:tcPr marL="64008" marR="64008" marT="27432" marB="27432" anchor="ctr">
                    <a:solidFill>
                      <a:srgbClr val="FFFFFF"/>
                    </a:solidFill>
                  </a:tcPr>
                </a:tc>
                <a:tc>
                  <a:txBody>
                    <a:bodyPr wrap="square"/>
                    <a:lstStyle/>
                    <a:p>
                      <a:r>
                        <a:rPr sz="1100" b="0">
                          <a:solidFill>
                            <a:srgbClr val="4B4B4B"/>
                          </a:solidFill>
                          <a:latin typeface="Arial"/>
                        </a:rPr>
                        <a:t>Follow-up session</a:t>
                      </a:r>
                    </a:p>
                  </a:txBody>
                  <a:tcPr marL="64008" marR="64008" marT="27432" marB="27432" anchor="ctr">
                    <a:solidFill>
                      <a:srgbClr val="FFFFFF"/>
                    </a:solidFill>
                  </a:tcPr>
                </a:tc>
              </a:tr>
              <a:tr h="569214">
                <a:tc>
                  <a:txBody>
                    <a:bodyPr wrap="square"/>
                    <a:lstStyle/>
                    <a:p>
                      <a:r>
                        <a:rPr sz="1100" b="0">
                          <a:solidFill>
                            <a:srgbClr val="4B4B4B"/>
                          </a:solidFill>
                          <a:latin typeface="Arial"/>
                        </a:rPr>
                        <a:t>11</a:t>
                      </a:r>
                    </a:p>
                  </a:txBody>
                  <a:tcPr marL="64008" marR="64008" marT="27432" marB="27432" anchor="ctr">
                    <a:solidFill>
                      <a:srgbClr val="E5F5FF"/>
                    </a:solidFill>
                  </a:tcPr>
                </a:tc>
                <a:tc>
                  <a:txBody>
                    <a:bodyPr wrap="square"/>
                    <a:lstStyle/>
                    <a:p>
                      <a:r>
                        <a:rPr sz="1100" b="1">
                          <a:solidFill>
                            <a:srgbClr val="4B4B4B"/>
                          </a:solidFill>
                          <a:latin typeface="Arial"/>
                        </a:rPr>
                        <a:t>CA-03</a:t>
                      </a:r>
                    </a:p>
                  </a:txBody>
                  <a:tcPr marL="64008" marR="64008" marT="27432" marB="27432" anchor="ctr">
                    <a:solidFill>
                      <a:srgbClr val="E5F5FF"/>
                    </a:solidFill>
                  </a:tcPr>
                </a:tc>
                <a:tc>
                  <a:txBody>
                    <a:bodyPr wrap="square"/>
                    <a:lstStyle/>
                    <a:p>
                      <a:r>
                        <a:rPr sz="1100" b="0">
                          <a:solidFill>
                            <a:srgbClr val="4B4B4B"/>
                          </a:solidFill>
                          <a:latin typeface="Arial"/>
                        </a:rPr>
                        <a:t>Cashiering</a:t>
                      </a:r>
                    </a:p>
                  </a:txBody>
                  <a:tcPr marL="64008" marR="64008" marT="27432" marB="27432" anchor="ctr">
                    <a:solidFill>
                      <a:srgbClr val="E5F5FF"/>
                    </a:solidFill>
                  </a:tcPr>
                </a:tc>
                <a:tc>
                  <a:txBody>
                    <a:bodyPr wrap="square"/>
                    <a:lstStyle/>
                    <a:p>
                      <a:r>
                        <a:rPr sz="1100" b="0">
                          <a:solidFill>
                            <a:srgbClr val="4B4B4B"/>
                          </a:solidFill>
                          <a:latin typeface="Arial"/>
                        </a:rPr>
                        <a:t>Payment received on a direct-pay policy: allow a change of the DP tag?</a:t>
                      </a:r>
                    </a:p>
                  </a:txBody>
                  <a:tcPr marL="64008" marR="64008" marT="27432" marB="27432" anchor="ctr">
                    <a:solidFill>
                      <a:srgbClr val="E5F5FF"/>
                    </a:solidFill>
                  </a:tcPr>
                </a:tc>
                <a:tc>
                  <a:txBody>
                    <a:bodyPr wrap="square"/>
                    <a:lstStyle/>
                    <a:p>
                      <a:r>
                        <a:rPr sz="1100" b="0">
                          <a:solidFill>
                            <a:srgbClr val="4B4B4B"/>
                          </a:solidFill>
                          <a:latin typeface="Arial"/>
                        </a:rPr>
                        <a:t>Floor walk</a:t>
                      </a:r>
                    </a:p>
                  </a:txBody>
                  <a:tcPr marL="64008" marR="64008" marT="27432" marB="27432" anchor="ctr">
                    <a:solidFill>
                      <a:srgbClr val="E5F5FF"/>
                    </a:solidFill>
                  </a:tcPr>
                </a:tc>
              </a:tr>
              <a:tr h="569214">
                <a:tc>
                  <a:txBody>
                    <a:bodyPr wrap="square"/>
                    <a:lstStyle/>
                    <a:p>
                      <a:r>
                        <a:rPr sz="1100" b="0">
                          <a:solidFill>
                            <a:srgbClr val="4B4B4B"/>
                          </a:solidFill>
                          <a:latin typeface="Arial"/>
                        </a:rPr>
                        <a:t>12</a:t>
                      </a:r>
                    </a:p>
                  </a:txBody>
                  <a:tcPr marL="64008" marR="64008" marT="27432" marB="27432" anchor="ctr">
                    <a:solidFill>
                      <a:srgbClr val="FFFFFF"/>
                    </a:solidFill>
                  </a:tcPr>
                </a:tc>
                <a:tc>
                  <a:txBody>
                    <a:bodyPr wrap="square"/>
                    <a:lstStyle/>
                    <a:p>
                      <a:r>
                        <a:rPr sz="1100" b="1">
                          <a:solidFill>
                            <a:srgbClr val="4B4B4B"/>
                          </a:solidFill>
                          <a:latin typeface="Arial"/>
                        </a:rPr>
                        <a:t>CA-05</a:t>
                      </a:r>
                    </a:p>
                  </a:txBody>
                  <a:tcPr marL="64008" marR="64008" marT="27432" marB="27432" anchor="ctr">
                    <a:solidFill>
                      <a:srgbClr val="FFFFFF"/>
                    </a:solidFill>
                  </a:tcPr>
                </a:tc>
                <a:tc>
                  <a:txBody>
                    <a:bodyPr wrap="square"/>
                    <a:lstStyle/>
                    <a:p>
                      <a:r>
                        <a:rPr sz="1100" b="0">
                          <a:solidFill>
                            <a:srgbClr val="4B4B4B"/>
                          </a:solidFill>
                          <a:latin typeface="Arial"/>
                        </a:rPr>
                        <a:t>Cashiering</a:t>
                      </a:r>
                    </a:p>
                  </a:txBody>
                  <a:tcPr marL="64008" marR="64008" marT="27432" marB="27432" anchor="ctr">
                    <a:solidFill>
                      <a:srgbClr val="FFFFFF"/>
                    </a:solidFill>
                  </a:tcPr>
                </a:tc>
                <a:tc>
                  <a:txBody>
                    <a:bodyPr wrap="square"/>
                    <a:lstStyle/>
                    <a:p>
                      <a:r>
                        <a:rPr sz="1100" b="0">
                          <a:solidFill>
                            <a:srgbClr val="4B4B4B"/>
                          </a:solidFill>
                          <a:latin typeface="Arial"/>
                        </a:rPr>
                        <a:t>Walk through the bulk payment (~2,000 records)</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69214">
                <a:tc>
                  <a:txBody>
                    <a:bodyPr wrap="square"/>
                    <a:lstStyle/>
                    <a:p>
                      <a:r>
                        <a:rPr sz="1100" b="0">
                          <a:solidFill>
                            <a:srgbClr val="4B4B4B"/>
                          </a:solidFill>
                          <a:latin typeface="Arial"/>
                        </a:rPr>
                        <a:t>13</a:t>
                      </a:r>
                    </a:p>
                  </a:txBody>
                  <a:tcPr marL="64008" marR="64008" marT="27432" marB="27432" anchor="ctr">
                    <a:solidFill>
                      <a:srgbClr val="E5F5FF"/>
                    </a:solidFill>
                  </a:tcPr>
                </a:tc>
                <a:tc>
                  <a:txBody>
                    <a:bodyPr wrap="square"/>
                    <a:lstStyle/>
                    <a:p>
                      <a:r>
                        <a:rPr sz="1100" b="1">
                          <a:solidFill>
                            <a:srgbClr val="4B4B4B"/>
                          </a:solidFill>
                          <a:latin typeface="Arial"/>
                        </a:rPr>
                        <a:t>CO-03</a:t>
                      </a:r>
                    </a:p>
                  </a:txBody>
                  <a:tcPr marL="64008" marR="64008" marT="27432" marB="27432" anchor="ctr">
                    <a:solidFill>
                      <a:srgbClr val="E5F5FF"/>
                    </a:solidFill>
                  </a:tcPr>
                </a:tc>
                <a:tc>
                  <a:txBody>
                    <a:bodyPr wrap="square"/>
                    <a:lstStyle/>
                    <a:p>
                      <a:r>
                        <a:rPr sz="1100" b="0">
                          <a:solidFill>
                            <a:srgbClr val="4B4B4B"/>
                          </a:solidFill>
                          <a:latin typeface="Arial"/>
                        </a:rPr>
                        <a:t>Collections</a:t>
                      </a:r>
                    </a:p>
                  </a:txBody>
                  <a:tcPr marL="64008" marR="64008" marT="27432" marB="27432" anchor="ctr">
                    <a:solidFill>
                      <a:srgbClr val="E5F5FF"/>
                    </a:solidFill>
                  </a:tcPr>
                </a:tc>
                <a:tc>
                  <a:txBody>
                    <a:bodyPr wrap="square"/>
                    <a:lstStyle/>
                    <a:p>
                      <a:r>
                        <a:rPr sz="1100" b="0">
                          <a:solidFill>
                            <a:srgbClr val="4B4B4B"/>
                          </a:solidFill>
                          <a:latin typeface="Arial"/>
                        </a:rPr>
                        <a:t>Credit policy</a:t>
                      </a:r>
                    </a:p>
                  </a:txBody>
                  <a:tcPr marL="64008" marR="64008" marT="27432" marB="27432" anchor="ctr">
                    <a:solidFill>
                      <a:srgbClr val="E5F5FF"/>
                    </a:solidFill>
                  </a:tcPr>
                </a:tc>
                <a:tc>
                  <a:txBody>
                    <a:bodyPr wrap="square"/>
                    <a:lstStyle/>
                    <a:p>
                      <a:r>
                        <a:rPr sz="1100" b="0">
                          <a:solidFill>
                            <a:srgbClr val="4B4B4B"/>
                          </a:solidFill>
                          <a:latin typeface="Arial"/>
                        </a:rPr>
                        <a:t>BDOI to confirm</a:t>
                      </a:r>
                    </a:p>
                  </a:txBody>
                  <a:tcPr marL="64008" marR="64008" marT="27432" marB="27432" anchor="ctr">
                    <a:solidFill>
                      <a:srgbClr val="E5F5FF"/>
                    </a:solidFill>
                  </a:tcPr>
                </a:tc>
              </a:tr>
              <a:tr h="569214">
                <a:tc>
                  <a:txBody>
                    <a:bodyPr wrap="square"/>
                    <a:lstStyle/>
                    <a:p>
                      <a:r>
                        <a:rPr sz="1100" b="0">
                          <a:solidFill>
                            <a:srgbClr val="4B4B4B"/>
                          </a:solidFill>
                          <a:latin typeface="Arial"/>
                        </a:rPr>
                        <a:t>14</a:t>
                      </a:r>
                    </a:p>
                  </a:txBody>
                  <a:tcPr marL="64008" marR="64008" marT="27432" marB="27432" anchor="ctr">
                    <a:solidFill>
                      <a:srgbClr val="FFFFFF"/>
                    </a:solidFill>
                  </a:tcPr>
                </a:tc>
                <a:tc>
                  <a:txBody>
                    <a:bodyPr wrap="square"/>
                    <a:lstStyle/>
                    <a:p>
                      <a:r>
                        <a:rPr sz="1100" b="1">
                          <a:solidFill>
                            <a:srgbClr val="4B4B4B"/>
                          </a:solidFill>
                          <a:latin typeface="Arial"/>
                        </a:rPr>
                        <a:t>IC-01</a:t>
                      </a:r>
                    </a:p>
                  </a:txBody>
                  <a:tcPr marL="64008" marR="64008" marT="27432" marB="27432" anchor="ctr">
                    <a:solidFill>
                      <a:srgbClr val="FFFFFF"/>
                    </a:solidFill>
                  </a:tcPr>
                </a:tc>
                <a:tc>
                  <a:txBody>
                    <a:bodyPr wrap="square"/>
                    <a:lstStyle/>
                    <a:p>
                      <a:r>
                        <a:rPr sz="1100" b="0">
                          <a:solidFill>
                            <a:srgbClr val="4B4B4B"/>
                          </a:solidFill>
                          <a:latin typeface="Arial"/>
                        </a:rPr>
                        <a:t>Incentives</a:t>
                      </a:r>
                    </a:p>
                  </a:txBody>
                  <a:tcPr marL="64008" marR="64008" marT="27432" marB="27432" anchor="ctr">
                    <a:solidFill>
                      <a:srgbClr val="FFFFFF"/>
                    </a:solidFill>
                  </a:tcPr>
                </a:tc>
                <a:tc>
                  <a:txBody>
                    <a:bodyPr wrap="square"/>
                    <a:lstStyle/>
                    <a:p>
                      <a:r>
                        <a:rPr sz="1100" b="0">
                          <a:solidFill>
                            <a:srgbClr val="4B4B4B"/>
                          </a:solidFill>
                          <a:latin typeface="Arial"/>
                        </a:rPr>
                        <a:t>Early-remittance incentive by insurer</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69214">
                <a:tc>
                  <a:txBody>
                    <a:bodyPr wrap="square"/>
                    <a:lstStyle/>
                    <a:p>
                      <a:r>
                        <a:rPr sz="1100" b="0">
                          <a:solidFill>
                            <a:srgbClr val="4B4B4B"/>
                          </a:solidFill>
                          <a:latin typeface="Arial"/>
                        </a:rPr>
                        <a:t>15</a:t>
                      </a:r>
                    </a:p>
                  </a:txBody>
                  <a:tcPr marL="64008" marR="64008" marT="27432" marB="27432" anchor="ctr">
                    <a:solidFill>
                      <a:srgbClr val="E5F5FF"/>
                    </a:solidFill>
                  </a:tcPr>
                </a:tc>
                <a:tc>
                  <a:txBody>
                    <a:bodyPr wrap="square"/>
                    <a:lstStyle/>
                    <a:p>
                      <a:r>
                        <a:rPr sz="1100" b="1">
                          <a:solidFill>
                            <a:srgbClr val="4B4B4B"/>
                          </a:solidFill>
                          <a:latin typeface="Arial"/>
                        </a:rPr>
                        <a:t>TX-02</a:t>
                      </a:r>
                    </a:p>
                  </a:txBody>
                  <a:tcPr marL="64008" marR="64008" marT="27432" marB="27432" anchor="ctr">
                    <a:solidFill>
                      <a:srgbClr val="E5F5FF"/>
                    </a:solidFill>
                  </a:tcPr>
                </a:tc>
                <a:tc>
                  <a:txBody>
                    <a:bodyPr wrap="square"/>
                    <a:lstStyle/>
                    <a:p>
                      <a:r>
                        <a:rPr sz="1100" b="0">
                          <a:solidFill>
                            <a:srgbClr val="4B4B4B"/>
                          </a:solidFill>
                          <a:latin typeface="Arial"/>
                        </a:rPr>
                        <a:t>Tax</a:t>
                      </a:r>
                    </a:p>
                  </a:txBody>
                  <a:tcPr marL="64008" marR="64008" marT="27432" marB="27432" anchor="ctr">
                    <a:solidFill>
                      <a:srgbClr val="E5F5FF"/>
                    </a:solidFill>
                  </a:tcPr>
                </a:tc>
                <a:tc>
                  <a:txBody>
                    <a:bodyPr wrap="square"/>
                    <a:lstStyle/>
                    <a:p>
                      <a:r>
                        <a:rPr sz="1100" b="0">
                          <a:solidFill>
                            <a:srgbClr val="4B4B4B"/>
                          </a:solidFill>
                          <a:latin typeface="Arial"/>
                        </a:rPr>
                        <a:t>DPPR / PR2307 reversal and knock-off process</a:t>
                      </a:r>
                    </a:p>
                  </a:txBody>
                  <a:tcPr marL="64008" marR="64008" marT="27432" marB="27432" anchor="ctr">
                    <a:solidFill>
                      <a:srgbClr val="E5F5FF"/>
                    </a:solidFill>
                  </a:tcPr>
                </a:tc>
                <a:tc>
                  <a:txBody>
                    <a:bodyPr wrap="square"/>
                    <a:lstStyle/>
                    <a:p>
                      <a:r>
                        <a:rPr sz="1100" b="0">
                          <a:solidFill>
                            <a:srgbClr val="4B4B4B"/>
                          </a:solidFill>
                          <a:latin typeface="Arial"/>
                        </a:rPr>
                        <a:t>Floor walk</a:t>
                      </a:r>
                    </a:p>
                  </a:txBody>
                  <a:tcPr marL="64008" marR="64008" marT="27432" marB="27432" anchor="ctr">
                    <a:solidFill>
                      <a:srgbClr val="E5F5FF"/>
                    </a:solidFill>
                  </a:tcPr>
                </a:tc>
              </a:tr>
              <a:tr h="569214">
                <a:tc>
                  <a:txBody>
                    <a:bodyPr wrap="square"/>
                    <a:lstStyle/>
                    <a:p>
                      <a:r>
                        <a:rPr sz="1100" b="0">
                          <a:solidFill>
                            <a:srgbClr val="4B4B4B"/>
                          </a:solidFill>
                          <a:latin typeface="Arial"/>
                        </a:rPr>
                        <a:t>16</a:t>
                      </a:r>
                    </a:p>
                  </a:txBody>
                  <a:tcPr marL="64008" marR="64008" marT="27432" marB="27432" anchor="ctr">
                    <a:solidFill>
                      <a:srgbClr val="FFFFFF"/>
                    </a:solidFill>
                  </a:tcPr>
                </a:tc>
                <a:tc>
                  <a:txBody>
                    <a:bodyPr wrap="square"/>
                    <a:lstStyle/>
                    <a:p>
                      <a:r>
                        <a:rPr sz="1100" b="1">
                          <a:solidFill>
                            <a:srgbClr val="4B4B4B"/>
                          </a:solidFill>
                          <a:latin typeface="Arial"/>
                        </a:rPr>
                        <a:t>RC-01</a:t>
                      </a:r>
                    </a:p>
                  </a:txBody>
                  <a:tcPr marL="64008" marR="64008" marT="27432" marB="27432" anchor="ctr">
                    <a:solidFill>
                      <a:srgbClr val="FFFFFF"/>
                    </a:solidFill>
                  </a:tcPr>
                </a:tc>
                <a:tc>
                  <a:txBody>
                    <a:bodyPr wrap="square"/>
                    <a:lstStyle/>
                    <a:p>
                      <a:r>
                        <a:rPr sz="1100" b="0">
                          <a:solidFill>
                            <a:srgbClr val="4B4B4B"/>
                          </a:solidFill>
                          <a:latin typeface="Arial"/>
                        </a:rPr>
                        <a:t>Reconciliation</a:t>
                      </a:r>
                    </a:p>
                  </a:txBody>
                  <a:tcPr marL="64008" marR="64008" marT="27432" marB="27432" anchor="ctr">
                    <a:solidFill>
                      <a:srgbClr val="FFFFFF"/>
                    </a:solidFill>
                  </a:tcPr>
                </a:tc>
                <a:tc>
                  <a:txBody>
                    <a:bodyPr wrap="square"/>
                    <a:lstStyle/>
                    <a:p>
                      <a:r>
                        <a:rPr sz="1100" b="0">
                          <a:solidFill>
                            <a:srgbClr val="4B4B4B"/>
                          </a:solidFill>
                          <a:latin typeface="Arial"/>
                        </a:rPr>
                        <a:t>Bank and insurer reconciliation detail</a:t>
                      </a:r>
                    </a:p>
                  </a:txBody>
                  <a:tcPr marL="64008" marR="64008" marT="27432" marB="27432" anchor="ctr">
                    <a:solidFill>
                      <a:srgbClr val="FFFFFF"/>
                    </a:solidFill>
                  </a:tcPr>
                </a:tc>
                <a:tc>
                  <a:txBody>
                    <a:bodyPr wrap="square"/>
                    <a:lstStyle/>
                    <a:p>
                      <a:r>
                        <a:rPr sz="1100" b="0">
                          <a:solidFill>
                            <a:srgbClr val="4B4B4B"/>
                          </a:solidFill>
                          <a:latin typeface="Arial"/>
                        </a:rPr>
                        <a:t>Floor walk</a:t>
                      </a:r>
                    </a:p>
                  </a:txBody>
                  <a:tcPr marL="64008" marR="64008" marT="27432" marB="27432" anchor="ctr">
                    <a:solidFill>
                      <a:srgbClr val="FFFFFF"/>
                    </a:solidFill>
                  </a:tcPr>
                </a:tc>
              </a:tr>
              <a:tr h="569214">
                <a:tc>
                  <a:txBody>
                    <a:bodyPr wrap="square"/>
                    <a:lstStyle/>
                    <a:p>
                      <a:r>
                        <a:rPr sz="1100" b="0">
                          <a:solidFill>
                            <a:srgbClr val="4B4B4B"/>
                          </a:solidFill>
                          <a:latin typeface="Arial"/>
                        </a:rPr>
                        <a:t>17</a:t>
                      </a:r>
                    </a:p>
                  </a:txBody>
                  <a:tcPr marL="64008" marR="64008" marT="27432" marB="27432" anchor="ctr">
                    <a:solidFill>
                      <a:srgbClr val="E5F5FF"/>
                    </a:solidFill>
                  </a:tcPr>
                </a:tc>
                <a:tc>
                  <a:txBody>
                    <a:bodyPr wrap="square"/>
                    <a:lstStyle/>
                    <a:p>
                      <a:r>
                        <a:rPr sz="1100" b="1">
                          <a:solidFill>
                            <a:srgbClr val="4B4B4B"/>
                          </a:solidFill>
                          <a:latin typeface="Arial"/>
                        </a:rPr>
                        <a:t>CP-01</a:t>
                      </a:r>
                    </a:p>
                  </a:txBody>
                  <a:tcPr marL="64008" marR="64008" marT="27432" marB="27432" anchor="ctr">
                    <a:solidFill>
                      <a:srgbClr val="E5F5FF"/>
                    </a:solidFill>
                  </a:tcPr>
                </a:tc>
                <a:tc>
                  <a:txBody>
                    <a:bodyPr wrap="square"/>
                    <a:lstStyle/>
                    <a:p>
                      <a:r>
                        <a:rPr sz="1100" b="0">
                          <a:solidFill>
                            <a:srgbClr val="4B4B4B"/>
                          </a:solidFill>
                          <a:latin typeface="Arial"/>
                        </a:rPr>
                        <a:t>Compliance</a:t>
                      </a:r>
                    </a:p>
                  </a:txBody>
                  <a:tcPr marL="64008" marR="64008" marT="27432" marB="27432" anchor="ctr">
                    <a:solidFill>
                      <a:srgbClr val="E5F5FF"/>
                    </a:solidFill>
                  </a:tcPr>
                </a:tc>
                <a:tc>
                  <a:txBody>
                    <a:bodyPr wrap="square"/>
                    <a:lstStyle/>
                    <a:p>
                      <a:r>
                        <a:rPr sz="1100" b="0">
                          <a:solidFill>
                            <a:srgbClr val="4B4B4B"/>
                          </a:solidFill>
                          <a:latin typeface="Arial"/>
                        </a:rPr>
                        <a:t>E-signature requirement</a:t>
                      </a:r>
                    </a:p>
                  </a:txBody>
                  <a:tcPr marL="64008" marR="64008" marT="27432" marB="27432" anchor="ctr">
                    <a:solidFill>
                      <a:srgbClr val="E5F5FF"/>
                    </a:solidFill>
                  </a:tcPr>
                </a:tc>
                <a:tc>
                  <a:txBody>
                    <a:bodyPr wrap="square"/>
                    <a:lstStyle/>
                    <a:p>
                      <a:r>
                        <a:rPr sz="1100" b="0">
                          <a:solidFill>
                            <a:srgbClr val="4B4B4B"/>
                          </a:solidFill>
                          <a:latin typeface="Arial"/>
                        </a:rPr>
                        <a:t>Legal and Compliance</a:t>
                      </a:r>
                    </a:p>
                  </a:txBody>
                  <a:tcPr marL="64008" marR="64008" marT="27432" marB="27432" anchor="ctr">
                    <a:solidFill>
                      <a:srgbClr val="E5F5FF"/>
                    </a:solidFill>
                  </a:tcPr>
                </a:tc>
              </a:tr>
            </a:tbl>
          </a:graphicData>
        </a:graphic>
      </p:graphicFrame>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What we ask of BDOI</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bdo-insure.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BDOI Reverse KT - Floor Walk | v3.0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800">
                <a:solidFill>
                  <a:srgbClr val="004EA8"/>
                </a:solidFill>
                <a:latin typeface="Arial"/>
              </a:rPr>
              <a:t>•  </a:t>
            </a:r>
            <a:r>
              <a:rPr sz="1800">
                <a:solidFill>
                  <a:srgbClr val="4B4B4B"/>
                </a:solidFill>
                <a:latin typeface="Arial"/>
              </a:rPr>
              <a:t>Each department confirms or corrects its chapter: As-Is swimlanes, pain points, rules and values (by 9-Oct-2026)</a:t>
            </a:r>
          </a:p>
          <a:p>
            <a:pPr>
              <a:spcAft>
                <a:spcPts val="600"/>
              </a:spcAft>
            </a:pPr>
            <a:r>
              <a:rPr sz="1800">
                <a:solidFill>
                  <a:srgbClr val="004EA8"/>
                </a:solidFill>
                <a:latin typeface="Arial"/>
              </a:rPr>
              <a:t>•  </a:t>
            </a:r>
            <a:r>
              <a:rPr sz="1800">
                <a:solidFill>
                  <a:srgbClr val="4B4B4B"/>
                </a:solidFill>
                <a:latin typeface="Arial"/>
              </a:rPr>
              <a:t>Answer the 17 open points, starting with the one reference, the direct-pay rule, the credit policy and e-signature</a:t>
            </a:r>
          </a:p>
          <a:p>
            <a:pPr>
              <a:spcAft>
                <a:spcPts val="600"/>
              </a:spcAft>
            </a:pPr>
            <a:r>
              <a:rPr sz="1800">
                <a:solidFill>
                  <a:srgbClr val="004EA8"/>
                </a:solidFill>
                <a:latin typeface="Arial"/>
              </a:rPr>
              <a:t>•  </a:t>
            </a:r>
            <a:r>
              <a:rPr sz="1800">
                <a:solidFill>
                  <a:srgbClr val="4B4B4B"/>
                </a:solidFill>
                <a:latin typeface="Arial"/>
              </a:rPr>
              <a:t>Choose the suggestions BDOI wants on the roadmap (H0 to H3)</a:t>
            </a:r>
          </a:p>
          <a:p>
            <a:pPr>
              <a:spcAft>
                <a:spcPts val="600"/>
              </a:spcAft>
            </a:pPr>
            <a:r>
              <a:rPr sz="1800">
                <a:solidFill>
                  <a:srgbClr val="004EA8"/>
                </a:solidFill>
                <a:latin typeface="Arial"/>
              </a:rPr>
              <a:t>•  </a:t>
            </a:r>
            <a:r>
              <a:rPr sz="1800">
                <a:solidFill>
                  <a:srgbClr val="4B4B4B"/>
                </a:solidFill>
                <a:latin typeface="Arial"/>
              </a:rPr>
              <a:t>Name data owners per department; start the clean-up of references, categories and trackers</a:t>
            </a:r>
          </a:p>
          <a:p>
            <a:pPr>
              <a:spcAft>
                <a:spcPts val="600"/>
              </a:spcAft>
            </a:pPr>
            <a:r>
              <a:rPr sz="1800">
                <a:solidFill>
                  <a:srgbClr val="004EA8"/>
                </a:solidFill>
                <a:latin typeface="Arial"/>
              </a:rPr>
              <a:t>•  </a:t>
            </a:r>
            <a:r>
              <a:rPr sz="1800">
                <a:solidFill>
                  <a:srgbClr val="4B4B4B"/>
                </a:solidFill>
                <a:latin typeface="Arial"/>
              </a:rPr>
              <a:t>Plan the remaining walks: Reinsurance, Compliance (sanction screening) and user access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BDOI Reverse KT - Floor Walk</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