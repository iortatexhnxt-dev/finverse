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for the BDOI steering committee and the department heads. It shows each business area in pictures: how the work runs today, how it runs in BIBS, what is still open, and which practices BDOI should adopt. Every statement cites the BRD (PDF page of the source pack), the FRS or the discrepancy register (DCR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 gives the enterprise view across all twelve BRDs. Chapters 1 to 12 follow the business order, from New Business to Submitted Policies; each chapter has the same seven slides. The status chip shows the FRS of the area. The summary repeats the maturity view, the decisions and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Swimlanes: one lane per BDOI role, external party or system. Yellow circles are pain points; the slide after the As-Is diagram explains each one with its BRD page. On the envisioned diagram, light blue boxes are steps a BDOI user takes on a BIBS screen and solid CTA Blue boxes are steps BIBS runs by itself (jobs, checks, matching, postings). Dashed lines are hand-offs by e-mail or file, or interfaces on hold.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holistic chapter looks across the twelve BRDs before going area by area: where the work sits today, what BIBS puts in one platform, how money and data flow from the client to claims, how far each theme moves, and which cross-BRD decisions BDOI must 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business area works in its own mix of systems and files. New Business quotes in QPS and books in EBIX (BRD-1 p.133); Collections uses EBIX, QPS and the ISYS Marketing Diary (BRD-4 p.40-41); Claims reports come from ISYS (BRD-7, Report List); Sanction Screening runs on e-mail advisories, SharePoint and NLDS (BRD-10 p.6-7); Submitted Policies keeps Excel masterlists on a shared drive (BRD-12 p.4-5); the contact centre uses the BDO-Insure Front-End over QPS and EBIX (BRD-9 p.4). Almost every hand-off between areas runs by e-mail and spreadsheet, so the same client, policy and payment are keyed several times. The yellow number on each area is the count of pain points in its chapter.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BIBS puts the twelve areas in one application with six navigation groups, following the BDOI navigation of the BDO Insure UX design (BDO UX guidelines section 3). Every module uses the same shared services: workflow with SLA, documents and templates, notifications, the report centre, the insert-only audit trail and the configuration masters that the business maintains. External parties reach BIBS by e-mail with a send log, by file upload, or through the partner portal for Employee Benefits. The HLS, insurer API, CLPC transfer and BDO directory (EUA) interfaces are on hold until BDO and the insurers give the specifications. Redis caching, Kafka events and the AWS Singapore hosting are the client technology bill of materials; their conformance is tracked in the bill of materials deliverable (item 4) and the technical architecture (item 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follows one policy and its money. Marketing owns the client and the quotation; Processing places, issues and books; Operations receives the cash, remits the premium net of commission to the insurer and collects the commission; Comptrollership accounts for it; Collections follows unpaid premium; Renewal restarts the cycle; Claims serves the client during the cover. In BIBS every stage reads the same client, account (ARN) and invoice ledger, so no stage re-keys the output of the previous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is the project team's reading of the current-process sections of the twelve BRDs, the FRS and the practices named in each chapter. It is a discussion aid for the steering committee, not an audit rating. Integration stays at level 3 in BIBS until the interfaces on hold (HLS, insurer APIs, CLPC transfer, BDO directory, mailbox reading, OCR) are specified by BDO and the insurers.</a:t>
            </a:r>
          </a:p>
          <a:p>
            <a:r>
              <a:t>Automation: today 1, BIBS 4, best practice 5. Today most steps are manual (BRD-1 p.133, BRD-2 p.11, BRD-5 p.44). BIBS runs jobs, matching and straight-through steps with exception queues.</a:t>
            </a:r>
          </a:p>
          <a:p>
            <a:r>
              <a:t>Controls: today 2, BIBS 4, best practice 5. Approvals run by e-mail and paper (BRD-5 p.45, BRD-10 p.6). BIBS enforces maker-checker, four-eyes and approval matrices.</a:t>
            </a:r>
          </a:p>
          <a:p>
            <a:r>
              <a:t>Data: today 1, BIBS 4, best practice 5. Separate masterlists and re-keying (BRD-12 p.4, BRD-1 p.133). BIBS has one client, one ARN and one invoice ledger.</a:t>
            </a:r>
          </a:p>
          <a:p>
            <a:r>
              <a:t>Integration: today 2, BIBS 3, best practice 5. Files and e-mail with banks and insurers. BIBS adds uploads; APIs are on hold until specified.</a:t>
            </a:r>
          </a:p>
          <a:p>
            <a:r>
              <a:t>Customer service: today 2, BIBS 4, best practice 5. The Front-End shows full details for CBG accounts only (BRD-9 p.4). BIBS shows every account, with resends.</a:t>
            </a:r>
          </a:p>
          <a:p>
            <a:r>
              <a:t>Compliance: today 1, BIBS 4, best practice 5. Name matching by hand, no EDD for PEPs (BRD-10 p.6-7). BIBS screens on every trigger and routes cases.</a:t>
            </a:r>
          </a:p>
          <a:p>
            <a:r>
              <a:t>Reporting: today 1, BIBS 4, best practice 5. Reports depend on IT (BRD-2 p.11, BRD-5 p.44). BIBS users run reports and exports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162 items are raised against the 12 BRDs and the Report List; 8 are answered by a later signed BDOI document.</a:t>
            </a:r>
          </a:p>
          <a:p>
            <a:r>
              <a:t>High items change what the system does, the money, compliance or access; they are resolved before the FRS of the area is signed off.</a:t>
            </a:r>
          </a:p>
          <a:p>
            <a:r>
              <a:t>Items that touch several BRDs, such as the service window, RPO and retention, count under each BRD.</a:t>
            </a:r>
          </a:p>
          <a:p>
            <a:r>
              <a:t>The next slide lists the decisions that unblock the most areas.</a:t>
            </a:r>
          </a:p>
          <a:p>
            <a:r>
              <a:t>Source: the BRD discrepancy and clarification register. An item that touches several BRDs is counted under each of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priority items of the discrepancy register and the open cross-BRD questions. Each blocks more than one area. The proposals in the register are the project's default until BDOI decides.</a:t>
            </a:r>
          </a:p>
          <a:p>
            <a:r>
              <a:t>DCR-143 (High): Directory sign-in (EUA) for every user. Impact: Identity source for all BIBS users. Owner: UAM owner with BDO ITIO. Decision: Provide the EUA interface; are contact centre agents in the directory?</a:t>
            </a:r>
          </a:p>
          <a:p>
            <a:r>
              <a:t>DCR-121 (High): BIBS-wide user access matrix. Impact: Roles and persona tests of every module. Owner: Product Owner, all BRD owners. Decision: Approve one matrix for all modules</a:t>
            </a:r>
          </a:p>
          <a:p>
            <a:r>
              <a:t>DCR-129, 146 (High): Renewal of submitted policies; one LAMD intake. Impact: Two renewal paths; two loan-status feeds. Owner: Renewal and Submitted Policies owners. Decision: Confirm the hand-off boundary and one LAMD report</a:t>
            </a:r>
          </a:p>
          <a:p>
            <a:r>
              <a:t>DCR-037 (High): Incentive programmes in four BRDs. Impact: Incentive income computed twice or not at all. Owner: Comptrollership, MBS, Operations. Decision: List the programmes with rate, base, payer</a:t>
            </a:r>
          </a:p>
          <a:p>
            <a:r>
              <a:t>DCR-112 (High): Sanctions match: block or warn. Impact: Business with a possible sanctioned party. Owner: Chief Compliance Officer. Decision: Block or warn on quotation, placement, booking, renewal</a:t>
            </a:r>
          </a:p>
          <a:p>
            <a:r>
              <a:t>DCR-133, 135, 138 (High): One service window, RPO / RTO, maintenance slot. Impact: Backup, DR and batch design of the platform. Owner: BDO IT with the BRD owners. Decision: Agree one BIBS-wide NFR set</a:t>
            </a:r>
          </a:p>
          <a:p>
            <a:r>
              <a:t>DCR-136 (High): Retention per record type. Impact: Legal record keeping; archive design. Owner: Compliance, Comptrollership. Decision: One schedule; archive or purge at the end</a:t>
            </a:r>
          </a:p>
          <a:p>
            <a:r>
              <a:t>DCR-157 (High): Go-live data migration scope. Impact: Open items and history at cut-over. Owner: All BRD owners. Decision: What is migrated from EBIX, ISYS, QPS, Excel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on 25 September 2026. Every area has its FRS issued for BDOI review. Department heads review their FRS and its proposed business rules; BDOI answers the decisions below; each FRS is then signed off through the sign-off tracker. The decisions below move the open points of several areas at once.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 New Business: Client onboarding to booking (Fire, Motor, Other Lines, Non-Package).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is the spine of BIBS: every other area reads the client, the account (ARN) and the booked invoice that it creates. FRS BRD-1 v1.0 describes the screens. The volumes come from the usage tables of the BRD (p.210-212) and the retention values from the workshop addendum (p.82), which prevail over "follow QPS" (assumption A-NB-08).</a:t>
            </a:r>
          </a:p>
          <a:p/>
          <a:p>
            <a:r>
              <a:t>Sources: BRD-1 p.132-134 (current and envisioned process); Other Lines addendum p.47-48; Workshop addendum Apr-2026 p.3-19; BRNB.001-115; FRS BRD-1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most New Business work is manual. Requests arrive by e-mail; HLS requests are keyed in. Quotations are prepared in QPS or Excel; non-package risks go to TSU by e-mail and the comparative is prepared in Excel. Clients are created without a standard onboarding step. Accounts are tracked in spreadsheets, so duplicates are found late. CBG Fire billing and payment matching are manual. Placement files, hold covers and e-policies go by e-mail without a log. Booking, GL entries and invoices are separate steps, and status reports are compiled by hand (BRD p.133-134; Other Lines addendum p.47). Bulk processing exists for CBG Home 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numbered markers on the As-Is swimlane refer to these points. The page numbers are PDF pages of the BRD-1 pack.</a:t>
            </a:r>
          </a:p>
          <a:p>
            <a:r>
              <a:t>1. Requests arrive by e-mail and are keyed in: HLS requests are re-keyed; bulk processing exists for CBG Home only. (BRD-1 p.133; BRNB.023, 041)</a:t>
            </a:r>
          </a:p>
          <a:p>
            <a:r>
              <a:t>2. Quotations prepared in QPS or Excel: Rating and versions live outside one workflow; approvals by e-mail. (BRD-1 p.133; FRS 2.1 row 2)</a:t>
            </a:r>
          </a:p>
          <a:p>
            <a:r>
              <a:t>3. Non-package placement by e-mail: TSU receives risks by e-mail and prepares the comparative table in Excel. (Other Lines addendum p.47)</a:t>
            </a:r>
          </a:p>
          <a:p>
            <a:r>
              <a:t>4. No standard client onboarding: Clients are created without a KYC verification step. (Workshop addendum p.3-5; BRNB.090)</a:t>
            </a:r>
          </a:p>
          <a:p>
            <a:r>
              <a:t>5. Accounts in spreadsheets: No single account number; duplicates are found late. (BRD-1 p.133; BRNB.032, 051)</a:t>
            </a:r>
          </a:p>
          <a:p>
            <a:r>
              <a:t>6. CBG Fire billing and payment matching by hand: The CLPC billing file and payment reports are handled manually. (BRD-1 p.133; BRNB.067, 068)</a:t>
            </a:r>
          </a:p>
          <a:p>
            <a:r>
              <a:t>7. Placement, hold cover, e-policy by e-mail: Files leave by e-mail with no send log and no protection rule. (BRD-1 p.133; BRNB.071, 072, 073)</a:t>
            </a:r>
          </a:p>
          <a:p>
            <a:r>
              <a:t>8. Booking in separate steps: Invoice, GL entry and service invoice are separate tasks. (BRD-1 p.133-134; BRNB.027, 100)</a:t>
            </a:r>
          </a:p>
          <a:p>
            <a:r>
              <a:t>9. Status monitoring by hand: Status and reconciliation reports are compiled manually. (BRD-1 p.133)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requests are captured in a request inbox or loaded from a source-system file. Every client starts as a prospect and is confirmed after a second user verifies the KYC documents. Package quotations are rated with the Appendix A formulas, approved and sent protected; non-package risks go through the PRF, with quotation slips to insurers and a comparative compiled by BIBS. One account per accepted risk group carries the ARN. BIBS produces the CLPC billing file and matches payment reports. Processing sends placement slips and hold cover requests with a send log, matches the e-policy and sends it protected. Booking posts the invoice, the GL entry and the service invoice in one transaction; batch booking runs at 20:00. Dashboards read the workflow history. The HLS interface, the mailbox reader and insurer SFTP / API are on hold (Q11, Q12, Q06).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pairs a pain point with the BIBS behaviour that removes it. The BRD states objectives (batch processing across all segments, one workflow, reports) but no turnaround targets, so the measures are the NFR values and the controls added.</a:t>
            </a:r>
          </a:p>
          <a:p>
            <a:r>
              <a:t>1. Requests arrive by e-mail and are keyed in -&gt; Request inbox; HLS extract and bulk files uploaded with a template and row checks Measure: Up to 5,000 rows a file.</a:t>
            </a:r>
          </a:p>
          <a:p>
            <a:r>
              <a:t>2. Quotations prepared in QPS or Excel -&gt; Quotation rated with the Appendix A formulas, versioned, approved before it is sent Measure: Approval before send.</a:t>
            </a:r>
          </a:p>
          <a:p>
            <a:r>
              <a:t>3. Non-package placement by e-mail -&gt; PRF workflow: TSU slips per insurer, insurer terms keyed once, comparative compiled by BIBS Measure: Comparative not re-keyed.</a:t>
            </a:r>
          </a:p>
          <a:p>
            <a:r>
              <a:t>4. No standard client onboarding -&gt; Prospect, KYC documents, verification by a second user, then confirmed client Measure: Four-eyes KYC.</a:t>
            </a:r>
          </a:p>
          <a:p>
            <a:r>
              <a:t>5. Accounts in spreadsheets -&gt; One ARN per account; workflow stage; duplicate check at creation Measure: Duplicates stopped at entry.</a:t>
            </a:r>
          </a:p>
          <a:p>
            <a:r>
              <a:t>6. CBG Fire billing and payment matching by hand -&gt; CLPC billing file produced and payment report matched in BIBS Measure: Matching automated.</a:t>
            </a:r>
          </a:p>
          <a:p>
            <a:r>
              <a:t>7. Placement, hold cover, e-policy by e-mail -&gt; Slips, hold cover requests and e-policies generated, password protected and logged Measure: Send log per document.</a:t>
            </a:r>
          </a:p>
          <a:p>
            <a:r>
              <a:t>8. Booking in separate steps -&gt; Booking posts invoice, GL entry and service invoice in one transaction; batch at 20:00 Measure: One step instead of three.</a:t>
            </a:r>
          </a:p>
          <a:p>
            <a:r>
              <a:t>9. Status monitoring by hand -&gt; Dashboards and status reports read the workflow history Measure: 10 s response (p.210-211).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items first. Until an interface is specified, a manual upload is used, so adding the transfer later needs no workflow change (FRS section 7).</a:t>
            </a:r>
          </a:p>
          <a:p>
            <a:r>
              <a:t>DCR-001 (High): Quotation before the client exists. Impact: Walk-in and bank-referred prospects may not be quotable. Owner: Marketing / Product Owner. Decision: May BIBS create a prospect code at quotation (BRNB.029 vs 063)?</a:t>
            </a:r>
          </a:p>
          <a:p>
            <a:r>
              <a:t>DCR-005 (High): Fire premium tax rate and base. Impact: Gross premium on every Fire quotation and invoice. Owner: Comptrollership. Decision: Which taxes, rates and bases apply to Fire?</a:t>
            </a:r>
          </a:p>
          <a:p>
            <a:r>
              <a:t>DCR-006 (High): Motor OD / Theft base 81% or 90% of TSI. Impact: Motor premium differs by 9 points of TSI. Owner: Marketing / TSU. Decision: When each base applies</a:t>
            </a:r>
          </a:p>
          <a:p>
            <a:r>
              <a:t>DCR-027 (High): CLPC payments and endorsements specified twice. Impact: Two payment intakes and two endorsement paths. Owner: NB and Operations. Decision: Confirm Cashiering as the single payment intake and Adjustment for endorsements</a:t>
            </a:r>
          </a:p>
          <a:p>
            <a:r>
              <a:t>DCR-112 (High): Sanctions match blocks or warns. Impact: Business placed with a possible sanctioned party. Owner: Compliance. Decision: Block or warn on quotation to booking</a:t>
            </a:r>
          </a:p>
          <a:p>
            <a:r>
              <a:t>Q11, Q12, Q06, Q24 (On hold): HLS, mailbox, insurer SFTP / API, OCR. Impact: Uploads and manual capture remain. Owner: BDO IT and insurers. Decision: Interface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Straight-through processing with exception queues [Partly in BIBS]. BIBS: Bulk uploads with row checks, batch booking, work queues per stage. BDOI: Give the product matrix and minimum fields per line (Q01, Q02) so clean cases pass untouched.</a:t>
            </a:r>
          </a:p>
          <a:p>
            <a:r>
              <a:t>KYC at onboarding and a single client view [Supported by BIBS]. BIBS: Prospect to confirmed client with four-eyes KYC; one client record for every module. BDOI: Confirm the BDO KYC standard fields, CIF and duplicate keys (Q16, Q17).</a:t>
            </a:r>
          </a:p>
          <a:p>
            <a:r>
              <a:t>Maker-checker on client documents [Supported by BIBS]. BIBS: Approval before a quotation, PRF or slip is sent; maker cannot approve. BDOI: Set the approval chain and limits (Q05).</a:t>
            </a:r>
          </a:p>
          <a:p>
            <a:r>
              <a:t>Protected digital documents [Partly in BIBS]. BIBS: Password-protected PDF and Excel, password sent separately, send log. BDOI: Agree the password convention (DCR-153).</a:t>
            </a:r>
          </a:p>
          <a:p>
            <a:r>
              <a:t>Screening before binding [Partly in BIBS]. BIBS: Screening on client creation and account submission (BRD-10 design). BDOI: Decide block or warn while a match is open (DCR-112).</a:t>
            </a:r>
          </a:p>
          <a:p>
            <a:r>
              <a:t>Production KPIs against target [BDOI to adopt]. BIBS: Dashboard by region, department, team and officer. BDOI: Provide the sales hierarchy and targets (Q41).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BRD-2 Operations: Cashiering, Remittance, Production Reconciliation, Adjustment, Commission / Direct Payment.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takes over every invoice booked in New Business and follows its money until the insurer is paid, the insurer's official receipt is recorded and every difference is closed. BDOI collects premium on behalf of insurers and remits it net of its commission (BRD-2 p.11). FRS BRD-2 describes the screens. The BRD gives users and response times but no transaction volumes (OQ44). The annex names 11 head-office and 5 branch cashiers, 4 remittance processors, 4 reconciliation handlers and 6 adjustment processors, plus team leads.</a:t>
            </a:r>
          </a:p>
          <a:p/>
          <a:p>
            <a:r>
              <a:t>Sources: BRD-2 p.10-13 (current and envisioned process); CSHID, RMTID, PRCID, ADJID, CMRID, MKTID, DBMID; FRS BRD-2 v1.0, sections 1.6 and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receipts are issued by hand and payment details are not visible; payment application is fragmented. Remittances are extracted manually with no tracking of batches and no check of what is not for remittance. Booked accounts are matched with insurer reports by hand. Endorsements go through redundant steps with manual computation. Reports depend on IT, and direct-payment commission receivables are gathered, cleaned and billed by hand (BRD-2 p.11, current process items 1-6).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points are the six "current process" items of the BRD (p.11), in the same order.</a:t>
            </a:r>
          </a:p>
          <a:p>
            <a:r>
              <a:t>1. Manual receipts: Payment details are not visible and payment application is fragmented. (BRD-2 p.11, item 1; CSHID.001-027)</a:t>
            </a:r>
          </a:p>
          <a:p>
            <a:r>
              <a:t>2. Remittance extracted by hand: No batch tracking and no check of what is not for remittance. (BRD-2 p.11, item 2; RMTID.001-023)</a:t>
            </a:r>
          </a:p>
          <a:p>
            <a:r>
              <a:t>3. Insurer reports matched by hand: Booked accounts are matched manually; unmatched items are checked one by one. (BRD-2 p.11, item 3; PRCID.001-039)</a:t>
            </a:r>
          </a:p>
          <a:p>
            <a:r>
              <a:t>4. Endorsements computed by hand: Redundant steps, manual computation and limited traceability. (BRD-2 p.11, item 4; ADJID.001-028)</a:t>
            </a:r>
          </a:p>
          <a:p>
            <a:r>
              <a:t>5. Reports depend on IT: Timely, correct and complete reports need the IT Group. (BRD-2 p.11, item 5)</a:t>
            </a:r>
          </a:p>
          <a:p>
            <a:r>
              <a:t>6. Commission receivables billed by hand: Direct-payment data are gathered, sanitised and billed to insurers manually. (BRD-2 p.11, item 6; CMRID.001-015)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booked invoice is copied into the invoice ledger with its components. The cashier issues an AR from the branch series; BIBS matches the payment to the invoice and applies it by component, and money it cannot apply goes to the unapplied workbench. A scheduled job extracts paid, cleared and eligible premium into batches per insurer and type; the TL approves the batch (four eyes), which posts the remittance, issues the commission OR and raises the payment request to Disbursement. The insurer's OR schedule is uploaded. The production register goes to the insurer and its feedback is matched within a 1.00 tolerance. Endorsements are requests recomputed per insurer and approved; direct-payment accounts are billed per insurer against a 10-working-day SLA.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states the target (unified operations, scheduled extraction, auto-matching, validated entries, tracking) without turnaround targets; the measures are the controls BIBS adds.</a:t>
            </a:r>
          </a:p>
          <a:p>
            <a:r>
              <a:t>1. Manual receipts -&gt; AR and OR from controlled series; payment matched at acceptance and applied by component Measure: Unapplied money kept in a workbench.</a:t>
            </a:r>
          </a:p>
          <a:p>
            <a:r>
              <a:t>2. Remittance extracted by hand -&gt; Scheduled and manual extraction with eligibility checks; batches with approval, DV and insurer OR Measure: Batch reference per remittance.</a:t>
            </a:r>
          </a:p>
          <a:p>
            <a:r>
              <a:t>3. Insurer reports matched by hand -&gt; Register sent to the insurer; feedback uploaded and matched; differences followed to closure Measure: Tolerance 1.00.</a:t>
            </a:r>
          </a:p>
          <a:p>
            <a:r>
              <a:t>4. Endorsements computed by hand -&gt; Endorsement requests recomputed per insurer, approved, posted in batches, linked to the original Measure: Four-eyes approval.</a:t>
            </a:r>
          </a:p>
          <a:p>
            <a:r>
              <a:t>5. Reports depend on IT -&gt; Users run the reports themselves, with view and export rights Measure: Response &lt; 5 s (annex).</a:t>
            </a:r>
          </a:p>
          <a:p>
            <a:r>
              <a:t>6. Commission receivables billed by hand -&gt; DP lists validated and billed per insurer; answers tracked; commission collected with an OR Measure: 10 working days SLA.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Operations gaps are rules that the BRD states twice or leaves open. BIBS proposes a documented default behind a parameter, so the answer is a configuration change (FRS BRD-2 chapter 12).</a:t>
            </a:r>
          </a:p>
          <a:p>
            <a:r>
              <a:t>DCR-013 (High): Early-remittance incentive in two places. Impact: Incentive income computed twice or on the wrong lines. Owner: Operations. Decision: One programme? Lines, rates and start of the window</a:t>
            </a:r>
          </a:p>
          <a:p>
            <a:r>
              <a:t>DCR-014 (High): Three minimal-balance rules. Impact: Small balances post to different GL accounts. Owner: Operations, Comptrollership. Decision: One rule at 10.00; GL accounts; who approves write-off</a:t>
            </a:r>
          </a:p>
          <a:p>
            <a:r>
              <a:t>DCR-015 (High): Paid AR above the DTIP balance. Impact: Remittance capped or withheld. Owner: Operations. Decision: Remit the DTIP balance or exclude the account</a:t>
            </a:r>
          </a:p>
          <a:p>
            <a:r>
              <a:t>DCR-028 (High): CWT 2307 cash payments without entries. Impact: GL entries for CWT unclear. Owner: Comptrollership. Decision: Give the entries and when Dr DTIP / Cr PR2307 posts</a:t>
            </a:r>
          </a:p>
          <a:p>
            <a:r>
              <a:t>DCR-027 (High): CLPC payments and endorsements also in BRD-1. Impact: Two payment intakes and two endorsement paths. Owner: Operations and NB. Decision: Confirm Cashiering and Adjustment as owners</a:t>
            </a:r>
          </a:p>
          <a:p>
            <a:r>
              <a:t>OQ29, OQ01, OQ02 (On hold): Insurer report pick-up; Collection and Disbursement links. Impact: Uploads and in-app queue until BRD-4 / BRD-5 replace them. Owner: Insurers, BDO IT. Decision: Mailbox or SFTP channel per insurer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Automated bank and insurer reconciliation [Supported by BIBS]. BIBS: Bank files uploaded and matched; insurer feedback matched within 1.00; duplicate files refused. BDOI: Give the bank file layouts and an OR tolerance (OQ03, OQ22).</a:t>
            </a:r>
          </a:p>
          <a:p>
            <a:r>
              <a:t>Premium remittance discipline [Supported by BIBS]. BIBS: Only paid, cleared (3 banking days) and eligible premium is batched; holds need a reason. BDOI: Agree a remittance calendar per insurer and the DTIP rule (DCR-015).</a:t>
            </a:r>
          </a:p>
          <a:p>
            <a:r>
              <a:t>Maker-checker and segregation of duties [Supported by BIBS]. BIBS: Batch approval, receipt cancellation and endorsements need a TL / TH who is not the maker. BDOI: Set approver limits per team.</a:t>
            </a:r>
          </a:p>
          <a:p>
            <a:r>
              <a:t>Unapplied cash under ageing control [Partly in BIBS]. BIBS: Unapplied workbench with disposition, approval and reversal. BDOI: One small-balance rule and write-off authority (DCR-014).</a:t>
            </a:r>
          </a:p>
          <a:p>
            <a:r>
              <a:t>Commission receivable follow-up [Partly in BIBS]. BIBS: DP billing per insurer with a 10-working-day SLA; incentive schemes set up in Commission. BDOI: Give incentive targets and amounts so the schemes can go live (OQ39).</a:t>
            </a:r>
          </a:p>
          <a:p>
            <a:r>
              <a:t>Controlled receipt series [Supported by BIBS]. BIBS: AR and OR numbered from controlled series per branch; cancellations approved. BDOI: Confirm OR per batch or per payment for BIR purposes (OQ49).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BRD-3 Product Maintenance: Package products, from the Package Request Form to release and expiry.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package is a pre-arranged programme whose terms, rates and conditions BDOI negotiates with one or more insurers and then offers through Marketing. Product Maintenance feeds the products and package versions that quotations, accounts and booking read. FRS BRD-3 is the reference FRS for the pack. The BRD states no volumes (the project assumes tens of package requests a month).</a:t>
            </a:r>
          </a:p>
          <a:p/>
          <a:p>
            <a:r>
              <a:t>Sources: BRD-3 p.12-13 (current and envisioned process); BRPM.001-022; workshop addendum PMADD01-06; FRS BRD-3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asks TSU for a package placement by e-mail with a TSU request form. TSU prepares quotation slips and e-mails them to insurers, who reply by e-mail with signed slips or approved terms. The comparative table is compiled in Excel and shared by e-mail. Sign-off and advisories are manual, documents go out without password protection, package expiry is watched in spreadsheets or calendars, and changes and approvals are tracked in e-mail threads.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are the current-process rows of the BRD (p.12-13).</a:t>
            </a:r>
          </a:p>
          <a:p>
            <a:r>
              <a:t>1. Requests by e-mail: Marketing requests placements by e-mail using a TSU request form. (BRD-3 p.12; BRPM.008)</a:t>
            </a:r>
          </a:p>
          <a:p>
            <a:r>
              <a:t>2. Quotation slips by e-mail: TSU prepares and e-mails the slips; no log of what was sent. (BRD-3 p.12; BRPM.010)</a:t>
            </a:r>
          </a:p>
          <a:p>
            <a:r>
              <a:t>3. Insurer replies in mailboxes: Signed slips and approved terms arrive by e-mail. (BRD-3 p.12; BRPM.012)</a:t>
            </a:r>
          </a:p>
          <a:p>
            <a:r>
              <a:t>4. Comparative in Excel: Compiled by hand and shared by e-mail. (BRD-3 p.12; BRPM.014; PMADD03)</a:t>
            </a:r>
          </a:p>
          <a:p>
            <a:r>
              <a:t>5. Manual sign-off and advisory: ManCom sign-off and the advisory are prepared outside a system. (BRD-3 p.12-13; BRPM.015, 016)</a:t>
            </a:r>
          </a:p>
          <a:p>
            <a:r>
              <a:t>6. Documents without a password: Shared documents have no password protection. (BRD-3 p.13)</a:t>
            </a:r>
          </a:p>
          <a:p>
            <a:r>
              <a:t>7. Expiry in spreadsheets: Package expiry is monitored in spreadsheets or calendars. (BRD-3 p.13; BRPM.017)</a:t>
            </a:r>
          </a:p>
          <a:p>
            <a:r>
              <a:t>8. History in e-mail threads: Changes, approvals and documents are tracked in e-mail and files. (BRD-3 p.13)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Marketing logs the Package Request Form, which BIBS numbers PKR-yyyy-n. A Marketing TL, TH or UH approves it (never the maker); the TSU TL recommends and the TSU Head approves. TSU prepares the quotation slips, which are approved and e-mailed per insurer, protected and logged. Insurer responses are keyed in with their outcome, over as many rounds as needed. BIBS keeps one comparative master per request and derives client views from it. ManCom signs off, which locks the slips; MBS creates the package version and the TSU Head or Business Administrator releases it. The advisory is drafted on release and sent with the signed package slip. A daily job raises expiry alerts and can draft the renewal request.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turnaround targets are given in the BRD; the measures are the controls BIBS adds.</a:t>
            </a:r>
          </a:p>
          <a:p>
            <a:r>
              <a:t>1. Requests by e-mail -&gt; Package Request Form logged in BIBS, numbered PKR-yyyy-n and tracked by stage Measure: Stage and SLA per request.</a:t>
            </a:r>
          </a:p>
          <a:p>
            <a:r>
              <a:t>2. Quotation slips by e-mail -&gt; Quotation slips prepared, approved and e-mailed per insurer, protected and logged Measure: Send log per slip.</a:t>
            </a:r>
          </a:p>
          <a:p>
            <a:r>
              <a:t>3. Insurer replies in mailboxes -&gt; TSU keys in each response with its outcome; every change is kept Measure: Rounds recorded.</a:t>
            </a:r>
          </a:p>
          <a:p>
            <a:r>
              <a:t>4. Comparative in Excel -&gt; One comparative master per package; client views derived from it Measure: No Excel re-compile.</a:t>
            </a:r>
          </a:p>
          <a:p>
            <a:r>
              <a:t>5. Manual sign-off and advisory -&gt; ManCom signs off in BIBS; the advisory is drafted on release Measure: Sign-off before release.</a:t>
            </a:r>
          </a:p>
          <a:p>
            <a:r>
              <a:t>6. Documents without a password -&gt; Documents leave password protected; password in a separate e-mail Measure: Every document protected.</a:t>
            </a:r>
          </a:p>
          <a:p>
            <a:r>
              <a:t>7. Expiry in spreadsheets -&gt; Daily job raises expiry alerts and can draft the renewal request Measure: No expiry missed.</a:t>
            </a:r>
          </a:p>
          <a:p>
            <a:r>
              <a:t>8. History in e-mail threads -&gt; Every action in the request history and the audit trail Measure: Full history per package.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High incentive item is shared with BRD-2, BRD-4 and BRD-5; the criteria are kept once in Product Maintenance.</a:t>
            </a:r>
          </a:p>
          <a:p>
            <a:r>
              <a:t>DCR-037 (High): Incentive criteria without a definition. Impact: Incentive income across four BRDs. Owner: MBS, Comptrollership. Decision: List the programmes (CPC2 and others) with rate, base, payer</a:t>
            </a:r>
          </a:p>
          <a:p>
            <a:r>
              <a:t>DCR-153 (High): Password convention for documents. Impact: Clients and insurers cannot open files without a known rule. Owner: MBS, Information Security. Decision: Password rule per document type</a:t>
            </a:r>
          </a:p>
          <a:p>
            <a:r>
              <a:t>DCR-035 (Medium): Role-to-action matrix; ManCom decision rule. Impact: Approval routing and persona tests. Owner: MBS and TSU. Decision: Approve the matrix; ManCom membership and quorum</a:t>
            </a:r>
          </a:p>
          <a:p>
            <a:r>
              <a:t>DCR-036 (Medium): Non-package product maintenance. Impact: Scope of the module. Owner: MBS. Decision: Confirm out of scope for this phase</a:t>
            </a:r>
          </a:p>
          <a:p>
            <a:r>
              <a:t>DCR-030 (Medium): BRQID.008 dropped without a revision entry. Impact: Renewals repriced without client evidence. Owner: MBS. Decision: Confirm BRRN.038 now governs</a:t>
            </a:r>
          </a:p>
          <a:p>
            <a:r>
              <a:t>PQ16 (On hold): Product master feed to other BDOI systems. Impact: Other systems not updated automatically. Owner: BDO IT. Decision: Which systems receive product changes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Configurable rules owned by the business [Supported by BIBS]. BIBS: Products, package versions, rates and incentive criteria kept as masters, maintained without IT. BDOI: Name the business owner of each master and its approver.</a:t>
            </a:r>
          </a:p>
          <a:p>
            <a:r>
              <a:t>Maker-checker on product changes [Supported by BIBS]. BIBS: Marketing approval, TSU Head approval, ManCom sign-off and release validation; never the maker. BDOI: Approve the role-to-action matrix (DCR-035).</a:t>
            </a:r>
          </a:p>
          <a:p>
            <a:r>
              <a:t>One version of the terms [Supported by BIBS]. BIBS: One comparative master per request and versioned packages; old versions locked. BDOI: Retire Excel comparatives once BIBS is live.</a:t>
            </a:r>
          </a:p>
          <a:p>
            <a:r>
              <a:t>Protected digital documents [Partly in BIBS]. BIBS: Slips and advisories password protected, password sent separately, send log. BDOI: Agree the password convention (DCR-153).</a:t>
            </a:r>
          </a:p>
          <a:p>
            <a:r>
              <a:t>Expiry and renewal pipeline [Supported by BIBS]. BIBS: Daily expiry alerts and a renewal request pre-filled from the current version. BDOI: Set the lead days per package type.</a:t>
            </a:r>
          </a:p>
          <a:p>
            <a:r>
              <a:t>KPI on package turnaround [BDOI to adopt]. BIBS: Stage history and SLA per stage (for example 120 hours for negotiation). BDOI: Adopt turnaround targets per stage and review them monthly.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BRD-4 Collections: Premium receivable follow-up, unapplied payments, escalation and billing statements.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Collections follows unpaid premium receivables (PR) until they are paid, reversed or cancelled. The CMS BRD describes a separate application fed nightly from EBIX and QPS; in BIBS it is a module that reads the Operations invoice ledger and hands work to Cashiering and Commission inside the application. It posts no money itself. FRS BRD-4 v1.0 describes the screens.</a:t>
            </a:r>
          </a:p>
          <a:p/>
          <a:p>
            <a:r>
              <a:t>Sources: CMS BRD p.40-42 (current and target process); BRCLXN.001-060 (signed); 061-064 draft only; Requirements baseline; FRS BRD-4 v1.0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AO records the client's payment instruction in the Marketing Diary in ISYS. The Collection Handler takes the outstanding-PR list of the market segment from EBIX and follows up each account as the diary says: new bookings within 10 to 15 days, a payment commitment within 60 days. A commitment outside the credit term goes to the AO, who asks the insurer for a credit term extension and escalates to the Unit Head by e-mail. On day 60 without a commitment the handler sets a disposition and the A / B / C tag. Payment status is checked by channel with Cashiering, the Unapplied screen or the insurer. CWT 2307 tagging moves from Marketing to Operations by hand, and Operations extracts the Direct Payment report every month for PR reversal.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1-10 of the current process (CMS BRD p.40-41) and the handler's other tasks (p.40).</a:t>
            </a:r>
          </a:p>
          <a:p>
            <a:r>
              <a:t>1. PR list and diary in two systems: The handler takes the EBIX list and checks the ISYS Marketing Diary per account. (CMS BRD p.40-41, steps 1-2)</a:t>
            </a:r>
          </a:p>
          <a:p>
            <a:r>
              <a:t>2. Follow-up by hand: New bookings within 10-15 days, commitment within 60 days, tracked by the handler. (CMS BRD p.40-41, steps 3-4)</a:t>
            </a:r>
          </a:p>
          <a:p>
            <a:r>
              <a:t>3. CTE and escalation by e-mail: The AO asks the insurer for a credit term extension and escalates to the Unit Head. (CMS BRD p.40-41, step 5)</a:t>
            </a:r>
          </a:p>
          <a:p>
            <a:r>
              <a:t>4. Dispositions kept by hand: Day-60 disposition, category A / B / C and remarks are updated manually. (CMS BRD p.40-41, steps 6-7)</a:t>
            </a:r>
          </a:p>
          <a:p>
            <a:r>
              <a:t>5. Payment status by channel: Deposit with Cashiering, bills payment on the Unapplied screen, direct payment with the insurer. (CMS BRD p.40-41, step 8)</a:t>
            </a:r>
          </a:p>
          <a:p>
            <a:r>
              <a:t>6. 2307 tagging handed over: A net-of-CWT payment stays a Marketing action until the BIR 2307 is collected. (CMS BRD p.40-41, step 9)</a:t>
            </a:r>
          </a:p>
          <a:p>
            <a:r>
              <a:t>7. DP report extracted monthly: Operations extracts the Direct Payment report as the basis for PR reversal. (CMS BRD p.40-41, step 10)</a:t>
            </a:r>
          </a:p>
          <a:p>
            <a:r>
              <a:t>8. Side tasks by e-mail: Cheque pick-up requests and 2307 certificates received by e-mail. (CMS BRD p.40, other tasks)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nightly job after the 22:00 end of day turns every invoice with PR above the threshold into a collection item, refreshes existing items and closes items at zero, keeping their history. The TL assigns items by rule (segment, unit, client). The handler records efforts, promises per installment, the collector disposition and the A / B / C category on the item, with the Marketing Diary in view. Rules escalate by ageing, commitments and broken promises to the TL / UH queue. Dispositions for Operations become in-app requests: "PR 2307 for reversal" to Cashiering, "DP PR for reversal" to Commission, "for check pick-up" to the Cashiering queue. The monthly and weekly files are produced on schedule, and billing statements are issued per billing cycle of multi-year policies.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CMS BRD gives volume and response targets (NFR 15.01-15.14) but no collection-rate targets.</a:t>
            </a:r>
          </a:p>
          <a:p>
            <a:r>
              <a:t>1. PR list and diary in two systems -&gt; One worklist read from the invoice ledger, with the Marketing Diary in view on the item Measure: Refreshed nightly after 22:00.</a:t>
            </a:r>
          </a:p>
          <a:p>
            <a:r>
              <a:t>2. Follow-up by hand -&gt; Efforts, promises per installment and reminders recorded on the collection item Measure: History kept per item.</a:t>
            </a:r>
          </a:p>
          <a:p>
            <a:r>
              <a:t>3. CTE and escalation by e-mail -&gt; Escalation rules by ageing, commitments and broken promises; manual escalation, also in bulk Measure: TL / UH queue by rule.</a:t>
            </a:r>
          </a:p>
          <a:p>
            <a:r>
              <a:t>4. Dispositions kept by hand -&gt; Disposition from a list of values with category A / B / C; append-only history Measure: From / to audit per field.</a:t>
            </a:r>
          </a:p>
          <a:p>
            <a:r>
              <a:t>5. Payment status by channel -&gt; Payment status, balances and co-insurance shares read from the invoice ledger Measure: Same-day balance refresh.</a:t>
            </a:r>
          </a:p>
          <a:p>
            <a:r>
              <a:t>6. 2307 tagging handed over -&gt; "PR 2307 for reversal" goes to the Cashiering 2307 intake as an in-app request Measure: No e-mail hand-off.</a:t>
            </a:r>
          </a:p>
          <a:p>
            <a:r>
              <a:t>7. DP report extracted monthly -&gt; DP-for-reversal file on the first working day; the same list goes to Commission Measure: Ready on working day 1.</a:t>
            </a:r>
          </a:p>
          <a:p>
            <a:r>
              <a:t>8. Side tasks by e-mail -&gt; Cheque pick-up request placed on the Cashiering queue from the item Measure: Request tracked.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BRCLXN.061-064 appear only in the unsigned draft of the workshop addendum; they are proposed as Draft and delivered only after BDOI confirms them (CQ01). The Operations Head's caveat on exports (p.93) is met by asynchronous, permission-gated exports.</a:t>
            </a:r>
          </a:p>
          <a:p>
            <a:r>
              <a:t>DCR-039, CQ01 (High): BRCLXN.061-064 only in the unsigned draft. Impact: Commission, incentive and refund items not approved. Owner: Head of BDOI Operations. Decision: In scope? Owner: Collections or Commission</a:t>
            </a:r>
          </a:p>
          <a:p>
            <a:r>
              <a:t>DCR-041, CQ02 (High): List at invoice or cover level. Impact: Grain of the list and of the threshold rule. Owner: Head of BDOI Operations. Decision: Confirm invoice level; threshold per invoice, ARN or client</a:t>
            </a:r>
          </a:p>
          <a:p>
            <a:r>
              <a:t>DCR-044, 141 (High): One session per device. Impact: Session control for every user. Owner: Operations with BDO ITIO. Decision: For all users, Collections only, or no one</a:t>
            </a:r>
          </a:p>
          <a:p>
            <a:r>
              <a:t>DCR-157, CQ07 (High): Open EBIX PRs and history at go-live. Impact: Worklist incomplete at cut-over. Owner: Operations, BDO IT. Decision: Migration scope, cut-off and format</a:t>
            </a:r>
          </a:p>
          <a:p>
            <a:r>
              <a:t>CQ03 (Medium): Minimal balance threshold value. Impact: Which invoices enter the list. Owner: Operations - Collections. Decision: Value, currency, net of PR2307?</a:t>
            </a:r>
          </a:p>
          <a:p>
            <a:r>
              <a:t>CQ14, CQ16 (Medium): Escalation defaults and promise rules. Impact: Escalation and broken-promise tests. Owner: Operations - Collections. Decision: Days (45 / 60), levels, grace days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Ageing control with escalation by rule [Supported by BIBS]. BIBS: Rules by ageing, commitments and broken promises; TL / UH queue; manual escalation in bulk. BDOI: Set the default days and levels (CQ14).</a:t>
            </a:r>
          </a:p>
          <a:p>
            <a:r>
              <a:t>Promise-to-pay per installment [Supported by BIBS]. BIBS: Promises recorded per installment, marked kept or broken from the ledger. BDOI: Define when a promise is kept and the grace days (CQ16).</a:t>
            </a:r>
          </a:p>
          <a:p>
            <a:r>
              <a:t>Single view of the receivable [Supported by BIBS]. BIBS: Invoice 360: policy, invoice, co-insurance shares, payments and history on one screen. BDOI: Retire the separate EBIX and Excel lists after migration.</a:t>
            </a:r>
          </a:p>
          <a:p>
            <a:r>
              <a:t>Collections monitors; finance posts [Supported by BIBS]. BIBS: Collections posts no money; Cashiering and Commission act on its requests. BDOI: Keep this split in the role matrix (DCR-121).</a:t>
            </a:r>
          </a:p>
          <a:p>
            <a:r>
              <a:t>Credit term discipline [BDOI to adopt]. BIBS: Commitment dates and CTE requests can be recorded on the item. BDOI: Publish credit terms per segment and track CTEs in BIBS (CQ20).</a:t>
            </a:r>
          </a:p>
          <a:p>
            <a:r>
              <a:t>Collection KPIs [Partly in BIBS]. BIBS: Outstanding PR, escalation and broken-promise reports; Collections home. BDOI: Define the dashboard per role and the collection targets (CQ21).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BRD-5 Accounting and Disbursement: Accounting (FRBS), Disbursement, ACSL, Marketing refund and cash-advance requests, financial reports.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handles two kinds of money: trust money (premium collected for insurers and remitted net of commission) and its own income (commission, service fee, profit share, incentives). BRD-2 covers the front of the cycle; BRD-5 covers the back office of Comptrollership. BIBS covers the accounting core (chart, journals, accounting engine, sub-ledger, periods, FX revaluation, year-end, bank reconciliation, BIR returns and 2307), Disbursement, ACSL reconciliation and correction, the Marketing request flow and the BDOI report pack. FRS BRD-5 v1.0 describes the screens in two volumes.</a:t>
            </a:r>
          </a:p>
          <a:p/>
          <a:p>
            <a:r>
              <a:t>Sources: BRD-5 p.44-45 (current process), p.46-48 (envisioned); FRBS, DIS, MKT, ACSL, BASAU requirements; Addenda 1 and 2; Requirements baseline; FRS BRD-5 v1.0, volumes 1 and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Marketing refund and cash-advance requests arrive from AOs by e-mail; review and approval happen outside the system and signed paper is handed to Disbursement. Some disbursement requests still come on paper or by e-mail; not every payment method is integrated; processing and CWT tagging are manual; communication and approval run outside the system. In Accounting the input reports and the closing of the broking books depend on IT, output reports and reconciliations are manual, unbalanced transactions are not prevented and some entries are keyed by hand. In ACSL, input reports depend on IT, corrections and reversals are manual and posted by a separate unit, a cancellation gets a different invoice number, and reports lack the source-system references (BRD-5 p.44-45).</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points are the lettered current-process items of the BRD (A = Accounting, B = Disbursement, B.2 = Marketing requests, C = ACSL), p.44-45.</a:t>
            </a:r>
          </a:p>
          <a:p>
            <a:r>
              <a:t>1. Marketing requests by e-mail and paper: Review and approval outside the system; signed paper handed to Disbursement. (BRD-5 p.45, B.2 a-c)</a:t>
            </a:r>
          </a:p>
          <a:p>
            <a:r>
              <a:t>2. Requests received by hand: Some disbursement requests still arrive as paper or e-mail. (BRD-5 p.45, B a)</a:t>
            </a:r>
          </a:p>
          <a:p>
            <a:r>
              <a:t>3. Manual processing and CWT tagging: Communication and approval run outside the system; payees only for CTA and check. (BRD-5 p.45, B c-e)</a:t>
            </a:r>
          </a:p>
          <a:p>
            <a:r>
              <a:t>4. Payment methods not all integrated: Not every mode of payment is in the system; most output reports are manual. (BRD-5 p.45, B b, f)</a:t>
            </a:r>
          </a:p>
          <a:p>
            <a:r>
              <a:t>5. Unbalanced entries not prevented: Some accounting entries are keyed by hand. (BRD-5 p.44, A d-e)</a:t>
            </a:r>
          </a:p>
          <a:p>
            <a:r>
              <a:t>6. Corrections by another unit: Correction and reversal entries are processed manually and posted by a separate unit. (BRD-5 p.45, C b-c)</a:t>
            </a:r>
          </a:p>
          <a:p>
            <a:r>
              <a:t>7. Cancellations get a new invoice number: Related transactions cannot be followed under one number; reports lack source references. (BRD-5 p.45, C d-e)</a:t>
            </a:r>
          </a:p>
          <a:p>
            <a:r>
              <a:t>8. IT needed for input and closing: Input reports and the closing of the broking books depend on IT support. (BRD-5 p.44, A a; p.45, C a)</a:t>
            </a:r>
          </a:p>
          <a:p>
            <a:r>
              <a:t>9. Reconciliation and reports by hand: Output reports are generated and reconciliations performed manually. (BRD-5 p.44, A b-c)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refund and cash-advance requests are raised on the RRF / RFP with documents and approved in the workflow, then routed to Disbursement. Disbursement receives requests from the other modules, by upload or by encoding; BIBS creates the disbursement voucher with an editable proforma entry. The verifier and approvers decide in BIBS, and approval posts the entry to the GL and the sub-ledger, which refuses unbalanced entries. The payment runs in one of seven modes; statuses and CWT are tagged automatically and by bank files, and BIR 2307 is generated. ACSL uploads the insurer statements and reconciles them per invoice, and posts corrections through create, review, approve and post. Accounting reconciles the bank by check number and amount, closes the books on schedule and runs the reports on demand. The BDO Business Online Banking interface is on hold (AQ09): approvals are confirmed manually or by file.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gives response times and yearly volumes; it states no turnaround targets. The measures are the controls BIBS adds.</a:t>
            </a:r>
          </a:p>
          <a:p>
            <a:r>
              <a:t>1. Marketing requests by e-mail and paper -&gt; RRF and RFP in BIBS with documents; Marketing (and HR) approval routes them to Disbursement Measure: No paper hand-over.</a:t>
            </a:r>
          </a:p>
          <a:p>
            <a:r>
              <a:t>2. Requests received by hand -&gt; Requests from other modules, uploads and encoding in one intake Measure: One request queue.</a:t>
            </a:r>
          </a:p>
          <a:p>
            <a:r>
              <a:t>3. Manual processing and CWT tagging -&gt; DV and proforma entry created by BIBS; approval in the workflow; payees for every mode Measure: Verifier plus two approvers.</a:t>
            </a:r>
          </a:p>
          <a:p>
            <a:r>
              <a:t>4. Payment methods not all integrated -&gt; Seven payment modes with instrument life cycles; end-of-day files and forms Measure: Statuses tagged by bank file.</a:t>
            </a:r>
          </a:p>
          <a:p>
            <a:r>
              <a:t>5. Unbalanced entries not prevented -&gt; Validator refuses unbalanced entries and flags negative balances; accruals reverse automatically Measure: Debit = credit enforced.</a:t>
            </a:r>
          </a:p>
          <a:p>
            <a:r>
              <a:t>6. Corrections by another unit -&gt; ACSL corrections post on approval to the sub-ledger and the invoice ledger Measure: Posting on approval.</a:t>
            </a:r>
          </a:p>
          <a:p>
            <a:r>
              <a:t>7. Cancellations get a new invoice number -&gt; Every related transaction carries one root invoice number; source references in reports Measure: One invoice family.</a:t>
            </a:r>
          </a:p>
          <a:p>
            <a:r>
              <a:t>8. IT needed for input and closing -&gt; Users run input reports; broking books close by a scheduled job Measure: No IT request.</a:t>
            </a:r>
          </a:p>
          <a:p>
            <a:r>
              <a:t>9. Reconciliation and reports by hand -&gt; Bank file matched on check number and amount; reports on demand Measure: Reports 10-20 s (p.133-137).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invoice-number question (DCR-058, AQ29) decides how ACSL links booking, adjustment and cancellation.</a:t>
            </a:r>
          </a:p>
          <a:p>
            <a:r>
              <a:t>DCR-058, AQ29 (High): One invoice number or a root number. Impact: BIR invoice uniqueness against one reference per policy. Owner: Comptrollership (ACSL). Decision: Accept a root invoice number linking related documents</a:t>
            </a:r>
          </a:p>
          <a:p>
            <a:r>
              <a:t>DCR-037, AQ24 (High): Incentive programmes (CPC2 and early incentive). Impact: Incentive income and service invoices. Owner: Comptrollership, MBS, Operations. Decision: Rates, base, payer, service invoice per programme</a:t>
            </a:r>
          </a:p>
          <a:p>
            <a:r>
              <a:t>DCR-157, AQ11 (High): Payee master and open items at go-live. Impact: Disbursement cannot start without payees. Owner: Comptrollership. Decision: Migration file, cut-off and reconciliation</a:t>
            </a:r>
          </a:p>
          <a:p>
            <a:r>
              <a:t>DCR-054, AQ04 (Medium): GL month-end closing rule. Impact: Close date, reopening, period controls. Owner: FRBS. Decision: 2nd banking day or a preferred date; can a month reopen?</a:t>
            </a:r>
          </a:p>
          <a:p>
            <a:r>
              <a:t>DCR-052, AQ18 (Medium): RRF and RFP mandatory fields. Impact: Marketing request screens and tests. Owner: Comptrollership, Marketing. Decision: Mandatory fields and approval chain per segment</a:t>
            </a:r>
          </a:p>
          <a:p>
            <a:r>
              <a:t>AQ09, AQ10 (On hold): BDO Business Online Banking and DCTF channel. Impact: Funding approvals confirmed by hand or file. Owner: BDO IT. Decision: Channel per payment mode; DCTF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Maker-checker and dual approval on payments [Supported by BIBS]. BIBS: DV verifier and approvers; account funding with a verifier and two approvers; maker cannot approve. BDOI: Confirm the approvers, their order and limits (AQ10, AQ28).</a:t>
            </a:r>
          </a:p>
          <a:p>
            <a:r>
              <a:t>Balanced posting and a closed period [Supported by BIBS]. BIBS: Unbalanced entries refused; posting only to open periods; scheduled close with a checklist. BDOI: Agree the close calendar and reopen rule (AQ04).</a:t>
            </a:r>
          </a:p>
          <a:p>
            <a:r>
              <a:t>Automated bank reconciliation [Partly in BIBS]. BIBS: Bank file import and matching on check number and amount. BDOI: Give the bank file layouts per bank (AQ08).</a:t>
            </a:r>
          </a:p>
          <a:p>
            <a:r>
              <a:t>Sub-ledger reconciled to the GL [Supported by BIBS]. BIBS: GL-SL reconciliation per GL code; insurer SOA reconciled per invoice. BDOI: Ask insurers to show the BDOI invoice number on their SOA (AQ21).</a:t>
            </a:r>
          </a:p>
          <a:p>
            <a:r>
              <a:t>BIR withholding and certificates from the system [Partly in BIBS]. BIBS: CWT tagging and BIR 2307 generated; BIR returns from the tax module. BDOI: Confirm the BIR forms and books still required (AQ07).</a:t>
            </a:r>
          </a:p>
          <a:p>
            <a:r>
              <a:t>One invoice family for audit [BDOI to adopt]. BIBS: Root invoice number carried by booking, ledger and every downstream document. BDOI: Accept the root-number model (DCR-058).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BRD-6 Renewal: Expiring list, disposition, insurer round-trip, Renewal Advice, acceptance to booking.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renews the policies it has placed. RMEL Phase 2 moves the renewal online: the Business Units extract the list themselves, disposition online in a staged workflow, export the accounts per insurer and monitor each renewal. The workshop addendum adds rule-based governance: sanitation, a mandatory reference, buckets, a decision matrix and automatic progression to booking. Renewal uses the business type BT0 shared with New Business booking (decision D1).</a:t>
            </a:r>
          </a:p>
          <a:p/>
          <a:p>
            <a:r>
              <a:t>Sources: BRD-6 p.41-43 (current and envisioned process); Workshop addendum p.3-15 (BRRN.001-040); FRS BRD-6 v1.0, sections 2 and 5; cross-BRD decisions D1, D2</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IT extracts the list of expiring accounts. Eligibility depends on manual pre-cleaning of the list. Marketing records dispositions in spreadsheets and communicates with Processing by e-mail. Accounts go to insurers by e-mail from Excel. Renewal Advices come from an IT text file and work for packaged accounts only, with the upload to QPS; non-packaged accounts and exceptions are handled by hand. Renewal status is monitored by hand, and accepted renewals are re-keyed for placement and booking.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are the current-process rows of the BRD (p.42-43) and the workshop addendum (p.3).</a:t>
            </a:r>
          </a:p>
          <a:p>
            <a:r>
              <a:t>1. IT extracts the expiring list: The RMEL list depends on an IT extraction. (BRD-6 p.42; BRRN.002, 005)</a:t>
            </a:r>
          </a:p>
          <a:p>
            <a:r>
              <a:t>2. Manual pre-cleaning: Eligibility depends on cleaning the list by hand before disposition. (Workshop addendum p.3; BRRN.009, 020)</a:t>
            </a:r>
          </a:p>
          <a:p>
            <a:r>
              <a:t>3. Disposition in a spreadsheet: Marketing records the disposition of each account in Excel. (BRD-6 p.42; BRD 2.004)</a:t>
            </a:r>
          </a:p>
          <a:p>
            <a:r>
              <a:t>4. Hand-offs by e-mail: Marketing and Processing communicate by e-mail; no stage or assignment. (BRD-6 p.42)</a:t>
            </a:r>
          </a:p>
          <a:p>
            <a:r>
              <a:t>5. Accounts to insurers from Excel: Accounts are sent to insurers by e-mail from Excel files. (BRD-6 p.42; BRD 3.009)</a:t>
            </a:r>
          </a:p>
          <a:p>
            <a:r>
              <a:t>6. RA text file for packages only: The IT text file and the QPS upload cover packaged accounts only. (BRD-6 p.42; BRRN.010)</a:t>
            </a:r>
          </a:p>
          <a:p>
            <a:r>
              <a:t>7. Status monitored by hand: No status report or summary counters. (BRD-6 p.42-43; BRRN.019, 036)</a:t>
            </a:r>
          </a:p>
          <a:p>
            <a:r>
              <a:t>8. Accepted renewals re-keyed: Accepted renewals are keyed again for placement and booking. (Workshop addendum p.3; BRRN.038, 040)</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daily job extracts the accounts that expire within the lead days; users can also generate the list for any date range. BIBS runs the sanitation, matching and eligibility checks and classifies each record Clean, Review or Exception. An authorised user initiates the renewal, in bulk (for example CLG) or one by one. The decision matrix proposes a disposition; a Clean case with an automatic rule proceeds straight through. Otherwise the AO dispositions online and the TL reviews and posts. Processing updates the renewal account; BIBS creates the extract per insurer and sends it protected, and the insurer's decision file is applied: Renew As Is advances, Reject or Revise stops or reroutes. The Renewal Advice (first or second notice) goes out in batch, protected. Acceptance moves the account to placement and booking without re-keying, and it books as business type RENEWAL.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volumes and response times come from the usage table (p.186-188).</a:t>
            </a:r>
          </a:p>
          <a:p>
            <a:r>
              <a:t>1. IT extracts the expiring list -&gt; Daily job extracts expiring accounts at the lead days; users generate the list for any range Measure: 25,800 a month without IT.</a:t>
            </a:r>
          </a:p>
          <a:p>
            <a:r>
              <a:t>2. Manual pre-cleaning -&gt; Sanitation, matching and eligibility checks classify each record Clean, Review or Exception Measure: Checks run by BIBS.</a:t>
            </a:r>
          </a:p>
          <a:p>
            <a:r>
              <a:t>3. Disposition in a spreadsheet -&gt; AO dispositions online; clean cases with an automatic rule get a system disposition Measure: Straight-through for clean cases.</a:t>
            </a:r>
          </a:p>
          <a:p>
            <a:r>
              <a:t>4. Hand-offs by e-mail -&gt; Staged workflow with assignment, review, return and post; notice at each step Measure: Stage per renewal.</a:t>
            </a:r>
          </a:p>
          <a:p>
            <a:r>
              <a:t>5. Accounts to insurers from Excel -&gt; Extract per insurer sent protected; insurer decision file uploaded and applied Measure: Protected, logged.</a:t>
            </a:r>
          </a:p>
          <a:p>
            <a:r>
              <a:t>6. RA text file for packages only -&gt; RA first and second notice for any account, from the latest template, in batch Measure: RA in 20 s (p.186-188).</a:t>
            </a:r>
          </a:p>
          <a:p>
            <a:r>
              <a:t>7. Status monitored by hand -&gt; Renewal home, status report with summary counters, listings with escalation Measure: Live status.</a:t>
            </a:r>
          </a:p>
          <a:p>
            <a:r>
              <a:t>8. Accepted renewals re-keyed -&gt; Acceptance moves the account to placement and booking; it books as RENEWAL Measure: No re-keying.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contradictions inside the BRD decide the workflow triggers: disposition online or by upload (DCR-062), and manual initiation against straight-through processing (DCR-063). Renewal owns the renewal of submitted policies from the hand-off on (decision D2); the one-LAMD-intake question is still open (XQ01).</a:t>
            </a:r>
          </a:p>
          <a:p>
            <a:r>
              <a:t>DCR-062 (High): Disposition online or by batch upload. Impact: Disposition screens and the upload path. Owner: Marketing and Processing (RMEL). Decision: Which segments disposition online; who prepares the file</a:t>
            </a:r>
          </a:p>
          <a:p>
            <a:r>
              <a:t>DCR-063 (High): Manual initiation against straight-through. Impact: Workflow triggers of the renewal. Owner: Marketing and Processing (RMEL). Decision: Initiation always manual? Is CBG STP started automatically?</a:t>
            </a:r>
          </a:p>
          <a:p>
            <a:r>
              <a:t>DCR-075 (High): Legacy policies expiring after go-live. Impact: First-year renewals could be missed. Owner: RMEL, BDO IT. Decision: Load expiring EBIX / QPS policies; how many months</a:t>
            </a:r>
          </a:p>
          <a:p>
            <a:r>
              <a:t>DCR-129, 146 (High): Boundary with Submitted Policies; LAMD intake. Impact: Two renewal paths; two loan-status feeds. Owner: RMEL and Submitted Policies owners. Decision: Confirm decision D2; one LAMD report or two</a:t>
            </a:r>
          </a:p>
          <a:p>
            <a:r>
              <a:t>DCR-112 (High): Sanctions match during renewal. Impact: Renewal of a possibly sanctioned client. Owner: Compliance. Decision: Block or warn while a match is open</a:t>
            </a:r>
          </a:p>
          <a:p>
            <a:r>
              <a:t>DCR-064 (Medium): NRNS checkpoint. Impact: Reminder timing and letters. Owner: RMEL. Decision: 90 days before expiry? What is "not yet submitted"?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Straight-through processing with exception queues [Supported by BIBS]. BIBS: Decision matrix; clean cases proceed; Review and Exception buckets go to people. BDOI: Approve the matrix rows and which segments run STP (DCR-063).</a:t>
            </a:r>
          </a:p>
          <a:p>
            <a:r>
              <a:t>Rules owned by the business [Supported by BIBS]. BIBS: Lead days, buckets, eligibility checks and the matrix are maintained as configuration. BDOI: Name the rule owner and approver in RMEL.</a:t>
            </a:r>
          </a:p>
          <a:p>
            <a:r>
              <a:t>Evidence of client acceptance [Supported by BIBS]. BIBS: Acceptance recorded; changed terms need evidence (BRRN.038). BDOI: Agree which evidence is enough (e-mail, signed RA).</a:t>
            </a:r>
          </a:p>
          <a:p>
            <a:r>
              <a:t>Protected digital documents [Partly in BIBS]. BIBS: Extracts and RAs sent protected in batch with a send log. BDOI: Agree the password convention (DCR-153).</a:t>
            </a:r>
          </a:p>
          <a:p>
            <a:r>
              <a:t>Loss experience in the renewal decision [Partly in BIBS]. BIBS: Account history reads claims through the Claims query service (decision D4). BDOI: Decide the total-loss indicator (XQ10).</a:t>
            </a:r>
          </a:p>
          <a:p>
            <a:r>
              <a:t>Persistency KPI [BDOI to adopt]. BIBS: Status report and summary counters by unit and segment. BDOI: Define the persistency report (XQ06) and a retention target per segment.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BRD-7 Claims: Claims logging and monitoring, from notice of loss to closure and loss analytics.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is a broker: the insurer accepts, evaluates and pays a claim; BDOI files and follows the claim for the client. The scope is claims logging and monitoring. Motor and Non-Motor claims use the same record and statuses; they differ in the notice document (PLA or CRF) and the settlement path (LOA or cash offer, adjuster, signed release). Renewal reads its loss experience through the Claims query service (decision D4).</a:t>
            </a:r>
          </a:p>
          <a:p/>
          <a:p>
            <a:r>
              <a:t>Sources: BRD-7 p.23-27 (current process and target facility); Workshop addendum p.5-7 (BRCLM.036-043); FRS BRD-7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notice of loss arrives by e-mail or call; Marketing prepares the Preliminary Loss Advice for Motor or the Claims Reporting Form for Non-Motor. Policy details are looked up in EBIX and re-keyed. Premium payment is checked by hand. The loss advice goes to the insurer by e-mail from a mailbox and the handler chases the client for documents. Status and follow-up are tracked in spreadsheets, closure is tagged informally, and claims reports are extracted from ISYS.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are the current-process rows of FRS BRD-7 section 2.1, from the BRD (p.23-27).</a:t>
            </a:r>
          </a:p>
          <a:p>
            <a:r>
              <a:t>1. Notice prepared by hand: PLA or CRF prepared by Marketing from an e-mail or a call. (BRD-7 p.24-25)</a:t>
            </a:r>
          </a:p>
          <a:p>
            <a:r>
              <a:t>2. Policy details re-keyed: Policy details are looked up in EBIX and keyed again. (BRD-7 p.24-25; BRCLM.003, 004)</a:t>
            </a:r>
          </a:p>
          <a:p>
            <a:r>
              <a:t>3. Premium checked by hand: Nothing stops a claim on an unpaid invoice. (BRD-7 p.23; BRCLM.001)</a:t>
            </a:r>
          </a:p>
          <a:p>
            <a:r>
              <a:t>4. Loss advice from a mailbox: No send log; insurer claim numbers kept outside a system. (BRD-7 p.24-25; BRCLM.041, 043)</a:t>
            </a:r>
          </a:p>
          <a:p>
            <a:r>
              <a:t>5. Status in spreadsheets: Status, adjuster, reserve and follow-up dates tracked in Excel. (BRD-7 p.23, 27; BRCLM.010-024)</a:t>
            </a:r>
          </a:p>
          <a:p>
            <a:r>
              <a:t>6. Informal closure: No distinction between temporary and permanent closure. (BRD-7 p.27-28; BRCLM.005, 035)</a:t>
            </a:r>
          </a:p>
          <a:p>
            <a:r>
              <a:t>7. Reports from ISYS: Claims reports are extracted from ISYS. (BRD-7 p.39-42; Report List)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Claims Officer records the claim on the client's cover; the claim number is BCL-yyyy-nnnnnn. The cover, policy number, version, locations, Marketing unit and branch come from the BIBS account, read-only. BIBS reads the invoice ledger and disables the authorization code while premium is unpaid. The loss advice is generated and e-mailed to each insurer with a send log; insurer claim numbers are recorded per insurer. Status (restricted by role and unit), adjuster, reserve, next follow-up date, action plan and diary are on the claim, with history. Settlement type and amount are recorded; permanent closure needs a closing settlement type and a TL or TH. Ageing, outstanding, settled, loss experience and loss ratio reports run in BIBS and export to Excel.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usage table gives volumes and response times (p.32-41); no claim turnaround target is given.</a:t>
            </a:r>
          </a:p>
          <a:p>
            <a:r>
              <a:t>1. Notice prepared by hand -&gt; Claim recorded on the cover in BIBS with the PLA / CRF data; number BCL-yyyy-nnnnnn Measure: 55 claims a day.</a:t>
            </a:r>
          </a:p>
          <a:p>
            <a:r>
              <a:t>2. Policy details re-keyed -&gt; Cover, policy, version, locations, unit and branch read from the account, read-only Measure: No re-keying.</a:t>
            </a:r>
          </a:p>
          <a:p>
            <a:r>
              <a:t>3. Premium checked by hand -&gt; Invoice ledger read; authorization code disabled while premium is unpaid Measure: Check in 5 s.</a:t>
            </a:r>
          </a:p>
          <a:p>
            <a:r>
              <a:t>4. Loss advice from a mailbox -&gt; Loss advice generated and e-mailed per insurer; insurer claim numbers recorded Measure: Send log.</a:t>
            </a:r>
          </a:p>
          <a:p>
            <a:r>
              <a:t>5. Status in spreadsheets -&gt; Status within the role / unit matrix, adjuster, reserve, follow-up and diary on the claim Measure: 1,096 updates a day.</a:t>
            </a:r>
          </a:p>
          <a:p>
            <a:r>
              <a:t>6. Informal closure -&gt; Temporary and permanent closure; permanent needs a settlement type and a TL / TH Measure: Four-eyes closure.</a:t>
            </a:r>
          </a:p>
          <a:p>
            <a:r>
              <a:t>7. Reports from ISYS -&gt; Ageing, outstanding, settled, loss experience and loss ratio reports in BIBS, to Excel Measure: No ISYS extract.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Claims Authorization Code (DCR-085) decides how unpaid premium stops a claim.</a:t>
            </a:r>
          </a:p>
          <a:p>
            <a:r>
              <a:t>DCR-085 (High): Claims Authorization Code undefined. Impact: Valid claims could be blocked. Owner: Claims and Risk Management. Decision: What the code is; which unpaid invoice blocks; TL / TH override</a:t>
            </a:r>
          </a:p>
          <a:p>
            <a:r>
              <a:t>DCR-078 (High): Settlement type and settlement status. Impact: Claim closure and reporting. Owner: Claims and Risk Management. Decision: One list or two; which values close the claim</a:t>
            </a:r>
          </a:p>
          <a:p>
            <a:r>
              <a:t>DCR-086 (High): Does claim money pass through BDOI?. Impact: Cashiering and Disbursement flows for settlements. Owner: Claims, Operations. Decision: Record the cheque only, or handle the money</a:t>
            </a:r>
          </a:p>
          <a:p>
            <a:r>
              <a:t>DCR-157, CLQ14 (High): Open and historical claims at go-live. Impact: Loss ratio and claims-prone analysis need history. Owner: Claims, BDO IT. Decision: Scope and years from EBIX / ISYS</a:t>
            </a:r>
          </a:p>
          <a:p>
            <a:r>
              <a:t>DCR-079 (Medium): Who closes and reopens. Impact: Closure permissions. Owner: Claims and Risk Management. Decision: Officer or TL / TH for permanent closure</a:t>
            </a:r>
          </a:p>
          <a:p>
            <a:r>
              <a:t>XQ10 (Medium): Total-loss indicator. Impact: Renewal eligibility after a total loss. Owner: Claims, Renewal. Decision: Settlement type, loss nature or a flag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Premium-paid check before filing [Supported by BIBS]. BIBS: Invoice ledger read at intake; authorization disabled while unpaid, with reason and history. BDOI: Define the rule and the override (DCR-085).</a:t>
            </a:r>
          </a:p>
          <a:p>
            <a:r>
              <a:t>Claims diary with ageing control [Supported by BIBS]. BIBS: Next follow-up date, action plan, diary; age overall and per status; Claims home. BDOI: Set follow-up targets per status.</a:t>
            </a:r>
          </a:p>
          <a:p>
            <a:r>
              <a:t>Four-eyes closure [Supported by BIBS]. BIBS: Permanent closure needs a closing settlement type and a TL or TH; reopen with a reason. BDOI: Confirm who closes (DCR-079).</a:t>
            </a:r>
          </a:p>
          <a:p>
            <a:r>
              <a:t>Loss data for pricing and renewal [Partly in BIBS]. BIBS: Loss experience and claims-prone locations; Renewal reads claims (decision D4). BDOI: Migrate claims history (CLQ14).</a:t>
            </a:r>
          </a:p>
          <a:p>
            <a:r>
              <a:t>Confidential claim documents [Partly in BIBS]. BIBS: Document access classes per type; claims reports as CLAIM_REPORT (decision D3). BDOI: Approve the confidentiality matrix under the Data Privacy Act (XQ04).</a:t>
            </a:r>
          </a:p>
          <a:p>
            <a:r>
              <a:t>Claims service KPIs [BDOI to adopt]. BIBS: Ageing, outstanding and settled reports, 90-days-past-due list. BDOI: Adopt turnaround targets for notice-to-advice and advice-to-settlement.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BRD-8 Employee Benefits: Group benefit programmes: renewal advice to placement, member servicing, partner portal.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comes from five EB teams: BDO (captive bank group accounts), SM, Voluntary, Solicited and New Business. Renewals dominate. Insurers and client HR users are the first external users of BIBS: they work in the partner portal, and nothing they upload takes effect before BDOI validates it. Portal users are provisioned through User Access Maintenance as external users (decision D7).</a:t>
            </a:r>
          </a:p>
          <a:p/>
          <a:p>
            <a:r>
              <a:t>Sources: BRD-8 workshop addendum Add. p.3-5 (current and envisioned); BRID-001-030; main BRD p.5; FRS BRD-8 v1.0; decision D7 (portal users)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renewal advices are prepared in Word or Excel. The TOR, master lists, utilization reports and proposals travel by e-mail with no repository, and insurers and clients reply by e-mail. The comparative is compiled by hand. Placement starts on an e-mail to Processing, member movements and billing are tracked in spreadsheets, booking is in EBIX, and reports are produced manually.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are the current-process rows of FRS BRD-8 section 2.1, from the addendum (Add. p.3).</a:t>
            </a:r>
          </a:p>
          <a:p>
            <a:r>
              <a:t>1. Renewal advices by hand: Prepared in Word or Excel for each programme. (BRD-8 Add. p.3; BRID-001)</a:t>
            </a:r>
          </a:p>
          <a:p>
            <a:r>
              <a:t>2. No document repository: TOR, master lists, utilization and proposals travel by e-mail. (BRD-8 Add. p.3; BRID-002, 007)</a:t>
            </a:r>
          </a:p>
          <a:p>
            <a:r>
              <a:t>3. Insurers and clients reply by e-mail: No secure channel and no validation before use. (BRD-8 Add. p.3-4; BRID-005)</a:t>
            </a:r>
          </a:p>
          <a:p>
            <a:r>
              <a:t>4. Comparative compiled by hand: Proposals are re-keyed into a comparative. (BRD-8 Add. p.3; BRID-010)</a:t>
            </a:r>
          </a:p>
          <a:p>
            <a:r>
              <a:t>5. Placement starts on an e-mail: Hand-offs between Marketing, Processing and Collection run on e-mail. (BRD-8 Add. p.3; BRID-017)</a:t>
            </a:r>
          </a:p>
          <a:p>
            <a:r>
              <a:t>6. Members and billing in spreadsheets: Member movements, direct billing, cards and SOAs tracked in Excel. (BRD-8 Add. p.3; BRID-013, 021, 030)</a:t>
            </a:r>
          </a:p>
          <a:p>
            <a:r>
              <a:t>7. Reports by hand: Production, renewal and TAT reports compiled manually. (BRD-8 Add. p.3; BRID-022)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daily job sends the renewal advice 135 days before expiry (default), with reminders and a feedback request. Client HR users upload the master list, utilization and the signed BOR in the partner portal; the AO validates every upload before it takes effect. Target insurers approve the franchise in the portal; the TOR and the unnamed master list are released to them, and they submit proposals on a structured form. BIBS compiles the comparative from the validated proposals; sign-off and the value-threshold approval are workflow steps. The client's confirmation creates one account per benefit line and notifies Processing, who place, issue and book on the BRD-1 spine and release the SOA. Member changes, direct billing, contracts, HMO cards and SOAs are tracked items with automatic follow-ups.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asks for automatic renewal advices, one repository, secure access and standard comparatives (Add. p.4-5); it gives no turnaround target.</a:t>
            </a:r>
          </a:p>
          <a:p>
            <a:r>
              <a:t>1. Renewal advices by hand -&gt; Daily job sends the RA 135 days before expiry, with reminders and a feedback request Measure: About 4,150 renewals a year.</a:t>
            </a:r>
          </a:p>
          <a:p>
            <a:r>
              <a:t>2. No document repository -&gt; Every document registered with cycle, type, process and version; outbound files protected Measure: One repository.</a:t>
            </a:r>
          </a:p>
          <a:p>
            <a:r>
              <a:t>3. Insurers and clients reply by e-mail -&gt; Insurers and client HR work in the partner portal; uploads take effect after BDOI validation Measure: Validation before use.</a:t>
            </a:r>
          </a:p>
          <a:p>
            <a:r>
              <a:t>4. Comparative compiled by hand -&gt; Comparative compiled from the validated proposals; sign-off and threshold approval in the workflow Measure: No re-keying.</a:t>
            </a:r>
          </a:p>
          <a:p>
            <a:r>
              <a:t>5. Placement starts on an e-mail -&gt; Client confirmation creates one account per benefit line and notifies Processing Measure: Hand-off in the system.</a:t>
            </a:r>
          </a:p>
          <a:p>
            <a:r>
              <a:t>6. Members and billing in spreadsheets -&gt; Member changes, direct billing, contracts, HMO cards and SOAs are tracked items with follow-ups Measure: Automatic follow-ups.</a:t>
            </a:r>
          </a:p>
          <a:p>
            <a:r>
              <a:t>7. Reports by hand -&gt; Production, Renewal, Placement, New Business and TAT reports with a business type filter Measure: Live reports.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lists and utilization reports are health-related personal data: DCR-094 is the main compliance gap.</a:t>
            </a:r>
          </a:p>
          <a:p>
            <a:r>
              <a:t>DCR-094 (High): No data-privacy rule for member data. Impact: Health-related personal data under the Data Privacy Act. Owner: EB, Compliance (DPO). Decision: Access, masking and retention for master lists and utilization</a:t>
            </a:r>
          </a:p>
          <a:p>
            <a:r>
              <a:t>DCR-096 (High): External portal users. Impact: Internet-facing access: hosting, MFA, provisioning. Owner: EB, BDO Information Security. Decision: Who creates and approves portal users; MFA; DMZ</a:t>
            </a:r>
          </a:p>
          <a:p>
            <a:r>
              <a:t>DCR-087 (Medium): RA 180 or 135 days before expiry. Impact: Timing of the renewal cycle. Owner: EB Marketing. Decision: Days before expiry and number of reminders</a:t>
            </a:r>
          </a:p>
          <a:p>
            <a:r>
              <a:t>DCR-088 (Medium): BOR for renewals. Impact: Insurer requests blocked or not. Owner: EB Marketing. Decision: Never, when remarketing, or always</a:t>
            </a:r>
          </a:p>
          <a:p>
            <a:r>
              <a:t>DCR-090 (Medium): Franchise and ISACOM steps. Impact: Steps without requirement rows. Owner: EB Marketing. Decision: What ISACOM approves, and when</a:t>
            </a:r>
          </a:p>
          <a:p>
            <a:r>
              <a:t>DCR-097 (Medium): HMO providers as insurers. Impact: Catalog of placement counterparties. Owner: EB, MBS. Decision: List the benefit lines; HMOs held with insurers?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Data-privacy controls on member data [Partly in BIBS]. BIBS: Document access classes, protected files, download logging, audit trail. BDOI: Set masking and retention for member data with the DPO (DCR-094).</a:t>
            </a:r>
          </a:p>
          <a:p>
            <a:r>
              <a:t>Secure partner portal [Partly in BIBS]. BIBS: Portal roles for insurers and client HR; uploads validated before use; lock-out after 3 attempts. BDOI: Decide MFA, hosting and provisioning (DCR-096).</a:t>
            </a:r>
          </a:p>
          <a:p>
            <a:r>
              <a:t>One version-controlled repository [Supported by BIBS]. BIBS: Documents registered by cycle, type, process and version. BDOI: Stop e-mailing census files once the portal is live.</a:t>
            </a:r>
          </a:p>
          <a:p>
            <a:r>
              <a:t>Approval thresholds owned by the business [Supported by BIBS]. BIBS: Threshold rules on TSI or premium route the comparative to BDOI Management. BDOI: Set the threshold values.</a:t>
            </a:r>
          </a:p>
          <a:p>
            <a:r>
              <a:t>Service KPIs per programme [Supported by BIBS]. BIBS: TAT report and EB home with pending items and overdue follow-ups. BDOI: Agree TAT targets per step with the five EB teams.</a:t>
            </a:r>
          </a:p>
          <a:p>
            <a:r>
              <a:t>Straight-through renewal where terms are unchanged [BDOI to adopt]. BIBS: Incumbent indicative terms can go to the client without remarketing. BDOI: Define when a renewal may skip remarketing.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BRD-9 Customer Servicing Facility: Contact centre search, servicing view, contact updates, document resends.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BDO-Insure Front-End System of BDO IT serves the contact centre agents. It shows full account details only for CBG accounts, lets agents update contact details only, has servers at end of life and no role-based access control (BRD-9 p.4). In BIBS the CSF reads the BIBS modules through their query services and stores only its own records. It has no approval workflow: every action is immediate and logged. Note: the printed e-mail in the pack carries meeting credentials; circulate a redacted copy (DCR-098).</a:t>
            </a:r>
          </a:p>
          <a:p/>
          <a:p>
            <a:r>
              <a:t>Sources: BRD-9 p.3-5 (current and envisioned); e-mail clarification p.17; BRCSF-001-011; FRS BRD-9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agent searches the Front-End on a limited set of keys. Full account details show for CBG accounts only; for non-CBG accounts the agent sees only contact details, account number and expiry date. Every agent has the same rights. Contact updates are written into QPS or EBIX. Renewal advice and e-policy resends are handled outside the tool by the fulfilment units, and management has no audit report. The servers have reached end of life.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points are the current-process rows of FRS BRD-9 section 2.1, from the BRD (p.3-5, p.17).</a:t>
            </a:r>
          </a:p>
          <a:p>
            <a:r>
              <a:t>1. Full details for CBG accounts only: Non-CBG accounts show contact details, account number and expiry date only. (BRD-9 p.4; BRCSF-002, 005)</a:t>
            </a:r>
          </a:p>
          <a:p>
            <a:r>
              <a:t>2. Limited search keys: Agents cannot search by every key the caller gives. (BRD-9 p.17 (e-mail); BRCSF-003)</a:t>
            </a:r>
          </a:p>
          <a:p>
            <a:r>
              <a:t>3. No role-based access: Agents, supervisors and management have the same rights. (BRD-9 p.4)</a:t>
            </a:r>
          </a:p>
          <a:p>
            <a:r>
              <a:t>4. Updates written in QPS or EBIX: Contact details are changed in the legacy systems. (BRD-9 p.3-5; BRCSF-004)</a:t>
            </a:r>
          </a:p>
          <a:p>
            <a:r>
              <a:t>5. Resends outside the tool: RA and e-policy resends are handled by other units. (BRD-9 p.17 (e-mail item 9); BRCSF-006)</a:t>
            </a:r>
          </a:p>
          <a:p>
            <a:r>
              <a:t>6. No audit report; ageing servers: Management has no audit trail of agent actions; servers at end of life. (BRD-9 p.4; BRCSF-010, 011)</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agent signs in to the Customer Search. One search box takes the name, client ID, account number, PN number or application number, and results group by client. The servicing view shows the client summary, every account (CBG and non-CBG) with its CSF status, payments of the last 12 months, RAs, e-policies and documents. Before an update the agent completes the verification checklist; only contact fields change, with a reason, in the BIBS client master. The agent resends the RA or the e-policy to the registered e-mail, password protected, with the password sent separately. The contact change is queued for QPS and EBIX while they coexist (on hold, CSQ01). Management prints or saves the audit trail and agent activity in PDF or Excel.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usage table gives the volumes and response times (p.13-14).</a:t>
            </a:r>
          </a:p>
          <a:p>
            <a:r>
              <a:t>1. Full details for CBG accounts only -&gt; Every account of the client, CBG and non-CBG, with status and payments Measure: All segments.</a:t>
            </a:r>
          </a:p>
          <a:p>
            <a:r>
              <a:t>2. Limited search keys -&gt; One search box for name, client ID, account number, PN number and application number Measure: &lt; 3 s search.</a:t>
            </a:r>
          </a:p>
          <a:p>
            <a:r>
              <a:t>3. No role-based access -&gt; Agent, supervisor and management roles with separate rights to update, resend and upload Measure: Role-based access.</a:t>
            </a:r>
          </a:p>
          <a:p>
            <a:r>
              <a:t>4. Updates written in QPS or EBIX -&gt; Update made once in the BIBS client master after verifying the caller; write-back to QPS / EBIX while they coexist Measure: Verification before change.</a:t>
            </a:r>
          </a:p>
          <a:p>
            <a:r>
              <a:t>5. Resends outside the tool -&gt; Agent views, downloads and resends the RA and e-policy to the registered e-mail, protected Measure: Resend in one call.</a:t>
            </a:r>
          </a:p>
          <a:p>
            <a:r>
              <a:t>6. No audit report; ageing servers -&gt; Every change and agent action logged; audit trail in PDF or Excel Measure: Full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write-back to QPS and EBIX (DCR-104) decides how long two systems of record coexist.</a:t>
            </a:r>
          </a:p>
          <a:p>
            <a:r>
              <a:t>DCR-104, CSQ01 (High): Write-back to QPS and EBIX. Impact: Two systems of record while they coexist. Owner: Contact Center Management, BDO IT. Decision: Until when are QPS / EBIX kept? Write back or not?</a:t>
            </a:r>
          </a:p>
          <a:p>
            <a:r>
              <a:t>DCR-143 (High): Agents in the BDO directory. Impact: Sign-in of contact centre agents. Owner: BDO ITIO. Decision: Are agents in EUA? Local sign-in meanwhile?</a:t>
            </a:r>
          </a:p>
          <a:p>
            <a:r>
              <a:t>DCR-102 (High): Backup every 15 minutes or 4 hours. Impact: Backup and recovery design of the platform. Owner: BDO IT. Decision: Is RPO 15 minutes BIBS-wide?</a:t>
            </a:r>
          </a:p>
          <a:p>
            <a:r>
              <a:t>DCR-101 (Medium): Statuses Pending, Awaiting, Booked, Open / Closed. Impact: What the agent tells the caller. Owner: Contact Center Management. Decision: Define each status and its source</a:t>
            </a:r>
          </a:p>
          <a:p>
            <a:r>
              <a:t>XQ02 (Medium): Two contact centre roles. Impact: Renewal follow-up role and CSF roles. Owner: Contact Center, RMEL. Decision: Same people? One role or two?</a:t>
            </a:r>
          </a:p>
          <a:p>
            <a:r>
              <a:t>XQ04, XQ05 (Medium): Documents agents may see. Impact: Confidential claim and renewal documents. Owner: Contact Center, Compliance. Decision: Confidentiality matrix per document type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Single client view [Supported by BIBS]. BIBS: All accounts, payments, RAs, e-policies and documents of the client on one screen. BDOI: Retire the Front-End once the data are in BIBS.</a:t>
            </a:r>
          </a:p>
          <a:p>
            <a:r>
              <a:t>Verify the caller before any change [Supported by BIBS]. BIBS: Verification checklist before a contact update; only contact fields change. BDOI: Approve the verification questions.</a:t>
            </a:r>
          </a:p>
          <a:p>
            <a:r>
              <a:t>Protected delivery of documents [Supported by BIBS]. BIBS: Resend to the registered e-mail only, password protected, password sent separately. BDOI: Agree the password convention (DCR-153).</a:t>
            </a:r>
          </a:p>
          <a:p>
            <a:r>
              <a:t>Least-privilege roles [Supported by BIBS]. BIBS: Separate rights to update, resend and upload for agents, supervisors and management. BDOI: Approve the role matrix (DCR-121).</a:t>
            </a:r>
          </a:p>
          <a:p>
            <a:r>
              <a:t>Quality review of agent actions [Supported by BIBS]. BIBS: Agent activity and contact-change reports for supervisors. BDOI: Set a sampling routine for supervisors.</a:t>
            </a:r>
          </a:p>
          <a:p>
            <a:r>
              <a:t>First-contact resolution KPI [BDOI to adopt]. BIBS: Actions logged per contact. BDOI: Track first-contact resolution and repeat calls per reason.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BRD-10 Sanction Screening: Sanction and PEP screening, risk profiling, case review, escalation, STR.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screens clients by hand today. The BRD asks for one in-system workflow with configurable criteria and matrices, a list updated on a schedule, automated matching, risk tagging and case creation, review templates, routing to approvers, escalation to Compliance and the AML Committee, STR preparation and extraction, and immutable audit logs. The benefits on p.4-5 are the only quantified targets in the twelve BRDs.</a:t>
            </a:r>
          </a:p>
          <a:p/>
          <a:p>
            <a:r>
              <a:t>Sources: BRD-10 p.6-7 (current process, rendered from images), p.8 (to-be); SNSRP-101 to 706; FRS BRD-10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risk-profile category is cascaded by memo. The AML unit sends sanctioned names by e-mail advisory; Compliance consolidates them and publishes them on SharePoint. Investigators match the names against new and existing clients by hand, tag the client risk profile by hand, fill review templates outside the system and route them by e-mail for review and approval. PEP lists are prepared every quarter by Marketing and validated in NLDS, to which one person has access. There is no Enhanced Due Diligence for PEPs. The STR is prepared by hand and filed on the AMLC portal.</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nine points are the current-process rows of FRS BRD-10 section 2.1, read from the image pages of the BRD (p.6-7).</a:t>
            </a:r>
          </a:p>
          <a:p>
            <a:r>
              <a:t>1. Risk category by memo: The risk-profile category is cascaded by memo. (BRD-10 p.6)</a:t>
            </a:r>
          </a:p>
          <a:p>
            <a:r>
              <a:t>2. Sanctioned names by e-mail: The AML unit sends names by e-mail advisory. (BRD-10 p.6)</a:t>
            </a:r>
          </a:p>
          <a:p>
            <a:r>
              <a:t>3. List kept on SharePoint: Compliance consolidates and publishes the names on SharePoint. (BRD-10 p.6)</a:t>
            </a:r>
          </a:p>
          <a:p>
            <a:r>
              <a:t>4. Matching by hand: Names are matched against new and existing clients manually. (BRD-10 p.6)</a:t>
            </a:r>
          </a:p>
          <a:p>
            <a:r>
              <a:t>5. Risk profile tagged by hand: The client risk profile is tagged manually. (BRD-10 p.6)</a:t>
            </a:r>
          </a:p>
          <a:p>
            <a:r>
              <a:t>6. Templates outside the system: Review templates are filled outside the system and e-mailed. (BRD-10 p.6)</a:t>
            </a:r>
          </a:p>
          <a:p>
            <a:r>
              <a:t>7. Routing by e-mail: Review and approval items are routed by e-mail. (BRD-10 p.6)</a:t>
            </a:r>
          </a:p>
          <a:p>
            <a:r>
              <a:t>8. PEP list quarterly; one NLDS user: PEP lists prepared by Marketing AOs; no EDD for PEPs. (BRD-10 p.7)</a:t>
            </a:r>
          </a:p>
          <a:p>
            <a:r>
              <a:t>9. STR by hand: The STR is prepared manually and filed on the AMLC portal. (BRD-10 p.6)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Compliance maintains the risk categories, rules, matrices, templates and dispositions; a checker approves each version. List files load on a schedule or by upload, and every run is logged. BIBS matches every new client, every identity change, every account application, every list change and the whole client base in a batch window, with exact, phonetic and fuzzy rules, and sets the risk rating and the PEP / watchlist tags. A case opens and is assigned by the assignment matrix. The Investigator completes the review template, uploads the KYC documents and submits. BIBS validates the case and routes it by the approval matrix to the Unit Head, Compliance and the AML Committee. The STR is prefilled from the case and the committee-approved STRs are extracted in the AMLC format; the AMLC reference is recorded after portal filing.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measures are BDOI's own benefit targets (p.4-5).</a:t>
            </a:r>
          </a:p>
          <a:p>
            <a:r>
              <a:t>1. Risk category by memo -&gt; Risk categories and rules maintained in BIBS; a checker approves each version Measure: Maker-checker on rules.</a:t>
            </a:r>
          </a:p>
          <a:p>
            <a:r>
              <a:t>2. Sanctioned names by e-mail -&gt; List files loaded on a schedule or uploaded; every run logged, failed records reported Measure: 10-300 records a day.</a:t>
            </a:r>
          </a:p>
          <a:p>
            <a:r>
              <a:t>3. List kept on SharePoint -&gt; Watchlist held in BIBS by source; manual additions through maker-checker Measure: One list.</a:t>
            </a:r>
          </a:p>
          <a:p>
            <a:r>
              <a:t>4. Matching by hand -&gt; Every new client, application, list change and the client base in a batch window Measure: 10 min saved per case.</a:t>
            </a:r>
          </a:p>
          <a:p>
            <a:r>
              <a:t>5. Risk profile tagged by hand -&gt; Risk rules set the rating and PEP / watchlist tags; override with evidence Measure: Tags by rule.</a:t>
            </a:r>
          </a:p>
          <a:p>
            <a:r>
              <a:t>6. Templates outside the system -&gt; Review template completed on the case with the KYC documents Measure: Case cycle 4 h &gt; 1 h.</a:t>
            </a:r>
          </a:p>
          <a:p>
            <a:r>
              <a:t>7. Routing by e-mail -&gt; Case validated and routed by the approval matrix to UH, Compliance and AML Committee Measure: 64 h a month freed.</a:t>
            </a:r>
          </a:p>
          <a:p>
            <a:r>
              <a:t>8. PEP list quarterly; one NLDS user -&gt; PEP entries in the watchlist; PEP clients get a case and, where required, an EDD review Measure: EDD for PEPs.</a:t>
            </a:r>
          </a:p>
          <a:p>
            <a:r>
              <a:t>9. STR by hand -&gt; STR prefilled from the case; approved STRs extracted in the AMLC format Measure: Reference recorded.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Whether an open match blocks business (DCR-112) is the key compliance decision; BIBS warns by banner and has the block behind a parameter, off by default. Filing on the AMLC portal stays manual; BIBS extracts the committee-approved STRs in the AMLC format and records the reference.</a:t>
            </a:r>
          </a:p>
          <a:p>
            <a:r>
              <a:t>DCR-112 (High): Open match blocks or warns. Impact: Business with a possible sanctioned party. Owner: Chief Compliance Officer. Decision: Block or warn on quotation, placement, booking, renewal</a:t>
            </a:r>
          </a:p>
          <a:p>
            <a:r>
              <a:t>DCR-109 (Medium): PEP source for individual clients. Impact: PEP coverage. Owner: Compliance. Decision: Which list screens individuals</a:t>
            </a:r>
          </a:p>
          <a:p>
            <a:r>
              <a:t>DCR-108 (Medium): AML Committee decision rule. Impact: When a case is final. Owner: Compliance. Decision: Any member, majority, all, or a quorum</a:t>
            </a:r>
          </a:p>
          <a:p>
            <a:r>
              <a:t>DCR-111 (Medium): Adverse media and EDD template. Impact: Scope of the review. Owner: Compliance. Decision: Adverse media in scope? EDD fields</a:t>
            </a:r>
          </a:p>
          <a:p>
            <a:r>
              <a:t>DCR-110 (Medium): 287 concurrent investigators. Impact: Load target and role design. Owner: Compliance. Decision: Who the investigators are; real concurrency</a:t>
            </a:r>
          </a:p>
          <a:p>
            <a:r>
              <a:t>SNSRP-706 (On hold): AMLC portal filing. Impact: Filing stays manual. Owner: Compliance. Decision: Keep manual filing with the extract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Screening on every trigger [Supported by BIBS]. BIBS: New client, identity change, account application, list change and a monthly full re-screen. BDOI: Confirm the screening scope and batch window.</a:t>
            </a:r>
          </a:p>
          <a:p>
            <a:r>
              <a:t>Maker-checker on rules and lists [Supported by BIBS]. BIBS: Criteria, matrices and manual list entries are approved by the Compliance Checker. BDOI: Name the checker and a back-up.</a:t>
            </a:r>
          </a:p>
          <a:p>
            <a:r>
              <a:t>Risk-based due diligence for PEPs [Partly in BIBS]. BIBS: PEP and high-risk cases; EDD case type when the category requires it. BDOI: Give the EDD template and the PEP source (DCR-109, 111).</a:t>
            </a:r>
          </a:p>
          <a:p>
            <a:r>
              <a:t>Clear escalation to the AML Committee [Supported by BIBS]. BIBS: Approval and escalation matrices route cases to UH, Compliance and the committee. BDOI: Set the committee decision rule (DCR-108).</a:t>
            </a:r>
          </a:p>
          <a:p>
            <a:r>
              <a:t>Timely STR filing with AMLC [Partly in BIBS]. BIBS: STR prefilled, completeness check, AMLC-format extract, reference recorded. BDOI: Keep a filing calendar and monitor it on the STR report.</a:t>
            </a:r>
          </a:p>
          <a:p>
            <a:r>
              <a:t>Immutable audit trail [Supported by BIBS]. BIBS: Every run, match, decision and override logged, insert-only. BDOI: Agree the retention of screening records (DCR-136).</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BRD-11 User Access Maintenance: User access requests, approvals, group profiles, access reports.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BDOI coordinates every QPS access request with IT, which causes delays (BRD-11 p.5). The BRD asks for a module in which the business unit manages permissions, roles and access levels itself, with self-service requests. BIBS provides users, roles, permissions, sign-in with lock-out after 3 attempts, the session policy (warning at 15 minutes, sign-out at 30), access requests under four eyes and the User Access Matrix. BRD-11 adds drafts, returns, chosen approvers, effective dates, bulk, second approval, group-profile requests and four reports. Directory sign-in (EUA) is added when BDO supplies the interface (decision D6).</a:t>
            </a:r>
          </a:p>
          <a:p/>
          <a:p>
            <a:r>
              <a:t>Sources: BRD-11 p.5-6 (current, envisioned, two process diagrams); BRD 1.002-4.003; NFR p.11-18; FRS BRD-11 v1.0, sections 2.3 (baseline) and 5</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business unit sends access requests to IT and coordinates them. The approver is reached by e-mail. IT grants the access in QPS, and group profiles are created or changed by IT on request. Access lists are compiled by hand (BRD-11 p.5).</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points are the current-process rows of the BRD (p.5).</a:t>
            </a:r>
          </a:p>
          <a:p>
            <a:r>
              <a:t>1. Requests go through IT: The business unit coordinates every request with IT; this causes delays. (BRD-11 p.5)</a:t>
            </a:r>
          </a:p>
          <a:p>
            <a:r>
              <a:t>2. Approver reached by e-mail: No queue of requests waiting for a decision. (BRD-11 p.5; BRD 2.002)</a:t>
            </a:r>
          </a:p>
          <a:p>
            <a:r>
              <a:t>3. IT grants the access: The grant waits for IT; no effective date. (BRD-11 p.5-6)</a:t>
            </a:r>
          </a:p>
          <a:p>
            <a:r>
              <a:t>4. Group profiles changed by IT: Profile changes are made on request with no approval trail. (BRD-11 p.5-6; BRD 3.002)</a:t>
            </a:r>
          </a:p>
          <a:p>
            <a:r>
              <a:t>5. Access lists by hand: Who has which access, and since when, is compiled manually. (BRD-11 p.5; BRD 3.003, 4.003)</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Requestor raises the request (enrol, modify, deactivate or reactivate, alone or in bulk), as a draft or submitted, and chooses the approver. BIBS checks it, sets it PENDING and notifies the chosen approver, who sees it under "Assigned to me". A change to a high-privilege profile, or a submission outside working hours, needs a second approval and raises an alert. The approver approves, rejects with a reason or returns it with remarks. BIBS applies the change on approval or on the effective date, logs the from / to values and notifies the requester and the affected user. Group profiles are requested by the Business Administrator, approved in order and implemented by the System Administrator. Four reports and a structured audit log show who has which access, since when and who changed it. Sign-in by the BDO directory (EUA) is on hold until BDO supplies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volumes are small (p.11); the value is control and speed, not throughput.</a:t>
            </a:r>
          </a:p>
          <a:p>
            <a:r>
              <a:t>1. Requests go through IT -&gt; Requestor raises the request in BIBS, as a draft or submitted, alone or in bulk Measure: No IT hand-off.</a:t>
            </a:r>
          </a:p>
          <a:p>
            <a:r>
              <a:t>2. Approver reached by e-mail -&gt; Chosen approver notified; request listed under "Assigned to me" Measure: Queue per approver.</a:t>
            </a:r>
          </a:p>
          <a:p>
            <a:r>
              <a:t>3. IT grants the access -&gt; BIBS applies the access on approval or on the effective date; high-risk changes need a 2nd approval Measure: Four eyes on every change.</a:t>
            </a:r>
          </a:p>
          <a:p>
            <a:r>
              <a:t>4. Group profiles changed by IT -&gt; Business Administrator requests; approvers approve in order; System Administrator implements Measure: Approval trail.</a:t>
            </a:r>
          </a:p>
          <a:p>
            <a:r>
              <a:t>5. Access lists by hand -&gt; Four reports and a structured audit log with from / to values Measure: Reports in 20 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is written for the "QPS User Access Maintenance Module" (DCR-114); the project reads it as BIBS-wide. It has no acceptance criteria (DCR-115); the FRS proposes them for BDOI's concurrence.</a:t>
            </a:r>
          </a:p>
          <a:p>
            <a:r>
              <a:t>DCR-121 (High): No BIBS-wide user access matrix. Impact: Roles and persona tests of every module. Owner: UAM process owner, all BRD owners. Decision: Provide or approve one matrix</a:t>
            </a:r>
          </a:p>
          <a:p>
            <a:r>
              <a:t>DCR-143, D6 (High): Directory sign-in (EUA). Impact: Identity source for every user. Owner: BDO ITIO. Decision: EUA interface; local sign-in meanwhile</a:t>
            </a:r>
          </a:p>
          <a:p>
            <a:r>
              <a:t>DCR-114 (High): BRD written for QPS only. Impact: Scope of access maintenance. Owner: UAM process owner. Decision: Confirm BRD-11 applies to all of BIBS</a:t>
            </a:r>
          </a:p>
          <a:p>
            <a:r>
              <a:t>DCR-115 (High): No acceptance criteria; NFRs "follow QPS". Impact: Test and sign-off. Owner: UAM process owner. Decision: Concur with the FRS criteria; give QPS retention</a:t>
            </a:r>
          </a:p>
          <a:p>
            <a:r>
              <a:t>DCR-141, XQ11 (High): Single session per device. Impact: Session control for all users. Owner: UAM owner, ITIO. Decision: All users, Collections only, or no one</a:t>
            </a:r>
          </a:p>
          <a:p>
            <a:r>
              <a:t>DCR-096 (High): External portal users. Impact: First internet-facing users. Owner: UAM owner, Information Security. Decision: Provisioning, MFA, hosting (decision D7)</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Least privilege from one role matrix [Partly in BIBS]. BIBS: Roles by permission and area; User Access Matrix with Excel export. BDOI: Approve one BIBS-wide matrix (DCR-121).</a:t>
            </a:r>
          </a:p>
          <a:p>
            <a:r>
              <a:t>Segregation of duties [Supported by BIBS]. BIBS: Approver cannot be the requester; maker-checker in every module; incompatible pairs can be blocked. BDOI: Name the role pairs one user must not hold.</a:t>
            </a:r>
          </a:p>
          <a:p>
            <a:r>
              <a:t>Joiner, mover, leaver discipline [Supported by BIBS]. BIBS: Enrol, modify, deactivate and reactivate requests with effective dates. BDOI: Link HR movements to access requests.</a:t>
            </a:r>
          </a:p>
          <a:p>
            <a:r>
              <a:t>Periodic access review [BDOI to adopt]. BIBS: User access, group profile and membership reports. BDOI: Run a quarterly recertification by each unit head.</a:t>
            </a:r>
          </a:p>
          <a:p>
            <a:r>
              <a:t>Single sign-on with the BDO directory [Partly in BIBS]. BIBS: Directory authentication port; local sign-in with lock-out until then. BDOI: Provide the EUA interface (DCR-143).</a:t>
            </a:r>
          </a:p>
          <a:p>
            <a:r>
              <a:t>Audit of every access change [Supported by BIBS]. BIBS: Insert-only change log with from / to values and the approver. BDOI: Agree the retention of access logs.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BRD-12 Submitted Policies: Policies submitted by bank clients: masterlist, sanitation, review, IAAF, renewal hand-off.</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Submitted policies are policies that bank clients (CBG Motor, CBG Fire, Non-CBG Corporate and Branches, Non-CBG Retail) placed outside BDOI and submitted to the bank. BDOI keeps them on a masterlist, reviews their adequacy, and at expiry converts them to BDOI-placed renewals. In BIBS the renewal from the hand-off on belongs to the Renewal module (decision D2). It uses the business type BT0 and the Collections and Cashiering hand-offs.</a:t>
            </a:r>
          </a:p>
          <a:p/>
          <a:p>
            <a:r>
              <a:t>Sources: BRD-12 p.4-7 (current and envisioned, image pages); BRIDSP-01 to 33; FRS BRD-12 v1.0, sections 2 and 5; decision D2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CBG Motor Team Leads extract policy details from LFS and CIU and the Submitted Handler consolidates them within 30 days; CBG Fire policies come from Home Loan AOs; Non-CBG Corporate and Branch policies are reviewed by a Policy Reviewer who issues an IAAF on paper; Non-CBG Retail policies come from the LAMD report. Each segment keeps an Excel masterlist on a shared drive. At renewal a Sanitation Handler matches the list against LAMD by hand, excludes accounts that must not be renewed, assigns an insurer and sends a proposal with a 30-day hold cover request, and an RA text file goes to COG for mailing. Limit breaches are handled by e-mail with TSU, handling-fee payments are filtered from the UPP list on SharePoint, and status is monitored in the masterlists.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are the current-process rows of FRS BRD-12 section 2.1, read from the image pages of the BRD (p.4-7).</a:t>
            </a:r>
          </a:p>
          <a:p>
            <a:r>
              <a:t>1. Policy details consolidated by hand: Excel reports and documents per segment; 30 days to consolidate CBG Motor. (BRD-12 p.4-5; BRIDSP-01, 02)</a:t>
            </a:r>
          </a:p>
          <a:p>
            <a:r>
              <a:t>2. Separate masterlists: One Excel masterlist per segment on Drive H:, with e-mail and SharePoint. (BRD-12 p.4-5; BRIDSP-04)</a:t>
            </a:r>
          </a:p>
          <a:p>
            <a:r>
              <a:t>3. Sanitation and LAMD matching by hand: Exclusions (FFY, employees, No Touch) applied manually. (BRD-12 p.4-7; BRIDSP-08, 09)</a:t>
            </a:r>
          </a:p>
          <a:p>
            <a:r>
              <a:t>4. Reviews and IAAF on paper: Adequacy reviews by e-mail; IAAF signed on paper. (BRD-12 p.4-5; BRIDSP-05-07)</a:t>
            </a:r>
          </a:p>
          <a:p>
            <a:r>
              <a:t>5. Limit breaches by e-mail: Breaches handled with TSU by e-mail. (BRD-12 p.4-7; BRIDSP-16-19)</a:t>
            </a:r>
          </a:p>
          <a:p>
            <a:r>
              <a:t>6. Renewal prepared by hand: Proposal, 30-day hold cover request and RA text file for COG prepared manually. (BRD-12 p.5-7; BRIDSP-22-26)</a:t>
            </a:r>
          </a:p>
          <a:p>
            <a:r>
              <a:t>7. Handling fee from the UPP list: Handling-fee payments filtered from the Unapplied Payment List on SharePoint. (BRD-12 p.4-7; BRIDSP-31)</a:t>
            </a:r>
          </a:p>
          <a:p>
            <a:r>
              <a:t>8. Status in the masterlists: No reports or alerts from live data. (BRD-12 p.4-7; BRIDSP-20, 21, 24)</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each source file is uploaded and validated, one masterlist record per policy; fields are proposed from the policy document and saved only after a user confirms them. One Submitted Masterlist keeps history and role-based access. A processing run sanitises, matches against LAMD by PN, classifies (Inforced or Submitted), buckets and tags each policy; fallout is listed with reason codes. Reviews and the IAAF follow the approval matrix, with stamped signatures. A limit breach produces a TOR approved by the TSU matrix and handed to the AO. The expiry scan hands renewable policies to the Renewal module, which creates the account, requests the 30-day hold cover and sends the letters. Handling-fee payments are tagged in the Unapplied Payment List by PN or location reference. The source feeds, OCR, qualified e-signature and COG transfer are on hold (upload, manual entry, stamped signature, print batch).</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usage table gives the volumes and the 2-second response target (p.13-14), the tightest in the twelve BRDs.</a:t>
            </a:r>
          </a:p>
          <a:p>
            <a:r>
              <a:t>1. Policy details consolidated by hand -&gt; Each source uploaded; fields extracted from the document and confirmed by a user Measure: Keyed once.</a:t>
            </a:r>
          </a:p>
          <a:p>
            <a:r>
              <a:t>2. Separate masterlists -&gt; One Submitted Masterlist with history and role-based access Measure: 2 s response (p.13-14).</a:t>
            </a:r>
          </a:p>
          <a:p>
            <a:r>
              <a:t>3. Sanitation and LAMD matching by hand -&gt; Configurable rules sanitise, match, classify and bucket every policy; fallout reported Measure: 63,000 a year by rule.</a:t>
            </a:r>
          </a:p>
          <a:p>
            <a:r>
              <a:t>4. Reviews and IAAF on paper -&gt; Reviews, IAAF and approval matrix in BIBS, with stamped signatures Measure: Approval trail.</a:t>
            </a:r>
          </a:p>
          <a:p>
            <a:r>
              <a:t>5. Limit breaches by e-mail -&gt; TOR generated, approved by the TSU matrix and handed over to the AO Measure: Limit check by rule.</a:t>
            </a:r>
          </a:p>
          <a:p>
            <a:r>
              <a:t>6. Renewal prepared by hand -&gt; Expiry scan hands renewable policies to Renewal: account, hold cover, letters Measure: No manual RA file.</a:t>
            </a:r>
          </a:p>
          <a:p>
            <a:r>
              <a:t>7. Handling fee from the UPP list -&gt; Handling-fee payments tagged automatically by PN or location reference Measure: Tagged daily.</a:t>
            </a:r>
          </a:p>
          <a:p>
            <a:r>
              <a:t>8. Status in the masterlists -&gt; Reports, alerts and notifications from live data Measure: Live status.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bucket list (DCR-124) and the LAMD intake (DCR-146) decide which submitted policies are renewed.</a:t>
            </a:r>
          </a:p>
          <a:p>
            <a:r>
              <a:t>DCR-124 (High): Bucket list and precedence. Impact: Which submitted policies are renewed. Owner: CBG and Non-CBG Marketing. Decision: Complete bucket list; FFY, RMU, Fully Paid renewed?</a:t>
            </a:r>
          </a:p>
          <a:p>
            <a:r>
              <a:t>DCR-129 (High): Renewal boundary with BRD-6. Impact: Two renewal paths for one policy. Owner: Submitted Policies and RMEL owners. Decision: Confirm decision D2; notices and proposals (XQ03)</a:t>
            </a:r>
          </a:p>
          <a:p>
            <a:r>
              <a:t>DCR-146, XQ01 (High): One LAMD intake or two. Impact: Loan status for buckets and renewal eligibility. Owner: Marketing, LAMD. Decision: One report, one owner, frequency</a:t>
            </a:r>
          </a:p>
          <a:p>
            <a:r>
              <a:t>DCR-125 (Medium): One IAAF per policy. Impact: IAAF generation and approvals. Owner: Non-CBG Corporate Marketing. Decision: One IAAF per policy; approval matrix</a:t>
            </a:r>
          </a:p>
          <a:p>
            <a:r>
              <a:t>DCR-126 (Medium): Handling fee undefined. Impact: Amount, payer, VAT, OR, GL account. Owner: Marketing, Comptrollership. Decision: Define the fee and who dispositions it</a:t>
            </a:r>
          </a:p>
          <a:p>
            <a:r>
              <a:t>FRS BRD-12 section 7 (On hold): Source feeds, OCR, e-signature, COG. Impact: Uploads, manual entry, stamped signature, print batch. Owner: BDO IT, COG. Decision: Interface specifications per source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Automated matching with bank loan data [Supported by BIBS]. BIBS: LAMD matching by PN in the processing run; fallout with reason codes. BDOI: One LAMD report and owner (DCR-146).</a:t>
            </a:r>
          </a:p>
          <a:p>
            <a:r>
              <a:t>Rules owned by the business [Supported by BIBS]. BIBS: Sanitation, bucket and insurer-assignment rules maintained by a rule administrator. BDOI: Give the bucket precedence (DCR-124).</a:t>
            </a:r>
          </a:p>
          <a:p>
            <a:r>
              <a:t>Adequacy review with an approval matrix [Supported by BIBS]. BIBS: Policy reviews and IAAF routed by the matrix. BDOI: Approve the IAAF matrix (DCR-125).</a:t>
            </a:r>
          </a:p>
          <a:p>
            <a:r>
              <a:t>Digital signature [Partly in BIBS]. BIBS: Stamped signature image; qualified e-signature on hold. BDOI: Choose a qualified e-signature service.</a:t>
            </a:r>
          </a:p>
          <a:p>
            <a:r>
              <a:t>One masterlist [Supported by BIBS]. BIBS: One record per policy with history, handler and conversion status. BDOI: Migrate the Excel masterlists with reconciliation (BRIDSP-33).</a:t>
            </a:r>
          </a:p>
          <a:p>
            <a:r>
              <a:t>Conversion KPI [BDOI to adopt]. BIBS: Masterlist shows BOOKED when the renewal books; persistency report for submitted accounts. BDOI: Set conversion targets per segment.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repeats the three views the steering committee acts 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BIBS moves every theme to one workflow in one system or better. Integration is the theme that stays furthest from best practice, because the bank, insurer and directory interfaces are on hold until their owners specify them.</a:t>
            </a:r>
          </a:p>
          <a:p>
            <a:r>
              <a:t>Automation: today 1, BIBS 4, best practice 5. Today most steps are manual (BRD-1 p.133, BRD-2 p.11, BRD-5 p.44). BIBS runs jobs, matching and straight-through steps with exception queues.</a:t>
            </a:r>
          </a:p>
          <a:p>
            <a:r>
              <a:t>Controls: today 2, BIBS 4, best practice 5. Approvals run by e-mail and paper (BRD-5 p.45, BRD-10 p.6). BIBS enforces maker-checker, four-eyes and approval matrices.</a:t>
            </a:r>
          </a:p>
          <a:p>
            <a:r>
              <a:t>Data: today 1, BIBS 4, best practice 5. Separate masterlists and re-keying (BRD-12 p.4, BRD-1 p.133). BIBS has one client, one ARN and one invoice ledger.</a:t>
            </a:r>
          </a:p>
          <a:p>
            <a:r>
              <a:t>Integration: today 2, BIBS 3, best practice 5. Files and e-mail with banks and insurers. BIBS adds uploads; APIs are on hold until specified.</a:t>
            </a:r>
          </a:p>
          <a:p>
            <a:r>
              <a:t>Customer service: today 2, BIBS 4, best practice 5. The Front-End shows full details for CBG accounts only (BRD-9 p.4). BIBS shows every account, with resends.</a:t>
            </a:r>
          </a:p>
          <a:p>
            <a:r>
              <a:t>Compliance: today 1, BIBS 4, best practice 5. Name matching by hand, no EDD for PEPs (BRD-10 p.6-7). BIBS screens on every trigger and routes cases.</a:t>
            </a:r>
          </a:p>
          <a:p>
            <a:r>
              <a:t>Reporting: today 1, BIBS 4, best practice 5. Reports depend on IT (BRD-2 p.11, BRD-5 p.44). BIBS users run reports and exports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eight decisions as in the holistic chapter; each unblocks more than one area.</a:t>
            </a:r>
          </a:p>
          <a:p>
            <a:r>
              <a:t>DCR-143 (High): Directory sign-in (EUA) for every user. Impact: Identity source for all BIBS users. Owner: UAM owner with BDO ITIO. Decision: Provide the EUA interface; are contact centre agents in the directory?</a:t>
            </a:r>
          </a:p>
          <a:p>
            <a:r>
              <a:t>DCR-121 (High): BIBS-wide user access matrix. Impact: Roles and persona tests of every module. Owner: Product Owner, all BRD owners. Decision: Approve one matrix for all modules</a:t>
            </a:r>
          </a:p>
          <a:p>
            <a:r>
              <a:t>DCR-129, 146 (High): Renewal of submitted policies; one LAMD intake. Impact: Two renewal paths; two loan-status feeds. Owner: Renewal and Submitted Policies owners. Decision: Confirm the hand-off boundary and one LAMD report</a:t>
            </a:r>
          </a:p>
          <a:p>
            <a:r>
              <a:t>DCR-037 (High): Incentive programmes in four BRDs. Impact: Incentive income computed twice or not at all. Owner: Comptrollership, MBS, Operations. Decision: List the programmes with rate, base, payer</a:t>
            </a:r>
          </a:p>
          <a:p>
            <a:r>
              <a:t>DCR-112 (High): Sanctions match: block or warn. Impact: Business with a possible sanctioned party. Owner: Chief Compliance Officer. Decision: Block or warn on quotation, placement, booking, renewal</a:t>
            </a:r>
          </a:p>
          <a:p>
            <a:r>
              <a:t>DCR-133, 135, 138 (High): One service window, RPO / RTO, maintenance slot. Impact: Backup, DR and batch design of the platform. Owner: BDO IT with the BRD owners. Decision: Agree one BIBS-wide NFR set</a:t>
            </a:r>
          </a:p>
          <a:p>
            <a:r>
              <a:t>DCR-136 (High): Retention per record type. Impact: Legal record keeping; archive design. Owner: Compliance, Comptrollership. Decision: One schedule; archive or purge at the end</a:t>
            </a:r>
          </a:p>
          <a:p>
            <a:r>
              <a:t>DCR-157 (High): Go-live data migration scope. Impact: Open items and history at cut-over. Owner: All BRD owners. Decision: What is migrated from EBIX, ISYS, QPS, Excel</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on 25 September 2026. Every area has its FRS issued for BDOI review. Department heads review their FRS and its proposed business rules; BDOI answers the decisions below; each FRS is then signed off through the sign-off tracker. The decisions below move the open points of several areas at once.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is refreshed after FRS sign-off with screenshots of the BIBS screens. Comments go to the document review and sign-off tracker (deliverable 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do-insure.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BIBS Business Process Deck</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Business processes: As-Is, Envisioned in BIBS, Gaps and Best Practice</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1.0 | 25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Agenda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Rounded Rectangle 8"/>
          <p:cNvSpPr/>
          <p:nvPr/>
        </p:nvSpPr>
        <p:spPr>
          <a:xfrm>
            <a:off x="548640" y="1280160"/>
            <a:ext cx="2650159"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35024"/>
            <a:ext cx="548640" cy="457200"/>
          </a:xfrm>
          <a:prstGeom prst="rect">
            <a:avLst/>
          </a:prstGeom>
          <a:noFill/>
        </p:spPr>
        <p:txBody>
          <a:bodyPr wrap="square" anchor="t" lIns="45720" rIns="45720">
            <a:spAutoFit/>
          </a:bodyPr>
          <a:lstStyle/>
          <a:p>
            <a:r>
              <a:rPr sz="2200" b="1" i="0">
                <a:solidFill>
                  <a:srgbClr val="FDB913"/>
                </a:solidFill>
                <a:latin typeface="Arial"/>
              </a:rPr>
              <a:t>0</a:t>
            </a:r>
          </a:p>
        </p:txBody>
      </p:sp>
      <p:sp>
        <p:nvSpPr>
          <p:cNvPr id="11" name="TextBox 10"/>
          <p:cNvSpPr txBox="1"/>
          <p:nvPr/>
        </p:nvSpPr>
        <p:spPr>
          <a:xfrm>
            <a:off x="1115568" y="1353312"/>
            <a:ext cx="2010079" cy="685800"/>
          </a:xfrm>
          <a:prstGeom prst="rect">
            <a:avLst/>
          </a:prstGeom>
          <a:noFill/>
        </p:spPr>
        <p:txBody>
          <a:bodyPr wrap="square" anchor="t" lIns="45720" rIns="45720" tIns="18288" bIns="18288">
            <a:spAutoFit/>
          </a:bodyPr>
          <a:lstStyle/>
          <a:p>
            <a:pPr>
              <a:spcAft>
                <a:spcPts val="400"/>
              </a:spcAft>
            </a:pPr>
            <a:r>
              <a:rPr sz="1400" b="1">
                <a:solidFill>
                  <a:srgbClr val="FFFFFF"/>
                </a:solidFill>
                <a:latin typeface="Arial"/>
              </a:rPr>
              <a:t>Holistic view: the enterprise today, in BIBS and at best practice</a:t>
            </a:r>
          </a:p>
        </p:txBody>
      </p:sp>
      <p:sp>
        <p:nvSpPr>
          <p:cNvPr id="12" name="Rounded Rectangle 11"/>
          <p:cNvSpPr/>
          <p:nvPr/>
        </p:nvSpPr>
        <p:spPr>
          <a:xfrm>
            <a:off x="3363391" y="1280160"/>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4831" y="1335024"/>
            <a:ext cx="548640" cy="457200"/>
          </a:xfrm>
          <a:prstGeom prst="rect">
            <a:avLst/>
          </a:prstGeom>
          <a:noFill/>
        </p:spPr>
        <p:txBody>
          <a:bodyPr wrap="square" anchor="t" lIns="45720" rIns="45720">
            <a:spAutoFit/>
          </a:bodyPr>
          <a:lstStyle/>
          <a:p>
            <a:r>
              <a:rPr sz="2200" b="1" i="0">
                <a:solidFill>
                  <a:srgbClr val="0072D8"/>
                </a:solidFill>
                <a:latin typeface="Arial"/>
              </a:rPr>
              <a:t>1</a:t>
            </a:r>
          </a:p>
        </p:txBody>
      </p:sp>
      <p:sp>
        <p:nvSpPr>
          <p:cNvPr id="14" name="TextBox 13"/>
          <p:cNvSpPr txBox="1"/>
          <p:nvPr/>
        </p:nvSpPr>
        <p:spPr>
          <a:xfrm>
            <a:off x="3930319" y="1353312"/>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New Business</a:t>
            </a:r>
          </a:p>
        </p:txBody>
      </p:sp>
      <p:sp>
        <p:nvSpPr>
          <p:cNvPr id="15" name="TextBox 14"/>
          <p:cNvSpPr txBox="1"/>
          <p:nvPr/>
        </p:nvSpPr>
        <p:spPr>
          <a:xfrm>
            <a:off x="3473119" y="1975104"/>
            <a:ext cx="1188720" cy="320040"/>
          </a:xfrm>
          <a:prstGeom prst="rect">
            <a:avLst/>
          </a:prstGeom>
          <a:noFill/>
        </p:spPr>
        <p:txBody>
          <a:bodyPr wrap="square" anchor="t" lIns="45720" rIns="45720">
            <a:spAutoFit/>
          </a:bodyPr>
          <a:lstStyle/>
          <a:p>
            <a:r>
              <a:rPr sz="1200" b="0" i="0">
                <a:solidFill>
                  <a:srgbClr val="656565"/>
                </a:solidFill>
                <a:latin typeface="Arial"/>
              </a:rPr>
              <a:t>BRD-1</a:t>
            </a:r>
          </a:p>
        </p:txBody>
      </p:sp>
      <p:sp>
        <p:nvSpPr>
          <p:cNvPr id="16" name="Rounded Rectangle 15"/>
          <p:cNvSpPr/>
          <p:nvPr/>
        </p:nvSpPr>
        <p:spPr>
          <a:xfrm>
            <a:off x="4715103" y="1975104"/>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17" name="Rounded Rectangle 16"/>
          <p:cNvSpPr/>
          <p:nvPr/>
        </p:nvSpPr>
        <p:spPr>
          <a:xfrm>
            <a:off x="6178143" y="1280160"/>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9583" y="1335024"/>
            <a:ext cx="548640" cy="457200"/>
          </a:xfrm>
          <a:prstGeom prst="rect">
            <a:avLst/>
          </a:prstGeom>
          <a:noFill/>
        </p:spPr>
        <p:txBody>
          <a:bodyPr wrap="square" anchor="t" lIns="45720" rIns="45720">
            <a:spAutoFit/>
          </a:bodyPr>
          <a:lstStyle/>
          <a:p>
            <a:r>
              <a:rPr sz="2200" b="1" i="0">
                <a:solidFill>
                  <a:srgbClr val="0072D8"/>
                </a:solidFill>
                <a:latin typeface="Arial"/>
              </a:rPr>
              <a:t>2</a:t>
            </a:r>
          </a:p>
        </p:txBody>
      </p:sp>
      <p:sp>
        <p:nvSpPr>
          <p:cNvPr id="19" name="TextBox 18"/>
          <p:cNvSpPr txBox="1"/>
          <p:nvPr/>
        </p:nvSpPr>
        <p:spPr>
          <a:xfrm>
            <a:off x="6745071" y="1353312"/>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Operations</a:t>
            </a:r>
          </a:p>
        </p:txBody>
      </p:sp>
      <p:sp>
        <p:nvSpPr>
          <p:cNvPr id="20" name="TextBox 19"/>
          <p:cNvSpPr txBox="1"/>
          <p:nvPr/>
        </p:nvSpPr>
        <p:spPr>
          <a:xfrm>
            <a:off x="6287871" y="1975104"/>
            <a:ext cx="1188720" cy="320040"/>
          </a:xfrm>
          <a:prstGeom prst="rect">
            <a:avLst/>
          </a:prstGeom>
          <a:noFill/>
        </p:spPr>
        <p:txBody>
          <a:bodyPr wrap="square" anchor="t" lIns="45720" rIns="45720">
            <a:spAutoFit/>
          </a:bodyPr>
          <a:lstStyle/>
          <a:p>
            <a:r>
              <a:rPr sz="1200" b="0" i="0">
                <a:solidFill>
                  <a:srgbClr val="656565"/>
                </a:solidFill>
                <a:latin typeface="Arial"/>
              </a:rPr>
              <a:t>BRD-2</a:t>
            </a:r>
          </a:p>
        </p:txBody>
      </p:sp>
      <p:sp>
        <p:nvSpPr>
          <p:cNvPr id="21" name="Rounded Rectangle 20"/>
          <p:cNvSpPr/>
          <p:nvPr/>
        </p:nvSpPr>
        <p:spPr>
          <a:xfrm>
            <a:off x="7529855" y="1975104"/>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22" name="Rounded Rectangle 21"/>
          <p:cNvSpPr/>
          <p:nvPr/>
        </p:nvSpPr>
        <p:spPr>
          <a:xfrm>
            <a:off x="8992895" y="1280160"/>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4335" y="1335024"/>
            <a:ext cx="548640" cy="457200"/>
          </a:xfrm>
          <a:prstGeom prst="rect">
            <a:avLst/>
          </a:prstGeom>
          <a:noFill/>
        </p:spPr>
        <p:txBody>
          <a:bodyPr wrap="square" anchor="t" lIns="45720" rIns="45720">
            <a:spAutoFit/>
          </a:bodyPr>
          <a:lstStyle/>
          <a:p>
            <a:r>
              <a:rPr sz="2200" b="1" i="0">
                <a:solidFill>
                  <a:srgbClr val="0072D8"/>
                </a:solidFill>
                <a:latin typeface="Arial"/>
              </a:rPr>
              <a:t>3</a:t>
            </a:r>
          </a:p>
        </p:txBody>
      </p:sp>
      <p:sp>
        <p:nvSpPr>
          <p:cNvPr id="24" name="TextBox 23"/>
          <p:cNvSpPr txBox="1"/>
          <p:nvPr/>
        </p:nvSpPr>
        <p:spPr>
          <a:xfrm>
            <a:off x="9559823" y="1353312"/>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Product Maintenance</a:t>
            </a:r>
          </a:p>
        </p:txBody>
      </p:sp>
      <p:sp>
        <p:nvSpPr>
          <p:cNvPr id="25" name="TextBox 24"/>
          <p:cNvSpPr txBox="1"/>
          <p:nvPr/>
        </p:nvSpPr>
        <p:spPr>
          <a:xfrm>
            <a:off x="9102623" y="1975104"/>
            <a:ext cx="1188720" cy="320040"/>
          </a:xfrm>
          <a:prstGeom prst="rect">
            <a:avLst/>
          </a:prstGeom>
          <a:noFill/>
        </p:spPr>
        <p:txBody>
          <a:bodyPr wrap="square" anchor="t" lIns="45720" rIns="45720">
            <a:spAutoFit/>
          </a:bodyPr>
          <a:lstStyle/>
          <a:p>
            <a:r>
              <a:rPr sz="1200" b="0" i="0">
                <a:solidFill>
                  <a:srgbClr val="656565"/>
                </a:solidFill>
                <a:latin typeface="Arial"/>
              </a:rPr>
              <a:t>BRD-3</a:t>
            </a:r>
          </a:p>
        </p:txBody>
      </p:sp>
      <p:sp>
        <p:nvSpPr>
          <p:cNvPr id="26" name="Rounded Rectangle 25"/>
          <p:cNvSpPr/>
          <p:nvPr/>
        </p:nvSpPr>
        <p:spPr>
          <a:xfrm>
            <a:off x="10344607" y="1975104"/>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27" name="Rounded Rectangle 26"/>
          <p:cNvSpPr/>
          <p:nvPr/>
        </p:nvSpPr>
        <p:spPr>
          <a:xfrm>
            <a:off x="548640"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2578608"/>
            <a:ext cx="548640" cy="457200"/>
          </a:xfrm>
          <a:prstGeom prst="rect">
            <a:avLst/>
          </a:prstGeom>
          <a:noFill/>
        </p:spPr>
        <p:txBody>
          <a:bodyPr wrap="square" anchor="t" lIns="45720" rIns="45720">
            <a:spAutoFit/>
          </a:bodyPr>
          <a:lstStyle/>
          <a:p>
            <a:r>
              <a:rPr sz="2200" b="1" i="0">
                <a:solidFill>
                  <a:srgbClr val="0072D8"/>
                </a:solidFill>
                <a:latin typeface="Arial"/>
              </a:rPr>
              <a:t>4</a:t>
            </a:r>
          </a:p>
        </p:txBody>
      </p:sp>
      <p:sp>
        <p:nvSpPr>
          <p:cNvPr id="29" name="TextBox 28"/>
          <p:cNvSpPr txBox="1"/>
          <p:nvPr/>
        </p:nvSpPr>
        <p:spPr>
          <a:xfrm>
            <a:off x="1115568"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Collections</a:t>
            </a:r>
          </a:p>
        </p:txBody>
      </p:sp>
      <p:sp>
        <p:nvSpPr>
          <p:cNvPr id="30" name="TextBox 29"/>
          <p:cNvSpPr txBox="1"/>
          <p:nvPr/>
        </p:nvSpPr>
        <p:spPr>
          <a:xfrm>
            <a:off x="658368" y="3218688"/>
            <a:ext cx="1188720" cy="320040"/>
          </a:xfrm>
          <a:prstGeom prst="rect">
            <a:avLst/>
          </a:prstGeom>
          <a:noFill/>
        </p:spPr>
        <p:txBody>
          <a:bodyPr wrap="square" anchor="t" lIns="45720" rIns="45720">
            <a:spAutoFit/>
          </a:bodyPr>
          <a:lstStyle/>
          <a:p>
            <a:r>
              <a:rPr sz="1200" b="0" i="0">
                <a:solidFill>
                  <a:srgbClr val="656565"/>
                </a:solidFill>
                <a:latin typeface="Arial"/>
              </a:rPr>
              <a:t>BRD-4</a:t>
            </a:r>
          </a:p>
        </p:txBody>
      </p:sp>
      <p:sp>
        <p:nvSpPr>
          <p:cNvPr id="31" name="Rounded Rectangle 30"/>
          <p:cNvSpPr/>
          <p:nvPr/>
        </p:nvSpPr>
        <p:spPr>
          <a:xfrm>
            <a:off x="1900351" y="3218688"/>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32" name="Rounded Rectangle 31"/>
          <p:cNvSpPr/>
          <p:nvPr/>
        </p:nvSpPr>
        <p:spPr>
          <a:xfrm>
            <a:off x="3363391"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54831" y="2578608"/>
            <a:ext cx="548640" cy="457200"/>
          </a:xfrm>
          <a:prstGeom prst="rect">
            <a:avLst/>
          </a:prstGeom>
          <a:noFill/>
        </p:spPr>
        <p:txBody>
          <a:bodyPr wrap="square" anchor="t" lIns="45720" rIns="45720">
            <a:spAutoFit/>
          </a:bodyPr>
          <a:lstStyle/>
          <a:p>
            <a:r>
              <a:rPr sz="2200" b="1" i="0">
                <a:solidFill>
                  <a:srgbClr val="0072D8"/>
                </a:solidFill>
                <a:latin typeface="Arial"/>
              </a:rPr>
              <a:t>5</a:t>
            </a:r>
          </a:p>
        </p:txBody>
      </p:sp>
      <p:sp>
        <p:nvSpPr>
          <p:cNvPr id="34" name="TextBox 33"/>
          <p:cNvSpPr txBox="1"/>
          <p:nvPr/>
        </p:nvSpPr>
        <p:spPr>
          <a:xfrm>
            <a:off x="3930319"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Accounting and Disbursement</a:t>
            </a:r>
          </a:p>
        </p:txBody>
      </p:sp>
      <p:sp>
        <p:nvSpPr>
          <p:cNvPr id="35" name="TextBox 34"/>
          <p:cNvSpPr txBox="1"/>
          <p:nvPr/>
        </p:nvSpPr>
        <p:spPr>
          <a:xfrm>
            <a:off x="3473119" y="3218688"/>
            <a:ext cx="1188720" cy="320040"/>
          </a:xfrm>
          <a:prstGeom prst="rect">
            <a:avLst/>
          </a:prstGeom>
          <a:noFill/>
        </p:spPr>
        <p:txBody>
          <a:bodyPr wrap="square" anchor="t" lIns="45720" rIns="45720">
            <a:spAutoFit/>
          </a:bodyPr>
          <a:lstStyle/>
          <a:p>
            <a:r>
              <a:rPr sz="1200" b="0" i="0">
                <a:solidFill>
                  <a:srgbClr val="656565"/>
                </a:solidFill>
                <a:latin typeface="Arial"/>
              </a:rPr>
              <a:t>BRD-5</a:t>
            </a:r>
          </a:p>
        </p:txBody>
      </p:sp>
      <p:sp>
        <p:nvSpPr>
          <p:cNvPr id="36" name="Rounded Rectangle 35"/>
          <p:cNvSpPr/>
          <p:nvPr/>
        </p:nvSpPr>
        <p:spPr>
          <a:xfrm>
            <a:off x="4715103" y="3218688"/>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37" name="Rounded Rectangle 36"/>
          <p:cNvSpPr/>
          <p:nvPr/>
        </p:nvSpPr>
        <p:spPr>
          <a:xfrm>
            <a:off x="6178143"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9583" y="2578608"/>
            <a:ext cx="548640" cy="457200"/>
          </a:xfrm>
          <a:prstGeom prst="rect">
            <a:avLst/>
          </a:prstGeom>
          <a:noFill/>
        </p:spPr>
        <p:txBody>
          <a:bodyPr wrap="square" anchor="t" lIns="45720" rIns="45720">
            <a:spAutoFit/>
          </a:bodyPr>
          <a:lstStyle/>
          <a:p>
            <a:r>
              <a:rPr sz="2200" b="1" i="0">
                <a:solidFill>
                  <a:srgbClr val="0072D8"/>
                </a:solidFill>
                <a:latin typeface="Arial"/>
              </a:rPr>
              <a:t>6</a:t>
            </a:r>
          </a:p>
        </p:txBody>
      </p:sp>
      <p:sp>
        <p:nvSpPr>
          <p:cNvPr id="39" name="TextBox 38"/>
          <p:cNvSpPr txBox="1"/>
          <p:nvPr/>
        </p:nvSpPr>
        <p:spPr>
          <a:xfrm>
            <a:off x="6745071"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Renewal</a:t>
            </a:r>
          </a:p>
        </p:txBody>
      </p:sp>
      <p:sp>
        <p:nvSpPr>
          <p:cNvPr id="40" name="TextBox 39"/>
          <p:cNvSpPr txBox="1"/>
          <p:nvPr/>
        </p:nvSpPr>
        <p:spPr>
          <a:xfrm>
            <a:off x="6287871" y="3218688"/>
            <a:ext cx="1188720" cy="320040"/>
          </a:xfrm>
          <a:prstGeom prst="rect">
            <a:avLst/>
          </a:prstGeom>
          <a:noFill/>
        </p:spPr>
        <p:txBody>
          <a:bodyPr wrap="square" anchor="t" lIns="45720" rIns="45720">
            <a:spAutoFit/>
          </a:bodyPr>
          <a:lstStyle/>
          <a:p>
            <a:r>
              <a:rPr sz="1200" b="0" i="0">
                <a:solidFill>
                  <a:srgbClr val="656565"/>
                </a:solidFill>
                <a:latin typeface="Arial"/>
              </a:rPr>
              <a:t>BRD-6</a:t>
            </a:r>
          </a:p>
        </p:txBody>
      </p:sp>
      <p:sp>
        <p:nvSpPr>
          <p:cNvPr id="41" name="Rounded Rectangle 40"/>
          <p:cNvSpPr/>
          <p:nvPr/>
        </p:nvSpPr>
        <p:spPr>
          <a:xfrm>
            <a:off x="7529855" y="3218688"/>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42" name="Rounded Rectangle 41"/>
          <p:cNvSpPr/>
          <p:nvPr/>
        </p:nvSpPr>
        <p:spPr>
          <a:xfrm>
            <a:off x="8992895"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84335" y="2578608"/>
            <a:ext cx="548640" cy="457200"/>
          </a:xfrm>
          <a:prstGeom prst="rect">
            <a:avLst/>
          </a:prstGeom>
          <a:noFill/>
        </p:spPr>
        <p:txBody>
          <a:bodyPr wrap="square" anchor="t" lIns="45720" rIns="45720">
            <a:spAutoFit/>
          </a:bodyPr>
          <a:lstStyle/>
          <a:p>
            <a:r>
              <a:rPr sz="2200" b="1" i="0">
                <a:solidFill>
                  <a:srgbClr val="0072D8"/>
                </a:solidFill>
                <a:latin typeface="Arial"/>
              </a:rPr>
              <a:t>7</a:t>
            </a:r>
          </a:p>
        </p:txBody>
      </p:sp>
      <p:sp>
        <p:nvSpPr>
          <p:cNvPr id="44" name="TextBox 43"/>
          <p:cNvSpPr txBox="1"/>
          <p:nvPr/>
        </p:nvSpPr>
        <p:spPr>
          <a:xfrm>
            <a:off x="9559823"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Claims</a:t>
            </a:r>
          </a:p>
        </p:txBody>
      </p:sp>
      <p:sp>
        <p:nvSpPr>
          <p:cNvPr id="45" name="TextBox 44"/>
          <p:cNvSpPr txBox="1"/>
          <p:nvPr/>
        </p:nvSpPr>
        <p:spPr>
          <a:xfrm>
            <a:off x="9102623" y="3218688"/>
            <a:ext cx="1188720" cy="320040"/>
          </a:xfrm>
          <a:prstGeom prst="rect">
            <a:avLst/>
          </a:prstGeom>
          <a:noFill/>
        </p:spPr>
        <p:txBody>
          <a:bodyPr wrap="square" anchor="t" lIns="45720" rIns="45720">
            <a:spAutoFit/>
          </a:bodyPr>
          <a:lstStyle/>
          <a:p>
            <a:r>
              <a:rPr sz="1200" b="0" i="0">
                <a:solidFill>
                  <a:srgbClr val="656565"/>
                </a:solidFill>
                <a:latin typeface="Arial"/>
              </a:rPr>
              <a:t>BRD-7</a:t>
            </a:r>
          </a:p>
        </p:txBody>
      </p:sp>
      <p:sp>
        <p:nvSpPr>
          <p:cNvPr id="46" name="Rounded Rectangle 45"/>
          <p:cNvSpPr/>
          <p:nvPr/>
        </p:nvSpPr>
        <p:spPr>
          <a:xfrm>
            <a:off x="10344607" y="3218688"/>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47" name="Rounded Rectangle 46"/>
          <p:cNvSpPr/>
          <p:nvPr/>
        </p:nvSpPr>
        <p:spPr>
          <a:xfrm>
            <a:off x="548640"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3822192"/>
            <a:ext cx="548640" cy="457200"/>
          </a:xfrm>
          <a:prstGeom prst="rect">
            <a:avLst/>
          </a:prstGeom>
          <a:noFill/>
        </p:spPr>
        <p:txBody>
          <a:bodyPr wrap="square" anchor="t" lIns="45720" rIns="45720">
            <a:spAutoFit/>
          </a:bodyPr>
          <a:lstStyle/>
          <a:p>
            <a:r>
              <a:rPr sz="2200" b="1" i="0">
                <a:solidFill>
                  <a:srgbClr val="0072D8"/>
                </a:solidFill>
                <a:latin typeface="Arial"/>
              </a:rPr>
              <a:t>8</a:t>
            </a:r>
          </a:p>
        </p:txBody>
      </p:sp>
      <p:sp>
        <p:nvSpPr>
          <p:cNvPr id="49" name="TextBox 48"/>
          <p:cNvSpPr txBox="1"/>
          <p:nvPr/>
        </p:nvSpPr>
        <p:spPr>
          <a:xfrm>
            <a:off x="1115568"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Employee Benefits</a:t>
            </a:r>
          </a:p>
        </p:txBody>
      </p:sp>
      <p:sp>
        <p:nvSpPr>
          <p:cNvPr id="50" name="TextBox 49"/>
          <p:cNvSpPr txBox="1"/>
          <p:nvPr/>
        </p:nvSpPr>
        <p:spPr>
          <a:xfrm>
            <a:off x="658368" y="4462272"/>
            <a:ext cx="1188720" cy="320040"/>
          </a:xfrm>
          <a:prstGeom prst="rect">
            <a:avLst/>
          </a:prstGeom>
          <a:noFill/>
        </p:spPr>
        <p:txBody>
          <a:bodyPr wrap="square" anchor="t" lIns="45720" rIns="45720">
            <a:spAutoFit/>
          </a:bodyPr>
          <a:lstStyle/>
          <a:p>
            <a:r>
              <a:rPr sz="1200" b="0" i="0">
                <a:solidFill>
                  <a:srgbClr val="656565"/>
                </a:solidFill>
                <a:latin typeface="Arial"/>
              </a:rPr>
              <a:t>BRD-8</a:t>
            </a:r>
          </a:p>
        </p:txBody>
      </p:sp>
      <p:sp>
        <p:nvSpPr>
          <p:cNvPr id="51" name="Rounded Rectangle 50"/>
          <p:cNvSpPr/>
          <p:nvPr/>
        </p:nvSpPr>
        <p:spPr>
          <a:xfrm>
            <a:off x="1900351" y="4462272"/>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52" name="Rounded Rectangle 51"/>
          <p:cNvSpPr/>
          <p:nvPr/>
        </p:nvSpPr>
        <p:spPr>
          <a:xfrm>
            <a:off x="3363391"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54831" y="3822192"/>
            <a:ext cx="548640" cy="457200"/>
          </a:xfrm>
          <a:prstGeom prst="rect">
            <a:avLst/>
          </a:prstGeom>
          <a:noFill/>
        </p:spPr>
        <p:txBody>
          <a:bodyPr wrap="square" anchor="t" lIns="45720" rIns="45720">
            <a:spAutoFit/>
          </a:bodyPr>
          <a:lstStyle/>
          <a:p>
            <a:r>
              <a:rPr sz="2200" b="1" i="0">
                <a:solidFill>
                  <a:srgbClr val="0072D8"/>
                </a:solidFill>
                <a:latin typeface="Arial"/>
              </a:rPr>
              <a:t>9</a:t>
            </a:r>
          </a:p>
        </p:txBody>
      </p:sp>
      <p:sp>
        <p:nvSpPr>
          <p:cNvPr id="54" name="TextBox 53"/>
          <p:cNvSpPr txBox="1"/>
          <p:nvPr/>
        </p:nvSpPr>
        <p:spPr>
          <a:xfrm>
            <a:off x="3930319"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Customer Servicing Facility</a:t>
            </a:r>
          </a:p>
        </p:txBody>
      </p:sp>
      <p:sp>
        <p:nvSpPr>
          <p:cNvPr id="55" name="TextBox 54"/>
          <p:cNvSpPr txBox="1"/>
          <p:nvPr/>
        </p:nvSpPr>
        <p:spPr>
          <a:xfrm>
            <a:off x="3473119" y="4462272"/>
            <a:ext cx="1188720" cy="320040"/>
          </a:xfrm>
          <a:prstGeom prst="rect">
            <a:avLst/>
          </a:prstGeom>
          <a:noFill/>
        </p:spPr>
        <p:txBody>
          <a:bodyPr wrap="square" anchor="t" lIns="45720" rIns="45720">
            <a:spAutoFit/>
          </a:bodyPr>
          <a:lstStyle/>
          <a:p>
            <a:r>
              <a:rPr sz="1200" b="0" i="0">
                <a:solidFill>
                  <a:srgbClr val="656565"/>
                </a:solidFill>
                <a:latin typeface="Arial"/>
              </a:rPr>
              <a:t>BRD-9</a:t>
            </a:r>
          </a:p>
        </p:txBody>
      </p:sp>
      <p:sp>
        <p:nvSpPr>
          <p:cNvPr id="56" name="Rounded Rectangle 55"/>
          <p:cNvSpPr/>
          <p:nvPr/>
        </p:nvSpPr>
        <p:spPr>
          <a:xfrm>
            <a:off x="4715103" y="4462272"/>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57" name="Rounded Rectangle 56"/>
          <p:cNvSpPr/>
          <p:nvPr/>
        </p:nvSpPr>
        <p:spPr>
          <a:xfrm>
            <a:off x="6178143"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9583" y="3822192"/>
            <a:ext cx="548640" cy="457200"/>
          </a:xfrm>
          <a:prstGeom prst="rect">
            <a:avLst/>
          </a:prstGeom>
          <a:noFill/>
        </p:spPr>
        <p:txBody>
          <a:bodyPr wrap="square" anchor="t" lIns="45720" rIns="45720">
            <a:spAutoFit/>
          </a:bodyPr>
          <a:lstStyle/>
          <a:p>
            <a:r>
              <a:rPr sz="2200" b="1" i="0">
                <a:solidFill>
                  <a:srgbClr val="0072D8"/>
                </a:solidFill>
                <a:latin typeface="Arial"/>
              </a:rPr>
              <a:t>10</a:t>
            </a:r>
          </a:p>
        </p:txBody>
      </p:sp>
      <p:sp>
        <p:nvSpPr>
          <p:cNvPr id="59" name="TextBox 58"/>
          <p:cNvSpPr txBox="1"/>
          <p:nvPr/>
        </p:nvSpPr>
        <p:spPr>
          <a:xfrm>
            <a:off x="6745071"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Sanction Screening</a:t>
            </a:r>
          </a:p>
        </p:txBody>
      </p:sp>
      <p:sp>
        <p:nvSpPr>
          <p:cNvPr id="60" name="TextBox 59"/>
          <p:cNvSpPr txBox="1"/>
          <p:nvPr/>
        </p:nvSpPr>
        <p:spPr>
          <a:xfrm>
            <a:off x="6287871" y="4462272"/>
            <a:ext cx="1188720" cy="320040"/>
          </a:xfrm>
          <a:prstGeom prst="rect">
            <a:avLst/>
          </a:prstGeom>
          <a:noFill/>
        </p:spPr>
        <p:txBody>
          <a:bodyPr wrap="square" anchor="t" lIns="45720" rIns="45720">
            <a:spAutoFit/>
          </a:bodyPr>
          <a:lstStyle/>
          <a:p>
            <a:r>
              <a:rPr sz="1200" b="0" i="0">
                <a:solidFill>
                  <a:srgbClr val="656565"/>
                </a:solidFill>
                <a:latin typeface="Arial"/>
              </a:rPr>
              <a:t>BRD-10</a:t>
            </a:r>
          </a:p>
        </p:txBody>
      </p:sp>
      <p:sp>
        <p:nvSpPr>
          <p:cNvPr id="61" name="Rounded Rectangle 60"/>
          <p:cNvSpPr/>
          <p:nvPr/>
        </p:nvSpPr>
        <p:spPr>
          <a:xfrm>
            <a:off x="7529855" y="4462272"/>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62" name="Rounded Rectangle 61"/>
          <p:cNvSpPr/>
          <p:nvPr/>
        </p:nvSpPr>
        <p:spPr>
          <a:xfrm>
            <a:off x="8992895"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84335" y="3822192"/>
            <a:ext cx="548640" cy="457200"/>
          </a:xfrm>
          <a:prstGeom prst="rect">
            <a:avLst/>
          </a:prstGeom>
          <a:noFill/>
        </p:spPr>
        <p:txBody>
          <a:bodyPr wrap="square" anchor="t" lIns="45720" rIns="45720">
            <a:spAutoFit/>
          </a:bodyPr>
          <a:lstStyle/>
          <a:p>
            <a:r>
              <a:rPr sz="2200" b="1" i="0">
                <a:solidFill>
                  <a:srgbClr val="0072D8"/>
                </a:solidFill>
                <a:latin typeface="Arial"/>
              </a:rPr>
              <a:t>11</a:t>
            </a:r>
          </a:p>
        </p:txBody>
      </p:sp>
      <p:sp>
        <p:nvSpPr>
          <p:cNvPr id="64" name="TextBox 63"/>
          <p:cNvSpPr txBox="1"/>
          <p:nvPr/>
        </p:nvSpPr>
        <p:spPr>
          <a:xfrm>
            <a:off x="9559823"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User Access Maintenance</a:t>
            </a:r>
          </a:p>
        </p:txBody>
      </p:sp>
      <p:sp>
        <p:nvSpPr>
          <p:cNvPr id="65" name="TextBox 64"/>
          <p:cNvSpPr txBox="1"/>
          <p:nvPr/>
        </p:nvSpPr>
        <p:spPr>
          <a:xfrm>
            <a:off x="9102623" y="4462272"/>
            <a:ext cx="1188720" cy="320040"/>
          </a:xfrm>
          <a:prstGeom prst="rect">
            <a:avLst/>
          </a:prstGeom>
          <a:noFill/>
        </p:spPr>
        <p:txBody>
          <a:bodyPr wrap="square" anchor="t" lIns="45720" rIns="45720">
            <a:spAutoFit/>
          </a:bodyPr>
          <a:lstStyle/>
          <a:p>
            <a:r>
              <a:rPr sz="1200" b="0" i="0">
                <a:solidFill>
                  <a:srgbClr val="656565"/>
                </a:solidFill>
                <a:latin typeface="Arial"/>
              </a:rPr>
              <a:t>BRD-11</a:t>
            </a:r>
          </a:p>
        </p:txBody>
      </p:sp>
      <p:sp>
        <p:nvSpPr>
          <p:cNvPr id="66" name="Rounded Rectangle 65"/>
          <p:cNvSpPr/>
          <p:nvPr/>
        </p:nvSpPr>
        <p:spPr>
          <a:xfrm>
            <a:off x="10344607" y="4462272"/>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67" name="Rounded Rectangle 66"/>
          <p:cNvSpPr/>
          <p:nvPr/>
        </p:nvSpPr>
        <p:spPr>
          <a:xfrm>
            <a:off x="548640" y="5010912"/>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080" y="5065776"/>
            <a:ext cx="548640" cy="457200"/>
          </a:xfrm>
          <a:prstGeom prst="rect">
            <a:avLst/>
          </a:prstGeom>
          <a:noFill/>
        </p:spPr>
        <p:txBody>
          <a:bodyPr wrap="square" anchor="t" lIns="45720" rIns="45720">
            <a:spAutoFit/>
          </a:bodyPr>
          <a:lstStyle/>
          <a:p>
            <a:r>
              <a:rPr sz="2200" b="1" i="0">
                <a:solidFill>
                  <a:srgbClr val="0072D8"/>
                </a:solidFill>
                <a:latin typeface="Arial"/>
              </a:rPr>
              <a:t>12</a:t>
            </a:r>
          </a:p>
        </p:txBody>
      </p:sp>
      <p:sp>
        <p:nvSpPr>
          <p:cNvPr id="69" name="TextBox 68"/>
          <p:cNvSpPr txBox="1"/>
          <p:nvPr/>
        </p:nvSpPr>
        <p:spPr>
          <a:xfrm>
            <a:off x="1115568" y="5084064"/>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Submitted Policies</a:t>
            </a:r>
          </a:p>
        </p:txBody>
      </p:sp>
      <p:sp>
        <p:nvSpPr>
          <p:cNvPr id="70" name="TextBox 69"/>
          <p:cNvSpPr txBox="1"/>
          <p:nvPr/>
        </p:nvSpPr>
        <p:spPr>
          <a:xfrm>
            <a:off x="658368" y="5705856"/>
            <a:ext cx="1188720" cy="320040"/>
          </a:xfrm>
          <a:prstGeom prst="rect">
            <a:avLst/>
          </a:prstGeom>
          <a:noFill/>
        </p:spPr>
        <p:txBody>
          <a:bodyPr wrap="square" anchor="t" lIns="45720" rIns="45720">
            <a:spAutoFit/>
          </a:bodyPr>
          <a:lstStyle/>
          <a:p>
            <a:r>
              <a:rPr sz="1200" b="0" i="0">
                <a:solidFill>
                  <a:srgbClr val="656565"/>
                </a:solidFill>
                <a:latin typeface="Arial"/>
              </a:rPr>
              <a:t>BRD-12</a:t>
            </a:r>
          </a:p>
        </p:txBody>
      </p:sp>
      <p:sp>
        <p:nvSpPr>
          <p:cNvPr id="71" name="Rounded Rectangle 70"/>
          <p:cNvSpPr/>
          <p:nvPr/>
        </p:nvSpPr>
        <p:spPr>
          <a:xfrm>
            <a:off x="1900351" y="5705856"/>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FRS for review</a:t>
            </a:r>
          </a:p>
        </p:txBody>
      </p:sp>
      <p:sp>
        <p:nvSpPr>
          <p:cNvPr id="72" name="Rounded Rectangle 71"/>
          <p:cNvSpPr/>
          <p:nvPr/>
        </p:nvSpPr>
        <p:spPr>
          <a:xfrm>
            <a:off x="3363391" y="5010912"/>
            <a:ext cx="2650159"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54831" y="5065776"/>
            <a:ext cx="548640" cy="457200"/>
          </a:xfrm>
          <a:prstGeom prst="rect">
            <a:avLst/>
          </a:prstGeom>
          <a:noFill/>
        </p:spPr>
        <p:txBody>
          <a:bodyPr wrap="square" anchor="t" lIns="45720" rIns="45720">
            <a:spAutoFit/>
          </a:bodyPr>
          <a:lstStyle/>
          <a:p>
            <a:r>
              <a:rPr sz="2200" b="1" i="0">
                <a:solidFill>
                  <a:srgbClr val="FDB913"/>
                </a:solidFill>
                <a:latin typeface="Arial"/>
              </a:rPr>
              <a:t>13</a:t>
            </a:r>
          </a:p>
        </p:txBody>
      </p:sp>
      <p:sp>
        <p:nvSpPr>
          <p:cNvPr id="74" name="TextBox 73"/>
          <p:cNvSpPr txBox="1"/>
          <p:nvPr/>
        </p:nvSpPr>
        <p:spPr>
          <a:xfrm>
            <a:off x="3930319" y="5084064"/>
            <a:ext cx="2010079" cy="685800"/>
          </a:xfrm>
          <a:prstGeom prst="rect">
            <a:avLst/>
          </a:prstGeom>
          <a:noFill/>
        </p:spPr>
        <p:txBody>
          <a:bodyPr wrap="square" anchor="t" lIns="45720" rIns="45720" tIns="18288" bIns="18288">
            <a:spAutoFit/>
          </a:bodyPr>
          <a:lstStyle/>
          <a:p>
            <a:pPr>
              <a:spcAft>
                <a:spcPts val="400"/>
              </a:spcAft>
            </a:pPr>
            <a:r>
              <a:rPr sz="1400" b="1">
                <a:solidFill>
                  <a:srgbClr val="FFFFFF"/>
                </a:solidFill>
                <a:latin typeface="Arial"/>
              </a:rPr>
              <a:t>Summary: maturity, decisions and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read the process slides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Each business area has seven slides: at a glance, As-Is swimlane, pain points, envisioned swimlane, before and after, gaps, best practice</a:t>
            </a:r>
          </a:p>
          <a:p>
            <a:pPr>
              <a:spcAft>
                <a:spcPts val="600"/>
              </a:spcAft>
            </a:pPr>
            <a:r>
              <a:rPr sz="1600">
                <a:solidFill>
                  <a:srgbClr val="004EA8"/>
                </a:solidFill>
                <a:latin typeface="Arial"/>
              </a:rPr>
              <a:t>•  </a:t>
            </a:r>
            <a:r>
              <a:rPr sz="1600">
                <a:solidFill>
                  <a:srgbClr val="4B4B4B"/>
                </a:solidFill>
                <a:latin typeface="Arial"/>
              </a:rPr>
              <a:t>Lanes are BDOI roles (Header Blue), external parties (grey) and today's systems (light blue)</a:t>
            </a:r>
          </a:p>
          <a:p>
            <a:pPr>
              <a:spcAft>
                <a:spcPts val="600"/>
              </a:spcAft>
            </a:pPr>
            <a:r>
              <a:rPr sz="1600">
                <a:solidFill>
                  <a:srgbClr val="004EA8"/>
                </a:solidFill>
                <a:latin typeface="Arial"/>
              </a:rPr>
              <a:t>•  </a:t>
            </a:r>
            <a:r>
              <a:rPr sz="1600">
                <a:solidFill>
                  <a:srgbClr val="4B4B4B"/>
                </a:solidFill>
                <a:latin typeface="Arial"/>
              </a:rPr>
              <a:t>Yellow numbered circles mark pain points: manual steps, re-keying, hand-offs, weak controls</a:t>
            </a:r>
          </a:p>
          <a:p>
            <a:pPr>
              <a:spcAft>
                <a:spcPts val="600"/>
              </a:spcAft>
            </a:pPr>
            <a:r>
              <a:rPr sz="1600">
                <a:solidFill>
                  <a:srgbClr val="004EA8"/>
                </a:solidFill>
                <a:latin typeface="Arial"/>
              </a:rPr>
              <a:t>•  </a:t>
            </a:r>
            <a:r>
              <a:rPr sz="1600">
                <a:solidFill>
                  <a:srgbClr val="4B4B4B"/>
                </a:solidFill>
                <a:latin typeface="Arial"/>
              </a:rPr>
              <a:t>On the envisioned diagram, solid blue boxes are what BIBS does automatically</a:t>
            </a:r>
          </a:p>
          <a:p>
            <a:pPr>
              <a:spcAft>
                <a:spcPts val="600"/>
              </a:spcAft>
            </a:pPr>
            <a:r>
              <a:rPr sz="1600">
                <a:solidFill>
                  <a:srgbClr val="004EA8"/>
                </a:solidFill>
                <a:latin typeface="Arial"/>
              </a:rPr>
              <a:t>•  </a:t>
            </a:r>
            <a:r>
              <a:rPr sz="1600">
                <a:solidFill>
                  <a:srgbClr val="4B4B4B"/>
                </a:solidFill>
                <a:latin typeface="Arial"/>
              </a:rPr>
              <a:t>Dashed lines are e-mail or file hand-offs, or interfaces that are on hold until BDO or the insurers provide them</a:t>
            </a:r>
          </a:p>
          <a:p>
            <a:pPr>
              <a:spcAft>
                <a:spcPts val="600"/>
              </a:spcAft>
            </a:pPr>
            <a:r>
              <a:rPr sz="1600">
                <a:solidFill>
                  <a:srgbClr val="004EA8"/>
                </a:solidFill>
                <a:latin typeface="Arial"/>
              </a:rPr>
              <a:t>•  </a:t>
            </a:r>
            <a:r>
              <a:rPr sz="1600">
                <a:solidFill>
                  <a:srgbClr val="4B4B4B"/>
                </a:solidFill>
                <a:latin typeface="Arial"/>
              </a:rPr>
              <a:t>References: BRD PDF page, BRD requirement ID, FRS section, register item (DCR-nnn), open question (Qnn)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0. Holistic view</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enterprise today, in BIBS and at best practice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Today: twelve areas, seven systems and channels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pic>
        <p:nvPicPr>
          <p:cNvPr id="9" name="Picture 8" descr="holistic_asis_map.png"/>
          <p:cNvPicPr>
            <a:picLocks noChangeAspect="1"/>
          </p:cNvPicPr>
          <p:nvPr/>
        </p:nvPicPr>
        <p:blipFill>
          <a:blip r:embed="rId3"/>
          <a:stretch>
            <a:fillRect/>
          </a:stretch>
        </p:blipFill>
        <p:spPr>
          <a:xfrm>
            <a:off x="606631" y="1243584"/>
            <a:ext cx="1097843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Each line is a system or channel an area depends on today (current-process sections of the 12 BRDs)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Envisioned: BIBS as one platform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pic>
        <p:nvPicPr>
          <p:cNvPr id="9" name="Picture 8" descr="holistic_envisioned_map.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Module map by navigation group; shared services; external parties; hosting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End-to-end value chain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pic>
        <p:nvPicPr>
          <p:cNvPr id="9" name="Picture 8" descr="holistic_value_chain.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From client to claims: the stage, the BDOI owner and the BIBS module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Best-practice target 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2679192"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1  </a:t>
            </a:r>
            <a:r>
              <a:rPr sz="1100" b="0">
                <a:solidFill>
                  <a:srgbClr val="2E2E2E"/>
                </a:solidFill>
                <a:latin typeface="Arial"/>
              </a:rPr>
              <a:t>Manual: paper, e-mail</a:t>
            </a:r>
          </a:p>
        </p:txBody>
      </p:sp>
      <p:sp>
        <p:nvSpPr>
          <p:cNvPr id="11" name="Rectangle 10"/>
          <p:cNvSpPr/>
          <p:nvPr/>
        </p:nvSpPr>
        <p:spPr>
          <a:xfrm>
            <a:off x="4477451"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739"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2  </a:t>
            </a:r>
            <a:r>
              <a:rPr sz="1100" b="0">
                <a:solidFill>
                  <a:srgbClr val="2E2E2E"/>
                </a:solidFill>
                <a:latin typeface="Arial"/>
              </a:rPr>
              <a:t>Tool-assisted: spreadsheets, separate systems</a:t>
            </a:r>
          </a:p>
        </p:txBody>
      </p:sp>
      <p:sp>
        <p:nvSpPr>
          <p:cNvPr id="13" name="Rectangle 12"/>
          <p:cNvSpPr/>
          <p:nvPr/>
        </p:nvSpPr>
        <p:spPr>
          <a:xfrm>
            <a:off x="6275710"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998"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3  </a:t>
            </a:r>
            <a:r>
              <a:rPr sz="1100" b="0">
                <a:solidFill>
                  <a:srgbClr val="2E2E2E"/>
                </a:solidFill>
                <a:latin typeface="Arial"/>
              </a:rPr>
              <a:t>One workflow in one system</a:t>
            </a:r>
          </a:p>
        </p:txBody>
      </p:sp>
      <p:sp>
        <p:nvSpPr>
          <p:cNvPr id="15" name="Rectangle 14"/>
          <p:cNvSpPr/>
          <p:nvPr/>
        </p:nvSpPr>
        <p:spPr>
          <a:xfrm>
            <a:off x="8073969"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257"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4  </a:t>
            </a:r>
            <a:r>
              <a:rPr sz="1100" b="0">
                <a:solidFill>
                  <a:srgbClr val="2E2E2E"/>
                </a:solidFill>
                <a:latin typeface="Arial"/>
              </a:rPr>
              <a:t>Automated, with exception queues</a:t>
            </a:r>
          </a:p>
        </p:txBody>
      </p:sp>
      <p:sp>
        <p:nvSpPr>
          <p:cNvPr id="17" name="Rectangle 16"/>
          <p:cNvSpPr/>
          <p:nvPr/>
        </p:nvSpPr>
        <p:spPr>
          <a:xfrm>
            <a:off x="9872228"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90516"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5  </a:t>
            </a:r>
            <a:r>
              <a:rPr sz="1100" b="0">
                <a:solidFill>
                  <a:srgbClr val="2E2E2E"/>
                </a:solidFill>
                <a:latin typeface="Arial"/>
              </a:rPr>
              <a:t>Integrated and measured</a:t>
            </a:r>
          </a:p>
        </p:txBody>
      </p:sp>
      <p:sp>
        <p:nvSpPr>
          <p:cNvPr id="19" name="Rectangle 18"/>
          <p:cNvSpPr/>
          <p:nvPr/>
        </p:nvSpPr>
        <p:spPr>
          <a:xfrm>
            <a:off x="548640" y="1938528"/>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38528"/>
            <a:ext cx="2103120" cy="483325"/>
          </a:xfrm>
          <a:prstGeom prst="rect">
            <a:avLst/>
          </a:prstGeom>
          <a:noFill/>
        </p:spPr>
        <p:txBody>
          <a:bodyPr wrap="square" anchor="ctr" lIns="45720" rIns="45720">
            <a:spAutoFit/>
          </a:bodyPr>
          <a:lstStyle/>
          <a:p>
            <a:r>
              <a:rPr sz="1300" b="1" i="0">
                <a:solidFill>
                  <a:srgbClr val="004EA8"/>
                </a:solidFill>
                <a:latin typeface="Arial"/>
              </a:rPr>
              <a:t>Automation</a:t>
            </a:r>
          </a:p>
        </p:txBody>
      </p:sp>
      <p:sp>
        <p:nvSpPr>
          <p:cNvPr id="21" name="Rectangle 20"/>
          <p:cNvSpPr/>
          <p:nvPr/>
        </p:nvSpPr>
        <p:spPr>
          <a:xfrm>
            <a:off x="3550889" y="2161140"/>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13729" y="2043030"/>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3" name="Oval 22"/>
          <p:cNvSpPr/>
          <p:nvPr/>
        </p:nvSpPr>
        <p:spPr>
          <a:xfrm>
            <a:off x="8808506" y="2043030"/>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4" name="Oval 23"/>
          <p:cNvSpPr/>
          <p:nvPr/>
        </p:nvSpPr>
        <p:spPr>
          <a:xfrm>
            <a:off x="10606765" y="2043030"/>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5" name="TextBox 24"/>
          <p:cNvSpPr txBox="1"/>
          <p:nvPr/>
        </p:nvSpPr>
        <p:spPr>
          <a:xfrm>
            <a:off x="594360" y="2421853"/>
            <a:ext cx="2103120" cy="483325"/>
          </a:xfrm>
          <a:prstGeom prst="rect">
            <a:avLst/>
          </a:prstGeom>
          <a:noFill/>
        </p:spPr>
        <p:txBody>
          <a:bodyPr wrap="square" anchor="ctr" lIns="45720" rIns="45720">
            <a:spAutoFit/>
          </a:bodyPr>
          <a:lstStyle/>
          <a:p>
            <a:r>
              <a:rPr sz="1300" b="1" i="0">
                <a:solidFill>
                  <a:srgbClr val="004EA8"/>
                </a:solidFill>
                <a:latin typeface="Arial"/>
              </a:rPr>
              <a:t>Controls</a:t>
            </a:r>
          </a:p>
        </p:txBody>
      </p:sp>
      <p:sp>
        <p:nvSpPr>
          <p:cNvPr id="26" name="Rectangle 25"/>
          <p:cNvSpPr/>
          <p:nvPr/>
        </p:nvSpPr>
        <p:spPr>
          <a:xfrm>
            <a:off x="5349148" y="2644466"/>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211988" y="2526356"/>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8" name="Oval 27"/>
          <p:cNvSpPr/>
          <p:nvPr/>
        </p:nvSpPr>
        <p:spPr>
          <a:xfrm>
            <a:off x="8808506" y="2526356"/>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9" name="Oval 28"/>
          <p:cNvSpPr/>
          <p:nvPr/>
        </p:nvSpPr>
        <p:spPr>
          <a:xfrm>
            <a:off x="10606765" y="2526356"/>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0" name="Rectangle 29"/>
          <p:cNvSpPr/>
          <p:nvPr/>
        </p:nvSpPr>
        <p:spPr>
          <a:xfrm>
            <a:off x="548640" y="2905179"/>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905179"/>
            <a:ext cx="2103120" cy="483325"/>
          </a:xfrm>
          <a:prstGeom prst="rect">
            <a:avLst/>
          </a:prstGeom>
          <a:noFill/>
        </p:spPr>
        <p:txBody>
          <a:bodyPr wrap="square" anchor="ctr" lIns="45720" rIns="45720">
            <a:spAutoFit/>
          </a:bodyPr>
          <a:lstStyle/>
          <a:p>
            <a:r>
              <a:rPr sz="1300" b="1" i="0">
                <a:solidFill>
                  <a:srgbClr val="004EA8"/>
                </a:solidFill>
                <a:latin typeface="Arial"/>
              </a:rPr>
              <a:t>Data</a:t>
            </a:r>
          </a:p>
        </p:txBody>
      </p:sp>
      <p:sp>
        <p:nvSpPr>
          <p:cNvPr id="32" name="Rectangle 31"/>
          <p:cNvSpPr/>
          <p:nvPr/>
        </p:nvSpPr>
        <p:spPr>
          <a:xfrm>
            <a:off x="3550889" y="3127792"/>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3729" y="3009682"/>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4" name="Oval 33"/>
          <p:cNvSpPr/>
          <p:nvPr/>
        </p:nvSpPr>
        <p:spPr>
          <a:xfrm>
            <a:off x="8808506" y="3009682"/>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5" name="Oval 34"/>
          <p:cNvSpPr/>
          <p:nvPr/>
        </p:nvSpPr>
        <p:spPr>
          <a:xfrm>
            <a:off x="10606765" y="3009682"/>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6" name="TextBox 35"/>
          <p:cNvSpPr txBox="1"/>
          <p:nvPr/>
        </p:nvSpPr>
        <p:spPr>
          <a:xfrm>
            <a:off x="594360" y="3388505"/>
            <a:ext cx="2103120" cy="483325"/>
          </a:xfrm>
          <a:prstGeom prst="rect">
            <a:avLst/>
          </a:prstGeom>
          <a:noFill/>
        </p:spPr>
        <p:txBody>
          <a:bodyPr wrap="square" anchor="ctr" lIns="45720" rIns="45720">
            <a:spAutoFit/>
          </a:bodyPr>
          <a:lstStyle/>
          <a:p>
            <a:r>
              <a:rPr sz="1300" b="1" i="0">
                <a:solidFill>
                  <a:srgbClr val="004EA8"/>
                </a:solidFill>
                <a:latin typeface="Arial"/>
              </a:rPr>
              <a:t>Integration</a:t>
            </a:r>
          </a:p>
        </p:txBody>
      </p:sp>
      <p:sp>
        <p:nvSpPr>
          <p:cNvPr id="37" name="Rectangle 36"/>
          <p:cNvSpPr/>
          <p:nvPr/>
        </p:nvSpPr>
        <p:spPr>
          <a:xfrm>
            <a:off x="5349148" y="3611118"/>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11988" y="3493008"/>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9" name="Oval 38"/>
          <p:cNvSpPr/>
          <p:nvPr/>
        </p:nvSpPr>
        <p:spPr>
          <a:xfrm>
            <a:off x="7010247" y="3493008"/>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0" name="Oval 39"/>
          <p:cNvSpPr/>
          <p:nvPr/>
        </p:nvSpPr>
        <p:spPr>
          <a:xfrm>
            <a:off x="10606765" y="3493008"/>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1" name="Rectangle 40"/>
          <p:cNvSpPr/>
          <p:nvPr/>
        </p:nvSpPr>
        <p:spPr>
          <a:xfrm>
            <a:off x="548640" y="3871830"/>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871830"/>
            <a:ext cx="2103120" cy="483325"/>
          </a:xfrm>
          <a:prstGeom prst="rect">
            <a:avLst/>
          </a:prstGeom>
          <a:noFill/>
        </p:spPr>
        <p:txBody>
          <a:bodyPr wrap="square" anchor="ctr" lIns="45720" rIns="45720">
            <a:spAutoFit/>
          </a:bodyPr>
          <a:lstStyle/>
          <a:p>
            <a:r>
              <a:rPr sz="1300" b="1" i="0">
                <a:solidFill>
                  <a:srgbClr val="004EA8"/>
                </a:solidFill>
                <a:latin typeface="Arial"/>
              </a:rPr>
              <a:t>Customer service</a:t>
            </a:r>
          </a:p>
        </p:txBody>
      </p:sp>
      <p:sp>
        <p:nvSpPr>
          <p:cNvPr id="43" name="Rectangle 42"/>
          <p:cNvSpPr/>
          <p:nvPr/>
        </p:nvSpPr>
        <p:spPr>
          <a:xfrm>
            <a:off x="5349148" y="4094443"/>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211988" y="3976333"/>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5" name="Oval 44"/>
          <p:cNvSpPr/>
          <p:nvPr/>
        </p:nvSpPr>
        <p:spPr>
          <a:xfrm>
            <a:off x="8808506" y="3976333"/>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6" name="Oval 45"/>
          <p:cNvSpPr/>
          <p:nvPr/>
        </p:nvSpPr>
        <p:spPr>
          <a:xfrm>
            <a:off x="10606765" y="3976333"/>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7" name="TextBox 46"/>
          <p:cNvSpPr txBox="1"/>
          <p:nvPr/>
        </p:nvSpPr>
        <p:spPr>
          <a:xfrm>
            <a:off x="594360" y="4355156"/>
            <a:ext cx="2103120" cy="483325"/>
          </a:xfrm>
          <a:prstGeom prst="rect">
            <a:avLst/>
          </a:prstGeom>
          <a:noFill/>
        </p:spPr>
        <p:txBody>
          <a:bodyPr wrap="square" anchor="ctr" lIns="45720" rIns="45720">
            <a:spAutoFit/>
          </a:bodyPr>
          <a:lstStyle/>
          <a:p>
            <a:r>
              <a:rPr sz="1300" b="1" i="0">
                <a:solidFill>
                  <a:srgbClr val="004EA8"/>
                </a:solidFill>
                <a:latin typeface="Arial"/>
              </a:rPr>
              <a:t>Compliance</a:t>
            </a:r>
          </a:p>
        </p:txBody>
      </p:sp>
      <p:sp>
        <p:nvSpPr>
          <p:cNvPr id="48" name="Rectangle 47"/>
          <p:cNvSpPr/>
          <p:nvPr/>
        </p:nvSpPr>
        <p:spPr>
          <a:xfrm>
            <a:off x="3550889" y="4577769"/>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13729" y="4459659"/>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0" name="Oval 49"/>
          <p:cNvSpPr/>
          <p:nvPr/>
        </p:nvSpPr>
        <p:spPr>
          <a:xfrm>
            <a:off x="8808506" y="4459659"/>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1" name="Oval 50"/>
          <p:cNvSpPr/>
          <p:nvPr/>
        </p:nvSpPr>
        <p:spPr>
          <a:xfrm>
            <a:off x="10606765" y="4459659"/>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2" name="Rectangle 51"/>
          <p:cNvSpPr/>
          <p:nvPr/>
        </p:nvSpPr>
        <p:spPr>
          <a:xfrm>
            <a:off x="548640" y="4838482"/>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838482"/>
            <a:ext cx="2103120" cy="483325"/>
          </a:xfrm>
          <a:prstGeom prst="rect">
            <a:avLst/>
          </a:prstGeom>
          <a:noFill/>
        </p:spPr>
        <p:txBody>
          <a:bodyPr wrap="square" anchor="ctr" lIns="45720" rIns="45720">
            <a:spAutoFit/>
          </a:bodyPr>
          <a:lstStyle/>
          <a:p>
            <a:r>
              <a:rPr sz="1300" b="1" i="0">
                <a:solidFill>
                  <a:srgbClr val="004EA8"/>
                </a:solidFill>
                <a:latin typeface="Arial"/>
              </a:rPr>
              <a:t>Reporting</a:t>
            </a:r>
          </a:p>
        </p:txBody>
      </p:sp>
      <p:sp>
        <p:nvSpPr>
          <p:cNvPr id="54" name="Rectangle 53"/>
          <p:cNvSpPr/>
          <p:nvPr/>
        </p:nvSpPr>
        <p:spPr>
          <a:xfrm>
            <a:off x="3550889" y="5061095"/>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413729" y="4942985"/>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6" name="Oval 55"/>
          <p:cNvSpPr/>
          <p:nvPr/>
        </p:nvSpPr>
        <p:spPr>
          <a:xfrm>
            <a:off x="8808506" y="4942985"/>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7" name="Oval 56"/>
          <p:cNvSpPr/>
          <p:nvPr/>
        </p:nvSpPr>
        <p:spPr>
          <a:xfrm>
            <a:off x="10606765" y="4942985"/>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8" name="Oval 57"/>
          <p:cNvSpPr/>
          <p:nvPr/>
        </p:nvSpPr>
        <p:spPr>
          <a:xfrm>
            <a:off x="548640" y="5431536"/>
            <a:ext cx="237744" cy="237744"/>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59" name="TextBox 58"/>
          <p:cNvSpPr txBox="1"/>
          <p:nvPr/>
        </p:nvSpPr>
        <p:spPr>
          <a:xfrm>
            <a:off x="822960" y="5404104"/>
            <a:ext cx="2011680" cy="292608"/>
          </a:xfrm>
          <a:prstGeom prst="rect">
            <a:avLst/>
          </a:prstGeom>
          <a:noFill/>
        </p:spPr>
        <p:txBody>
          <a:bodyPr wrap="square" anchor="t" lIns="45720" rIns="45720">
            <a:spAutoFit/>
          </a:bodyPr>
          <a:lstStyle/>
          <a:p>
            <a:r>
              <a:rPr sz="1200" b="0" i="0">
                <a:solidFill>
                  <a:srgbClr val="4B4B4B"/>
                </a:solidFill>
                <a:latin typeface="Arial"/>
              </a:rPr>
              <a:t>Today</a:t>
            </a:r>
          </a:p>
        </p:txBody>
      </p:sp>
      <p:sp>
        <p:nvSpPr>
          <p:cNvPr id="60" name="Oval 59"/>
          <p:cNvSpPr/>
          <p:nvPr/>
        </p:nvSpPr>
        <p:spPr>
          <a:xfrm>
            <a:off x="2651760" y="5431536"/>
            <a:ext cx="237744" cy="237744"/>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1" name="TextBox 60"/>
          <p:cNvSpPr txBox="1"/>
          <p:nvPr/>
        </p:nvSpPr>
        <p:spPr>
          <a:xfrm>
            <a:off x="2926080" y="5404104"/>
            <a:ext cx="2011680" cy="292608"/>
          </a:xfrm>
          <a:prstGeom prst="rect">
            <a:avLst/>
          </a:prstGeom>
          <a:noFill/>
        </p:spPr>
        <p:txBody>
          <a:bodyPr wrap="square" anchor="t" lIns="45720" rIns="45720">
            <a:spAutoFit/>
          </a:bodyPr>
          <a:lstStyle/>
          <a:p>
            <a:r>
              <a:rPr sz="1200" b="0" i="0">
                <a:solidFill>
                  <a:srgbClr val="4B4B4B"/>
                </a:solidFill>
                <a:latin typeface="Arial"/>
              </a:rPr>
              <a:t>BIBS envisioned</a:t>
            </a:r>
          </a:p>
        </p:txBody>
      </p:sp>
      <p:sp>
        <p:nvSpPr>
          <p:cNvPr id="62" name="Oval 61"/>
          <p:cNvSpPr/>
          <p:nvPr/>
        </p:nvSpPr>
        <p:spPr>
          <a:xfrm>
            <a:off x="4754880" y="5431536"/>
            <a:ext cx="237744" cy="23774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3" name="TextBox 62"/>
          <p:cNvSpPr txBox="1"/>
          <p:nvPr/>
        </p:nvSpPr>
        <p:spPr>
          <a:xfrm>
            <a:off x="5029200" y="5404104"/>
            <a:ext cx="2011680" cy="292608"/>
          </a:xfrm>
          <a:prstGeom prst="rect">
            <a:avLst/>
          </a:prstGeom>
          <a:noFill/>
        </p:spPr>
        <p:txBody>
          <a:bodyPr wrap="square" anchor="t" lIns="45720" rIns="45720">
            <a:spAutoFit/>
          </a:bodyPr>
          <a:lstStyle/>
          <a:p>
            <a:r>
              <a:rPr sz="1200" b="0" i="0">
                <a:solidFill>
                  <a:srgbClr val="4B4B4B"/>
                </a:solidFill>
                <a:latin typeface="Arial"/>
              </a:rPr>
              <a:t>Best practice</a:t>
            </a:r>
          </a:p>
        </p:txBody>
      </p:sp>
      <p:sp>
        <p:nvSpPr>
          <p:cNvPr id="64" name="TextBox 63"/>
          <p:cNvSpPr txBox="1"/>
          <p:nvPr/>
        </p:nvSpPr>
        <p:spPr>
          <a:xfrm>
            <a:off x="6949440" y="5385816"/>
            <a:ext cx="4693615" cy="457200"/>
          </a:xfrm>
          <a:prstGeom prst="rect">
            <a:avLst/>
          </a:prstGeom>
          <a:noFill/>
        </p:spPr>
        <p:txBody>
          <a:bodyPr wrap="square" anchor="t" lIns="45720" rIns="45720" tIns="18288" bIns="18288">
            <a:spAutoFit/>
          </a:bodyPr>
          <a:lstStyle/>
          <a:p>
            <a:pPr>
              <a:spcAft>
                <a:spcPts val="400"/>
              </a:spcAft>
            </a:pPr>
            <a:r>
              <a:rPr sz="1100" b="0">
                <a:solidFill>
                  <a:srgbClr val="656565"/>
                </a:solidFill>
                <a:latin typeface="Arial"/>
              </a:rPr>
              <a:t>Scale: project team assessment from the BRD current-process sections and the FRS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Open items per area (discrepancy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280160"/>
          <a:ext cx="7498076" cy="4315968"/>
        </p:xfrm>
        <a:graphic>
          <a:graphicData uri="http://schemas.openxmlformats.org/drawingml/2006/table">
            <a:tbl>
              <a:tblPr firstRow="1" bandRow="1">
                <a:tableStyleId>{5C22544A-7EE6-4342-B048-85BDC9FD1C3A}</a:tableStyleId>
              </a:tblPr>
              <a:tblGrid>
                <a:gridCol w="2741233"/>
                <a:gridCol w="967494"/>
                <a:gridCol w="725620"/>
                <a:gridCol w="725620"/>
                <a:gridCol w="725620"/>
                <a:gridCol w="725620"/>
                <a:gridCol w="886869"/>
              </a:tblGrid>
              <a:tr h="365760">
                <a:tc>
                  <a:txBody>
                    <a:bodyPr wrap="square"/>
                    <a:lstStyle/>
                    <a:p>
                      <a:r>
                        <a:rPr sz="1200" b="1">
                          <a:solidFill>
                            <a:srgbClr val="FFFFFF"/>
                          </a:solidFill>
                          <a:latin typeface="Arial"/>
                        </a:rPr>
                        <a:t>Area</a:t>
                      </a:r>
                    </a:p>
                  </a:txBody>
                  <a:tcPr marL="64008" marR="64008" marT="27432" marB="27432" anchor="ctr">
                    <a:solidFill>
                      <a:srgbClr val="004EA8"/>
                    </a:solidFill>
                  </a:tcPr>
                </a:tc>
                <a:tc>
                  <a:txBody>
                    <a:bodyPr wrap="square"/>
                    <a:lstStyle/>
                    <a:p>
                      <a:r>
                        <a:rPr sz="1200" b="1">
                          <a:solidFill>
                            <a:srgbClr val="FFFFFF"/>
                          </a:solidFill>
                          <a:latin typeface="Arial"/>
                        </a:rPr>
                        <a:t>BRD</a:t>
                      </a:r>
                    </a:p>
                  </a:txBody>
                  <a:tcPr marL="64008" marR="64008" marT="27432" marB="27432" anchor="ctr">
                    <a:solidFill>
                      <a:srgbClr val="004EA8"/>
                    </a:solidFill>
                  </a:tcPr>
                </a:tc>
                <a:tc>
                  <a:txBody>
                    <a:bodyPr wrap="square"/>
                    <a:lstStyle/>
                    <a:p>
                      <a:r>
                        <a:rPr sz="1200" b="1">
                          <a:solidFill>
                            <a:srgbClr val="FFFFFF"/>
                          </a:solidFill>
                          <a:latin typeface="Arial"/>
                        </a:rPr>
                        <a:t>High</a:t>
                      </a:r>
                    </a:p>
                  </a:txBody>
                  <a:tcPr marL="64008" marR="64008" marT="27432" marB="27432" anchor="ctr">
                    <a:solidFill>
                      <a:srgbClr val="004EA8"/>
                    </a:solidFill>
                  </a:tcPr>
                </a:tc>
                <a:tc>
                  <a:txBody>
                    <a:bodyPr wrap="square"/>
                    <a:lstStyle/>
                    <a:p>
                      <a:r>
                        <a:rPr sz="1200" b="1">
                          <a:solidFill>
                            <a:srgbClr val="FFFFFF"/>
                          </a:solidFill>
                          <a:latin typeface="Arial"/>
                        </a:rPr>
                        <a:t>Medium</a:t>
                      </a:r>
                    </a:p>
                  </a:txBody>
                  <a:tcPr marL="64008" marR="64008" marT="27432" marB="27432" anchor="ctr">
                    <a:solidFill>
                      <a:srgbClr val="004EA8"/>
                    </a:solidFill>
                  </a:tcPr>
                </a:tc>
                <a:tc>
                  <a:txBody>
                    <a:bodyPr wrap="square"/>
                    <a:lstStyle/>
                    <a:p>
                      <a:r>
                        <a:rPr sz="1200" b="1">
                          <a:solidFill>
                            <a:srgbClr val="FFFFFF"/>
                          </a:solidFill>
                          <a:latin typeface="Arial"/>
                        </a:rPr>
                        <a:t>Low</a:t>
                      </a:r>
                    </a:p>
                  </a:txBody>
                  <a:tcPr marL="64008" marR="64008" marT="27432" marB="27432" anchor="ctr">
                    <a:solidFill>
                      <a:srgbClr val="004EA8"/>
                    </a:solidFill>
                  </a:tcPr>
                </a:tc>
                <a:tc>
                  <a:txBody>
                    <a:bodyPr wrap="square"/>
                    <a:lstStyle/>
                    <a:p>
                      <a:r>
                        <a:rPr sz="1200" b="1">
                          <a:solidFill>
                            <a:srgbClr val="FFFFFF"/>
                          </a:solidFill>
                          <a:latin typeface="Arial"/>
                        </a:rPr>
                        <a:t>Open</a:t>
                      </a:r>
                    </a:p>
                  </a:txBody>
                  <a:tcPr marL="64008" marR="64008" marT="27432" marB="27432" anchor="ctr">
                    <a:solidFill>
                      <a:srgbClr val="004EA8"/>
                    </a:solidFill>
                  </a:tcPr>
                </a:tc>
                <a:tc>
                  <a:txBody>
                    <a:bodyPr wrap="square"/>
                    <a:lstStyle/>
                    <a:p>
                      <a:r>
                        <a:rPr sz="1200" b="1">
                          <a:solidFill>
                            <a:srgbClr val="FFFFFF"/>
                          </a:solidFill>
                          <a:latin typeface="Arial"/>
                        </a:rPr>
                        <a:t>Answered</a:t>
                      </a:r>
                    </a:p>
                  </a:txBody>
                  <a:tcPr marL="64008" marR="64008" marT="27432" marB="27432" anchor="ctr">
                    <a:solidFill>
                      <a:srgbClr val="004EA8"/>
                    </a:solidFill>
                  </a:tcPr>
                </a:tc>
              </a:tr>
              <a:tr h="329184">
                <a:tc>
                  <a:txBody>
                    <a:bodyPr wrap="square"/>
                    <a:lstStyle/>
                    <a:p>
                      <a:r>
                        <a:rPr sz="1200" b="0">
                          <a:solidFill>
                            <a:srgbClr val="4B4B4B"/>
                          </a:solidFill>
                          <a:latin typeface="Arial"/>
                        </a:rPr>
                        <a:t>New Business</a:t>
                      </a:r>
                    </a:p>
                  </a:txBody>
                  <a:tcPr marL="64008" marR="64008" marT="27432" marB="27432" anchor="ctr">
                    <a:solidFill>
                      <a:srgbClr val="FFFFFF"/>
                    </a:solidFill>
                  </a:tcPr>
                </a:tc>
                <a:tc>
                  <a:txBody>
                    <a:bodyPr wrap="square"/>
                    <a:lstStyle/>
                    <a:p>
                      <a:r>
                        <a:rPr sz="1200" b="0">
                          <a:solidFill>
                            <a:srgbClr val="4B4B4B"/>
                          </a:solidFill>
                          <a:latin typeface="Arial"/>
                        </a:rPr>
                        <a:t>BRD-1</a:t>
                      </a:r>
                    </a:p>
                  </a:txBody>
                  <a:tcPr marL="64008" marR="64008" marT="27432" marB="27432" anchor="ctr">
                    <a:solidFill>
                      <a:srgbClr val="FFFFFF"/>
                    </a:solidFill>
                  </a:tcPr>
                </a:tc>
                <a:tc>
                  <a:txBody>
                    <a:bodyPr wrap="square"/>
                    <a:lstStyle/>
                    <a:p>
                      <a:pPr algn="ctr"/>
                      <a:r>
                        <a:rPr sz="1200" b="1">
                          <a:solidFill>
                            <a:srgbClr val="C62828"/>
                          </a:solidFill>
                          <a:latin typeface="Arial"/>
                        </a:rPr>
                        <a:t>11</a:t>
                      </a:r>
                    </a:p>
                  </a:txBody>
                  <a:tcPr marL="64008" marR="64008" marT="27432" marB="27432" anchor="ctr">
                    <a:solidFill>
                      <a:srgbClr val="FDECEA"/>
                    </a:solidFill>
                  </a:tcPr>
                </a:tc>
                <a:tc>
                  <a:txBody>
                    <a:bodyPr wrap="square"/>
                    <a:lstStyle/>
                    <a:p>
                      <a:pPr algn="ctr"/>
                      <a:r>
                        <a:rPr sz="1200" b="1">
                          <a:solidFill>
                            <a:srgbClr val="8A5A00"/>
                          </a:solidFill>
                          <a:latin typeface="Arial"/>
                        </a:rPr>
                        <a:t>17</a:t>
                      </a:r>
                    </a:p>
                  </a:txBody>
                  <a:tcPr marL="64008" marR="64008" marT="27432" marB="27432" anchor="ctr">
                    <a:solidFill>
                      <a:srgbClr val="FFF4D6"/>
                    </a:solidFill>
                  </a:tcPr>
                </a:tc>
                <a:tc>
                  <a:txBody>
                    <a:bodyPr wrap="square"/>
                    <a:lstStyle/>
                    <a:p>
                      <a:pPr algn="ctr"/>
                      <a:r>
                        <a:rPr sz="1200" b="1">
                          <a:solidFill>
                            <a:srgbClr val="656565"/>
                          </a:solidFill>
                          <a:latin typeface="Arial"/>
                        </a:rPr>
                        <a:t>7</a:t>
                      </a:r>
                    </a:p>
                  </a:txBody>
                  <a:tcPr marL="64008" marR="64008" marT="27432" marB="27432" anchor="ctr">
                    <a:solidFill>
                      <a:srgbClr val="F6F6F6"/>
                    </a:solidFill>
                  </a:tcPr>
                </a:tc>
                <a:tc>
                  <a:txBody>
                    <a:bodyPr wrap="square"/>
                    <a:lstStyle/>
                    <a:p>
                      <a:r>
                        <a:rPr sz="1200" b="0">
                          <a:solidFill>
                            <a:srgbClr val="4B4B4B"/>
                          </a:solidFill>
                          <a:latin typeface="Arial"/>
                        </a:rPr>
                        <a:t>33</a:t>
                      </a:r>
                    </a:p>
                  </a:txBody>
                  <a:tcPr marL="64008" marR="64008" marT="27432" marB="27432" anchor="ctr">
                    <a:solidFill>
                      <a:srgbClr val="FFFFFF"/>
                    </a:solidFill>
                  </a:tcPr>
                </a:tc>
                <a:tc>
                  <a:txBody>
                    <a:bodyPr wrap="square"/>
                    <a:lstStyle/>
                    <a:p>
                      <a:r>
                        <a:rPr sz="1200" b="0">
                          <a:solidFill>
                            <a:srgbClr val="4B4B4B"/>
                          </a:solidFill>
                          <a:latin typeface="Arial"/>
                        </a:rPr>
                        <a:t>2</a:t>
                      </a:r>
                    </a:p>
                  </a:txBody>
                  <a:tcPr marL="64008" marR="64008" marT="27432" marB="27432" anchor="ctr">
                    <a:solidFill>
                      <a:srgbClr val="FFFFFF"/>
                    </a:solidFill>
                  </a:tcPr>
                </a:tc>
              </a:tr>
              <a:tr h="329184">
                <a:tc>
                  <a:txBody>
                    <a:bodyPr wrap="square"/>
                    <a:lstStyle/>
                    <a:p>
                      <a:r>
                        <a:rPr sz="1200" b="0">
                          <a:solidFill>
                            <a:srgbClr val="4B4B4B"/>
                          </a:solidFill>
                          <a:latin typeface="Arial"/>
                        </a:rPr>
                        <a:t>Operations</a:t>
                      </a:r>
                    </a:p>
                  </a:txBody>
                  <a:tcPr marL="64008" marR="64008" marT="27432" marB="27432" anchor="ctr">
                    <a:solidFill>
                      <a:srgbClr val="E5F5FF"/>
                    </a:solidFill>
                  </a:tcPr>
                </a:tc>
                <a:tc>
                  <a:txBody>
                    <a:bodyPr wrap="square"/>
                    <a:lstStyle/>
                    <a:p>
                      <a:r>
                        <a:rPr sz="1200" b="0">
                          <a:solidFill>
                            <a:srgbClr val="4B4B4B"/>
                          </a:solidFill>
                          <a:latin typeface="Arial"/>
                        </a:rPr>
                        <a:t>BRD-2</a:t>
                      </a:r>
                    </a:p>
                  </a:txBody>
                  <a:tcPr marL="64008" marR="64008" marT="27432" marB="27432" anchor="ctr">
                    <a:solidFill>
                      <a:srgbClr val="E5F5FF"/>
                    </a:solidFill>
                  </a:tcPr>
                </a:tc>
                <a:tc>
                  <a:txBody>
                    <a:bodyPr wrap="square"/>
                    <a:lstStyle/>
                    <a:p>
                      <a:pPr algn="ctr"/>
                      <a:r>
                        <a:rPr sz="1200" b="1">
                          <a:solidFill>
                            <a:srgbClr val="FFFFFF"/>
                          </a:solidFill>
                          <a:latin typeface="Arial"/>
                        </a:rPr>
                        <a:t>12</a:t>
                      </a:r>
                    </a:p>
                  </a:txBody>
                  <a:tcPr marL="64008" marR="64008" marT="27432" marB="27432" anchor="ctr">
                    <a:solidFill>
                      <a:srgbClr val="C62828"/>
                    </a:solidFill>
                  </a:tcPr>
                </a:tc>
                <a:tc>
                  <a:txBody>
                    <a:bodyPr wrap="square"/>
                    <a:lstStyle/>
                    <a:p>
                      <a:pPr algn="ctr"/>
                      <a:r>
                        <a:rPr sz="1200" b="1">
                          <a:solidFill>
                            <a:srgbClr val="8A5A00"/>
                          </a:solidFill>
                          <a:latin typeface="Arial"/>
                        </a:rPr>
                        <a:t>20</a:t>
                      </a:r>
                    </a:p>
                  </a:txBody>
                  <a:tcPr marL="64008" marR="64008" marT="27432" marB="27432" anchor="ctr">
                    <a:solidFill>
                      <a:srgbClr val="FFF4D6"/>
                    </a:solidFill>
                  </a:tcPr>
                </a:tc>
                <a:tc>
                  <a:txBody>
                    <a:bodyPr wrap="square"/>
                    <a:lstStyle/>
                    <a:p>
                      <a:pPr algn="ctr"/>
                      <a:r>
                        <a:rPr sz="1200" b="1">
                          <a:solidFill>
                            <a:srgbClr val="656565"/>
                          </a:solidFill>
                          <a:latin typeface="Arial"/>
                        </a:rPr>
                        <a:t>5</a:t>
                      </a:r>
                    </a:p>
                  </a:txBody>
                  <a:tcPr marL="64008" marR="64008" marT="27432" marB="27432" anchor="ctr">
                    <a:solidFill>
                      <a:srgbClr val="F6F6F6"/>
                    </a:solidFill>
                  </a:tcPr>
                </a:tc>
                <a:tc>
                  <a:txBody>
                    <a:bodyPr wrap="square"/>
                    <a:lstStyle/>
                    <a:p>
                      <a:r>
                        <a:rPr sz="1200" b="0">
                          <a:solidFill>
                            <a:srgbClr val="4B4B4B"/>
                          </a:solidFill>
                          <a:latin typeface="Arial"/>
                        </a:rPr>
                        <a:t>34</a:t>
                      </a:r>
                    </a:p>
                  </a:txBody>
                  <a:tcPr marL="64008" marR="64008" marT="27432" marB="27432" anchor="ctr">
                    <a:solidFill>
                      <a:srgbClr val="E5F5FF"/>
                    </a:solidFill>
                  </a:tcPr>
                </a:tc>
                <a:tc>
                  <a:txBody>
                    <a:bodyPr wrap="square"/>
                    <a:lstStyle/>
                    <a:p>
                      <a:r>
                        <a:rPr sz="1200" b="0">
                          <a:solidFill>
                            <a:srgbClr val="4B4B4B"/>
                          </a:solidFill>
                          <a:latin typeface="Arial"/>
                        </a:rPr>
                        <a:t>3</a:t>
                      </a:r>
                    </a:p>
                  </a:txBody>
                  <a:tcPr marL="64008" marR="64008" marT="27432" marB="27432" anchor="ctr">
                    <a:solidFill>
                      <a:srgbClr val="E5F5FF"/>
                    </a:solidFill>
                  </a:tcPr>
                </a:tc>
              </a:tr>
              <a:tr h="329184">
                <a:tc>
                  <a:txBody>
                    <a:bodyPr wrap="square"/>
                    <a:lstStyle/>
                    <a:p>
                      <a:r>
                        <a:rPr sz="1200" b="0">
                          <a:solidFill>
                            <a:srgbClr val="4B4B4B"/>
                          </a:solidFill>
                          <a:latin typeface="Arial"/>
                        </a:rPr>
                        <a:t>Product Maintenance</a:t>
                      </a:r>
                    </a:p>
                  </a:txBody>
                  <a:tcPr marL="64008" marR="64008" marT="27432" marB="27432" anchor="ctr">
                    <a:solidFill>
                      <a:srgbClr val="FFFFFF"/>
                    </a:solidFill>
                  </a:tcPr>
                </a:tc>
                <a:tc>
                  <a:txBody>
                    <a:bodyPr wrap="square"/>
                    <a:lstStyle/>
                    <a:p>
                      <a:r>
                        <a:rPr sz="1200" b="0">
                          <a:solidFill>
                            <a:srgbClr val="4B4B4B"/>
                          </a:solidFill>
                          <a:latin typeface="Arial"/>
                        </a:rPr>
                        <a:t>BRD-3</a:t>
                      </a:r>
                    </a:p>
                  </a:txBody>
                  <a:tcPr marL="64008" marR="64008" marT="27432" marB="27432" anchor="ctr">
                    <a:solidFill>
                      <a:srgbClr val="FFFFFF"/>
                    </a:solidFill>
                  </a:tcPr>
                </a:tc>
                <a:tc>
                  <a:txBody>
                    <a:bodyPr wrap="square"/>
                    <a:lstStyle/>
                    <a:p>
                      <a:pPr algn="ctr"/>
                      <a:r>
                        <a:rPr sz="1200" b="1">
                          <a:solidFill>
                            <a:srgbClr val="C62828"/>
                          </a:solidFill>
                          <a:latin typeface="Arial"/>
                        </a:rPr>
                        <a:t>7</a:t>
                      </a:r>
                    </a:p>
                  </a:txBody>
                  <a:tcPr marL="64008" marR="64008" marT="27432" marB="27432" anchor="ctr">
                    <a:solidFill>
                      <a:srgbClr val="FDECEA"/>
                    </a:solidFill>
                  </a:tcPr>
                </a:tc>
                <a:tc>
                  <a:txBody>
                    <a:bodyPr wrap="square"/>
                    <a:lstStyle/>
                    <a:p>
                      <a:pPr algn="ctr"/>
                      <a:r>
                        <a:rPr sz="1200" b="1">
                          <a:solidFill>
                            <a:srgbClr val="8A5A00"/>
                          </a:solidFill>
                          <a:latin typeface="Arial"/>
                        </a:rPr>
                        <a:t>9</a:t>
                      </a:r>
                    </a:p>
                  </a:txBody>
                  <a:tcPr marL="64008" marR="64008" marT="27432" marB="27432" anchor="ctr">
                    <a:solidFill>
                      <a:srgbClr val="FFF4D6"/>
                    </a:solidFill>
                  </a:tcPr>
                </a:tc>
                <a:tc>
                  <a:txBody>
                    <a:bodyPr wrap="square"/>
                    <a:lstStyle/>
                    <a:p>
                      <a:pPr algn="ctr"/>
                      <a:r>
                        <a:rPr sz="1200" b="1">
                          <a:solidFill>
                            <a:srgbClr val="656565"/>
                          </a:solidFill>
                          <a:latin typeface="Arial"/>
                        </a:rPr>
                        <a:t>6</a:t>
                      </a:r>
                    </a:p>
                  </a:txBody>
                  <a:tcPr marL="64008" marR="64008" marT="27432" marB="27432" anchor="ctr">
                    <a:solidFill>
                      <a:srgbClr val="F6F6F6"/>
                    </a:solidFill>
                  </a:tcPr>
                </a:tc>
                <a:tc>
                  <a:txBody>
                    <a:bodyPr wrap="square"/>
                    <a:lstStyle/>
                    <a:p>
                      <a:r>
                        <a:rPr sz="1200" b="0">
                          <a:solidFill>
                            <a:srgbClr val="4B4B4B"/>
                          </a:solidFill>
                          <a:latin typeface="Arial"/>
                        </a:rPr>
                        <a:t>19</a:t>
                      </a:r>
                    </a:p>
                  </a:txBody>
                  <a:tcPr marL="64008" marR="64008" marT="27432" marB="27432" anchor="ctr">
                    <a:solidFill>
                      <a:srgbClr val="FFFFFF"/>
                    </a:solidFill>
                  </a:tcPr>
                </a:tc>
                <a:tc>
                  <a:txBody>
                    <a:bodyPr wrap="square"/>
                    <a:lstStyle/>
                    <a:p>
                      <a:r>
                        <a:rPr sz="1200" b="0">
                          <a:solidFill>
                            <a:srgbClr val="4B4B4B"/>
                          </a:solidFill>
                          <a:latin typeface="Arial"/>
                        </a:rPr>
                        <a:t>3</a:t>
                      </a:r>
                    </a:p>
                  </a:txBody>
                  <a:tcPr marL="64008" marR="64008" marT="27432" marB="27432" anchor="ctr">
                    <a:solidFill>
                      <a:srgbClr val="FFFFFF"/>
                    </a:solidFill>
                  </a:tcPr>
                </a:tc>
              </a:tr>
              <a:tr h="329184">
                <a:tc>
                  <a:txBody>
                    <a:bodyPr wrap="square"/>
                    <a:lstStyle/>
                    <a:p>
                      <a:r>
                        <a:rPr sz="1200" b="0">
                          <a:solidFill>
                            <a:srgbClr val="4B4B4B"/>
                          </a:solidFill>
                          <a:latin typeface="Arial"/>
                        </a:rPr>
                        <a:t>Collections</a:t>
                      </a:r>
                    </a:p>
                  </a:txBody>
                  <a:tcPr marL="64008" marR="64008" marT="27432" marB="27432" anchor="ctr">
                    <a:solidFill>
                      <a:srgbClr val="E5F5FF"/>
                    </a:solidFill>
                  </a:tcPr>
                </a:tc>
                <a:tc>
                  <a:txBody>
                    <a:bodyPr wrap="square"/>
                    <a:lstStyle/>
                    <a:p>
                      <a:r>
                        <a:rPr sz="1200" b="0">
                          <a:solidFill>
                            <a:srgbClr val="4B4B4B"/>
                          </a:solidFill>
                          <a:latin typeface="Arial"/>
                        </a:rPr>
                        <a:t>BRD-4</a:t>
                      </a:r>
                    </a:p>
                  </a:txBody>
                  <a:tcPr marL="64008" marR="64008" marT="27432" marB="27432" anchor="ctr">
                    <a:solidFill>
                      <a:srgbClr val="E5F5FF"/>
                    </a:solidFill>
                  </a:tcPr>
                </a:tc>
                <a:tc>
                  <a:txBody>
                    <a:bodyPr wrap="square"/>
                    <a:lstStyle/>
                    <a:p>
                      <a:pPr algn="ctr"/>
                      <a:r>
                        <a:rPr sz="1200" b="1">
                          <a:solidFill>
                            <a:srgbClr val="FFFFFF"/>
                          </a:solidFill>
                          <a:latin typeface="Arial"/>
                        </a:rPr>
                        <a:t>12</a:t>
                      </a:r>
                    </a:p>
                  </a:txBody>
                  <a:tcPr marL="64008" marR="64008" marT="27432" marB="27432" anchor="ctr">
                    <a:solidFill>
                      <a:srgbClr val="C62828"/>
                    </a:solidFill>
                  </a:tcPr>
                </a:tc>
                <a:tc>
                  <a:txBody>
                    <a:bodyPr wrap="square"/>
                    <a:lstStyle/>
                    <a:p>
                      <a:pPr algn="ctr"/>
                      <a:r>
                        <a:rPr sz="1200" b="1">
                          <a:solidFill>
                            <a:srgbClr val="8A5A00"/>
                          </a:solidFill>
                          <a:latin typeface="Arial"/>
                        </a:rPr>
                        <a:t>20</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32</a:t>
                      </a:r>
                    </a:p>
                  </a:txBody>
                  <a:tcPr marL="64008" marR="64008" marT="27432" marB="27432" anchor="ctr">
                    <a:solidFill>
                      <a:srgbClr val="E5F5FF"/>
                    </a:solidFill>
                  </a:tcPr>
                </a:tc>
                <a:tc>
                  <a:txBody>
                    <a:bodyPr wrap="square"/>
                    <a:lstStyle/>
                    <a:p>
                      <a:r>
                        <a:rPr sz="1200" b="0">
                          <a:solidFill>
                            <a:srgbClr val="4B4B4B"/>
                          </a:solidFill>
                          <a:latin typeface="Arial"/>
                        </a:rPr>
                        <a:t>4</a:t>
                      </a:r>
                    </a:p>
                  </a:txBody>
                  <a:tcPr marL="64008" marR="64008" marT="27432" marB="27432" anchor="ctr">
                    <a:solidFill>
                      <a:srgbClr val="E5F5FF"/>
                    </a:solidFill>
                  </a:tcPr>
                </a:tc>
              </a:tr>
              <a:tr h="329184">
                <a:tc>
                  <a:txBody>
                    <a:bodyPr wrap="square"/>
                    <a:lstStyle/>
                    <a:p>
                      <a:r>
                        <a:rPr sz="1200" b="0">
                          <a:solidFill>
                            <a:srgbClr val="4B4B4B"/>
                          </a:solidFill>
                          <a:latin typeface="Arial"/>
                        </a:rPr>
                        <a:t>Accounting and Disbursement</a:t>
                      </a:r>
                    </a:p>
                  </a:txBody>
                  <a:tcPr marL="64008" marR="64008" marT="27432" marB="27432" anchor="ctr">
                    <a:solidFill>
                      <a:srgbClr val="FFFFFF"/>
                    </a:solidFill>
                  </a:tcPr>
                </a:tc>
                <a:tc>
                  <a:txBody>
                    <a:bodyPr wrap="square"/>
                    <a:lstStyle/>
                    <a:p>
                      <a:r>
                        <a:rPr sz="1200" b="0">
                          <a:solidFill>
                            <a:srgbClr val="4B4B4B"/>
                          </a:solidFill>
                          <a:latin typeface="Arial"/>
                        </a:rPr>
                        <a:t>BRD-5</a:t>
                      </a:r>
                    </a:p>
                  </a:txBody>
                  <a:tcPr marL="64008" marR="64008" marT="27432" marB="27432" anchor="ctr">
                    <a:solidFill>
                      <a:srgbClr val="FFFF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18</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30</a:t>
                      </a:r>
                    </a:p>
                  </a:txBody>
                  <a:tcPr marL="64008" marR="64008" marT="27432" marB="27432" anchor="ctr">
                    <a:solidFill>
                      <a:srgbClr val="FFFFFF"/>
                    </a:solidFill>
                  </a:tcPr>
                </a:tc>
                <a:tc>
                  <a:txBody>
                    <a:bodyPr wrap="square"/>
                    <a:lstStyle/>
                    <a:p>
                      <a:r>
                        <a:rPr sz="1200" b="0">
                          <a:solidFill>
                            <a:srgbClr val="4B4B4B"/>
                          </a:solidFill>
                          <a:latin typeface="Arial"/>
                        </a:rPr>
                        <a:t>2</a:t>
                      </a:r>
                    </a:p>
                  </a:txBody>
                  <a:tcPr marL="64008" marR="64008" marT="27432" marB="27432" anchor="ctr">
                    <a:solidFill>
                      <a:srgbClr val="FFFFFF"/>
                    </a:solidFill>
                  </a:tcPr>
                </a:tc>
              </a:tr>
              <a:tr h="329184">
                <a:tc>
                  <a:txBody>
                    <a:bodyPr wrap="square"/>
                    <a:lstStyle/>
                    <a:p>
                      <a:r>
                        <a:rPr sz="1200" b="0">
                          <a:solidFill>
                            <a:srgbClr val="4B4B4B"/>
                          </a:solidFill>
                          <a:latin typeface="Arial"/>
                        </a:rPr>
                        <a:t>Renewal</a:t>
                      </a:r>
                    </a:p>
                  </a:txBody>
                  <a:tcPr marL="64008" marR="64008" marT="27432" marB="27432" anchor="ctr">
                    <a:solidFill>
                      <a:srgbClr val="E5F5FF"/>
                    </a:solidFill>
                  </a:tcPr>
                </a:tc>
                <a:tc>
                  <a:txBody>
                    <a:bodyPr wrap="square"/>
                    <a:lstStyle/>
                    <a:p>
                      <a:r>
                        <a:rPr sz="1200" b="0">
                          <a:solidFill>
                            <a:srgbClr val="4B4B4B"/>
                          </a:solidFill>
                          <a:latin typeface="Arial"/>
                        </a:rPr>
                        <a:t>BRD-6</a:t>
                      </a:r>
                    </a:p>
                  </a:txBody>
                  <a:tcPr marL="64008" marR="64008" marT="27432" marB="27432" anchor="ctr">
                    <a:solidFill>
                      <a:srgbClr val="E5F5FF"/>
                    </a:solidFill>
                  </a:tcPr>
                </a:tc>
                <a:tc>
                  <a:txBody>
                    <a:bodyPr wrap="square"/>
                    <a:lstStyle/>
                    <a:p>
                      <a:pPr algn="ctr"/>
                      <a:r>
                        <a:rPr sz="1200" b="1">
                          <a:solidFill>
                            <a:srgbClr val="FFFFFF"/>
                          </a:solidFill>
                          <a:latin typeface="Arial"/>
                        </a:rPr>
                        <a:t>15</a:t>
                      </a:r>
                    </a:p>
                  </a:txBody>
                  <a:tcPr marL="64008" marR="64008" marT="27432" marB="27432" anchor="ctr">
                    <a:solidFill>
                      <a:srgbClr val="C62828"/>
                    </a:solidFill>
                  </a:tcPr>
                </a:tc>
                <a:tc>
                  <a:txBody>
                    <a:bodyPr wrap="square"/>
                    <a:lstStyle/>
                    <a:p>
                      <a:pPr algn="ctr"/>
                      <a:r>
                        <a:rPr sz="1200" b="1">
                          <a:solidFill>
                            <a:srgbClr val="8A5A00"/>
                          </a:solidFill>
                          <a:latin typeface="Arial"/>
                        </a:rPr>
                        <a:t>23</a:t>
                      </a:r>
                    </a:p>
                  </a:txBody>
                  <a:tcPr marL="64008" marR="64008" marT="27432" marB="27432" anchor="ctr">
                    <a:solidFill>
                      <a:srgbClr val="FFF4D6"/>
                    </a:solidFill>
                  </a:tcPr>
                </a:tc>
                <a:tc>
                  <a:txBody>
                    <a:bodyPr wrap="square"/>
                    <a:lstStyle/>
                    <a:p>
                      <a:pPr algn="ctr"/>
                      <a:r>
                        <a:rPr sz="1200" b="1">
                          <a:solidFill>
                            <a:srgbClr val="656565"/>
                          </a:solidFill>
                          <a:latin typeface="Arial"/>
                        </a:rPr>
                        <a:t>10</a:t>
                      </a:r>
                    </a:p>
                  </a:txBody>
                  <a:tcPr marL="64008" marR="64008" marT="27432" marB="27432" anchor="ctr">
                    <a:solidFill>
                      <a:srgbClr val="F6F6F6"/>
                    </a:solidFill>
                  </a:tcPr>
                </a:tc>
                <a:tc>
                  <a:txBody>
                    <a:bodyPr wrap="square"/>
                    <a:lstStyle/>
                    <a:p>
                      <a:r>
                        <a:rPr sz="1200" b="0">
                          <a:solidFill>
                            <a:srgbClr val="4B4B4B"/>
                          </a:solidFill>
                          <a:latin typeface="Arial"/>
                        </a:rPr>
                        <a:t>41</a:t>
                      </a:r>
                    </a:p>
                  </a:txBody>
                  <a:tcPr marL="64008" marR="64008" marT="27432" marB="27432" anchor="ctr">
                    <a:solidFill>
                      <a:srgbClr val="E5F5FF"/>
                    </a:solidFill>
                  </a:tcPr>
                </a:tc>
                <a:tc>
                  <a:txBody>
                    <a:bodyPr wrap="square"/>
                    <a:lstStyle/>
                    <a:p>
                      <a:r>
                        <a:rPr sz="1200" b="0">
                          <a:solidFill>
                            <a:srgbClr val="4B4B4B"/>
                          </a:solidFill>
                          <a:latin typeface="Arial"/>
                        </a:rPr>
                        <a:t>7</a:t>
                      </a:r>
                    </a:p>
                  </a:txBody>
                  <a:tcPr marL="64008" marR="64008" marT="27432" marB="27432" anchor="ctr">
                    <a:solidFill>
                      <a:srgbClr val="E5F5FF"/>
                    </a:solidFill>
                  </a:tcPr>
                </a:tc>
              </a:tr>
              <a:tr h="329184">
                <a:tc>
                  <a:txBody>
                    <a:bodyPr wrap="square"/>
                    <a:lstStyle/>
                    <a:p>
                      <a:r>
                        <a:rPr sz="1200" b="0">
                          <a:solidFill>
                            <a:srgbClr val="4B4B4B"/>
                          </a:solidFill>
                          <a:latin typeface="Arial"/>
                        </a:rPr>
                        <a:t>Claims</a:t>
                      </a:r>
                    </a:p>
                  </a:txBody>
                  <a:tcPr marL="64008" marR="64008" marT="27432" marB="27432" anchor="ctr">
                    <a:solidFill>
                      <a:srgbClr val="FFFFFF"/>
                    </a:solidFill>
                  </a:tcPr>
                </a:tc>
                <a:tc>
                  <a:txBody>
                    <a:bodyPr wrap="square"/>
                    <a:lstStyle/>
                    <a:p>
                      <a:r>
                        <a:rPr sz="1200" b="0">
                          <a:solidFill>
                            <a:srgbClr val="4B4B4B"/>
                          </a:solidFill>
                          <a:latin typeface="Arial"/>
                        </a:rPr>
                        <a:t>BRD-7</a:t>
                      </a:r>
                    </a:p>
                  </a:txBody>
                  <a:tcPr marL="64008" marR="64008" marT="27432" marB="27432" anchor="ctr">
                    <a:solidFill>
                      <a:srgbClr val="FFFFFF"/>
                    </a:solidFill>
                  </a:tcPr>
                </a:tc>
                <a:tc>
                  <a:txBody>
                    <a:bodyPr wrap="square"/>
                    <a:lstStyle/>
                    <a:p>
                      <a:pPr algn="ctr"/>
                      <a:r>
                        <a:rPr sz="1200" b="1">
                          <a:solidFill>
                            <a:srgbClr val="C62828"/>
                          </a:solidFill>
                          <a:latin typeface="Arial"/>
                        </a:rPr>
                        <a:t>11</a:t>
                      </a:r>
                    </a:p>
                  </a:txBody>
                  <a:tcPr marL="64008" marR="64008" marT="27432" marB="27432" anchor="ctr">
                    <a:solidFill>
                      <a:srgbClr val="FDECEA"/>
                    </a:solidFill>
                  </a:tcPr>
                </a:tc>
                <a:tc>
                  <a:txBody>
                    <a:bodyPr wrap="square"/>
                    <a:lstStyle/>
                    <a:p>
                      <a:pPr algn="ctr"/>
                      <a:r>
                        <a:rPr sz="1200" b="1">
                          <a:solidFill>
                            <a:srgbClr val="8A5A00"/>
                          </a:solidFill>
                          <a:latin typeface="Arial"/>
                        </a:rPr>
                        <a:t>17</a:t>
                      </a:r>
                    </a:p>
                  </a:txBody>
                  <a:tcPr marL="64008" marR="64008" marT="27432" marB="27432" anchor="ctr">
                    <a:solidFill>
                      <a:srgbClr val="FFF4D6"/>
                    </a:solidFill>
                  </a:tcPr>
                </a:tc>
                <a:tc>
                  <a:txBody>
                    <a:bodyPr wrap="square"/>
                    <a:lstStyle/>
                    <a:p>
                      <a:pPr algn="ctr"/>
                      <a:r>
                        <a:rPr sz="1200" b="1">
                          <a:solidFill>
                            <a:srgbClr val="656565"/>
                          </a:solidFill>
                          <a:latin typeface="Arial"/>
                        </a:rPr>
                        <a:t>2</a:t>
                      </a:r>
                    </a:p>
                  </a:txBody>
                  <a:tcPr marL="64008" marR="64008" marT="27432" marB="27432" anchor="ctr">
                    <a:solidFill>
                      <a:srgbClr val="F6F6F6"/>
                    </a:solidFill>
                  </a:tcPr>
                </a:tc>
                <a:tc>
                  <a:txBody>
                    <a:bodyPr wrap="square"/>
                    <a:lstStyle/>
                    <a:p>
                      <a:r>
                        <a:rPr sz="1200" b="0">
                          <a:solidFill>
                            <a:srgbClr val="4B4B4B"/>
                          </a:solidFill>
                          <a:latin typeface="Arial"/>
                        </a:rPr>
                        <a:t>27</a:t>
                      </a:r>
                    </a:p>
                  </a:txBody>
                  <a:tcPr marL="64008" marR="64008" marT="27432" marB="27432" anchor="ctr">
                    <a:solidFill>
                      <a:srgbClr val="FFFFFF"/>
                    </a:solidFill>
                  </a:tcPr>
                </a:tc>
                <a:tc>
                  <a:txBody>
                    <a:bodyPr wrap="square"/>
                    <a:lstStyle/>
                    <a:p>
                      <a:r>
                        <a:rPr sz="1200" b="0">
                          <a:solidFill>
                            <a:srgbClr val="4B4B4B"/>
                          </a:solidFill>
                          <a:latin typeface="Arial"/>
                        </a:rPr>
                        <a:t>3</a:t>
                      </a:r>
                    </a:p>
                  </a:txBody>
                  <a:tcPr marL="64008" marR="64008" marT="27432" marB="27432" anchor="ctr">
                    <a:solidFill>
                      <a:srgbClr val="FFFFFF"/>
                    </a:solidFill>
                  </a:tcPr>
                </a:tc>
              </a:tr>
              <a:tr h="329184">
                <a:tc>
                  <a:txBody>
                    <a:bodyPr wrap="square"/>
                    <a:lstStyle/>
                    <a:p>
                      <a:r>
                        <a:rPr sz="1200" b="0">
                          <a:solidFill>
                            <a:srgbClr val="4B4B4B"/>
                          </a:solidFill>
                          <a:latin typeface="Arial"/>
                        </a:rPr>
                        <a:t>Employee Benefits</a:t>
                      </a:r>
                    </a:p>
                  </a:txBody>
                  <a:tcPr marL="64008" marR="64008" marT="27432" marB="27432" anchor="ctr">
                    <a:solidFill>
                      <a:srgbClr val="E5F5FF"/>
                    </a:solidFill>
                  </a:tcPr>
                </a:tc>
                <a:tc>
                  <a:txBody>
                    <a:bodyPr wrap="square"/>
                    <a:lstStyle/>
                    <a:p>
                      <a:r>
                        <a:rPr sz="1200" b="0">
                          <a:solidFill>
                            <a:srgbClr val="4B4B4B"/>
                          </a:solidFill>
                          <a:latin typeface="Arial"/>
                        </a:rPr>
                        <a:t>BRD-8</a:t>
                      </a:r>
                    </a:p>
                  </a:txBody>
                  <a:tcPr marL="64008" marR="64008" marT="27432" marB="27432" anchor="ctr">
                    <a:solidFill>
                      <a:srgbClr val="E5F5FF"/>
                    </a:solidFill>
                  </a:tcPr>
                </a:tc>
                <a:tc>
                  <a:txBody>
                    <a:bodyPr wrap="square"/>
                    <a:lstStyle/>
                    <a:p>
                      <a:pPr algn="ctr"/>
                      <a:r>
                        <a:rPr sz="1200" b="1">
                          <a:solidFill>
                            <a:srgbClr val="C62828"/>
                          </a:solidFill>
                          <a:latin typeface="Arial"/>
                        </a:rPr>
                        <a:t>8</a:t>
                      </a:r>
                    </a:p>
                  </a:txBody>
                  <a:tcPr marL="64008" marR="64008" marT="27432" marB="27432" anchor="ctr">
                    <a:solidFill>
                      <a:srgbClr val="FDECEA"/>
                    </a:solidFill>
                  </a:tcPr>
                </a:tc>
                <a:tc>
                  <a:txBody>
                    <a:bodyPr wrap="square"/>
                    <a:lstStyle/>
                    <a:p>
                      <a:pPr algn="ctr"/>
                      <a:r>
                        <a:rPr sz="1200" b="1">
                          <a:solidFill>
                            <a:srgbClr val="8A5A00"/>
                          </a:solidFill>
                          <a:latin typeface="Arial"/>
                        </a:rPr>
                        <a:t>13</a:t>
                      </a:r>
                    </a:p>
                  </a:txBody>
                  <a:tcPr marL="64008" marR="64008" marT="27432" marB="27432" anchor="ctr">
                    <a:solidFill>
                      <a:srgbClr val="FFF4D6"/>
                    </a:solidFill>
                  </a:tcPr>
                </a:tc>
                <a:tc>
                  <a:txBody>
                    <a:bodyPr wrap="square"/>
                    <a:lstStyle/>
                    <a:p>
                      <a:pPr algn="ctr"/>
                      <a:r>
                        <a:rPr sz="1200" b="1">
                          <a:solidFill>
                            <a:srgbClr val="656565"/>
                          </a:solidFill>
                          <a:latin typeface="Arial"/>
                        </a:rPr>
                        <a:t>5</a:t>
                      </a:r>
                    </a:p>
                  </a:txBody>
                  <a:tcPr marL="64008" marR="64008" marT="27432" marB="27432" anchor="ctr">
                    <a:solidFill>
                      <a:srgbClr val="F6F6F6"/>
                    </a:solidFill>
                  </a:tcPr>
                </a:tc>
                <a:tc>
                  <a:txBody>
                    <a:bodyPr wrap="square"/>
                    <a:lstStyle/>
                    <a:p>
                      <a:r>
                        <a:rPr sz="1200" b="0">
                          <a:solidFill>
                            <a:srgbClr val="4B4B4B"/>
                          </a:solidFill>
                          <a:latin typeface="Arial"/>
                        </a:rPr>
                        <a:t>23</a:t>
                      </a:r>
                    </a:p>
                  </a:txBody>
                  <a:tcPr marL="64008" marR="64008" marT="27432" marB="27432" anchor="ctr">
                    <a:solidFill>
                      <a:srgbClr val="E5F5FF"/>
                    </a:solidFill>
                  </a:tcPr>
                </a:tc>
                <a:tc>
                  <a:txBody>
                    <a:bodyPr wrap="square"/>
                    <a:lstStyle/>
                    <a:p>
                      <a:r>
                        <a:rPr sz="1200" b="0">
                          <a:solidFill>
                            <a:srgbClr val="4B4B4B"/>
                          </a:solidFill>
                          <a:latin typeface="Arial"/>
                        </a:rPr>
                        <a:t>3</a:t>
                      </a:r>
                    </a:p>
                  </a:txBody>
                  <a:tcPr marL="64008" marR="64008" marT="27432" marB="27432" anchor="ctr">
                    <a:solidFill>
                      <a:srgbClr val="E5F5FF"/>
                    </a:solidFill>
                  </a:tcPr>
                </a:tc>
              </a:tr>
              <a:tr h="329184">
                <a:tc>
                  <a:txBody>
                    <a:bodyPr wrap="square"/>
                    <a:lstStyle/>
                    <a:p>
                      <a:r>
                        <a:rPr sz="1200" b="0">
                          <a:solidFill>
                            <a:srgbClr val="4B4B4B"/>
                          </a:solidFill>
                          <a:latin typeface="Arial"/>
                        </a:rPr>
                        <a:t>Customer Servicing Facility</a:t>
                      </a:r>
                    </a:p>
                  </a:txBody>
                  <a:tcPr marL="64008" marR="64008" marT="27432" marB="27432" anchor="ctr">
                    <a:solidFill>
                      <a:srgbClr val="FFFFFF"/>
                    </a:solidFill>
                  </a:tcPr>
                </a:tc>
                <a:tc>
                  <a:txBody>
                    <a:bodyPr wrap="square"/>
                    <a:lstStyle/>
                    <a:p>
                      <a:r>
                        <a:rPr sz="1200" b="0">
                          <a:solidFill>
                            <a:srgbClr val="4B4B4B"/>
                          </a:solidFill>
                          <a:latin typeface="Arial"/>
                        </a:rPr>
                        <a:t>BRD-9</a:t>
                      </a:r>
                    </a:p>
                  </a:txBody>
                  <a:tcPr marL="64008" marR="64008" marT="27432" marB="27432" anchor="ctr">
                    <a:solidFill>
                      <a:srgbClr val="FFFF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24</a:t>
                      </a:r>
                    </a:p>
                  </a:txBody>
                  <a:tcPr marL="64008" marR="64008" marT="27432" marB="27432" anchor="ctr">
                    <a:solidFill>
                      <a:srgbClr val="FFFFFF"/>
                    </a:solidFill>
                  </a:tcPr>
                </a:tc>
                <a:tc>
                  <a:txBody>
                    <a:bodyPr wrap="square"/>
                    <a:lstStyle/>
                    <a:p>
                      <a:r>
                        <a:rPr sz="1200" b="0">
                          <a:solidFill>
                            <a:srgbClr val="4B4B4B"/>
                          </a:solidFill>
                          <a:latin typeface="Arial"/>
                        </a:rPr>
                        <a:t>1</a:t>
                      </a:r>
                    </a:p>
                  </a:txBody>
                  <a:tcPr marL="64008" marR="64008" marT="27432" marB="27432" anchor="ctr">
                    <a:solidFill>
                      <a:srgbClr val="FFFFFF"/>
                    </a:solidFill>
                  </a:tcPr>
                </a:tc>
              </a:tr>
              <a:tr h="329184">
                <a:tc>
                  <a:txBody>
                    <a:bodyPr wrap="square"/>
                    <a:lstStyle/>
                    <a:p>
                      <a:r>
                        <a:rPr sz="1200" b="0">
                          <a:solidFill>
                            <a:srgbClr val="4B4B4B"/>
                          </a:solidFill>
                          <a:latin typeface="Arial"/>
                        </a:rPr>
                        <a:t>Sanction Screening</a:t>
                      </a:r>
                    </a:p>
                  </a:txBody>
                  <a:tcPr marL="64008" marR="64008" marT="27432" marB="27432" anchor="ctr">
                    <a:solidFill>
                      <a:srgbClr val="E5F5FF"/>
                    </a:solidFill>
                  </a:tcPr>
                </a:tc>
                <a:tc>
                  <a:txBody>
                    <a:bodyPr wrap="square"/>
                    <a:lstStyle/>
                    <a:p>
                      <a:r>
                        <a:rPr sz="1200" b="0">
                          <a:solidFill>
                            <a:srgbClr val="4B4B4B"/>
                          </a:solidFill>
                          <a:latin typeface="Arial"/>
                        </a:rPr>
                        <a:t>BRD-10</a:t>
                      </a:r>
                    </a:p>
                  </a:txBody>
                  <a:tcPr marL="64008" marR="64008" marT="27432" marB="27432" anchor="ctr">
                    <a:solidFill>
                      <a:srgbClr val="E5F5FF"/>
                    </a:solidFill>
                  </a:tcPr>
                </a:tc>
                <a:tc>
                  <a:txBody>
                    <a:bodyPr wrap="square"/>
                    <a:lstStyle/>
                    <a:p>
                      <a:pPr algn="ctr"/>
                      <a:r>
                        <a:rPr sz="1200" b="1">
                          <a:solidFill>
                            <a:srgbClr val="C62828"/>
                          </a:solidFill>
                          <a:latin typeface="Arial"/>
                        </a:rPr>
                        <a:t>5</a:t>
                      </a:r>
                    </a:p>
                  </a:txBody>
                  <a:tcPr marL="64008" marR="64008" marT="27432" marB="27432" anchor="ctr">
                    <a:solidFill>
                      <a:srgbClr val="FDECEA"/>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19</a:t>
                      </a:r>
                    </a:p>
                  </a:txBody>
                  <a:tcPr marL="64008" marR="64008" marT="27432" marB="27432" anchor="ctr">
                    <a:solidFill>
                      <a:srgbClr val="E5F5FF"/>
                    </a:solidFill>
                  </a:tcPr>
                </a:tc>
                <a:tc>
                  <a:txBody>
                    <a:bodyPr wrap="square"/>
                    <a:lstStyle/>
                    <a:p>
                      <a:r>
                        <a:rPr sz="1200" b="0">
                          <a:solidFill>
                            <a:srgbClr val="4B4B4B"/>
                          </a:solidFill>
                          <a:latin typeface="Arial"/>
                        </a:rPr>
                        <a:t>1</a:t>
                      </a:r>
                    </a:p>
                  </a:txBody>
                  <a:tcPr marL="64008" marR="64008" marT="27432" marB="27432" anchor="ctr">
                    <a:solidFill>
                      <a:srgbClr val="E5F5FF"/>
                    </a:solidFill>
                  </a:tcPr>
                </a:tc>
              </a:tr>
              <a:tr h="329184">
                <a:tc>
                  <a:txBody>
                    <a:bodyPr wrap="square"/>
                    <a:lstStyle/>
                    <a:p>
                      <a:r>
                        <a:rPr sz="1200" b="0">
                          <a:solidFill>
                            <a:srgbClr val="4B4B4B"/>
                          </a:solidFill>
                          <a:latin typeface="Arial"/>
                        </a:rPr>
                        <a:t>User Access Maintenance</a:t>
                      </a:r>
                    </a:p>
                  </a:txBody>
                  <a:tcPr marL="64008" marR="64008" marT="27432" marB="27432" anchor="ctr">
                    <a:solidFill>
                      <a:srgbClr val="FFFFFF"/>
                    </a:solidFill>
                  </a:tcPr>
                </a:tc>
                <a:tc>
                  <a:txBody>
                    <a:bodyPr wrap="square"/>
                    <a:lstStyle/>
                    <a:p>
                      <a:r>
                        <a:rPr sz="1200" b="0">
                          <a:solidFill>
                            <a:srgbClr val="4B4B4B"/>
                          </a:solidFill>
                          <a:latin typeface="Arial"/>
                        </a:rPr>
                        <a:t>BRD-11</a:t>
                      </a:r>
                    </a:p>
                  </a:txBody>
                  <a:tcPr marL="64008" marR="64008" marT="27432" marB="27432" anchor="ctr">
                    <a:solidFill>
                      <a:srgbClr val="FFFF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22</a:t>
                      </a:r>
                    </a:p>
                  </a:txBody>
                  <a:tcPr marL="64008" marR="64008" marT="27432" marB="27432" anchor="ctr">
                    <a:solidFill>
                      <a:srgbClr val="FFFFFF"/>
                    </a:solidFill>
                  </a:tcPr>
                </a:tc>
                <a:tc>
                  <a:txBody>
                    <a:bodyPr wrap="square"/>
                    <a:lstStyle/>
                    <a:p>
                      <a:r>
                        <a:rPr sz="1200" b="0">
                          <a:solidFill>
                            <a:srgbClr val="4B4B4B"/>
                          </a:solidFill>
                          <a:latin typeface="Arial"/>
                        </a:rPr>
                        <a:t>3</a:t>
                      </a:r>
                    </a:p>
                  </a:txBody>
                  <a:tcPr marL="64008" marR="64008" marT="27432" marB="27432" anchor="ctr">
                    <a:solidFill>
                      <a:srgbClr val="FFFFFF"/>
                    </a:solidFill>
                  </a:tcPr>
                </a:tc>
              </a:tr>
              <a:tr h="329184">
                <a:tc>
                  <a:txBody>
                    <a:bodyPr wrap="square"/>
                    <a:lstStyle/>
                    <a:p>
                      <a:r>
                        <a:rPr sz="1200" b="0">
                          <a:solidFill>
                            <a:srgbClr val="4B4B4B"/>
                          </a:solidFill>
                          <a:latin typeface="Arial"/>
                        </a:rPr>
                        <a:t>Submitted Policies</a:t>
                      </a:r>
                    </a:p>
                  </a:txBody>
                  <a:tcPr marL="64008" marR="64008" marT="27432" marB="27432" anchor="ctr">
                    <a:solidFill>
                      <a:srgbClr val="E5F5FF"/>
                    </a:solidFill>
                  </a:tcPr>
                </a:tc>
                <a:tc>
                  <a:txBody>
                    <a:bodyPr wrap="square"/>
                    <a:lstStyle/>
                    <a:p>
                      <a:r>
                        <a:rPr sz="1200" b="0">
                          <a:solidFill>
                            <a:srgbClr val="4B4B4B"/>
                          </a:solidFill>
                          <a:latin typeface="Arial"/>
                        </a:rPr>
                        <a:t>BRD-12</a:t>
                      </a:r>
                    </a:p>
                  </a:txBody>
                  <a:tcPr marL="64008" marR="64008" marT="27432" marB="27432" anchor="ctr">
                    <a:solidFill>
                      <a:srgbClr val="E5F5FF"/>
                    </a:solidFill>
                  </a:tcPr>
                </a:tc>
                <a:tc>
                  <a:txBody>
                    <a:bodyPr wrap="square"/>
                    <a:lstStyle/>
                    <a:p>
                      <a:pPr algn="ctr"/>
                      <a:r>
                        <a:rPr sz="1200" b="1">
                          <a:solidFill>
                            <a:srgbClr val="C62828"/>
                          </a:solidFill>
                          <a:latin typeface="Arial"/>
                        </a:rPr>
                        <a:t>10</a:t>
                      </a:r>
                    </a:p>
                  </a:txBody>
                  <a:tcPr marL="64008" marR="64008" marT="27432" marB="27432" anchor="ctr">
                    <a:solidFill>
                      <a:srgbClr val="FDECEA"/>
                    </a:solidFill>
                  </a:tcPr>
                </a:tc>
                <a:tc>
                  <a:txBody>
                    <a:bodyPr wrap="square"/>
                    <a:lstStyle/>
                    <a:p>
                      <a:pPr algn="ctr"/>
                      <a:r>
                        <a:rPr sz="1200" b="1">
                          <a:solidFill>
                            <a:srgbClr val="8A5A00"/>
                          </a:solidFill>
                          <a:latin typeface="Arial"/>
                        </a:rPr>
                        <a:t>14</a:t>
                      </a:r>
                    </a:p>
                  </a:txBody>
                  <a:tcPr marL="64008" marR="64008" marT="27432" marB="27432" anchor="ctr">
                    <a:solidFill>
                      <a:srgbClr val="FFF4D6"/>
                    </a:solidFill>
                  </a:tcPr>
                </a:tc>
                <a:tc>
                  <a:txBody>
                    <a:bodyPr wrap="square"/>
                    <a:lstStyle/>
                    <a:p>
                      <a:pPr algn="ctr"/>
                      <a:r>
                        <a:rPr sz="1200" b="1">
                          <a:solidFill>
                            <a:srgbClr val="656565"/>
                          </a:solidFill>
                          <a:latin typeface="Arial"/>
                        </a:rPr>
                        <a:t>5</a:t>
                      </a:r>
                    </a:p>
                  </a:txBody>
                  <a:tcPr marL="64008" marR="64008" marT="27432" marB="27432" anchor="ctr">
                    <a:solidFill>
                      <a:srgbClr val="F6F6F6"/>
                    </a:solidFill>
                  </a:tcPr>
                </a:tc>
                <a:tc>
                  <a:txBody>
                    <a:bodyPr wrap="square"/>
                    <a:lstStyle/>
                    <a:p>
                      <a:r>
                        <a:rPr sz="1200" b="0">
                          <a:solidFill>
                            <a:srgbClr val="4B4B4B"/>
                          </a:solidFill>
                          <a:latin typeface="Arial"/>
                        </a:rPr>
                        <a:t>27</a:t>
                      </a:r>
                    </a:p>
                  </a:txBody>
                  <a:tcPr marL="64008" marR="64008" marT="27432" marB="27432" anchor="ctr">
                    <a:solidFill>
                      <a:srgbClr val="E5F5FF"/>
                    </a:solidFill>
                  </a:tcPr>
                </a:tc>
                <a:tc>
                  <a:txBody>
                    <a:bodyPr wrap="square"/>
                    <a:lstStyle/>
                    <a:p>
                      <a:r>
                        <a:rPr sz="1200" b="0">
                          <a:solidFill>
                            <a:srgbClr val="4B4B4B"/>
                          </a:solidFill>
                          <a:latin typeface="Arial"/>
                        </a:rPr>
                        <a:t>2</a:t>
                      </a:r>
                    </a:p>
                  </a:txBody>
                  <a:tcPr marL="64008" marR="64008" marT="27432" marB="27432" anchor="ctr">
                    <a:solidFill>
                      <a:srgbClr val="E5F5FF"/>
                    </a:solidFill>
                  </a:tcPr>
                </a:tc>
              </a:tr>
            </a:tbl>
          </a:graphicData>
        </a:graphic>
      </p:graphicFrame>
      <p:sp>
        <p:nvSpPr>
          <p:cNvPr id="10" name="TextBox 9"/>
          <p:cNvSpPr txBox="1"/>
          <p:nvPr/>
        </p:nvSpPr>
        <p:spPr>
          <a:xfrm>
            <a:off x="8275319" y="1280160"/>
            <a:ext cx="3367736" cy="4846320"/>
          </a:xfrm>
          <a:prstGeom prst="rect">
            <a:avLst/>
          </a:prstGeom>
          <a:noFill/>
        </p:spPr>
        <p:txBody>
          <a:bodyPr wrap="square" anchor="t" lIns="45720" rIns="45720" tIns="18288" bIns="18288">
            <a:spAutoFit/>
          </a:bodyPr>
          <a:lstStyle/>
          <a:p>
            <a:pPr>
              <a:spcAft>
                <a:spcPts val="600"/>
              </a:spcAft>
            </a:pPr>
            <a:r>
              <a:rPr sz="1200" b="0">
                <a:solidFill>
                  <a:srgbClr val="4B4B4B"/>
                </a:solidFill>
                <a:latin typeface="Arial"/>
              </a:rPr>
              <a:t>162 items are raised against the 12 BRDs and the Report List; 8 are answered by a later signed BDOI document.</a:t>
            </a:r>
          </a:p>
          <a:p>
            <a:pPr>
              <a:spcAft>
                <a:spcPts val="600"/>
              </a:spcAft>
            </a:pPr>
            <a:r>
              <a:rPr sz="1200" b="0">
                <a:solidFill>
                  <a:srgbClr val="4B4B4B"/>
                </a:solidFill>
                <a:latin typeface="Arial"/>
              </a:rPr>
              <a:t>High items change what the system does, the money, compliance or access; they are resolved before the FRS of the area is signed off.</a:t>
            </a:r>
          </a:p>
          <a:p>
            <a:pPr>
              <a:spcAft>
                <a:spcPts val="600"/>
              </a:spcAft>
            </a:pPr>
            <a:r>
              <a:rPr sz="1200" b="0">
                <a:solidFill>
                  <a:srgbClr val="4B4B4B"/>
                </a:solidFill>
                <a:latin typeface="Arial"/>
              </a:rPr>
              <a:t>Items that touch several BRDs, such as the service window, RPO and retention, count under each BRD.</a:t>
            </a:r>
          </a:p>
          <a:p>
            <a:pPr>
              <a:spcAft>
                <a:spcPts val="600"/>
              </a:spcAft>
            </a:pPr>
            <a:r>
              <a:rPr sz="1200" b="0">
                <a:solidFill>
                  <a:srgbClr val="4B4B4B"/>
                </a:solidFill>
                <a:latin typeface="Arial"/>
              </a:rPr>
              <a:t>The next slide lists the decisions that unblock the most areas.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Cross-BRD gaps: decisions for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Directory sign-in (EUA) for every user</a:t>
                      </a:r>
                    </a:p>
                  </a:txBody>
                  <a:tcPr marL="64008" marR="64008" marT="27432" marB="27432" anchor="ctr">
                    <a:solidFill>
                      <a:srgbClr val="FFFFFF"/>
                    </a:solidFill>
                  </a:tcPr>
                </a:tc>
                <a:tc>
                  <a:txBody>
                    <a:bodyPr wrap="square"/>
                    <a:lstStyle/>
                    <a:p>
                      <a:r>
                        <a:rPr sz="1100" b="0">
                          <a:solidFill>
                            <a:srgbClr val="4B4B4B"/>
                          </a:solidFill>
                          <a:latin typeface="Arial"/>
                        </a:rPr>
                        <a:t>Identity source for all BIBS users</a:t>
                      </a:r>
                    </a:p>
                  </a:txBody>
                  <a:tcPr marL="64008" marR="64008" marT="27432" marB="27432" anchor="ctr">
                    <a:solidFill>
                      <a:srgbClr val="FFFFFF"/>
                    </a:solidFill>
                  </a:tcPr>
                </a:tc>
                <a:tc>
                  <a:txBody>
                    <a:bodyPr wrap="square"/>
                    <a:lstStyle/>
                    <a:p>
                      <a:r>
                        <a:rPr sz="1100" b="0">
                          <a:solidFill>
                            <a:srgbClr val="4B4B4B"/>
                          </a:solidFill>
                          <a:latin typeface="Arial"/>
                        </a:rPr>
                        <a:t>UAM owner with BDO ITIO</a:t>
                      </a:r>
                    </a:p>
                  </a:txBody>
                  <a:tcPr marL="64008" marR="64008" marT="27432" marB="27432" anchor="ctr">
                    <a:solidFill>
                      <a:srgbClr val="FFFFFF"/>
                    </a:solidFill>
                  </a:tcPr>
                </a:tc>
                <a:tc>
                  <a:txBody>
                    <a:bodyPr wrap="square"/>
                    <a:lstStyle/>
                    <a:p>
                      <a:r>
                        <a:rPr sz="1100" b="0">
                          <a:solidFill>
                            <a:srgbClr val="4B4B4B"/>
                          </a:solidFill>
                          <a:latin typeface="Arial"/>
                        </a:rPr>
                        <a:t>Provide the EUA interface; are contact centre agents in the directory?</a:t>
                      </a:r>
                    </a:p>
                  </a:txBody>
                  <a:tcPr marL="64008" marR="64008" marT="27432" marB="27432" anchor="ctr">
                    <a:solidFill>
                      <a:srgbClr val="FFFFFF"/>
                    </a:solidFill>
                  </a:tcPr>
                </a:tc>
                <a:tc>
                  <a:txBody>
                    <a:bodyPr wrap="square"/>
                    <a:lstStyle/>
                    <a:p>
                      <a:r>
                        <a:rPr sz="1100" b="0">
                          <a:solidFill>
                            <a:srgbClr val="4B4B4B"/>
                          </a:solidFill>
                          <a:latin typeface="Arial"/>
                        </a:rPr>
                        <a:t>DCR-143</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BIBS-wide user access matrix</a:t>
                      </a:r>
                    </a:p>
                  </a:txBody>
                  <a:tcPr marL="64008" marR="64008" marT="27432" marB="27432" anchor="ctr">
                    <a:solidFill>
                      <a:srgbClr val="E5F5FF"/>
                    </a:solidFill>
                  </a:tcPr>
                </a:tc>
                <a:tc>
                  <a:txBody>
                    <a:bodyPr wrap="square"/>
                    <a:lstStyle/>
                    <a:p>
                      <a:r>
                        <a:rPr sz="1100" b="0">
                          <a:solidFill>
                            <a:srgbClr val="4B4B4B"/>
                          </a:solidFill>
                          <a:latin typeface="Arial"/>
                        </a:rPr>
                        <a:t>Roles and persona tests of every module</a:t>
                      </a:r>
                    </a:p>
                  </a:txBody>
                  <a:tcPr marL="64008" marR="64008" marT="27432" marB="27432" anchor="ctr">
                    <a:solidFill>
                      <a:srgbClr val="E5F5FF"/>
                    </a:solidFill>
                  </a:tcPr>
                </a:tc>
                <a:tc>
                  <a:txBody>
                    <a:bodyPr wrap="square"/>
                    <a:lstStyle/>
                    <a:p>
                      <a:r>
                        <a:rPr sz="1100" b="0">
                          <a:solidFill>
                            <a:srgbClr val="4B4B4B"/>
                          </a:solidFill>
                          <a:latin typeface="Arial"/>
                        </a:rPr>
                        <a:t>Product Owner, all BRD owners</a:t>
                      </a:r>
                    </a:p>
                  </a:txBody>
                  <a:tcPr marL="64008" marR="64008" marT="27432" marB="27432" anchor="ctr">
                    <a:solidFill>
                      <a:srgbClr val="E5F5FF"/>
                    </a:solidFill>
                  </a:tcPr>
                </a:tc>
                <a:tc>
                  <a:txBody>
                    <a:bodyPr wrap="square"/>
                    <a:lstStyle/>
                    <a:p>
                      <a:r>
                        <a:rPr sz="1100" b="0">
                          <a:solidFill>
                            <a:srgbClr val="4B4B4B"/>
                          </a:solidFill>
                          <a:latin typeface="Arial"/>
                        </a:rPr>
                        <a:t>Approve one matrix for all modules</a:t>
                      </a:r>
                    </a:p>
                  </a:txBody>
                  <a:tcPr marL="64008" marR="64008" marT="27432" marB="27432" anchor="ctr">
                    <a:solidFill>
                      <a:srgbClr val="E5F5FF"/>
                    </a:solidFill>
                  </a:tcPr>
                </a:tc>
                <a:tc>
                  <a:txBody>
                    <a:bodyPr wrap="square"/>
                    <a:lstStyle/>
                    <a:p>
                      <a:r>
                        <a:rPr sz="1100" b="0">
                          <a:solidFill>
                            <a:srgbClr val="4B4B4B"/>
                          </a:solidFill>
                          <a:latin typeface="Arial"/>
                        </a:rPr>
                        <a:t>DCR-121</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Renewal of submitted policies; one LAMD intake</a:t>
                      </a:r>
                    </a:p>
                  </a:txBody>
                  <a:tcPr marL="64008" marR="64008" marT="27432" marB="27432" anchor="ctr">
                    <a:solidFill>
                      <a:srgbClr val="FFFFFF"/>
                    </a:solidFill>
                  </a:tcPr>
                </a:tc>
                <a:tc>
                  <a:txBody>
                    <a:bodyPr wrap="square"/>
                    <a:lstStyle/>
                    <a:p>
                      <a:r>
                        <a:rPr sz="1100" b="0">
                          <a:solidFill>
                            <a:srgbClr val="4B4B4B"/>
                          </a:solidFill>
                          <a:latin typeface="Arial"/>
                        </a:rPr>
                        <a:t>Two renewal paths; two loan-status feeds</a:t>
                      </a:r>
                    </a:p>
                  </a:txBody>
                  <a:tcPr marL="64008" marR="64008" marT="27432" marB="27432" anchor="ctr">
                    <a:solidFill>
                      <a:srgbClr val="FFFFFF"/>
                    </a:solidFill>
                  </a:tcPr>
                </a:tc>
                <a:tc>
                  <a:txBody>
                    <a:bodyPr wrap="square"/>
                    <a:lstStyle/>
                    <a:p>
                      <a:r>
                        <a:rPr sz="1100" b="0">
                          <a:solidFill>
                            <a:srgbClr val="4B4B4B"/>
                          </a:solidFill>
                          <a:latin typeface="Arial"/>
                        </a:rPr>
                        <a:t>Renewal and Submitted Policies owners</a:t>
                      </a:r>
                    </a:p>
                  </a:txBody>
                  <a:tcPr marL="64008" marR="64008" marT="27432" marB="27432" anchor="ctr">
                    <a:solidFill>
                      <a:srgbClr val="FFFFFF"/>
                    </a:solidFill>
                  </a:tcPr>
                </a:tc>
                <a:tc>
                  <a:txBody>
                    <a:bodyPr wrap="square"/>
                    <a:lstStyle/>
                    <a:p>
                      <a:r>
                        <a:rPr sz="1100" b="0">
                          <a:solidFill>
                            <a:srgbClr val="4B4B4B"/>
                          </a:solidFill>
                          <a:latin typeface="Arial"/>
                        </a:rPr>
                        <a:t>Confirm the hand-off boundary and one LAMD report</a:t>
                      </a:r>
                    </a:p>
                  </a:txBody>
                  <a:tcPr marL="64008" marR="64008" marT="27432" marB="27432" anchor="ctr">
                    <a:solidFill>
                      <a:srgbClr val="FFFFFF"/>
                    </a:solidFill>
                  </a:tcPr>
                </a:tc>
                <a:tc>
                  <a:txBody>
                    <a:bodyPr wrap="square"/>
                    <a:lstStyle/>
                    <a:p>
                      <a:r>
                        <a:rPr sz="1100" b="0">
                          <a:solidFill>
                            <a:srgbClr val="4B4B4B"/>
                          </a:solidFill>
                          <a:latin typeface="Arial"/>
                        </a:rPr>
                        <a:t>DCR-129, 146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programmes in four BRDs</a:t>
                      </a:r>
                    </a:p>
                  </a:txBody>
                  <a:tcPr marL="64008" marR="64008" marT="27432" marB="27432" anchor="ctr">
                    <a:solidFill>
                      <a:srgbClr val="E5F5FF"/>
                    </a:solidFill>
                  </a:tcPr>
                </a:tc>
                <a:tc>
                  <a:txBody>
                    <a:bodyPr wrap="square"/>
                    <a:lstStyle/>
                    <a:p>
                      <a:r>
                        <a:rPr sz="1100" b="0">
                          <a:solidFill>
                            <a:srgbClr val="4B4B4B"/>
                          </a:solidFill>
                          <a:latin typeface="Arial"/>
                        </a:rPr>
                        <a:t>Incentive income computed twice or not at all</a:t>
                      </a:r>
                    </a:p>
                  </a:txBody>
                  <a:tcPr marL="64008" marR="64008" marT="27432" marB="27432" anchor="ctr">
                    <a:solidFill>
                      <a:srgbClr val="E5F5FF"/>
                    </a:solidFill>
                  </a:tcPr>
                </a:tc>
                <a:tc>
                  <a:txBody>
                    <a:bodyPr wrap="square"/>
                    <a:lstStyle/>
                    <a:p>
                      <a:r>
                        <a:rPr sz="1100" b="0">
                          <a:solidFill>
                            <a:srgbClr val="4B4B4B"/>
                          </a:solidFill>
                          <a:latin typeface="Arial"/>
                        </a:rPr>
                        <a:t>Comptrollership, MBS, Operations</a:t>
                      </a:r>
                    </a:p>
                  </a:txBody>
                  <a:tcPr marL="64008" marR="64008" marT="27432" marB="27432" anchor="ctr">
                    <a:solidFill>
                      <a:srgbClr val="E5F5FF"/>
                    </a:solidFill>
                  </a:tcPr>
                </a:tc>
                <a:tc>
                  <a:txBody>
                    <a:bodyPr wrap="square"/>
                    <a:lstStyle/>
                    <a:p>
                      <a:r>
                        <a:rPr sz="1100" b="0">
                          <a:solidFill>
                            <a:srgbClr val="4B4B4B"/>
                          </a:solidFill>
                          <a:latin typeface="Arial"/>
                        </a:rPr>
                        <a:t>List the programmes with rate, base, payer</a:t>
                      </a:r>
                    </a:p>
                  </a:txBody>
                  <a:tcPr marL="64008" marR="64008" marT="27432" marB="27432" anchor="ctr">
                    <a:solidFill>
                      <a:srgbClr val="E5F5FF"/>
                    </a:solidFill>
                  </a:tcPr>
                </a:tc>
                <a:tc>
                  <a:txBody>
                    <a:bodyPr wrap="square"/>
                    <a:lstStyle/>
                    <a:p>
                      <a:r>
                        <a:rPr sz="1100" b="0">
                          <a:solidFill>
                            <a:srgbClr val="4B4B4B"/>
                          </a:solidFill>
                          <a:latin typeface="Arial"/>
                        </a:rPr>
                        <a:t>DCR-037</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block or warn</a:t>
                      </a:r>
                    </a:p>
                  </a:txBody>
                  <a:tcPr marL="64008" marR="64008" marT="27432" marB="27432" anchor="ctr">
                    <a:solidFill>
                      <a:srgbClr val="FFFFFF"/>
                    </a:solidFill>
                  </a:tcPr>
                </a:tc>
                <a:tc>
                  <a:txBody>
                    <a:bodyPr wrap="square"/>
                    <a:lstStyle/>
                    <a:p>
                      <a:r>
                        <a:rPr sz="1100" b="0">
                          <a:solidFill>
                            <a:srgbClr val="4B4B4B"/>
                          </a:solidFill>
                          <a:latin typeface="Arial"/>
                        </a:rPr>
                        <a:t>Business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Chief Compliance Officer</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placement, booking, renewal</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service window, RPO / RTO, maintenance slot</a:t>
                      </a:r>
                    </a:p>
                  </a:txBody>
                  <a:tcPr marL="64008" marR="64008" marT="27432" marB="27432" anchor="ctr">
                    <a:solidFill>
                      <a:srgbClr val="E5F5FF"/>
                    </a:solidFill>
                  </a:tcPr>
                </a:tc>
                <a:tc>
                  <a:txBody>
                    <a:bodyPr wrap="square"/>
                    <a:lstStyle/>
                    <a:p>
                      <a:r>
                        <a:rPr sz="1100" b="0">
                          <a:solidFill>
                            <a:srgbClr val="4B4B4B"/>
                          </a:solidFill>
                          <a:latin typeface="Arial"/>
                        </a:rPr>
                        <a:t>Backup, DR and batch design of the platform</a:t>
                      </a:r>
                    </a:p>
                  </a:txBody>
                  <a:tcPr marL="64008" marR="64008" marT="27432" marB="27432" anchor="ctr">
                    <a:solidFill>
                      <a:srgbClr val="E5F5FF"/>
                    </a:solidFill>
                  </a:tcPr>
                </a:tc>
                <a:tc>
                  <a:txBody>
                    <a:bodyPr wrap="square"/>
                    <a:lstStyle/>
                    <a:p>
                      <a:r>
                        <a:rPr sz="1100" b="0">
                          <a:solidFill>
                            <a:srgbClr val="4B4B4B"/>
                          </a:solidFill>
                          <a:latin typeface="Arial"/>
                        </a:rPr>
                        <a:t>BDO IT with the BRD owners</a:t>
                      </a:r>
                    </a:p>
                  </a:txBody>
                  <a:tcPr marL="64008" marR="64008" marT="27432" marB="27432" anchor="ctr">
                    <a:solidFill>
                      <a:srgbClr val="E5F5FF"/>
                    </a:solidFill>
                  </a:tcPr>
                </a:tc>
                <a:tc>
                  <a:txBody>
                    <a:bodyPr wrap="square"/>
                    <a:lstStyle/>
                    <a:p>
                      <a:r>
                        <a:rPr sz="1100" b="0">
                          <a:solidFill>
                            <a:srgbClr val="4B4B4B"/>
                          </a:solidFill>
                          <a:latin typeface="Arial"/>
                        </a:rPr>
                        <a:t>Agree one BIBS-wide NFR set</a:t>
                      </a:r>
                    </a:p>
                  </a:txBody>
                  <a:tcPr marL="64008" marR="64008" marT="27432" marB="27432" anchor="ctr">
                    <a:solidFill>
                      <a:srgbClr val="E5F5FF"/>
                    </a:solidFill>
                  </a:tcPr>
                </a:tc>
                <a:tc>
                  <a:txBody>
                    <a:bodyPr wrap="square"/>
                    <a:lstStyle/>
                    <a:p>
                      <a:r>
                        <a:rPr sz="1100" b="0">
                          <a:solidFill>
                            <a:srgbClr val="4B4B4B"/>
                          </a:solidFill>
                          <a:latin typeface="Arial"/>
                        </a:rPr>
                        <a:t>DCR-133, 135, 138</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Retention per record type</a:t>
                      </a:r>
                    </a:p>
                  </a:txBody>
                  <a:tcPr marL="64008" marR="64008" marT="27432" marB="27432" anchor="ctr">
                    <a:solidFill>
                      <a:srgbClr val="FFFFFF"/>
                    </a:solidFill>
                  </a:tcPr>
                </a:tc>
                <a:tc>
                  <a:txBody>
                    <a:bodyPr wrap="square"/>
                    <a:lstStyle/>
                    <a:p>
                      <a:r>
                        <a:rPr sz="1100" b="0">
                          <a:solidFill>
                            <a:srgbClr val="4B4B4B"/>
                          </a:solidFill>
                          <a:latin typeface="Arial"/>
                        </a:rPr>
                        <a:t>Legal record keeping; archive design</a:t>
                      </a:r>
                    </a:p>
                  </a:txBody>
                  <a:tcPr marL="64008" marR="64008" marT="27432" marB="27432" anchor="ctr">
                    <a:solidFill>
                      <a:srgbClr val="FFFFFF"/>
                    </a:solidFill>
                  </a:tcPr>
                </a:tc>
                <a:tc>
                  <a:txBody>
                    <a:bodyPr wrap="square"/>
                    <a:lstStyle/>
                    <a:p>
                      <a:r>
                        <a:rPr sz="1100" b="0">
                          <a:solidFill>
                            <a:srgbClr val="4B4B4B"/>
                          </a:solidFill>
                          <a:latin typeface="Arial"/>
                        </a:rPr>
                        <a:t>Compliance, Comptrollership</a:t>
                      </a:r>
                    </a:p>
                  </a:txBody>
                  <a:tcPr marL="64008" marR="64008" marT="27432" marB="27432" anchor="ctr">
                    <a:solidFill>
                      <a:srgbClr val="FFFFFF"/>
                    </a:solidFill>
                  </a:tcPr>
                </a:tc>
                <a:tc>
                  <a:txBody>
                    <a:bodyPr wrap="square"/>
                    <a:lstStyle/>
                    <a:p>
                      <a:r>
                        <a:rPr sz="1100" b="0">
                          <a:solidFill>
                            <a:srgbClr val="4B4B4B"/>
                          </a:solidFill>
                          <a:latin typeface="Arial"/>
                        </a:rPr>
                        <a:t>One schedule; archive or purge at the end</a:t>
                      </a:r>
                    </a:p>
                  </a:txBody>
                  <a:tcPr marL="64008" marR="64008" marT="27432" marB="27432" anchor="ctr">
                    <a:solidFill>
                      <a:srgbClr val="FFFFFF"/>
                    </a:solidFill>
                  </a:tcPr>
                </a:tc>
                <a:tc>
                  <a:txBody>
                    <a:bodyPr wrap="square"/>
                    <a:lstStyle/>
                    <a:p>
                      <a:r>
                        <a:rPr sz="1100" b="0">
                          <a:solidFill>
                            <a:srgbClr val="4B4B4B"/>
                          </a:solidFill>
                          <a:latin typeface="Arial"/>
                        </a:rPr>
                        <a:t>DCR-136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Go-live data migration scope</a:t>
                      </a:r>
                    </a:p>
                  </a:txBody>
                  <a:tcPr marL="64008" marR="64008" marT="27432" marB="27432" anchor="ctr">
                    <a:solidFill>
                      <a:srgbClr val="E5F5FF"/>
                    </a:solidFill>
                  </a:tcPr>
                </a:tc>
                <a:tc>
                  <a:txBody>
                    <a:bodyPr wrap="square"/>
                    <a:lstStyle/>
                    <a:p>
                      <a:r>
                        <a:rPr sz="1100" b="0">
                          <a:solidFill>
                            <a:srgbClr val="4B4B4B"/>
                          </a:solidFill>
                          <a:latin typeface="Arial"/>
                        </a:rPr>
                        <a:t>Open items and history at cut-over</a:t>
                      </a:r>
                    </a:p>
                  </a:txBody>
                  <a:tcPr marL="64008" marR="64008" marT="27432" marB="27432" anchor="ctr">
                    <a:solidFill>
                      <a:srgbClr val="E5F5FF"/>
                    </a:solidFill>
                  </a:tcPr>
                </a:tc>
                <a:tc>
                  <a:txBody>
                    <a:bodyPr wrap="square"/>
                    <a:lstStyle/>
                    <a:p>
                      <a:r>
                        <a:rPr sz="1100" b="0">
                          <a:solidFill>
                            <a:srgbClr val="4B4B4B"/>
                          </a:solidFill>
                          <a:latin typeface="Arial"/>
                        </a:rPr>
                        <a:t>All BRD owners</a:t>
                      </a:r>
                    </a:p>
                  </a:txBody>
                  <a:tcPr marL="64008" marR="64008" marT="27432" marB="27432" anchor="ctr">
                    <a:solidFill>
                      <a:srgbClr val="E5F5FF"/>
                    </a:solidFill>
                  </a:tcPr>
                </a:tc>
                <a:tc>
                  <a:txBody>
                    <a:bodyPr wrap="square"/>
                    <a:lstStyle/>
                    <a:p>
                      <a:r>
                        <a:rPr sz="1100" b="0">
                          <a:solidFill>
                            <a:srgbClr val="4B4B4B"/>
                          </a:solidFill>
                          <a:latin typeface="Arial"/>
                        </a:rPr>
                        <a:t>What is migrated from EBIX, ISYS, QPS, Excel</a:t>
                      </a:r>
                    </a:p>
                  </a:txBody>
                  <a:tcPr marL="64008" marR="64008" marT="27432" marB="27432" anchor="ctr">
                    <a:solidFill>
                      <a:srgbClr val="E5F5FF"/>
                    </a:solidFill>
                  </a:tcPr>
                </a:tc>
                <a:tc>
                  <a:txBody>
                    <a:bodyPr wrap="square"/>
                    <a:lstStyle/>
                    <a:p>
                      <a:r>
                        <a:rPr sz="1100" b="0">
                          <a:solidFill>
                            <a:srgbClr val="4B4B4B"/>
                          </a:solidFill>
                          <a:latin typeface="Arial"/>
                        </a:rPr>
                        <a:t>DCR-157</a:t>
                      </a:r>
                    </a:p>
                  </a:txBody>
                  <a:tcPr marL="64008" marR="64008" marT="27432" marB="27432" anchor="ctr">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Roadmap: from FRS review to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sp>
        <p:nvSpPr>
          <p:cNvPr id="9" name="Rounded Rectangle 8"/>
          <p:cNvSpPr/>
          <p:nvPr/>
        </p:nvSpPr>
        <p:spPr>
          <a:xfrm>
            <a:off x="548640"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57200"/>
          </a:xfrm>
          <a:prstGeom prst="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80160"/>
            <a:ext cx="3576218" cy="457200"/>
          </a:xfrm>
          <a:prstGeom prst="rect">
            <a:avLst/>
          </a:prstGeom>
          <a:noFill/>
        </p:spPr>
        <p:txBody>
          <a:bodyPr wrap="square" anchor="ctr" lIns="45720" rIns="45720">
            <a:spAutoFit/>
          </a:bodyPr>
          <a:lstStyle/>
          <a:p>
            <a:r>
              <a:rPr sz="1500" b="1" i="0">
                <a:solidFill>
                  <a:srgbClr val="004EA8"/>
                </a:solidFill>
                <a:latin typeface="Arial"/>
              </a:rPr>
              <a:t>FRS for review</a:t>
            </a:r>
          </a:p>
        </p:txBody>
      </p:sp>
      <p:sp>
        <p:nvSpPr>
          <p:cNvPr id="12" name="TextBox 11"/>
          <p:cNvSpPr txBox="1"/>
          <p:nvPr/>
        </p:nvSpPr>
        <p:spPr>
          <a:xfrm>
            <a:off x="640080"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 New Business, BRD-2 Operations, BRD-3 Product Maintenance (reference FRS)</a:t>
            </a:r>
          </a:p>
          <a:p>
            <a:pPr>
              <a:spcAft>
                <a:spcPts val="300"/>
              </a:spcAft>
            </a:pPr>
            <a:r>
              <a:rPr sz="1200" b="0">
                <a:solidFill>
                  <a:srgbClr val="004EA8"/>
                </a:solidFill>
                <a:latin typeface="Arial"/>
              </a:rPr>
              <a:t>•  </a:t>
            </a:r>
            <a:r>
              <a:rPr sz="1200" b="0">
                <a:solidFill>
                  <a:srgbClr val="4B4B4B"/>
                </a:solidFill>
                <a:latin typeface="Arial"/>
              </a:rPr>
              <a:t>BRD-4 Collections, BRD-5 Accounting (two volumes)</a:t>
            </a:r>
          </a:p>
          <a:p>
            <a:pPr>
              <a:spcAft>
                <a:spcPts val="300"/>
              </a:spcAft>
            </a:pPr>
            <a:r>
              <a:rPr sz="1200" b="0">
                <a:solidFill>
                  <a:srgbClr val="004EA8"/>
                </a:solidFill>
                <a:latin typeface="Arial"/>
              </a:rPr>
              <a:t>•  </a:t>
            </a:r>
            <a:r>
              <a:rPr sz="1200" b="0">
                <a:solidFill>
                  <a:srgbClr val="4B4B4B"/>
                </a:solidFill>
                <a:latin typeface="Arial"/>
              </a:rPr>
              <a:t>BRD-6 Renewal, BRD-12 Submitted Policies</a:t>
            </a:r>
          </a:p>
          <a:p>
            <a:pPr>
              <a:spcAft>
                <a:spcPts val="300"/>
              </a:spcAft>
            </a:pPr>
            <a:r>
              <a:rPr sz="1200" b="0">
                <a:solidFill>
                  <a:srgbClr val="004EA8"/>
                </a:solidFill>
                <a:latin typeface="Arial"/>
              </a:rPr>
              <a:t>•  </a:t>
            </a:r>
            <a:r>
              <a:rPr sz="1200" b="0">
                <a:solidFill>
                  <a:srgbClr val="4B4B4B"/>
                </a:solidFill>
                <a:latin typeface="Arial"/>
              </a:rPr>
              <a:t>BRD-7 Claims, BRD-8 Employee Benefits</a:t>
            </a:r>
          </a:p>
          <a:p>
            <a:pPr>
              <a:spcAft>
                <a:spcPts val="300"/>
              </a:spcAft>
            </a:pPr>
            <a:r>
              <a:rPr sz="1200" b="0">
                <a:solidFill>
                  <a:srgbClr val="004EA8"/>
                </a:solidFill>
                <a:latin typeface="Arial"/>
              </a:rPr>
              <a:t>•  </a:t>
            </a:r>
            <a:r>
              <a:rPr sz="1200" b="0">
                <a:solidFill>
                  <a:srgbClr val="4B4B4B"/>
                </a:solidFill>
                <a:latin typeface="Arial"/>
              </a:rPr>
              <a:t>BRD-9 Customer Servicing, BRD-10 Sanction Screening, BRD-11 User Access</a:t>
            </a:r>
          </a:p>
        </p:txBody>
      </p:sp>
      <p:sp>
        <p:nvSpPr>
          <p:cNvPr id="13" name="Right Arrow 12"/>
          <p:cNvSpPr/>
          <p:nvPr/>
        </p:nvSpPr>
        <p:spPr>
          <a:xfrm>
            <a:off x="4106570"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7738"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7738" y="1280160"/>
            <a:ext cx="3576218" cy="457200"/>
          </a:xfrm>
          <a:prstGeom prst="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9178" y="1280160"/>
            <a:ext cx="3576218" cy="457200"/>
          </a:xfrm>
          <a:prstGeom prst="rect">
            <a:avLst/>
          </a:prstGeom>
          <a:noFill/>
        </p:spPr>
        <p:txBody>
          <a:bodyPr wrap="square" anchor="ctr" lIns="45720" rIns="45720">
            <a:spAutoFit/>
          </a:bodyPr>
          <a:lstStyle/>
          <a:p>
            <a:r>
              <a:rPr sz="1500" b="1" i="0">
                <a:solidFill>
                  <a:srgbClr val="8A5A00"/>
                </a:solidFill>
                <a:latin typeface="Arial"/>
              </a:rPr>
              <a:t>BDOI review</a:t>
            </a:r>
          </a:p>
        </p:txBody>
      </p:sp>
      <p:sp>
        <p:nvSpPr>
          <p:cNvPr id="17" name="TextBox 16"/>
          <p:cNvSpPr txBox="1"/>
          <p:nvPr/>
        </p:nvSpPr>
        <p:spPr>
          <a:xfrm>
            <a:off x="4399178"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Department heads review their chapter with the FRS of their BRD</a:t>
            </a:r>
          </a:p>
          <a:p>
            <a:pPr>
              <a:spcAft>
                <a:spcPts val="300"/>
              </a:spcAft>
            </a:pPr>
            <a:r>
              <a:rPr sz="1200" b="0">
                <a:solidFill>
                  <a:srgbClr val="004EA8"/>
                </a:solidFill>
                <a:latin typeface="Arial"/>
              </a:rPr>
              <a:t>•  </a:t>
            </a:r>
            <a:r>
              <a:rPr sz="1200" b="0">
                <a:solidFill>
                  <a:srgbClr val="4B4B4B"/>
                </a:solidFill>
                <a:latin typeface="Arial"/>
              </a:rPr>
              <a:t>BDOI decides the proposed business rules and clarifications of each FRS</a:t>
            </a:r>
          </a:p>
          <a:p>
            <a:pPr>
              <a:spcAft>
                <a:spcPts val="300"/>
              </a:spcAft>
            </a:pPr>
            <a:r>
              <a:rPr sz="1200" b="0">
                <a:solidFill>
                  <a:srgbClr val="004EA8"/>
                </a:solidFill>
                <a:latin typeface="Arial"/>
              </a:rPr>
              <a:t>•  </a:t>
            </a:r>
            <a:r>
              <a:rPr sz="1200" b="0">
                <a:solidFill>
                  <a:srgbClr val="4B4B4B"/>
                </a:solidFill>
                <a:latin typeface="Arial"/>
              </a:rPr>
              <a:t>BDOI answers the High items of the discrepancy register</a:t>
            </a:r>
          </a:p>
        </p:txBody>
      </p:sp>
      <p:sp>
        <p:nvSpPr>
          <p:cNvPr id="18" name="Right Arrow 17"/>
          <p:cNvSpPr/>
          <p:nvPr/>
        </p:nvSpPr>
        <p:spPr>
          <a:xfrm>
            <a:off x="7865668"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66836"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6836" y="1280160"/>
            <a:ext cx="3576218" cy="457200"/>
          </a:xfrm>
          <a:prstGeom prst="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8276" y="1280160"/>
            <a:ext cx="3576218" cy="457200"/>
          </a:xfrm>
          <a:prstGeom prst="rect">
            <a:avLst/>
          </a:prstGeom>
          <a:noFill/>
        </p:spPr>
        <p:txBody>
          <a:bodyPr wrap="square" anchor="ctr" lIns="45720" rIns="45720">
            <a:spAutoFit/>
          </a:bodyPr>
          <a:lstStyle/>
          <a:p>
            <a:r>
              <a:rPr sz="1500" b="1" i="0">
                <a:solidFill>
                  <a:srgbClr val="2E7D32"/>
                </a:solidFill>
                <a:latin typeface="Arial"/>
              </a:rPr>
              <a:t>Sign-off</a:t>
            </a:r>
          </a:p>
        </p:txBody>
      </p:sp>
      <p:sp>
        <p:nvSpPr>
          <p:cNvPr id="22" name="TextBox 21"/>
          <p:cNvSpPr txBox="1"/>
          <p:nvPr/>
        </p:nvSpPr>
        <p:spPr>
          <a:xfrm>
            <a:off x="8158276"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FRS sign-off per BRD (sign-off tracker, item 32)</a:t>
            </a:r>
          </a:p>
          <a:p>
            <a:pPr>
              <a:spcAft>
                <a:spcPts val="300"/>
              </a:spcAft>
            </a:pPr>
            <a:r>
              <a:rPr sz="1200" b="0">
                <a:solidFill>
                  <a:srgbClr val="004EA8"/>
                </a:solidFill>
                <a:latin typeface="Arial"/>
              </a:rPr>
              <a:t>•  </a:t>
            </a:r>
            <a:r>
              <a:rPr sz="1200" b="0">
                <a:solidFill>
                  <a:srgbClr val="4B4B4B"/>
                </a:solidFill>
                <a:latin typeface="Arial"/>
              </a:rPr>
              <a:t>Test plans aligned with the signed FRS</a:t>
            </a:r>
          </a:p>
          <a:p>
            <a:pPr>
              <a:spcAft>
                <a:spcPts val="300"/>
              </a:spcAft>
            </a:pPr>
            <a:r>
              <a:rPr sz="1200" b="0">
                <a:solidFill>
                  <a:srgbClr val="004EA8"/>
                </a:solidFill>
                <a:latin typeface="Arial"/>
              </a:rPr>
              <a:t>•  </a:t>
            </a:r>
            <a:r>
              <a:rPr sz="1200" b="0">
                <a:solidFill>
                  <a:srgbClr val="4B4B4B"/>
                </a:solidFill>
                <a:latin typeface="Arial"/>
              </a:rPr>
              <a:t>Deck refreshed with screenshots of the BIBS screens</a:t>
            </a:r>
          </a:p>
        </p:txBody>
      </p:sp>
      <p:sp>
        <p:nvSpPr>
          <p:cNvPr id="23" name="Rounded Rectangle 22"/>
          <p:cNvSpPr/>
          <p:nvPr/>
        </p:nvSpPr>
        <p:spPr>
          <a:xfrm>
            <a:off x="548640" y="4279392"/>
            <a:ext cx="11094415" cy="1984248"/>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325112"/>
            <a:ext cx="11094415" cy="320040"/>
          </a:xfrm>
          <a:prstGeom prst="rect">
            <a:avLst/>
          </a:prstGeom>
          <a:noFill/>
        </p:spPr>
        <p:txBody>
          <a:bodyPr wrap="square" anchor="t" lIns="45720" rIns="45720">
            <a:spAutoFit/>
          </a:bodyPr>
          <a:lstStyle/>
          <a:p>
            <a:r>
              <a:rPr sz="1400" b="1" i="0">
                <a:solidFill>
                  <a:srgbClr val="004EA8"/>
                </a:solidFill>
                <a:latin typeface="Arial"/>
              </a:rPr>
              <a:t>What BDOI must decide to move forward</a:t>
            </a:r>
          </a:p>
        </p:txBody>
      </p:sp>
      <p:sp>
        <p:nvSpPr>
          <p:cNvPr id="25" name="TextBox 24"/>
          <p:cNvSpPr txBox="1"/>
          <p:nvPr/>
        </p:nvSpPr>
        <p:spPr>
          <a:xfrm>
            <a:off x="658368"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EUA interface and the BIBS-wide access matrix (DCR-143, 121)</a:t>
            </a:r>
          </a:p>
          <a:p>
            <a:pPr>
              <a:spcAft>
                <a:spcPts val="300"/>
              </a:spcAft>
            </a:pPr>
            <a:r>
              <a:rPr sz="1200" b="0">
                <a:solidFill>
                  <a:srgbClr val="004EA8"/>
                </a:solidFill>
                <a:latin typeface="Arial"/>
              </a:rPr>
              <a:t>•  </a:t>
            </a:r>
            <a:r>
              <a:rPr sz="1200" b="0">
                <a:solidFill>
                  <a:srgbClr val="2E2E2E"/>
                </a:solidFill>
                <a:latin typeface="Arial"/>
              </a:rPr>
              <a:t>Renewal boundary with Submitted Policies; one LAMD intake (DCR-129, 146)</a:t>
            </a:r>
          </a:p>
          <a:p>
            <a:pPr>
              <a:spcAft>
                <a:spcPts val="300"/>
              </a:spcAft>
            </a:pPr>
            <a:r>
              <a:rPr sz="1200" b="0">
                <a:solidFill>
                  <a:srgbClr val="004EA8"/>
                </a:solidFill>
                <a:latin typeface="Arial"/>
              </a:rPr>
              <a:t>•  </a:t>
            </a:r>
            <a:r>
              <a:rPr sz="1200" b="0">
                <a:solidFill>
                  <a:srgbClr val="2E2E2E"/>
                </a:solidFill>
                <a:latin typeface="Arial"/>
              </a:rPr>
              <a:t>Incentive programmes and the Fire premium tax (DCR-037, 005)</a:t>
            </a:r>
          </a:p>
          <a:p>
            <a:pPr>
              <a:spcAft>
                <a:spcPts val="300"/>
              </a:spcAft>
            </a:pPr>
            <a:r>
              <a:rPr sz="1200" b="0">
                <a:solidFill>
                  <a:srgbClr val="004EA8"/>
                </a:solidFill>
                <a:latin typeface="Arial"/>
              </a:rPr>
              <a:t>•  </a:t>
            </a:r>
            <a:r>
              <a:rPr sz="1200" b="0">
                <a:solidFill>
                  <a:srgbClr val="2E2E2E"/>
                </a:solidFill>
                <a:latin typeface="Arial"/>
              </a:rPr>
              <a:t>Sanctions: block or warn (DCR-112)</a:t>
            </a:r>
          </a:p>
        </p:txBody>
      </p:sp>
      <p:sp>
        <p:nvSpPr>
          <p:cNvPr id="26" name="TextBox 25"/>
          <p:cNvSpPr txBox="1"/>
          <p:nvPr/>
        </p:nvSpPr>
        <p:spPr>
          <a:xfrm>
            <a:off x="6205575"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One NFR set: service window, RPO / RTO, retention (DCR-133, 135, 136)</a:t>
            </a:r>
          </a:p>
          <a:p>
            <a:pPr>
              <a:spcAft>
                <a:spcPts val="300"/>
              </a:spcAft>
            </a:pPr>
            <a:r>
              <a:rPr sz="1200" b="0">
                <a:solidFill>
                  <a:srgbClr val="004EA8"/>
                </a:solidFill>
                <a:latin typeface="Arial"/>
              </a:rPr>
              <a:t>•  </a:t>
            </a:r>
            <a:r>
              <a:rPr sz="1200" b="0">
                <a:solidFill>
                  <a:srgbClr val="2E2E2E"/>
                </a:solidFill>
                <a:latin typeface="Arial"/>
              </a:rPr>
              <a:t>Migration scope per legacy source (DCR-157)</a:t>
            </a:r>
          </a:p>
          <a:p>
            <a:pPr>
              <a:spcAft>
                <a:spcPts val="300"/>
              </a:spcAft>
            </a:pPr>
            <a:r>
              <a:rPr sz="1200" b="0">
                <a:solidFill>
                  <a:srgbClr val="004EA8"/>
                </a:solidFill>
                <a:latin typeface="Arial"/>
              </a:rPr>
              <a:t>•  </a:t>
            </a:r>
            <a:r>
              <a:rPr sz="1200" b="0">
                <a:solidFill>
                  <a:srgbClr val="2E2E2E"/>
                </a:solidFill>
                <a:latin typeface="Arial"/>
              </a:rPr>
              <a:t>Partner portal users: provisioning, MFA, hosting (DCR-096)</a:t>
            </a:r>
          </a:p>
          <a:p>
            <a:pPr>
              <a:spcAft>
                <a:spcPts val="300"/>
              </a:spcAft>
            </a:pPr>
            <a:r>
              <a:rPr sz="1200" b="0">
                <a:solidFill>
                  <a:srgbClr val="004EA8"/>
                </a:solidFill>
                <a:latin typeface="Arial"/>
              </a:rPr>
              <a:t>•  </a:t>
            </a:r>
            <a:r>
              <a:rPr sz="1200" b="0">
                <a:solidFill>
                  <a:srgbClr val="2E2E2E"/>
                </a:solidFill>
                <a:latin typeface="Arial"/>
              </a:rPr>
              <a:t>Sign-off of the FRS per BRD (sign-off tracker, item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 New Business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 | Client onboarding to booking (Fire, Motor, Other Lines, Non-Package)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TSU and Processing</a:t>
            </a:r>
          </a:p>
          <a:p>
            <a:pPr>
              <a:spcAft>
                <a:spcPts val="300"/>
              </a:spcAft>
            </a:pPr>
            <a:r>
              <a:rPr sz="1200" b="0">
                <a:solidFill>
                  <a:srgbClr val="004EA8"/>
                </a:solidFill>
                <a:latin typeface="Arial"/>
              </a:rPr>
              <a:t>•  </a:t>
            </a:r>
            <a:r>
              <a:rPr sz="1200" b="0">
                <a:solidFill>
                  <a:srgbClr val="4B4B4B"/>
                </a:solidFill>
                <a:latin typeface="Arial"/>
              </a:rPr>
              <a:t>Marketing AO, TL / TH / UH (Retail, Commercial, Corporate, Institutional)</a:t>
            </a:r>
          </a:p>
          <a:p>
            <a:pPr>
              <a:spcAft>
                <a:spcPts val="300"/>
              </a:spcAft>
            </a:pPr>
            <a:r>
              <a:rPr sz="1200" b="0">
                <a:solidFill>
                  <a:srgbClr val="004EA8"/>
                </a:solidFill>
                <a:latin typeface="Arial"/>
              </a:rPr>
              <a:t>•  </a:t>
            </a:r>
            <a:r>
              <a:rPr sz="1200" b="0">
                <a:solidFill>
                  <a:srgbClr val="4B4B4B"/>
                </a:solidFill>
                <a:latin typeface="Arial"/>
              </a:rPr>
              <a:t>TSU (non-package slips, insurer terms)</a:t>
            </a:r>
          </a:p>
          <a:p>
            <a:pPr>
              <a:spcAft>
                <a:spcPts val="300"/>
              </a:spcAft>
            </a:pPr>
            <a:r>
              <a:rPr sz="1200" b="0">
                <a:solidFill>
                  <a:srgbClr val="004EA8"/>
                </a:solidFill>
                <a:latin typeface="Arial"/>
              </a:rPr>
              <a:t>•  </a:t>
            </a:r>
            <a:r>
              <a:rPr sz="1200" b="0">
                <a:solidFill>
                  <a:srgbClr val="4B4B4B"/>
                </a:solidFill>
                <a:latin typeface="Arial"/>
              </a:rPr>
              <a:t>Processing and Processing TL (placement, issuance, booking)</a:t>
            </a:r>
          </a:p>
          <a:p>
            <a:pPr>
              <a:spcAft>
                <a:spcPts val="300"/>
              </a:spcAft>
            </a:pPr>
            <a:r>
              <a:rPr sz="1200" b="0">
                <a:solidFill>
                  <a:srgbClr val="004EA8"/>
                </a:solidFill>
                <a:latin typeface="Arial"/>
              </a:rPr>
              <a:t>•  </a:t>
            </a:r>
            <a:r>
              <a:rPr sz="1200" b="0">
                <a:solidFill>
                  <a:srgbClr val="4B4B4B"/>
                </a:solidFill>
                <a:latin typeface="Arial"/>
              </a:rPr>
              <a:t>Approver, E-policy Sender, Adjustment</a:t>
            </a:r>
          </a:p>
          <a:p>
            <a:pPr>
              <a:spcAft>
                <a:spcPts val="300"/>
              </a:spcAft>
            </a:pPr>
            <a:r>
              <a:rPr sz="1200" b="0">
                <a:solidFill>
                  <a:srgbClr val="004EA8"/>
                </a:solidFill>
                <a:latin typeface="Arial"/>
              </a:rPr>
              <a:t>•  </a:t>
            </a:r>
            <a:r>
              <a:rPr sz="1200" b="0">
                <a:solidFill>
                  <a:srgbClr val="4B4B4B"/>
                </a:solidFill>
                <a:latin typeface="Arial"/>
              </a:rPr>
              <a:t>Comptrollership (service invoice)</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485</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named users; 145 concurrent (p.210)</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21,200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a month (p.210); 1,300 endorsements (p.211)</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listed function (p.210-211)</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5 + 15</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years online + archive; backup every 4 h (p.82)</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 p.132-134 (current and envisioned process)</a:t>
            </a:r>
          </a:p>
          <a:p>
            <a:pPr>
              <a:spcAft>
                <a:spcPts val="300"/>
              </a:spcAft>
            </a:pPr>
            <a:r>
              <a:rPr sz="1200" b="0">
                <a:solidFill>
                  <a:srgbClr val="004EA8"/>
                </a:solidFill>
                <a:latin typeface="Arial"/>
              </a:rPr>
              <a:t>•  </a:t>
            </a:r>
            <a:r>
              <a:rPr sz="1200" b="0">
                <a:solidFill>
                  <a:srgbClr val="4B4B4B"/>
                </a:solidFill>
                <a:latin typeface="Arial"/>
              </a:rPr>
              <a:t>Other Lines addendum p.47-48; Workshop addendum Apr-2026 p.3-19</a:t>
            </a:r>
          </a:p>
          <a:p>
            <a:pPr>
              <a:spcAft>
                <a:spcPts val="300"/>
              </a:spcAft>
            </a:pPr>
            <a:r>
              <a:rPr sz="1200" b="0">
                <a:solidFill>
                  <a:srgbClr val="004EA8"/>
                </a:solidFill>
                <a:latin typeface="Arial"/>
              </a:rPr>
              <a:t>•  </a:t>
            </a:r>
            <a:r>
              <a:rPr sz="1200" b="0">
                <a:solidFill>
                  <a:srgbClr val="4B4B4B"/>
                </a:solidFill>
                <a:latin typeface="Arial"/>
              </a:rPr>
              <a:t>BRNB.001-115</a:t>
            </a:r>
          </a:p>
          <a:p>
            <a:pPr>
              <a:spcAft>
                <a:spcPts val="300"/>
              </a:spcAft>
            </a:pPr>
            <a:r>
              <a:rPr sz="1200" b="0">
                <a:solidFill>
                  <a:srgbClr val="004EA8"/>
                </a:solidFill>
                <a:latin typeface="Arial"/>
              </a:rPr>
              <a:t>•  </a:t>
            </a:r>
            <a:r>
              <a:rPr sz="1200" b="0">
                <a:solidFill>
                  <a:srgbClr val="4B4B4B"/>
                </a:solidFill>
                <a:latin typeface="Arial"/>
              </a:rPr>
              <a:t>FRS BRD-1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Onboarding</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Quotation / PRF</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Account</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Issuance</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brd01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Request to booking today (BRD-1 p.133-134, p.47)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arrive by e-mail and are keyed in</a:t>
            </a:r>
          </a:p>
          <a:p>
            <a:pPr>
              <a:spcAft>
                <a:spcPts val="100"/>
              </a:spcAft>
            </a:pPr>
            <a:r>
              <a:rPr sz="1200" b="0">
                <a:solidFill>
                  <a:srgbClr val="4B4B4B"/>
                </a:solidFill>
                <a:latin typeface="Arial"/>
              </a:rPr>
              <a:t>HLS requests are re-keyed; bulk processing exists for CBG Home only.</a:t>
            </a:r>
          </a:p>
          <a:p>
            <a:pPr>
              <a:spcAft>
                <a:spcPts val="100"/>
              </a:spcAft>
            </a:pPr>
            <a:r>
              <a:rPr sz="1200" b="0">
                <a:solidFill>
                  <a:srgbClr val="0072D8"/>
                </a:solidFill>
                <a:latin typeface="Arial"/>
              </a:rPr>
              <a:t>BRD-1 p.133; BRNB.023, 041</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Quotations prepared in QPS or Excel</a:t>
            </a:r>
          </a:p>
          <a:p>
            <a:pPr>
              <a:spcAft>
                <a:spcPts val="100"/>
              </a:spcAft>
            </a:pPr>
            <a:r>
              <a:rPr sz="1200" b="0">
                <a:solidFill>
                  <a:srgbClr val="4B4B4B"/>
                </a:solidFill>
                <a:latin typeface="Arial"/>
              </a:rPr>
              <a:t>Rating and versions live outside one workflow; approvals by e-mail.</a:t>
            </a:r>
          </a:p>
          <a:p>
            <a:pPr>
              <a:spcAft>
                <a:spcPts val="100"/>
              </a:spcAft>
            </a:pPr>
            <a:r>
              <a:rPr sz="1200" b="0">
                <a:solidFill>
                  <a:srgbClr val="0072D8"/>
                </a:solidFill>
                <a:latin typeface="Arial"/>
              </a:rPr>
              <a:t>BRD-1 p.133; FRS 2.1 row 2</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Non-package placement by e-mail</a:t>
            </a:r>
          </a:p>
          <a:p>
            <a:pPr>
              <a:spcAft>
                <a:spcPts val="100"/>
              </a:spcAft>
            </a:pPr>
            <a:r>
              <a:rPr sz="1200" b="0">
                <a:solidFill>
                  <a:srgbClr val="4B4B4B"/>
                </a:solidFill>
                <a:latin typeface="Arial"/>
              </a:rPr>
              <a:t>TSU receives risks by e-mail and prepares the comparative table in Excel.</a:t>
            </a:r>
          </a:p>
          <a:p>
            <a:pPr>
              <a:spcAft>
                <a:spcPts val="100"/>
              </a:spcAft>
            </a:pPr>
            <a:r>
              <a:rPr sz="1200" b="0">
                <a:solidFill>
                  <a:srgbClr val="0072D8"/>
                </a:solidFill>
                <a:latin typeface="Arial"/>
              </a:rPr>
              <a:t>Other Lines addendum p.47</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standard client onboarding</a:t>
            </a:r>
          </a:p>
          <a:p>
            <a:pPr>
              <a:spcAft>
                <a:spcPts val="100"/>
              </a:spcAft>
            </a:pPr>
            <a:r>
              <a:rPr sz="1200" b="0">
                <a:solidFill>
                  <a:srgbClr val="4B4B4B"/>
                </a:solidFill>
                <a:latin typeface="Arial"/>
              </a:rPr>
              <a:t>Clients are created without a KYC verification step.</a:t>
            </a:r>
          </a:p>
          <a:p>
            <a:pPr>
              <a:spcAft>
                <a:spcPts val="100"/>
              </a:spcAft>
            </a:pPr>
            <a:r>
              <a:rPr sz="1200" b="0">
                <a:solidFill>
                  <a:srgbClr val="0072D8"/>
                </a:solidFill>
                <a:latin typeface="Arial"/>
              </a:rPr>
              <a:t>Workshop addendum p.3-5; BRNB.090</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Accounts in spreadsheets</a:t>
            </a:r>
          </a:p>
          <a:p>
            <a:pPr>
              <a:spcAft>
                <a:spcPts val="100"/>
              </a:spcAft>
            </a:pPr>
            <a:r>
              <a:rPr sz="1200" b="0">
                <a:solidFill>
                  <a:srgbClr val="4B4B4B"/>
                </a:solidFill>
                <a:latin typeface="Arial"/>
              </a:rPr>
              <a:t>No single account number; duplicates are found late.</a:t>
            </a:r>
          </a:p>
          <a:p>
            <a:pPr>
              <a:spcAft>
                <a:spcPts val="100"/>
              </a:spcAft>
            </a:pPr>
            <a:r>
              <a:rPr sz="1200" b="0">
                <a:solidFill>
                  <a:srgbClr val="0072D8"/>
                </a:solidFill>
                <a:latin typeface="Arial"/>
              </a:rPr>
              <a:t>BRD-1 p.133; BRNB.032, 051</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CBG Fire billing and payment matching by hand</a:t>
            </a:r>
          </a:p>
          <a:p>
            <a:pPr>
              <a:spcAft>
                <a:spcPts val="100"/>
              </a:spcAft>
            </a:pPr>
            <a:r>
              <a:rPr sz="1200" b="0">
                <a:solidFill>
                  <a:srgbClr val="4B4B4B"/>
                </a:solidFill>
                <a:latin typeface="Arial"/>
              </a:rPr>
              <a:t>The CLPC billing file and payment reports are handled manually.</a:t>
            </a:r>
          </a:p>
          <a:p>
            <a:pPr>
              <a:spcAft>
                <a:spcPts val="100"/>
              </a:spcAft>
            </a:pPr>
            <a:r>
              <a:rPr sz="1200" b="0">
                <a:solidFill>
                  <a:srgbClr val="0072D8"/>
                </a:solidFill>
                <a:latin typeface="Arial"/>
              </a:rPr>
              <a:t>BRD-1 p.133; BRNB.067, 068</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Placement, hold cover, e-policy by e-mail</a:t>
            </a:r>
          </a:p>
          <a:p>
            <a:pPr>
              <a:spcAft>
                <a:spcPts val="100"/>
              </a:spcAft>
            </a:pPr>
            <a:r>
              <a:rPr sz="1200" b="0">
                <a:solidFill>
                  <a:srgbClr val="4B4B4B"/>
                </a:solidFill>
                <a:latin typeface="Arial"/>
              </a:rPr>
              <a:t>Files leave by e-mail with no send log and no protection rule.</a:t>
            </a:r>
          </a:p>
          <a:p>
            <a:pPr>
              <a:spcAft>
                <a:spcPts val="100"/>
              </a:spcAft>
            </a:pPr>
            <a:r>
              <a:rPr sz="1200" b="0">
                <a:solidFill>
                  <a:srgbClr val="0072D8"/>
                </a:solidFill>
                <a:latin typeface="Arial"/>
              </a:rPr>
              <a:t>BRD-1 p.133; BRNB.071, 072, 073</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Booking in separate steps</a:t>
            </a:r>
          </a:p>
          <a:p>
            <a:pPr>
              <a:spcAft>
                <a:spcPts val="100"/>
              </a:spcAft>
            </a:pPr>
            <a:r>
              <a:rPr sz="1200" b="0">
                <a:solidFill>
                  <a:srgbClr val="4B4B4B"/>
                </a:solidFill>
                <a:latin typeface="Arial"/>
              </a:rPr>
              <a:t>Invoice, GL entry and service invoice are separate tasks.</a:t>
            </a:r>
          </a:p>
          <a:p>
            <a:pPr>
              <a:spcAft>
                <a:spcPts val="100"/>
              </a:spcAft>
            </a:pPr>
            <a:r>
              <a:rPr sz="1200" b="0">
                <a:solidFill>
                  <a:srgbClr val="0072D8"/>
                </a:solidFill>
                <a:latin typeface="Arial"/>
              </a:rPr>
              <a:t>BRD-1 p.133-134; BRNB.027, 100</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monitoring by hand</a:t>
            </a:r>
          </a:p>
          <a:p>
            <a:pPr>
              <a:spcAft>
                <a:spcPts val="100"/>
              </a:spcAft>
            </a:pPr>
            <a:r>
              <a:rPr sz="1200" b="0">
                <a:solidFill>
                  <a:srgbClr val="4B4B4B"/>
                </a:solidFill>
                <a:latin typeface="Arial"/>
              </a:rPr>
              <a:t>Status and reconciliation reports are compiled manually.</a:t>
            </a:r>
          </a:p>
          <a:p>
            <a:pPr>
              <a:spcAft>
                <a:spcPts val="100"/>
              </a:spcAft>
            </a:pPr>
            <a:r>
              <a:rPr sz="1200" b="0">
                <a:solidFill>
                  <a:srgbClr val="0072D8"/>
                </a:solidFill>
                <a:latin typeface="Arial"/>
              </a:rPr>
              <a:t>BRD-1 p.133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brd01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Request to booking in BIBS: workflows NB_CLIENT, NB_QUOTATION, NB_PROPOSAL, NB_ACCOUNT (FRS BRD-1 section 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2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arrive by e-mail and are keyed in</a:t>
            </a:r>
          </a:p>
        </p:txBody>
      </p:sp>
      <p:sp>
        <p:nvSpPr>
          <p:cNvPr id="15" name="Right Arrow 14"/>
          <p:cNvSpPr/>
          <p:nvPr/>
        </p:nvSpPr>
        <p:spPr>
          <a:xfrm>
            <a:off x="4736592" y="168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 inbox; HLS extract and bulk files uploaded with a template and row checks</a:t>
            </a:r>
          </a:p>
        </p:txBody>
      </p:sp>
      <p:sp>
        <p:nvSpPr>
          <p:cNvPr id="18" name="TextBox 17"/>
          <p:cNvSpPr txBox="1"/>
          <p:nvPr/>
        </p:nvSpPr>
        <p:spPr>
          <a:xfrm>
            <a:off x="9665208" y="157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Up to 5,000 rows a file</a:t>
            </a:r>
          </a:p>
        </p:txBody>
      </p:sp>
      <p:sp>
        <p:nvSpPr>
          <p:cNvPr id="19" name="Oval 18"/>
          <p:cNvSpPr/>
          <p:nvPr/>
        </p:nvSpPr>
        <p:spPr>
          <a:xfrm>
            <a:off x="548640" y="213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08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08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Quotations prepared in QPS or Excel</a:t>
            </a:r>
          </a:p>
        </p:txBody>
      </p:sp>
      <p:sp>
        <p:nvSpPr>
          <p:cNvPr id="22" name="Right Arrow 21"/>
          <p:cNvSpPr/>
          <p:nvPr/>
        </p:nvSpPr>
        <p:spPr>
          <a:xfrm>
            <a:off x="4736592" y="218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08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08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 rated with the Appendix A formulas, versioned, approved before it is sent</a:t>
            </a:r>
          </a:p>
        </p:txBody>
      </p:sp>
      <p:sp>
        <p:nvSpPr>
          <p:cNvPr id="25" name="TextBox 24"/>
          <p:cNvSpPr txBox="1"/>
          <p:nvPr/>
        </p:nvSpPr>
        <p:spPr>
          <a:xfrm>
            <a:off x="9665208" y="208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Approval before send</a:t>
            </a:r>
          </a:p>
        </p:txBody>
      </p:sp>
      <p:sp>
        <p:nvSpPr>
          <p:cNvPr id="26" name="Oval 25"/>
          <p:cNvSpPr/>
          <p:nvPr/>
        </p:nvSpPr>
        <p:spPr>
          <a:xfrm>
            <a:off x="548640" y="264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58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58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Non-package placement by e-mail</a:t>
            </a:r>
          </a:p>
        </p:txBody>
      </p:sp>
      <p:sp>
        <p:nvSpPr>
          <p:cNvPr id="29" name="Right Arrow 28"/>
          <p:cNvSpPr/>
          <p:nvPr/>
        </p:nvSpPr>
        <p:spPr>
          <a:xfrm>
            <a:off x="4736592" y="269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58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58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PRF workflow: TSU slips per insurer, insurer terms keyed once, comparative compiled by BIBS</a:t>
            </a:r>
          </a:p>
        </p:txBody>
      </p:sp>
      <p:sp>
        <p:nvSpPr>
          <p:cNvPr id="32" name="TextBox 31"/>
          <p:cNvSpPr txBox="1"/>
          <p:nvPr/>
        </p:nvSpPr>
        <p:spPr>
          <a:xfrm>
            <a:off x="9665208" y="258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Comparative not re-keyed</a:t>
            </a:r>
          </a:p>
        </p:txBody>
      </p:sp>
      <p:sp>
        <p:nvSpPr>
          <p:cNvPr id="33" name="Oval 32"/>
          <p:cNvSpPr/>
          <p:nvPr/>
        </p:nvSpPr>
        <p:spPr>
          <a:xfrm>
            <a:off x="548640" y="314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09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09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standard client onboarding</a:t>
            </a:r>
          </a:p>
        </p:txBody>
      </p:sp>
      <p:sp>
        <p:nvSpPr>
          <p:cNvPr id="36" name="Right Arrow 35"/>
          <p:cNvSpPr/>
          <p:nvPr/>
        </p:nvSpPr>
        <p:spPr>
          <a:xfrm>
            <a:off x="4736592" y="320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09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09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Prospect, KYC documents, verification by a second user, then confirmed client</a:t>
            </a:r>
          </a:p>
        </p:txBody>
      </p:sp>
      <p:sp>
        <p:nvSpPr>
          <p:cNvPr id="39" name="TextBox 38"/>
          <p:cNvSpPr txBox="1"/>
          <p:nvPr/>
        </p:nvSpPr>
        <p:spPr>
          <a:xfrm>
            <a:off x="9665208" y="309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Four-eyes KYC</a:t>
            </a:r>
          </a:p>
        </p:txBody>
      </p:sp>
      <p:sp>
        <p:nvSpPr>
          <p:cNvPr id="40" name="Oval 39"/>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604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604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Accounts in spreadsheets</a:t>
            </a:r>
          </a:p>
        </p:txBody>
      </p:sp>
      <p:sp>
        <p:nvSpPr>
          <p:cNvPr id="43" name="Right Arrow 42"/>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604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604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ARN per account; workflow stage; duplicate check at creation</a:t>
            </a:r>
          </a:p>
        </p:txBody>
      </p:sp>
      <p:sp>
        <p:nvSpPr>
          <p:cNvPr id="46" name="TextBox 45"/>
          <p:cNvSpPr txBox="1"/>
          <p:nvPr/>
        </p:nvSpPr>
        <p:spPr>
          <a:xfrm>
            <a:off x="9665208" y="3604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Duplicates stopped at entry</a:t>
            </a:r>
          </a:p>
        </p:txBody>
      </p:sp>
      <p:sp>
        <p:nvSpPr>
          <p:cNvPr id="47" name="Oval 46"/>
          <p:cNvSpPr/>
          <p:nvPr/>
        </p:nvSpPr>
        <p:spPr>
          <a:xfrm>
            <a:off x="548640" y="416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11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11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CBG Fire billing and payment matching by hand</a:t>
            </a:r>
          </a:p>
        </p:txBody>
      </p:sp>
      <p:sp>
        <p:nvSpPr>
          <p:cNvPr id="50" name="Right Arrow 49"/>
          <p:cNvSpPr/>
          <p:nvPr/>
        </p:nvSpPr>
        <p:spPr>
          <a:xfrm>
            <a:off x="4736592" y="422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11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11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CLPC billing file produced and payment report matched in BIBS</a:t>
            </a:r>
          </a:p>
        </p:txBody>
      </p:sp>
      <p:sp>
        <p:nvSpPr>
          <p:cNvPr id="53" name="TextBox 52"/>
          <p:cNvSpPr txBox="1"/>
          <p:nvPr/>
        </p:nvSpPr>
        <p:spPr>
          <a:xfrm>
            <a:off x="9665208" y="411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Matching automated</a:t>
            </a:r>
          </a:p>
        </p:txBody>
      </p:sp>
      <p:sp>
        <p:nvSpPr>
          <p:cNvPr id="54" name="Oval 53"/>
          <p:cNvSpPr/>
          <p:nvPr/>
        </p:nvSpPr>
        <p:spPr>
          <a:xfrm>
            <a:off x="548640" y="467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462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462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Placement, hold cover, e-policy by e-mail</a:t>
            </a:r>
          </a:p>
        </p:txBody>
      </p:sp>
      <p:sp>
        <p:nvSpPr>
          <p:cNvPr id="57" name="Right Arrow 56"/>
          <p:cNvSpPr/>
          <p:nvPr/>
        </p:nvSpPr>
        <p:spPr>
          <a:xfrm>
            <a:off x="4736592" y="472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462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462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Slips, hold cover requests and e-policies generated, password protected and logged</a:t>
            </a:r>
          </a:p>
        </p:txBody>
      </p:sp>
      <p:sp>
        <p:nvSpPr>
          <p:cNvPr id="60" name="TextBox 59"/>
          <p:cNvSpPr txBox="1"/>
          <p:nvPr/>
        </p:nvSpPr>
        <p:spPr>
          <a:xfrm>
            <a:off x="9665208" y="462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Send log per document</a:t>
            </a:r>
          </a:p>
        </p:txBody>
      </p:sp>
      <p:sp>
        <p:nvSpPr>
          <p:cNvPr id="61" name="Oval 60"/>
          <p:cNvSpPr/>
          <p:nvPr/>
        </p:nvSpPr>
        <p:spPr>
          <a:xfrm>
            <a:off x="548640" y="518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12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12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Booking in separate steps</a:t>
            </a:r>
          </a:p>
        </p:txBody>
      </p:sp>
      <p:sp>
        <p:nvSpPr>
          <p:cNvPr id="64" name="Right Arrow 63"/>
          <p:cNvSpPr/>
          <p:nvPr/>
        </p:nvSpPr>
        <p:spPr>
          <a:xfrm>
            <a:off x="4736592" y="523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12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12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Booking posts invoice, GL entry and service invoice in one transaction; batch at 20:00</a:t>
            </a:r>
          </a:p>
        </p:txBody>
      </p:sp>
      <p:sp>
        <p:nvSpPr>
          <p:cNvPr id="67" name="TextBox 66"/>
          <p:cNvSpPr txBox="1"/>
          <p:nvPr/>
        </p:nvSpPr>
        <p:spPr>
          <a:xfrm>
            <a:off x="9665208" y="512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step instead of three</a:t>
            </a:r>
          </a:p>
        </p:txBody>
      </p:sp>
      <p:sp>
        <p:nvSpPr>
          <p:cNvPr id="68" name="Oval 67"/>
          <p:cNvSpPr/>
          <p:nvPr/>
        </p:nvSpPr>
        <p:spPr>
          <a:xfrm>
            <a:off x="548640" y="568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69" name="Rounded Rectangle 68"/>
          <p:cNvSpPr/>
          <p:nvPr/>
        </p:nvSpPr>
        <p:spPr>
          <a:xfrm>
            <a:off x="1005840" y="563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1560" y="563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monitoring by hand</a:t>
            </a:r>
          </a:p>
        </p:txBody>
      </p:sp>
      <p:sp>
        <p:nvSpPr>
          <p:cNvPr id="71" name="Right Arrow 70"/>
          <p:cNvSpPr/>
          <p:nvPr/>
        </p:nvSpPr>
        <p:spPr>
          <a:xfrm>
            <a:off x="4736592" y="574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074920" y="563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20640" y="563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Dashboards and status reports read the workflow history</a:t>
            </a:r>
          </a:p>
        </p:txBody>
      </p:sp>
      <p:sp>
        <p:nvSpPr>
          <p:cNvPr id="74" name="TextBox 73"/>
          <p:cNvSpPr txBox="1"/>
          <p:nvPr/>
        </p:nvSpPr>
        <p:spPr>
          <a:xfrm>
            <a:off x="9665208" y="563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 s response (p.210-211)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Quotation before the client exists</a:t>
                      </a:r>
                    </a:p>
                  </a:txBody>
                  <a:tcPr marL="64008" marR="64008" marT="27432" marB="27432" anchor="ctr">
                    <a:solidFill>
                      <a:srgbClr val="FFFFFF"/>
                    </a:solidFill>
                  </a:tcPr>
                </a:tc>
                <a:tc>
                  <a:txBody>
                    <a:bodyPr wrap="square"/>
                    <a:lstStyle/>
                    <a:p>
                      <a:r>
                        <a:rPr sz="1100" b="0">
                          <a:solidFill>
                            <a:srgbClr val="4B4B4B"/>
                          </a:solidFill>
                          <a:latin typeface="Arial"/>
                        </a:rPr>
                        <a:t>Walk-in and bank-referred prospects may not be quotable</a:t>
                      </a:r>
                    </a:p>
                  </a:txBody>
                  <a:tcPr marL="64008" marR="64008" marT="27432" marB="27432" anchor="ctr">
                    <a:solidFill>
                      <a:srgbClr val="FFFFFF"/>
                    </a:solidFill>
                  </a:tcPr>
                </a:tc>
                <a:tc>
                  <a:txBody>
                    <a:bodyPr wrap="square"/>
                    <a:lstStyle/>
                    <a:p>
                      <a:r>
                        <a:rPr sz="1100" b="0">
                          <a:solidFill>
                            <a:srgbClr val="4B4B4B"/>
                          </a:solidFill>
                          <a:latin typeface="Arial"/>
                        </a:rPr>
                        <a:t>Marketing / Product Owner</a:t>
                      </a:r>
                    </a:p>
                  </a:txBody>
                  <a:tcPr marL="64008" marR="64008" marT="27432" marB="27432" anchor="ctr">
                    <a:solidFill>
                      <a:srgbClr val="FFFFFF"/>
                    </a:solidFill>
                  </a:tcPr>
                </a:tc>
                <a:tc>
                  <a:txBody>
                    <a:bodyPr wrap="square"/>
                    <a:lstStyle/>
                    <a:p>
                      <a:r>
                        <a:rPr sz="1100" b="0">
                          <a:solidFill>
                            <a:srgbClr val="4B4B4B"/>
                          </a:solidFill>
                          <a:latin typeface="Arial"/>
                        </a:rPr>
                        <a:t>May BIBS create a prospect code at quotation (BRNB.029 vs 063)?</a:t>
                      </a:r>
                    </a:p>
                  </a:txBody>
                  <a:tcPr marL="64008" marR="64008" marT="27432" marB="27432" anchor="ctr">
                    <a:solidFill>
                      <a:srgbClr val="FFFFFF"/>
                    </a:solidFill>
                  </a:tcPr>
                </a:tc>
                <a:tc>
                  <a:txBody>
                    <a:bodyPr wrap="square"/>
                    <a:lstStyle/>
                    <a:p>
                      <a:r>
                        <a:rPr sz="1100" b="0">
                          <a:solidFill>
                            <a:srgbClr val="4B4B4B"/>
                          </a:solidFill>
                          <a:latin typeface="Arial"/>
                        </a:rPr>
                        <a:t>DCR-001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Fire premium tax rate and base</a:t>
                      </a:r>
                    </a:p>
                  </a:txBody>
                  <a:tcPr marL="64008" marR="64008" marT="27432" marB="27432" anchor="ctr">
                    <a:solidFill>
                      <a:srgbClr val="E5F5FF"/>
                    </a:solidFill>
                  </a:tcPr>
                </a:tc>
                <a:tc>
                  <a:txBody>
                    <a:bodyPr wrap="square"/>
                    <a:lstStyle/>
                    <a:p>
                      <a:r>
                        <a:rPr sz="1100" b="0">
                          <a:solidFill>
                            <a:srgbClr val="4B4B4B"/>
                          </a:solidFill>
                          <a:latin typeface="Arial"/>
                        </a:rPr>
                        <a:t>Gross premium on every Fire quotation and invoice</a:t>
                      </a:r>
                    </a:p>
                  </a:txBody>
                  <a:tcPr marL="64008" marR="64008" marT="27432" marB="27432" anchor="ctr">
                    <a:solidFill>
                      <a:srgbClr val="E5F5FF"/>
                    </a:solidFill>
                  </a:tcPr>
                </a:tc>
                <a:tc>
                  <a:txBody>
                    <a:bodyPr wrap="square"/>
                    <a:lstStyle/>
                    <a:p>
                      <a:r>
                        <a:rPr sz="1100" b="0">
                          <a:solidFill>
                            <a:srgbClr val="4B4B4B"/>
                          </a:solidFill>
                          <a:latin typeface="Arial"/>
                        </a:rPr>
                        <a:t>Comptrollership</a:t>
                      </a:r>
                    </a:p>
                  </a:txBody>
                  <a:tcPr marL="64008" marR="64008" marT="27432" marB="27432" anchor="ctr">
                    <a:solidFill>
                      <a:srgbClr val="E5F5FF"/>
                    </a:solidFill>
                  </a:tcPr>
                </a:tc>
                <a:tc>
                  <a:txBody>
                    <a:bodyPr wrap="square"/>
                    <a:lstStyle/>
                    <a:p>
                      <a:r>
                        <a:rPr sz="1100" b="0">
                          <a:solidFill>
                            <a:srgbClr val="4B4B4B"/>
                          </a:solidFill>
                          <a:latin typeface="Arial"/>
                        </a:rPr>
                        <a:t>Which taxes, rates and bases apply to Fire?</a:t>
                      </a:r>
                    </a:p>
                  </a:txBody>
                  <a:tcPr marL="64008" marR="64008" marT="27432" marB="27432" anchor="ctr">
                    <a:solidFill>
                      <a:srgbClr val="E5F5FF"/>
                    </a:solidFill>
                  </a:tcPr>
                </a:tc>
                <a:tc>
                  <a:txBody>
                    <a:bodyPr wrap="square"/>
                    <a:lstStyle/>
                    <a:p>
                      <a:r>
                        <a:rPr sz="1100" b="0">
                          <a:solidFill>
                            <a:srgbClr val="4B4B4B"/>
                          </a:solidFill>
                          <a:latin typeface="Arial"/>
                        </a:rPr>
                        <a:t>DCR-005</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Motor OD / Theft base 81% or 90% of TSI</a:t>
                      </a:r>
                    </a:p>
                  </a:txBody>
                  <a:tcPr marL="64008" marR="64008" marT="27432" marB="27432" anchor="ctr">
                    <a:solidFill>
                      <a:srgbClr val="FFFFFF"/>
                    </a:solidFill>
                  </a:tcPr>
                </a:tc>
                <a:tc>
                  <a:txBody>
                    <a:bodyPr wrap="square"/>
                    <a:lstStyle/>
                    <a:p>
                      <a:r>
                        <a:rPr sz="1100" b="0">
                          <a:solidFill>
                            <a:srgbClr val="4B4B4B"/>
                          </a:solidFill>
                          <a:latin typeface="Arial"/>
                        </a:rPr>
                        <a:t>Motor premium differs by 9 points of TSI</a:t>
                      </a:r>
                    </a:p>
                  </a:txBody>
                  <a:tcPr marL="64008" marR="64008" marT="27432" marB="27432" anchor="ctr">
                    <a:solidFill>
                      <a:srgbClr val="FFFFFF"/>
                    </a:solidFill>
                  </a:tcPr>
                </a:tc>
                <a:tc>
                  <a:txBody>
                    <a:bodyPr wrap="square"/>
                    <a:lstStyle/>
                    <a:p>
                      <a:r>
                        <a:rPr sz="1100" b="0">
                          <a:solidFill>
                            <a:srgbClr val="4B4B4B"/>
                          </a:solidFill>
                          <a:latin typeface="Arial"/>
                        </a:rPr>
                        <a:t>Marketing / TSU</a:t>
                      </a:r>
                    </a:p>
                  </a:txBody>
                  <a:tcPr marL="64008" marR="64008" marT="27432" marB="27432" anchor="ctr">
                    <a:solidFill>
                      <a:srgbClr val="FFFFFF"/>
                    </a:solidFill>
                  </a:tcPr>
                </a:tc>
                <a:tc>
                  <a:txBody>
                    <a:bodyPr wrap="square"/>
                    <a:lstStyle/>
                    <a:p>
                      <a:r>
                        <a:rPr sz="1100" b="0">
                          <a:solidFill>
                            <a:srgbClr val="4B4B4B"/>
                          </a:solidFill>
                          <a:latin typeface="Arial"/>
                        </a:rPr>
                        <a:t>When each base applies</a:t>
                      </a:r>
                    </a:p>
                  </a:txBody>
                  <a:tcPr marL="64008" marR="64008" marT="27432" marB="27432" anchor="ctr">
                    <a:solidFill>
                      <a:srgbClr val="FFFFFF"/>
                    </a:solidFill>
                  </a:tcPr>
                </a:tc>
                <a:tc>
                  <a:txBody>
                    <a:bodyPr wrap="square"/>
                    <a:lstStyle/>
                    <a:p>
                      <a:r>
                        <a:rPr sz="1100" b="0">
                          <a:solidFill>
                            <a:srgbClr val="4B4B4B"/>
                          </a:solidFill>
                          <a:latin typeface="Arial"/>
                        </a:rPr>
                        <a:t>DCR-006</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CLPC payments and endorsements specified twice</a:t>
                      </a:r>
                    </a:p>
                  </a:txBody>
                  <a:tcPr marL="64008" marR="64008" marT="27432" marB="27432" anchor="ctr">
                    <a:solidFill>
                      <a:srgbClr val="E5F5FF"/>
                    </a:solidFill>
                  </a:tcPr>
                </a:tc>
                <a:tc>
                  <a:txBody>
                    <a:bodyPr wrap="square"/>
                    <a:lstStyle/>
                    <a:p>
                      <a:r>
                        <a:rPr sz="1100" b="0">
                          <a:solidFill>
                            <a:srgbClr val="4B4B4B"/>
                          </a:solidFill>
                          <a:latin typeface="Arial"/>
                        </a:rPr>
                        <a:t>Two payment intakes and two endorsement paths</a:t>
                      </a:r>
                    </a:p>
                  </a:txBody>
                  <a:tcPr marL="64008" marR="64008" marT="27432" marB="27432" anchor="ctr">
                    <a:solidFill>
                      <a:srgbClr val="E5F5FF"/>
                    </a:solidFill>
                  </a:tcPr>
                </a:tc>
                <a:tc>
                  <a:txBody>
                    <a:bodyPr wrap="square"/>
                    <a:lstStyle/>
                    <a:p>
                      <a:r>
                        <a:rPr sz="1100" b="0">
                          <a:solidFill>
                            <a:srgbClr val="4B4B4B"/>
                          </a:solidFill>
                          <a:latin typeface="Arial"/>
                        </a:rPr>
                        <a:t>NB and Operations</a:t>
                      </a:r>
                    </a:p>
                  </a:txBody>
                  <a:tcPr marL="64008" marR="64008" marT="27432" marB="27432" anchor="ctr">
                    <a:solidFill>
                      <a:srgbClr val="E5F5FF"/>
                    </a:solidFill>
                  </a:tcPr>
                </a:tc>
                <a:tc>
                  <a:txBody>
                    <a:bodyPr wrap="square"/>
                    <a:lstStyle/>
                    <a:p>
                      <a:r>
                        <a:rPr sz="1100" b="0">
                          <a:solidFill>
                            <a:srgbClr val="4B4B4B"/>
                          </a:solidFill>
                          <a:latin typeface="Arial"/>
                        </a:rPr>
                        <a:t>Confirm Cashiering as the single payment intake and Adjustment for endorsements</a:t>
                      </a:r>
                    </a:p>
                  </a:txBody>
                  <a:tcPr marL="64008" marR="64008" marT="27432" marB="27432" anchor="ctr">
                    <a:solidFill>
                      <a:srgbClr val="E5F5FF"/>
                    </a:solidFill>
                  </a:tcPr>
                </a:tc>
                <a:tc>
                  <a:txBody>
                    <a:bodyPr wrap="square"/>
                    <a:lstStyle/>
                    <a:p>
                      <a:r>
                        <a:rPr sz="1100" b="0">
                          <a:solidFill>
                            <a:srgbClr val="4B4B4B"/>
                          </a:solidFill>
                          <a:latin typeface="Arial"/>
                        </a:rPr>
                        <a:t>DCR-027</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blocks or warns</a:t>
                      </a:r>
                    </a:p>
                  </a:txBody>
                  <a:tcPr marL="64008" marR="64008" marT="27432" marB="27432" anchor="ctr">
                    <a:solidFill>
                      <a:srgbClr val="FFFFFF"/>
                    </a:solidFill>
                  </a:tcPr>
                </a:tc>
                <a:tc>
                  <a:txBody>
                    <a:bodyPr wrap="square"/>
                    <a:lstStyle/>
                    <a:p>
                      <a:r>
                        <a:rPr sz="1100" b="0">
                          <a:solidFill>
                            <a:srgbClr val="4B4B4B"/>
                          </a:solidFill>
                          <a:latin typeface="Arial"/>
                        </a:rPr>
                        <a:t>Business placed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to booking</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On hold</a:t>
                      </a:r>
                    </a:p>
                  </a:txBody>
                  <a:tcPr marL="64008" marR="64008" marT="27432" marB="27432" anchor="ctr">
                    <a:solidFill>
                      <a:srgbClr val="EDE7F6"/>
                    </a:solidFill>
                  </a:tcPr>
                </a:tc>
                <a:tc>
                  <a:txBody>
                    <a:bodyPr wrap="square"/>
                    <a:lstStyle/>
                    <a:p>
                      <a:r>
                        <a:rPr sz="1100" b="0">
                          <a:solidFill>
                            <a:srgbClr val="4B4B4B"/>
                          </a:solidFill>
                          <a:latin typeface="Arial"/>
                        </a:rPr>
                        <a:t>HLS, mailbox, insurer SFTP / API, OCR</a:t>
                      </a:r>
                    </a:p>
                  </a:txBody>
                  <a:tcPr marL="64008" marR="64008" marT="27432" marB="27432" anchor="ctr">
                    <a:solidFill>
                      <a:srgbClr val="E5F5FF"/>
                    </a:solidFill>
                  </a:tcPr>
                </a:tc>
                <a:tc>
                  <a:txBody>
                    <a:bodyPr wrap="square"/>
                    <a:lstStyle/>
                    <a:p>
                      <a:r>
                        <a:rPr sz="1100" b="0">
                          <a:solidFill>
                            <a:srgbClr val="4B4B4B"/>
                          </a:solidFill>
                          <a:latin typeface="Arial"/>
                        </a:rPr>
                        <a:t>Uploads and manual capture remain</a:t>
                      </a:r>
                    </a:p>
                  </a:txBody>
                  <a:tcPr marL="64008" marR="64008" marT="27432" marB="27432" anchor="ctr">
                    <a:solidFill>
                      <a:srgbClr val="E5F5FF"/>
                    </a:solidFill>
                  </a:tcPr>
                </a:tc>
                <a:tc>
                  <a:txBody>
                    <a:bodyPr wrap="square"/>
                    <a:lstStyle/>
                    <a:p>
                      <a:r>
                        <a:rPr sz="1100" b="0">
                          <a:solidFill>
                            <a:srgbClr val="4B4B4B"/>
                          </a:solidFill>
                          <a:latin typeface="Arial"/>
                        </a:rPr>
                        <a:t>BDO IT and insurers</a:t>
                      </a:r>
                    </a:p>
                  </a:txBody>
                  <a:tcPr marL="64008" marR="64008" marT="27432" marB="27432" anchor="ctr">
                    <a:solidFill>
                      <a:srgbClr val="E5F5FF"/>
                    </a:solidFill>
                  </a:tcPr>
                </a:tc>
                <a:tc>
                  <a:txBody>
                    <a:bodyPr wrap="square"/>
                    <a:lstStyle/>
                    <a:p>
                      <a:r>
                        <a:rPr sz="1100" b="0">
                          <a:solidFill>
                            <a:srgbClr val="4B4B4B"/>
                          </a:solidFill>
                          <a:latin typeface="Arial"/>
                        </a:rPr>
                        <a:t>Interface specifications</a:t>
                      </a:r>
                    </a:p>
                  </a:txBody>
                  <a:tcPr marL="64008" marR="64008" marT="27432" marB="27432" anchor="ctr">
                    <a:solidFill>
                      <a:srgbClr val="E5F5FF"/>
                    </a:solidFill>
                  </a:tcPr>
                </a:tc>
                <a:tc>
                  <a:txBody>
                    <a:bodyPr wrap="square"/>
                    <a:lstStyle/>
                    <a:p>
                      <a:r>
                        <a:rPr sz="1100" b="0">
                          <a:solidFill>
                            <a:srgbClr val="4B4B4B"/>
                          </a:solidFill>
                          <a:latin typeface="Arial"/>
                        </a:rPr>
                        <a:t>Q11, Q12, Q06, Q24</a:t>
                      </a:r>
                    </a:p>
                  </a:txBody>
                  <a:tcPr marL="64008" marR="64008" marT="27432" marB="27432" anchor="ctr">
                    <a:solidFill>
                      <a:srgbClr val="E5F5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processing with exception queues</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Bulk uploads with row checks, batch booking, work queues per stage.</a:t>
            </a:r>
          </a:p>
          <a:p>
            <a:pPr>
              <a:spcAft>
                <a:spcPts val="400"/>
              </a:spcAft>
            </a:pPr>
            <a:r>
              <a:rPr sz="1200" b="1">
                <a:solidFill>
                  <a:srgbClr val="004EA8"/>
                </a:solidFill>
                <a:latin typeface="Arial"/>
              </a:rPr>
              <a:t>BDOI: </a:t>
            </a:r>
            <a:r>
              <a:rPr sz="1200" b="0">
                <a:solidFill>
                  <a:srgbClr val="4B4B4B"/>
                </a:solidFill>
                <a:latin typeface="Arial"/>
              </a:rPr>
              <a:t>Give the product matrix and minimum fields per line (Q01, Q02) so clean cases pass untouched.</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KYC at onboarding and a single client view</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Prospect to confirmed client with four-eyes KYC; one client record for every module.</a:t>
            </a:r>
          </a:p>
          <a:p>
            <a:pPr>
              <a:spcAft>
                <a:spcPts val="400"/>
              </a:spcAft>
            </a:pPr>
            <a:r>
              <a:rPr sz="1200" b="1">
                <a:solidFill>
                  <a:srgbClr val="004EA8"/>
                </a:solidFill>
                <a:latin typeface="Arial"/>
              </a:rPr>
              <a:t>BDOI: </a:t>
            </a:r>
            <a:r>
              <a:rPr sz="1200" b="0">
                <a:solidFill>
                  <a:srgbClr val="4B4B4B"/>
                </a:solidFill>
                <a:latin typeface="Arial"/>
              </a:rPr>
              <a:t>Confirm the BDO KYC standard fields, CIF and duplicate keys (Q16, Q17).</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on client documents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Approval before a quotation, PRF or slip is sent; maker cannot approve.</a:t>
            </a:r>
          </a:p>
          <a:p>
            <a:pPr>
              <a:spcAft>
                <a:spcPts val="400"/>
              </a:spcAft>
            </a:pPr>
            <a:r>
              <a:rPr sz="1200" b="1">
                <a:solidFill>
                  <a:srgbClr val="004EA8"/>
                </a:solidFill>
                <a:latin typeface="Arial"/>
              </a:rPr>
              <a:t>BDOI: </a:t>
            </a:r>
            <a:r>
              <a:rPr sz="1200" b="0">
                <a:solidFill>
                  <a:srgbClr val="4B4B4B"/>
                </a:solidFill>
                <a:latin typeface="Arial"/>
              </a:rPr>
              <a:t>Set the approval chain and limits (Q05).</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digital documents</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Password-protected PDF and Excel, password sent separately, send log.</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Screening before binding</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Screening on client creation and account submission (BRD-10 design).</a:t>
            </a:r>
          </a:p>
          <a:p>
            <a:pPr>
              <a:spcAft>
                <a:spcPts val="400"/>
              </a:spcAft>
            </a:pPr>
            <a:r>
              <a:rPr sz="1200" b="1">
                <a:solidFill>
                  <a:srgbClr val="004EA8"/>
                </a:solidFill>
                <a:latin typeface="Arial"/>
              </a:rPr>
              <a:t>BDOI: </a:t>
            </a:r>
            <a:r>
              <a:rPr sz="1200" b="0">
                <a:solidFill>
                  <a:srgbClr val="4B4B4B"/>
                </a:solidFill>
                <a:latin typeface="Arial"/>
              </a:rPr>
              <a:t>Decide block or warn while a match is open (DCR-112).</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Production KPIs against target</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Dashboard by region, department, team and officer.</a:t>
            </a:r>
          </a:p>
          <a:p>
            <a:pPr>
              <a:spcAft>
                <a:spcPts val="400"/>
              </a:spcAft>
            </a:pPr>
            <a:r>
              <a:rPr sz="1200" b="1">
                <a:solidFill>
                  <a:srgbClr val="004EA8"/>
                </a:solidFill>
                <a:latin typeface="Arial"/>
              </a:rPr>
              <a:t>BDOI: </a:t>
            </a:r>
            <a:r>
              <a:rPr sz="1200" b="0">
                <a:solidFill>
                  <a:srgbClr val="4B4B4B"/>
                </a:solidFill>
                <a:latin typeface="Arial"/>
              </a:rPr>
              <a:t>Provide the sales hierarchy and targets (Q41).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2. Operations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BRD-2 | Cashiering, Remittance, Production Reconciliation, Adjustment, Commission / Direct Payment</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Financial Transactions and Processing</a:t>
            </a:r>
          </a:p>
          <a:p>
            <a:pPr>
              <a:spcAft>
                <a:spcPts val="300"/>
              </a:spcAft>
            </a:pPr>
            <a:r>
              <a:rPr sz="1200" b="0">
                <a:solidFill>
                  <a:srgbClr val="004EA8"/>
                </a:solidFill>
                <a:latin typeface="Arial"/>
              </a:rPr>
              <a:t>•  </a:t>
            </a:r>
            <a:r>
              <a:rPr sz="1200" b="0">
                <a:solidFill>
                  <a:srgbClr val="4B4B4B"/>
                </a:solidFill>
                <a:latin typeface="Arial"/>
              </a:rPr>
              <a:t>Cashier, HO (11) and branches (5); Cashiering TL / TH</a:t>
            </a:r>
          </a:p>
          <a:p>
            <a:pPr>
              <a:spcAft>
                <a:spcPts val="300"/>
              </a:spcAft>
            </a:pPr>
            <a:r>
              <a:rPr sz="1200" b="0">
                <a:solidFill>
                  <a:srgbClr val="004EA8"/>
                </a:solidFill>
                <a:latin typeface="Arial"/>
              </a:rPr>
              <a:t>•  </a:t>
            </a:r>
            <a:r>
              <a:rPr sz="1200" b="0">
                <a:solidFill>
                  <a:srgbClr val="4B4B4B"/>
                </a:solidFill>
                <a:latin typeface="Arial"/>
              </a:rPr>
              <a:t>Remittance Processor (4) and TL / TH</a:t>
            </a:r>
          </a:p>
          <a:p>
            <a:pPr>
              <a:spcAft>
                <a:spcPts val="300"/>
              </a:spcAft>
            </a:pPr>
            <a:r>
              <a:rPr sz="1200" b="0">
                <a:solidFill>
                  <a:srgbClr val="004EA8"/>
                </a:solidFill>
                <a:latin typeface="Arial"/>
              </a:rPr>
              <a:t>•  </a:t>
            </a:r>
            <a:r>
              <a:rPr sz="1200" b="0">
                <a:solidFill>
                  <a:srgbClr val="4B4B4B"/>
                </a:solidFill>
                <a:latin typeface="Arial"/>
              </a:rPr>
              <a:t>Production Reconciliation Handler (4)</a:t>
            </a:r>
          </a:p>
          <a:p>
            <a:pPr>
              <a:spcAft>
                <a:spcPts val="300"/>
              </a:spcAft>
            </a:pPr>
            <a:r>
              <a:rPr sz="1200" b="0">
                <a:solidFill>
                  <a:srgbClr val="004EA8"/>
                </a:solidFill>
                <a:latin typeface="Arial"/>
              </a:rPr>
              <a:t>•  </a:t>
            </a:r>
            <a:r>
              <a:rPr sz="1200" b="0">
                <a:solidFill>
                  <a:srgbClr val="4B4B4B"/>
                </a:solidFill>
                <a:latin typeface="Arial"/>
              </a:rPr>
              <a:t>Adjustment Processor (6) and TL</a:t>
            </a:r>
          </a:p>
          <a:p>
            <a:pPr>
              <a:spcAft>
                <a:spcPts val="300"/>
              </a:spcAft>
            </a:pPr>
            <a:r>
              <a:rPr sz="1200" b="0">
                <a:solidFill>
                  <a:srgbClr val="004EA8"/>
                </a:solidFill>
                <a:latin typeface="Arial"/>
              </a:rPr>
              <a:t>•  </a:t>
            </a:r>
            <a:r>
              <a:rPr sz="1200" b="0">
                <a:solidFill>
                  <a:srgbClr val="4B4B4B"/>
                </a:solidFill>
                <a:latin typeface="Arial"/>
              </a:rPr>
              <a:t>Commission Handler and TL / TH</a:t>
            </a:r>
          </a:p>
          <a:p>
            <a:pPr>
              <a:spcAft>
                <a:spcPts val="300"/>
              </a:spcAft>
            </a:pPr>
            <a:r>
              <a:rPr sz="1200" b="0">
                <a:solidFill>
                  <a:srgbClr val="004EA8"/>
                </a:solidFill>
                <a:latin typeface="Arial"/>
              </a:rPr>
              <a:t>•  </a:t>
            </a:r>
            <a:r>
              <a:rPr sz="1200" b="0">
                <a:solidFill>
                  <a:srgbClr val="4B4B4B"/>
                </a:solidFill>
                <a:latin typeface="Arial"/>
              </a:rPr>
              <a:t>Marketing Collection; Comptrollership; Disbursement</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16</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cashiers: 11 head office, 5 branches (annex p.115-120)</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&lt; 5 s</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function; batch print of 50 documents &lt; 10 s</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99.9%</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availability; use 07:00-18:30</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1.00</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matching tolerance for insurer feedback (FRS BRD-2)</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BRD-2 p.10-13 (current and envisioned process)</a:t>
            </a:r>
          </a:p>
          <a:p>
            <a:pPr>
              <a:spcAft>
                <a:spcPts val="300"/>
              </a:spcAft>
            </a:pPr>
            <a:r>
              <a:rPr sz="1200" b="0">
                <a:solidFill>
                  <a:srgbClr val="004EA8"/>
                </a:solidFill>
                <a:latin typeface="Arial"/>
              </a:rPr>
              <a:t>•  </a:t>
            </a:r>
            <a:r>
              <a:rPr sz="1200" b="0">
                <a:solidFill>
                  <a:srgbClr val="4B4B4B"/>
                </a:solidFill>
                <a:latin typeface="Arial"/>
              </a:rPr>
              <a:t>CSHID, RMTID, PRCID, ADJID, CMRID, MKTID, DBMID</a:t>
            </a:r>
          </a:p>
          <a:p>
            <a:pPr>
              <a:spcAft>
                <a:spcPts val="300"/>
              </a:spcAft>
            </a:pPr>
            <a:r>
              <a:rPr sz="1200" b="0">
                <a:solidFill>
                  <a:srgbClr val="004EA8"/>
                </a:solidFill>
                <a:latin typeface="Arial"/>
              </a:rPr>
              <a:t>•  </a:t>
            </a:r>
            <a:r>
              <a:rPr sz="1200" b="0">
                <a:solidFill>
                  <a:srgbClr val="4B4B4B"/>
                </a:solidFill>
                <a:latin typeface="Arial"/>
              </a:rPr>
              <a:t>FRS BRD-2 v1.0, sections 1.6 and 2</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Booked invoice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Apply</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Unapplied</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Remittance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Disbursement</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Insurer OR</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Reconciliation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brd02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Payment to insurer today (BRD-2 p.11)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receipts</a:t>
            </a:r>
          </a:p>
          <a:p>
            <a:pPr>
              <a:spcAft>
                <a:spcPts val="100"/>
              </a:spcAft>
            </a:pPr>
            <a:r>
              <a:rPr sz="1200" b="0">
                <a:solidFill>
                  <a:srgbClr val="4B4B4B"/>
                </a:solidFill>
                <a:latin typeface="Arial"/>
              </a:rPr>
              <a:t>Payment details are not visible and payment application is fragmented.</a:t>
            </a:r>
          </a:p>
          <a:p>
            <a:pPr>
              <a:spcAft>
                <a:spcPts val="100"/>
              </a:spcAft>
            </a:pPr>
            <a:r>
              <a:rPr sz="1200" b="0">
                <a:solidFill>
                  <a:srgbClr val="0072D8"/>
                </a:solidFill>
                <a:latin typeface="Arial"/>
              </a:rPr>
              <a:t>BRD-2 p.11, item 1; CSHID.001-027</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Remittance extracted by hand</a:t>
            </a:r>
          </a:p>
          <a:p>
            <a:pPr>
              <a:spcAft>
                <a:spcPts val="100"/>
              </a:spcAft>
            </a:pPr>
            <a:r>
              <a:rPr sz="1200" b="0">
                <a:solidFill>
                  <a:srgbClr val="4B4B4B"/>
                </a:solidFill>
                <a:latin typeface="Arial"/>
              </a:rPr>
              <a:t>No batch tracking and no check of what is not for remittance.</a:t>
            </a:r>
          </a:p>
          <a:p>
            <a:pPr>
              <a:spcAft>
                <a:spcPts val="100"/>
              </a:spcAft>
            </a:pPr>
            <a:r>
              <a:rPr sz="1200" b="0">
                <a:solidFill>
                  <a:srgbClr val="0072D8"/>
                </a:solidFill>
                <a:latin typeface="Arial"/>
              </a:rPr>
              <a:t>BRD-2 p.11, item 2; RMTID.001-023</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reports matched by hand</a:t>
            </a:r>
          </a:p>
          <a:p>
            <a:pPr>
              <a:spcAft>
                <a:spcPts val="100"/>
              </a:spcAft>
            </a:pPr>
            <a:r>
              <a:rPr sz="1200" b="0">
                <a:solidFill>
                  <a:srgbClr val="4B4B4B"/>
                </a:solidFill>
                <a:latin typeface="Arial"/>
              </a:rPr>
              <a:t>Booked accounts are matched manually; unmatched items are checked one by one.</a:t>
            </a:r>
          </a:p>
          <a:p>
            <a:pPr>
              <a:spcAft>
                <a:spcPts val="100"/>
              </a:spcAft>
            </a:pPr>
            <a:r>
              <a:rPr sz="1200" b="0">
                <a:solidFill>
                  <a:srgbClr val="0072D8"/>
                </a:solidFill>
                <a:latin typeface="Arial"/>
              </a:rPr>
              <a:t>BRD-2 p.11, item 3; PRCID.001-039</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Endorsements computed by hand</a:t>
            </a:r>
          </a:p>
          <a:p>
            <a:pPr>
              <a:spcAft>
                <a:spcPts val="100"/>
              </a:spcAft>
            </a:pPr>
            <a:r>
              <a:rPr sz="1200" b="0">
                <a:solidFill>
                  <a:srgbClr val="4B4B4B"/>
                </a:solidFill>
                <a:latin typeface="Arial"/>
              </a:rPr>
              <a:t>Redundant steps, manual computation and limited traceability.</a:t>
            </a:r>
          </a:p>
          <a:p>
            <a:pPr>
              <a:spcAft>
                <a:spcPts val="100"/>
              </a:spcAft>
            </a:pPr>
            <a:r>
              <a:rPr sz="1200" b="0">
                <a:solidFill>
                  <a:srgbClr val="0072D8"/>
                </a:solidFill>
                <a:latin typeface="Arial"/>
              </a:rPr>
              <a:t>BRD-2 p.11, item 4; ADJID.001-028</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depend on IT</a:t>
            </a:r>
          </a:p>
          <a:p>
            <a:pPr>
              <a:spcAft>
                <a:spcPts val="100"/>
              </a:spcAft>
            </a:pPr>
            <a:r>
              <a:rPr sz="1200" b="0">
                <a:solidFill>
                  <a:srgbClr val="4B4B4B"/>
                </a:solidFill>
                <a:latin typeface="Arial"/>
              </a:rPr>
              <a:t>Timely, correct and complete reports need the IT Group.</a:t>
            </a:r>
          </a:p>
          <a:p>
            <a:pPr>
              <a:spcAft>
                <a:spcPts val="100"/>
              </a:spcAft>
            </a:pPr>
            <a:r>
              <a:rPr sz="1200" b="0">
                <a:solidFill>
                  <a:srgbClr val="0072D8"/>
                </a:solidFill>
                <a:latin typeface="Arial"/>
              </a:rPr>
              <a:t>BRD-2 p.11, item 5</a:t>
            </a:r>
          </a:p>
        </p:txBody>
      </p:sp>
      <p:sp>
        <p:nvSpPr>
          <p:cNvPr id="19" name="Oval 18"/>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Commission receivables billed by hand</a:t>
            </a:r>
          </a:p>
          <a:p>
            <a:pPr>
              <a:spcAft>
                <a:spcPts val="100"/>
              </a:spcAft>
            </a:pPr>
            <a:r>
              <a:rPr sz="1200" b="0">
                <a:solidFill>
                  <a:srgbClr val="4B4B4B"/>
                </a:solidFill>
                <a:latin typeface="Arial"/>
              </a:rPr>
              <a:t>Direct-payment data are gathered, sanitised and billed to insurers manually.</a:t>
            </a:r>
          </a:p>
          <a:p>
            <a:pPr>
              <a:spcAft>
                <a:spcPts val="100"/>
              </a:spcAft>
            </a:pPr>
            <a:r>
              <a:rPr sz="1200" b="0">
                <a:solidFill>
                  <a:srgbClr val="0072D8"/>
                </a:solidFill>
                <a:latin typeface="Arial"/>
              </a:rPr>
              <a:t>BRD-2 p.11, item 6; CMRID.001-015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brd02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Life of a booked invoice in BIBS: Cashiering, Remittance, Reconciliation, Adjustment, Commission (FRS BRD-2 section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70078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receipts</a:t>
            </a:r>
          </a:p>
        </p:txBody>
      </p:sp>
      <p:sp>
        <p:nvSpPr>
          <p:cNvPr id="15" name="Right Arrow 14"/>
          <p:cNvSpPr/>
          <p:nvPr/>
        </p:nvSpPr>
        <p:spPr>
          <a:xfrm>
            <a:off x="4736592" y="175564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AR and OR from controlled series; payment matched at acceptance and applied by component</a:t>
            </a:r>
          </a:p>
        </p:txBody>
      </p:sp>
      <p:sp>
        <p:nvSpPr>
          <p:cNvPr id="18" name="TextBox 17"/>
          <p:cNvSpPr txBox="1"/>
          <p:nvPr/>
        </p:nvSpPr>
        <p:spPr>
          <a:xfrm>
            <a:off x="9665208" y="157276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Unapplied money kept in a workbench</a:t>
            </a:r>
          </a:p>
        </p:txBody>
      </p:sp>
      <p:sp>
        <p:nvSpPr>
          <p:cNvPr id="19" name="Oval 18"/>
          <p:cNvSpPr/>
          <p:nvPr/>
        </p:nvSpPr>
        <p:spPr>
          <a:xfrm>
            <a:off x="548640" y="235915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31136"/>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31136"/>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Remittance extracted by hand</a:t>
            </a:r>
          </a:p>
        </p:txBody>
      </p:sp>
      <p:sp>
        <p:nvSpPr>
          <p:cNvPr id="22" name="Right Arrow 21"/>
          <p:cNvSpPr/>
          <p:nvPr/>
        </p:nvSpPr>
        <p:spPr>
          <a:xfrm>
            <a:off x="4736592" y="241401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31136"/>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31136"/>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Scheduled and manual extraction with eligibility checks; batches with approval, DV and insurer OR</a:t>
            </a:r>
          </a:p>
        </p:txBody>
      </p:sp>
      <p:sp>
        <p:nvSpPr>
          <p:cNvPr id="25" name="TextBox 24"/>
          <p:cNvSpPr txBox="1"/>
          <p:nvPr/>
        </p:nvSpPr>
        <p:spPr>
          <a:xfrm>
            <a:off x="9665208" y="2231136"/>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Batch reference per remittance</a:t>
            </a:r>
          </a:p>
        </p:txBody>
      </p:sp>
      <p:sp>
        <p:nvSpPr>
          <p:cNvPr id="26" name="Oval 25"/>
          <p:cNvSpPr/>
          <p:nvPr/>
        </p:nvSpPr>
        <p:spPr>
          <a:xfrm>
            <a:off x="548640" y="301752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89504"/>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89504"/>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reports matched by hand</a:t>
            </a:r>
          </a:p>
        </p:txBody>
      </p:sp>
      <p:sp>
        <p:nvSpPr>
          <p:cNvPr id="29" name="Right Arrow 28"/>
          <p:cNvSpPr/>
          <p:nvPr/>
        </p:nvSpPr>
        <p:spPr>
          <a:xfrm>
            <a:off x="4736592" y="307238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89504"/>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89504"/>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Register sent to the insurer; feedback uploaded and matched; differences followed to closure</a:t>
            </a:r>
          </a:p>
        </p:txBody>
      </p:sp>
      <p:sp>
        <p:nvSpPr>
          <p:cNvPr id="32" name="TextBox 31"/>
          <p:cNvSpPr txBox="1"/>
          <p:nvPr/>
        </p:nvSpPr>
        <p:spPr>
          <a:xfrm>
            <a:off x="9665208" y="2889504"/>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Tolerance 1.00</a:t>
            </a:r>
          </a:p>
        </p:txBody>
      </p:sp>
      <p:sp>
        <p:nvSpPr>
          <p:cNvPr id="33" name="Oval 32"/>
          <p:cNvSpPr/>
          <p:nvPr/>
        </p:nvSpPr>
        <p:spPr>
          <a:xfrm>
            <a:off x="548640" y="367588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47872"/>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47872"/>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Endorsements computed by hand</a:t>
            </a:r>
          </a:p>
        </p:txBody>
      </p:sp>
      <p:sp>
        <p:nvSpPr>
          <p:cNvPr id="36" name="Right Arrow 35"/>
          <p:cNvSpPr/>
          <p:nvPr/>
        </p:nvSpPr>
        <p:spPr>
          <a:xfrm>
            <a:off x="4736592" y="373075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47872"/>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47872"/>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Endorsement requests recomputed per insurer, approved, posted in batches, linked to the original</a:t>
            </a:r>
          </a:p>
        </p:txBody>
      </p:sp>
      <p:sp>
        <p:nvSpPr>
          <p:cNvPr id="39" name="TextBox 38"/>
          <p:cNvSpPr txBox="1"/>
          <p:nvPr/>
        </p:nvSpPr>
        <p:spPr>
          <a:xfrm>
            <a:off x="9665208" y="3547872"/>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Four-eyes approval</a:t>
            </a:r>
          </a:p>
        </p:txBody>
      </p:sp>
      <p:sp>
        <p:nvSpPr>
          <p:cNvPr id="40" name="Oval 39"/>
          <p:cNvSpPr/>
          <p:nvPr/>
        </p:nvSpPr>
        <p:spPr>
          <a:xfrm>
            <a:off x="548640" y="4334256"/>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206240"/>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206240"/>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depend on IT</a:t>
            </a:r>
          </a:p>
        </p:txBody>
      </p:sp>
      <p:sp>
        <p:nvSpPr>
          <p:cNvPr id="43" name="Right Arrow 42"/>
          <p:cNvSpPr/>
          <p:nvPr/>
        </p:nvSpPr>
        <p:spPr>
          <a:xfrm>
            <a:off x="4736592" y="4389120"/>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206240"/>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206240"/>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run the reports themselves, with view and export rights</a:t>
            </a:r>
          </a:p>
        </p:txBody>
      </p:sp>
      <p:sp>
        <p:nvSpPr>
          <p:cNvPr id="46" name="TextBox 45"/>
          <p:cNvSpPr txBox="1"/>
          <p:nvPr/>
        </p:nvSpPr>
        <p:spPr>
          <a:xfrm>
            <a:off x="9665208" y="4206240"/>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Response &lt; 5 s (annex)</a:t>
            </a:r>
          </a:p>
        </p:txBody>
      </p:sp>
      <p:sp>
        <p:nvSpPr>
          <p:cNvPr id="47" name="Oval 46"/>
          <p:cNvSpPr/>
          <p:nvPr/>
        </p:nvSpPr>
        <p:spPr>
          <a:xfrm>
            <a:off x="548640" y="499262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6460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6460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Commission receivables billed by hand</a:t>
            </a:r>
          </a:p>
        </p:txBody>
      </p:sp>
      <p:sp>
        <p:nvSpPr>
          <p:cNvPr id="50" name="Right Arrow 49"/>
          <p:cNvSpPr/>
          <p:nvPr/>
        </p:nvSpPr>
        <p:spPr>
          <a:xfrm>
            <a:off x="4736592" y="504748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6460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6460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lists validated and billed per insurer; answers tracked; commission collected with an OR</a:t>
            </a:r>
          </a:p>
        </p:txBody>
      </p:sp>
      <p:sp>
        <p:nvSpPr>
          <p:cNvPr id="53" name="TextBox 52"/>
          <p:cNvSpPr txBox="1"/>
          <p:nvPr/>
        </p:nvSpPr>
        <p:spPr>
          <a:xfrm>
            <a:off x="9665208" y="486460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 working days SLA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Early-remittance incentive in two places</a:t>
                      </a:r>
                    </a:p>
                  </a:txBody>
                  <a:tcPr marL="64008" marR="64008" marT="27432" marB="27432" anchor="ctr">
                    <a:solidFill>
                      <a:srgbClr val="FFFFFF"/>
                    </a:solidFill>
                  </a:tcPr>
                </a:tc>
                <a:tc>
                  <a:txBody>
                    <a:bodyPr wrap="square"/>
                    <a:lstStyle/>
                    <a:p>
                      <a:r>
                        <a:rPr sz="1100" b="0">
                          <a:solidFill>
                            <a:srgbClr val="4B4B4B"/>
                          </a:solidFill>
                          <a:latin typeface="Arial"/>
                        </a:rPr>
                        <a:t>Incentive income computed twice or on the wrong lines</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One programme? Lines, rates and start of the window</a:t>
                      </a:r>
                    </a:p>
                  </a:txBody>
                  <a:tcPr marL="64008" marR="64008" marT="27432" marB="27432" anchor="ctr">
                    <a:solidFill>
                      <a:srgbClr val="FFFFFF"/>
                    </a:solidFill>
                  </a:tcPr>
                </a:tc>
                <a:tc>
                  <a:txBody>
                    <a:bodyPr wrap="square"/>
                    <a:lstStyle/>
                    <a:p>
                      <a:r>
                        <a:rPr sz="1100" b="0">
                          <a:solidFill>
                            <a:srgbClr val="4B4B4B"/>
                          </a:solidFill>
                          <a:latin typeface="Arial"/>
                        </a:rPr>
                        <a:t>DCR-013</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Three minimal-balance rules</a:t>
                      </a:r>
                    </a:p>
                  </a:txBody>
                  <a:tcPr marL="64008" marR="64008" marT="27432" marB="27432" anchor="ctr">
                    <a:solidFill>
                      <a:srgbClr val="E5F5FF"/>
                    </a:solidFill>
                  </a:tcPr>
                </a:tc>
                <a:tc>
                  <a:txBody>
                    <a:bodyPr wrap="square"/>
                    <a:lstStyle/>
                    <a:p>
                      <a:r>
                        <a:rPr sz="1100" b="0">
                          <a:solidFill>
                            <a:srgbClr val="4B4B4B"/>
                          </a:solidFill>
                          <a:latin typeface="Arial"/>
                        </a:rPr>
                        <a:t>Small balances post to different GL accounts</a:t>
                      </a:r>
                    </a:p>
                  </a:txBody>
                  <a:tcPr marL="64008" marR="64008" marT="27432" marB="27432" anchor="ctr">
                    <a:solidFill>
                      <a:srgbClr val="E5F5FF"/>
                    </a:solidFill>
                  </a:tcPr>
                </a:tc>
                <a:tc>
                  <a:txBody>
                    <a:bodyPr wrap="square"/>
                    <a:lstStyle/>
                    <a:p>
                      <a:r>
                        <a:rPr sz="1100" b="0">
                          <a:solidFill>
                            <a:srgbClr val="4B4B4B"/>
                          </a:solidFill>
                          <a:latin typeface="Arial"/>
                        </a:rPr>
                        <a:t>Operations, Comptrollership</a:t>
                      </a:r>
                    </a:p>
                  </a:txBody>
                  <a:tcPr marL="64008" marR="64008" marT="27432" marB="27432" anchor="ctr">
                    <a:solidFill>
                      <a:srgbClr val="E5F5FF"/>
                    </a:solidFill>
                  </a:tcPr>
                </a:tc>
                <a:tc>
                  <a:txBody>
                    <a:bodyPr wrap="square"/>
                    <a:lstStyle/>
                    <a:p>
                      <a:r>
                        <a:rPr sz="1100" b="0">
                          <a:solidFill>
                            <a:srgbClr val="4B4B4B"/>
                          </a:solidFill>
                          <a:latin typeface="Arial"/>
                        </a:rPr>
                        <a:t>One rule at 10.00; GL accounts; who approves write-off</a:t>
                      </a:r>
                    </a:p>
                  </a:txBody>
                  <a:tcPr marL="64008" marR="64008" marT="27432" marB="27432" anchor="ctr">
                    <a:solidFill>
                      <a:srgbClr val="E5F5FF"/>
                    </a:solidFill>
                  </a:tcPr>
                </a:tc>
                <a:tc>
                  <a:txBody>
                    <a:bodyPr wrap="square"/>
                    <a:lstStyle/>
                    <a:p>
                      <a:r>
                        <a:rPr sz="1100" b="0">
                          <a:solidFill>
                            <a:srgbClr val="4B4B4B"/>
                          </a:solidFill>
                          <a:latin typeface="Arial"/>
                        </a:rPr>
                        <a:t>DCR-014</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Paid AR above the DTIP balance</a:t>
                      </a:r>
                    </a:p>
                  </a:txBody>
                  <a:tcPr marL="64008" marR="64008" marT="27432" marB="27432" anchor="ctr">
                    <a:solidFill>
                      <a:srgbClr val="FFFFFF"/>
                    </a:solidFill>
                  </a:tcPr>
                </a:tc>
                <a:tc>
                  <a:txBody>
                    <a:bodyPr wrap="square"/>
                    <a:lstStyle/>
                    <a:p>
                      <a:r>
                        <a:rPr sz="1100" b="0">
                          <a:solidFill>
                            <a:srgbClr val="4B4B4B"/>
                          </a:solidFill>
                          <a:latin typeface="Arial"/>
                        </a:rPr>
                        <a:t>Remittance capped or withheld</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Remit the DTIP balance or exclude the account</a:t>
                      </a:r>
                    </a:p>
                  </a:txBody>
                  <a:tcPr marL="64008" marR="64008" marT="27432" marB="27432" anchor="ctr">
                    <a:solidFill>
                      <a:srgbClr val="FFFFFF"/>
                    </a:solidFill>
                  </a:tcPr>
                </a:tc>
                <a:tc>
                  <a:txBody>
                    <a:bodyPr wrap="square"/>
                    <a:lstStyle/>
                    <a:p>
                      <a:r>
                        <a:rPr sz="1100" b="0">
                          <a:solidFill>
                            <a:srgbClr val="4B4B4B"/>
                          </a:solidFill>
                          <a:latin typeface="Arial"/>
                        </a:rPr>
                        <a:t>DCR-015</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CWT 2307 cash payments without entries</a:t>
                      </a:r>
                    </a:p>
                  </a:txBody>
                  <a:tcPr marL="64008" marR="64008" marT="27432" marB="27432" anchor="ctr">
                    <a:solidFill>
                      <a:srgbClr val="E5F5FF"/>
                    </a:solidFill>
                  </a:tcPr>
                </a:tc>
                <a:tc>
                  <a:txBody>
                    <a:bodyPr wrap="square"/>
                    <a:lstStyle/>
                    <a:p>
                      <a:r>
                        <a:rPr sz="1100" b="0">
                          <a:solidFill>
                            <a:srgbClr val="4B4B4B"/>
                          </a:solidFill>
                          <a:latin typeface="Arial"/>
                        </a:rPr>
                        <a:t>GL entries for CWT unclear</a:t>
                      </a:r>
                    </a:p>
                  </a:txBody>
                  <a:tcPr marL="64008" marR="64008" marT="27432" marB="27432" anchor="ctr">
                    <a:solidFill>
                      <a:srgbClr val="E5F5FF"/>
                    </a:solidFill>
                  </a:tcPr>
                </a:tc>
                <a:tc>
                  <a:txBody>
                    <a:bodyPr wrap="square"/>
                    <a:lstStyle/>
                    <a:p>
                      <a:r>
                        <a:rPr sz="1100" b="0">
                          <a:solidFill>
                            <a:srgbClr val="4B4B4B"/>
                          </a:solidFill>
                          <a:latin typeface="Arial"/>
                        </a:rPr>
                        <a:t>Comptrollership</a:t>
                      </a:r>
                    </a:p>
                  </a:txBody>
                  <a:tcPr marL="64008" marR="64008" marT="27432" marB="27432" anchor="ctr">
                    <a:solidFill>
                      <a:srgbClr val="E5F5FF"/>
                    </a:solidFill>
                  </a:tcPr>
                </a:tc>
                <a:tc>
                  <a:txBody>
                    <a:bodyPr wrap="square"/>
                    <a:lstStyle/>
                    <a:p>
                      <a:r>
                        <a:rPr sz="1100" b="0">
                          <a:solidFill>
                            <a:srgbClr val="4B4B4B"/>
                          </a:solidFill>
                          <a:latin typeface="Arial"/>
                        </a:rPr>
                        <a:t>Give the entries and when Dr DTIP / Cr PR2307 posts</a:t>
                      </a:r>
                    </a:p>
                  </a:txBody>
                  <a:tcPr marL="64008" marR="64008" marT="27432" marB="27432" anchor="ctr">
                    <a:solidFill>
                      <a:srgbClr val="E5F5FF"/>
                    </a:solidFill>
                  </a:tcPr>
                </a:tc>
                <a:tc>
                  <a:txBody>
                    <a:bodyPr wrap="square"/>
                    <a:lstStyle/>
                    <a:p>
                      <a:r>
                        <a:rPr sz="1100" b="0">
                          <a:solidFill>
                            <a:srgbClr val="4B4B4B"/>
                          </a:solidFill>
                          <a:latin typeface="Arial"/>
                        </a:rPr>
                        <a:t>DCR-028</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CLPC payments and endorsements also in BRD-1</a:t>
                      </a:r>
                    </a:p>
                  </a:txBody>
                  <a:tcPr marL="64008" marR="64008" marT="27432" marB="27432" anchor="ctr">
                    <a:solidFill>
                      <a:srgbClr val="FFFFFF"/>
                    </a:solidFill>
                  </a:tcPr>
                </a:tc>
                <a:tc>
                  <a:txBody>
                    <a:bodyPr wrap="square"/>
                    <a:lstStyle/>
                    <a:p>
                      <a:r>
                        <a:rPr sz="1100" b="0">
                          <a:solidFill>
                            <a:srgbClr val="4B4B4B"/>
                          </a:solidFill>
                          <a:latin typeface="Arial"/>
                        </a:rPr>
                        <a:t>Two payment intakes and two endorsement paths</a:t>
                      </a:r>
                    </a:p>
                  </a:txBody>
                  <a:tcPr marL="64008" marR="64008" marT="27432" marB="27432" anchor="ctr">
                    <a:solidFill>
                      <a:srgbClr val="FFFFFF"/>
                    </a:solidFill>
                  </a:tcPr>
                </a:tc>
                <a:tc>
                  <a:txBody>
                    <a:bodyPr wrap="square"/>
                    <a:lstStyle/>
                    <a:p>
                      <a:r>
                        <a:rPr sz="1100" b="0">
                          <a:solidFill>
                            <a:srgbClr val="4B4B4B"/>
                          </a:solidFill>
                          <a:latin typeface="Arial"/>
                        </a:rPr>
                        <a:t>Operations and NB</a:t>
                      </a:r>
                    </a:p>
                  </a:txBody>
                  <a:tcPr marL="64008" marR="64008" marT="27432" marB="27432" anchor="ctr">
                    <a:solidFill>
                      <a:srgbClr val="FFFFFF"/>
                    </a:solidFill>
                  </a:tcPr>
                </a:tc>
                <a:tc>
                  <a:txBody>
                    <a:bodyPr wrap="square"/>
                    <a:lstStyle/>
                    <a:p>
                      <a:r>
                        <a:rPr sz="1100" b="0">
                          <a:solidFill>
                            <a:srgbClr val="4B4B4B"/>
                          </a:solidFill>
                          <a:latin typeface="Arial"/>
                        </a:rPr>
                        <a:t>Confirm Cashiering and Adjustment as owners</a:t>
                      </a:r>
                    </a:p>
                  </a:txBody>
                  <a:tcPr marL="64008" marR="64008" marT="27432" marB="27432" anchor="ctr">
                    <a:solidFill>
                      <a:srgbClr val="FFFFFF"/>
                    </a:solidFill>
                  </a:tcPr>
                </a:tc>
                <a:tc>
                  <a:txBody>
                    <a:bodyPr wrap="square"/>
                    <a:lstStyle/>
                    <a:p>
                      <a:r>
                        <a:rPr sz="1100" b="0">
                          <a:solidFill>
                            <a:srgbClr val="4B4B4B"/>
                          </a:solidFill>
                          <a:latin typeface="Arial"/>
                        </a:rPr>
                        <a:t>DCR-027</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On hold</a:t>
                      </a:r>
                    </a:p>
                  </a:txBody>
                  <a:tcPr marL="64008" marR="64008" marT="27432" marB="27432" anchor="ctr">
                    <a:solidFill>
                      <a:srgbClr val="EDE7F6"/>
                    </a:solidFill>
                  </a:tcPr>
                </a:tc>
                <a:tc>
                  <a:txBody>
                    <a:bodyPr wrap="square"/>
                    <a:lstStyle/>
                    <a:p>
                      <a:r>
                        <a:rPr sz="1100" b="0">
                          <a:solidFill>
                            <a:srgbClr val="4B4B4B"/>
                          </a:solidFill>
                          <a:latin typeface="Arial"/>
                        </a:rPr>
                        <a:t>Insurer report pick-up; Collection and Disbursement links</a:t>
                      </a:r>
                    </a:p>
                  </a:txBody>
                  <a:tcPr marL="64008" marR="64008" marT="27432" marB="27432" anchor="ctr">
                    <a:solidFill>
                      <a:srgbClr val="E5F5FF"/>
                    </a:solidFill>
                  </a:tcPr>
                </a:tc>
                <a:tc>
                  <a:txBody>
                    <a:bodyPr wrap="square"/>
                    <a:lstStyle/>
                    <a:p>
                      <a:r>
                        <a:rPr sz="1100" b="0">
                          <a:solidFill>
                            <a:srgbClr val="4B4B4B"/>
                          </a:solidFill>
                          <a:latin typeface="Arial"/>
                        </a:rPr>
                        <a:t>Uploads and in-app queue until BRD-4 / BRD-5 replace them</a:t>
                      </a:r>
                    </a:p>
                  </a:txBody>
                  <a:tcPr marL="64008" marR="64008" marT="27432" marB="27432" anchor="ctr">
                    <a:solidFill>
                      <a:srgbClr val="E5F5FF"/>
                    </a:solidFill>
                  </a:tcPr>
                </a:tc>
                <a:tc>
                  <a:txBody>
                    <a:bodyPr wrap="square"/>
                    <a:lstStyle/>
                    <a:p>
                      <a:r>
                        <a:rPr sz="1100" b="0">
                          <a:solidFill>
                            <a:srgbClr val="4B4B4B"/>
                          </a:solidFill>
                          <a:latin typeface="Arial"/>
                        </a:rPr>
                        <a:t>Insurers, BDO IT</a:t>
                      </a:r>
                    </a:p>
                  </a:txBody>
                  <a:tcPr marL="64008" marR="64008" marT="27432" marB="27432" anchor="ctr">
                    <a:solidFill>
                      <a:srgbClr val="E5F5FF"/>
                    </a:solidFill>
                  </a:tcPr>
                </a:tc>
                <a:tc>
                  <a:txBody>
                    <a:bodyPr wrap="square"/>
                    <a:lstStyle/>
                    <a:p>
                      <a:r>
                        <a:rPr sz="1100" b="0">
                          <a:solidFill>
                            <a:srgbClr val="4B4B4B"/>
                          </a:solidFill>
                          <a:latin typeface="Arial"/>
                        </a:rPr>
                        <a:t>Mailbox or SFTP channel per insurer</a:t>
                      </a:r>
                    </a:p>
                  </a:txBody>
                  <a:tcPr marL="64008" marR="64008" marT="27432" marB="27432" anchor="ctr">
                    <a:solidFill>
                      <a:srgbClr val="E5F5FF"/>
                    </a:solidFill>
                  </a:tcPr>
                </a:tc>
                <a:tc>
                  <a:txBody>
                    <a:bodyPr wrap="square"/>
                    <a:lstStyle/>
                    <a:p>
                      <a:r>
                        <a:rPr sz="1100" b="0">
                          <a:solidFill>
                            <a:srgbClr val="4B4B4B"/>
                          </a:solidFill>
                          <a:latin typeface="Arial"/>
                        </a:rPr>
                        <a:t>OQ29, OQ01, OQ02</a:t>
                      </a:r>
                    </a:p>
                  </a:txBody>
                  <a:tcPr marL="64008" marR="64008" marT="27432" marB="27432" anchor="ctr">
                    <a:solidFill>
                      <a:srgbClr val="E5F5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bank and insurer reconciliation</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Bank files uploaded and matched; insurer feedback matched within 1.00; duplicate files refused.</a:t>
            </a:r>
          </a:p>
          <a:p>
            <a:pPr>
              <a:spcAft>
                <a:spcPts val="400"/>
              </a:spcAft>
            </a:pPr>
            <a:r>
              <a:rPr sz="1200" b="1">
                <a:solidFill>
                  <a:srgbClr val="004EA8"/>
                </a:solidFill>
                <a:latin typeface="Arial"/>
              </a:rPr>
              <a:t>BDOI: </a:t>
            </a:r>
            <a:r>
              <a:rPr sz="1200" b="0">
                <a:solidFill>
                  <a:srgbClr val="4B4B4B"/>
                </a:solidFill>
                <a:latin typeface="Arial"/>
              </a:rPr>
              <a:t>Give the bank file layouts and an OR tolerance (OQ03, OQ22).</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Premium remittance discipline</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Only paid, cleared (3 banking days) and eligible premium is batched; holds need a reason.</a:t>
            </a:r>
          </a:p>
          <a:p>
            <a:pPr>
              <a:spcAft>
                <a:spcPts val="400"/>
              </a:spcAft>
            </a:pPr>
            <a:r>
              <a:rPr sz="1200" b="1">
                <a:solidFill>
                  <a:srgbClr val="004EA8"/>
                </a:solidFill>
                <a:latin typeface="Arial"/>
              </a:rPr>
              <a:t>BDOI: </a:t>
            </a:r>
            <a:r>
              <a:rPr sz="1200" b="0">
                <a:solidFill>
                  <a:srgbClr val="4B4B4B"/>
                </a:solidFill>
                <a:latin typeface="Arial"/>
              </a:rPr>
              <a:t>Agree a remittance calendar per insurer and the DTIP rule (DCR-015).</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and segregation of duties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Batch approval, receipt cancellation and endorsements need a TL / TH who is not the maker.</a:t>
            </a:r>
          </a:p>
          <a:p>
            <a:pPr>
              <a:spcAft>
                <a:spcPts val="400"/>
              </a:spcAft>
            </a:pPr>
            <a:r>
              <a:rPr sz="1200" b="1">
                <a:solidFill>
                  <a:srgbClr val="004EA8"/>
                </a:solidFill>
                <a:latin typeface="Arial"/>
              </a:rPr>
              <a:t>BDOI: </a:t>
            </a:r>
            <a:r>
              <a:rPr sz="1200" b="0">
                <a:solidFill>
                  <a:srgbClr val="4B4B4B"/>
                </a:solidFill>
                <a:latin typeface="Arial"/>
              </a:rPr>
              <a:t>Set approver limits per team.</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Unapplied cash under ageing control</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Unapplied workbench with disposition, approval and reversal.</a:t>
            </a:r>
          </a:p>
          <a:p>
            <a:pPr>
              <a:spcAft>
                <a:spcPts val="400"/>
              </a:spcAft>
            </a:pPr>
            <a:r>
              <a:rPr sz="1200" b="1">
                <a:solidFill>
                  <a:srgbClr val="004EA8"/>
                </a:solidFill>
                <a:latin typeface="Arial"/>
              </a:rPr>
              <a:t>BDOI: </a:t>
            </a:r>
            <a:r>
              <a:rPr sz="1200" b="0">
                <a:solidFill>
                  <a:srgbClr val="4B4B4B"/>
                </a:solidFill>
                <a:latin typeface="Arial"/>
              </a:rPr>
              <a:t>One small-balance rule and write-off authority (DCR-014).</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Commission receivable follow-up</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DP billing per insurer with a 10-working-day SLA; incentive schemes set up in Commission.</a:t>
            </a:r>
          </a:p>
          <a:p>
            <a:pPr>
              <a:spcAft>
                <a:spcPts val="400"/>
              </a:spcAft>
            </a:pPr>
            <a:r>
              <a:rPr sz="1200" b="1">
                <a:solidFill>
                  <a:srgbClr val="004EA8"/>
                </a:solidFill>
                <a:latin typeface="Arial"/>
              </a:rPr>
              <a:t>BDOI: </a:t>
            </a:r>
            <a:r>
              <a:rPr sz="1200" b="0">
                <a:solidFill>
                  <a:srgbClr val="4B4B4B"/>
                </a:solidFill>
                <a:latin typeface="Arial"/>
              </a:rPr>
              <a:t>Give incentive targets and amounts so the schemes can go live (OQ39).</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Controlled receipt series</a:t>
            </a:r>
          </a:p>
        </p:txBody>
      </p:sp>
      <p:sp>
        <p:nvSpPr>
          <p:cNvPr id="37" name="Rounded Rectangle 36"/>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AR and OR numbered from controlled series per branch; cancellations approved.</a:t>
            </a:r>
          </a:p>
          <a:p>
            <a:pPr>
              <a:spcAft>
                <a:spcPts val="400"/>
              </a:spcAft>
            </a:pPr>
            <a:r>
              <a:rPr sz="1200" b="1">
                <a:solidFill>
                  <a:srgbClr val="004EA8"/>
                </a:solidFill>
                <a:latin typeface="Arial"/>
              </a:rPr>
              <a:t>BDOI: </a:t>
            </a:r>
            <a:r>
              <a:rPr sz="1200" b="0">
                <a:solidFill>
                  <a:srgbClr val="4B4B4B"/>
                </a:solidFill>
                <a:latin typeface="Arial"/>
              </a:rPr>
              <a:t>Confirm OR per batch or per payment for BIR purposes (OQ49).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3. Product Maintenance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BRD-3 | Package products, from the Package Request Form to release and expiry</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Business Services (MBS) and TSU</a:t>
            </a:r>
          </a:p>
          <a:p>
            <a:pPr>
              <a:spcAft>
                <a:spcPts val="300"/>
              </a:spcAft>
            </a:pPr>
            <a:r>
              <a:rPr sz="1200" b="0">
                <a:solidFill>
                  <a:srgbClr val="004EA8"/>
                </a:solidFill>
                <a:latin typeface="Arial"/>
              </a:rPr>
              <a:t>•  </a:t>
            </a:r>
            <a:r>
              <a:rPr sz="1200" b="0">
                <a:solidFill>
                  <a:srgbClr val="4B4B4B"/>
                </a:solidFill>
                <a:latin typeface="Arial"/>
              </a:rPr>
              <a:t>Marketing AO and Marketing TL / TH / UH</a:t>
            </a:r>
          </a:p>
          <a:p>
            <a:pPr>
              <a:spcAft>
                <a:spcPts val="300"/>
              </a:spcAft>
            </a:pPr>
            <a:r>
              <a:rPr sz="1200" b="0">
                <a:solidFill>
                  <a:srgbClr val="004EA8"/>
                </a:solidFill>
                <a:latin typeface="Arial"/>
              </a:rPr>
              <a:t>•  </a:t>
            </a:r>
            <a:r>
              <a:rPr sz="1200" b="0">
                <a:solidFill>
                  <a:srgbClr val="4B4B4B"/>
                </a:solidFill>
                <a:latin typeface="Arial"/>
              </a:rPr>
              <a:t>TSU Officer, TSU Team Lead, TSU Head</a:t>
            </a:r>
          </a:p>
          <a:p>
            <a:pPr>
              <a:spcAft>
                <a:spcPts val="300"/>
              </a:spcAft>
            </a:pPr>
            <a:r>
              <a:rPr sz="1200" b="0">
                <a:solidFill>
                  <a:srgbClr val="004EA8"/>
                </a:solidFill>
                <a:latin typeface="Arial"/>
              </a:rPr>
              <a:t>•  </a:t>
            </a:r>
            <a:r>
              <a:rPr sz="1200" b="0">
                <a:solidFill>
                  <a:srgbClr val="4B4B4B"/>
                </a:solidFill>
                <a:latin typeface="Arial"/>
              </a:rPr>
              <a:t>MBS (package set-up)</a:t>
            </a:r>
          </a:p>
          <a:p>
            <a:pPr>
              <a:spcAft>
                <a:spcPts val="300"/>
              </a:spcAft>
            </a:pPr>
            <a:r>
              <a:rPr sz="1200" b="0">
                <a:solidFill>
                  <a:srgbClr val="004EA8"/>
                </a:solidFill>
                <a:latin typeface="Arial"/>
              </a:rPr>
              <a:t>•  </a:t>
            </a:r>
            <a:r>
              <a:rPr sz="1200" b="0">
                <a:solidFill>
                  <a:srgbClr val="4B4B4B"/>
                </a:solidFill>
                <a:latin typeface="Arial"/>
              </a:rPr>
              <a:t>ManCom (sign-off)</a:t>
            </a:r>
          </a:p>
          <a:p>
            <a:pPr>
              <a:spcAft>
                <a:spcPts val="300"/>
              </a:spcAft>
            </a:pPr>
            <a:r>
              <a:rPr sz="1200" b="0">
                <a:solidFill>
                  <a:srgbClr val="004EA8"/>
                </a:solidFill>
                <a:latin typeface="Arial"/>
              </a:rPr>
              <a:t>•  </a:t>
            </a:r>
            <a:r>
              <a:rPr sz="1200" b="0">
                <a:solidFill>
                  <a:srgbClr val="4B4B4B"/>
                </a:solidFill>
                <a:latin typeface="Arial"/>
              </a:rPr>
              <a:t>Business Administrator (release)</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13</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TSU users, all concurrent; MBS 5 (p.33)</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485</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Marketing users, 145 concurrent (p.33)</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&lt; 5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role (p.33)</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99.9%</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availability; use 07:00-18:30 (p.33)</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 (reference FRS)</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BRD-3 p.12-13 (current and envisioned process)</a:t>
            </a:r>
          </a:p>
          <a:p>
            <a:pPr>
              <a:spcAft>
                <a:spcPts val="300"/>
              </a:spcAft>
            </a:pPr>
            <a:r>
              <a:rPr sz="1200" b="0">
                <a:solidFill>
                  <a:srgbClr val="004EA8"/>
                </a:solidFill>
                <a:latin typeface="Arial"/>
              </a:rPr>
              <a:t>•  </a:t>
            </a:r>
            <a:r>
              <a:rPr sz="1200" b="0">
                <a:solidFill>
                  <a:srgbClr val="4B4B4B"/>
                </a:solidFill>
                <a:latin typeface="Arial"/>
              </a:rPr>
              <a:t>BRPM.001-022; workshop addendum PMADD01-06</a:t>
            </a:r>
          </a:p>
          <a:p>
            <a:pPr>
              <a:spcAft>
                <a:spcPts val="300"/>
              </a:spcAft>
            </a:pPr>
            <a:r>
              <a:rPr sz="1200" b="0">
                <a:solidFill>
                  <a:srgbClr val="004EA8"/>
                </a:solidFill>
                <a:latin typeface="Arial"/>
              </a:rPr>
              <a:t>•  </a:t>
            </a:r>
            <a:r>
              <a:rPr sz="1200" b="0">
                <a:solidFill>
                  <a:srgbClr val="4B4B4B"/>
                </a:solidFill>
                <a:latin typeface="Arial"/>
              </a:rPr>
              <a:t>FRS BRD-3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Request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Approval</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TSU review</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Negotiation</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Comparative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ManCom</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Set-up</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Release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pic>
        <p:nvPicPr>
          <p:cNvPr id="9" name="Picture 8" descr="brd03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Package set-up today (BRD-3 p.12-13)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by e-mail</a:t>
            </a:r>
          </a:p>
          <a:p>
            <a:pPr>
              <a:spcAft>
                <a:spcPts val="100"/>
              </a:spcAft>
            </a:pPr>
            <a:r>
              <a:rPr sz="1200" b="0">
                <a:solidFill>
                  <a:srgbClr val="4B4B4B"/>
                </a:solidFill>
                <a:latin typeface="Arial"/>
              </a:rPr>
              <a:t>Marketing requests placements by e-mail using a TSU request form.</a:t>
            </a:r>
          </a:p>
          <a:p>
            <a:pPr>
              <a:spcAft>
                <a:spcPts val="100"/>
              </a:spcAft>
            </a:pPr>
            <a:r>
              <a:rPr sz="1200" b="0">
                <a:solidFill>
                  <a:srgbClr val="0072D8"/>
                </a:solidFill>
                <a:latin typeface="Arial"/>
              </a:rPr>
              <a:t>BRD-3 p.12; BRPM.008</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Quotation slips by e-mail</a:t>
            </a:r>
          </a:p>
          <a:p>
            <a:pPr>
              <a:spcAft>
                <a:spcPts val="100"/>
              </a:spcAft>
            </a:pPr>
            <a:r>
              <a:rPr sz="1200" b="0">
                <a:solidFill>
                  <a:srgbClr val="4B4B4B"/>
                </a:solidFill>
                <a:latin typeface="Arial"/>
              </a:rPr>
              <a:t>TSU prepares and e-mails the slips; no log of what was sent.</a:t>
            </a:r>
          </a:p>
          <a:p>
            <a:pPr>
              <a:spcAft>
                <a:spcPts val="100"/>
              </a:spcAft>
            </a:pPr>
            <a:r>
              <a:rPr sz="1200" b="0">
                <a:solidFill>
                  <a:srgbClr val="0072D8"/>
                </a:solidFill>
                <a:latin typeface="Arial"/>
              </a:rPr>
              <a:t>BRD-3 p.12; BRPM.010</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replies in mailboxes</a:t>
            </a:r>
          </a:p>
          <a:p>
            <a:pPr>
              <a:spcAft>
                <a:spcPts val="100"/>
              </a:spcAft>
            </a:pPr>
            <a:r>
              <a:rPr sz="1200" b="0">
                <a:solidFill>
                  <a:srgbClr val="4B4B4B"/>
                </a:solidFill>
                <a:latin typeface="Arial"/>
              </a:rPr>
              <a:t>Signed slips and approved terms arrive by e-mail.</a:t>
            </a:r>
          </a:p>
          <a:p>
            <a:pPr>
              <a:spcAft>
                <a:spcPts val="100"/>
              </a:spcAft>
            </a:pPr>
            <a:r>
              <a:rPr sz="1200" b="0">
                <a:solidFill>
                  <a:srgbClr val="0072D8"/>
                </a:solidFill>
                <a:latin typeface="Arial"/>
              </a:rPr>
              <a:t>BRD-3 p.12; BRPM.012</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in Excel</a:t>
            </a:r>
          </a:p>
          <a:p>
            <a:pPr>
              <a:spcAft>
                <a:spcPts val="100"/>
              </a:spcAft>
            </a:pPr>
            <a:r>
              <a:rPr sz="1200" b="0">
                <a:solidFill>
                  <a:srgbClr val="4B4B4B"/>
                </a:solidFill>
                <a:latin typeface="Arial"/>
              </a:rPr>
              <a:t>Compiled by hand and shared by e-mail.</a:t>
            </a:r>
          </a:p>
          <a:p>
            <a:pPr>
              <a:spcAft>
                <a:spcPts val="100"/>
              </a:spcAft>
            </a:pPr>
            <a:r>
              <a:rPr sz="1200" b="0">
                <a:solidFill>
                  <a:srgbClr val="0072D8"/>
                </a:solidFill>
                <a:latin typeface="Arial"/>
              </a:rPr>
              <a:t>BRD-3 p.12; BRPM.014; PMADD03</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sign-off and advisory</a:t>
            </a:r>
          </a:p>
          <a:p>
            <a:pPr>
              <a:spcAft>
                <a:spcPts val="100"/>
              </a:spcAft>
            </a:pPr>
            <a:r>
              <a:rPr sz="1200" b="0">
                <a:solidFill>
                  <a:srgbClr val="4B4B4B"/>
                </a:solidFill>
                <a:latin typeface="Arial"/>
              </a:rPr>
              <a:t>ManCom sign-off and the advisory are prepared outside a system.</a:t>
            </a:r>
          </a:p>
          <a:p>
            <a:pPr>
              <a:spcAft>
                <a:spcPts val="100"/>
              </a:spcAft>
            </a:pPr>
            <a:r>
              <a:rPr sz="1200" b="0">
                <a:solidFill>
                  <a:srgbClr val="0072D8"/>
                </a:solidFill>
                <a:latin typeface="Arial"/>
              </a:rPr>
              <a:t>BRD-3 p.12-13; BRPM.015, 016</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Documents without a password</a:t>
            </a:r>
          </a:p>
          <a:p>
            <a:pPr>
              <a:spcAft>
                <a:spcPts val="100"/>
              </a:spcAft>
            </a:pPr>
            <a:r>
              <a:rPr sz="1200" b="0">
                <a:solidFill>
                  <a:srgbClr val="4B4B4B"/>
                </a:solidFill>
                <a:latin typeface="Arial"/>
              </a:rPr>
              <a:t>Shared documents have no password protection.</a:t>
            </a:r>
          </a:p>
          <a:p>
            <a:pPr>
              <a:spcAft>
                <a:spcPts val="100"/>
              </a:spcAft>
            </a:pPr>
            <a:r>
              <a:rPr sz="1200" b="0">
                <a:solidFill>
                  <a:srgbClr val="0072D8"/>
                </a:solidFill>
                <a:latin typeface="Arial"/>
              </a:rPr>
              <a:t>BRD-3 p.13</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Expiry in spreadsheets</a:t>
            </a:r>
          </a:p>
          <a:p>
            <a:pPr>
              <a:spcAft>
                <a:spcPts val="100"/>
              </a:spcAft>
            </a:pPr>
            <a:r>
              <a:rPr sz="1200" b="0">
                <a:solidFill>
                  <a:srgbClr val="4B4B4B"/>
                </a:solidFill>
                <a:latin typeface="Arial"/>
              </a:rPr>
              <a:t>Package expiry is monitored in spreadsheets or calendars.</a:t>
            </a:r>
          </a:p>
          <a:p>
            <a:pPr>
              <a:spcAft>
                <a:spcPts val="100"/>
              </a:spcAft>
            </a:pPr>
            <a:r>
              <a:rPr sz="1200" b="0">
                <a:solidFill>
                  <a:srgbClr val="0072D8"/>
                </a:solidFill>
                <a:latin typeface="Arial"/>
              </a:rPr>
              <a:t>BRD-3 p.13; BRPM.017</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History in e-mail threads</a:t>
            </a:r>
          </a:p>
          <a:p>
            <a:pPr>
              <a:spcAft>
                <a:spcPts val="100"/>
              </a:spcAft>
            </a:pPr>
            <a:r>
              <a:rPr sz="1200" b="0">
                <a:solidFill>
                  <a:srgbClr val="4B4B4B"/>
                </a:solidFill>
                <a:latin typeface="Arial"/>
              </a:rPr>
              <a:t>Changes, approvals and documents are tracked in e-mail and files.</a:t>
            </a:r>
          </a:p>
          <a:p>
            <a:pPr>
              <a:spcAft>
                <a:spcPts val="100"/>
              </a:spcAft>
            </a:pPr>
            <a:r>
              <a:rPr sz="1200" b="0">
                <a:solidFill>
                  <a:srgbClr val="0072D8"/>
                </a:solidFill>
                <a:latin typeface="Arial"/>
              </a:rPr>
              <a:t>BRD-3 p.13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pic>
        <p:nvPicPr>
          <p:cNvPr id="9" name="Picture 8" descr="brd03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Package lifecycle in BIBS: workflow PM_PACKAGE_REQUEST (FRS BRD-3 sections 2.2 and 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by e-mail</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Package Request Form logged in BIBS, numbered PKR-yyyy-n and tracked by stage</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Stage and SLA per request</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 slips by e-mail</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 slips prepared, approved and e-mailed per insurer, protected and logged</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Send log per slip</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replies in mailboxes</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TSU keys in each response with its outcome; every change is kept</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Rounds recorded</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in Excel</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comparative master per package; client views derived from it</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Excel re-compile</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sign-off and advisory</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ManCom signs off in BIBS; the advisory is drafted on release</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Sign-off before release</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Documents without a password</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Documents leave password protected; password in a separate e-mail</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Every document protected</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Expiry in spreadsheets</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Daily job raises expiry alerts and can draft the renewal request</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expiry missed</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History in e-mail threads</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action in the request history and the audit trail</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Full history per package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criteria without a definition</a:t>
                      </a:r>
                    </a:p>
                  </a:txBody>
                  <a:tcPr marL="64008" marR="64008" marT="27432" marB="27432" anchor="ctr">
                    <a:solidFill>
                      <a:srgbClr val="FFFFFF"/>
                    </a:solidFill>
                  </a:tcPr>
                </a:tc>
                <a:tc>
                  <a:txBody>
                    <a:bodyPr wrap="square"/>
                    <a:lstStyle/>
                    <a:p>
                      <a:r>
                        <a:rPr sz="1100" b="0">
                          <a:solidFill>
                            <a:srgbClr val="4B4B4B"/>
                          </a:solidFill>
                          <a:latin typeface="Arial"/>
                        </a:rPr>
                        <a:t>Incentive income across four BRDs</a:t>
                      </a:r>
                    </a:p>
                  </a:txBody>
                  <a:tcPr marL="64008" marR="64008" marT="27432" marB="27432" anchor="ctr">
                    <a:solidFill>
                      <a:srgbClr val="FFFFFF"/>
                    </a:solidFill>
                  </a:tcPr>
                </a:tc>
                <a:tc>
                  <a:txBody>
                    <a:bodyPr wrap="square"/>
                    <a:lstStyle/>
                    <a:p>
                      <a:r>
                        <a:rPr sz="1100" b="0">
                          <a:solidFill>
                            <a:srgbClr val="4B4B4B"/>
                          </a:solidFill>
                          <a:latin typeface="Arial"/>
                        </a:rPr>
                        <a:t>MBS, Comptrollership</a:t>
                      </a:r>
                    </a:p>
                  </a:txBody>
                  <a:tcPr marL="64008" marR="64008" marT="27432" marB="27432" anchor="ctr">
                    <a:solidFill>
                      <a:srgbClr val="FFFFFF"/>
                    </a:solidFill>
                  </a:tcPr>
                </a:tc>
                <a:tc>
                  <a:txBody>
                    <a:bodyPr wrap="square"/>
                    <a:lstStyle/>
                    <a:p>
                      <a:r>
                        <a:rPr sz="1100" b="0">
                          <a:solidFill>
                            <a:srgbClr val="4B4B4B"/>
                          </a:solidFill>
                          <a:latin typeface="Arial"/>
                        </a:rPr>
                        <a:t>List the programmes (CPC2 and others) with rate, base, payer</a:t>
                      </a:r>
                    </a:p>
                  </a:txBody>
                  <a:tcPr marL="64008" marR="64008" marT="27432" marB="27432" anchor="ctr">
                    <a:solidFill>
                      <a:srgbClr val="FFFFFF"/>
                    </a:solidFill>
                  </a:tcPr>
                </a:tc>
                <a:tc>
                  <a:txBody>
                    <a:bodyPr wrap="square"/>
                    <a:lstStyle/>
                    <a:p>
                      <a:r>
                        <a:rPr sz="1100" b="0">
                          <a:solidFill>
                            <a:srgbClr val="4B4B4B"/>
                          </a:solidFill>
                          <a:latin typeface="Arial"/>
                        </a:rPr>
                        <a:t>DCR-037</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Password convention for documents</a:t>
                      </a:r>
                    </a:p>
                  </a:txBody>
                  <a:tcPr marL="64008" marR="64008" marT="27432" marB="27432" anchor="ctr">
                    <a:solidFill>
                      <a:srgbClr val="E5F5FF"/>
                    </a:solidFill>
                  </a:tcPr>
                </a:tc>
                <a:tc>
                  <a:txBody>
                    <a:bodyPr wrap="square"/>
                    <a:lstStyle/>
                    <a:p>
                      <a:r>
                        <a:rPr sz="1100" b="0">
                          <a:solidFill>
                            <a:srgbClr val="4B4B4B"/>
                          </a:solidFill>
                          <a:latin typeface="Arial"/>
                        </a:rPr>
                        <a:t>Clients and insurers cannot open files without a known rule</a:t>
                      </a:r>
                    </a:p>
                  </a:txBody>
                  <a:tcPr marL="64008" marR="64008" marT="27432" marB="27432" anchor="ctr">
                    <a:solidFill>
                      <a:srgbClr val="E5F5FF"/>
                    </a:solidFill>
                  </a:tcPr>
                </a:tc>
                <a:tc>
                  <a:txBody>
                    <a:bodyPr wrap="square"/>
                    <a:lstStyle/>
                    <a:p>
                      <a:r>
                        <a:rPr sz="1100" b="0">
                          <a:solidFill>
                            <a:srgbClr val="4B4B4B"/>
                          </a:solidFill>
                          <a:latin typeface="Arial"/>
                        </a:rPr>
                        <a:t>MBS, Information Security</a:t>
                      </a:r>
                    </a:p>
                  </a:txBody>
                  <a:tcPr marL="64008" marR="64008" marT="27432" marB="27432" anchor="ctr">
                    <a:solidFill>
                      <a:srgbClr val="E5F5FF"/>
                    </a:solidFill>
                  </a:tcPr>
                </a:tc>
                <a:tc>
                  <a:txBody>
                    <a:bodyPr wrap="square"/>
                    <a:lstStyle/>
                    <a:p>
                      <a:r>
                        <a:rPr sz="1100" b="0">
                          <a:solidFill>
                            <a:srgbClr val="4B4B4B"/>
                          </a:solidFill>
                          <a:latin typeface="Arial"/>
                        </a:rPr>
                        <a:t>Password rule per document type</a:t>
                      </a:r>
                    </a:p>
                  </a:txBody>
                  <a:tcPr marL="64008" marR="64008" marT="27432" marB="27432" anchor="ctr">
                    <a:solidFill>
                      <a:srgbClr val="E5F5FF"/>
                    </a:solidFill>
                  </a:tcPr>
                </a:tc>
                <a:tc>
                  <a:txBody>
                    <a:bodyPr wrap="square"/>
                    <a:lstStyle/>
                    <a:p>
                      <a:r>
                        <a:rPr sz="1100" b="0">
                          <a:solidFill>
                            <a:srgbClr val="4B4B4B"/>
                          </a:solidFill>
                          <a:latin typeface="Arial"/>
                        </a:rPr>
                        <a:t>DCR-153</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Role-to-action matrix; ManCom decision rule</a:t>
                      </a:r>
                    </a:p>
                  </a:txBody>
                  <a:tcPr marL="64008" marR="64008" marT="27432" marB="27432" anchor="ctr">
                    <a:solidFill>
                      <a:srgbClr val="FFFFFF"/>
                    </a:solidFill>
                  </a:tcPr>
                </a:tc>
                <a:tc>
                  <a:txBody>
                    <a:bodyPr wrap="square"/>
                    <a:lstStyle/>
                    <a:p>
                      <a:r>
                        <a:rPr sz="1100" b="0">
                          <a:solidFill>
                            <a:srgbClr val="4B4B4B"/>
                          </a:solidFill>
                          <a:latin typeface="Arial"/>
                        </a:rPr>
                        <a:t>Approval routing and persona tests</a:t>
                      </a:r>
                    </a:p>
                  </a:txBody>
                  <a:tcPr marL="64008" marR="64008" marT="27432" marB="27432" anchor="ctr">
                    <a:solidFill>
                      <a:srgbClr val="FFFFFF"/>
                    </a:solidFill>
                  </a:tcPr>
                </a:tc>
                <a:tc>
                  <a:txBody>
                    <a:bodyPr wrap="square"/>
                    <a:lstStyle/>
                    <a:p>
                      <a:r>
                        <a:rPr sz="1100" b="0">
                          <a:solidFill>
                            <a:srgbClr val="4B4B4B"/>
                          </a:solidFill>
                          <a:latin typeface="Arial"/>
                        </a:rPr>
                        <a:t>MBS and TSU</a:t>
                      </a:r>
                    </a:p>
                  </a:txBody>
                  <a:tcPr marL="64008" marR="64008" marT="27432" marB="27432" anchor="ctr">
                    <a:solidFill>
                      <a:srgbClr val="FFFFFF"/>
                    </a:solidFill>
                  </a:tcPr>
                </a:tc>
                <a:tc>
                  <a:txBody>
                    <a:bodyPr wrap="square"/>
                    <a:lstStyle/>
                    <a:p>
                      <a:r>
                        <a:rPr sz="1100" b="0">
                          <a:solidFill>
                            <a:srgbClr val="4B4B4B"/>
                          </a:solidFill>
                          <a:latin typeface="Arial"/>
                        </a:rPr>
                        <a:t>Approve the matrix; ManCom membership and quorum</a:t>
                      </a:r>
                    </a:p>
                  </a:txBody>
                  <a:tcPr marL="64008" marR="64008" marT="27432" marB="27432" anchor="ctr">
                    <a:solidFill>
                      <a:srgbClr val="FFFFFF"/>
                    </a:solidFill>
                  </a:tcPr>
                </a:tc>
                <a:tc>
                  <a:txBody>
                    <a:bodyPr wrap="square"/>
                    <a:lstStyle/>
                    <a:p>
                      <a:r>
                        <a:rPr sz="1100" b="0">
                          <a:solidFill>
                            <a:srgbClr val="4B4B4B"/>
                          </a:solidFill>
                          <a:latin typeface="Arial"/>
                        </a:rPr>
                        <a:t>DCR-035</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Non-package product maintenance</a:t>
                      </a:r>
                    </a:p>
                  </a:txBody>
                  <a:tcPr marL="64008" marR="64008" marT="27432" marB="27432" anchor="ctr">
                    <a:solidFill>
                      <a:srgbClr val="E5F5FF"/>
                    </a:solidFill>
                  </a:tcPr>
                </a:tc>
                <a:tc>
                  <a:txBody>
                    <a:bodyPr wrap="square"/>
                    <a:lstStyle/>
                    <a:p>
                      <a:r>
                        <a:rPr sz="1100" b="0">
                          <a:solidFill>
                            <a:srgbClr val="4B4B4B"/>
                          </a:solidFill>
                          <a:latin typeface="Arial"/>
                        </a:rPr>
                        <a:t>Scope of the module</a:t>
                      </a:r>
                    </a:p>
                  </a:txBody>
                  <a:tcPr marL="64008" marR="64008" marT="27432" marB="27432" anchor="ctr">
                    <a:solidFill>
                      <a:srgbClr val="E5F5FF"/>
                    </a:solidFill>
                  </a:tcPr>
                </a:tc>
                <a:tc>
                  <a:txBody>
                    <a:bodyPr wrap="square"/>
                    <a:lstStyle/>
                    <a:p>
                      <a:r>
                        <a:rPr sz="1100" b="0">
                          <a:solidFill>
                            <a:srgbClr val="4B4B4B"/>
                          </a:solidFill>
                          <a:latin typeface="Arial"/>
                        </a:rPr>
                        <a:t>MBS</a:t>
                      </a:r>
                    </a:p>
                  </a:txBody>
                  <a:tcPr marL="64008" marR="64008" marT="27432" marB="27432" anchor="ctr">
                    <a:solidFill>
                      <a:srgbClr val="E5F5FF"/>
                    </a:solidFill>
                  </a:tcPr>
                </a:tc>
                <a:tc>
                  <a:txBody>
                    <a:bodyPr wrap="square"/>
                    <a:lstStyle/>
                    <a:p>
                      <a:r>
                        <a:rPr sz="1100" b="0">
                          <a:solidFill>
                            <a:srgbClr val="4B4B4B"/>
                          </a:solidFill>
                          <a:latin typeface="Arial"/>
                        </a:rPr>
                        <a:t>Confirm out of scope for this phase</a:t>
                      </a:r>
                    </a:p>
                  </a:txBody>
                  <a:tcPr marL="64008" marR="64008" marT="27432" marB="27432" anchor="ctr">
                    <a:solidFill>
                      <a:srgbClr val="E5F5FF"/>
                    </a:solidFill>
                  </a:tcPr>
                </a:tc>
                <a:tc>
                  <a:txBody>
                    <a:bodyPr wrap="square"/>
                    <a:lstStyle/>
                    <a:p>
                      <a:r>
                        <a:rPr sz="1100" b="0">
                          <a:solidFill>
                            <a:srgbClr val="4B4B4B"/>
                          </a:solidFill>
                          <a:latin typeface="Arial"/>
                        </a:rPr>
                        <a:t>DCR-036</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BRQID.008 dropped without a revision entry</a:t>
                      </a:r>
                    </a:p>
                  </a:txBody>
                  <a:tcPr marL="64008" marR="64008" marT="27432" marB="27432" anchor="ctr">
                    <a:solidFill>
                      <a:srgbClr val="FFFFFF"/>
                    </a:solidFill>
                  </a:tcPr>
                </a:tc>
                <a:tc>
                  <a:txBody>
                    <a:bodyPr wrap="square"/>
                    <a:lstStyle/>
                    <a:p>
                      <a:r>
                        <a:rPr sz="1100" b="0">
                          <a:solidFill>
                            <a:srgbClr val="4B4B4B"/>
                          </a:solidFill>
                          <a:latin typeface="Arial"/>
                        </a:rPr>
                        <a:t>Renewals repriced without client evidence</a:t>
                      </a:r>
                    </a:p>
                  </a:txBody>
                  <a:tcPr marL="64008" marR="64008" marT="27432" marB="27432" anchor="ctr">
                    <a:solidFill>
                      <a:srgbClr val="FFFFFF"/>
                    </a:solidFill>
                  </a:tcPr>
                </a:tc>
                <a:tc>
                  <a:txBody>
                    <a:bodyPr wrap="square"/>
                    <a:lstStyle/>
                    <a:p>
                      <a:r>
                        <a:rPr sz="1100" b="0">
                          <a:solidFill>
                            <a:srgbClr val="4B4B4B"/>
                          </a:solidFill>
                          <a:latin typeface="Arial"/>
                        </a:rPr>
                        <a:t>MBS</a:t>
                      </a:r>
                    </a:p>
                  </a:txBody>
                  <a:tcPr marL="64008" marR="64008" marT="27432" marB="27432" anchor="ctr">
                    <a:solidFill>
                      <a:srgbClr val="FFFFFF"/>
                    </a:solidFill>
                  </a:tcPr>
                </a:tc>
                <a:tc>
                  <a:txBody>
                    <a:bodyPr wrap="square"/>
                    <a:lstStyle/>
                    <a:p>
                      <a:r>
                        <a:rPr sz="1100" b="0">
                          <a:solidFill>
                            <a:srgbClr val="4B4B4B"/>
                          </a:solidFill>
                          <a:latin typeface="Arial"/>
                        </a:rPr>
                        <a:t>Confirm BRRN.038 now governs</a:t>
                      </a:r>
                    </a:p>
                  </a:txBody>
                  <a:tcPr marL="64008" marR="64008" marT="27432" marB="27432" anchor="ctr">
                    <a:solidFill>
                      <a:srgbClr val="FFFFFF"/>
                    </a:solidFill>
                  </a:tcPr>
                </a:tc>
                <a:tc>
                  <a:txBody>
                    <a:bodyPr wrap="square"/>
                    <a:lstStyle/>
                    <a:p>
                      <a:r>
                        <a:rPr sz="1100" b="0">
                          <a:solidFill>
                            <a:srgbClr val="4B4B4B"/>
                          </a:solidFill>
                          <a:latin typeface="Arial"/>
                        </a:rPr>
                        <a:t>DCR-030</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On hold</a:t>
                      </a:r>
                    </a:p>
                  </a:txBody>
                  <a:tcPr marL="64008" marR="64008" marT="27432" marB="27432" anchor="ctr">
                    <a:solidFill>
                      <a:srgbClr val="EDE7F6"/>
                    </a:solidFill>
                  </a:tcPr>
                </a:tc>
                <a:tc>
                  <a:txBody>
                    <a:bodyPr wrap="square"/>
                    <a:lstStyle/>
                    <a:p>
                      <a:r>
                        <a:rPr sz="1100" b="0">
                          <a:solidFill>
                            <a:srgbClr val="4B4B4B"/>
                          </a:solidFill>
                          <a:latin typeface="Arial"/>
                        </a:rPr>
                        <a:t>Product master feed to other BDOI systems</a:t>
                      </a:r>
                    </a:p>
                  </a:txBody>
                  <a:tcPr marL="64008" marR="64008" marT="27432" marB="27432" anchor="ctr">
                    <a:solidFill>
                      <a:srgbClr val="E5F5FF"/>
                    </a:solidFill>
                  </a:tcPr>
                </a:tc>
                <a:tc>
                  <a:txBody>
                    <a:bodyPr wrap="square"/>
                    <a:lstStyle/>
                    <a:p>
                      <a:r>
                        <a:rPr sz="1100" b="0">
                          <a:solidFill>
                            <a:srgbClr val="4B4B4B"/>
                          </a:solidFill>
                          <a:latin typeface="Arial"/>
                        </a:rPr>
                        <a:t>Other systems not updated automatically</a:t>
                      </a:r>
                    </a:p>
                  </a:txBody>
                  <a:tcPr marL="64008" marR="64008" marT="27432" marB="27432" anchor="ctr">
                    <a:solidFill>
                      <a:srgbClr val="E5F5FF"/>
                    </a:solidFill>
                  </a:tcPr>
                </a:tc>
                <a:tc>
                  <a:txBody>
                    <a:bodyPr wrap="square"/>
                    <a:lstStyle/>
                    <a:p>
                      <a:r>
                        <a:rPr sz="1100" b="0">
                          <a:solidFill>
                            <a:srgbClr val="4B4B4B"/>
                          </a:solidFill>
                          <a:latin typeface="Arial"/>
                        </a:rPr>
                        <a:t>BDO IT</a:t>
                      </a:r>
                    </a:p>
                  </a:txBody>
                  <a:tcPr marL="64008" marR="64008" marT="27432" marB="27432" anchor="ctr">
                    <a:solidFill>
                      <a:srgbClr val="E5F5FF"/>
                    </a:solidFill>
                  </a:tcPr>
                </a:tc>
                <a:tc>
                  <a:txBody>
                    <a:bodyPr wrap="square"/>
                    <a:lstStyle/>
                    <a:p>
                      <a:r>
                        <a:rPr sz="1100" b="0">
                          <a:solidFill>
                            <a:srgbClr val="4B4B4B"/>
                          </a:solidFill>
                          <a:latin typeface="Arial"/>
                        </a:rPr>
                        <a:t>Which systems receive product changes</a:t>
                      </a:r>
                    </a:p>
                  </a:txBody>
                  <a:tcPr marL="64008" marR="64008" marT="27432" marB="27432" anchor="ctr">
                    <a:solidFill>
                      <a:srgbClr val="E5F5FF"/>
                    </a:solidFill>
                  </a:tcPr>
                </a:tc>
                <a:tc>
                  <a:txBody>
                    <a:bodyPr wrap="square"/>
                    <a:lstStyle/>
                    <a:p>
                      <a:r>
                        <a:rPr sz="1100" b="0">
                          <a:solidFill>
                            <a:srgbClr val="4B4B4B"/>
                          </a:solidFill>
                          <a:latin typeface="Arial"/>
                        </a:rPr>
                        <a:t>PQ16</a:t>
                      </a:r>
                    </a:p>
                  </a:txBody>
                  <a:tcPr marL="64008" marR="64008" marT="27432" marB="27432" anchor="ctr">
                    <a:solidFill>
                      <a:srgbClr val="E5F5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Configurable rules owned by the business</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Products, package versions, rates and incentive criteria kept as masters, maintained without IT.</a:t>
            </a:r>
          </a:p>
          <a:p>
            <a:pPr>
              <a:spcAft>
                <a:spcPts val="400"/>
              </a:spcAft>
            </a:pPr>
            <a:r>
              <a:rPr sz="1200" b="1">
                <a:solidFill>
                  <a:srgbClr val="004EA8"/>
                </a:solidFill>
                <a:latin typeface="Arial"/>
              </a:rPr>
              <a:t>BDOI: </a:t>
            </a:r>
            <a:r>
              <a:rPr sz="1200" b="0">
                <a:solidFill>
                  <a:srgbClr val="4B4B4B"/>
                </a:solidFill>
                <a:latin typeface="Arial"/>
              </a:rPr>
              <a:t>Name the business owner of each master and its approver.</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on product changes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Marketing approval, TSU Head approval, ManCom sign-off and release validation; never the maker.</a:t>
            </a:r>
          </a:p>
          <a:p>
            <a:pPr>
              <a:spcAft>
                <a:spcPts val="400"/>
              </a:spcAft>
            </a:pPr>
            <a:r>
              <a:rPr sz="1200" b="1">
                <a:solidFill>
                  <a:srgbClr val="004EA8"/>
                </a:solidFill>
                <a:latin typeface="Arial"/>
              </a:rPr>
              <a:t>BDOI: </a:t>
            </a:r>
            <a:r>
              <a:rPr sz="1200" b="0">
                <a:solidFill>
                  <a:srgbClr val="4B4B4B"/>
                </a:solidFill>
                <a:latin typeface="Arial"/>
              </a:rPr>
              <a:t>Approve the role-to-action matrix (DCR-035).</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version of the terms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One comparative master per request and versioned packages; old versions locked.</a:t>
            </a:r>
          </a:p>
          <a:p>
            <a:pPr>
              <a:spcAft>
                <a:spcPts val="400"/>
              </a:spcAft>
            </a:pPr>
            <a:r>
              <a:rPr sz="1200" b="1">
                <a:solidFill>
                  <a:srgbClr val="004EA8"/>
                </a:solidFill>
                <a:latin typeface="Arial"/>
              </a:rPr>
              <a:t>BDOI: </a:t>
            </a:r>
            <a:r>
              <a:rPr sz="1200" b="0">
                <a:solidFill>
                  <a:srgbClr val="4B4B4B"/>
                </a:solidFill>
                <a:latin typeface="Arial"/>
              </a:rPr>
              <a:t>Retire Excel comparatives once BIBS is live.</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digital documents</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Slips and advisories password protected, password sent separately, send log.</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Expiry and renewal pipeline</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Daily expiry alerts and a renewal request pre-filled from the current version.</a:t>
            </a:r>
          </a:p>
          <a:p>
            <a:pPr>
              <a:spcAft>
                <a:spcPts val="400"/>
              </a:spcAft>
            </a:pPr>
            <a:r>
              <a:rPr sz="1200" b="1">
                <a:solidFill>
                  <a:srgbClr val="004EA8"/>
                </a:solidFill>
                <a:latin typeface="Arial"/>
              </a:rPr>
              <a:t>BDOI: </a:t>
            </a:r>
            <a:r>
              <a:rPr sz="1200" b="0">
                <a:solidFill>
                  <a:srgbClr val="4B4B4B"/>
                </a:solidFill>
                <a:latin typeface="Arial"/>
              </a:rPr>
              <a:t>Set the lead days per package type.</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KPI on package turnaround</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Stage history and SLA per stage (for example 120 hours for negotiation).</a:t>
            </a:r>
          </a:p>
          <a:p>
            <a:pPr>
              <a:spcAft>
                <a:spcPts val="400"/>
              </a:spcAft>
            </a:pPr>
            <a:r>
              <a:rPr sz="1200" b="1">
                <a:solidFill>
                  <a:srgbClr val="004EA8"/>
                </a:solidFill>
                <a:latin typeface="Arial"/>
              </a:rPr>
              <a:t>BDOI: </a:t>
            </a:r>
            <a:r>
              <a:rPr sz="1200" b="0">
                <a:solidFill>
                  <a:srgbClr val="4B4B4B"/>
                </a:solidFill>
                <a:latin typeface="Arial"/>
              </a:rPr>
              <a:t>Adopt turnaround targets per stage and review them monthly.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4. Collections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BRD-4 | Premium receivable follow-up, unapplied payments, escalation and billing statements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 Collections, with Marketing collection staff</a:t>
            </a:r>
          </a:p>
          <a:p>
            <a:pPr>
              <a:spcAft>
                <a:spcPts val="300"/>
              </a:spcAft>
            </a:pPr>
            <a:r>
              <a:rPr sz="1200" b="0">
                <a:solidFill>
                  <a:srgbClr val="004EA8"/>
                </a:solidFill>
                <a:latin typeface="Arial"/>
              </a:rPr>
              <a:t>•  </a:t>
            </a:r>
            <a:r>
              <a:rPr sz="1200" b="0">
                <a:solidFill>
                  <a:srgbClr val="4B4B4B"/>
                </a:solidFill>
                <a:latin typeface="Arial"/>
              </a:rPr>
              <a:t>Collection Handler; Marketing AO and Marketing Handler</a:t>
            </a:r>
          </a:p>
          <a:p>
            <a:pPr>
              <a:spcAft>
                <a:spcPts val="300"/>
              </a:spcAft>
            </a:pPr>
            <a:r>
              <a:rPr sz="1200" b="0">
                <a:solidFill>
                  <a:srgbClr val="004EA8"/>
                </a:solidFill>
                <a:latin typeface="Arial"/>
              </a:rPr>
              <a:t>•  </a:t>
            </a:r>
            <a:r>
              <a:rPr sz="1200" b="0">
                <a:solidFill>
                  <a:srgbClr val="4B4B4B"/>
                </a:solidFill>
                <a:latin typeface="Arial"/>
              </a:rPr>
              <a:t>Team Lead, Unit Head, Section Heads (Corporate, Retail)</a:t>
            </a:r>
          </a:p>
          <a:p>
            <a:pPr>
              <a:spcAft>
                <a:spcPts val="300"/>
              </a:spcAft>
            </a:pPr>
            <a:r>
              <a:rPr sz="1200" b="0">
                <a:solidFill>
                  <a:srgbClr val="004EA8"/>
                </a:solidFill>
                <a:latin typeface="Arial"/>
              </a:rPr>
              <a:t>•  </a:t>
            </a:r>
            <a:r>
              <a:rPr sz="1200" b="0">
                <a:solidFill>
                  <a:srgbClr val="4B4B4B"/>
                </a:solidFill>
                <a:latin typeface="Arial"/>
              </a:rPr>
              <a:t>Unapplied Payment Handler (CQ10)</a:t>
            </a:r>
          </a:p>
          <a:p>
            <a:pPr>
              <a:spcAft>
                <a:spcPts val="300"/>
              </a:spcAft>
            </a:pPr>
            <a:r>
              <a:rPr sz="1200" b="0">
                <a:solidFill>
                  <a:srgbClr val="004EA8"/>
                </a:solidFill>
                <a:latin typeface="Arial"/>
              </a:rPr>
              <a:t>•  </a:t>
            </a:r>
            <a:r>
              <a:rPr sz="1200" b="0">
                <a:solidFill>
                  <a:srgbClr val="4B4B4B"/>
                </a:solidFill>
                <a:latin typeface="Arial"/>
              </a:rPr>
              <a:t>Cashiering and Commission (act on dispositions)</a:t>
            </a:r>
          </a:p>
          <a:p>
            <a:pPr>
              <a:spcAft>
                <a:spcPts val="300"/>
              </a:spcAft>
            </a:pPr>
            <a:r>
              <a:rPr sz="1200" b="0">
                <a:solidFill>
                  <a:srgbClr val="004EA8"/>
                </a:solidFill>
                <a:latin typeface="Arial"/>
              </a:rPr>
              <a:t>•  </a:t>
            </a:r>
            <a:r>
              <a:rPr sz="1200" b="0">
                <a:solidFill>
                  <a:srgbClr val="4B4B4B"/>
                </a:solidFill>
                <a:latin typeface="Arial"/>
              </a:rPr>
              <a:t>App Support and DCO (refresh monitoring)</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130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56 concurrent (NFR, p.51-58)</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1,200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dispositions a day; 1,200 payment file lines a day</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&lt; 5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per screen; daily report &lt; 3 min</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RPO 4 h</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and RTO 4 h; use 06:00-22:00 Mon-Fri</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CMS BRD p.40-42 (current and target process)</a:t>
            </a:r>
          </a:p>
          <a:p>
            <a:pPr>
              <a:spcAft>
                <a:spcPts val="300"/>
              </a:spcAft>
            </a:pPr>
            <a:r>
              <a:rPr sz="1200" b="0">
                <a:solidFill>
                  <a:srgbClr val="004EA8"/>
                </a:solidFill>
                <a:latin typeface="Arial"/>
              </a:rPr>
              <a:t>•  </a:t>
            </a:r>
            <a:r>
              <a:rPr sz="1200" b="0">
                <a:solidFill>
                  <a:srgbClr val="4B4B4B"/>
                </a:solidFill>
                <a:latin typeface="Arial"/>
              </a:rPr>
              <a:t>BRCLXN.001-060 (signed); 061-064 draft only</a:t>
            </a:r>
          </a:p>
          <a:p>
            <a:pPr>
              <a:spcAft>
                <a:spcPts val="300"/>
              </a:spcAft>
            </a:pPr>
            <a:r>
              <a:rPr sz="1200" b="0">
                <a:solidFill>
                  <a:srgbClr val="004EA8"/>
                </a:solidFill>
                <a:latin typeface="Arial"/>
              </a:rPr>
              <a:t>•  </a:t>
            </a:r>
            <a:r>
              <a:rPr sz="1200" b="0">
                <a:solidFill>
                  <a:srgbClr val="4B4B4B"/>
                </a:solidFill>
                <a:latin typeface="Arial"/>
              </a:rPr>
              <a:t>Requirements baseline; FRS BRD-4 v1.0</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Nightly refresh</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Assignment</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Follow-up</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Promise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Escalation</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Disposition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Hand-off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pic>
        <p:nvPicPr>
          <p:cNvPr id="9" name="Picture 8" descr="brd04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Premium receivable follow-up today (CMS BRD p.40-41)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 list and diary in two systems</a:t>
            </a:r>
          </a:p>
          <a:p>
            <a:pPr>
              <a:spcAft>
                <a:spcPts val="100"/>
              </a:spcAft>
            </a:pPr>
            <a:r>
              <a:rPr sz="1200" b="0">
                <a:solidFill>
                  <a:srgbClr val="4B4B4B"/>
                </a:solidFill>
                <a:latin typeface="Arial"/>
              </a:rPr>
              <a:t>The handler takes the EBIX list and checks the ISYS Marketing Diary per account.</a:t>
            </a:r>
          </a:p>
          <a:p>
            <a:pPr>
              <a:spcAft>
                <a:spcPts val="100"/>
              </a:spcAft>
            </a:pPr>
            <a:r>
              <a:rPr sz="1200" b="0">
                <a:solidFill>
                  <a:srgbClr val="0072D8"/>
                </a:solidFill>
                <a:latin typeface="Arial"/>
              </a:rPr>
              <a:t>CMS BRD p.40-41, steps 1-2</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Follow-up by hand</a:t>
            </a:r>
          </a:p>
          <a:p>
            <a:pPr>
              <a:spcAft>
                <a:spcPts val="100"/>
              </a:spcAft>
            </a:pPr>
            <a:r>
              <a:rPr sz="1200" b="0">
                <a:solidFill>
                  <a:srgbClr val="4B4B4B"/>
                </a:solidFill>
                <a:latin typeface="Arial"/>
              </a:rPr>
              <a:t>New bookings within 10-15 days, commitment within 60 days, tracked by the handler.</a:t>
            </a:r>
          </a:p>
          <a:p>
            <a:pPr>
              <a:spcAft>
                <a:spcPts val="100"/>
              </a:spcAft>
            </a:pPr>
            <a:r>
              <a:rPr sz="1200" b="0">
                <a:solidFill>
                  <a:srgbClr val="0072D8"/>
                </a:solidFill>
                <a:latin typeface="Arial"/>
              </a:rPr>
              <a:t>CMS BRD p.40-41, steps 3-4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CTE and escalation by e-mail</a:t>
            </a:r>
          </a:p>
          <a:p>
            <a:pPr>
              <a:spcAft>
                <a:spcPts val="100"/>
              </a:spcAft>
            </a:pPr>
            <a:r>
              <a:rPr sz="1200" b="0">
                <a:solidFill>
                  <a:srgbClr val="4B4B4B"/>
                </a:solidFill>
                <a:latin typeface="Arial"/>
              </a:rPr>
              <a:t>The AO asks the insurer for a credit term extension and escalates to the Unit Head.</a:t>
            </a:r>
          </a:p>
          <a:p>
            <a:pPr>
              <a:spcAft>
                <a:spcPts val="100"/>
              </a:spcAft>
            </a:pPr>
            <a:r>
              <a:rPr sz="1200" b="0">
                <a:solidFill>
                  <a:srgbClr val="0072D8"/>
                </a:solidFill>
                <a:latin typeface="Arial"/>
              </a:rPr>
              <a:t>CMS BRD p.40-41, step 5</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Dispositions kept by hand</a:t>
            </a:r>
          </a:p>
          <a:p>
            <a:pPr>
              <a:spcAft>
                <a:spcPts val="100"/>
              </a:spcAft>
            </a:pPr>
            <a:r>
              <a:rPr sz="1200" b="0">
                <a:solidFill>
                  <a:srgbClr val="4B4B4B"/>
                </a:solidFill>
                <a:latin typeface="Arial"/>
              </a:rPr>
              <a:t>Day-60 disposition, category A / B / C and remarks are updated manually.</a:t>
            </a:r>
          </a:p>
          <a:p>
            <a:pPr>
              <a:spcAft>
                <a:spcPts val="100"/>
              </a:spcAft>
            </a:pPr>
            <a:r>
              <a:rPr sz="1200" b="0">
                <a:solidFill>
                  <a:srgbClr val="0072D8"/>
                </a:solidFill>
                <a:latin typeface="Arial"/>
              </a:rPr>
              <a:t>CMS BRD p.40-41, steps 6-7</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status by channel</a:t>
            </a:r>
          </a:p>
          <a:p>
            <a:pPr>
              <a:spcAft>
                <a:spcPts val="100"/>
              </a:spcAft>
            </a:pPr>
            <a:r>
              <a:rPr sz="1200" b="0">
                <a:solidFill>
                  <a:srgbClr val="4B4B4B"/>
                </a:solidFill>
                <a:latin typeface="Arial"/>
              </a:rPr>
              <a:t>Deposit with Cashiering, bills payment on the Unapplied screen, direct payment with the insurer.</a:t>
            </a:r>
          </a:p>
          <a:p>
            <a:pPr>
              <a:spcAft>
                <a:spcPts val="100"/>
              </a:spcAft>
            </a:pPr>
            <a:r>
              <a:rPr sz="1200" b="0">
                <a:solidFill>
                  <a:srgbClr val="0072D8"/>
                </a:solidFill>
                <a:latin typeface="Arial"/>
              </a:rPr>
              <a:t>CMS BRD p.40-41, step 8</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2307 tagging handed over</a:t>
            </a:r>
          </a:p>
          <a:p>
            <a:pPr>
              <a:spcAft>
                <a:spcPts val="100"/>
              </a:spcAft>
            </a:pPr>
            <a:r>
              <a:rPr sz="1200" b="0">
                <a:solidFill>
                  <a:srgbClr val="4B4B4B"/>
                </a:solidFill>
                <a:latin typeface="Arial"/>
              </a:rPr>
              <a:t>A net-of-CWT payment stays a Marketing action until the BIR 2307 is collected.</a:t>
            </a:r>
          </a:p>
          <a:p>
            <a:pPr>
              <a:spcAft>
                <a:spcPts val="100"/>
              </a:spcAft>
            </a:pPr>
            <a:r>
              <a:rPr sz="1200" b="0">
                <a:solidFill>
                  <a:srgbClr val="0072D8"/>
                </a:solidFill>
                <a:latin typeface="Arial"/>
              </a:rPr>
              <a:t>CMS BRD p.40-41, step 9</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DP report extracted monthly</a:t>
            </a:r>
          </a:p>
          <a:p>
            <a:pPr>
              <a:spcAft>
                <a:spcPts val="100"/>
              </a:spcAft>
            </a:pPr>
            <a:r>
              <a:rPr sz="1200" b="0">
                <a:solidFill>
                  <a:srgbClr val="4B4B4B"/>
                </a:solidFill>
                <a:latin typeface="Arial"/>
              </a:rPr>
              <a:t>Operations extracts the Direct Payment report as the basis for PR reversal.</a:t>
            </a:r>
          </a:p>
          <a:p>
            <a:pPr>
              <a:spcAft>
                <a:spcPts val="100"/>
              </a:spcAft>
            </a:pPr>
            <a:r>
              <a:rPr sz="1200" b="0">
                <a:solidFill>
                  <a:srgbClr val="0072D8"/>
                </a:solidFill>
                <a:latin typeface="Arial"/>
              </a:rPr>
              <a:t>CMS BRD p.40-41, step 10</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Side tasks by e-mail</a:t>
            </a:r>
          </a:p>
          <a:p>
            <a:pPr>
              <a:spcAft>
                <a:spcPts val="100"/>
              </a:spcAft>
            </a:pPr>
            <a:r>
              <a:rPr sz="1200" b="0">
                <a:solidFill>
                  <a:srgbClr val="4B4B4B"/>
                </a:solidFill>
                <a:latin typeface="Arial"/>
              </a:rPr>
              <a:t>Cheque pick-up requests and 2307 certificates received by e-mail.</a:t>
            </a:r>
          </a:p>
          <a:p>
            <a:pPr>
              <a:spcAft>
                <a:spcPts val="100"/>
              </a:spcAft>
            </a:pPr>
            <a:r>
              <a:rPr sz="1200" b="0">
                <a:solidFill>
                  <a:srgbClr val="0072D8"/>
                </a:solidFill>
                <a:latin typeface="Arial"/>
              </a:rPr>
              <a:t>CMS BRD p.40, other tasks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pic>
        <p:nvPicPr>
          <p:cNvPr id="9" name="Picture 8" descr="brd04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Collections in BIBS: worklist, promises, escalation (workflow CLX_ESCALATION) and hand-offs (FRS BRD-4)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 list and diary in two systems</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worklist read from the invoice ledger, with the Marketing Diary in view on the item</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Refreshed nightly after 22:00</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Follow-up by hand</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Efforts, promises per installment and reminders recorded on the collection item</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History kept per item</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CTE and escalation by e-mail</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Escalation rules by ageing, commitments and broken promises; manual escalation, also in bulk</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TL / UH queue by rule</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Dispositions kept by hand</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 from a list of values with category A / B / C; append-only history</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From / to audit per field</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status by channel</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status, balances and co-insurance shares read from the invoice ledger</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Same-day balance refresh</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2307 tagging handed over</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 2307 for reversal" goes to the Cashiering 2307 intake as an in-app request</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e-mail hand-off</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report extracted monthly</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DP-for-reversal file on the first working day; the same list goes to Commission</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Ready on working day 1</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Side tasks by e-mail</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Cheque pick-up request placed on the Cashiering queue from the item</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Request tracked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BRCLXN.061-064 only in the unsigned draft</a:t>
                      </a:r>
                    </a:p>
                  </a:txBody>
                  <a:tcPr marL="64008" marR="64008" marT="27432" marB="27432" anchor="ctr">
                    <a:solidFill>
                      <a:srgbClr val="FFFFFF"/>
                    </a:solidFill>
                  </a:tcPr>
                </a:tc>
                <a:tc>
                  <a:txBody>
                    <a:bodyPr wrap="square"/>
                    <a:lstStyle/>
                    <a:p>
                      <a:r>
                        <a:rPr sz="1100" b="0">
                          <a:solidFill>
                            <a:srgbClr val="4B4B4B"/>
                          </a:solidFill>
                          <a:latin typeface="Arial"/>
                        </a:rPr>
                        <a:t>Commission, incentive and refund items not approved</a:t>
                      </a:r>
                    </a:p>
                  </a:txBody>
                  <a:tcPr marL="64008" marR="64008" marT="27432" marB="27432" anchor="ctr">
                    <a:solidFill>
                      <a:srgbClr val="FFFFFF"/>
                    </a:solidFill>
                  </a:tcPr>
                </a:tc>
                <a:tc>
                  <a:txBody>
                    <a:bodyPr wrap="square"/>
                    <a:lstStyle/>
                    <a:p>
                      <a:r>
                        <a:rPr sz="1100" b="0">
                          <a:solidFill>
                            <a:srgbClr val="4B4B4B"/>
                          </a:solidFill>
                          <a:latin typeface="Arial"/>
                        </a:rPr>
                        <a:t>Head of BDOI Operations</a:t>
                      </a:r>
                    </a:p>
                  </a:txBody>
                  <a:tcPr marL="64008" marR="64008" marT="27432" marB="27432" anchor="ctr">
                    <a:solidFill>
                      <a:srgbClr val="FFFFFF"/>
                    </a:solidFill>
                  </a:tcPr>
                </a:tc>
                <a:tc>
                  <a:txBody>
                    <a:bodyPr wrap="square"/>
                    <a:lstStyle/>
                    <a:p>
                      <a:r>
                        <a:rPr sz="1100" b="0">
                          <a:solidFill>
                            <a:srgbClr val="4B4B4B"/>
                          </a:solidFill>
                          <a:latin typeface="Arial"/>
                        </a:rPr>
                        <a:t>In scope? Owner: Collections or Commission</a:t>
                      </a:r>
                    </a:p>
                  </a:txBody>
                  <a:tcPr marL="64008" marR="64008" marT="27432" marB="27432" anchor="ctr">
                    <a:solidFill>
                      <a:srgbClr val="FFFFFF"/>
                    </a:solidFill>
                  </a:tcPr>
                </a:tc>
                <a:tc>
                  <a:txBody>
                    <a:bodyPr wrap="square"/>
                    <a:lstStyle/>
                    <a:p>
                      <a:r>
                        <a:rPr sz="1100" b="0">
                          <a:solidFill>
                            <a:srgbClr val="4B4B4B"/>
                          </a:solidFill>
                          <a:latin typeface="Arial"/>
                        </a:rPr>
                        <a:t>DCR-039, CQ01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List at invoice or cover level</a:t>
                      </a:r>
                    </a:p>
                  </a:txBody>
                  <a:tcPr marL="64008" marR="64008" marT="27432" marB="27432" anchor="ctr">
                    <a:solidFill>
                      <a:srgbClr val="E5F5FF"/>
                    </a:solidFill>
                  </a:tcPr>
                </a:tc>
                <a:tc>
                  <a:txBody>
                    <a:bodyPr wrap="square"/>
                    <a:lstStyle/>
                    <a:p>
                      <a:r>
                        <a:rPr sz="1100" b="0">
                          <a:solidFill>
                            <a:srgbClr val="4B4B4B"/>
                          </a:solidFill>
                          <a:latin typeface="Arial"/>
                        </a:rPr>
                        <a:t>Grain of the list and of the threshold rule</a:t>
                      </a:r>
                    </a:p>
                  </a:txBody>
                  <a:tcPr marL="64008" marR="64008" marT="27432" marB="27432" anchor="ctr">
                    <a:solidFill>
                      <a:srgbClr val="E5F5FF"/>
                    </a:solidFill>
                  </a:tcPr>
                </a:tc>
                <a:tc>
                  <a:txBody>
                    <a:bodyPr wrap="square"/>
                    <a:lstStyle/>
                    <a:p>
                      <a:r>
                        <a:rPr sz="1100" b="0">
                          <a:solidFill>
                            <a:srgbClr val="4B4B4B"/>
                          </a:solidFill>
                          <a:latin typeface="Arial"/>
                        </a:rPr>
                        <a:t>Head of BDOI Operations</a:t>
                      </a:r>
                    </a:p>
                  </a:txBody>
                  <a:tcPr marL="64008" marR="64008" marT="27432" marB="27432" anchor="ctr">
                    <a:solidFill>
                      <a:srgbClr val="E5F5FF"/>
                    </a:solidFill>
                  </a:tcPr>
                </a:tc>
                <a:tc>
                  <a:txBody>
                    <a:bodyPr wrap="square"/>
                    <a:lstStyle/>
                    <a:p>
                      <a:r>
                        <a:rPr sz="1100" b="0">
                          <a:solidFill>
                            <a:srgbClr val="4B4B4B"/>
                          </a:solidFill>
                          <a:latin typeface="Arial"/>
                        </a:rPr>
                        <a:t>Confirm invoice level; threshold per invoice, ARN or client</a:t>
                      </a:r>
                    </a:p>
                  </a:txBody>
                  <a:tcPr marL="64008" marR="64008" marT="27432" marB="27432" anchor="ctr">
                    <a:solidFill>
                      <a:srgbClr val="E5F5FF"/>
                    </a:solidFill>
                  </a:tcPr>
                </a:tc>
                <a:tc>
                  <a:txBody>
                    <a:bodyPr wrap="square"/>
                    <a:lstStyle/>
                    <a:p>
                      <a:r>
                        <a:rPr sz="1100" b="0">
                          <a:solidFill>
                            <a:srgbClr val="4B4B4B"/>
                          </a:solidFill>
                          <a:latin typeface="Arial"/>
                        </a:rPr>
                        <a:t>DCR-041, CQ02</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session per device</a:t>
                      </a:r>
                    </a:p>
                  </a:txBody>
                  <a:tcPr marL="64008" marR="64008" marT="27432" marB="27432" anchor="ctr">
                    <a:solidFill>
                      <a:srgbClr val="FFFFFF"/>
                    </a:solidFill>
                  </a:tcPr>
                </a:tc>
                <a:tc>
                  <a:txBody>
                    <a:bodyPr wrap="square"/>
                    <a:lstStyle/>
                    <a:p>
                      <a:r>
                        <a:rPr sz="1100" b="0">
                          <a:solidFill>
                            <a:srgbClr val="4B4B4B"/>
                          </a:solidFill>
                          <a:latin typeface="Arial"/>
                        </a:rPr>
                        <a:t>Session control for every user</a:t>
                      </a:r>
                    </a:p>
                  </a:txBody>
                  <a:tcPr marL="64008" marR="64008" marT="27432" marB="27432" anchor="ctr">
                    <a:solidFill>
                      <a:srgbClr val="FFFFFF"/>
                    </a:solidFill>
                  </a:tcPr>
                </a:tc>
                <a:tc>
                  <a:txBody>
                    <a:bodyPr wrap="square"/>
                    <a:lstStyle/>
                    <a:p>
                      <a:r>
                        <a:rPr sz="1100" b="0">
                          <a:solidFill>
                            <a:srgbClr val="4B4B4B"/>
                          </a:solidFill>
                          <a:latin typeface="Arial"/>
                        </a:rPr>
                        <a:t>Operations with BDO ITIO</a:t>
                      </a:r>
                    </a:p>
                  </a:txBody>
                  <a:tcPr marL="64008" marR="64008" marT="27432" marB="27432" anchor="ctr">
                    <a:solidFill>
                      <a:srgbClr val="FFFFFF"/>
                    </a:solidFill>
                  </a:tcPr>
                </a:tc>
                <a:tc>
                  <a:txBody>
                    <a:bodyPr wrap="square"/>
                    <a:lstStyle/>
                    <a:p>
                      <a:r>
                        <a:rPr sz="1100" b="0">
                          <a:solidFill>
                            <a:srgbClr val="4B4B4B"/>
                          </a:solidFill>
                          <a:latin typeface="Arial"/>
                        </a:rPr>
                        <a:t>For all users, Collections only, or no one</a:t>
                      </a:r>
                    </a:p>
                  </a:txBody>
                  <a:tcPr marL="64008" marR="64008" marT="27432" marB="27432" anchor="ctr">
                    <a:solidFill>
                      <a:srgbClr val="FFFFFF"/>
                    </a:solidFill>
                  </a:tcPr>
                </a:tc>
                <a:tc>
                  <a:txBody>
                    <a:bodyPr wrap="square"/>
                    <a:lstStyle/>
                    <a:p>
                      <a:r>
                        <a:rPr sz="1100" b="0">
                          <a:solidFill>
                            <a:srgbClr val="4B4B4B"/>
                          </a:solidFill>
                          <a:latin typeface="Arial"/>
                        </a:rPr>
                        <a:t>DCR-044, 141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Open EBIX PRs and history at go-live</a:t>
                      </a:r>
                    </a:p>
                  </a:txBody>
                  <a:tcPr marL="64008" marR="64008" marT="27432" marB="27432" anchor="ctr">
                    <a:solidFill>
                      <a:srgbClr val="E5F5FF"/>
                    </a:solidFill>
                  </a:tcPr>
                </a:tc>
                <a:tc>
                  <a:txBody>
                    <a:bodyPr wrap="square"/>
                    <a:lstStyle/>
                    <a:p>
                      <a:r>
                        <a:rPr sz="1100" b="0">
                          <a:solidFill>
                            <a:srgbClr val="4B4B4B"/>
                          </a:solidFill>
                          <a:latin typeface="Arial"/>
                        </a:rPr>
                        <a:t>Worklist incomplete at cut-over</a:t>
                      </a:r>
                    </a:p>
                  </a:txBody>
                  <a:tcPr marL="64008" marR="64008" marT="27432" marB="27432" anchor="ctr">
                    <a:solidFill>
                      <a:srgbClr val="E5F5FF"/>
                    </a:solidFill>
                  </a:tcPr>
                </a:tc>
                <a:tc>
                  <a:txBody>
                    <a:bodyPr wrap="square"/>
                    <a:lstStyle/>
                    <a:p>
                      <a:r>
                        <a:rPr sz="1100" b="0">
                          <a:solidFill>
                            <a:srgbClr val="4B4B4B"/>
                          </a:solidFill>
                          <a:latin typeface="Arial"/>
                        </a:rPr>
                        <a:t>Operations, BDO IT</a:t>
                      </a:r>
                    </a:p>
                  </a:txBody>
                  <a:tcPr marL="64008" marR="64008" marT="27432" marB="27432" anchor="ctr">
                    <a:solidFill>
                      <a:srgbClr val="E5F5FF"/>
                    </a:solidFill>
                  </a:tcPr>
                </a:tc>
                <a:tc>
                  <a:txBody>
                    <a:bodyPr wrap="square"/>
                    <a:lstStyle/>
                    <a:p>
                      <a:r>
                        <a:rPr sz="1100" b="0">
                          <a:solidFill>
                            <a:srgbClr val="4B4B4B"/>
                          </a:solidFill>
                          <a:latin typeface="Arial"/>
                        </a:rPr>
                        <a:t>Migration scope, cut-off and format</a:t>
                      </a:r>
                    </a:p>
                  </a:txBody>
                  <a:tcPr marL="64008" marR="64008" marT="27432" marB="27432" anchor="ctr">
                    <a:solidFill>
                      <a:srgbClr val="E5F5FF"/>
                    </a:solidFill>
                  </a:tcPr>
                </a:tc>
                <a:tc>
                  <a:txBody>
                    <a:bodyPr wrap="square"/>
                    <a:lstStyle/>
                    <a:p>
                      <a:r>
                        <a:rPr sz="1100" b="0">
                          <a:solidFill>
                            <a:srgbClr val="4B4B4B"/>
                          </a:solidFill>
                          <a:latin typeface="Arial"/>
                        </a:rPr>
                        <a:t>DCR-157, CQ07</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Minimal balance threshold value</a:t>
                      </a:r>
                    </a:p>
                  </a:txBody>
                  <a:tcPr marL="64008" marR="64008" marT="27432" marB="27432" anchor="ctr">
                    <a:solidFill>
                      <a:srgbClr val="FFFFFF"/>
                    </a:solidFill>
                  </a:tcPr>
                </a:tc>
                <a:tc>
                  <a:txBody>
                    <a:bodyPr wrap="square"/>
                    <a:lstStyle/>
                    <a:p>
                      <a:r>
                        <a:rPr sz="1100" b="0">
                          <a:solidFill>
                            <a:srgbClr val="4B4B4B"/>
                          </a:solidFill>
                          <a:latin typeface="Arial"/>
                        </a:rPr>
                        <a:t>Which invoices enter the list</a:t>
                      </a:r>
                    </a:p>
                  </a:txBody>
                  <a:tcPr marL="64008" marR="64008" marT="27432" marB="27432" anchor="ctr">
                    <a:solidFill>
                      <a:srgbClr val="FFFFFF"/>
                    </a:solidFill>
                  </a:tcPr>
                </a:tc>
                <a:tc>
                  <a:txBody>
                    <a:bodyPr wrap="square"/>
                    <a:lstStyle/>
                    <a:p>
                      <a:r>
                        <a:rPr sz="1100" b="0">
                          <a:solidFill>
                            <a:srgbClr val="4B4B4B"/>
                          </a:solidFill>
                          <a:latin typeface="Arial"/>
                        </a:rPr>
                        <a:t>Operations - Collections</a:t>
                      </a:r>
                    </a:p>
                  </a:txBody>
                  <a:tcPr marL="64008" marR="64008" marT="27432" marB="27432" anchor="ctr">
                    <a:solidFill>
                      <a:srgbClr val="FFFFFF"/>
                    </a:solidFill>
                  </a:tcPr>
                </a:tc>
                <a:tc>
                  <a:txBody>
                    <a:bodyPr wrap="square"/>
                    <a:lstStyle/>
                    <a:p>
                      <a:r>
                        <a:rPr sz="1100" b="0">
                          <a:solidFill>
                            <a:srgbClr val="4B4B4B"/>
                          </a:solidFill>
                          <a:latin typeface="Arial"/>
                        </a:rPr>
                        <a:t>Value, currency, net of PR2307?</a:t>
                      </a:r>
                    </a:p>
                  </a:txBody>
                  <a:tcPr marL="64008" marR="64008" marT="27432" marB="27432" anchor="ctr">
                    <a:solidFill>
                      <a:srgbClr val="FFFFFF"/>
                    </a:solidFill>
                  </a:tcPr>
                </a:tc>
                <a:tc>
                  <a:txBody>
                    <a:bodyPr wrap="square"/>
                    <a:lstStyle/>
                    <a:p>
                      <a:r>
                        <a:rPr sz="1100" b="0">
                          <a:solidFill>
                            <a:srgbClr val="4B4B4B"/>
                          </a:solidFill>
                          <a:latin typeface="Arial"/>
                        </a:rPr>
                        <a:t>CQ03</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Escalation defaults and promise rules</a:t>
                      </a:r>
                    </a:p>
                  </a:txBody>
                  <a:tcPr marL="64008" marR="64008" marT="27432" marB="27432" anchor="ctr">
                    <a:solidFill>
                      <a:srgbClr val="E5F5FF"/>
                    </a:solidFill>
                  </a:tcPr>
                </a:tc>
                <a:tc>
                  <a:txBody>
                    <a:bodyPr wrap="square"/>
                    <a:lstStyle/>
                    <a:p>
                      <a:r>
                        <a:rPr sz="1100" b="0">
                          <a:solidFill>
                            <a:srgbClr val="4B4B4B"/>
                          </a:solidFill>
                          <a:latin typeface="Arial"/>
                        </a:rPr>
                        <a:t>Escalation and broken-promise tests</a:t>
                      </a:r>
                    </a:p>
                  </a:txBody>
                  <a:tcPr marL="64008" marR="64008" marT="27432" marB="27432" anchor="ctr">
                    <a:solidFill>
                      <a:srgbClr val="E5F5FF"/>
                    </a:solidFill>
                  </a:tcPr>
                </a:tc>
                <a:tc>
                  <a:txBody>
                    <a:bodyPr wrap="square"/>
                    <a:lstStyle/>
                    <a:p>
                      <a:r>
                        <a:rPr sz="1100" b="0">
                          <a:solidFill>
                            <a:srgbClr val="4B4B4B"/>
                          </a:solidFill>
                          <a:latin typeface="Arial"/>
                        </a:rPr>
                        <a:t>Operations - Collections</a:t>
                      </a:r>
                    </a:p>
                  </a:txBody>
                  <a:tcPr marL="64008" marR="64008" marT="27432" marB="27432" anchor="ctr">
                    <a:solidFill>
                      <a:srgbClr val="E5F5FF"/>
                    </a:solidFill>
                  </a:tcPr>
                </a:tc>
                <a:tc>
                  <a:txBody>
                    <a:bodyPr wrap="square"/>
                    <a:lstStyle/>
                    <a:p>
                      <a:r>
                        <a:rPr sz="1100" b="0">
                          <a:solidFill>
                            <a:srgbClr val="4B4B4B"/>
                          </a:solidFill>
                          <a:latin typeface="Arial"/>
                        </a:rPr>
                        <a:t>Days (45 / 60), levels, grace days</a:t>
                      </a:r>
                    </a:p>
                  </a:txBody>
                  <a:tcPr marL="64008" marR="64008" marT="27432" marB="27432" anchor="ctr">
                    <a:solidFill>
                      <a:srgbClr val="E5F5FF"/>
                    </a:solidFill>
                  </a:tcPr>
                </a:tc>
                <a:tc>
                  <a:txBody>
                    <a:bodyPr wrap="square"/>
                    <a:lstStyle/>
                    <a:p>
                      <a:r>
                        <a:rPr sz="1100" b="0">
                          <a:solidFill>
                            <a:srgbClr val="4B4B4B"/>
                          </a:solidFill>
                          <a:latin typeface="Arial"/>
                        </a:rPr>
                        <a:t>CQ14, CQ16</a:t>
                      </a:r>
                    </a:p>
                  </a:txBody>
                  <a:tcPr marL="64008" marR="64008" marT="27432" marB="27432" anchor="ctr">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Ageing control with escalation by rule</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Rules by ageing, commitments and broken promises; TL / UH queue; manual escalation in bulk.</a:t>
            </a:r>
          </a:p>
          <a:p>
            <a:pPr>
              <a:spcAft>
                <a:spcPts val="400"/>
              </a:spcAft>
            </a:pPr>
            <a:r>
              <a:rPr sz="1200" b="1">
                <a:solidFill>
                  <a:srgbClr val="004EA8"/>
                </a:solidFill>
                <a:latin typeface="Arial"/>
              </a:rPr>
              <a:t>BDOI: </a:t>
            </a:r>
            <a:r>
              <a:rPr sz="1200" b="0">
                <a:solidFill>
                  <a:srgbClr val="4B4B4B"/>
                </a:solidFill>
                <a:latin typeface="Arial"/>
              </a:rPr>
              <a:t>Set the default days and levels (CQ14).</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Promise-to-pay per installment</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Promises recorded per installment, marked kept or broken from the ledger.</a:t>
            </a:r>
          </a:p>
          <a:p>
            <a:pPr>
              <a:spcAft>
                <a:spcPts val="400"/>
              </a:spcAft>
            </a:pPr>
            <a:r>
              <a:rPr sz="1200" b="1">
                <a:solidFill>
                  <a:srgbClr val="004EA8"/>
                </a:solidFill>
                <a:latin typeface="Arial"/>
              </a:rPr>
              <a:t>BDOI: </a:t>
            </a:r>
            <a:r>
              <a:rPr sz="1200" b="0">
                <a:solidFill>
                  <a:srgbClr val="4B4B4B"/>
                </a:solidFill>
                <a:latin typeface="Arial"/>
              </a:rPr>
              <a:t>Define when a promise is kept and the grace days (CQ16).</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Single view of the receivable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Invoice 360: policy, invoice, co-insurance shares, payments and history on one screen.</a:t>
            </a:r>
          </a:p>
          <a:p>
            <a:pPr>
              <a:spcAft>
                <a:spcPts val="400"/>
              </a:spcAft>
            </a:pPr>
            <a:r>
              <a:rPr sz="1200" b="1">
                <a:solidFill>
                  <a:srgbClr val="004EA8"/>
                </a:solidFill>
                <a:latin typeface="Arial"/>
              </a:rPr>
              <a:t>BDOI: </a:t>
            </a:r>
            <a:r>
              <a:rPr sz="1200" b="0">
                <a:solidFill>
                  <a:srgbClr val="4B4B4B"/>
                </a:solidFill>
                <a:latin typeface="Arial"/>
              </a:rPr>
              <a:t>Retire the separate EBIX and Excel lists after migration.</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Collections monitors; finance posts</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Collections posts no money; Cashiering and Commission act on its requests.</a:t>
            </a:r>
          </a:p>
          <a:p>
            <a:pPr>
              <a:spcAft>
                <a:spcPts val="400"/>
              </a:spcAft>
            </a:pPr>
            <a:r>
              <a:rPr sz="1200" b="1">
                <a:solidFill>
                  <a:srgbClr val="004EA8"/>
                </a:solidFill>
                <a:latin typeface="Arial"/>
              </a:rPr>
              <a:t>BDOI: </a:t>
            </a:r>
            <a:r>
              <a:rPr sz="1200" b="0">
                <a:solidFill>
                  <a:srgbClr val="4B4B4B"/>
                </a:solidFill>
                <a:latin typeface="Arial"/>
              </a:rPr>
              <a:t>Keep this split in the role matrix (DCR-121).</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Credit term discipline</a:t>
            </a:r>
          </a:p>
        </p:txBody>
      </p:sp>
      <p:sp>
        <p:nvSpPr>
          <p:cNvPr id="32" name="Rounded Rectangle 31"/>
          <p:cNvSpPr/>
          <p:nvPr/>
        </p:nvSpPr>
        <p:spPr>
          <a:xfrm>
            <a:off x="4393082"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Commitment dates and CTE requests can be recorded on the item.</a:t>
            </a:r>
          </a:p>
          <a:p>
            <a:pPr>
              <a:spcAft>
                <a:spcPts val="400"/>
              </a:spcAft>
            </a:pPr>
            <a:r>
              <a:rPr sz="1200" b="1">
                <a:solidFill>
                  <a:srgbClr val="004EA8"/>
                </a:solidFill>
                <a:latin typeface="Arial"/>
              </a:rPr>
              <a:t>BDOI: </a:t>
            </a:r>
            <a:r>
              <a:rPr sz="1200" b="0">
                <a:solidFill>
                  <a:srgbClr val="4B4B4B"/>
                </a:solidFill>
                <a:latin typeface="Arial"/>
              </a:rPr>
              <a:t>Publish credit terms per segment and track CTEs in BIBS (CQ20).</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Collection KPIs</a:t>
            </a:r>
          </a:p>
        </p:txBody>
      </p:sp>
      <p:sp>
        <p:nvSpPr>
          <p:cNvPr id="37" name="Rounded Rectangle 36"/>
          <p:cNvSpPr/>
          <p:nvPr/>
        </p:nvSpPr>
        <p:spPr>
          <a:xfrm>
            <a:off x="8146084"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Outstanding PR, escalation and broken-promise reports; Collections home.</a:t>
            </a:r>
          </a:p>
          <a:p>
            <a:pPr>
              <a:spcAft>
                <a:spcPts val="400"/>
              </a:spcAft>
            </a:pPr>
            <a:r>
              <a:rPr sz="1200" b="1">
                <a:solidFill>
                  <a:srgbClr val="004EA8"/>
                </a:solidFill>
                <a:latin typeface="Arial"/>
              </a:rPr>
              <a:t>BDOI: </a:t>
            </a:r>
            <a:r>
              <a:rPr sz="1200" b="0">
                <a:solidFill>
                  <a:srgbClr val="4B4B4B"/>
                </a:solidFill>
                <a:latin typeface="Arial"/>
              </a:rPr>
              <a:t>Define the dashboard per role and the collection targets (CQ21).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5. Accounting and Disbursement</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BRD-5 | Accounting (FRBS), Disbursement, ACSL, Marketing refund and cash-advance requests, financial reports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Comptrollership: FRBS (GL team), Disbursement, ACSL</a:t>
            </a:r>
          </a:p>
          <a:p>
            <a:pPr>
              <a:spcAft>
                <a:spcPts val="300"/>
              </a:spcAft>
            </a:pPr>
            <a:r>
              <a:rPr sz="1200" b="0">
                <a:solidFill>
                  <a:srgbClr val="004EA8"/>
                </a:solidFill>
                <a:latin typeface="Arial"/>
              </a:rPr>
              <a:t>•  </a:t>
            </a:r>
            <a:r>
              <a:rPr sz="1200" b="0">
                <a:solidFill>
                  <a:srgbClr val="4B4B4B"/>
                </a:solidFill>
                <a:latin typeface="Arial"/>
              </a:rPr>
              <a:t>FRBS officer, TL, TH (Accounting, 5 users)</a:t>
            </a:r>
          </a:p>
          <a:p>
            <a:pPr>
              <a:spcAft>
                <a:spcPts val="300"/>
              </a:spcAft>
            </a:pPr>
            <a:r>
              <a:rPr sz="1200" b="0">
                <a:solidFill>
                  <a:srgbClr val="004EA8"/>
                </a:solidFill>
                <a:latin typeface="Arial"/>
              </a:rPr>
              <a:t>•  </a:t>
            </a:r>
            <a:r>
              <a:rPr sz="1200" b="0">
                <a:solidFill>
                  <a:srgbClr val="4B4B4B"/>
                </a:solidFill>
                <a:latin typeface="Arial"/>
              </a:rPr>
              <a:t>Disbursement processor, verifier and approvers (8 users)</a:t>
            </a:r>
          </a:p>
          <a:p>
            <a:pPr>
              <a:spcAft>
                <a:spcPts val="300"/>
              </a:spcAft>
            </a:pPr>
            <a:r>
              <a:rPr sz="1200" b="0">
                <a:solidFill>
                  <a:srgbClr val="004EA8"/>
                </a:solidFill>
                <a:latin typeface="Arial"/>
              </a:rPr>
              <a:t>•  </a:t>
            </a:r>
            <a:r>
              <a:rPr sz="1200" b="0">
                <a:solidFill>
                  <a:srgbClr val="4B4B4B"/>
                </a:solidFill>
                <a:latin typeface="Arial"/>
              </a:rPr>
              <a:t>ACSL officer and approver (6 users)</a:t>
            </a:r>
          </a:p>
          <a:p>
            <a:pPr>
              <a:spcAft>
                <a:spcPts val="300"/>
              </a:spcAft>
            </a:pPr>
            <a:r>
              <a:rPr sz="1200" b="0">
                <a:solidFill>
                  <a:srgbClr val="004EA8"/>
                </a:solidFill>
                <a:latin typeface="Arial"/>
              </a:rPr>
              <a:t>•  </a:t>
            </a:r>
            <a:r>
              <a:rPr sz="1200" b="0">
                <a:solidFill>
                  <a:srgbClr val="4B4B4B"/>
                </a:solidFill>
                <a:latin typeface="Arial"/>
              </a:rPr>
              <a:t>Marketing AO and employees (refund and cash-advance requests); HR approver</a:t>
            </a:r>
          </a:p>
          <a:p>
            <a:pPr>
              <a:spcAft>
                <a:spcPts val="300"/>
              </a:spcAft>
            </a:pPr>
            <a:r>
              <a:rPr sz="1200" b="0">
                <a:solidFill>
                  <a:srgbClr val="004EA8"/>
                </a:solidFill>
                <a:latin typeface="Arial"/>
              </a:rPr>
              <a:t>•  </a:t>
            </a:r>
            <a:r>
              <a:rPr sz="1200" b="0">
                <a:solidFill>
                  <a:srgbClr val="4B4B4B"/>
                </a:solidFill>
                <a:latin typeface="Arial"/>
              </a:rPr>
              <a:t>Business and System Administrator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19</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Comptrollership users: FRBS 5, Disbursement 8, ACSL 6 (p.133-137)</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198</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remittance DVs a year (+20%); 246 refunds; 293 supplier payments</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5-10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screen load; reports 10-20 s first load</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15 Apr</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year-end close deadline (FRBS 2.7.0, p.59)</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 (two volumes)</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BRD-5 p.44-45 (current process), p.46-48 (envisioned)</a:t>
            </a:r>
          </a:p>
          <a:p>
            <a:pPr>
              <a:spcAft>
                <a:spcPts val="300"/>
              </a:spcAft>
            </a:pPr>
            <a:r>
              <a:rPr sz="1200" b="0">
                <a:solidFill>
                  <a:srgbClr val="004EA8"/>
                </a:solidFill>
                <a:latin typeface="Arial"/>
              </a:rPr>
              <a:t>•  </a:t>
            </a:r>
            <a:r>
              <a:rPr sz="1200" b="0">
                <a:solidFill>
                  <a:srgbClr val="4B4B4B"/>
                </a:solidFill>
                <a:latin typeface="Arial"/>
              </a:rPr>
              <a:t>FRBS, DIS, MKT, ACSL, BASAU requirements; Addenda 1 and 2</a:t>
            </a:r>
          </a:p>
          <a:p>
            <a:pPr>
              <a:spcAft>
                <a:spcPts val="300"/>
              </a:spcAft>
            </a:pPr>
            <a:r>
              <a:rPr sz="1200" b="0">
                <a:solidFill>
                  <a:srgbClr val="004EA8"/>
                </a:solidFill>
                <a:latin typeface="Arial"/>
              </a:rPr>
              <a:t>•  </a:t>
            </a:r>
            <a:r>
              <a:rPr sz="1200" b="0">
                <a:solidFill>
                  <a:srgbClr val="4B4B4B"/>
                </a:solidFill>
                <a:latin typeface="Arial"/>
              </a:rPr>
              <a:t>Requirements baseline; FRS BRD-5 v1.0, volumes 1 and 2</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Voucher</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Approval</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Status and CWT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Posting</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Reconciliation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Close and report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pic>
        <p:nvPicPr>
          <p:cNvPr id="9" name="Picture 8" descr="brd05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Disbursement, accounting and ACSL today (BRD-5 p.44-45)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Marketing requests by e-mail and paper</a:t>
            </a:r>
          </a:p>
          <a:p>
            <a:pPr>
              <a:spcAft>
                <a:spcPts val="100"/>
              </a:spcAft>
            </a:pPr>
            <a:r>
              <a:rPr sz="1200" b="0">
                <a:solidFill>
                  <a:srgbClr val="4B4B4B"/>
                </a:solidFill>
                <a:latin typeface="Arial"/>
              </a:rPr>
              <a:t>Review and approval outside the system; signed paper handed to Disbursement.</a:t>
            </a:r>
          </a:p>
          <a:p>
            <a:pPr>
              <a:spcAft>
                <a:spcPts val="100"/>
              </a:spcAft>
            </a:pPr>
            <a:r>
              <a:rPr sz="1200" b="0">
                <a:solidFill>
                  <a:srgbClr val="0072D8"/>
                </a:solidFill>
                <a:latin typeface="Arial"/>
              </a:rPr>
              <a:t>BRD-5 p.45, B.2 a-c</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received by hand</a:t>
            </a:r>
          </a:p>
          <a:p>
            <a:pPr>
              <a:spcAft>
                <a:spcPts val="100"/>
              </a:spcAft>
            </a:pPr>
            <a:r>
              <a:rPr sz="1200" b="0">
                <a:solidFill>
                  <a:srgbClr val="4B4B4B"/>
                </a:solidFill>
                <a:latin typeface="Arial"/>
              </a:rPr>
              <a:t>Some disbursement requests still arrive as paper or e-mail.</a:t>
            </a:r>
          </a:p>
          <a:p>
            <a:pPr>
              <a:spcAft>
                <a:spcPts val="100"/>
              </a:spcAft>
            </a:pPr>
            <a:r>
              <a:rPr sz="1200" b="0">
                <a:solidFill>
                  <a:srgbClr val="0072D8"/>
                </a:solidFill>
                <a:latin typeface="Arial"/>
              </a:rPr>
              <a:t>BRD-5 p.45, B a</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processing and CWT tagging</a:t>
            </a:r>
          </a:p>
          <a:p>
            <a:pPr>
              <a:spcAft>
                <a:spcPts val="100"/>
              </a:spcAft>
            </a:pPr>
            <a:r>
              <a:rPr sz="1200" b="0">
                <a:solidFill>
                  <a:srgbClr val="4B4B4B"/>
                </a:solidFill>
                <a:latin typeface="Arial"/>
              </a:rPr>
              <a:t>Communication and approval run outside the system; payees only for CTA and check.</a:t>
            </a:r>
          </a:p>
          <a:p>
            <a:pPr>
              <a:spcAft>
                <a:spcPts val="100"/>
              </a:spcAft>
            </a:pPr>
            <a:r>
              <a:rPr sz="1200" b="0">
                <a:solidFill>
                  <a:srgbClr val="0072D8"/>
                </a:solidFill>
                <a:latin typeface="Arial"/>
              </a:rPr>
              <a:t>BRD-5 p.45, B c-e</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methods not all integrated</a:t>
            </a:r>
          </a:p>
          <a:p>
            <a:pPr>
              <a:spcAft>
                <a:spcPts val="100"/>
              </a:spcAft>
            </a:pPr>
            <a:r>
              <a:rPr sz="1200" b="0">
                <a:solidFill>
                  <a:srgbClr val="4B4B4B"/>
                </a:solidFill>
                <a:latin typeface="Arial"/>
              </a:rPr>
              <a:t>Not every mode of payment is in the system; most output reports are manual.</a:t>
            </a:r>
          </a:p>
          <a:p>
            <a:pPr>
              <a:spcAft>
                <a:spcPts val="100"/>
              </a:spcAft>
            </a:pPr>
            <a:r>
              <a:rPr sz="1200" b="0">
                <a:solidFill>
                  <a:srgbClr val="0072D8"/>
                </a:solidFill>
                <a:latin typeface="Arial"/>
              </a:rPr>
              <a:t>BRD-5 p.45, B b, f</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Unbalanced entries not prevented</a:t>
            </a:r>
          </a:p>
          <a:p>
            <a:pPr>
              <a:spcAft>
                <a:spcPts val="100"/>
              </a:spcAft>
            </a:pPr>
            <a:r>
              <a:rPr sz="1200" b="0">
                <a:solidFill>
                  <a:srgbClr val="4B4B4B"/>
                </a:solidFill>
                <a:latin typeface="Arial"/>
              </a:rPr>
              <a:t>Some accounting entries are keyed by hand.</a:t>
            </a:r>
          </a:p>
          <a:p>
            <a:pPr>
              <a:spcAft>
                <a:spcPts val="100"/>
              </a:spcAft>
            </a:pPr>
            <a:r>
              <a:rPr sz="1200" b="0">
                <a:solidFill>
                  <a:srgbClr val="0072D8"/>
                </a:solidFill>
                <a:latin typeface="Arial"/>
              </a:rPr>
              <a:t>BRD-5 p.44, A d-e</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Corrections by another unit</a:t>
            </a:r>
          </a:p>
          <a:p>
            <a:pPr>
              <a:spcAft>
                <a:spcPts val="100"/>
              </a:spcAft>
            </a:pPr>
            <a:r>
              <a:rPr sz="1200" b="0">
                <a:solidFill>
                  <a:srgbClr val="4B4B4B"/>
                </a:solidFill>
                <a:latin typeface="Arial"/>
              </a:rPr>
              <a:t>Correction and reversal entries are processed manually and posted by a separate unit.</a:t>
            </a:r>
          </a:p>
          <a:p>
            <a:pPr>
              <a:spcAft>
                <a:spcPts val="100"/>
              </a:spcAft>
            </a:pPr>
            <a:r>
              <a:rPr sz="1200" b="0">
                <a:solidFill>
                  <a:srgbClr val="0072D8"/>
                </a:solidFill>
                <a:latin typeface="Arial"/>
              </a:rPr>
              <a:t>BRD-5 p.45, C b-c</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Cancellations get a new invoice number</a:t>
            </a:r>
          </a:p>
          <a:p>
            <a:pPr>
              <a:spcAft>
                <a:spcPts val="100"/>
              </a:spcAft>
            </a:pPr>
            <a:r>
              <a:rPr sz="1200" b="0">
                <a:solidFill>
                  <a:srgbClr val="4B4B4B"/>
                </a:solidFill>
                <a:latin typeface="Arial"/>
              </a:rPr>
              <a:t>Related transactions cannot be followed under one number; reports lack source references.</a:t>
            </a:r>
          </a:p>
          <a:p>
            <a:pPr>
              <a:spcAft>
                <a:spcPts val="100"/>
              </a:spcAft>
            </a:pPr>
            <a:r>
              <a:rPr sz="1200" b="0">
                <a:solidFill>
                  <a:srgbClr val="0072D8"/>
                </a:solidFill>
                <a:latin typeface="Arial"/>
              </a:rPr>
              <a:t>BRD-5 p.45, C d-e</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needed for input and closing</a:t>
            </a:r>
          </a:p>
          <a:p>
            <a:pPr>
              <a:spcAft>
                <a:spcPts val="100"/>
              </a:spcAft>
            </a:pPr>
            <a:r>
              <a:rPr sz="1200" b="0">
                <a:solidFill>
                  <a:srgbClr val="4B4B4B"/>
                </a:solidFill>
                <a:latin typeface="Arial"/>
              </a:rPr>
              <a:t>Input reports and the closing of the broking books depend on IT support.</a:t>
            </a:r>
          </a:p>
          <a:p>
            <a:pPr>
              <a:spcAft>
                <a:spcPts val="100"/>
              </a:spcAft>
            </a:pPr>
            <a:r>
              <a:rPr sz="1200" b="0">
                <a:solidFill>
                  <a:srgbClr val="0072D8"/>
                </a:solidFill>
                <a:latin typeface="Arial"/>
              </a:rPr>
              <a:t>BRD-5 p.44, A a; p.45, C a</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Reconciliation and reports by hand</a:t>
            </a:r>
          </a:p>
          <a:p>
            <a:pPr>
              <a:spcAft>
                <a:spcPts val="100"/>
              </a:spcAft>
            </a:pPr>
            <a:r>
              <a:rPr sz="1200" b="0">
                <a:solidFill>
                  <a:srgbClr val="4B4B4B"/>
                </a:solidFill>
                <a:latin typeface="Arial"/>
              </a:rPr>
              <a:t>Output reports are generated and reconciliations performed manually.</a:t>
            </a:r>
          </a:p>
          <a:p>
            <a:pPr>
              <a:spcAft>
                <a:spcPts val="100"/>
              </a:spcAft>
            </a:pPr>
            <a:r>
              <a:rPr sz="1200" b="0">
                <a:solidFill>
                  <a:srgbClr val="0072D8"/>
                </a:solidFill>
                <a:latin typeface="Arial"/>
              </a:rPr>
              <a:t>BRD-5 p.44, A b-c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pic>
        <p:nvPicPr>
          <p:cNvPr id="9" name="Picture 8" descr="brd05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Disbursement, accounting and ACSL in BIBS (FRS BRD-5; BRD-5 p.46-48)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2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Marketing requests by e-mail and paper</a:t>
            </a:r>
          </a:p>
        </p:txBody>
      </p:sp>
      <p:sp>
        <p:nvSpPr>
          <p:cNvPr id="15" name="Right Arrow 14"/>
          <p:cNvSpPr/>
          <p:nvPr/>
        </p:nvSpPr>
        <p:spPr>
          <a:xfrm>
            <a:off x="4736592" y="168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RRF and RFP in BIBS with documents; Marketing (and HR) approval routes them to Disbursement</a:t>
            </a:r>
          </a:p>
        </p:txBody>
      </p:sp>
      <p:sp>
        <p:nvSpPr>
          <p:cNvPr id="18" name="TextBox 17"/>
          <p:cNvSpPr txBox="1"/>
          <p:nvPr/>
        </p:nvSpPr>
        <p:spPr>
          <a:xfrm>
            <a:off x="9665208" y="157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paper hand-over</a:t>
            </a:r>
          </a:p>
        </p:txBody>
      </p:sp>
      <p:sp>
        <p:nvSpPr>
          <p:cNvPr id="19" name="Oval 18"/>
          <p:cNvSpPr/>
          <p:nvPr/>
        </p:nvSpPr>
        <p:spPr>
          <a:xfrm>
            <a:off x="548640" y="213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08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08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received by hand</a:t>
            </a:r>
          </a:p>
        </p:txBody>
      </p:sp>
      <p:sp>
        <p:nvSpPr>
          <p:cNvPr id="22" name="Right Arrow 21"/>
          <p:cNvSpPr/>
          <p:nvPr/>
        </p:nvSpPr>
        <p:spPr>
          <a:xfrm>
            <a:off x="4736592" y="218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08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08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from other modules, uploads and encoding in one intake</a:t>
            </a:r>
          </a:p>
        </p:txBody>
      </p:sp>
      <p:sp>
        <p:nvSpPr>
          <p:cNvPr id="25" name="TextBox 24"/>
          <p:cNvSpPr txBox="1"/>
          <p:nvPr/>
        </p:nvSpPr>
        <p:spPr>
          <a:xfrm>
            <a:off x="9665208" y="208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request queue</a:t>
            </a:r>
          </a:p>
        </p:txBody>
      </p:sp>
      <p:sp>
        <p:nvSpPr>
          <p:cNvPr id="26" name="Oval 25"/>
          <p:cNvSpPr/>
          <p:nvPr/>
        </p:nvSpPr>
        <p:spPr>
          <a:xfrm>
            <a:off x="548640" y="264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58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58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processing and CWT tagging</a:t>
            </a:r>
          </a:p>
        </p:txBody>
      </p:sp>
      <p:sp>
        <p:nvSpPr>
          <p:cNvPr id="29" name="Right Arrow 28"/>
          <p:cNvSpPr/>
          <p:nvPr/>
        </p:nvSpPr>
        <p:spPr>
          <a:xfrm>
            <a:off x="4736592" y="269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58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58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DV and proforma entry created by BIBS; approval in the workflow; payees for every mode</a:t>
            </a:r>
          </a:p>
        </p:txBody>
      </p:sp>
      <p:sp>
        <p:nvSpPr>
          <p:cNvPr id="32" name="TextBox 31"/>
          <p:cNvSpPr txBox="1"/>
          <p:nvPr/>
        </p:nvSpPr>
        <p:spPr>
          <a:xfrm>
            <a:off x="9665208" y="258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Verifier plus two approvers</a:t>
            </a:r>
          </a:p>
        </p:txBody>
      </p:sp>
      <p:sp>
        <p:nvSpPr>
          <p:cNvPr id="33" name="Oval 32"/>
          <p:cNvSpPr/>
          <p:nvPr/>
        </p:nvSpPr>
        <p:spPr>
          <a:xfrm>
            <a:off x="548640" y="314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09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09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methods not all integrated</a:t>
            </a:r>
          </a:p>
        </p:txBody>
      </p:sp>
      <p:sp>
        <p:nvSpPr>
          <p:cNvPr id="36" name="Right Arrow 35"/>
          <p:cNvSpPr/>
          <p:nvPr/>
        </p:nvSpPr>
        <p:spPr>
          <a:xfrm>
            <a:off x="4736592" y="320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09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09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Seven payment modes with instrument life cycles; end-of-day files and forms</a:t>
            </a:r>
          </a:p>
        </p:txBody>
      </p:sp>
      <p:sp>
        <p:nvSpPr>
          <p:cNvPr id="39" name="TextBox 38"/>
          <p:cNvSpPr txBox="1"/>
          <p:nvPr/>
        </p:nvSpPr>
        <p:spPr>
          <a:xfrm>
            <a:off x="9665208" y="309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Statuses tagged by bank file</a:t>
            </a:r>
          </a:p>
        </p:txBody>
      </p:sp>
      <p:sp>
        <p:nvSpPr>
          <p:cNvPr id="40" name="Oval 39"/>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604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604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Unbalanced entries not prevented</a:t>
            </a:r>
          </a:p>
        </p:txBody>
      </p:sp>
      <p:sp>
        <p:nvSpPr>
          <p:cNvPr id="43" name="Right Arrow 42"/>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604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604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Validator refuses unbalanced entries and flags negative balances; accruals reverse automatically</a:t>
            </a:r>
          </a:p>
        </p:txBody>
      </p:sp>
      <p:sp>
        <p:nvSpPr>
          <p:cNvPr id="46" name="TextBox 45"/>
          <p:cNvSpPr txBox="1"/>
          <p:nvPr/>
        </p:nvSpPr>
        <p:spPr>
          <a:xfrm>
            <a:off x="9665208" y="3604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Debit = credit enforced</a:t>
            </a:r>
          </a:p>
        </p:txBody>
      </p:sp>
      <p:sp>
        <p:nvSpPr>
          <p:cNvPr id="47" name="Oval 46"/>
          <p:cNvSpPr/>
          <p:nvPr/>
        </p:nvSpPr>
        <p:spPr>
          <a:xfrm>
            <a:off x="548640" y="416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11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11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Corrections by another unit</a:t>
            </a:r>
          </a:p>
        </p:txBody>
      </p:sp>
      <p:sp>
        <p:nvSpPr>
          <p:cNvPr id="50" name="Right Arrow 49"/>
          <p:cNvSpPr/>
          <p:nvPr/>
        </p:nvSpPr>
        <p:spPr>
          <a:xfrm>
            <a:off x="4736592" y="422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11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11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ACSL corrections post on approval to the sub-ledger and the invoice ledger</a:t>
            </a:r>
          </a:p>
        </p:txBody>
      </p:sp>
      <p:sp>
        <p:nvSpPr>
          <p:cNvPr id="53" name="TextBox 52"/>
          <p:cNvSpPr txBox="1"/>
          <p:nvPr/>
        </p:nvSpPr>
        <p:spPr>
          <a:xfrm>
            <a:off x="9665208" y="411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Posting on approval</a:t>
            </a:r>
          </a:p>
        </p:txBody>
      </p:sp>
      <p:sp>
        <p:nvSpPr>
          <p:cNvPr id="54" name="Oval 53"/>
          <p:cNvSpPr/>
          <p:nvPr/>
        </p:nvSpPr>
        <p:spPr>
          <a:xfrm>
            <a:off x="548640" y="467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462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462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Cancellations get a new invoice number</a:t>
            </a:r>
          </a:p>
        </p:txBody>
      </p:sp>
      <p:sp>
        <p:nvSpPr>
          <p:cNvPr id="57" name="Right Arrow 56"/>
          <p:cNvSpPr/>
          <p:nvPr/>
        </p:nvSpPr>
        <p:spPr>
          <a:xfrm>
            <a:off x="4736592" y="472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462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462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related transaction carries one root invoice number; source references in reports</a:t>
            </a:r>
          </a:p>
        </p:txBody>
      </p:sp>
      <p:sp>
        <p:nvSpPr>
          <p:cNvPr id="60" name="TextBox 59"/>
          <p:cNvSpPr txBox="1"/>
          <p:nvPr/>
        </p:nvSpPr>
        <p:spPr>
          <a:xfrm>
            <a:off x="9665208" y="462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invoice family</a:t>
            </a:r>
          </a:p>
        </p:txBody>
      </p:sp>
      <p:sp>
        <p:nvSpPr>
          <p:cNvPr id="61" name="Oval 60"/>
          <p:cNvSpPr/>
          <p:nvPr/>
        </p:nvSpPr>
        <p:spPr>
          <a:xfrm>
            <a:off x="548640" y="518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12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12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needed for input and closing</a:t>
            </a:r>
          </a:p>
        </p:txBody>
      </p:sp>
      <p:sp>
        <p:nvSpPr>
          <p:cNvPr id="64" name="Right Arrow 63"/>
          <p:cNvSpPr/>
          <p:nvPr/>
        </p:nvSpPr>
        <p:spPr>
          <a:xfrm>
            <a:off x="4736592" y="523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12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12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run input reports; broking books close by a scheduled job</a:t>
            </a:r>
          </a:p>
        </p:txBody>
      </p:sp>
      <p:sp>
        <p:nvSpPr>
          <p:cNvPr id="67" name="TextBox 66"/>
          <p:cNvSpPr txBox="1"/>
          <p:nvPr/>
        </p:nvSpPr>
        <p:spPr>
          <a:xfrm>
            <a:off x="9665208" y="512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IT request</a:t>
            </a:r>
          </a:p>
        </p:txBody>
      </p:sp>
      <p:sp>
        <p:nvSpPr>
          <p:cNvPr id="68" name="Oval 67"/>
          <p:cNvSpPr/>
          <p:nvPr/>
        </p:nvSpPr>
        <p:spPr>
          <a:xfrm>
            <a:off x="548640" y="568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69" name="Rounded Rectangle 68"/>
          <p:cNvSpPr/>
          <p:nvPr/>
        </p:nvSpPr>
        <p:spPr>
          <a:xfrm>
            <a:off x="1005840" y="563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1560" y="563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Reconciliation and reports by hand</a:t>
            </a:r>
          </a:p>
        </p:txBody>
      </p:sp>
      <p:sp>
        <p:nvSpPr>
          <p:cNvPr id="71" name="Right Arrow 70"/>
          <p:cNvSpPr/>
          <p:nvPr/>
        </p:nvSpPr>
        <p:spPr>
          <a:xfrm>
            <a:off x="4736592" y="574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074920" y="563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20640" y="563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Bank file matched on check number and amount; reports on demand</a:t>
            </a:r>
          </a:p>
        </p:txBody>
      </p:sp>
      <p:sp>
        <p:nvSpPr>
          <p:cNvPr id="74" name="TextBox 73"/>
          <p:cNvSpPr txBox="1"/>
          <p:nvPr/>
        </p:nvSpPr>
        <p:spPr>
          <a:xfrm>
            <a:off x="9665208" y="563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Reports 10-20 s (p.133-137)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invoice number or a root number</a:t>
                      </a:r>
                    </a:p>
                  </a:txBody>
                  <a:tcPr marL="64008" marR="64008" marT="27432" marB="27432" anchor="ctr">
                    <a:solidFill>
                      <a:srgbClr val="FFFFFF"/>
                    </a:solidFill>
                  </a:tcPr>
                </a:tc>
                <a:tc>
                  <a:txBody>
                    <a:bodyPr wrap="square"/>
                    <a:lstStyle/>
                    <a:p>
                      <a:r>
                        <a:rPr sz="1100" b="0">
                          <a:solidFill>
                            <a:srgbClr val="4B4B4B"/>
                          </a:solidFill>
                          <a:latin typeface="Arial"/>
                        </a:rPr>
                        <a:t>BIR invoice uniqueness against one reference per policy</a:t>
                      </a:r>
                    </a:p>
                  </a:txBody>
                  <a:tcPr marL="64008" marR="64008" marT="27432" marB="27432" anchor="ctr">
                    <a:solidFill>
                      <a:srgbClr val="FFFFFF"/>
                    </a:solidFill>
                  </a:tcPr>
                </a:tc>
                <a:tc>
                  <a:txBody>
                    <a:bodyPr wrap="square"/>
                    <a:lstStyle/>
                    <a:p>
                      <a:r>
                        <a:rPr sz="1100" b="0">
                          <a:solidFill>
                            <a:srgbClr val="4B4B4B"/>
                          </a:solidFill>
                          <a:latin typeface="Arial"/>
                        </a:rPr>
                        <a:t>Comptrollership (ACSL)</a:t>
                      </a:r>
                    </a:p>
                  </a:txBody>
                  <a:tcPr marL="64008" marR="64008" marT="27432" marB="27432" anchor="ctr">
                    <a:solidFill>
                      <a:srgbClr val="FFFFFF"/>
                    </a:solidFill>
                  </a:tcPr>
                </a:tc>
                <a:tc>
                  <a:txBody>
                    <a:bodyPr wrap="square"/>
                    <a:lstStyle/>
                    <a:p>
                      <a:r>
                        <a:rPr sz="1100" b="0">
                          <a:solidFill>
                            <a:srgbClr val="4B4B4B"/>
                          </a:solidFill>
                          <a:latin typeface="Arial"/>
                        </a:rPr>
                        <a:t>Accept a root invoice number linking related documents</a:t>
                      </a:r>
                    </a:p>
                  </a:txBody>
                  <a:tcPr marL="64008" marR="64008" marT="27432" marB="27432" anchor="ctr">
                    <a:solidFill>
                      <a:srgbClr val="FFFFFF"/>
                    </a:solidFill>
                  </a:tcPr>
                </a:tc>
                <a:tc>
                  <a:txBody>
                    <a:bodyPr wrap="square"/>
                    <a:lstStyle/>
                    <a:p>
                      <a:r>
                        <a:rPr sz="1100" b="0">
                          <a:solidFill>
                            <a:srgbClr val="4B4B4B"/>
                          </a:solidFill>
                          <a:latin typeface="Arial"/>
                        </a:rPr>
                        <a:t>DCR-058, AQ29</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programmes (CPC2 and early incentive)</a:t>
                      </a:r>
                    </a:p>
                  </a:txBody>
                  <a:tcPr marL="64008" marR="64008" marT="27432" marB="27432" anchor="ctr">
                    <a:solidFill>
                      <a:srgbClr val="E5F5FF"/>
                    </a:solidFill>
                  </a:tcPr>
                </a:tc>
                <a:tc>
                  <a:txBody>
                    <a:bodyPr wrap="square"/>
                    <a:lstStyle/>
                    <a:p>
                      <a:r>
                        <a:rPr sz="1100" b="0">
                          <a:solidFill>
                            <a:srgbClr val="4B4B4B"/>
                          </a:solidFill>
                          <a:latin typeface="Arial"/>
                        </a:rPr>
                        <a:t>Incentive income and service invoices</a:t>
                      </a:r>
                    </a:p>
                  </a:txBody>
                  <a:tcPr marL="64008" marR="64008" marT="27432" marB="27432" anchor="ctr">
                    <a:solidFill>
                      <a:srgbClr val="E5F5FF"/>
                    </a:solidFill>
                  </a:tcPr>
                </a:tc>
                <a:tc>
                  <a:txBody>
                    <a:bodyPr wrap="square"/>
                    <a:lstStyle/>
                    <a:p>
                      <a:r>
                        <a:rPr sz="1100" b="0">
                          <a:solidFill>
                            <a:srgbClr val="4B4B4B"/>
                          </a:solidFill>
                          <a:latin typeface="Arial"/>
                        </a:rPr>
                        <a:t>Comptrollership, MBS, Operations</a:t>
                      </a:r>
                    </a:p>
                  </a:txBody>
                  <a:tcPr marL="64008" marR="64008" marT="27432" marB="27432" anchor="ctr">
                    <a:solidFill>
                      <a:srgbClr val="E5F5FF"/>
                    </a:solidFill>
                  </a:tcPr>
                </a:tc>
                <a:tc>
                  <a:txBody>
                    <a:bodyPr wrap="square"/>
                    <a:lstStyle/>
                    <a:p>
                      <a:r>
                        <a:rPr sz="1100" b="0">
                          <a:solidFill>
                            <a:srgbClr val="4B4B4B"/>
                          </a:solidFill>
                          <a:latin typeface="Arial"/>
                        </a:rPr>
                        <a:t>Rates, base, payer, service invoice per programme</a:t>
                      </a:r>
                    </a:p>
                  </a:txBody>
                  <a:tcPr marL="64008" marR="64008" marT="27432" marB="27432" anchor="ctr">
                    <a:solidFill>
                      <a:srgbClr val="E5F5FF"/>
                    </a:solidFill>
                  </a:tcPr>
                </a:tc>
                <a:tc>
                  <a:txBody>
                    <a:bodyPr wrap="square"/>
                    <a:lstStyle/>
                    <a:p>
                      <a:r>
                        <a:rPr sz="1100" b="0">
                          <a:solidFill>
                            <a:srgbClr val="4B4B4B"/>
                          </a:solidFill>
                          <a:latin typeface="Arial"/>
                        </a:rPr>
                        <a:t>DCR-037, AQ24</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Payee master and open items at go-live</a:t>
                      </a:r>
                    </a:p>
                  </a:txBody>
                  <a:tcPr marL="64008" marR="64008" marT="27432" marB="27432" anchor="ctr">
                    <a:solidFill>
                      <a:srgbClr val="FFFFFF"/>
                    </a:solidFill>
                  </a:tcPr>
                </a:tc>
                <a:tc>
                  <a:txBody>
                    <a:bodyPr wrap="square"/>
                    <a:lstStyle/>
                    <a:p>
                      <a:r>
                        <a:rPr sz="1100" b="0">
                          <a:solidFill>
                            <a:srgbClr val="4B4B4B"/>
                          </a:solidFill>
                          <a:latin typeface="Arial"/>
                        </a:rPr>
                        <a:t>Disbursement cannot start without payees</a:t>
                      </a:r>
                    </a:p>
                  </a:txBody>
                  <a:tcPr marL="64008" marR="64008" marT="27432" marB="27432" anchor="ctr">
                    <a:solidFill>
                      <a:srgbClr val="FFFFFF"/>
                    </a:solidFill>
                  </a:tcPr>
                </a:tc>
                <a:tc>
                  <a:txBody>
                    <a:bodyPr wrap="square"/>
                    <a:lstStyle/>
                    <a:p>
                      <a:r>
                        <a:rPr sz="1100" b="0">
                          <a:solidFill>
                            <a:srgbClr val="4B4B4B"/>
                          </a:solidFill>
                          <a:latin typeface="Arial"/>
                        </a:rPr>
                        <a:t>Comptrollership</a:t>
                      </a:r>
                    </a:p>
                  </a:txBody>
                  <a:tcPr marL="64008" marR="64008" marT="27432" marB="27432" anchor="ctr">
                    <a:solidFill>
                      <a:srgbClr val="FFFFFF"/>
                    </a:solidFill>
                  </a:tcPr>
                </a:tc>
                <a:tc>
                  <a:txBody>
                    <a:bodyPr wrap="square"/>
                    <a:lstStyle/>
                    <a:p>
                      <a:r>
                        <a:rPr sz="1100" b="0">
                          <a:solidFill>
                            <a:srgbClr val="4B4B4B"/>
                          </a:solidFill>
                          <a:latin typeface="Arial"/>
                        </a:rPr>
                        <a:t>Migration file, cut-off and reconciliation</a:t>
                      </a:r>
                    </a:p>
                  </a:txBody>
                  <a:tcPr marL="64008" marR="64008" marT="27432" marB="27432" anchor="ctr">
                    <a:solidFill>
                      <a:srgbClr val="FFFFFF"/>
                    </a:solidFill>
                  </a:tcPr>
                </a:tc>
                <a:tc>
                  <a:txBody>
                    <a:bodyPr wrap="square"/>
                    <a:lstStyle/>
                    <a:p>
                      <a:r>
                        <a:rPr sz="1100" b="0">
                          <a:solidFill>
                            <a:srgbClr val="4B4B4B"/>
                          </a:solidFill>
                          <a:latin typeface="Arial"/>
                        </a:rPr>
                        <a:t>DCR-157, AQ11</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GL month-end closing rule</a:t>
                      </a:r>
                    </a:p>
                  </a:txBody>
                  <a:tcPr marL="64008" marR="64008" marT="27432" marB="27432" anchor="ctr">
                    <a:solidFill>
                      <a:srgbClr val="E5F5FF"/>
                    </a:solidFill>
                  </a:tcPr>
                </a:tc>
                <a:tc>
                  <a:txBody>
                    <a:bodyPr wrap="square"/>
                    <a:lstStyle/>
                    <a:p>
                      <a:r>
                        <a:rPr sz="1100" b="0">
                          <a:solidFill>
                            <a:srgbClr val="4B4B4B"/>
                          </a:solidFill>
                          <a:latin typeface="Arial"/>
                        </a:rPr>
                        <a:t>Close date, reopening, period controls</a:t>
                      </a:r>
                    </a:p>
                  </a:txBody>
                  <a:tcPr marL="64008" marR="64008" marT="27432" marB="27432" anchor="ctr">
                    <a:solidFill>
                      <a:srgbClr val="E5F5FF"/>
                    </a:solidFill>
                  </a:tcPr>
                </a:tc>
                <a:tc>
                  <a:txBody>
                    <a:bodyPr wrap="square"/>
                    <a:lstStyle/>
                    <a:p>
                      <a:r>
                        <a:rPr sz="1100" b="0">
                          <a:solidFill>
                            <a:srgbClr val="4B4B4B"/>
                          </a:solidFill>
                          <a:latin typeface="Arial"/>
                        </a:rPr>
                        <a:t>FRBS</a:t>
                      </a:r>
                    </a:p>
                  </a:txBody>
                  <a:tcPr marL="64008" marR="64008" marT="27432" marB="27432" anchor="ctr">
                    <a:solidFill>
                      <a:srgbClr val="E5F5FF"/>
                    </a:solidFill>
                  </a:tcPr>
                </a:tc>
                <a:tc>
                  <a:txBody>
                    <a:bodyPr wrap="square"/>
                    <a:lstStyle/>
                    <a:p>
                      <a:r>
                        <a:rPr sz="1100" b="0">
                          <a:solidFill>
                            <a:srgbClr val="4B4B4B"/>
                          </a:solidFill>
                          <a:latin typeface="Arial"/>
                        </a:rPr>
                        <a:t>2nd banking day or a preferred date; can a month reopen?</a:t>
                      </a:r>
                    </a:p>
                  </a:txBody>
                  <a:tcPr marL="64008" marR="64008" marT="27432" marB="27432" anchor="ctr">
                    <a:solidFill>
                      <a:srgbClr val="E5F5FF"/>
                    </a:solidFill>
                  </a:tcPr>
                </a:tc>
                <a:tc>
                  <a:txBody>
                    <a:bodyPr wrap="square"/>
                    <a:lstStyle/>
                    <a:p>
                      <a:r>
                        <a:rPr sz="1100" b="0">
                          <a:solidFill>
                            <a:srgbClr val="4B4B4B"/>
                          </a:solidFill>
                          <a:latin typeface="Arial"/>
                        </a:rPr>
                        <a:t>DCR-054, AQ04</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RRF and RFP mandatory fields</a:t>
                      </a:r>
                    </a:p>
                  </a:txBody>
                  <a:tcPr marL="64008" marR="64008" marT="27432" marB="27432" anchor="ctr">
                    <a:solidFill>
                      <a:srgbClr val="FFFFFF"/>
                    </a:solidFill>
                  </a:tcPr>
                </a:tc>
                <a:tc>
                  <a:txBody>
                    <a:bodyPr wrap="square"/>
                    <a:lstStyle/>
                    <a:p>
                      <a:r>
                        <a:rPr sz="1100" b="0">
                          <a:solidFill>
                            <a:srgbClr val="4B4B4B"/>
                          </a:solidFill>
                          <a:latin typeface="Arial"/>
                        </a:rPr>
                        <a:t>Marketing request screens and tests</a:t>
                      </a:r>
                    </a:p>
                  </a:txBody>
                  <a:tcPr marL="64008" marR="64008" marT="27432" marB="27432" anchor="ctr">
                    <a:solidFill>
                      <a:srgbClr val="FFFFFF"/>
                    </a:solidFill>
                  </a:tcPr>
                </a:tc>
                <a:tc>
                  <a:txBody>
                    <a:bodyPr wrap="square"/>
                    <a:lstStyle/>
                    <a:p>
                      <a:r>
                        <a:rPr sz="1100" b="0">
                          <a:solidFill>
                            <a:srgbClr val="4B4B4B"/>
                          </a:solidFill>
                          <a:latin typeface="Arial"/>
                        </a:rPr>
                        <a:t>Comptrollership, Marketing</a:t>
                      </a:r>
                    </a:p>
                  </a:txBody>
                  <a:tcPr marL="64008" marR="64008" marT="27432" marB="27432" anchor="ctr">
                    <a:solidFill>
                      <a:srgbClr val="FFFFFF"/>
                    </a:solidFill>
                  </a:tcPr>
                </a:tc>
                <a:tc>
                  <a:txBody>
                    <a:bodyPr wrap="square"/>
                    <a:lstStyle/>
                    <a:p>
                      <a:r>
                        <a:rPr sz="1100" b="0">
                          <a:solidFill>
                            <a:srgbClr val="4B4B4B"/>
                          </a:solidFill>
                          <a:latin typeface="Arial"/>
                        </a:rPr>
                        <a:t>Mandatory fields and approval chain per segment</a:t>
                      </a:r>
                    </a:p>
                  </a:txBody>
                  <a:tcPr marL="64008" marR="64008" marT="27432" marB="27432" anchor="ctr">
                    <a:solidFill>
                      <a:srgbClr val="FFFFFF"/>
                    </a:solidFill>
                  </a:tcPr>
                </a:tc>
                <a:tc>
                  <a:txBody>
                    <a:bodyPr wrap="square"/>
                    <a:lstStyle/>
                    <a:p>
                      <a:r>
                        <a:rPr sz="1100" b="0">
                          <a:solidFill>
                            <a:srgbClr val="4B4B4B"/>
                          </a:solidFill>
                          <a:latin typeface="Arial"/>
                        </a:rPr>
                        <a:t>DCR-052, AQ18</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On hold</a:t>
                      </a:r>
                    </a:p>
                  </a:txBody>
                  <a:tcPr marL="64008" marR="64008" marT="27432" marB="27432" anchor="ctr">
                    <a:solidFill>
                      <a:srgbClr val="EDE7F6"/>
                    </a:solidFill>
                  </a:tcPr>
                </a:tc>
                <a:tc>
                  <a:txBody>
                    <a:bodyPr wrap="square"/>
                    <a:lstStyle/>
                    <a:p>
                      <a:r>
                        <a:rPr sz="1100" b="0">
                          <a:solidFill>
                            <a:srgbClr val="4B4B4B"/>
                          </a:solidFill>
                          <a:latin typeface="Arial"/>
                        </a:rPr>
                        <a:t>BDO Business Online Banking and DCTF channel</a:t>
                      </a:r>
                    </a:p>
                  </a:txBody>
                  <a:tcPr marL="64008" marR="64008" marT="27432" marB="27432" anchor="ctr">
                    <a:solidFill>
                      <a:srgbClr val="E5F5FF"/>
                    </a:solidFill>
                  </a:tcPr>
                </a:tc>
                <a:tc>
                  <a:txBody>
                    <a:bodyPr wrap="square"/>
                    <a:lstStyle/>
                    <a:p>
                      <a:r>
                        <a:rPr sz="1100" b="0">
                          <a:solidFill>
                            <a:srgbClr val="4B4B4B"/>
                          </a:solidFill>
                          <a:latin typeface="Arial"/>
                        </a:rPr>
                        <a:t>Funding approvals confirmed by hand or file</a:t>
                      </a:r>
                    </a:p>
                  </a:txBody>
                  <a:tcPr marL="64008" marR="64008" marT="27432" marB="27432" anchor="ctr">
                    <a:solidFill>
                      <a:srgbClr val="E5F5FF"/>
                    </a:solidFill>
                  </a:tcPr>
                </a:tc>
                <a:tc>
                  <a:txBody>
                    <a:bodyPr wrap="square"/>
                    <a:lstStyle/>
                    <a:p>
                      <a:r>
                        <a:rPr sz="1100" b="0">
                          <a:solidFill>
                            <a:srgbClr val="4B4B4B"/>
                          </a:solidFill>
                          <a:latin typeface="Arial"/>
                        </a:rPr>
                        <a:t>BDO IT</a:t>
                      </a:r>
                    </a:p>
                  </a:txBody>
                  <a:tcPr marL="64008" marR="64008" marT="27432" marB="27432" anchor="ctr">
                    <a:solidFill>
                      <a:srgbClr val="E5F5FF"/>
                    </a:solidFill>
                  </a:tcPr>
                </a:tc>
                <a:tc>
                  <a:txBody>
                    <a:bodyPr wrap="square"/>
                    <a:lstStyle/>
                    <a:p>
                      <a:r>
                        <a:rPr sz="1100" b="0">
                          <a:solidFill>
                            <a:srgbClr val="4B4B4B"/>
                          </a:solidFill>
                          <a:latin typeface="Arial"/>
                        </a:rPr>
                        <a:t>Channel per payment mode; DCTF specification</a:t>
                      </a:r>
                    </a:p>
                  </a:txBody>
                  <a:tcPr marL="64008" marR="64008" marT="27432" marB="27432" anchor="ctr">
                    <a:solidFill>
                      <a:srgbClr val="E5F5FF"/>
                    </a:solidFill>
                  </a:tcPr>
                </a:tc>
                <a:tc>
                  <a:txBody>
                    <a:bodyPr wrap="square"/>
                    <a:lstStyle/>
                    <a:p>
                      <a:r>
                        <a:rPr sz="1100" b="0">
                          <a:solidFill>
                            <a:srgbClr val="4B4B4B"/>
                          </a:solidFill>
                          <a:latin typeface="Arial"/>
                        </a:rPr>
                        <a:t>AQ09, AQ10</a:t>
                      </a:r>
                    </a:p>
                  </a:txBody>
                  <a:tcPr marL="64008" marR="64008" marT="27432" marB="27432" anchor="ctr">
                    <a:solidFill>
                      <a:srgbClr val="E5F5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and dual approval on payments</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DV verifier and approvers; account funding with a verifier and two approvers; maker cannot approve.</a:t>
            </a:r>
          </a:p>
          <a:p>
            <a:pPr>
              <a:spcAft>
                <a:spcPts val="400"/>
              </a:spcAft>
            </a:pPr>
            <a:r>
              <a:rPr sz="1200" b="1">
                <a:solidFill>
                  <a:srgbClr val="004EA8"/>
                </a:solidFill>
                <a:latin typeface="Arial"/>
              </a:rPr>
              <a:t>BDOI: </a:t>
            </a:r>
            <a:r>
              <a:rPr sz="1200" b="0">
                <a:solidFill>
                  <a:srgbClr val="4B4B4B"/>
                </a:solidFill>
                <a:latin typeface="Arial"/>
              </a:rPr>
              <a:t>Confirm the approvers, their order and limits (AQ10, AQ28).</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Balanced posting and a closed period</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Unbalanced entries refused; posting only to open periods; scheduled close with a checklist.</a:t>
            </a:r>
          </a:p>
          <a:p>
            <a:pPr>
              <a:spcAft>
                <a:spcPts val="400"/>
              </a:spcAft>
            </a:pPr>
            <a:r>
              <a:rPr sz="1200" b="1">
                <a:solidFill>
                  <a:srgbClr val="004EA8"/>
                </a:solidFill>
                <a:latin typeface="Arial"/>
              </a:rPr>
              <a:t>BDOI: </a:t>
            </a:r>
            <a:r>
              <a:rPr sz="1200" b="0">
                <a:solidFill>
                  <a:srgbClr val="4B4B4B"/>
                </a:solidFill>
                <a:latin typeface="Arial"/>
              </a:rPr>
              <a:t>Agree the close calendar and reopen rule (AQ04).</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bank reconciliation</a:t>
            </a:r>
          </a:p>
        </p:txBody>
      </p:sp>
      <p:sp>
        <p:nvSpPr>
          <p:cNvPr id="22" name="Rounded Rectangle 21"/>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Bank file import and matching on check number and amount.</a:t>
            </a:r>
          </a:p>
          <a:p>
            <a:pPr>
              <a:spcAft>
                <a:spcPts val="400"/>
              </a:spcAft>
            </a:pPr>
            <a:r>
              <a:rPr sz="1200" b="1">
                <a:solidFill>
                  <a:srgbClr val="004EA8"/>
                </a:solidFill>
                <a:latin typeface="Arial"/>
              </a:rPr>
              <a:t>BDOI: </a:t>
            </a:r>
            <a:r>
              <a:rPr sz="1200" b="0">
                <a:solidFill>
                  <a:srgbClr val="4B4B4B"/>
                </a:solidFill>
                <a:latin typeface="Arial"/>
              </a:rPr>
              <a:t>Give the bank file layouts per bank (AQ08).</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Sub-ledger reconciled to the GL</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GL-SL reconciliation per GL code; insurer SOA reconciled per invoice.</a:t>
            </a:r>
          </a:p>
          <a:p>
            <a:pPr>
              <a:spcAft>
                <a:spcPts val="400"/>
              </a:spcAft>
            </a:pPr>
            <a:r>
              <a:rPr sz="1200" b="1">
                <a:solidFill>
                  <a:srgbClr val="004EA8"/>
                </a:solidFill>
                <a:latin typeface="Arial"/>
              </a:rPr>
              <a:t>BDOI: </a:t>
            </a:r>
            <a:r>
              <a:rPr sz="1200" b="0">
                <a:solidFill>
                  <a:srgbClr val="4B4B4B"/>
                </a:solidFill>
                <a:latin typeface="Arial"/>
              </a:rPr>
              <a:t>Ask insurers to show the BDOI invoice number on their SOA (AQ21).</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BIR withholding and certificates from the system</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CWT tagging and BIR 2307 generated; BIR returns from the tax module.</a:t>
            </a:r>
          </a:p>
          <a:p>
            <a:pPr>
              <a:spcAft>
                <a:spcPts val="400"/>
              </a:spcAft>
            </a:pPr>
            <a:r>
              <a:rPr sz="1200" b="1">
                <a:solidFill>
                  <a:srgbClr val="004EA8"/>
                </a:solidFill>
                <a:latin typeface="Arial"/>
              </a:rPr>
              <a:t>BDOI: </a:t>
            </a:r>
            <a:r>
              <a:rPr sz="1200" b="0">
                <a:solidFill>
                  <a:srgbClr val="4B4B4B"/>
                </a:solidFill>
                <a:latin typeface="Arial"/>
              </a:rPr>
              <a:t>Confirm the BIR forms and books still required (AQ07).</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invoice family for audit</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Root invoice number carried by booking, ledger and every downstream document.</a:t>
            </a:r>
          </a:p>
          <a:p>
            <a:pPr>
              <a:spcAft>
                <a:spcPts val="400"/>
              </a:spcAft>
            </a:pPr>
            <a:r>
              <a:rPr sz="1200" b="1">
                <a:solidFill>
                  <a:srgbClr val="004EA8"/>
                </a:solidFill>
                <a:latin typeface="Arial"/>
              </a:rPr>
              <a:t>BDOI: </a:t>
            </a:r>
            <a:r>
              <a:rPr sz="1200" b="0">
                <a:solidFill>
                  <a:srgbClr val="4B4B4B"/>
                </a:solidFill>
                <a:latin typeface="Arial"/>
              </a:rPr>
              <a:t>Accept the root-number model (DCR-058).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6. Renewal</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BRD-6 | Expiring list, disposition, insurer round-trip, Renewal Advice, acceptance to booking</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and Processing (RMEL renewal)</a:t>
            </a:r>
          </a:p>
          <a:p>
            <a:pPr>
              <a:spcAft>
                <a:spcPts val="300"/>
              </a:spcAft>
            </a:pPr>
            <a:r>
              <a:rPr sz="1200" b="0">
                <a:solidFill>
                  <a:srgbClr val="004EA8"/>
                </a:solidFill>
                <a:latin typeface="Arial"/>
              </a:rPr>
              <a:t>•  </a:t>
            </a:r>
            <a:r>
              <a:rPr sz="1200" b="0">
                <a:solidFill>
                  <a:srgbClr val="4B4B4B"/>
                </a:solidFill>
                <a:latin typeface="Arial"/>
              </a:rPr>
              <a:t>Marketing Team Leader (75) and AO / Account Broker (319)</a:t>
            </a:r>
          </a:p>
          <a:p>
            <a:pPr>
              <a:spcAft>
                <a:spcPts val="300"/>
              </a:spcAft>
            </a:pPr>
            <a:r>
              <a:rPr sz="1200" b="0">
                <a:solidFill>
                  <a:srgbClr val="004EA8"/>
                </a:solidFill>
                <a:latin typeface="Arial"/>
              </a:rPr>
              <a:t>•  </a:t>
            </a:r>
            <a:r>
              <a:rPr sz="1200" b="0">
                <a:solidFill>
                  <a:srgbClr val="4B4B4B"/>
                </a:solidFill>
                <a:latin typeface="Arial"/>
              </a:rPr>
              <a:t>Processing Team Leader (50) and Processing Officer / Broker (73)</a:t>
            </a:r>
          </a:p>
          <a:p>
            <a:pPr>
              <a:spcAft>
                <a:spcPts val="300"/>
              </a:spcAft>
            </a:pPr>
            <a:r>
              <a:rPr sz="1200" b="0">
                <a:solidFill>
                  <a:srgbClr val="004EA8"/>
                </a:solidFill>
                <a:latin typeface="Arial"/>
              </a:rPr>
              <a:t>•  </a:t>
            </a:r>
            <a:r>
              <a:rPr sz="1200" b="0">
                <a:solidFill>
                  <a:srgbClr val="4B4B4B"/>
                </a:solidFill>
                <a:latin typeface="Arial"/>
              </a:rPr>
              <a:t>Contact Center user (follow-ups, remarks)</a:t>
            </a:r>
          </a:p>
          <a:p>
            <a:pPr>
              <a:spcAft>
                <a:spcPts val="300"/>
              </a:spcAft>
            </a:pPr>
            <a:r>
              <a:rPr sz="1200" b="0">
                <a:solidFill>
                  <a:srgbClr val="004EA8"/>
                </a:solidFill>
                <a:latin typeface="Arial"/>
              </a:rPr>
              <a:t>•  </a:t>
            </a:r>
            <a:r>
              <a:rPr sz="1200" b="0">
                <a:solidFill>
                  <a:srgbClr val="4B4B4B"/>
                </a:solidFill>
                <a:latin typeface="Arial"/>
              </a:rPr>
              <a:t>LAMD user (paid-off and RMU reports)</a:t>
            </a:r>
          </a:p>
          <a:p>
            <a:pPr>
              <a:spcAft>
                <a:spcPts val="300"/>
              </a:spcAft>
            </a:pPr>
            <a:r>
              <a:rPr sz="1200" b="0">
                <a:solidFill>
                  <a:srgbClr val="004EA8"/>
                </a:solidFill>
                <a:latin typeface="Arial"/>
              </a:rPr>
              <a:t>•  </a:t>
            </a:r>
            <a:r>
              <a:rPr sz="1200" b="0">
                <a:solidFill>
                  <a:srgbClr val="4B4B4B"/>
                </a:solidFill>
                <a:latin typeface="Arial"/>
              </a:rPr>
              <a:t>Clients and insurers (external)</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25,800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a month per process; growth 20% a year (p.186-188)</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485</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for reports and RA; 145 concurrent</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online; 20 s for reports and RA generation</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07-22</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 07:00-22:00 Monday to Saturday</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BRD-6 p.41-43 (current and envisioned process)</a:t>
            </a:r>
          </a:p>
          <a:p>
            <a:pPr>
              <a:spcAft>
                <a:spcPts val="300"/>
              </a:spcAft>
            </a:pPr>
            <a:r>
              <a:rPr sz="1200" b="0">
                <a:solidFill>
                  <a:srgbClr val="004EA8"/>
                </a:solidFill>
                <a:latin typeface="Arial"/>
              </a:rPr>
              <a:t>•  </a:t>
            </a:r>
            <a:r>
              <a:rPr sz="1200" b="0">
                <a:solidFill>
                  <a:srgbClr val="4B4B4B"/>
                </a:solidFill>
                <a:latin typeface="Arial"/>
              </a:rPr>
              <a:t>Workshop addendum p.3-15 (BRRN.001-040)</a:t>
            </a:r>
          </a:p>
          <a:p>
            <a:pPr>
              <a:spcAft>
                <a:spcPts val="300"/>
              </a:spcAft>
            </a:pPr>
            <a:r>
              <a:rPr sz="1200" b="0">
                <a:solidFill>
                  <a:srgbClr val="004EA8"/>
                </a:solidFill>
                <a:latin typeface="Arial"/>
              </a:rPr>
              <a:t>•  </a:t>
            </a:r>
            <a:r>
              <a:rPr sz="1200" b="0">
                <a:solidFill>
                  <a:srgbClr val="4B4B4B"/>
                </a:solidFill>
                <a:latin typeface="Arial"/>
              </a:rPr>
              <a:t>FRS BRD-6 v1.0, sections 2 and 5; cross-BRD decisions D1, D2</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Extraction</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Sanitation</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Initiation</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Disposition</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Processing</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Insurer</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Renewal Advice</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pic>
        <p:nvPicPr>
          <p:cNvPr id="9" name="Picture 8" descr="brd06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Renewal today (BRD-6 p.42-43; workshop addendum p.3)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extracts the expiring list</a:t>
            </a:r>
          </a:p>
          <a:p>
            <a:pPr>
              <a:spcAft>
                <a:spcPts val="100"/>
              </a:spcAft>
            </a:pPr>
            <a:r>
              <a:rPr sz="1200" b="0">
                <a:solidFill>
                  <a:srgbClr val="4B4B4B"/>
                </a:solidFill>
                <a:latin typeface="Arial"/>
              </a:rPr>
              <a:t>The RMEL list depends on an IT extraction.</a:t>
            </a:r>
          </a:p>
          <a:p>
            <a:pPr>
              <a:spcAft>
                <a:spcPts val="100"/>
              </a:spcAft>
            </a:pPr>
            <a:r>
              <a:rPr sz="1200" b="0">
                <a:solidFill>
                  <a:srgbClr val="0072D8"/>
                </a:solidFill>
                <a:latin typeface="Arial"/>
              </a:rPr>
              <a:t>BRD-6 p.42; BRRN.002, 005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pre-cleaning</a:t>
            </a:r>
          </a:p>
          <a:p>
            <a:pPr>
              <a:spcAft>
                <a:spcPts val="100"/>
              </a:spcAft>
            </a:pPr>
            <a:r>
              <a:rPr sz="1200" b="0">
                <a:solidFill>
                  <a:srgbClr val="4B4B4B"/>
                </a:solidFill>
                <a:latin typeface="Arial"/>
              </a:rPr>
              <a:t>Eligibility depends on cleaning the list by hand before disposition.</a:t>
            </a:r>
          </a:p>
          <a:p>
            <a:pPr>
              <a:spcAft>
                <a:spcPts val="100"/>
              </a:spcAft>
            </a:pPr>
            <a:r>
              <a:rPr sz="1200" b="0">
                <a:solidFill>
                  <a:srgbClr val="0072D8"/>
                </a:solidFill>
                <a:latin typeface="Arial"/>
              </a:rPr>
              <a:t>Workshop addendum p.3; BRRN.009, 020</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 in a spreadsheet</a:t>
            </a:r>
          </a:p>
          <a:p>
            <a:pPr>
              <a:spcAft>
                <a:spcPts val="100"/>
              </a:spcAft>
            </a:pPr>
            <a:r>
              <a:rPr sz="1200" b="0">
                <a:solidFill>
                  <a:srgbClr val="4B4B4B"/>
                </a:solidFill>
                <a:latin typeface="Arial"/>
              </a:rPr>
              <a:t>Marketing records the disposition of each account in Excel.</a:t>
            </a:r>
          </a:p>
          <a:p>
            <a:pPr>
              <a:spcAft>
                <a:spcPts val="100"/>
              </a:spcAft>
            </a:pPr>
            <a:r>
              <a:rPr sz="1200" b="0">
                <a:solidFill>
                  <a:srgbClr val="0072D8"/>
                </a:solidFill>
                <a:latin typeface="Arial"/>
              </a:rPr>
              <a:t>BRD-6 p.42; BRD 2.004</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Hand-offs by e-mail</a:t>
            </a:r>
          </a:p>
          <a:p>
            <a:pPr>
              <a:spcAft>
                <a:spcPts val="100"/>
              </a:spcAft>
            </a:pPr>
            <a:r>
              <a:rPr sz="1200" b="0">
                <a:solidFill>
                  <a:srgbClr val="4B4B4B"/>
                </a:solidFill>
                <a:latin typeface="Arial"/>
              </a:rPr>
              <a:t>Marketing and Processing communicate by e-mail; no stage or assignment.</a:t>
            </a:r>
          </a:p>
          <a:p>
            <a:pPr>
              <a:spcAft>
                <a:spcPts val="100"/>
              </a:spcAft>
            </a:pPr>
            <a:r>
              <a:rPr sz="1200" b="0">
                <a:solidFill>
                  <a:srgbClr val="0072D8"/>
                </a:solidFill>
                <a:latin typeface="Arial"/>
              </a:rPr>
              <a:t>BRD-6 p.42</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Accounts to insurers from Excel</a:t>
            </a:r>
          </a:p>
          <a:p>
            <a:pPr>
              <a:spcAft>
                <a:spcPts val="100"/>
              </a:spcAft>
            </a:pPr>
            <a:r>
              <a:rPr sz="1200" b="0">
                <a:solidFill>
                  <a:srgbClr val="4B4B4B"/>
                </a:solidFill>
                <a:latin typeface="Arial"/>
              </a:rPr>
              <a:t>Accounts are sent to insurers by e-mail from Excel files.</a:t>
            </a:r>
          </a:p>
          <a:p>
            <a:pPr>
              <a:spcAft>
                <a:spcPts val="100"/>
              </a:spcAft>
            </a:pPr>
            <a:r>
              <a:rPr sz="1200" b="0">
                <a:solidFill>
                  <a:srgbClr val="0072D8"/>
                </a:solidFill>
                <a:latin typeface="Arial"/>
              </a:rPr>
              <a:t>BRD-6 p.42; BRD 3.009</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RA text file for packages only</a:t>
            </a:r>
          </a:p>
          <a:p>
            <a:pPr>
              <a:spcAft>
                <a:spcPts val="100"/>
              </a:spcAft>
            </a:pPr>
            <a:r>
              <a:rPr sz="1200" b="0">
                <a:solidFill>
                  <a:srgbClr val="4B4B4B"/>
                </a:solidFill>
                <a:latin typeface="Arial"/>
              </a:rPr>
              <a:t>The IT text file and the QPS upload cover packaged accounts only.</a:t>
            </a:r>
          </a:p>
          <a:p>
            <a:pPr>
              <a:spcAft>
                <a:spcPts val="100"/>
              </a:spcAft>
            </a:pPr>
            <a:r>
              <a:rPr sz="1200" b="0">
                <a:solidFill>
                  <a:srgbClr val="0072D8"/>
                </a:solidFill>
                <a:latin typeface="Arial"/>
              </a:rPr>
              <a:t>BRD-6 p.42; BRRN.010</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monitored by hand</a:t>
            </a:r>
          </a:p>
          <a:p>
            <a:pPr>
              <a:spcAft>
                <a:spcPts val="100"/>
              </a:spcAft>
            </a:pPr>
            <a:r>
              <a:rPr sz="1200" b="0">
                <a:solidFill>
                  <a:srgbClr val="4B4B4B"/>
                </a:solidFill>
                <a:latin typeface="Arial"/>
              </a:rPr>
              <a:t>No status report or summary counters.</a:t>
            </a:r>
          </a:p>
          <a:p>
            <a:pPr>
              <a:spcAft>
                <a:spcPts val="100"/>
              </a:spcAft>
            </a:pPr>
            <a:r>
              <a:rPr sz="1200" b="0">
                <a:solidFill>
                  <a:srgbClr val="0072D8"/>
                </a:solidFill>
                <a:latin typeface="Arial"/>
              </a:rPr>
              <a:t>BRD-6 p.42-43; BRRN.019, 036</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Accepted renewals re-keyed</a:t>
            </a:r>
          </a:p>
          <a:p>
            <a:pPr>
              <a:spcAft>
                <a:spcPts val="100"/>
              </a:spcAft>
            </a:pPr>
            <a:r>
              <a:rPr sz="1200" b="0">
                <a:solidFill>
                  <a:srgbClr val="4B4B4B"/>
                </a:solidFill>
                <a:latin typeface="Arial"/>
              </a:rPr>
              <a:t>Accepted renewals are keyed again for placement and booking.</a:t>
            </a:r>
          </a:p>
          <a:p>
            <a:pPr>
              <a:spcAft>
                <a:spcPts val="100"/>
              </a:spcAft>
            </a:pPr>
            <a:r>
              <a:rPr sz="1200" b="0">
                <a:solidFill>
                  <a:srgbClr val="0072D8"/>
                </a:solidFill>
                <a:latin typeface="Arial"/>
              </a:rPr>
              <a:t>Workshop addendum p.3; BRRN.038, 040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pic>
        <p:nvPicPr>
          <p:cNvPr id="9" name="Picture 8" descr="brd06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Renewal in BIBS: workflow RNW_CASE with the decision matrix (FRS BRD-6 sections 2.2 and 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extracts the expiring list</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Daily job extracts expiring accounts at the lead days; users generate the list for any range</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25,800 a month without IT</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pre-cleaning</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 matching and eligibility checks classify each record Clean, Review or Exception</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Checks run by BIBS</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 in a spreadsheet</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AO dispositions online; clean cases with an automatic rule get a system disposition</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Straight-through for clean cases</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Hand-offs by e-mail</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Staged workflow with assignment, review, return and post; notice at each step</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Stage per renewal</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Accounts to insurers from Excel</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Extract per insurer sent protected; insurer decision file uploaded and applied</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Protected, logged</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RA text file for packages only</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RA first and second notice for any account, from the latest template, in batch</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RA in 20 s (p.186-188)</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monitored by hand</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home, status report with summary counters, listings with escalation</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Live status</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Accepted renewals re-keyed</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Acceptance moves the account to placement and booking; it books as RENEWAL</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re-keying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Disposition online or by batch upload</a:t>
                      </a:r>
                    </a:p>
                  </a:txBody>
                  <a:tcPr marL="64008" marR="64008" marT="27432" marB="27432" anchor="ctr">
                    <a:solidFill>
                      <a:srgbClr val="FFFFFF"/>
                    </a:solidFill>
                  </a:tcPr>
                </a:tc>
                <a:tc>
                  <a:txBody>
                    <a:bodyPr wrap="square"/>
                    <a:lstStyle/>
                    <a:p>
                      <a:r>
                        <a:rPr sz="1100" b="0">
                          <a:solidFill>
                            <a:srgbClr val="4B4B4B"/>
                          </a:solidFill>
                          <a:latin typeface="Arial"/>
                        </a:rPr>
                        <a:t>Disposition screens and the upload path</a:t>
                      </a:r>
                    </a:p>
                  </a:txBody>
                  <a:tcPr marL="64008" marR="64008" marT="27432" marB="27432" anchor="ctr">
                    <a:solidFill>
                      <a:srgbClr val="FFFFFF"/>
                    </a:solidFill>
                  </a:tcPr>
                </a:tc>
                <a:tc>
                  <a:txBody>
                    <a:bodyPr wrap="square"/>
                    <a:lstStyle/>
                    <a:p>
                      <a:r>
                        <a:rPr sz="1100" b="0">
                          <a:solidFill>
                            <a:srgbClr val="4B4B4B"/>
                          </a:solidFill>
                          <a:latin typeface="Arial"/>
                        </a:rPr>
                        <a:t>Marketing and Processing (RMEL)</a:t>
                      </a:r>
                    </a:p>
                  </a:txBody>
                  <a:tcPr marL="64008" marR="64008" marT="27432" marB="27432" anchor="ctr">
                    <a:solidFill>
                      <a:srgbClr val="FFFFFF"/>
                    </a:solidFill>
                  </a:tcPr>
                </a:tc>
                <a:tc>
                  <a:txBody>
                    <a:bodyPr wrap="square"/>
                    <a:lstStyle/>
                    <a:p>
                      <a:r>
                        <a:rPr sz="1100" b="0">
                          <a:solidFill>
                            <a:srgbClr val="4B4B4B"/>
                          </a:solidFill>
                          <a:latin typeface="Arial"/>
                        </a:rPr>
                        <a:t>Which segments disposition online; who prepares the file</a:t>
                      </a:r>
                    </a:p>
                  </a:txBody>
                  <a:tcPr marL="64008" marR="64008" marT="27432" marB="27432" anchor="ctr">
                    <a:solidFill>
                      <a:srgbClr val="FFFFFF"/>
                    </a:solidFill>
                  </a:tcPr>
                </a:tc>
                <a:tc>
                  <a:txBody>
                    <a:bodyPr wrap="square"/>
                    <a:lstStyle/>
                    <a:p>
                      <a:r>
                        <a:rPr sz="1100" b="0">
                          <a:solidFill>
                            <a:srgbClr val="4B4B4B"/>
                          </a:solidFill>
                          <a:latin typeface="Arial"/>
                        </a:rPr>
                        <a:t>DCR-062</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Manual initiation against straight-through</a:t>
                      </a:r>
                    </a:p>
                  </a:txBody>
                  <a:tcPr marL="64008" marR="64008" marT="27432" marB="27432" anchor="ctr">
                    <a:solidFill>
                      <a:srgbClr val="E5F5FF"/>
                    </a:solidFill>
                  </a:tcPr>
                </a:tc>
                <a:tc>
                  <a:txBody>
                    <a:bodyPr wrap="square"/>
                    <a:lstStyle/>
                    <a:p>
                      <a:r>
                        <a:rPr sz="1100" b="0">
                          <a:solidFill>
                            <a:srgbClr val="4B4B4B"/>
                          </a:solidFill>
                          <a:latin typeface="Arial"/>
                        </a:rPr>
                        <a:t>Workflow triggers of the renewal</a:t>
                      </a:r>
                    </a:p>
                  </a:txBody>
                  <a:tcPr marL="64008" marR="64008" marT="27432" marB="27432" anchor="ctr">
                    <a:solidFill>
                      <a:srgbClr val="E5F5FF"/>
                    </a:solidFill>
                  </a:tcPr>
                </a:tc>
                <a:tc>
                  <a:txBody>
                    <a:bodyPr wrap="square"/>
                    <a:lstStyle/>
                    <a:p>
                      <a:r>
                        <a:rPr sz="1100" b="0">
                          <a:solidFill>
                            <a:srgbClr val="4B4B4B"/>
                          </a:solidFill>
                          <a:latin typeface="Arial"/>
                        </a:rPr>
                        <a:t>Marketing and Processing (RMEL)</a:t>
                      </a:r>
                    </a:p>
                  </a:txBody>
                  <a:tcPr marL="64008" marR="64008" marT="27432" marB="27432" anchor="ctr">
                    <a:solidFill>
                      <a:srgbClr val="E5F5FF"/>
                    </a:solidFill>
                  </a:tcPr>
                </a:tc>
                <a:tc>
                  <a:txBody>
                    <a:bodyPr wrap="square"/>
                    <a:lstStyle/>
                    <a:p>
                      <a:r>
                        <a:rPr sz="1100" b="0">
                          <a:solidFill>
                            <a:srgbClr val="4B4B4B"/>
                          </a:solidFill>
                          <a:latin typeface="Arial"/>
                        </a:rPr>
                        <a:t>Initiation always manual? Is CBG STP started automatically?</a:t>
                      </a:r>
                    </a:p>
                  </a:txBody>
                  <a:tcPr marL="64008" marR="64008" marT="27432" marB="27432" anchor="ctr">
                    <a:solidFill>
                      <a:srgbClr val="E5F5FF"/>
                    </a:solidFill>
                  </a:tcPr>
                </a:tc>
                <a:tc>
                  <a:txBody>
                    <a:bodyPr wrap="square"/>
                    <a:lstStyle/>
                    <a:p>
                      <a:r>
                        <a:rPr sz="1100" b="0">
                          <a:solidFill>
                            <a:srgbClr val="4B4B4B"/>
                          </a:solidFill>
                          <a:latin typeface="Arial"/>
                        </a:rPr>
                        <a:t>DCR-063</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Legacy policies expiring after go-live</a:t>
                      </a:r>
                    </a:p>
                  </a:txBody>
                  <a:tcPr marL="64008" marR="64008" marT="27432" marB="27432" anchor="ctr">
                    <a:solidFill>
                      <a:srgbClr val="FFFFFF"/>
                    </a:solidFill>
                  </a:tcPr>
                </a:tc>
                <a:tc>
                  <a:txBody>
                    <a:bodyPr wrap="square"/>
                    <a:lstStyle/>
                    <a:p>
                      <a:r>
                        <a:rPr sz="1100" b="0">
                          <a:solidFill>
                            <a:srgbClr val="4B4B4B"/>
                          </a:solidFill>
                          <a:latin typeface="Arial"/>
                        </a:rPr>
                        <a:t>First-year renewals could be missed</a:t>
                      </a:r>
                    </a:p>
                  </a:txBody>
                  <a:tcPr marL="64008" marR="64008" marT="27432" marB="27432" anchor="ctr">
                    <a:solidFill>
                      <a:srgbClr val="FFFFFF"/>
                    </a:solidFill>
                  </a:tcPr>
                </a:tc>
                <a:tc>
                  <a:txBody>
                    <a:bodyPr wrap="square"/>
                    <a:lstStyle/>
                    <a:p>
                      <a:r>
                        <a:rPr sz="1100" b="0">
                          <a:solidFill>
                            <a:srgbClr val="4B4B4B"/>
                          </a:solidFill>
                          <a:latin typeface="Arial"/>
                        </a:rPr>
                        <a:t>RMEL, BDO IT</a:t>
                      </a:r>
                    </a:p>
                  </a:txBody>
                  <a:tcPr marL="64008" marR="64008" marT="27432" marB="27432" anchor="ctr">
                    <a:solidFill>
                      <a:srgbClr val="FFFFFF"/>
                    </a:solidFill>
                  </a:tcPr>
                </a:tc>
                <a:tc>
                  <a:txBody>
                    <a:bodyPr wrap="square"/>
                    <a:lstStyle/>
                    <a:p>
                      <a:r>
                        <a:rPr sz="1100" b="0">
                          <a:solidFill>
                            <a:srgbClr val="4B4B4B"/>
                          </a:solidFill>
                          <a:latin typeface="Arial"/>
                        </a:rPr>
                        <a:t>Load expiring EBIX / QPS policies; how many months</a:t>
                      </a:r>
                    </a:p>
                  </a:txBody>
                  <a:tcPr marL="64008" marR="64008" marT="27432" marB="27432" anchor="ctr">
                    <a:solidFill>
                      <a:srgbClr val="FFFFFF"/>
                    </a:solidFill>
                  </a:tcPr>
                </a:tc>
                <a:tc>
                  <a:txBody>
                    <a:bodyPr wrap="square"/>
                    <a:lstStyle/>
                    <a:p>
                      <a:r>
                        <a:rPr sz="1100" b="0">
                          <a:solidFill>
                            <a:srgbClr val="4B4B4B"/>
                          </a:solidFill>
                          <a:latin typeface="Arial"/>
                        </a:rPr>
                        <a:t>DCR-075</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Boundary with Submitted Policies; LAMD intake</a:t>
                      </a:r>
                    </a:p>
                  </a:txBody>
                  <a:tcPr marL="64008" marR="64008" marT="27432" marB="27432" anchor="ctr">
                    <a:solidFill>
                      <a:srgbClr val="E5F5FF"/>
                    </a:solidFill>
                  </a:tcPr>
                </a:tc>
                <a:tc>
                  <a:txBody>
                    <a:bodyPr wrap="square"/>
                    <a:lstStyle/>
                    <a:p>
                      <a:r>
                        <a:rPr sz="1100" b="0">
                          <a:solidFill>
                            <a:srgbClr val="4B4B4B"/>
                          </a:solidFill>
                          <a:latin typeface="Arial"/>
                        </a:rPr>
                        <a:t>Two renewal paths; two loan-status feeds</a:t>
                      </a:r>
                    </a:p>
                  </a:txBody>
                  <a:tcPr marL="64008" marR="64008" marT="27432" marB="27432" anchor="ctr">
                    <a:solidFill>
                      <a:srgbClr val="E5F5FF"/>
                    </a:solidFill>
                  </a:tcPr>
                </a:tc>
                <a:tc>
                  <a:txBody>
                    <a:bodyPr wrap="square"/>
                    <a:lstStyle/>
                    <a:p>
                      <a:r>
                        <a:rPr sz="1100" b="0">
                          <a:solidFill>
                            <a:srgbClr val="4B4B4B"/>
                          </a:solidFill>
                          <a:latin typeface="Arial"/>
                        </a:rPr>
                        <a:t>RMEL and Submitted Policies owners</a:t>
                      </a:r>
                    </a:p>
                  </a:txBody>
                  <a:tcPr marL="64008" marR="64008" marT="27432" marB="27432" anchor="ctr">
                    <a:solidFill>
                      <a:srgbClr val="E5F5FF"/>
                    </a:solidFill>
                  </a:tcPr>
                </a:tc>
                <a:tc>
                  <a:txBody>
                    <a:bodyPr wrap="square"/>
                    <a:lstStyle/>
                    <a:p>
                      <a:r>
                        <a:rPr sz="1100" b="0">
                          <a:solidFill>
                            <a:srgbClr val="4B4B4B"/>
                          </a:solidFill>
                          <a:latin typeface="Arial"/>
                        </a:rPr>
                        <a:t>Confirm decision D2; one LAMD report or two</a:t>
                      </a:r>
                    </a:p>
                  </a:txBody>
                  <a:tcPr marL="64008" marR="64008" marT="27432" marB="27432" anchor="ctr">
                    <a:solidFill>
                      <a:srgbClr val="E5F5FF"/>
                    </a:solidFill>
                  </a:tcPr>
                </a:tc>
                <a:tc>
                  <a:txBody>
                    <a:bodyPr wrap="square"/>
                    <a:lstStyle/>
                    <a:p>
                      <a:r>
                        <a:rPr sz="1100" b="0">
                          <a:solidFill>
                            <a:srgbClr val="4B4B4B"/>
                          </a:solidFill>
                          <a:latin typeface="Arial"/>
                        </a:rPr>
                        <a:t>DCR-129, 146</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during renewal</a:t>
                      </a:r>
                    </a:p>
                  </a:txBody>
                  <a:tcPr marL="64008" marR="64008" marT="27432" marB="27432" anchor="ctr">
                    <a:solidFill>
                      <a:srgbClr val="FFFFFF"/>
                    </a:solidFill>
                  </a:tcPr>
                </a:tc>
                <a:tc>
                  <a:txBody>
                    <a:bodyPr wrap="square"/>
                    <a:lstStyle/>
                    <a:p>
                      <a:r>
                        <a:rPr sz="1100" b="0">
                          <a:solidFill>
                            <a:srgbClr val="4B4B4B"/>
                          </a:solidFill>
                          <a:latin typeface="Arial"/>
                        </a:rPr>
                        <a:t>Renewal of a possibly sanctioned client</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Block or warn while a match is open</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NRNS checkpoint</a:t>
                      </a:r>
                    </a:p>
                  </a:txBody>
                  <a:tcPr marL="64008" marR="64008" marT="27432" marB="27432" anchor="ctr">
                    <a:solidFill>
                      <a:srgbClr val="E5F5FF"/>
                    </a:solidFill>
                  </a:tcPr>
                </a:tc>
                <a:tc>
                  <a:txBody>
                    <a:bodyPr wrap="square"/>
                    <a:lstStyle/>
                    <a:p>
                      <a:r>
                        <a:rPr sz="1100" b="0">
                          <a:solidFill>
                            <a:srgbClr val="4B4B4B"/>
                          </a:solidFill>
                          <a:latin typeface="Arial"/>
                        </a:rPr>
                        <a:t>Reminder timing and letters</a:t>
                      </a:r>
                    </a:p>
                  </a:txBody>
                  <a:tcPr marL="64008" marR="64008" marT="27432" marB="27432" anchor="ctr">
                    <a:solidFill>
                      <a:srgbClr val="E5F5FF"/>
                    </a:solidFill>
                  </a:tcPr>
                </a:tc>
                <a:tc>
                  <a:txBody>
                    <a:bodyPr wrap="square"/>
                    <a:lstStyle/>
                    <a:p>
                      <a:r>
                        <a:rPr sz="1100" b="0">
                          <a:solidFill>
                            <a:srgbClr val="4B4B4B"/>
                          </a:solidFill>
                          <a:latin typeface="Arial"/>
                        </a:rPr>
                        <a:t>RMEL</a:t>
                      </a:r>
                    </a:p>
                  </a:txBody>
                  <a:tcPr marL="64008" marR="64008" marT="27432" marB="27432" anchor="ctr">
                    <a:solidFill>
                      <a:srgbClr val="E5F5FF"/>
                    </a:solidFill>
                  </a:tcPr>
                </a:tc>
                <a:tc>
                  <a:txBody>
                    <a:bodyPr wrap="square"/>
                    <a:lstStyle/>
                    <a:p>
                      <a:r>
                        <a:rPr sz="1100" b="0">
                          <a:solidFill>
                            <a:srgbClr val="4B4B4B"/>
                          </a:solidFill>
                          <a:latin typeface="Arial"/>
                        </a:rPr>
                        <a:t>90 days before expiry? What is "not yet submitted"?</a:t>
                      </a:r>
                    </a:p>
                  </a:txBody>
                  <a:tcPr marL="64008" marR="64008" marT="27432" marB="27432" anchor="ctr">
                    <a:solidFill>
                      <a:srgbClr val="E5F5FF"/>
                    </a:solidFill>
                  </a:tcPr>
                </a:tc>
                <a:tc>
                  <a:txBody>
                    <a:bodyPr wrap="square"/>
                    <a:lstStyle/>
                    <a:p>
                      <a:r>
                        <a:rPr sz="1100" b="0">
                          <a:solidFill>
                            <a:srgbClr val="4B4B4B"/>
                          </a:solidFill>
                          <a:latin typeface="Arial"/>
                        </a:rPr>
                        <a:t>DCR-064</a:t>
                      </a:r>
                    </a:p>
                  </a:txBody>
                  <a:tcPr marL="64008" marR="64008" marT="27432" marB="27432" anchor="ctr">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processing with exception queues</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Decision matrix; clean cases proceed; Review and Exception buckets go to people.</a:t>
            </a:r>
          </a:p>
          <a:p>
            <a:pPr>
              <a:spcAft>
                <a:spcPts val="400"/>
              </a:spcAft>
            </a:pPr>
            <a:r>
              <a:rPr sz="1200" b="1">
                <a:solidFill>
                  <a:srgbClr val="004EA8"/>
                </a:solidFill>
                <a:latin typeface="Arial"/>
              </a:rPr>
              <a:t>BDOI: </a:t>
            </a:r>
            <a:r>
              <a:rPr sz="1200" b="0">
                <a:solidFill>
                  <a:srgbClr val="4B4B4B"/>
                </a:solidFill>
                <a:latin typeface="Arial"/>
              </a:rPr>
              <a:t>Approve the matrix rows and which segments run STP (DCR-063).</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Rules owned by the business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Lead days, buckets, eligibility checks and the matrix are maintained as configuration.</a:t>
            </a:r>
          </a:p>
          <a:p>
            <a:pPr>
              <a:spcAft>
                <a:spcPts val="400"/>
              </a:spcAft>
            </a:pPr>
            <a:r>
              <a:rPr sz="1200" b="1">
                <a:solidFill>
                  <a:srgbClr val="004EA8"/>
                </a:solidFill>
                <a:latin typeface="Arial"/>
              </a:rPr>
              <a:t>BDOI: </a:t>
            </a:r>
            <a:r>
              <a:rPr sz="1200" b="0">
                <a:solidFill>
                  <a:srgbClr val="4B4B4B"/>
                </a:solidFill>
                <a:latin typeface="Arial"/>
              </a:rPr>
              <a:t>Name the rule owner and approver in RMEL.</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Evidence of client acceptance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Acceptance recorded; changed terms need evidence (BRRN.038).</a:t>
            </a:r>
          </a:p>
          <a:p>
            <a:pPr>
              <a:spcAft>
                <a:spcPts val="400"/>
              </a:spcAft>
            </a:pPr>
            <a:r>
              <a:rPr sz="1200" b="1">
                <a:solidFill>
                  <a:srgbClr val="004EA8"/>
                </a:solidFill>
                <a:latin typeface="Arial"/>
              </a:rPr>
              <a:t>BDOI: </a:t>
            </a:r>
            <a:r>
              <a:rPr sz="1200" b="0">
                <a:solidFill>
                  <a:srgbClr val="4B4B4B"/>
                </a:solidFill>
                <a:latin typeface="Arial"/>
              </a:rPr>
              <a:t>Agree which evidence is enough (e-mail, signed RA).</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digital documents</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Extracts and RAs sent protected in batch with a send log.</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Loss experience in the renewal decision</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Account history reads claims through the Claims query service (decision D4).</a:t>
            </a:r>
          </a:p>
          <a:p>
            <a:pPr>
              <a:spcAft>
                <a:spcPts val="400"/>
              </a:spcAft>
            </a:pPr>
            <a:r>
              <a:rPr sz="1200" b="1">
                <a:solidFill>
                  <a:srgbClr val="004EA8"/>
                </a:solidFill>
                <a:latin typeface="Arial"/>
              </a:rPr>
              <a:t>BDOI: </a:t>
            </a:r>
            <a:r>
              <a:rPr sz="1200" b="0">
                <a:solidFill>
                  <a:srgbClr val="4B4B4B"/>
                </a:solidFill>
                <a:latin typeface="Arial"/>
              </a:rPr>
              <a:t>Decide the total-loss indicator (XQ10).</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Persistency KPI</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Status report and summary counters by unit and segment.</a:t>
            </a:r>
          </a:p>
          <a:p>
            <a:pPr>
              <a:spcAft>
                <a:spcPts val="400"/>
              </a:spcAft>
            </a:pPr>
            <a:r>
              <a:rPr sz="1200" b="1">
                <a:solidFill>
                  <a:srgbClr val="004EA8"/>
                </a:solidFill>
                <a:latin typeface="Arial"/>
              </a:rPr>
              <a:t>BDOI: </a:t>
            </a:r>
            <a:r>
              <a:rPr sz="1200" b="0">
                <a:solidFill>
                  <a:srgbClr val="4B4B4B"/>
                </a:solidFill>
                <a:latin typeface="Arial"/>
              </a:rPr>
              <a:t>Define the persistency report (XQ06) and a retention target per segment.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7. Claims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BRD-7 | Claims logging and monitoring, from notice of loss to closure and loss analytics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Claims and Risk Management</a:t>
            </a:r>
          </a:p>
          <a:p>
            <a:pPr>
              <a:spcAft>
                <a:spcPts val="300"/>
              </a:spcAft>
            </a:pPr>
            <a:r>
              <a:rPr sz="1200" b="0">
                <a:solidFill>
                  <a:srgbClr val="004EA8"/>
                </a:solidFill>
                <a:latin typeface="Arial"/>
              </a:rPr>
              <a:t>•  </a:t>
            </a:r>
            <a:r>
              <a:rPr sz="1200" b="0">
                <a:solidFill>
                  <a:srgbClr val="4B4B4B"/>
                </a:solidFill>
                <a:latin typeface="Arial"/>
              </a:rPr>
              <a:t>Claims Officer / Claims Assistant (Motor and Non-Motor teams)</a:t>
            </a:r>
          </a:p>
          <a:p>
            <a:pPr>
              <a:spcAft>
                <a:spcPts val="300"/>
              </a:spcAft>
            </a:pPr>
            <a:r>
              <a:rPr sz="1200" b="0">
                <a:solidFill>
                  <a:srgbClr val="004EA8"/>
                </a:solidFill>
                <a:latin typeface="Arial"/>
              </a:rPr>
              <a:t>•  </a:t>
            </a:r>
            <a:r>
              <a:rPr sz="1200" b="0">
                <a:solidFill>
                  <a:srgbClr val="4B4B4B"/>
                </a:solidFill>
                <a:latin typeface="Arial"/>
              </a:rPr>
              <a:t>Team Lead, Team Head, Unit Head</a:t>
            </a:r>
          </a:p>
          <a:p>
            <a:pPr>
              <a:spcAft>
                <a:spcPts val="300"/>
              </a:spcAft>
            </a:pPr>
            <a:r>
              <a:rPr sz="1200" b="0">
                <a:solidFill>
                  <a:srgbClr val="004EA8"/>
                </a:solidFill>
                <a:latin typeface="Arial"/>
              </a:rPr>
              <a:t>•  </a:t>
            </a:r>
            <a:r>
              <a:rPr sz="1200" b="0">
                <a:solidFill>
                  <a:srgbClr val="4B4B4B"/>
                </a:solidFill>
                <a:latin typeface="Arial"/>
              </a:rPr>
              <a:t>Claims / Risk user (loss analytics)</a:t>
            </a:r>
          </a:p>
          <a:p>
            <a:pPr>
              <a:spcAft>
                <a:spcPts val="300"/>
              </a:spcAft>
            </a:pPr>
            <a:r>
              <a:rPr sz="1200" b="0">
                <a:solidFill>
                  <a:srgbClr val="004EA8"/>
                </a:solidFill>
                <a:latin typeface="Arial"/>
              </a:rPr>
              <a:t>•  </a:t>
            </a:r>
            <a:r>
              <a:rPr sz="1200" b="0">
                <a:solidFill>
                  <a:srgbClr val="4B4B4B"/>
                </a:solidFill>
                <a:latin typeface="Arial"/>
              </a:rPr>
              <a:t>Marketing AO and TL (notice, loss information)</a:t>
            </a:r>
          </a:p>
          <a:p>
            <a:pPr>
              <a:spcAft>
                <a:spcPts val="300"/>
              </a:spcAft>
            </a:pPr>
            <a:r>
              <a:rPr sz="1200" b="0">
                <a:solidFill>
                  <a:srgbClr val="004EA8"/>
                </a:solidFill>
                <a:latin typeface="Arial"/>
              </a:rPr>
              <a:t>•  </a:t>
            </a:r>
            <a:r>
              <a:rPr sz="1200" b="0">
                <a:solidFill>
                  <a:srgbClr val="4B4B4B"/>
                </a:solidFill>
                <a:latin typeface="Arial"/>
              </a:rPr>
              <a:t>Clients, insurers and adjusters (external)</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55</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booked a day; 10% growth (p.32-41)</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1,096</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and settlement updates a day</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37</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users: 28 head office, 9 branches</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5 s</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screens, booking, premium validation</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BRD-7 p.23-27 (current process and target facility)</a:t>
            </a:r>
          </a:p>
          <a:p>
            <a:pPr>
              <a:spcAft>
                <a:spcPts val="300"/>
              </a:spcAft>
            </a:pPr>
            <a:r>
              <a:rPr sz="1200" b="0">
                <a:solidFill>
                  <a:srgbClr val="004EA8"/>
                </a:solidFill>
                <a:latin typeface="Arial"/>
              </a:rPr>
              <a:t>•  </a:t>
            </a:r>
            <a:r>
              <a:rPr sz="1200" b="0">
                <a:solidFill>
                  <a:srgbClr val="4B4B4B"/>
                </a:solidFill>
                <a:latin typeface="Arial"/>
              </a:rPr>
              <a:t>Workshop addendum p.5-7 (BRCLM.036-043)</a:t>
            </a:r>
          </a:p>
          <a:p>
            <a:pPr>
              <a:spcAft>
                <a:spcPts val="300"/>
              </a:spcAft>
            </a:pPr>
            <a:r>
              <a:rPr sz="1200" b="0">
                <a:solidFill>
                  <a:srgbClr val="004EA8"/>
                </a:solidFill>
                <a:latin typeface="Arial"/>
              </a:rPr>
              <a:t>•  </a:t>
            </a:r>
            <a:r>
              <a:rPr sz="1200" b="0">
                <a:solidFill>
                  <a:srgbClr val="4B4B4B"/>
                </a:solidFill>
                <a:latin typeface="Arial"/>
              </a:rPr>
              <a:t>FRS BRD-7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Notice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Record</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Premium check</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Loss advice</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Handling</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Follow-up</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Settlement</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Closure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pic>
        <p:nvPicPr>
          <p:cNvPr id="9" name="Picture 8" descr="brd07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Claims today (BRD-7 p.24-26)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Notice prepared by hand</a:t>
            </a:r>
          </a:p>
          <a:p>
            <a:pPr>
              <a:spcAft>
                <a:spcPts val="100"/>
              </a:spcAft>
            </a:pPr>
            <a:r>
              <a:rPr sz="1200" b="0">
                <a:solidFill>
                  <a:srgbClr val="4B4B4B"/>
                </a:solidFill>
                <a:latin typeface="Arial"/>
              </a:rPr>
              <a:t>PLA or CRF prepared by Marketing from an e-mail or a call.</a:t>
            </a:r>
          </a:p>
          <a:p>
            <a:pPr>
              <a:spcAft>
                <a:spcPts val="100"/>
              </a:spcAft>
            </a:pPr>
            <a:r>
              <a:rPr sz="1200" b="0">
                <a:solidFill>
                  <a:srgbClr val="0072D8"/>
                </a:solidFill>
                <a:latin typeface="Arial"/>
              </a:rPr>
              <a:t>BRD-7 p.24-25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Policy details re-keyed</a:t>
            </a:r>
          </a:p>
          <a:p>
            <a:pPr>
              <a:spcAft>
                <a:spcPts val="100"/>
              </a:spcAft>
            </a:pPr>
            <a:r>
              <a:rPr sz="1200" b="0">
                <a:solidFill>
                  <a:srgbClr val="4B4B4B"/>
                </a:solidFill>
                <a:latin typeface="Arial"/>
              </a:rPr>
              <a:t>Policy details are looked up in EBIX and keyed again.</a:t>
            </a:r>
          </a:p>
          <a:p>
            <a:pPr>
              <a:spcAft>
                <a:spcPts val="100"/>
              </a:spcAft>
            </a:pPr>
            <a:r>
              <a:rPr sz="1200" b="0">
                <a:solidFill>
                  <a:srgbClr val="0072D8"/>
                </a:solidFill>
                <a:latin typeface="Arial"/>
              </a:rPr>
              <a:t>BRD-7 p.24-25; BRCLM.003, 004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Premium checked by hand</a:t>
            </a:r>
          </a:p>
          <a:p>
            <a:pPr>
              <a:spcAft>
                <a:spcPts val="100"/>
              </a:spcAft>
            </a:pPr>
            <a:r>
              <a:rPr sz="1200" b="0">
                <a:solidFill>
                  <a:srgbClr val="4B4B4B"/>
                </a:solidFill>
                <a:latin typeface="Arial"/>
              </a:rPr>
              <a:t>Nothing stops a claim on an unpaid invoice.</a:t>
            </a:r>
          </a:p>
          <a:p>
            <a:pPr>
              <a:spcAft>
                <a:spcPts val="100"/>
              </a:spcAft>
            </a:pPr>
            <a:r>
              <a:rPr sz="1200" b="0">
                <a:solidFill>
                  <a:srgbClr val="0072D8"/>
                </a:solidFill>
                <a:latin typeface="Arial"/>
              </a:rPr>
              <a:t>BRD-7 p.23; BRCLM.001</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Loss advice from a mailbox</a:t>
            </a:r>
          </a:p>
          <a:p>
            <a:pPr>
              <a:spcAft>
                <a:spcPts val="100"/>
              </a:spcAft>
            </a:pPr>
            <a:r>
              <a:rPr sz="1200" b="0">
                <a:solidFill>
                  <a:srgbClr val="4B4B4B"/>
                </a:solidFill>
                <a:latin typeface="Arial"/>
              </a:rPr>
              <a:t>No send log; insurer claim numbers kept outside a system.</a:t>
            </a:r>
          </a:p>
          <a:p>
            <a:pPr>
              <a:spcAft>
                <a:spcPts val="100"/>
              </a:spcAft>
            </a:pPr>
            <a:r>
              <a:rPr sz="1200" b="0">
                <a:solidFill>
                  <a:srgbClr val="0072D8"/>
                </a:solidFill>
                <a:latin typeface="Arial"/>
              </a:rPr>
              <a:t>BRD-7 p.24-25; BRCLM.041, 043</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in spreadsheets</a:t>
            </a:r>
          </a:p>
          <a:p>
            <a:pPr>
              <a:spcAft>
                <a:spcPts val="100"/>
              </a:spcAft>
            </a:pPr>
            <a:r>
              <a:rPr sz="1200" b="0">
                <a:solidFill>
                  <a:srgbClr val="4B4B4B"/>
                </a:solidFill>
                <a:latin typeface="Arial"/>
              </a:rPr>
              <a:t>Status, adjuster, reserve and follow-up dates tracked in Excel.</a:t>
            </a:r>
          </a:p>
          <a:p>
            <a:pPr>
              <a:spcAft>
                <a:spcPts val="100"/>
              </a:spcAft>
            </a:pPr>
            <a:r>
              <a:rPr sz="1200" b="0">
                <a:solidFill>
                  <a:srgbClr val="0072D8"/>
                </a:solidFill>
                <a:latin typeface="Arial"/>
              </a:rPr>
              <a:t>BRD-7 p.23, 27; BRCLM.010-024</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Informal closure</a:t>
            </a:r>
          </a:p>
          <a:p>
            <a:pPr>
              <a:spcAft>
                <a:spcPts val="100"/>
              </a:spcAft>
            </a:pPr>
            <a:r>
              <a:rPr sz="1200" b="0">
                <a:solidFill>
                  <a:srgbClr val="4B4B4B"/>
                </a:solidFill>
                <a:latin typeface="Arial"/>
              </a:rPr>
              <a:t>No distinction between temporary and permanent closure.</a:t>
            </a:r>
          </a:p>
          <a:p>
            <a:pPr>
              <a:spcAft>
                <a:spcPts val="100"/>
              </a:spcAft>
            </a:pPr>
            <a:r>
              <a:rPr sz="1200" b="0">
                <a:solidFill>
                  <a:srgbClr val="0072D8"/>
                </a:solidFill>
                <a:latin typeface="Arial"/>
              </a:rPr>
              <a:t>BRD-7 p.27-28; BRCLM.005, 035</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from ISYS</a:t>
            </a:r>
          </a:p>
          <a:p>
            <a:pPr>
              <a:spcAft>
                <a:spcPts val="100"/>
              </a:spcAft>
            </a:pPr>
            <a:r>
              <a:rPr sz="1200" b="0">
                <a:solidFill>
                  <a:srgbClr val="4B4B4B"/>
                </a:solidFill>
                <a:latin typeface="Arial"/>
              </a:rPr>
              <a:t>Claims reports are extracted from ISYS.</a:t>
            </a:r>
          </a:p>
          <a:p>
            <a:pPr>
              <a:spcAft>
                <a:spcPts val="100"/>
              </a:spcAft>
            </a:pPr>
            <a:r>
              <a:rPr sz="1200" b="0">
                <a:solidFill>
                  <a:srgbClr val="0072D8"/>
                </a:solidFill>
                <a:latin typeface="Arial"/>
              </a:rPr>
              <a:t>BRD-7 p.39-42; Report List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pic>
        <p:nvPicPr>
          <p:cNvPr id="9" name="Picture 8" descr="brd07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Claim lifecycle in BIBS: workflow BCL_CLAIM (FRS BRD-7 sections 2.2 and 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Notice prepared by hand</a:t>
            </a:r>
          </a:p>
        </p:txBody>
      </p:sp>
      <p:sp>
        <p:nvSpPr>
          <p:cNvPr id="15" name="Right Arrow 14"/>
          <p:cNvSpPr/>
          <p:nvPr/>
        </p:nvSpPr>
        <p:spPr>
          <a:xfrm>
            <a:off x="473659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 recorded on the cover in BIBS with the PLA / CRF data; number BCL-yyyy-nnnnnn</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55 claims a day</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Policy details re-keyed</a:t>
            </a:r>
          </a:p>
        </p:txBody>
      </p:sp>
      <p:sp>
        <p:nvSpPr>
          <p:cNvPr id="22" name="Right Arrow 21"/>
          <p:cNvSpPr/>
          <p:nvPr/>
        </p:nvSpPr>
        <p:spPr>
          <a:xfrm>
            <a:off x="473659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25910"/>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25910"/>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Cover, policy, version, locations, unit and branch read from the account, read-only</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re-keying</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Premium checked by hand</a:t>
            </a:r>
          </a:p>
        </p:txBody>
      </p:sp>
      <p:sp>
        <p:nvSpPr>
          <p:cNvPr id="29" name="Right Arrow 28"/>
          <p:cNvSpPr/>
          <p:nvPr/>
        </p:nvSpPr>
        <p:spPr>
          <a:xfrm>
            <a:off x="473659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79053"/>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79053"/>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Invoice ledger read; authorization code disabled while premium is unpaid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Check in 5 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Loss advice from a mailbox</a:t>
            </a:r>
          </a:p>
        </p:txBody>
      </p:sp>
      <p:sp>
        <p:nvSpPr>
          <p:cNvPr id="36" name="Right Arrow 35"/>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32196"/>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32196"/>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Loss advice generated and e-mailed per insurer; insurer claim numbers recorded</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Send log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in spreadsheets</a:t>
            </a:r>
          </a:p>
        </p:txBody>
      </p:sp>
      <p:sp>
        <p:nvSpPr>
          <p:cNvPr id="43" name="Right Arrow 42"/>
          <p:cNvSpPr/>
          <p:nvPr/>
        </p:nvSpPr>
        <p:spPr>
          <a:xfrm>
            <a:off x="473659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185339"/>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185339"/>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within the role / unit matrix, adjuster, reserve, follow-up and diary on the claim</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1,096 updates a day</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Informal closure</a:t>
            </a:r>
          </a:p>
        </p:txBody>
      </p:sp>
      <p:sp>
        <p:nvSpPr>
          <p:cNvPr id="50" name="Right Arrow 49"/>
          <p:cNvSpPr/>
          <p:nvPr/>
        </p:nvSpPr>
        <p:spPr>
          <a:xfrm>
            <a:off x="473659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38482"/>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38482"/>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Temporary and permanent closure; permanent needs a settlement type and a TL / TH</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Four-eyes closure</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from ISYS</a:t>
            </a:r>
          </a:p>
        </p:txBody>
      </p:sp>
      <p:sp>
        <p:nvSpPr>
          <p:cNvPr id="57" name="Right Arrow 56"/>
          <p:cNvSpPr/>
          <p:nvPr/>
        </p:nvSpPr>
        <p:spPr>
          <a:xfrm>
            <a:off x="473659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491625"/>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491625"/>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Ageing, outstanding, settled, loss experience and loss ratio reports in BIBS, to Excel</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ISYS extract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Claims Authorization Code undefined</a:t>
                      </a:r>
                    </a:p>
                  </a:txBody>
                  <a:tcPr marL="64008" marR="64008" marT="27432" marB="27432" anchor="ctr">
                    <a:solidFill>
                      <a:srgbClr val="FFFFFF"/>
                    </a:solidFill>
                  </a:tcPr>
                </a:tc>
                <a:tc>
                  <a:txBody>
                    <a:bodyPr wrap="square"/>
                    <a:lstStyle/>
                    <a:p>
                      <a:r>
                        <a:rPr sz="1100" b="0">
                          <a:solidFill>
                            <a:srgbClr val="4B4B4B"/>
                          </a:solidFill>
                          <a:latin typeface="Arial"/>
                        </a:rPr>
                        <a:t>Valid claims could be blocked</a:t>
                      </a:r>
                    </a:p>
                  </a:txBody>
                  <a:tcPr marL="64008" marR="64008" marT="27432" marB="27432" anchor="ctr">
                    <a:solidFill>
                      <a:srgbClr val="FFFFFF"/>
                    </a:solidFill>
                  </a:tcPr>
                </a:tc>
                <a:tc>
                  <a:txBody>
                    <a:bodyPr wrap="square"/>
                    <a:lstStyle/>
                    <a:p>
                      <a:r>
                        <a:rPr sz="1100" b="0">
                          <a:solidFill>
                            <a:srgbClr val="4B4B4B"/>
                          </a:solidFill>
                          <a:latin typeface="Arial"/>
                        </a:rPr>
                        <a:t>Claims and Risk Management</a:t>
                      </a:r>
                    </a:p>
                  </a:txBody>
                  <a:tcPr marL="64008" marR="64008" marT="27432" marB="27432" anchor="ctr">
                    <a:solidFill>
                      <a:srgbClr val="FFFFFF"/>
                    </a:solidFill>
                  </a:tcPr>
                </a:tc>
                <a:tc>
                  <a:txBody>
                    <a:bodyPr wrap="square"/>
                    <a:lstStyle/>
                    <a:p>
                      <a:r>
                        <a:rPr sz="1100" b="0">
                          <a:solidFill>
                            <a:srgbClr val="4B4B4B"/>
                          </a:solidFill>
                          <a:latin typeface="Arial"/>
                        </a:rPr>
                        <a:t>What the code is; which unpaid invoice blocks; TL / TH override</a:t>
                      </a:r>
                    </a:p>
                  </a:txBody>
                  <a:tcPr marL="64008" marR="64008" marT="27432" marB="27432" anchor="ctr">
                    <a:solidFill>
                      <a:srgbClr val="FFFFFF"/>
                    </a:solidFill>
                  </a:tcPr>
                </a:tc>
                <a:tc>
                  <a:txBody>
                    <a:bodyPr wrap="square"/>
                    <a:lstStyle/>
                    <a:p>
                      <a:r>
                        <a:rPr sz="1100" b="0">
                          <a:solidFill>
                            <a:srgbClr val="4B4B4B"/>
                          </a:solidFill>
                          <a:latin typeface="Arial"/>
                        </a:rPr>
                        <a:t>DCR-085</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Settlement type and settlement status</a:t>
                      </a:r>
                    </a:p>
                  </a:txBody>
                  <a:tcPr marL="64008" marR="64008" marT="27432" marB="27432" anchor="ctr">
                    <a:solidFill>
                      <a:srgbClr val="E5F5FF"/>
                    </a:solidFill>
                  </a:tcPr>
                </a:tc>
                <a:tc>
                  <a:txBody>
                    <a:bodyPr wrap="square"/>
                    <a:lstStyle/>
                    <a:p>
                      <a:r>
                        <a:rPr sz="1100" b="0">
                          <a:solidFill>
                            <a:srgbClr val="4B4B4B"/>
                          </a:solidFill>
                          <a:latin typeface="Arial"/>
                        </a:rPr>
                        <a:t>Claim closure and reporting</a:t>
                      </a:r>
                    </a:p>
                  </a:txBody>
                  <a:tcPr marL="64008" marR="64008" marT="27432" marB="27432" anchor="ctr">
                    <a:solidFill>
                      <a:srgbClr val="E5F5FF"/>
                    </a:solidFill>
                  </a:tcPr>
                </a:tc>
                <a:tc>
                  <a:txBody>
                    <a:bodyPr wrap="square"/>
                    <a:lstStyle/>
                    <a:p>
                      <a:r>
                        <a:rPr sz="1100" b="0">
                          <a:solidFill>
                            <a:srgbClr val="4B4B4B"/>
                          </a:solidFill>
                          <a:latin typeface="Arial"/>
                        </a:rPr>
                        <a:t>Claims and Risk Management</a:t>
                      </a:r>
                    </a:p>
                  </a:txBody>
                  <a:tcPr marL="64008" marR="64008" marT="27432" marB="27432" anchor="ctr">
                    <a:solidFill>
                      <a:srgbClr val="E5F5FF"/>
                    </a:solidFill>
                  </a:tcPr>
                </a:tc>
                <a:tc>
                  <a:txBody>
                    <a:bodyPr wrap="square"/>
                    <a:lstStyle/>
                    <a:p>
                      <a:r>
                        <a:rPr sz="1100" b="0">
                          <a:solidFill>
                            <a:srgbClr val="4B4B4B"/>
                          </a:solidFill>
                          <a:latin typeface="Arial"/>
                        </a:rPr>
                        <a:t>One list or two; which values close the claim</a:t>
                      </a:r>
                    </a:p>
                  </a:txBody>
                  <a:tcPr marL="64008" marR="64008" marT="27432" marB="27432" anchor="ctr">
                    <a:solidFill>
                      <a:srgbClr val="E5F5FF"/>
                    </a:solidFill>
                  </a:tcPr>
                </a:tc>
                <a:tc>
                  <a:txBody>
                    <a:bodyPr wrap="square"/>
                    <a:lstStyle/>
                    <a:p>
                      <a:r>
                        <a:rPr sz="1100" b="0">
                          <a:solidFill>
                            <a:srgbClr val="4B4B4B"/>
                          </a:solidFill>
                          <a:latin typeface="Arial"/>
                        </a:rPr>
                        <a:t>DCR-078</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Does claim money pass through BDOI?</a:t>
                      </a:r>
                    </a:p>
                  </a:txBody>
                  <a:tcPr marL="64008" marR="64008" marT="27432" marB="27432" anchor="ctr">
                    <a:solidFill>
                      <a:srgbClr val="FFFFFF"/>
                    </a:solidFill>
                  </a:tcPr>
                </a:tc>
                <a:tc>
                  <a:txBody>
                    <a:bodyPr wrap="square"/>
                    <a:lstStyle/>
                    <a:p>
                      <a:r>
                        <a:rPr sz="1100" b="0">
                          <a:solidFill>
                            <a:srgbClr val="4B4B4B"/>
                          </a:solidFill>
                          <a:latin typeface="Arial"/>
                        </a:rPr>
                        <a:t>Cashiering and Disbursement flows for settlements</a:t>
                      </a:r>
                    </a:p>
                  </a:txBody>
                  <a:tcPr marL="64008" marR="64008" marT="27432" marB="27432" anchor="ctr">
                    <a:solidFill>
                      <a:srgbClr val="FFFFFF"/>
                    </a:solidFill>
                  </a:tcPr>
                </a:tc>
                <a:tc>
                  <a:txBody>
                    <a:bodyPr wrap="square"/>
                    <a:lstStyle/>
                    <a:p>
                      <a:r>
                        <a:rPr sz="1100" b="0">
                          <a:solidFill>
                            <a:srgbClr val="4B4B4B"/>
                          </a:solidFill>
                          <a:latin typeface="Arial"/>
                        </a:rPr>
                        <a:t>Claims, Operations</a:t>
                      </a:r>
                    </a:p>
                  </a:txBody>
                  <a:tcPr marL="64008" marR="64008" marT="27432" marB="27432" anchor="ctr">
                    <a:solidFill>
                      <a:srgbClr val="FFFFFF"/>
                    </a:solidFill>
                  </a:tcPr>
                </a:tc>
                <a:tc>
                  <a:txBody>
                    <a:bodyPr wrap="square"/>
                    <a:lstStyle/>
                    <a:p>
                      <a:r>
                        <a:rPr sz="1100" b="0">
                          <a:solidFill>
                            <a:srgbClr val="4B4B4B"/>
                          </a:solidFill>
                          <a:latin typeface="Arial"/>
                        </a:rPr>
                        <a:t>Record the cheque only, or handle the money</a:t>
                      </a:r>
                    </a:p>
                  </a:txBody>
                  <a:tcPr marL="64008" marR="64008" marT="27432" marB="27432" anchor="ctr">
                    <a:solidFill>
                      <a:srgbClr val="FFFFFF"/>
                    </a:solidFill>
                  </a:tcPr>
                </a:tc>
                <a:tc>
                  <a:txBody>
                    <a:bodyPr wrap="square"/>
                    <a:lstStyle/>
                    <a:p>
                      <a:r>
                        <a:rPr sz="1100" b="0">
                          <a:solidFill>
                            <a:srgbClr val="4B4B4B"/>
                          </a:solidFill>
                          <a:latin typeface="Arial"/>
                        </a:rPr>
                        <a:t>DCR-086</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Open and historical claims at go-live</a:t>
                      </a:r>
                    </a:p>
                  </a:txBody>
                  <a:tcPr marL="64008" marR="64008" marT="27432" marB="27432" anchor="ctr">
                    <a:solidFill>
                      <a:srgbClr val="E5F5FF"/>
                    </a:solidFill>
                  </a:tcPr>
                </a:tc>
                <a:tc>
                  <a:txBody>
                    <a:bodyPr wrap="square"/>
                    <a:lstStyle/>
                    <a:p>
                      <a:r>
                        <a:rPr sz="1100" b="0">
                          <a:solidFill>
                            <a:srgbClr val="4B4B4B"/>
                          </a:solidFill>
                          <a:latin typeface="Arial"/>
                        </a:rPr>
                        <a:t>Loss ratio and claims-prone analysis need history</a:t>
                      </a:r>
                    </a:p>
                  </a:txBody>
                  <a:tcPr marL="64008" marR="64008" marT="27432" marB="27432" anchor="ctr">
                    <a:solidFill>
                      <a:srgbClr val="E5F5FF"/>
                    </a:solidFill>
                  </a:tcPr>
                </a:tc>
                <a:tc>
                  <a:txBody>
                    <a:bodyPr wrap="square"/>
                    <a:lstStyle/>
                    <a:p>
                      <a:r>
                        <a:rPr sz="1100" b="0">
                          <a:solidFill>
                            <a:srgbClr val="4B4B4B"/>
                          </a:solidFill>
                          <a:latin typeface="Arial"/>
                        </a:rPr>
                        <a:t>Claims, BDO IT</a:t>
                      </a:r>
                    </a:p>
                  </a:txBody>
                  <a:tcPr marL="64008" marR="64008" marT="27432" marB="27432" anchor="ctr">
                    <a:solidFill>
                      <a:srgbClr val="E5F5FF"/>
                    </a:solidFill>
                  </a:tcPr>
                </a:tc>
                <a:tc>
                  <a:txBody>
                    <a:bodyPr wrap="square"/>
                    <a:lstStyle/>
                    <a:p>
                      <a:r>
                        <a:rPr sz="1100" b="0">
                          <a:solidFill>
                            <a:srgbClr val="4B4B4B"/>
                          </a:solidFill>
                          <a:latin typeface="Arial"/>
                        </a:rPr>
                        <a:t>Scope and years from EBIX / ISYS</a:t>
                      </a:r>
                    </a:p>
                  </a:txBody>
                  <a:tcPr marL="64008" marR="64008" marT="27432" marB="27432" anchor="ctr">
                    <a:solidFill>
                      <a:srgbClr val="E5F5FF"/>
                    </a:solidFill>
                  </a:tcPr>
                </a:tc>
                <a:tc>
                  <a:txBody>
                    <a:bodyPr wrap="square"/>
                    <a:lstStyle/>
                    <a:p>
                      <a:r>
                        <a:rPr sz="1100" b="0">
                          <a:solidFill>
                            <a:srgbClr val="4B4B4B"/>
                          </a:solidFill>
                          <a:latin typeface="Arial"/>
                        </a:rPr>
                        <a:t>DCR-157, CLQ14</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Who closes and reopens</a:t>
                      </a:r>
                    </a:p>
                  </a:txBody>
                  <a:tcPr marL="64008" marR="64008" marT="27432" marB="27432" anchor="ctr">
                    <a:solidFill>
                      <a:srgbClr val="FFFFFF"/>
                    </a:solidFill>
                  </a:tcPr>
                </a:tc>
                <a:tc>
                  <a:txBody>
                    <a:bodyPr wrap="square"/>
                    <a:lstStyle/>
                    <a:p>
                      <a:r>
                        <a:rPr sz="1100" b="0">
                          <a:solidFill>
                            <a:srgbClr val="4B4B4B"/>
                          </a:solidFill>
                          <a:latin typeface="Arial"/>
                        </a:rPr>
                        <a:t>Closure permissions</a:t>
                      </a:r>
                    </a:p>
                  </a:txBody>
                  <a:tcPr marL="64008" marR="64008" marT="27432" marB="27432" anchor="ctr">
                    <a:solidFill>
                      <a:srgbClr val="FFFFFF"/>
                    </a:solidFill>
                  </a:tcPr>
                </a:tc>
                <a:tc>
                  <a:txBody>
                    <a:bodyPr wrap="square"/>
                    <a:lstStyle/>
                    <a:p>
                      <a:r>
                        <a:rPr sz="1100" b="0">
                          <a:solidFill>
                            <a:srgbClr val="4B4B4B"/>
                          </a:solidFill>
                          <a:latin typeface="Arial"/>
                        </a:rPr>
                        <a:t>Claims and Risk Management</a:t>
                      </a:r>
                    </a:p>
                  </a:txBody>
                  <a:tcPr marL="64008" marR="64008" marT="27432" marB="27432" anchor="ctr">
                    <a:solidFill>
                      <a:srgbClr val="FFFFFF"/>
                    </a:solidFill>
                  </a:tcPr>
                </a:tc>
                <a:tc>
                  <a:txBody>
                    <a:bodyPr wrap="square"/>
                    <a:lstStyle/>
                    <a:p>
                      <a:r>
                        <a:rPr sz="1100" b="0">
                          <a:solidFill>
                            <a:srgbClr val="4B4B4B"/>
                          </a:solidFill>
                          <a:latin typeface="Arial"/>
                        </a:rPr>
                        <a:t>Officer or TL / TH for permanent closure</a:t>
                      </a:r>
                    </a:p>
                  </a:txBody>
                  <a:tcPr marL="64008" marR="64008" marT="27432" marB="27432" anchor="ctr">
                    <a:solidFill>
                      <a:srgbClr val="FFFFFF"/>
                    </a:solidFill>
                  </a:tcPr>
                </a:tc>
                <a:tc>
                  <a:txBody>
                    <a:bodyPr wrap="square"/>
                    <a:lstStyle/>
                    <a:p>
                      <a:r>
                        <a:rPr sz="1100" b="0">
                          <a:solidFill>
                            <a:srgbClr val="4B4B4B"/>
                          </a:solidFill>
                          <a:latin typeface="Arial"/>
                        </a:rPr>
                        <a:t>DCR-079</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Total-loss indicator</a:t>
                      </a:r>
                    </a:p>
                  </a:txBody>
                  <a:tcPr marL="64008" marR="64008" marT="27432" marB="27432" anchor="ctr">
                    <a:solidFill>
                      <a:srgbClr val="E5F5FF"/>
                    </a:solidFill>
                  </a:tcPr>
                </a:tc>
                <a:tc>
                  <a:txBody>
                    <a:bodyPr wrap="square"/>
                    <a:lstStyle/>
                    <a:p>
                      <a:r>
                        <a:rPr sz="1100" b="0">
                          <a:solidFill>
                            <a:srgbClr val="4B4B4B"/>
                          </a:solidFill>
                          <a:latin typeface="Arial"/>
                        </a:rPr>
                        <a:t>Renewal eligibility after a total loss</a:t>
                      </a:r>
                    </a:p>
                  </a:txBody>
                  <a:tcPr marL="64008" marR="64008" marT="27432" marB="27432" anchor="ctr">
                    <a:solidFill>
                      <a:srgbClr val="E5F5FF"/>
                    </a:solidFill>
                  </a:tcPr>
                </a:tc>
                <a:tc>
                  <a:txBody>
                    <a:bodyPr wrap="square"/>
                    <a:lstStyle/>
                    <a:p>
                      <a:r>
                        <a:rPr sz="1100" b="0">
                          <a:solidFill>
                            <a:srgbClr val="4B4B4B"/>
                          </a:solidFill>
                          <a:latin typeface="Arial"/>
                        </a:rPr>
                        <a:t>Claims, Renewal</a:t>
                      </a:r>
                    </a:p>
                  </a:txBody>
                  <a:tcPr marL="64008" marR="64008" marT="27432" marB="27432" anchor="ctr">
                    <a:solidFill>
                      <a:srgbClr val="E5F5FF"/>
                    </a:solidFill>
                  </a:tcPr>
                </a:tc>
                <a:tc>
                  <a:txBody>
                    <a:bodyPr wrap="square"/>
                    <a:lstStyle/>
                    <a:p>
                      <a:r>
                        <a:rPr sz="1100" b="0">
                          <a:solidFill>
                            <a:srgbClr val="4B4B4B"/>
                          </a:solidFill>
                          <a:latin typeface="Arial"/>
                        </a:rPr>
                        <a:t>Settlement type, loss nature or a flag</a:t>
                      </a:r>
                    </a:p>
                  </a:txBody>
                  <a:tcPr marL="64008" marR="64008" marT="27432" marB="27432" anchor="ctr">
                    <a:solidFill>
                      <a:srgbClr val="E5F5FF"/>
                    </a:solidFill>
                  </a:tcPr>
                </a:tc>
                <a:tc>
                  <a:txBody>
                    <a:bodyPr wrap="square"/>
                    <a:lstStyle/>
                    <a:p>
                      <a:r>
                        <a:rPr sz="1100" b="0">
                          <a:solidFill>
                            <a:srgbClr val="4B4B4B"/>
                          </a:solidFill>
                          <a:latin typeface="Arial"/>
                        </a:rPr>
                        <a:t>XQ10</a:t>
                      </a:r>
                    </a:p>
                  </a:txBody>
                  <a:tcPr marL="64008" marR="64008" marT="27432" marB="27432" anchor="ctr">
                    <a:solidFill>
                      <a:srgbClr val="E5F5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Premium-paid check before filing</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Invoice ledger read at intake; authorization disabled while unpaid, with reason and history.</a:t>
            </a:r>
          </a:p>
          <a:p>
            <a:pPr>
              <a:spcAft>
                <a:spcPts val="400"/>
              </a:spcAft>
            </a:pPr>
            <a:r>
              <a:rPr sz="1200" b="1">
                <a:solidFill>
                  <a:srgbClr val="004EA8"/>
                </a:solidFill>
                <a:latin typeface="Arial"/>
              </a:rPr>
              <a:t>BDOI: </a:t>
            </a:r>
            <a:r>
              <a:rPr sz="1200" b="0">
                <a:solidFill>
                  <a:srgbClr val="4B4B4B"/>
                </a:solidFill>
                <a:latin typeface="Arial"/>
              </a:rPr>
              <a:t>Define the rule and the override (DCR-085).</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Claims diary with ageing control</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Next follow-up date, action plan, diary; age overall and per status; Claims home.</a:t>
            </a:r>
          </a:p>
          <a:p>
            <a:pPr>
              <a:spcAft>
                <a:spcPts val="400"/>
              </a:spcAft>
            </a:pPr>
            <a:r>
              <a:rPr sz="1200" b="1">
                <a:solidFill>
                  <a:srgbClr val="004EA8"/>
                </a:solidFill>
                <a:latin typeface="Arial"/>
              </a:rPr>
              <a:t>BDOI: </a:t>
            </a:r>
            <a:r>
              <a:rPr sz="1200" b="0">
                <a:solidFill>
                  <a:srgbClr val="4B4B4B"/>
                </a:solidFill>
                <a:latin typeface="Arial"/>
              </a:rPr>
              <a:t>Set follow-up targets per status.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Four-eyes closure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Permanent closure needs a closing settlement type and a TL or TH; reopen with a reason.</a:t>
            </a:r>
          </a:p>
          <a:p>
            <a:pPr>
              <a:spcAft>
                <a:spcPts val="400"/>
              </a:spcAft>
            </a:pPr>
            <a:r>
              <a:rPr sz="1200" b="1">
                <a:solidFill>
                  <a:srgbClr val="004EA8"/>
                </a:solidFill>
                <a:latin typeface="Arial"/>
              </a:rPr>
              <a:t>BDOI: </a:t>
            </a:r>
            <a:r>
              <a:rPr sz="1200" b="0">
                <a:solidFill>
                  <a:srgbClr val="4B4B4B"/>
                </a:solidFill>
                <a:latin typeface="Arial"/>
              </a:rPr>
              <a:t>Confirm who closes (DCR-079).</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Loss data for pricing and renewal</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Loss experience and claims-prone locations; Renewal reads claims (decision D4).</a:t>
            </a:r>
          </a:p>
          <a:p>
            <a:pPr>
              <a:spcAft>
                <a:spcPts val="400"/>
              </a:spcAft>
            </a:pPr>
            <a:r>
              <a:rPr sz="1200" b="1">
                <a:solidFill>
                  <a:srgbClr val="004EA8"/>
                </a:solidFill>
                <a:latin typeface="Arial"/>
              </a:rPr>
              <a:t>BDOI: </a:t>
            </a:r>
            <a:r>
              <a:rPr sz="1200" b="0">
                <a:solidFill>
                  <a:srgbClr val="4B4B4B"/>
                </a:solidFill>
                <a:latin typeface="Arial"/>
              </a:rPr>
              <a:t>Migrate claims history (CLQ14).</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Confidential claim documents</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Document access classes per type; claims reports as CLAIM_REPORT (decision D3).</a:t>
            </a:r>
          </a:p>
          <a:p>
            <a:pPr>
              <a:spcAft>
                <a:spcPts val="400"/>
              </a:spcAft>
            </a:pPr>
            <a:r>
              <a:rPr sz="1200" b="1">
                <a:solidFill>
                  <a:srgbClr val="004EA8"/>
                </a:solidFill>
                <a:latin typeface="Arial"/>
              </a:rPr>
              <a:t>BDOI: </a:t>
            </a:r>
            <a:r>
              <a:rPr sz="1200" b="0">
                <a:solidFill>
                  <a:srgbClr val="4B4B4B"/>
                </a:solidFill>
                <a:latin typeface="Arial"/>
              </a:rPr>
              <a:t>Approve the confidentiality matrix under the Data Privacy Act (XQ04).</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Claims service KPIs</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Ageing, outstanding and settled reports, 90-days-past-due list.</a:t>
            </a:r>
          </a:p>
          <a:p>
            <a:pPr>
              <a:spcAft>
                <a:spcPts val="400"/>
              </a:spcAft>
            </a:pPr>
            <a:r>
              <a:rPr sz="1200" b="1">
                <a:solidFill>
                  <a:srgbClr val="004EA8"/>
                </a:solidFill>
                <a:latin typeface="Arial"/>
              </a:rPr>
              <a:t>BDOI: </a:t>
            </a:r>
            <a:r>
              <a:rPr sz="1200" b="0">
                <a:solidFill>
                  <a:srgbClr val="4B4B4B"/>
                </a:solidFill>
                <a:latin typeface="Arial"/>
              </a:rPr>
              <a:t>Adopt turnaround targets for notice-to-advice and advice-to-settlement.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8. Employee Benefits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BRD-8 | Group benefit programmes: renewal advice to placement, member servicing, partner portal</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Employee Benefits: Marketing, Processing and Collection</a:t>
            </a:r>
          </a:p>
          <a:p>
            <a:pPr>
              <a:spcAft>
                <a:spcPts val="300"/>
              </a:spcAft>
            </a:pPr>
            <a:r>
              <a:rPr sz="1200" b="0">
                <a:solidFill>
                  <a:srgbClr val="004EA8"/>
                </a:solidFill>
                <a:latin typeface="Arial"/>
              </a:rPr>
              <a:t>•  </a:t>
            </a:r>
            <a:r>
              <a:rPr sz="1200" b="0">
                <a:solidFill>
                  <a:srgbClr val="4B4B4B"/>
                </a:solidFill>
                <a:latin typeface="Arial"/>
              </a:rPr>
              <a:t>EB Marketing AO and TL / UH (five EB teams)</a:t>
            </a:r>
          </a:p>
          <a:p>
            <a:pPr>
              <a:spcAft>
                <a:spcPts val="300"/>
              </a:spcAft>
            </a:pPr>
            <a:r>
              <a:rPr sz="1200" b="0">
                <a:solidFill>
                  <a:srgbClr val="004EA8"/>
                </a:solidFill>
                <a:latin typeface="Arial"/>
              </a:rPr>
              <a:t>•  </a:t>
            </a:r>
            <a:r>
              <a:rPr sz="1200" b="0">
                <a:solidFill>
                  <a:srgbClr val="4B4B4B"/>
                </a:solidFill>
                <a:latin typeface="Arial"/>
              </a:rPr>
              <a:t>BDOI Management (threshold approval)</a:t>
            </a:r>
          </a:p>
          <a:p>
            <a:pPr>
              <a:spcAft>
                <a:spcPts val="300"/>
              </a:spcAft>
            </a:pPr>
            <a:r>
              <a:rPr sz="1200" b="0">
                <a:solidFill>
                  <a:srgbClr val="004EA8"/>
                </a:solidFill>
                <a:latin typeface="Arial"/>
              </a:rPr>
              <a:t>•  </a:t>
            </a:r>
            <a:r>
              <a:rPr sz="1200" b="0">
                <a:solidFill>
                  <a:srgbClr val="4B4B4B"/>
                </a:solidFill>
                <a:latin typeface="Arial"/>
              </a:rPr>
              <a:t>EB Processing and Processing Supervisor</a:t>
            </a:r>
          </a:p>
          <a:p>
            <a:pPr>
              <a:spcAft>
                <a:spcPts val="300"/>
              </a:spcAft>
            </a:pPr>
            <a:r>
              <a:rPr sz="1200" b="0">
                <a:solidFill>
                  <a:srgbClr val="004EA8"/>
                </a:solidFill>
                <a:latin typeface="Arial"/>
              </a:rPr>
              <a:t>•  </a:t>
            </a:r>
            <a:r>
              <a:rPr sz="1200" b="0">
                <a:solidFill>
                  <a:srgbClr val="4B4B4B"/>
                </a:solidFill>
                <a:latin typeface="Arial"/>
              </a:rPr>
              <a:t>EB Collection</a:t>
            </a:r>
          </a:p>
          <a:p>
            <a:pPr>
              <a:spcAft>
                <a:spcPts val="300"/>
              </a:spcAft>
            </a:pPr>
            <a:r>
              <a:rPr sz="1200" b="0">
                <a:solidFill>
                  <a:srgbClr val="004EA8"/>
                </a:solidFill>
                <a:latin typeface="Arial"/>
              </a:rPr>
              <a:t>•  </a:t>
            </a:r>
            <a:r>
              <a:rPr sz="1200" b="0">
                <a:solidFill>
                  <a:srgbClr val="4B4B4B"/>
                </a:solidFill>
                <a:latin typeface="Arial"/>
              </a:rPr>
              <a:t>Portal: insurer and HMO users, client HR users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4,200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in 2025; 4,150 are renewals (Add. p.14)</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20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BDOI users: Marketing 13, Processing 4, Collection 3</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135</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days before expiry: default renewal advice (TAT annex)</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99.99%</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availability asked; use 08:30-19:00 (p.36-37)</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BRD-8 workshop addendum Add. p.3-5 (current and envisioned)</a:t>
            </a:r>
          </a:p>
          <a:p>
            <a:pPr>
              <a:spcAft>
                <a:spcPts val="300"/>
              </a:spcAft>
            </a:pPr>
            <a:r>
              <a:rPr sz="1200" b="0">
                <a:solidFill>
                  <a:srgbClr val="004EA8"/>
                </a:solidFill>
                <a:latin typeface="Arial"/>
              </a:rPr>
              <a:t>•  </a:t>
            </a:r>
            <a:r>
              <a:rPr sz="1200" b="0">
                <a:solidFill>
                  <a:srgbClr val="4B4B4B"/>
                </a:solidFill>
                <a:latin typeface="Arial"/>
              </a:rPr>
              <a:t>BRID-001-030; main BRD p.5</a:t>
            </a:r>
          </a:p>
          <a:p>
            <a:pPr>
              <a:spcAft>
                <a:spcPts val="300"/>
              </a:spcAft>
            </a:pPr>
            <a:r>
              <a:rPr sz="1200" b="0">
                <a:solidFill>
                  <a:srgbClr val="004EA8"/>
                </a:solidFill>
                <a:latin typeface="Arial"/>
              </a:rPr>
              <a:t>•  </a:t>
            </a:r>
            <a:r>
              <a:rPr sz="1200" b="0">
                <a:solidFill>
                  <a:srgbClr val="4B4B4B"/>
                </a:solidFill>
                <a:latin typeface="Arial"/>
              </a:rPr>
              <a:t>FRS BRD-8 v1.0; decision D7 (portal users)</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Renewal advice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Requirements</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BOR and franchise</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TOR</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Proposals</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Comparative</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Client decision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pic>
        <p:nvPicPr>
          <p:cNvPr id="9" name="Picture 8" descr="brd08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Employee Benefits today (BRD-8 Add. p.3)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Renewal advices by hand</a:t>
            </a:r>
          </a:p>
          <a:p>
            <a:pPr>
              <a:spcAft>
                <a:spcPts val="100"/>
              </a:spcAft>
            </a:pPr>
            <a:r>
              <a:rPr sz="1200" b="0">
                <a:solidFill>
                  <a:srgbClr val="4B4B4B"/>
                </a:solidFill>
                <a:latin typeface="Arial"/>
              </a:rPr>
              <a:t>Prepared in Word or Excel for each programme.</a:t>
            </a:r>
          </a:p>
          <a:p>
            <a:pPr>
              <a:spcAft>
                <a:spcPts val="100"/>
              </a:spcAft>
            </a:pPr>
            <a:r>
              <a:rPr sz="1200" b="0">
                <a:solidFill>
                  <a:srgbClr val="0072D8"/>
                </a:solidFill>
                <a:latin typeface="Arial"/>
              </a:rPr>
              <a:t>BRD-8 Add. p.3; BRID-001</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document repository</a:t>
            </a:r>
          </a:p>
          <a:p>
            <a:pPr>
              <a:spcAft>
                <a:spcPts val="100"/>
              </a:spcAft>
            </a:pPr>
            <a:r>
              <a:rPr sz="1200" b="0">
                <a:solidFill>
                  <a:srgbClr val="4B4B4B"/>
                </a:solidFill>
                <a:latin typeface="Arial"/>
              </a:rPr>
              <a:t>TOR, master lists, utilization and proposals travel by e-mail.</a:t>
            </a:r>
          </a:p>
          <a:p>
            <a:pPr>
              <a:spcAft>
                <a:spcPts val="100"/>
              </a:spcAft>
            </a:pPr>
            <a:r>
              <a:rPr sz="1200" b="0">
                <a:solidFill>
                  <a:srgbClr val="0072D8"/>
                </a:solidFill>
                <a:latin typeface="Arial"/>
              </a:rPr>
              <a:t>BRD-8 Add. p.3; BRID-002, 007</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Insurers and clients reply by e-mail</a:t>
            </a:r>
          </a:p>
          <a:p>
            <a:pPr>
              <a:spcAft>
                <a:spcPts val="100"/>
              </a:spcAft>
            </a:pPr>
            <a:r>
              <a:rPr sz="1200" b="0">
                <a:solidFill>
                  <a:srgbClr val="4B4B4B"/>
                </a:solidFill>
                <a:latin typeface="Arial"/>
              </a:rPr>
              <a:t>No secure channel and no validation before use.</a:t>
            </a:r>
          </a:p>
          <a:p>
            <a:pPr>
              <a:spcAft>
                <a:spcPts val="100"/>
              </a:spcAft>
            </a:pPr>
            <a:r>
              <a:rPr sz="1200" b="0">
                <a:solidFill>
                  <a:srgbClr val="0072D8"/>
                </a:solidFill>
                <a:latin typeface="Arial"/>
              </a:rPr>
              <a:t>BRD-8 Add. p.3-4; BRID-005</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compiled by hand</a:t>
            </a:r>
          </a:p>
          <a:p>
            <a:pPr>
              <a:spcAft>
                <a:spcPts val="100"/>
              </a:spcAft>
            </a:pPr>
            <a:r>
              <a:rPr sz="1200" b="0">
                <a:solidFill>
                  <a:srgbClr val="4B4B4B"/>
                </a:solidFill>
                <a:latin typeface="Arial"/>
              </a:rPr>
              <a:t>Proposals are re-keyed into a comparative.</a:t>
            </a:r>
          </a:p>
          <a:p>
            <a:pPr>
              <a:spcAft>
                <a:spcPts val="100"/>
              </a:spcAft>
            </a:pPr>
            <a:r>
              <a:rPr sz="1200" b="0">
                <a:solidFill>
                  <a:srgbClr val="0072D8"/>
                </a:solidFill>
                <a:latin typeface="Arial"/>
              </a:rPr>
              <a:t>BRD-8 Add. p.3; BRID-010</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Placement starts on an e-mail</a:t>
            </a:r>
          </a:p>
          <a:p>
            <a:pPr>
              <a:spcAft>
                <a:spcPts val="100"/>
              </a:spcAft>
            </a:pPr>
            <a:r>
              <a:rPr sz="1200" b="0">
                <a:solidFill>
                  <a:srgbClr val="4B4B4B"/>
                </a:solidFill>
                <a:latin typeface="Arial"/>
              </a:rPr>
              <a:t>Hand-offs between Marketing, Processing and Collection run on e-mail.</a:t>
            </a:r>
          </a:p>
          <a:p>
            <a:pPr>
              <a:spcAft>
                <a:spcPts val="100"/>
              </a:spcAft>
            </a:pPr>
            <a:r>
              <a:rPr sz="1200" b="0">
                <a:solidFill>
                  <a:srgbClr val="0072D8"/>
                </a:solidFill>
                <a:latin typeface="Arial"/>
              </a:rPr>
              <a:t>BRD-8 Add. p.3; BRID-017</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Members and billing in spreadsheets</a:t>
            </a:r>
          </a:p>
          <a:p>
            <a:pPr>
              <a:spcAft>
                <a:spcPts val="100"/>
              </a:spcAft>
            </a:pPr>
            <a:r>
              <a:rPr sz="1200" b="0">
                <a:solidFill>
                  <a:srgbClr val="4B4B4B"/>
                </a:solidFill>
                <a:latin typeface="Arial"/>
              </a:rPr>
              <a:t>Member movements, direct billing, cards and SOAs tracked in Excel.</a:t>
            </a:r>
          </a:p>
          <a:p>
            <a:pPr>
              <a:spcAft>
                <a:spcPts val="100"/>
              </a:spcAft>
            </a:pPr>
            <a:r>
              <a:rPr sz="1200" b="0">
                <a:solidFill>
                  <a:srgbClr val="0072D8"/>
                </a:solidFill>
                <a:latin typeface="Arial"/>
              </a:rPr>
              <a:t>BRD-8 Add. p.3; BRID-013, 021, 030</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by hand</a:t>
            </a:r>
          </a:p>
          <a:p>
            <a:pPr>
              <a:spcAft>
                <a:spcPts val="100"/>
              </a:spcAft>
            </a:pPr>
            <a:r>
              <a:rPr sz="1200" b="0">
                <a:solidFill>
                  <a:srgbClr val="4B4B4B"/>
                </a:solidFill>
                <a:latin typeface="Arial"/>
              </a:rPr>
              <a:t>Production, renewal and TAT reports compiled manually.</a:t>
            </a:r>
          </a:p>
          <a:p>
            <a:pPr>
              <a:spcAft>
                <a:spcPts val="100"/>
              </a:spcAft>
            </a:pPr>
            <a:r>
              <a:rPr sz="1200" b="0">
                <a:solidFill>
                  <a:srgbClr val="0072D8"/>
                </a:solidFill>
                <a:latin typeface="Arial"/>
              </a:rPr>
              <a:t>BRD-8 Add. p.3; BRID-022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pic>
        <p:nvPicPr>
          <p:cNvPr id="9" name="Picture 8" descr="brd08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EB cycle in BIBS: workflow EB_CYCLE and the partner portal (FRS BRD-8 sections 2.2 and 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advices by hand</a:t>
            </a:r>
          </a:p>
        </p:txBody>
      </p:sp>
      <p:sp>
        <p:nvSpPr>
          <p:cNvPr id="15" name="Right Arrow 14"/>
          <p:cNvSpPr/>
          <p:nvPr/>
        </p:nvSpPr>
        <p:spPr>
          <a:xfrm>
            <a:off x="473659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Daily job sends the RA 135 days before expiry, with reminders and a feedback request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About 4,150 renewals a year</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document repository</a:t>
            </a:r>
          </a:p>
        </p:txBody>
      </p:sp>
      <p:sp>
        <p:nvSpPr>
          <p:cNvPr id="22" name="Right Arrow 21"/>
          <p:cNvSpPr/>
          <p:nvPr/>
        </p:nvSpPr>
        <p:spPr>
          <a:xfrm>
            <a:off x="473659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25910"/>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25910"/>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document registered with cycle, type, process and version; outbound files protected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repository</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and clients reply by e-mail</a:t>
            </a:r>
          </a:p>
        </p:txBody>
      </p:sp>
      <p:sp>
        <p:nvSpPr>
          <p:cNvPr id="29" name="Right Arrow 28"/>
          <p:cNvSpPr/>
          <p:nvPr/>
        </p:nvSpPr>
        <p:spPr>
          <a:xfrm>
            <a:off x="473659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79053"/>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79053"/>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and client HR work in the partner portal; uploads take effect after BDOI validation</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Validation before use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compiled by hand</a:t>
            </a:r>
          </a:p>
        </p:txBody>
      </p:sp>
      <p:sp>
        <p:nvSpPr>
          <p:cNvPr id="36" name="Right Arrow 35"/>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32196"/>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32196"/>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compiled from the validated proposals; sign-off and threshold approval in the workflow</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re-keying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Placement starts on an e-mail</a:t>
            </a:r>
          </a:p>
        </p:txBody>
      </p:sp>
      <p:sp>
        <p:nvSpPr>
          <p:cNvPr id="43" name="Right Arrow 42"/>
          <p:cNvSpPr/>
          <p:nvPr/>
        </p:nvSpPr>
        <p:spPr>
          <a:xfrm>
            <a:off x="473659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185339"/>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185339"/>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Client confirmation creates one account per benefit line and notifies Processing</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Hand-off in the system</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Members and billing in spreadsheets</a:t>
            </a:r>
          </a:p>
        </p:txBody>
      </p:sp>
      <p:sp>
        <p:nvSpPr>
          <p:cNvPr id="50" name="Right Arrow 49"/>
          <p:cNvSpPr/>
          <p:nvPr/>
        </p:nvSpPr>
        <p:spPr>
          <a:xfrm>
            <a:off x="473659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38482"/>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38482"/>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Member changes, direct billing, contracts, HMO cards and SOAs are tracked items with follow-ups</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Automatic follow-ups</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by hand</a:t>
            </a:r>
          </a:p>
        </p:txBody>
      </p:sp>
      <p:sp>
        <p:nvSpPr>
          <p:cNvPr id="57" name="Right Arrow 56"/>
          <p:cNvSpPr/>
          <p:nvPr/>
        </p:nvSpPr>
        <p:spPr>
          <a:xfrm>
            <a:off x="473659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491625"/>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491625"/>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Production, Renewal, Placement, New Business and TAT reports with a business type filter</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Live reports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No data-privacy rule for member data</a:t>
                      </a:r>
                    </a:p>
                  </a:txBody>
                  <a:tcPr marL="64008" marR="64008" marT="27432" marB="27432" anchor="ctr">
                    <a:solidFill>
                      <a:srgbClr val="FFFFFF"/>
                    </a:solidFill>
                  </a:tcPr>
                </a:tc>
                <a:tc>
                  <a:txBody>
                    <a:bodyPr wrap="square"/>
                    <a:lstStyle/>
                    <a:p>
                      <a:r>
                        <a:rPr sz="1100" b="0">
                          <a:solidFill>
                            <a:srgbClr val="4B4B4B"/>
                          </a:solidFill>
                          <a:latin typeface="Arial"/>
                        </a:rPr>
                        <a:t>Health-related personal data under the Data Privacy Act</a:t>
                      </a:r>
                    </a:p>
                  </a:txBody>
                  <a:tcPr marL="64008" marR="64008" marT="27432" marB="27432" anchor="ctr">
                    <a:solidFill>
                      <a:srgbClr val="FFFFFF"/>
                    </a:solidFill>
                  </a:tcPr>
                </a:tc>
                <a:tc>
                  <a:txBody>
                    <a:bodyPr wrap="square"/>
                    <a:lstStyle/>
                    <a:p>
                      <a:r>
                        <a:rPr sz="1100" b="0">
                          <a:solidFill>
                            <a:srgbClr val="4B4B4B"/>
                          </a:solidFill>
                          <a:latin typeface="Arial"/>
                        </a:rPr>
                        <a:t>EB, Compliance (DPO)</a:t>
                      </a:r>
                    </a:p>
                  </a:txBody>
                  <a:tcPr marL="64008" marR="64008" marT="27432" marB="27432" anchor="ctr">
                    <a:solidFill>
                      <a:srgbClr val="FFFFFF"/>
                    </a:solidFill>
                  </a:tcPr>
                </a:tc>
                <a:tc>
                  <a:txBody>
                    <a:bodyPr wrap="square"/>
                    <a:lstStyle/>
                    <a:p>
                      <a:r>
                        <a:rPr sz="1100" b="0">
                          <a:solidFill>
                            <a:srgbClr val="4B4B4B"/>
                          </a:solidFill>
                          <a:latin typeface="Arial"/>
                        </a:rPr>
                        <a:t>Access, masking and retention for master lists and utilization</a:t>
                      </a:r>
                    </a:p>
                  </a:txBody>
                  <a:tcPr marL="64008" marR="64008" marT="27432" marB="27432" anchor="ctr">
                    <a:solidFill>
                      <a:srgbClr val="FFFFFF"/>
                    </a:solidFill>
                  </a:tcPr>
                </a:tc>
                <a:tc>
                  <a:txBody>
                    <a:bodyPr wrap="square"/>
                    <a:lstStyle/>
                    <a:p>
                      <a:r>
                        <a:rPr sz="1100" b="0">
                          <a:solidFill>
                            <a:srgbClr val="4B4B4B"/>
                          </a:solidFill>
                          <a:latin typeface="Arial"/>
                        </a:rPr>
                        <a:t>DCR-094</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External portal users</a:t>
                      </a:r>
                    </a:p>
                  </a:txBody>
                  <a:tcPr marL="64008" marR="64008" marT="27432" marB="27432" anchor="ctr">
                    <a:solidFill>
                      <a:srgbClr val="E5F5FF"/>
                    </a:solidFill>
                  </a:tcPr>
                </a:tc>
                <a:tc>
                  <a:txBody>
                    <a:bodyPr wrap="square"/>
                    <a:lstStyle/>
                    <a:p>
                      <a:r>
                        <a:rPr sz="1100" b="0">
                          <a:solidFill>
                            <a:srgbClr val="4B4B4B"/>
                          </a:solidFill>
                          <a:latin typeface="Arial"/>
                        </a:rPr>
                        <a:t>Internet-facing access: hosting, MFA, provisioning</a:t>
                      </a:r>
                    </a:p>
                  </a:txBody>
                  <a:tcPr marL="64008" marR="64008" marT="27432" marB="27432" anchor="ctr">
                    <a:solidFill>
                      <a:srgbClr val="E5F5FF"/>
                    </a:solidFill>
                  </a:tcPr>
                </a:tc>
                <a:tc>
                  <a:txBody>
                    <a:bodyPr wrap="square"/>
                    <a:lstStyle/>
                    <a:p>
                      <a:r>
                        <a:rPr sz="1100" b="0">
                          <a:solidFill>
                            <a:srgbClr val="4B4B4B"/>
                          </a:solidFill>
                          <a:latin typeface="Arial"/>
                        </a:rPr>
                        <a:t>EB, BDO Information Security</a:t>
                      </a:r>
                    </a:p>
                  </a:txBody>
                  <a:tcPr marL="64008" marR="64008" marT="27432" marB="27432" anchor="ctr">
                    <a:solidFill>
                      <a:srgbClr val="E5F5FF"/>
                    </a:solidFill>
                  </a:tcPr>
                </a:tc>
                <a:tc>
                  <a:txBody>
                    <a:bodyPr wrap="square"/>
                    <a:lstStyle/>
                    <a:p>
                      <a:r>
                        <a:rPr sz="1100" b="0">
                          <a:solidFill>
                            <a:srgbClr val="4B4B4B"/>
                          </a:solidFill>
                          <a:latin typeface="Arial"/>
                        </a:rPr>
                        <a:t>Who creates and approves portal users; MFA; DMZ</a:t>
                      </a:r>
                    </a:p>
                  </a:txBody>
                  <a:tcPr marL="64008" marR="64008" marT="27432" marB="27432" anchor="ctr">
                    <a:solidFill>
                      <a:srgbClr val="E5F5FF"/>
                    </a:solidFill>
                  </a:tcPr>
                </a:tc>
                <a:tc>
                  <a:txBody>
                    <a:bodyPr wrap="square"/>
                    <a:lstStyle/>
                    <a:p>
                      <a:r>
                        <a:rPr sz="1100" b="0">
                          <a:solidFill>
                            <a:srgbClr val="4B4B4B"/>
                          </a:solidFill>
                          <a:latin typeface="Arial"/>
                        </a:rPr>
                        <a:t>DCR-096</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RA 180 or 135 days before expiry</a:t>
                      </a:r>
                    </a:p>
                  </a:txBody>
                  <a:tcPr marL="64008" marR="64008" marT="27432" marB="27432" anchor="ctr">
                    <a:solidFill>
                      <a:srgbClr val="FFFFFF"/>
                    </a:solidFill>
                  </a:tcPr>
                </a:tc>
                <a:tc>
                  <a:txBody>
                    <a:bodyPr wrap="square"/>
                    <a:lstStyle/>
                    <a:p>
                      <a:r>
                        <a:rPr sz="1100" b="0">
                          <a:solidFill>
                            <a:srgbClr val="4B4B4B"/>
                          </a:solidFill>
                          <a:latin typeface="Arial"/>
                        </a:rPr>
                        <a:t>Timing of the renewal cycle</a:t>
                      </a:r>
                    </a:p>
                  </a:txBody>
                  <a:tcPr marL="64008" marR="64008" marT="27432" marB="27432" anchor="ctr">
                    <a:solidFill>
                      <a:srgbClr val="FFFFFF"/>
                    </a:solidFill>
                  </a:tcPr>
                </a:tc>
                <a:tc>
                  <a:txBody>
                    <a:bodyPr wrap="square"/>
                    <a:lstStyle/>
                    <a:p>
                      <a:r>
                        <a:rPr sz="1100" b="0">
                          <a:solidFill>
                            <a:srgbClr val="4B4B4B"/>
                          </a:solidFill>
                          <a:latin typeface="Arial"/>
                        </a:rPr>
                        <a:t>EB Marketing</a:t>
                      </a:r>
                    </a:p>
                  </a:txBody>
                  <a:tcPr marL="64008" marR="64008" marT="27432" marB="27432" anchor="ctr">
                    <a:solidFill>
                      <a:srgbClr val="FFFFFF"/>
                    </a:solidFill>
                  </a:tcPr>
                </a:tc>
                <a:tc>
                  <a:txBody>
                    <a:bodyPr wrap="square"/>
                    <a:lstStyle/>
                    <a:p>
                      <a:r>
                        <a:rPr sz="1100" b="0">
                          <a:solidFill>
                            <a:srgbClr val="4B4B4B"/>
                          </a:solidFill>
                          <a:latin typeface="Arial"/>
                        </a:rPr>
                        <a:t>Days before expiry and number of reminders</a:t>
                      </a:r>
                    </a:p>
                  </a:txBody>
                  <a:tcPr marL="64008" marR="64008" marT="27432" marB="27432" anchor="ctr">
                    <a:solidFill>
                      <a:srgbClr val="FFFFFF"/>
                    </a:solidFill>
                  </a:tcPr>
                </a:tc>
                <a:tc>
                  <a:txBody>
                    <a:bodyPr wrap="square"/>
                    <a:lstStyle/>
                    <a:p>
                      <a:r>
                        <a:rPr sz="1100" b="0">
                          <a:solidFill>
                            <a:srgbClr val="4B4B4B"/>
                          </a:solidFill>
                          <a:latin typeface="Arial"/>
                        </a:rPr>
                        <a:t>DCR-087</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BOR for renewals</a:t>
                      </a:r>
                    </a:p>
                  </a:txBody>
                  <a:tcPr marL="64008" marR="64008" marT="27432" marB="27432" anchor="ctr">
                    <a:solidFill>
                      <a:srgbClr val="E5F5FF"/>
                    </a:solidFill>
                  </a:tcPr>
                </a:tc>
                <a:tc>
                  <a:txBody>
                    <a:bodyPr wrap="square"/>
                    <a:lstStyle/>
                    <a:p>
                      <a:r>
                        <a:rPr sz="1100" b="0">
                          <a:solidFill>
                            <a:srgbClr val="4B4B4B"/>
                          </a:solidFill>
                          <a:latin typeface="Arial"/>
                        </a:rPr>
                        <a:t>Insurer requests blocked or not</a:t>
                      </a:r>
                    </a:p>
                  </a:txBody>
                  <a:tcPr marL="64008" marR="64008" marT="27432" marB="27432" anchor="ctr">
                    <a:solidFill>
                      <a:srgbClr val="E5F5FF"/>
                    </a:solidFill>
                  </a:tcPr>
                </a:tc>
                <a:tc>
                  <a:txBody>
                    <a:bodyPr wrap="square"/>
                    <a:lstStyle/>
                    <a:p>
                      <a:r>
                        <a:rPr sz="1100" b="0">
                          <a:solidFill>
                            <a:srgbClr val="4B4B4B"/>
                          </a:solidFill>
                          <a:latin typeface="Arial"/>
                        </a:rPr>
                        <a:t>EB Marketing</a:t>
                      </a:r>
                    </a:p>
                  </a:txBody>
                  <a:tcPr marL="64008" marR="64008" marT="27432" marB="27432" anchor="ctr">
                    <a:solidFill>
                      <a:srgbClr val="E5F5FF"/>
                    </a:solidFill>
                  </a:tcPr>
                </a:tc>
                <a:tc>
                  <a:txBody>
                    <a:bodyPr wrap="square"/>
                    <a:lstStyle/>
                    <a:p>
                      <a:r>
                        <a:rPr sz="1100" b="0">
                          <a:solidFill>
                            <a:srgbClr val="4B4B4B"/>
                          </a:solidFill>
                          <a:latin typeface="Arial"/>
                        </a:rPr>
                        <a:t>Never, when remarketing, or always</a:t>
                      </a:r>
                    </a:p>
                  </a:txBody>
                  <a:tcPr marL="64008" marR="64008" marT="27432" marB="27432" anchor="ctr">
                    <a:solidFill>
                      <a:srgbClr val="E5F5FF"/>
                    </a:solidFill>
                  </a:tcPr>
                </a:tc>
                <a:tc>
                  <a:txBody>
                    <a:bodyPr wrap="square"/>
                    <a:lstStyle/>
                    <a:p>
                      <a:r>
                        <a:rPr sz="1100" b="0">
                          <a:solidFill>
                            <a:srgbClr val="4B4B4B"/>
                          </a:solidFill>
                          <a:latin typeface="Arial"/>
                        </a:rPr>
                        <a:t>DCR-088</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Franchise and ISACOM steps</a:t>
                      </a:r>
                    </a:p>
                  </a:txBody>
                  <a:tcPr marL="64008" marR="64008" marT="27432" marB="27432" anchor="ctr">
                    <a:solidFill>
                      <a:srgbClr val="FFFFFF"/>
                    </a:solidFill>
                  </a:tcPr>
                </a:tc>
                <a:tc>
                  <a:txBody>
                    <a:bodyPr wrap="square"/>
                    <a:lstStyle/>
                    <a:p>
                      <a:r>
                        <a:rPr sz="1100" b="0">
                          <a:solidFill>
                            <a:srgbClr val="4B4B4B"/>
                          </a:solidFill>
                          <a:latin typeface="Arial"/>
                        </a:rPr>
                        <a:t>Steps without requirement rows</a:t>
                      </a:r>
                    </a:p>
                  </a:txBody>
                  <a:tcPr marL="64008" marR="64008" marT="27432" marB="27432" anchor="ctr">
                    <a:solidFill>
                      <a:srgbClr val="FFFFFF"/>
                    </a:solidFill>
                  </a:tcPr>
                </a:tc>
                <a:tc>
                  <a:txBody>
                    <a:bodyPr wrap="square"/>
                    <a:lstStyle/>
                    <a:p>
                      <a:r>
                        <a:rPr sz="1100" b="0">
                          <a:solidFill>
                            <a:srgbClr val="4B4B4B"/>
                          </a:solidFill>
                          <a:latin typeface="Arial"/>
                        </a:rPr>
                        <a:t>EB Marketing</a:t>
                      </a:r>
                    </a:p>
                  </a:txBody>
                  <a:tcPr marL="64008" marR="64008" marT="27432" marB="27432" anchor="ctr">
                    <a:solidFill>
                      <a:srgbClr val="FFFFFF"/>
                    </a:solidFill>
                  </a:tcPr>
                </a:tc>
                <a:tc>
                  <a:txBody>
                    <a:bodyPr wrap="square"/>
                    <a:lstStyle/>
                    <a:p>
                      <a:r>
                        <a:rPr sz="1100" b="0">
                          <a:solidFill>
                            <a:srgbClr val="4B4B4B"/>
                          </a:solidFill>
                          <a:latin typeface="Arial"/>
                        </a:rPr>
                        <a:t>What ISACOM approves, and when</a:t>
                      </a:r>
                    </a:p>
                  </a:txBody>
                  <a:tcPr marL="64008" marR="64008" marT="27432" marB="27432" anchor="ctr">
                    <a:solidFill>
                      <a:srgbClr val="FFFFFF"/>
                    </a:solidFill>
                  </a:tcPr>
                </a:tc>
                <a:tc>
                  <a:txBody>
                    <a:bodyPr wrap="square"/>
                    <a:lstStyle/>
                    <a:p>
                      <a:r>
                        <a:rPr sz="1100" b="0">
                          <a:solidFill>
                            <a:srgbClr val="4B4B4B"/>
                          </a:solidFill>
                          <a:latin typeface="Arial"/>
                        </a:rPr>
                        <a:t>DCR-090</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HMO providers as insurers</a:t>
                      </a:r>
                    </a:p>
                  </a:txBody>
                  <a:tcPr marL="64008" marR="64008" marT="27432" marB="27432" anchor="ctr">
                    <a:solidFill>
                      <a:srgbClr val="E5F5FF"/>
                    </a:solidFill>
                  </a:tcPr>
                </a:tc>
                <a:tc>
                  <a:txBody>
                    <a:bodyPr wrap="square"/>
                    <a:lstStyle/>
                    <a:p>
                      <a:r>
                        <a:rPr sz="1100" b="0">
                          <a:solidFill>
                            <a:srgbClr val="4B4B4B"/>
                          </a:solidFill>
                          <a:latin typeface="Arial"/>
                        </a:rPr>
                        <a:t>Catalog of placement counterparties</a:t>
                      </a:r>
                    </a:p>
                  </a:txBody>
                  <a:tcPr marL="64008" marR="64008" marT="27432" marB="27432" anchor="ctr">
                    <a:solidFill>
                      <a:srgbClr val="E5F5FF"/>
                    </a:solidFill>
                  </a:tcPr>
                </a:tc>
                <a:tc>
                  <a:txBody>
                    <a:bodyPr wrap="square"/>
                    <a:lstStyle/>
                    <a:p>
                      <a:r>
                        <a:rPr sz="1100" b="0">
                          <a:solidFill>
                            <a:srgbClr val="4B4B4B"/>
                          </a:solidFill>
                          <a:latin typeface="Arial"/>
                        </a:rPr>
                        <a:t>EB, MBS</a:t>
                      </a:r>
                    </a:p>
                  </a:txBody>
                  <a:tcPr marL="64008" marR="64008" marT="27432" marB="27432" anchor="ctr">
                    <a:solidFill>
                      <a:srgbClr val="E5F5FF"/>
                    </a:solidFill>
                  </a:tcPr>
                </a:tc>
                <a:tc>
                  <a:txBody>
                    <a:bodyPr wrap="square"/>
                    <a:lstStyle/>
                    <a:p>
                      <a:r>
                        <a:rPr sz="1100" b="0">
                          <a:solidFill>
                            <a:srgbClr val="4B4B4B"/>
                          </a:solidFill>
                          <a:latin typeface="Arial"/>
                        </a:rPr>
                        <a:t>List the benefit lines; HMOs held with insurers?</a:t>
                      </a:r>
                    </a:p>
                  </a:txBody>
                  <a:tcPr marL="64008" marR="64008" marT="27432" marB="27432" anchor="ctr">
                    <a:solidFill>
                      <a:srgbClr val="E5F5FF"/>
                    </a:solidFill>
                  </a:tcPr>
                </a:tc>
                <a:tc>
                  <a:txBody>
                    <a:bodyPr wrap="square"/>
                    <a:lstStyle/>
                    <a:p>
                      <a:r>
                        <a:rPr sz="1100" b="0">
                          <a:solidFill>
                            <a:srgbClr val="4B4B4B"/>
                          </a:solidFill>
                          <a:latin typeface="Arial"/>
                        </a:rPr>
                        <a:t>DCR-097</a:t>
                      </a:r>
                    </a:p>
                  </a:txBody>
                  <a:tcPr marL="64008" marR="64008" marT="27432" marB="27432" anchor="ctr">
                    <a:solidFill>
                      <a:srgbClr val="E5F5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Data-privacy controls on member data</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Document access classes, protected files, download logging, audit trail.</a:t>
            </a:r>
          </a:p>
          <a:p>
            <a:pPr>
              <a:spcAft>
                <a:spcPts val="400"/>
              </a:spcAft>
            </a:pPr>
            <a:r>
              <a:rPr sz="1200" b="1">
                <a:solidFill>
                  <a:srgbClr val="004EA8"/>
                </a:solidFill>
                <a:latin typeface="Arial"/>
              </a:rPr>
              <a:t>BDOI: </a:t>
            </a:r>
            <a:r>
              <a:rPr sz="1200" b="0">
                <a:solidFill>
                  <a:srgbClr val="4B4B4B"/>
                </a:solidFill>
                <a:latin typeface="Arial"/>
              </a:rPr>
              <a:t>Set masking and retention for member data with the DPO (DCR-094).</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Secure partner portal</a:t>
            </a:r>
          </a:p>
        </p:txBody>
      </p:sp>
      <p:sp>
        <p:nvSpPr>
          <p:cNvPr id="17" name="Rounded Rectangle 16"/>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Portal roles for insurers and client HR; uploads validated before use; lock-out after 3 attempts.</a:t>
            </a:r>
          </a:p>
          <a:p>
            <a:pPr>
              <a:spcAft>
                <a:spcPts val="400"/>
              </a:spcAft>
            </a:pPr>
            <a:r>
              <a:rPr sz="1200" b="1">
                <a:solidFill>
                  <a:srgbClr val="004EA8"/>
                </a:solidFill>
                <a:latin typeface="Arial"/>
              </a:rPr>
              <a:t>BDOI: </a:t>
            </a:r>
            <a:r>
              <a:rPr sz="1200" b="0">
                <a:solidFill>
                  <a:srgbClr val="4B4B4B"/>
                </a:solidFill>
                <a:latin typeface="Arial"/>
              </a:rPr>
              <a:t>Decide MFA, hosting and provisioning (DCR-096).</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version-controlled repository</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Documents registered by cycle, type, process and version.</a:t>
            </a:r>
          </a:p>
          <a:p>
            <a:pPr>
              <a:spcAft>
                <a:spcPts val="400"/>
              </a:spcAft>
            </a:pPr>
            <a:r>
              <a:rPr sz="1200" b="1">
                <a:solidFill>
                  <a:srgbClr val="004EA8"/>
                </a:solidFill>
                <a:latin typeface="Arial"/>
              </a:rPr>
              <a:t>BDOI: </a:t>
            </a:r>
            <a:r>
              <a:rPr sz="1200" b="0">
                <a:solidFill>
                  <a:srgbClr val="4B4B4B"/>
                </a:solidFill>
                <a:latin typeface="Arial"/>
              </a:rPr>
              <a:t>Stop e-mailing census files once the portal is live.</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Approval thresholds owned by the business</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Threshold rules on TSI or premium route the comparative to BDOI Management.</a:t>
            </a:r>
          </a:p>
          <a:p>
            <a:pPr>
              <a:spcAft>
                <a:spcPts val="400"/>
              </a:spcAft>
            </a:pPr>
            <a:r>
              <a:rPr sz="1200" b="1">
                <a:solidFill>
                  <a:srgbClr val="004EA8"/>
                </a:solidFill>
                <a:latin typeface="Arial"/>
              </a:rPr>
              <a:t>BDOI: </a:t>
            </a:r>
            <a:r>
              <a:rPr sz="1200" b="0">
                <a:solidFill>
                  <a:srgbClr val="4B4B4B"/>
                </a:solidFill>
                <a:latin typeface="Arial"/>
              </a:rPr>
              <a:t>Set the threshold values.</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Service KPIs per programme</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TAT report and EB home with pending items and overdue follow-ups.</a:t>
            </a:r>
          </a:p>
          <a:p>
            <a:pPr>
              <a:spcAft>
                <a:spcPts val="400"/>
              </a:spcAft>
            </a:pPr>
            <a:r>
              <a:rPr sz="1200" b="1">
                <a:solidFill>
                  <a:srgbClr val="004EA8"/>
                </a:solidFill>
                <a:latin typeface="Arial"/>
              </a:rPr>
              <a:t>BDOI: </a:t>
            </a:r>
            <a:r>
              <a:rPr sz="1200" b="0">
                <a:solidFill>
                  <a:srgbClr val="4B4B4B"/>
                </a:solidFill>
                <a:latin typeface="Arial"/>
              </a:rPr>
              <a:t>Agree TAT targets per step with the five EB teams.</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renewal where terms are unchanged</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Incumbent indicative terms can go to the client without remarketing.</a:t>
            </a:r>
          </a:p>
          <a:p>
            <a:pPr>
              <a:spcAft>
                <a:spcPts val="400"/>
              </a:spcAft>
            </a:pPr>
            <a:r>
              <a:rPr sz="1200" b="1">
                <a:solidFill>
                  <a:srgbClr val="004EA8"/>
                </a:solidFill>
                <a:latin typeface="Arial"/>
              </a:rPr>
              <a:t>BDOI: </a:t>
            </a:r>
            <a:r>
              <a:rPr sz="1200" b="0">
                <a:solidFill>
                  <a:srgbClr val="4B4B4B"/>
                </a:solidFill>
                <a:latin typeface="Arial"/>
              </a:rPr>
              <a:t>Define when a renewal may skip remarketing.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9. Customer Servicing Facility</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BRD-9 | Contact centre search, servicing view, contact updates, document resends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Contact Center Management / Alternative Distribution</a:t>
            </a:r>
          </a:p>
          <a:p>
            <a:pPr>
              <a:spcAft>
                <a:spcPts val="300"/>
              </a:spcAft>
            </a:pPr>
            <a:r>
              <a:rPr sz="1200" b="0">
                <a:solidFill>
                  <a:srgbClr val="004EA8"/>
                </a:solidFill>
                <a:latin typeface="Arial"/>
              </a:rPr>
              <a:t>•  </a:t>
            </a:r>
            <a:r>
              <a:rPr sz="1200" b="0">
                <a:solidFill>
                  <a:srgbClr val="4B4B4B"/>
                </a:solidFill>
                <a:latin typeface="Arial"/>
              </a:rPr>
              <a:t>BDO Insure Contact Center Agent</a:t>
            </a:r>
          </a:p>
          <a:p>
            <a:pPr>
              <a:spcAft>
                <a:spcPts val="300"/>
              </a:spcAft>
            </a:pPr>
            <a:r>
              <a:rPr sz="1200" b="0">
                <a:solidFill>
                  <a:srgbClr val="004EA8"/>
                </a:solidFill>
                <a:latin typeface="Arial"/>
              </a:rPr>
              <a:t>•  </a:t>
            </a:r>
            <a:r>
              <a:rPr sz="1200" b="0">
                <a:solidFill>
                  <a:srgbClr val="4B4B4B"/>
                </a:solidFill>
                <a:latin typeface="Arial"/>
              </a:rPr>
              <a:t>Contact Center Supervisor; BDO Contact Center personnel</a:t>
            </a:r>
          </a:p>
          <a:p>
            <a:pPr>
              <a:spcAft>
                <a:spcPts val="300"/>
              </a:spcAft>
            </a:pPr>
            <a:r>
              <a:rPr sz="1200" b="0">
                <a:solidFill>
                  <a:srgbClr val="004EA8"/>
                </a:solidFill>
                <a:latin typeface="Arial"/>
              </a:rPr>
              <a:t>•  </a:t>
            </a:r>
            <a:r>
              <a:rPr sz="1200" b="0">
                <a:solidFill>
                  <a:srgbClr val="4B4B4B"/>
                </a:solidFill>
                <a:latin typeface="Arial"/>
              </a:rPr>
              <a:t>Contact Center Management, leads and heads</a:t>
            </a:r>
          </a:p>
          <a:p>
            <a:pPr>
              <a:spcAft>
                <a:spcPts val="300"/>
              </a:spcAft>
            </a:pPr>
            <a:r>
              <a:rPr sz="1200" b="0">
                <a:solidFill>
                  <a:srgbClr val="004EA8"/>
                </a:solidFill>
                <a:latin typeface="Arial"/>
              </a:rPr>
              <a:t>•  </a:t>
            </a:r>
            <a:r>
              <a:rPr sz="1200" b="0">
                <a:solidFill>
                  <a:srgbClr val="4B4B4B"/>
                </a:solidFill>
                <a:latin typeface="Arial"/>
              </a:rPr>
              <a:t>System Administrator</a:t>
            </a:r>
          </a:p>
          <a:p>
            <a:pPr>
              <a:spcAft>
                <a:spcPts val="300"/>
              </a:spcAft>
            </a:pPr>
            <a:r>
              <a:rPr sz="1200" b="0">
                <a:solidFill>
                  <a:srgbClr val="004EA8"/>
                </a:solidFill>
                <a:latin typeface="Arial"/>
              </a:rPr>
              <a:t>•  </a:t>
            </a:r>
            <a:r>
              <a:rPr sz="1200" b="0">
                <a:solidFill>
                  <a:srgbClr val="4B4B4B"/>
                </a:solidFill>
                <a:latin typeface="Arial"/>
              </a:rPr>
              <a:t>Callers (clients) and the fulfilment units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144,400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retrieval and search transactions a year (p.13-14)</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24</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concurrent agents, supervisors and personnel</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&lt; 3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retrieval, update and search; 5 s documents</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06-22</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 06:00-22:00; availability 99.9%</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BRD-9 p.3-5 (current and envisioned); e-mail clarification p.17</a:t>
            </a:r>
          </a:p>
          <a:p>
            <a:pPr>
              <a:spcAft>
                <a:spcPts val="300"/>
              </a:spcAft>
            </a:pPr>
            <a:r>
              <a:rPr sz="1200" b="0">
                <a:solidFill>
                  <a:srgbClr val="004EA8"/>
                </a:solidFill>
                <a:latin typeface="Arial"/>
              </a:rPr>
              <a:t>•  </a:t>
            </a:r>
            <a:r>
              <a:rPr sz="1200" b="0">
                <a:solidFill>
                  <a:srgbClr val="4B4B4B"/>
                </a:solidFill>
                <a:latin typeface="Arial"/>
              </a:rPr>
              <a:t>BRCSF-001-011</a:t>
            </a:r>
          </a:p>
          <a:p>
            <a:pPr>
              <a:spcAft>
                <a:spcPts val="300"/>
              </a:spcAft>
            </a:pPr>
            <a:r>
              <a:rPr sz="1200" b="0">
                <a:solidFill>
                  <a:srgbClr val="004EA8"/>
                </a:solidFill>
                <a:latin typeface="Arial"/>
              </a:rPr>
              <a:t>•  </a:t>
            </a:r>
            <a:r>
              <a:rPr sz="1200" b="0">
                <a:solidFill>
                  <a:srgbClr val="4B4B4B"/>
                </a:solidFill>
                <a:latin typeface="Arial"/>
              </a:rPr>
              <a:t>FRS BRD-9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Sign in</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Search</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Servicing view</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Verify caller</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Update contact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Resend</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Documents</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Audit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pic>
        <p:nvPicPr>
          <p:cNvPr id="9" name="Picture 8" descr="brd09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Contact centre servicing today (BRD-9 p.4)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Full details for CBG accounts only</a:t>
            </a:r>
          </a:p>
          <a:p>
            <a:pPr>
              <a:spcAft>
                <a:spcPts val="100"/>
              </a:spcAft>
            </a:pPr>
            <a:r>
              <a:rPr sz="1200" b="0">
                <a:solidFill>
                  <a:srgbClr val="4B4B4B"/>
                </a:solidFill>
                <a:latin typeface="Arial"/>
              </a:rPr>
              <a:t>Non-CBG accounts show contact details, account number and expiry date only.</a:t>
            </a:r>
          </a:p>
          <a:p>
            <a:pPr>
              <a:spcAft>
                <a:spcPts val="100"/>
              </a:spcAft>
            </a:pPr>
            <a:r>
              <a:rPr sz="1200" b="0">
                <a:solidFill>
                  <a:srgbClr val="0072D8"/>
                </a:solidFill>
                <a:latin typeface="Arial"/>
              </a:rPr>
              <a:t>BRD-9 p.4; BRCSF-002, 005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Limited search keys</a:t>
            </a:r>
          </a:p>
          <a:p>
            <a:pPr>
              <a:spcAft>
                <a:spcPts val="100"/>
              </a:spcAft>
            </a:pPr>
            <a:r>
              <a:rPr sz="1200" b="0">
                <a:solidFill>
                  <a:srgbClr val="4B4B4B"/>
                </a:solidFill>
                <a:latin typeface="Arial"/>
              </a:rPr>
              <a:t>Agents cannot search by every key the caller gives.</a:t>
            </a:r>
          </a:p>
          <a:p>
            <a:pPr>
              <a:spcAft>
                <a:spcPts val="100"/>
              </a:spcAft>
            </a:pPr>
            <a:r>
              <a:rPr sz="1200" b="0">
                <a:solidFill>
                  <a:srgbClr val="0072D8"/>
                </a:solidFill>
                <a:latin typeface="Arial"/>
              </a:rPr>
              <a:t>BRD-9 p.17 (e-mail); BRCSF-003</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role-based access</a:t>
            </a:r>
          </a:p>
          <a:p>
            <a:pPr>
              <a:spcAft>
                <a:spcPts val="100"/>
              </a:spcAft>
            </a:pPr>
            <a:r>
              <a:rPr sz="1200" b="0">
                <a:solidFill>
                  <a:srgbClr val="4B4B4B"/>
                </a:solidFill>
                <a:latin typeface="Arial"/>
              </a:rPr>
              <a:t>Agents, supervisors and management have the same rights.</a:t>
            </a:r>
          </a:p>
          <a:p>
            <a:pPr>
              <a:spcAft>
                <a:spcPts val="100"/>
              </a:spcAft>
            </a:pPr>
            <a:r>
              <a:rPr sz="1200" b="0">
                <a:solidFill>
                  <a:srgbClr val="0072D8"/>
                </a:solidFill>
                <a:latin typeface="Arial"/>
              </a:rPr>
              <a:t>BRD-9 p.4</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Updates written in QPS or EBIX</a:t>
            </a:r>
          </a:p>
          <a:p>
            <a:pPr>
              <a:spcAft>
                <a:spcPts val="100"/>
              </a:spcAft>
            </a:pPr>
            <a:r>
              <a:rPr sz="1200" b="0">
                <a:solidFill>
                  <a:srgbClr val="4B4B4B"/>
                </a:solidFill>
                <a:latin typeface="Arial"/>
              </a:rPr>
              <a:t>Contact details are changed in the legacy systems.</a:t>
            </a:r>
          </a:p>
          <a:p>
            <a:pPr>
              <a:spcAft>
                <a:spcPts val="100"/>
              </a:spcAft>
            </a:pPr>
            <a:r>
              <a:rPr sz="1200" b="0">
                <a:solidFill>
                  <a:srgbClr val="0072D8"/>
                </a:solidFill>
                <a:latin typeface="Arial"/>
              </a:rPr>
              <a:t>BRD-9 p.3-5; BRCSF-004</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Resends outside the tool</a:t>
            </a:r>
          </a:p>
          <a:p>
            <a:pPr>
              <a:spcAft>
                <a:spcPts val="100"/>
              </a:spcAft>
            </a:pPr>
            <a:r>
              <a:rPr sz="1200" b="0">
                <a:solidFill>
                  <a:srgbClr val="4B4B4B"/>
                </a:solidFill>
                <a:latin typeface="Arial"/>
              </a:rPr>
              <a:t>RA and e-policy resends are handled by other units.</a:t>
            </a:r>
          </a:p>
          <a:p>
            <a:pPr>
              <a:spcAft>
                <a:spcPts val="100"/>
              </a:spcAft>
            </a:pPr>
            <a:r>
              <a:rPr sz="1200" b="0">
                <a:solidFill>
                  <a:srgbClr val="0072D8"/>
                </a:solidFill>
                <a:latin typeface="Arial"/>
              </a:rPr>
              <a:t>BRD-9 p.17 (e-mail item 9); BRCSF-006</a:t>
            </a:r>
          </a:p>
        </p:txBody>
      </p:sp>
      <p:sp>
        <p:nvSpPr>
          <p:cNvPr id="19" name="Oval 18"/>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audit report; ageing servers</a:t>
            </a:r>
          </a:p>
          <a:p>
            <a:pPr>
              <a:spcAft>
                <a:spcPts val="100"/>
              </a:spcAft>
            </a:pPr>
            <a:r>
              <a:rPr sz="1200" b="0">
                <a:solidFill>
                  <a:srgbClr val="4B4B4B"/>
                </a:solidFill>
                <a:latin typeface="Arial"/>
              </a:rPr>
              <a:t>Management has no audit trail of agent actions; servers at end of life.</a:t>
            </a:r>
          </a:p>
          <a:p>
            <a:pPr>
              <a:spcAft>
                <a:spcPts val="100"/>
              </a:spcAft>
            </a:pPr>
            <a:r>
              <a:rPr sz="1200" b="0">
                <a:solidFill>
                  <a:srgbClr val="0072D8"/>
                </a:solidFill>
                <a:latin typeface="Arial"/>
              </a:rPr>
              <a:t>BRD-9 p.4; BRCSF-010, 011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pic>
        <p:nvPicPr>
          <p:cNvPr id="9" name="Picture 8" descr="brd09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Servicing contact in BIBS: no approval workflow, every action immediate and logged (FRS BRD-9 section 2.2)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70078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Full details for CBG accounts only</a:t>
            </a:r>
          </a:p>
        </p:txBody>
      </p:sp>
      <p:sp>
        <p:nvSpPr>
          <p:cNvPr id="15" name="Right Arrow 14"/>
          <p:cNvSpPr/>
          <p:nvPr/>
        </p:nvSpPr>
        <p:spPr>
          <a:xfrm>
            <a:off x="4736592" y="175564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account of the client, CBG and non-CBG, with status and payments</a:t>
            </a:r>
          </a:p>
        </p:txBody>
      </p:sp>
      <p:sp>
        <p:nvSpPr>
          <p:cNvPr id="18" name="TextBox 17"/>
          <p:cNvSpPr txBox="1"/>
          <p:nvPr/>
        </p:nvSpPr>
        <p:spPr>
          <a:xfrm>
            <a:off x="9665208" y="157276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All segments</a:t>
            </a:r>
          </a:p>
        </p:txBody>
      </p:sp>
      <p:sp>
        <p:nvSpPr>
          <p:cNvPr id="19" name="Oval 18"/>
          <p:cNvSpPr/>
          <p:nvPr/>
        </p:nvSpPr>
        <p:spPr>
          <a:xfrm>
            <a:off x="548640" y="235915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31136"/>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31136"/>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Limited search keys</a:t>
            </a:r>
          </a:p>
        </p:txBody>
      </p:sp>
      <p:sp>
        <p:nvSpPr>
          <p:cNvPr id="22" name="Right Arrow 21"/>
          <p:cNvSpPr/>
          <p:nvPr/>
        </p:nvSpPr>
        <p:spPr>
          <a:xfrm>
            <a:off x="4736592" y="241401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31136"/>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31136"/>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search box for name, client ID, account number, PN number and application number</a:t>
            </a:r>
          </a:p>
        </p:txBody>
      </p:sp>
      <p:sp>
        <p:nvSpPr>
          <p:cNvPr id="25" name="TextBox 24"/>
          <p:cNvSpPr txBox="1"/>
          <p:nvPr/>
        </p:nvSpPr>
        <p:spPr>
          <a:xfrm>
            <a:off x="9665208" y="2231136"/>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&lt; 3 s search</a:t>
            </a:r>
          </a:p>
        </p:txBody>
      </p:sp>
      <p:sp>
        <p:nvSpPr>
          <p:cNvPr id="26" name="Oval 25"/>
          <p:cNvSpPr/>
          <p:nvPr/>
        </p:nvSpPr>
        <p:spPr>
          <a:xfrm>
            <a:off x="548640" y="301752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89504"/>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89504"/>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role-based access</a:t>
            </a:r>
          </a:p>
        </p:txBody>
      </p:sp>
      <p:sp>
        <p:nvSpPr>
          <p:cNvPr id="29" name="Right Arrow 28"/>
          <p:cNvSpPr/>
          <p:nvPr/>
        </p:nvSpPr>
        <p:spPr>
          <a:xfrm>
            <a:off x="4736592" y="307238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89504"/>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89504"/>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Agent, supervisor and management roles with separate rights to update, resend and upload</a:t>
            </a:r>
          </a:p>
        </p:txBody>
      </p:sp>
      <p:sp>
        <p:nvSpPr>
          <p:cNvPr id="32" name="TextBox 31"/>
          <p:cNvSpPr txBox="1"/>
          <p:nvPr/>
        </p:nvSpPr>
        <p:spPr>
          <a:xfrm>
            <a:off x="9665208" y="2889504"/>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Role-based access</a:t>
            </a:r>
          </a:p>
        </p:txBody>
      </p:sp>
      <p:sp>
        <p:nvSpPr>
          <p:cNvPr id="33" name="Oval 32"/>
          <p:cNvSpPr/>
          <p:nvPr/>
        </p:nvSpPr>
        <p:spPr>
          <a:xfrm>
            <a:off x="548640" y="367588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47872"/>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47872"/>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Updates written in QPS or EBIX</a:t>
            </a:r>
          </a:p>
        </p:txBody>
      </p:sp>
      <p:sp>
        <p:nvSpPr>
          <p:cNvPr id="36" name="Right Arrow 35"/>
          <p:cNvSpPr/>
          <p:nvPr/>
        </p:nvSpPr>
        <p:spPr>
          <a:xfrm>
            <a:off x="4736592" y="373075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47872"/>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47872"/>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Update made once in the BIBS client master after verifying the caller; write-back to QPS / EBIX while they coexist</a:t>
            </a:r>
          </a:p>
        </p:txBody>
      </p:sp>
      <p:sp>
        <p:nvSpPr>
          <p:cNvPr id="39" name="TextBox 38"/>
          <p:cNvSpPr txBox="1"/>
          <p:nvPr/>
        </p:nvSpPr>
        <p:spPr>
          <a:xfrm>
            <a:off x="9665208" y="3547872"/>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Verification before change</a:t>
            </a:r>
          </a:p>
        </p:txBody>
      </p:sp>
      <p:sp>
        <p:nvSpPr>
          <p:cNvPr id="40" name="Oval 39"/>
          <p:cNvSpPr/>
          <p:nvPr/>
        </p:nvSpPr>
        <p:spPr>
          <a:xfrm>
            <a:off x="548640" y="4334256"/>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206240"/>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206240"/>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Resends outside the tool</a:t>
            </a:r>
          </a:p>
        </p:txBody>
      </p:sp>
      <p:sp>
        <p:nvSpPr>
          <p:cNvPr id="43" name="Right Arrow 42"/>
          <p:cNvSpPr/>
          <p:nvPr/>
        </p:nvSpPr>
        <p:spPr>
          <a:xfrm>
            <a:off x="4736592" y="4389120"/>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206240"/>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206240"/>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Agent views, downloads and resends the RA and e-policy to the registered e-mail, protected</a:t>
            </a:r>
          </a:p>
        </p:txBody>
      </p:sp>
      <p:sp>
        <p:nvSpPr>
          <p:cNvPr id="46" name="TextBox 45"/>
          <p:cNvSpPr txBox="1"/>
          <p:nvPr/>
        </p:nvSpPr>
        <p:spPr>
          <a:xfrm>
            <a:off x="9665208" y="4206240"/>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Resend in one call</a:t>
            </a:r>
          </a:p>
        </p:txBody>
      </p:sp>
      <p:sp>
        <p:nvSpPr>
          <p:cNvPr id="47" name="Oval 46"/>
          <p:cNvSpPr/>
          <p:nvPr/>
        </p:nvSpPr>
        <p:spPr>
          <a:xfrm>
            <a:off x="548640" y="499262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6460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6460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audit report; ageing servers</a:t>
            </a:r>
          </a:p>
        </p:txBody>
      </p:sp>
      <p:sp>
        <p:nvSpPr>
          <p:cNvPr id="50" name="Right Arrow 49"/>
          <p:cNvSpPr/>
          <p:nvPr/>
        </p:nvSpPr>
        <p:spPr>
          <a:xfrm>
            <a:off x="4736592" y="504748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6460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6460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change and agent action logged; audit trail in PDF or Excel</a:t>
            </a:r>
          </a:p>
        </p:txBody>
      </p:sp>
      <p:sp>
        <p:nvSpPr>
          <p:cNvPr id="53" name="TextBox 52"/>
          <p:cNvSpPr txBox="1"/>
          <p:nvPr/>
        </p:nvSpPr>
        <p:spPr>
          <a:xfrm>
            <a:off x="9665208" y="486460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Full audit trail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Write-back to QPS and EBIX</a:t>
                      </a:r>
                    </a:p>
                  </a:txBody>
                  <a:tcPr marL="64008" marR="64008" marT="27432" marB="27432" anchor="ctr">
                    <a:solidFill>
                      <a:srgbClr val="FFFFFF"/>
                    </a:solidFill>
                  </a:tcPr>
                </a:tc>
                <a:tc>
                  <a:txBody>
                    <a:bodyPr wrap="square"/>
                    <a:lstStyle/>
                    <a:p>
                      <a:r>
                        <a:rPr sz="1100" b="0">
                          <a:solidFill>
                            <a:srgbClr val="4B4B4B"/>
                          </a:solidFill>
                          <a:latin typeface="Arial"/>
                        </a:rPr>
                        <a:t>Two systems of record while they coexist</a:t>
                      </a:r>
                    </a:p>
                  </a:txBody>
                  <a:tcPr marL="64008" marR="64008" marT="27432" marB="27432" anchor="ctr">
                    <a:solidFill>
                      <a:srgbClr val="FFFFFF"/>
                    </a:solidFill>
                  </a:tcPr>
                </a:tc>
                <a:tc>
                  <a:txBody>
                    <a:bodyPr wrap="square"/>
                    <a:lstStyle/>
                    <a:p>
                      <a:r>
                        <a:rPr sz="1100" b="0">
                          <a:solidFill>
                            <a:srgbClr val="4B4B4B"/>
                          </a:solidFill>
                          <a:latin typeface="Arial"/>
                        </a:rPr>
                        <a:t>Contact Center Management, BDO IT</a:t>
                      </a:r>
                    </a:p>
                  </a:txBody>
                  <a:tcPr marL="64008" marR="64008" marT="27432" marB="27432" anchor="ctr">
                    <a:solidFill>
                      <a:srgbClr val="FFFFFF"/>
                    </a:solidFill>
                  </a:tcPr>
                </a:tc>
                <a:tc>
                  <a:txBody>
                    <a:bodyPr wrap="square"/>
                    <a:lstStyle/>
                    <a:p>
                      <a:r>
                        <a:rPr sz="1100" b="0">
                          <a:solidFill>
                            <a:srgbClr val="4B4B4B"/>
                          </a:solidFill>
                          <a:latin typeface="Arial"/>
                        </a:rPr>
                        <a:t>Until when are QPS / EBIX kept? Write back or not?</a:t>
                      </a:r>
                    </a:p>
                  </a:txBody>
                  <a:tcPr marL="64008" marR="64008" marT="27432" marB="27432" anchor="ctr">
                    <a:solidFill>
                      <a:srgbClr val="FFFFFF"/>
                    </a:solidFill>
                  </a:tcPr>
                </a:tc>
                <a:tc>
                  <a:txBody>
                    <a:bodyPr wrap="square"/>
                    <a:lstStyle/>
                    <a:p>
                      <a:r>
                        <a:rPr sz="1100" b="0">
                          <a:solidFill>
                            <a:srgbClr val="4B4B4B"/>
                          </a:solidFill>
                          <a:latin typeface="Arial"/>
                        </a:rPr>
                        <a:t>DCR-104, CSQ01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Agents in the BDO directory</a:t>
                      </a:r>
                    </a:p>
                  </a:txBody>
                  <a:tcPr marL="64008" marR="64008" marT="27432" marB="27432" anchor="ctr">
                    <a:solidFill>
                      <a:srgbClr val="E5F5FF"/>
                    </a:solidFill>
                  </a:tcPr>
                </a:tc>
                <a:tc>
                  <a:txBody>
                    <a:bodyPr wrap="square"/>
                    <a:lstStyle/>
                    <a:p>
                      <a:r>
                        <a:rPr sz="1100" b="0">
                          <a:solidFill>
                            <a:srgbClr val="4B4B4B"/>
                          </a:solidFill>
                          <a:latin typeface="Arial"/>
                        </a:rPr>
                        <a:t>Sign-in of contact centre agents</a:t>
                      </a:r>
                    </a:p>
                  </a:txBody>
                  <a:tcPr marL="64008" marR="64008" marT="27432" marB="27432" anchor="ctr">
                    <a:solidFill>
                      <a:srgbClr val="E5F5FF"/>
                    </a:solidFill>
                  </a:tcPr>
                </a:tc>
                <a:tc>
                  <a:txBody>
                    <a:bodyPr wrap="square"/>
                    <a:lstStyle/>
                    <a:p>
                      <a:r>
                        <a:rPr sz="1100" b="0">
                          <a:solidFill>
                            <a:srgbClr val="4B4B4B"/>
                          </a:solidFill>
                          <a:latin typeface="Arial"/>
                        </a:rPr>
                        <a:t>BDO ITIO</a:t>
                      </a:r>
                    </a:p>
                  </a:txBody>
                  <a:tcPr marL="64008" marR="64008" marT="27432" marB="27432" anchor="ctr">
                    <a:solidFill>
                      <a:srgbClr val="E5F5FF"/>
                    </a:solidFill>
                  </a:tcPr>
                </a:tc>
                <a:tc>
                  <a:txBody>
                    <a:bodyPr wrap="square"/>
                    <a:lstStyle/>
                    <a:p>
                      <a:r>
                        <a:rPr sz="1100" b="0">
                          <a:solidFill>
                            <a:srgbClr val="4B4B4B"/>
                          </a:solidFill>
                          <a:latin typeface="Arial"/>
                        </a:rPr>
                        <a:t>Are agents in EUA? Local sign-in meanwhile?</a:t>
                      </a:r>
                    </a:p>
                  </a:txBody>
                  <a:tcPr marL="64008" marR="64008" marT="27432" marB="27432" anchor="ctr">
                    <a:solidFill>
                      <a:srgbClr val="E5F5FF"/>
                    </a:solidFill>
                  </a:tcPr>
                </a:tc>
                <a:tc>
                  <a:txBody>
                    <a:bodyPr wrap="square"/>
                    <a:lstStyle/>
                    <a:p>
                      <a:r>
                        <a:rPr sz="1100" b="0">
                          <a:solidFill>
                            <a:srgbClr val="4B4B4B"/>
                          </a:solidFill>
                          <a:latin typeface="Arial"/>
                        </a:rPr>
                        <a:t>DCR-143</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Backup every 15 minutes or 4 hours</a:t>
                      </a:r>
                    </a:p>
                  </a:txBody>
                  <a:tcPr marL="64008" marR="64008" marT="27432" marB="27432" anchor="ctr">
                    <a:solidFill>
                      <a:srgbClr val="FFFFFF"/>
                    </a:solidFill>
                  </a:tcPr>
                </a:tc>
                <a:tc>
                  <a:txBody>
                    <a:bodyPr wrap="square"/>
                    <a:lstStyle/>
                    <a:p>
                      <a:r>
                        <a:rPr sz="1100" b="0">
                          <a:solidFill>
                            <a:srgbClr val="4B4B4B"/>
                          </a:solidFill>
                          <a:latin typeface="Arial"/>
                        </a:rPr>
                        <a:t>Backup and recovery design of the platform</a:t>
                      </a:r>
                    </a:p>
                  </a:txBody>
                  <a:tcPr marL="64008" marR="64008" marT="27432" marB="27432" anchor="ctr">
                    <a:solidFill>
                      <a:srgbClr val="FFFFFF"/>
                    </a:solidFill>
                  </a:tcPr>
                </a:tc>
                <a:tc>
                  <a:txBody>
                    <a:bodyPr wrap="square"/>
                    <a:lstStyle/>
                    <a:p>
                      <a:r>
                        <a:rPr sz="1100" b="0">
                          <a:solidFill>
                            <a:srgbClr val="4B4B4B"/>
                          </a:solidFill>
                          <a:latin typeface="Arial"/>
                        </a:rPr>
                        <a:t>BDO IT</a:t>
                      </a:r>
                    </a:p>
                  </a:txBody>
                  <a:tcPr marL="64008" marR="64008" marT="27432" marB="27432" anchor="ctr">
                    <a:solidFill>
                      <a:srgbClr val="FFFFFF"/>
                    </a:solidFill>
                  </a:tcPr>
                </a:tc>
                <a:tc>
                  <a:txBody>
                    <a:bodyPr wrap="square"/>
                    <a:lstStyle/>
                    <a:p>
                      <a:r>
                        <a:rPr sz="1100" b="0">
                          <a:solidFill>
                            <a:srgbClr val="4B4B4B"/>
                          </a:solidFill>
                          <a:latin typeface="Arial"/>
                        </a:rPr>
                        <a:t>Is RPO 15 minutes BIBS-wide?</a:t>
                      </a:r>
                    </a:p>
                  </a:txBody>
                  <a:tcPr marL="64008" marR="64008" marT="27432" marB="27432" anchor="ctr">
                    <a:solidFill>
                      <a:srgbClr val="FFFFFF"/>
                    </a:solidFill>
                  </a:tcPr>
                </a:tc>
                <a:tc>
                  <a:txBody>
                    <a:bodyPr wrap="square"/>
                    <a:lstStyle/>
                    <a:p>
                      <a:r>
                        <a:rPr sz="1100" b="0">
                          <a:solidFill>
                            <a:srgbClr val="4B4B4B"/>
                          </a:solidFill>
                          <a:latin typeface="Arial"/>
                        </a:rPr>
                        <a:t>DCR-102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Statuses Pending, Awaiting, Booked, Open / Closed</a:t>
                      </a:r>
                    </a:p>
                  </a:txBody>
                  <a:tcPr marL="64008" marR="64008" marT="27432" marB="27432" anchor="ctr">
                    <a:solidFill>
                      <a:srgbClr val="E5F5FF"/>
                    </a:solidFill>
                  </a:tcPr>
                </a:tc>
                <a:tc>
                  <a:txBody>
                    <a:bodyPr wrap="square"/>
                    <a:lstStyle/>
                    <a:p>
                      <a:r>
                        <a:rPr sz="1100" b="0">
                          <a:solidFill>
                            <a:srgbClr val="4B4B4B"/>
                          </a:solidFill>
                          <a:latin typeface="Arial"/>
                        </a:rPr>
                        <a:t>What the agent tells the caller</a:t>
                      </a:r>
                    </a:p>
                  </a:txBody>
                  <a:tcPr marL="64008" marR="64008" marT="27432" marB="27432" anchor="ctr">
                    <a:solidFill>
                      <a:srgbClr val="E5F5FF"/>
                    </a:solidFill>
                  </a:tcPr>
                </a:tc>
                <a:tc>
                  <a:txBody>
                    <a:bodyPr wrap="square"/>
                    <a:lstStyle/>
                    <a:p>
                      <a:r>
                        <a:rPr sz="1100" b="0">
                          <a:solidFill>
                            <a:srgbClr val="4B4B4B"/>
                          </a:solidFill>
                          <a:latin typeface="Arial"/>
                        </a:rPr>
                        <a:t>Contact Center Management</a:t>
                      </a:r>
                    </a:p>
                  </a:txBody>
                  <a:tcPr marL="64008" marR="64008" marT="27432" marB="27432" anchor="ctr">
                    <a:solidFill>
                      <a:srgbClr val="E5F5FF"/>
                    </a:solidFill>
                  </a:tcPr>
                </a:tc>
                <a:tc>
                  <a:txBody>
                    <a:bodyPr wrap="square"/>
                    <a:lstStyle/>
                    <a:p>
                      <a:r>
                        <a:rPr sz="1100" b="0">
                          <a:solidFill>
                            <a:srgbClr val="4B4B4B"/>
                          </a:solidFill>
                          <a:latin typeface="Arial"/>
                        </a:rPr>
                        <a:t>Define each status and its source</a:t>
                      </a:r>
                    </a:p>
                  </a:txBody>
                  <a:tcPr marL="64008" marR="64008" marT="27432" marB="27432" anchor="ctr">
                    <a:solidFill>
                      <a:srgbClr val="E5F5FF"/>
                    </a:solidFill>
                  </a:tcPr>
                </a:tc>
                <a:tc>
                  <a:txBody>
                    <a:bodyPr wrap="square"/>
                    <a:lstStyle/>
                    <a:p>
                      <a:r>
                        <a:rPr sz="1100" b="0">
                          <a:solidFill>
                            <a:srgbClr val="4B4B4B"/>
                          </a:solidFill>
                          <a:latin typeface="Arial"/>
                        </a:rPr>
                        <a:t>DCR-101</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Two contact centre roles</a:t>
                      </a:r>
                    </a:p>
                  </a:txBody>
                  <a:tcPr marL="64008" marR="64008" marT="27432" marB="27432" anchor="ctr">
                    <a:solidFill>
                      <a:srgbClr val="FFFFFF"/>
                    </a:solidFill>
                  </a:tcPr>
                </a:tc>
                <a:tc>
                  <a:txBody>
                    <a:bodyPr wrap="square"/>
                    <a:lstStyle/>
                    <a:p>
                      <a:r>
                        <a:rPr sz="1100" b="0">
                          <a:solidFill>
                            <a:srgbClr val="4B4B4B"/>
                          </a:solidFill>
                          <a:latin typeface="Arial"/>
                        </a:rPr>
                        <a:t>Renewal follow-up role and CSF roles</a:t>
                      </a:r>
                    </a:p>
                  </a:txBody>
                  <a:tcPr marL="64008" marR="64008" marT="27432" marB="27432" anchor="ctr">
                    <a:solidFill>
                      <a:srgbClr val="FFFFFF"/>
                    </a:solidFill>
                  </a:tcPr>
                </a:tc>
                <a:tc>
                  <a:txBody>
                    <a:bodyPr wrap="square"/>
                    <a:lstStyle/>
                    <a:p>
                      <a:r>
                        <a:rPr sz="1100" b="0">
                          <a:solidFill>
                            <a:srgbClr val="4B4B4B"/>
                          </a:solidFill>
                          <a:latin typeface="Arial"/>
                        </a:rPr>
                        <a:t>Contact Center, RMEL</a:t>
                      </a:r>
                    </a:p>
                  </a:txBody>
                  <a:tcPr marL="64008" marR="64008" marT="27432" marB="27432" anchor="ctr">
                    <a:solidFill>
                      <a:srgbClr val="FFFFFF"/>
                    </a:solidFill>
                  </a:tcPr>
                </a:tc>
                <a:tc>
                  <a:txBody>
                    <a:bodyPr wrap="square"/>
                    <a:lstStyle/>
                    <a:p>
                      <a:r>
                        <a:rPr sz="1100" b="0">
                          <a:solidFill>
                            <a:srgbClr val="4B4B4B"/>
                          </a:solidFill>
                          <a:latin typeface="Arial"/>
                        </a:rPr>
                        <a:t>Same people? One role or two?</a:t>
                      </a:r>
                    </a:p>
                  </a:txBody>
                  <a:tcPr marL="64008" marR="64008" marT="27432" marB="27432" anchor="ctr">
                    <a:solidFill>
                      <a:srgbClr val="FFFFFF"/>
                    </a:solidFill>
                  </a:tcPr>
                </a:tc>
                <a:tc>
                  <a:txBody>
                    <a:bodyPr wrap="square"/>
                    <a:lstStyle/>
                    <a:p>
                      <a:r>
                        <a:rPr sz="1100" b="0">
                          <a:solidFill>
                            <a:srgbClr val="4B4B4B"/>
                          </a:solidFill>
                          <a:latin typeface="Arial"/>
                        </a:rPr>
                        <a:t>XQ02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Documents agents may see</a:t>
                      </a:r>
                    </a:p>
                  </a:txBody>
                  <a:tcPr marL="64008" marR="64008" marT="27432" marB="27432" anchor="ctr">
                    <a:solidFill>
                      <a:srgbClr val="E5F5FF"/>
                    </a:solidFill>
                  </a:tcPr>
                </a:tc>
                <a:tc>
                  <a:txBody>
                    <a:bodyPr wrap="square"/>
                    <a:lstStyle/>
                    <a:p>
                      <a:r>
                        <a:rPr sz="1100" b="0">
                          <a:solidFill>
                            <a:srgbClr val="4B4B4B"/>
                          </a:solidFill>
                          <a:latin typeface="Arial"/>
                        </a:rPr>
                        <a:t>Confidential claim and renewal documents</a:t>
                      </a:r>
                    </a:p>
                  </a:txBody>
                  <a:tcPr marL="64008" marR="64008" marT="27432" marB="27432" anchor="ctr">
                    <a:solidFill>
                      <a:srgbClr val="E5F5FF"/>
                    </a:solidFill>
                  </a:tcPr>
                </a:tc>
                <a:tc>
                  <a:txBody>
                    <a:bodyPr wrap="square"/>
                    <a:lstStyle/>
                    <a:p>
                      <a:r>
                        <a:rPr sz="1100" b="0">
                          <a:solidFill>
                            <a:srgbClr val="4B4B4B"/>
                          </a:solidFill>
                          <a:latin typeface="Arial"/>
                        </a:rPr>
                        <a:t>Contact Center, Compliance</a:t>
                      </a:r>
                    </a:p>
                  </a:txBody>
                  <a:tcPr marL="64008" marR="64008" marT="27432" marB="27432" anchor="ctr">
                    <a:solidFill>
                      <a:srgbClr val="E5F5FF"/>
                    </a:solidFill>
                  </a:tcPr>
                </a:tc>
                <a:tc>
                  <a:txBody>
                    <a:bodyPr wrap="square"/>
                    <a:lstStyle/>
                    <a:p>
                      <a:r>
                        <a:rPr sz="1100" b="0">
                          <a:solidFill>
                            <a:srgbClr val="4B4B4B"/>
                          </a:solidFill>
                          <a:latin typeface="Arial"/>
                        </a:rPr>
                        <a:t>Confidentiality matrix per document type</a:t>
                      </a:r>
                    </a:p>
                  </a:txBody>
                  <a:tcPr marL="64008" marR="64008" marT="27432" marB="27432" anchor="ctr">
                    <a:solidFill>
                      <a:srgbClr val="E5F5FF"/>
                    </a:solidFill>
                  </a:tcPr>
                </a:tc>
                <a:tc>
                  <a:txBody>
                    <a:bodyPr wrap="square"/>
                    <a:lstStyle/>
                    <a:p>
                      <a:r>
                        <a:rPr sz="1100" b="0">
                          <a:solidFill>
                            <a:srgbClr val="4B4B4B"/>
                          </a:solidFill>
                          <a:latin typeface="Arial"/>
                        </a:rPr>
                        <a:t>XQ04, XQ05</a:t>
                      </a:r>
                    </a:p>
                  </a:txBody>
                  <a:tcPr marL="64008" marR="64008" marT="27432" marB="27432" anchor="ctr">
                    <a:solidFill>
                      <a:srgbClr val="E5F5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Single client view</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All accounts, payments, RAs, e-policies and documents of the client on one screen.</a:t>
            </a:r>
          </a:p>
          <a:p>
            <a:pPr>
              <a:spcAft>
                <a:spcPts val="400"/>
              </a:spcAft>
            </a:pPr>
            <a:r>
              <a:rPr sz="1200" b="1">
                <a:solidFill>
                  <a:srgbClr val="004EA8"/>
                </a:solidFill>
                <a:latin typeface="Arial"/>
              </a:rPr>
              <a:t>BDOI: </a:t>
            </a:r>
            <a:r>
              <a:rPr sz="1200" b="0">
                <a:solidFill>
                  <a:srgbClr val="4B4B4B"/>
                </a:solidFill>
                <a:latin typeface="Arial"/>
              </a:rPr>
              <a:t>Retire the Front-End once the data are in BIBS.</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Verify the caller before any change</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Verification checklist before a contact update; only contact fields change.</a:t>
            </a:r>
          </a:p>
          <a:p>
            <a:pPr>
              <a:spcAft>
                <a:spcPts val="400"/>
              </a:spcAft>
            </a:pPr>
            <a:r>
              <a:rPr sz="1200" b="1">
                <a:solidFill>
                  <a:srgbClr val="004EA8"/>
                </a:solidFill>
                <a:latin typeface="Arial"/>
              </a:rPr>
              <a:t>BDOI: </a:t>
            </a:r>
            <a:r>
              <a:rPr sz="1200" b="0">
                <a:solidFill>
                  <a:srgbClr val="4B4B4B"/>
                </a:solidFill>
                <a:latin typeface="Arial"/>
              </a:rPr>
              <a:t>Approve the verification questions.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delivery of documents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Resend to the registered e-mail only, password protected, password sent separately.</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Least-privilege roles</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Separate rights to update, resend and upload for agents, supervisors and management.</a:t>
            </a:r>
          </a:p>
          <a:p>
            <a:pPr>
              <a:spcAft>
                <a:spcPts val="400"/>
              </a:spcAft>
            </a:pPr>
            <a:r>
              <a:rPr sz="1200" b="1">
                <a:solidFill>
                  <a:srgbClr val="004EA8"/>
                </a:solidFill>
                <a:latin typeface="Arial"/>
              </a:rPr>
              <a:t>BDOI: </a:t>
            </a:r>
            <a:r>
              <a:rPr sz="1200" b="0">
                <a:solidFill>
                  <a:srgbClr val="4B4B4B"/>
                </a:solidFill>
                <a:latin typeface="Arial"/>
              </a:rPr>
              <a:t>Approve the role matrix (DCR-121).</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Quality review of agent actions</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Agent activity and contact-change reports for supervisors.</a:t>
            </a:r>
          </a:p>
          <a:p>
            <a:pPr>
              <a:spcAft>
                <a:spcPts val="400"/>
              </a:spcAft>
            </a:pPr>
            <a:r>
              <a:rPr sz="1200" b="1">
                <a:solidFill>
                  <a:srgbClr val="004EA8"/>
                </a:solidFill>
                <a:latin typeface="Arial"/>
              </a:rPr>
              <a:t>BDOI: </a:t>
            </a:r>
            <a:r>
              <a:rPr sz="1200" b="0">
                <a:solidFill>
                  <a:srgbClr val="4B4B4B"/>
                </a:solidFill>
                <a:latin typeface="Arial"/>
              </a:rPr>
              <a:t>Set a sampling routine for supervisors.</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First-contact resolution KPI</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Actions logged per contact.</a:t>
            </a:r>
          </a:p>
          <a:p>
            <a:pPr>
              <a:spcAft>
                <a:spcPts val="400"/>
              </a:spcAft>
            </a:pPr>
            <a:r>
              <a:rPr sz="1200" b="1">
                <a:solidFill>
                  <a:srgbClr val="004EA8"/>
                </a:solidFill>
                <a:latin typeface="Arial"/>
              </a:rPr>
              <a:t>BDOI: </a:t>
            </a:r>
            <a:r>
              <a:rPr sz="1200" b="0">
                <a:solidFill>
                  <a:srgbClr val="4B4B4B"/>
                </a:solidFill>
                <a:latin typeface="Arial"/>
              </a:rPr>
              <a:t>Track first-contact resolution and repeat calls per reason.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10. Sanction Screening</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BRD-10 | Sanction and PEP screening, risk profiling, case review, escalation, STR</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Compliance (Chief Compliance Officer)</a:t>
            </a:r>
          </a:p>
          <a:p>
            <a:pPr>
              <a:spcAft>
                <a:spcPts val="300"/>
              </a:spcAft>
            </a:pPr>
            <a:r>
              <a:rPr sz="1200" b="0">
                <a:solidFill>
                  <a:srgbClr val="004EA8"/>
                </a:solidFill>
                <a:latin typeface="Arial"/>
              </a:rPr>
              <a:t>•  </a:t>
            </a:r>
            <a:r>
              <a:rPr sz="1200" b="0">
                <a:solidFill>
                  <a:srgbClr val="4B4B4B"/>
                </a:solidFill>
                <a:latin typeface="Arial"/>
              </a:rPr>
              <a:t>Compliance Officer and Compliance Checker</a:t>
            </a:r>
          </a:p>
          <a:p>
            <a:pPr>
              <a:spcAft>
                <a:spcPts val="300"/>
              </a:spcAft>
            </a:pPr>
            <a:r>
              <a:rPr sz="1200" b="0">
                <a:solidFill>
                  <a:srgbClr val="004EA8"/>
                </a:solidFill>
                <a:latin typeface="Arial"/>
              </a:rPr>
              <a:t>•  </a:t>
            </a:r>
            <a:r>
              <a:rPr sz="1200" b="0">
                <a:solidFill>
                  <a:srgbClr val="4B4B4B"/>
                </a:solidFill>
                <a:latin typeface="Arial"/>
              </a:rPr>
              <a:t>Unit Compliance Coordinator; Investigators (287)</a:t>
            </a:r>
          </a:p>
          <a:p>
            <a:pPr>
              <a:spcAft>
                <a:spcPts val="300"/>
              </a:spcAft>
            </a:pPr>
            <a:r>
              <a:rPr sz="1200" b="0">
                <a:solidFill>
                  <a:srgbClr val="004EA8"/>
                </a:solidFill>
                <a:latin typeface="Arial"/>
              </a:rPr>
              <a:t>•  </a:t>
            </a:r>
            <a:r>
              <a:rPr sz="1200" b="0">
                <a:solidFill>
                  <a:srgbClr val="4B4B4B"/>
                </a:solidFill>
                <a:latin typeface="Arial"/>
              </a:rPr>
              <a:t>Approver (Unit Head, 8)</a:t>
            </a:r>
          </a:p>
          <a:p>
            <a:pPr>
              <a:spcAft>
                <a:spcPts val="300"/>
              </a:spcAft>
            </a:pPr>
            <a:r>
              <a:rPr sz="1200" b="0">
                <a:solidFill>
                  <a:srgbClr val="004EA8"/>
                </a:solidFill>
                <a:latin typeface="Arial"/>
              </a:rPr>
              <a:t>•  </a:t>
            </a:r>
            <a:r>
              <a:rPr sz="1200" b="0">
                <a:solidFill>
                  <a:srgbClr val="4B4B4B"/>
                </a:solidFill>
                <a:latin typeface="Arial"/>
              </a:rPr>
              <a:t>AML Committee (5 members)</a:t>
            </a:r>
          </a:p>
          <a:p>
            <a:pPr>
              <a:spcAft>
                <a:spcPts val="300"/>
              </a:spcAft>
            </a:pPr>
            <a:r>
              <a:rPr sz="1200" b="0">
                <a:solidFill>
                  <a:srgbClr val="004EA8"/>
                </a:solidFill>
                <a:latin typeface="Arial"/>
              </a:rPr>
              <a:t>•  </a:t>
            </a:r>
            <a:r>
              <a:rPr sz="1200" b="0">
                <a:solidFill>
                  <a:srgbClr val="4B4B4B"/>
                </a:solidFill>
                <a:latin typeface="Arial"/>
              </a:rPr>
              <a:t>Operations Lead; Auditor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64 h</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 month freed for Compliance (p.4-5)</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4 h &gt; 1 h</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case cycle time, current to target (p.4-5)</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min</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saved per case on name screening (p.4-5)</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300</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records a day at most (10 to 300; p.22-25)</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BRD-10 p.6-7 (current process, rendered from images), p.8 (to-be)</a:t>
            </a:r>
          </a:p>
          <a:p>
            <a:pPr>
              <a:spcAft>
                <a:spcPts val="300"/>
              </a:spcAft>
            </a:pPr>
            <a:r>
              <a:rPr sz="1200" b="0">
                <a:solidFill>
                  <a:srgbClr val="004EA8"/>
                </a:solidFill>
                <a:latin typeface="Arial"/>
              </a:rPr>
              <a:t>•  </a:t>
            </a:r>
            <a:r>
              <a:rPr sz="1200" b="0">
                <a:solidFill>
                  <a:srgbClr val="4B4B4B"/>
                </a:solidFill>
                <a:latin typeface="Arial"/>
              </a:rPr>
              <a:t>SNSRP-101 to 706</a:t>
            </a:r>
          </a:p>
          <a:p>
            <a:pPr>
              <a:spcAft>
                <a:spcPts val="300"/>
              </a:spcAft>
            </a:pPr>
            <a:r>
              <a:rPr sz="1200" b="0">
                <a:solidFill>
                  <a:srgbClr val="004EA8"/>
                </a:solidFill>
                <a:latin typeface="Arial"/>
              </a:rPr>
              <a:t>•  </a:t>
            </a:r>
            <a:r>
              <a:rPr sz="1200" b="0">
                <a:solidFill>
                  <a:srgbClr val="4B4B4B"/>
                </a:solidFill>
                <a:latin typeface="Arial"/>
              </a:rPr>
              <a:t>FRS BRD-10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Configure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List intake</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Matching</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Risk tagging</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Case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Investigation</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Approval</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STR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pic>
        <p:nvPicPr>
          <p:cNvPr id="9" name="Picture 8" descr="brd10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Name screening and risk profiling today (BRD-10 p.6-7)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Risk category by memo</a:t>
            </a:r>
          </a:p>
          <a:p>
            <a:pPr>
              <a:spcAft>
                <a:spcPts val="100"/>
              </a:spcAft>
            </a:pPr>
            <a:r>
              <a:rPr sz="1200" b="0">
                <a:solidFill>
                  <a:srgbClr val="4B4B4B"/>
                </a:solidFill>
                <a:latin typeface="Arial"/>
              </a:rPr>
              <a:t>The risk-profile category is cascaded by memo.</a:t>
            </a:r>
          </a:p>
          <a:p>
            <a:pPr>
              <a:spcAft>
                <a:spcPts val="100"/>
              </a:spcAft>
            </a:pPr>
            <a:r>
              <a:rPr sz="1200" b="0">
                <a:solidFill>
                  <a:srgbClr val="0072D8"/>
                </a:solidFill>
                <a:latin typeface="Arial"/>
              </a:rPr>
              <a:t>BRD-10 p.6</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Sanctioned names by e-mail</a:t>
            </a:r>
          </a:p>
          <a:p>
            <a:pPr>
              <a:spcAft>
                <a:spcPts val="100"/>
              </a:spcAft>
            </a:pPr>
            <a:r>
              <a:rPr sz="1200" b="0">
                <a:solidFill>
                  <a:srgbClr val="4B4B4B"/>
                </a:solidFill>
                <a:latin typeface="Arial"/>
              </a:rPr>
              <a:t>The AML unit sends names by e-mail advisory.</a:t>
            </a:r>
          </a:p>
          <a:p>
            <a:pPr>
              <a:spcAft>
                <a:spcPts val="100"/>
              </a:spcAft>
            </a:pPr>
            <a:r>
              <a:rPr sz="1200" b="0">
                <a:solidFill>
                  <a:srgbClr val="0072D8"/>
                </a:solidFill>
                <a:latin typeface="Arial"/>
              </a:rPr>
              <a:t>BRD-10 p.6</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List kept on SharePoint</a:t>
            </a:r>
          </a:p>
          <a:p>
            <a:pPr>
              <a:spcAft>
                <a:spcPts val="100"/>
              </a:spcAft>
            </a:pPr>
            <a:r>
              <a:rPr sz="1200" b="0">
                <a:solidFill>
                  <a:srgbClr val="4B4B4B"/>
                </a:solidFill>
                <a:latin typeface="Arial"/>
              </a:rPr>
              <a:t>Compliance consolidates and publishes the names on SharePoint.</a:t>
            </a:r>
          </a:p>
          <a:p>
            <a:pPr>
              <a:spcAft>
                <a:spcPts val="100"/>
              </a:spcAft>
            </a:pPr>
            <a:r>
              <a:rPr sz="1200" b="0">
                <a:solidFill>
                  <a:srgbClr val="0072D8"/>
                </a:solidFill>
                <a:latin typeface="Arial"/>
              </a:rPr>
              <a:t>BRD-10 p.6</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Matching by hand</a:t>
            </a:r>
          </a:p>
          <a:p>
            <a:pPr>
              <a:spcAft>
                <a:spcPts val="100"/>
              </a:spcAft>
            </a:pPr>
            <a:r>
              <a:rPr sz="1200" b="0">
                <a:solidFill>
                  <a:srgbClr val="4B4B4B"/>
                </a:solidFill>
                <a:latin typeface="Arial"/>
              </a:rPr>
              <a:t>Names are matched against new and existing clients manually.</a:t>
            </a:r>
          </a:p>
          <a:p>
            <a:pPr>
              <a:spcAft>
                <a:spcPts val="100"/>
              </a:spcAft>
            </a:pPr>
            <a:r>
              <a:rPr sz="1200" b="0">
                <a:solidFill>
                  <a:srgbClr val="0072D8"/>
                </a:solidFill>
                <a:latin typeface="Arial"/>
              </a:rPr>
              <a:t>BRD-10 p.6</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Risk profile tagged by hand</a:t>
            </a:r>
          </a:p>
          <a:p>
            <a:pPr>
              <a:spcAft>
                <a:spcPts val="100"/>
              </a:spcAft>
            </a:pPr>
            <a:r>
              <a:rPr sz="1200" b="0">
                <a:solidFill>
                  <a:srgbClr val="4B4B4B"/>
                </a:solidFill>
                <a:latin typeface="Arial"/>
              </a:rPr>
              <a:t>The client risk profile is tagged manually.</a:t>
            </a:r>
          </a:p>
          <a:p>
            <a:pPr>
              <a:spcAft>
                <a:spcPts val="100"/>
              </a:spcAft>
            </a:pPr>
            <a:r>
              <a:rPr sz="1200" b="0">
                <a:solidFill>
                  <a:srgbClr val="0072D8"/>
                </a:solidFill>
                <a:latin typeface="Arial"/>
              </a:rPr>
              <a:t>BRD-10 p.6</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Templates outside the system</a:t>
            </a:r>
          </a:p>
          <a:p>
            <a:pPr>
              <a:spcAft>
                <a:spcPts val="100"/>
              </a:spcAft>
            </a:pPr>
            <a:r>
              <a:rPr sz="1200" b="0">
                <a:solidFill>
                  <a:srgbClr val="4B4B4B"/>
                </a:solidFill>
                <a:latin typeface="Arial"/>
              </a:rPr>
              <a:t>Review templates are filled outside the system and e-mailed.</a:t>
            </a:r>
          </a:p>
          <a:p>
            <a:pPr>
              <a:spcAft>
                <a:spcPts val="100"/>
              </a:spcAft>
            </a:pPr>
            <a:r>
              <a:rPr sz="1200" b="0">
                <a:solidFill>
                  <a:srgbClr val="0072D8"/>
                </a:solidFill>
                <a:latin typeface="Arial"/>
              </a:rPr>
              <a:t>BRD-10 p.6</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Routing by e-mail</a:t>
            </a:r>
          </a:p>
          <a:p>
            <a:pPr>
              <a:spcAft>
                <a:spcPts val="100"/>
              </a:spcAft>
            </a:pPr>
            <a:r>
              <a:rPr sz="1200" b="0">
                <a:solidFill>
                  <a:srgbClr val="4B4B4B"/>
                </a:solidFill>
                <a:latin typeface="Arial"/>
              </a:rPr>
              <a:t>Review and approval items are routed by e-mail.</a:t>
            </a:r>
          </a:p>
          <a:p>
            <a:pPr>
              <a:spcAft>
                <a:spcPts val="100"/>
              </a:spcAft>
            </a:pPr>
            <a:r>
              <a:rPr sz="1200" b="0">
                <a:solidFill>
                  <a:srgbClr val="0072D8"/>
                </a:solidFill>
                <a:latin typeface="Arial"/>
              </a:rPr>
              <a:t>BRD-10 p.6</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PEP list quarterly; one NLDS user</a:t>
            </a:r>
          </a:p>
          <a:p>
            <a:pPr>
              <a:spcAft>
                <a:spcPts val="100"/>
              </a:spcAft>
            </a:pPr>
            <a:r>
              <a:rPr sz="1200" b="0">
                <a:solidFill>
                  <a:srgbClr val="4B4B4B"/>
                </a:solidFill>
                <a:latin typeface="Arial"/>
              </a:rPr>
              <a:t>PEP lists prepared by Marketing AOs; no EDD for PEPs.</a:t>
            </a:r>
          </a:p>
          <a:p>
            <a:pPr>
              <a:spcAft>
                <a:spcPts val="100"/>
              </a:spcAft>
            </a:pPr>
            <a:r>
              <a:rPr sz="1200" b="0">
                <a:solidFill>
                  <a:srgbClr val="0072D8"/>
                </a:solidFill>
                <a:latin typeface="Arial"/>
              </a:rPr>
              <a:t>BRD-10 p.7</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STR by hand</a:t>
            </a:r>
          </a:p>
          <a:p>
            <a:pPr>
              <a:spcAft>
                <a:spcPts val="100"/>
              </a:spcAft>
            </a:pPr>
            <a:r>
              <a:rPr sz="1200" b="0">
                <a:solidFill>
                  <a:srgbClr val="4B4B4B"/>
                </a:solidFill>
                <a:latin typeface="Arial"/>
              </a:rPr>
              <a:t>The STR is prepared manually and filed on the AMLC portal.</a:t>
            </a:r>
          </a:p>
          <a:p>
            <a:pPr>
              <a:spcAft>
                <a:spcPts val="100"/>
              </a:spcAft>
            </a:pPr>
            <a:r>
              <a:rPr sz="1200" b="0">
                <a:solidFill>
                  <a:srgbClr val="0072D8"/>
                </a:solidFill>
                <a:latin typeface="Arial"/>
              </a:rPr>
              <a:t>BRD-10 p.6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pic>
        <p:nvPicPr>
          <p:cNvPr id="9" name="Picture 8" descr="brd10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To-be screening in BIBS: case workflow SCR_CASE (FRS BRD-10 sections 2.2 and 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2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category by memo</a:t>
            </a:r>
          </a:p>
        </p:txBody>
      </p:sp>
      <p:sp>
        <p:nvSpPr>
          <p:cNvPr id="15" name="Right Arrow 14"/>
          <p:cNvSpPr/>
          <p:nvPr/>
        </p:nvSpPr>
        <p:spPr>
          <a:xfrm>
            <a:off x="4736592" y="168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categories and rules maintained in BIBS; a checker approves each version</a:t>
            </a:r>
          </a:p>
        </p:txBody>
      </p:sp>
      <p:sp>
        <p:nvSpPr>
          <p:cNvPr id="18" name="TextBox 17"/>
          <p:cNvSpPr txBox="1"/>
          <p:nvPr/>
        </p:nvSpPr>
        <p:spPr>
          <a:xfrm>
            <a:off x="9665208" y="157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Maker-checker on rules</a:t>
            </a:r>
          </a:p>
        </p:txBody>
      </p:sp>
      <p:sp>
        <p:nvSpPr>
          <p:cNvPr id="19" name="Oval 18"/>
          <p:cNvSpPr/>
          <p:nvPr/>
        </p:nvSpPr>
        <p:spPr>
          <a:xfrm>
            <a:off x="548640" y="213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08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08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Sanctioned names by e-mail</a:t>
            </a:r>
          </a:p>
        </p:txBody>
      </p:sp>
      <p:sp>
        <p:nvSpPr>
          <p:cNvPr id="22" name="Right Arrow 21"/>
          <p:cNvSpPr/>
          <p:nvPr/>
        </p:nvSpPr>
        <p:spPr>
          <a:xfrm>
            <a:off x="4736592" y="218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08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08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files loaded on a schedule or uploaded; every run logged, failed records reported</a:t>
            </a:r>
          </a:p>
        </p:txBody>
      </p:sp>
      <p:sp>
        <p:nvSpPr>
          <p:cNvPr id="25" name="TextBox 24"/>
          <p:cNvSpPr txBox="1"/>
          <p:nvPr/>
        </p:nvSpPr>
        <p:spPr>
          <a:xfrm>
            <a:off x="9665208" y="208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10-300 records a day</a:t>
            </a:r>
          </a:p>
        </p:txBody>
      </p:sp>
      <p:sp>
        <p:nvSpPr>
          <p:cNvPr id="26" name="Oval 25"/>
          <p:cNvSpPr/>
          <p:nvPr/>
        </p:nvSpPr>
        <p:spPr>
          <a:xfrm>
            <a:off x="548640" y="264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58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58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kept on SharePoint</a:t>
            </a:r>
          </a:p>
        </p:txBody>
      </p:sp>
      <p:sp>
        <p:nvSpPr>
          <p:cNvPr id="29" name="Right Arrow 28"/>
          <p:cNvSpPr/>
          <p:nvPr/>
        </p:nvSpPr>
        <p:spPr>
          <a:xfrm>
            <a:off x="4736592" y="269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58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58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Watchlist held in BIBS by source; manual additions through maker-checker</a:t>
            </a:r>
          </a:p>
        </p:txBody>
      </p:sp>
      <p:sp>
        <p:nvSpPr>
          <p:cNvPr id="32" name="TextBox 31"/>
          <p:cNvSpPr txBox="1"/>
          <p:nvPr/>
        </p:nvSpPr>
        <p:spPr>
          <a:xfrm>
            <a:off x="9665208" y="258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list</a:t>
            </a:r>
          </a:p>
        </p:txBody>
      </p:sp>
      <p:sp>
        <p:nvSpPr>
          <p:cNvPr id="33" name="Oval 32"/>
          <p:cNvSpPr/>
          <p:nvPr/>
        </p:nvSpPr>
        <p:spPr>
          <a:xfrm>
            <a:off x="548640" y="314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09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09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Matching by hand</a:t>
            </a:r>
          </a:p>
        </p:txBody>
      </p:sp>
      <p:sp>
        <p:nvSpPr>
          <p:cNvPr id="36" name="Right Arrow 35"/>
          <p:cNvSpPr/>
          <p:nvPr/>
        </p:nvSpPr>
        <p:spPr>
          <a:xfrm>
            <a:off x="4736592" y="320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09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09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new client, application, list change and the client base in a batch window</a:t>
            </a:r>
          </a:p>
        </p:txBody>
      </p:sp>
      <p:sp>
        <p:nvSpPr>
          <p:cNvPr id="39" name="TextBox 38"/>
          <p:cNvSpPr txBox="1"/>
          <p:nvPr/>
        </p:nvSpPr>
        <p:spPr>
          <a:xfrm>
            <a:off x="9665208" y="309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 min saved per case</a:t>
            </a:r>
          </a:p>
        </p:txBody>
      </p:sp>
      <p:sp>
        <p:nvSpPr>
          <p:cNvPr id="40" name="Oval 39"/>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604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604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profile tagged by hand</a:t>
            </a:r>
          </a:p>
        </p:txBody>
      </p:sp>
      <p:sp>
        <p:nvSpPr>
          <p:cNvPr id="43" name="Right Arrow 42"/>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604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604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rules set the rating and PEP / watchlist tags; override with evidence</a:t>
            </a:r>
          </a:p>
        </p:txBody>
      </p:sp>
      <p:sp>
        <p:nvSpPr>
          <p:cNvPr id="46" name="TextBox 45"/>
          <p:cNvSpPr txBox="1"/>
          <p:nvPr/>
        </p:nvSpPr>
        <p:spPr>
          <a:xfrm>
            <a:off x="9665208" y="3604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Tags by rule</a:t>
            </a:r>
          </a:p>
        </p:txBody>
      </p:sp>
      <p:sp>
        <p:nvSpPr>
          <p:cNvPr id="47" name="Oval 46"/>
          <p:cNvSpPr/>
          <p:nvPr/>
        </p:nvSpPr>
        <p:spPr>
          <a:xfrm>
            <a:off x="548640" y="416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11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11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Templates outside the system</a:t>
            </a:r>
          </a:p>
        </p:txBody>
      </p:sp>
      <p:sp>
        <p:nvSpPr>
          <p:cNvPr id="50" name="Right Arrow 49"/>
          <p:cNvSpPr/>
          <p:nvPr/>
        </p:nvSpPr>
        <p:spPr>
          <a:xfrm>
            <a:off x="4736592" y="422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11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11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 template completed on the case with the KYC documents</a:t>
            </a:r>
          </a:p>
        </p:txBody>
      </p:sp>
      <p:sp>
        <p:nvSpPr>
          <p:cNvPr id="53" name="TextBox 52"/>
          <p:cNvSpPr txBox="1"/>
          <p:nvPr/>
        </p:nvSpPr>
        <p:spPr>
          <a:xfrm>
            <a:off x="9665208" y="411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Case cycle 4 h &gt; 1 h</a:t>
            </a:r>
          </a:p>
        </p:txBody>
      </p:sp>
      <p:sp>
        <p:nvSpPr>
          <p:cNvPr id="54" name="Oval 53"/>
          <p:cNvSpPr/>
          <p:nvPr/>
        </p:nvSpPr>
        <p:spPr>
          <a:xfrm>
            <a:off x="548640" y="467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462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462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Routing by e-mail</a:t>
            </a:r>
          </a:p>
        </p:txBody>
      </p:sp>
      <p:sp>
        <p:nvSpPr>
          <p:cNvPr id="57" name="Right Arrow 56"/>
          <p:cNvSpPr/>
          <p:nvPr/>
        </p:nvSpPr>
        <p:spPr>
          <a:xfrm>
            <a:off x="4736592" y="472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462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462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Case validated and routed by the approval matrix to UH, Compliance and AML Committee</a:t>
            </a:r>
          </a:p>
        </p:txBody>
      </p:sp>
      <p:sp>
        <p:nvSpPr>
          <p:cNvPr id="60" name="TextBox 59"/>
          <p:cNvSpPr txBox="1"/>
          <p:nvPr/>
        </p:nvSpPr>
        <p:spPr>
          <a:xfrm>
            <a:off x="9665208" y="462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64 h a month freed</a:t>
            </a:r>
          </a:p>
        </p:txBody>
      </p:sp>
      <p:sp>
        <p:nvSpPr>
          <p:cNvPr id="61" name="Oval 60"/>
          <p:cNvSpPr/>
          <p:nvPr/>
        </p:nvSpPr>
        <p:spPr>
          <a:xfrm>
            <a:off x="548640" y="518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12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12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PEP list quarterly; one NLDS user</a:t>
            </a:r>
          </a:p>
        </p:txBody>
      </p:sp>
      <p:sp>
        <p:nvSpPr>
          <p:cNvPr id="64" name="Right Arrow 63"/>
          <p:cNvSpPr/>
          <p:nvPr/>
        </p:nvSpPr>
        <p:spPr>
          <a:xfrm>
            <a:off x="4736592" y="523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12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12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PEP entries in the watchlist; PEP clients get a case and, where required, an EDD review</a:t>
            </a:r>
          </a:p>
        </p:txBody>
      </p:sp>
      <p:sp>
        <p:nvSpPr>
          <p:cNvPr id="67" name="TextBox 66"/>
          <p:cNvSpPr txBox="1"/>
          <p:nvPr/>
        </p:nvSpPr>
        <p:spPr>
          <a:xfrm>
            <a:off x="9665208" y="512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EDD for PEPs</a:t>
            </a:r>
          </a:p>
        </p:txBody>
      </p:sp>
      <p:sp>
        <p:nvSpPr>
          <p:cNvPr id="68" name="Oval 67"/>
          <p:cNvSpPr/>
          <p:nvPr/>
        </p:nvSpPr>
        <p:spPr>
          <a:xfrm>
            <a:off x="548640" y="568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69" name="Rounded Rectangle 68"/>
          <p:cNvSpPr/>
          <p:nvPr/>
        </p:nvSpPr>
        <p:spPr>
          <a:xfrm>
            <a:off x="1005840" y="563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1560" y="563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STR by hand</a:t>
            </a:r>
          </a:p>
        </p:txBody>
      </p:sp>
      <p:sp>
        <p:nvSpPr>
          <p:cNvPr id="71" name="Right Arrow 70"/>
          <p:cNvSpPr/>
          <p:nvPr/>
        </p:nvSpPr>
        <p:spPr>
          <a:xfrm>
            <a:off x="4736592" y="574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074920" y="563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20640" y="563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STR prefilled from the case; approved STRs extracted in the AMLC format</a:t>
            </a:r>
          </a:p>
        </p:txBody>
      </p:sp>
      <p:sp>
        <p:nvSpPr>
          <p:cNvPr id="74" name="TextBox 73"/>
          <p:cNvSpPr txBox="1"/>
          <p:nvPr/>
        </p:nvSpPr>
        <p:spPr>
          <a:xfrm>
            <a:off x="9665208" y="563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Reference recorded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Open match blocks or warns</a:t>
                      </a:r>
                    </a:p>
                  </a:txBody>
                  <a:tcPr marL="64008" marR="64008" marT="27432" marB="27432" anchor="ctr">
                    <a:solidFill>
                      <a:srgbClr val="FFFFFF"/>
                    </a:solidFill>
                  </a:tcPr>
                </a:tc>
                <a:tc>
                  <a:txBody>
                    <a:bodyPr wrap="square"/>
                    <a:lstStyle/>
                    <a:p>
                      <a:r>
                        <a:rPr sz="1100" b="0">
                          <a:solidFill>
                            <a:srgbClr val="4B4B4B"/>
                          </a:solidFill>
                          <a:latin typeface="Arial"/>
                        </a:rPr>
                        <a:t>Business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Chief Compliance Officer</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placement, booking, renewal</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PEP source for individual clients</a:t>
                      </a:r>
                    </a:p>
                  </a:txBody>
                  <a:tcPr marL="64008" marR="64008" marT="27432" marB="27432" anchor="ctr">
                    <a:solidFill>
                      <a:srgbClr val="E5F5FF"/>
                    </a:solidFill>
                  </a:tcPr>
                </a:tc>
                <a:tc>
                  <a:txBody>
                    <a:bodyPr wrap="square"/>
                    <a:lstStyle/>
                    <a:p>
                      <a:r>
                        <a:rPr sz="1100" b="0">
                          <a:solidFill>
                            <a:srgbClr val="4B4B4B"/>
                          </a:solidFill>
                          <a:latin typeface="Arial"/>
                        </a:rPr>
                        <a:t>PEP coverage</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Which list screens individuals</a:t>
                      </a:r>
                    </a:p>
                  </a:txBody>
                  <a:tcPr marL="64008" marR="64008" marT="27432" marB="27432" anchor="ctr">
                    <a:solidFill>
                      <a:srgbClr val="E5F5FF"/>
                    </a:solidFill>
                  </a:tcPr>
                </a:tc>
                <a:tc>
                  <a:txBody>
                    <a:bodyPr wrap="square"/>
                    <a:lstStyle/>
                    <a:p>
                      <a:r>
                        <a:rPr sz="1100" b="0">
                          <a:solidFill>
                            <a:srgbClr val="4B4B4B"/>
                          </a:solidFill>
                          <a:latin typeface="Arial"/>
                        </a:rPr>
                        <a:t>DCR-109</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AML Committee decision rule</a:t>
                      </a:r>
                    </a:p>
                  </a:txBody>
                  <a:tcPr marL="64008" marR="64008" marT="27432" marB="27432" anchor="ctr">
                    <a:solidFill>
                      <a:srgbClr val="FFFFFF"/>
                    </a:solidFill>
                  </a:tcPr>
                </a:tc>
                <a:tc>
                  <a:txBody>
                    <a:bodyPr wrap="square"/>
                    <a:lstStyle/>
                    <a:p>
                      <a:r>
                        <a:rPr sz="1100" b="0">
                          <a:solidFill>
                            <a:srgbClr val="4B4B4B"/>
                          </a:solidFill>
                          <a:latin typeface="Arial"/>
                        </a:rPr>
                        <a:t>When a case is final</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Any member, majority, all, or a quorum</a:t>
                      </a:r>
                    </a:p>
                  </a:txBody>
                  <a:tcPr marL="64008" marR="64008" marT="27432" marB="27432" anchor="ctr">
                    <a:solidFill>
                      <a:srgbClr val="FFFFFF"/>
                    </a:solidFill>
                  </a:tcPr>
                </a:tc>
                <a:tc>
                  <a:txBody>
                    <a:bodyPr wrap="square"/>
                    <a:lstStyle/>
                    <a:p>
                      <a:r>
                        <a:rPr sz="1100" b="0">
                          <a:solidFill>
                            <a:srgbClr val="4B4B4B"/>
                          </a:solidFill>
                          <a:latin typeface="Arial"/>
                        </a:rPr>
                        <a:t>DCR-108</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Adverse media and EDD template</a:t>
                      </a:r>
                    </a:p>
                  </a:txBody>
                  <a:tcPr marL="64008" marR="64008" marT="27432" marB="27432" anchor="ctr">
                    <a:solidFill>
                      <a:srgbClr val="E5F5FF"/>
                    </a:solidFill>
                  </a:tcPr>
                </a:tc>
                <a:tc>
                  <a:txBody>
                    <a:bodyPr wrap="square"/>
                    <a:lstStyle/>
                    <a:p>
                      <a:r>
                        <a:rPr sz="1100" b="0">
                          <a:solidFill>
                            <a:srgbClr val="4B4B4B"/>
                          </a:solidFill>
                          <a:latin typeface="Arial"/>
                        </a:rPr>
                        <a:t>Scope of the review</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Adverse media in scope? EDD fields</a:t>
                      </a:r>
                    </a:p>
                  </a:txBody>
                  <a:tcPr marL="64008" marR="64008" marT="27432" marB="27432" anchor="ctr">
                    <a:solidFill>
                      <a:srgbClr val="E5F5FF"/>
                    </a:solidFill>
                  </a:tcPr>
                </a:tc>
                <a:tc>
                  <a:txBody>
                    <a:bodyPr wrap="square"/>
                    <a:lstStyle/>
                    <a:p>
                      <a:r>
                        <a:rPr sz="1100" b="0">
                          <a:solidFill>
                            <a:srgbClr val="4B4B4B"/>
                          </a:solidFill>
                          <a:latin typeface="Arial"/>
                        </a:rPr>
                        <a:t>DCR-111</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287 concurrent investigators</a:t>
                      </a:r>
                    </a:p>
                  </a:txBody>
                  <a:tcPr marL="64008" marR="64008" marT="27432" marB="27432" anchor="ctr">
                    <a:solidFill>
                      <a:srgbClr val="FFFFFF"/>
                    </a:solidFill>
                  </a:tcPr>
                </a:tc>
                <a:tc>
                  <a:txBody>
                    <a:bodyPr wrap="square"/>
                    <a:lstStyle/>
                    <a:p>
                      <a:r>
                        <a:rPr sz="1100" b="0">
                          <a:solidFill>
                            <a:srgbClr val="4B4B4B"/>
                          </a:solidFill>
                          <a:latin typeface="Arial"/>
                        </a:rPr>
                        <a:t>Load target and role design</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Who the investigators are; real concurrency</a:t>
                      </a:r>
                    </a:p>
                  </a:txBody>
                  <a:tcPr marL="64008" marR="64008" marT="27432" marB="27432" anchor="ctr">
                    <a:solidFill>
                      <a:srgbClr val="FFFFFF"/>
                    </a:solidFill>
                  </a:tcPr>
                </a:tc>
                <a:tc>
                  <a:txBody>
                    <a:bodyPr wrap="square"/>
                    <a:lstStyle/>
                    <a:p>
                      <a:r>
                        <a:rPr sz="1100" b="0">
                          <a:solidFill>
                            <a:srgbClr val="4B4B4B"/>
                          </a:solidFill>
                          <a:latin typeface="Arial"/>
                        </a:rPr>
                        <a:t>DCR-110</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On hold</a:t>
                      </a:r>
                    </a:p>
                  </a:txBody>
                  <a:tcPr marL="64008" marR="64008" marT="27432" marB="27432" anchor="ctr">
                    <a:solidFill>
                      <a:srgbClr val="EDE7F6"/>
                    </a:solidFill>
                  </a:tcPr>
                </a:tc>
                <a:tc>
                  <a:txBody>
                    <a:bodyPr wrap="square"/>
                    <a:lstStyle/>
                    <a:p>
                      <a:r>
                        <a:rPr sz="1100" b="0">
                          <a:solidFill>
                            <a:srgbClr val="4B4B4B"/>
                          </a:solidFill>
                          <a:latin typeface="Arial"/>
                        </a:rPr>
                        <a:t>AMLC portal filing</a:t>
                      </a:r>
                    </a:p>
                  </a:txBody>
                  <a:tcPr marL="64008" marR="64008" marT="27432" marB="27432" anchor="ctr">
                    <a:solidFill>
                      <a:srgbClr val="E5F5FF"/>
                    </a:solidFill>
                  </a:tcPr>
                </a:tc>
                <a:tc>
                  <a:txBody>
                    <a:bodyPr wrap="square"/>
                    <a:lstStyle/>
                    <a:p>
                      <a:r>
                        <a:rPr sz="1100" b="0">
                          <a:solidFill>
                            <a:srgbClr val="4B4B4B"/>
                          </a:solidFill>
                          <a:latin typeface="Arial"/>
                        </a:rPr>
                        <a:t>Filing stays manual</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Keep manual filing with the extract</a:t>
                      </a:r>
                    </a:p>
                  </a:txBody>
                  <a:tcPr marL="64008" marR="64008" marT="27432" marB="27432" anchor="ctr">
                    <a:solidFill>
                      <a:srgbClr val="E5F5FF"/>
                    </a:solidFill>
                  </a:tcPr>
                </a:tc>
                <a:tc>
                  <a:txBody>
                    <a:bodyPr wrap="square"/>
                    <a:lstStyle/>
                    <a:p>
                      <a:r>
                        <a:rPr sz="1100" b="0">
                          <a:solidFill>
                            <a:srgbClr val="4B4B4B"/>
                          </a:solidFill>
                          <a:latin typeface="Arial"/>
                        </a:rPr>
                        <a:t>SNSRP-706</a:t>
                      </a:r>
                    </a:p>
                  </a:txBody>
                  <a:tcPr marL="64008" marR="64008" marT="27432" marB="27432" anchor="ctr">
                    <a:solidFill>
                      <a:srgbClr val="E5F5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Screening on every trigger</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New client, identity change, account application, list change and a monthly full re-screen.</a:t>
            </a:r>
          </a:p>
          <a:p>
            <a:pPr>
              <a:spcAft>
                <a:spcPts val="400"/>
              </a:spcAft>
            </a:pPr>
            <a:r>
              <a:rPr sz="1200" b="1">
                <a:solidFill>
                  <a:srgbClr val="004EA8"/>
                </a:solidFill>
                <a:latin typeface="Arial"/>
              </a:rPr>
              <a:t>BDOI: </a:t>
            </a:r>
            <a:r>
              <a:rPr sz="1200" b="0">
                <a:solidFill>
                  <a:srgbClr val="4B4B4B"/>
                </a:solidFill>
                <a:latin typeface="Arial"/>
              </a:rPr>
              <a:t>Confirm the screening scope and batch window.</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on rules and lists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Criteria, matrices and manual list entries are approved by the Compliance Checker.</a:t>
            </a:r>
          </a:p>
          <a:p>
            <a:pPr>
              <a:spcAft>
                <a:spcPts val="400"/>
              </a:spcAft>
            </a:pPr>
            <a:r>
              <a:rPr sz="1200" b="1">
                <a:solidFill>
                  <a:srgbClr val="004EA8"/>
                </a:solidFill>
                <a:latin typeface="Arial"/>
              </a:rPr>
              <a:t>BDOI: </a:t>
            </a:r>
            <a:r>
              <a:rPr sz="1200" b="0">
                <a:solidFill>
                  <a:srgbClr val="4B4B4B"/>
                </a:solidFill>
                <a:latin typeface="Arial"/>
              </a:rPr>
              <a:t>Name the checker and a back-up.</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Risk-based due diligence for PEPs</a:t>
            </a:r>
          </a:p>
        </p:txBody>
      </p:sp>
      <p:sp>
        <p:nvSpPr>
          <p:cNvPr id="22" name="Rounded Rectangle 21"/>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PEP and high-risk cases; EDD case type when the category requires it.</a:t>
            </a:r>
          </a:p>
          <a:p>
            <a:pPr>
              <a:spcAft>
                <a:spcPts val="400"/>
              </a:spcAft>
            </a:pPr>
            <a:r>
              <a:rPr sz="1200" b="1">
                <a:solidFill>
                  <a:srgbClr val="004EA8"/>
                </a:solidFill>
                <a:latin typeface="Arial"/>
              </a:rPr>
              <a:t>BDOI: </a:t>
            </a:r>
            <a:r>
              <a:rPr sz="1200" b="0">
                <a:solidFill>
                  <a:srgbClr val="4B4B4B"/>
                </a:solidFill>
                <a:latin typeface="Arial"/>
              </a:rPr>
              <a:t>Give the EDD template and the PEP source (DCR-109, 111).</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Clear escalation to the AML Committee</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Approval and escalation matrices route cases to UH, Compliance and the committee.</a:t>
            </a:r>
          </a:p>
          <a:p>
            <a:pPr>
              <a:spcAft>
                <a:spcPts val="400"/>
              </a:spcAft>
            </a:pPr>
            <a:r>
              <a:rPr sz="1200" b="1">
                <a:solidFill>
                  <a:srgbClr val="004EA8"/>
                </a:solidFill>
                <a:latin typeface="Arial"/>
              </a:rPr>
              <a:t>BDOI: </a:t>
            </a:r>
            <a:r>
              <a:rPr sz="1200" b="0">
                <a:solidFill>
                  <a:srgbClr val="4B4B4B"/>
                </a:solidFill>
                <a:latin typeface="Arial"/>
              </a:rPr>
              <a:t>Set the committee decision rule (DCR-108).</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Timely STR filing with AMLC</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STR prefilled, completeness check, AMLC-format extract, reference recorded.</a:t>
            </a:r>
          </a:p>
          <a:p>
            <a:pPr>
              <a:spcAft>
                <a:spcPts val="400"/>
              </a:spcAft>
            </a:pPr>
            <a:r>
              <a:rPr sz="1200" b="1">
                <a:solidFill>
                  <a:srgbClr val="004EA8"/>
                </a:solidFill>
                <a:latin typeface="Arial"/>
              </a:rPr>
              <a:t>BDOI: </a:t>
            </a:r>
            <a:r>
              <a:rPr sz="1200" b="0">
                <a:solidFill>
                  <a:srgbClr val="4B4B4B"/>
                </a:solidFill>
                <a:latin typeface="Arial"/>
              </a:rPr>
              <a:t>Keep a filing calendar and monitor it on the STR report.</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Immutable audit trail</a:t>
            </a:r>
          </a:p>
        </p:txBody>
      </p:sp>
      <p:sp>
        <p:nvSpPr>
          <p:cNvPr id="37" name="Rounded Rectangle 36"/>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Every run, match, decision and override logged, insert-only.</a:t>
            </a:r>
          </a:p>
          <a:p>
            <a:pPr>
              <a:spcAft>
                <a:spcPts val="400"/>
              </a:spcAft>
            </a:pPr>
            <a:r>
              <a:rPr sz="1200" b="1">
                <a:solidFill>
                  <a:srgbClr val="004EA8"/>
                </a:solidFill>
                <a:latin typeface="Arial"/>
              </a:rPr>
              <a:t>BDOI: </a:t>
            </a:r>
            <a:r>
              <a:rPr sz="1200" b="0">
                <a:solidFill>
                  <a:srgbClr val="4B4B4B"/>
                </a:solidFill>
                <a:latin typeface="Arial"/>
              </a:rPr>
              <a:t>Agree the retention of screening records (DCR-136).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11. User Access Maintenance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BRD-11 | User access requests, approvals, group profiles, access reports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UAM process owner (Product Owner) with BDO ITIO</a:t>
            </a:r>
          </a:p>
          <a:p>
            <a:pPr>
              <a:spcAft>
                <a:spcPts val="300"/>
              </a:spcAft>
            </a:pPr>
            <a:r>
              <a:rPr sz="1200" b="0">
                <a:solidFill>
                  <a:srgbClr val="004EA8"/>
                </a:solidFill>
                <a:latin typeface="Arial"/>
              </a:rPr>
              <a:t>•  </a:t>
            </a:r>
            <a:r>
              <a:rPr sz="1200" b="0">
                <a:solidFill>
                  <a:srgbClr val="4B4B4B"/>
                </a:solidFill>
                <a:latin typeface="Arial"/>
              </a:rPr>
              <a:t>Requestor (14 users)</a:t>
            </a:r>
          </a:p>
          <a:p>
            <a:pPr>
              <a:spcAft>
                <a:spcPts val="300"/>
              </a:spcAft>
            </a:pPr>
            <a:r>
              <a:rPr sz="1200" b="0">
                <a:solidFill>
                  <a:srgbClr val="004EA8"/>
                </a:solidFill>
                <a:latin typeface="Arial"/>
              </a:rPr>
              <a:t>•  </a:t>
            </a:r>
            <a:r>
              <a:rPr sz="1200" b="0">
                <a:solidFill>
                  <a:srgbClr val="4B4B4B"/>
                </a:solidFill>
                <a:latin typeface="Arial"/>
              </a:rPr>
              <a:t>Approver (8) and second approver</a:t>
            </a:r>
          </a:p>
          <a:p>
            <a:pPr>
              <a:spcAft>
                <a:spcPts val="300"/>
              </a:spcAft>
            </a:pPr>
            <a:r>
              <a:rPr sz="1200" b="0">
                <a:solidFill>
                  <a:srgbClr val="004EA8"/>
                </a:solidFill>
                <a:latin typeface="Arial"/>
              </a:rPr>
              <a:t>•  </a:t>
            </a:r>
            <a:r>
              <a:rPr sz="1200" b="0">
                <a:solidFill>
                  <a:srgbClr val="4B4B4B"/>
                </a:solidFill>
                <a:latin typeface="Arial"/>
              </a:rPr>
              <a:t>Business Administrator (group-profile requests)</a:t>
            </a:r>
          </a:p>
          <a:p>
            <a:pPr>
              <a:spcAft>
                <a:spcPts val="300"/>
              </a:spcAft>
            </a:pPr>
            <a:r>
              <a:rPr sz="1200" b="0">
                <a:solidFill>
                  <a:srgbClr val="004EA8"/>
                </a:solidFill>
                <a:latin typeface="Arial"/>
              </a:rPr>
              <a:t>•  </a:t>
            </a:r>
            <a:r>
              <a:rPr sz="1200" b="0">
                <a:solidFill>
                  <a:srgbClr val="4B4B4B"/>
                </a:solidFill>
                <a:latin typeface="Arial"/>
              </a:rPr>
              <a:t>System Administrator (implements group profiles)</a:t>
            </a:r>
          </a:p>
          <a:p>
            <a:pPr>
              <a:spcAft>
                <a:spcPts val="300"/>
              </a:spcAft>
            </a:pPr>
            <a:r>
              <a:rPr sz="1200" b="0">
                <a:solidFill>
                  <a:srgbClr val="004EA8"/>
                </a:solidFill>
                <a:latin typeface="Arial"/>
              </a:rPr>
              <a:t>•  </a:t>
            </a:r>
            <a:r>
              <a:rPr sz="1200" b="0">
                <a:solidFill>
                  <a:srgbClr val="4B4B4B"/>
                </a:solidFill>
                <a:latin typeface="Arial"/>
              </a:rPr>
              <a:t>Auditor; the affected user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transactions a month on average (p.11)</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14</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requestors, 5 concurrent; 8 approvers</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reports 20 s (p.11)</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3</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failed sign-ins lock the account (D5)</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BRD-11 p.5-6 (current, envisioned, two process diagrams)</a:t>
            </a:r>
          </a:p>
          <a:p>
            <a:pPr>
              <a:spcAft>
                <a:spcPts val="300"/>
              </a:spcAft>
            </a:pPr>
            <a:r>
              <a:rPr sz="1200" b="0">
                <a:solidFill>
                  <a:srgbClr val="004EA8"/>
                </a:solidFill>
                <a:latin typeface="Arial"/>
              </a:rPr>
              <a:t>•  </a:t>
            </a:r>
            <a:r>
              <a:rPr sz="1200" b="0">
                <a:solidFill>
                  <a:srgbClr val="4B4B4B"/>
                </a:solidFill>
                <a:latin typeface="Arial"/>
              </a:rPr>
              <a:t>BRD 1.002-4.003; NFR p.11-18</a:t>
            </a:r>
          </a:p>
          <a:p>
            <a:pPr>
              <a:spcAft>
                <a:spcPts val="300"/>
              </a:spcAft>
            </a:pPr>
            <a:r>
              <a:rPr sz="1200" b="0">
                <a:solidFill>
                  <a:srgbClr val="004EA8"/>
                </a:solidFill>
                <a:latin typeface="Arial"/>
              </a:rPr>
              <a:t>•  </a:t>
            </a:r>
            <a:r>
              <a:rPr sz="1200" b="0">
                <a:solidFill>
                  <a:srgbClr val="4B4B4B"/>
                </a:solidFill>
                <a:latin typeface="Arial"/>
              </a:rPr>
              <a:t>FRS BRD-11 v1.0, sections 2.3 (baseline)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Draft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Submit</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Risk check</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Decide</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Correct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Apply</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Group profile</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Reports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pic>
        <p:nvPicPr>
          <p:cNvPr id="9" name="Picture 8" descr="brd11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Access requests today (BRD-11 p.5-6)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go through IT</a:t>
            </a:r>
          </a:p>
          <a:p>
            <a:pPr>
              <a:spcAft>
                <a:spcPts val="100"/>
              </a:spcAft>
            </a:pPr>
            <a:r>
              <a:rPr sz="1200" b="0">
                <a:solidFill>
                  <a:srgbClr val="4B4B4B"/>
                </a:solidFill>
                <a:latin typeface="Arial"/>
              </a:rPr>
              <a:t>The business unit coordinates every request with IT; this causes delays.</a:t>
            </a:r>
          </a:p>
          <a:p>
            <a:pPr>
              <a:spcAft>
                <a:spcPts val="100"/>
              </a:spcAft>
            </a:pPr>
            <a:r>
              <a:rPr sz="1200" b="0">
                <a:solidFill>
                  <a:srgbClr val="0072D8"/>
                </a:solidFill>
                <a:latin typeface="Arial"/>
              </a:rPr>
              <a:t>BRD-11 p.5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Approver reached by e-mail</a:t>
            </a:r>
          </a:p>
          <a:p>
            <a:pPr>
              <a:spcAft>
                <a:spcPts val="100"/>
              </a:spcAft>
            </a:pPr>
            <a:r>
              <a:rPr sz="1200" b="0">
                <a:solidFill>
                  <a:srgbClr val="4B4B4B"/>
                </a:solidFill>
                <a:latin typeface="Arial"/>
              </a:rPr>
              <a:t>No queue of requests waiting for a decision.</a:t>
            </a:r>
          </a:p>
          <a:p>
            <a:pPr>
              <a:spcAft>
                <a:spcPts val="100"/>
              </a:spcAft>
            </a:pPr>
            <a:r>
              <a:rPr sz="1200" b="0">
                <a:solidFill>
                  <a:srgbClr val="0072D8"/>
                </a:solidFill>
                <a:latin typeface="Arial"/>
              </a:rPr>
              <a:t>BRD-11 p.5; BRD 2.002</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grants the access</a:t>
            </a:r>
          </a:p>
          <a:p>
            <a:pPr>
              <a:spcAft>
                <a:spcPts val="100"/>
              </a:spcAft>
            </a:pPr>
            <a:r>
              <a:rPr sz="1200" b="0">
                <a:solidFill>
                  <a:srgbClr val="4B4B4B"/>
                </a:solidFill>
                <a:latin typeface="Arial"/>
              </a:rPr>
              <a:t>The grant waits for IT; no effective date.</a:t>
            </a:r>
          </a:p>
          <a:p>
            <a:pPr>
              <a:spcAft>
                <a:spcPts val="100"/>
              </a:spcAft>
            </a:pPr>
            <a:r>
              <a:rPr sz="1200" b="0">
                <a:solidFill>
                  <a:srgbClr val="0072D8"/>
                </a:solidFill>
                <a:latin typeface="Arial"/>
              </a:rPr>
              <a:t>BRD-11 p.5-6</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Group profiles changed by IT</a:t>
            </a:r>
          </a:p>
          <a:p>
            <a:pPr>
              <a:spcAft>
                <a:spcPts val="100"/>
              </a:spcAft>
            </a:pPr>
            <a:r>
              <a:rPr sz="1200" b="0">
                <a:solidFill>
                  <a:srgbClr val="4B4B4B"/>
                </a:solidFill>
                <a:latin typeface="Arial"/>
              </a:rPr>
              <a:t>Profile changes are made on request with no approval trail.</a:t>
            </a:r>
          </a:p>
          <a:p>
            <a:pPr>
              <a:spcAft>
                <a:spcPts val="100"/>
              </a:spcAft>
            </a:pPr>
            <a:r>
              <a:rPr sz="1200" b="0">
                <a:solidFill>
                  <a:srgbClr val="0072D8"/>
                </a:solidFill>
                <a:latin typeface="Arial"/>
              </a:rPr>
              <a:t>BRD-11 p.5-6; BRD 3.002</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Access lists by hand</a:t>
            </a:r>
          </a:p>
          <a:p>
            <a:pPr>
              <a:spcAft>
                <a:spcPts val="100"/>
              </a:spcAft>
            </a:pPr>
            <a:r>
              <a:rPr sz="1200" b="0">
                <a:solidFill>
                  <a:srgbClr val="4B4B4B"/>
                </a:solidFill>
                <a:latin typeface="Arial"/>
              </a:rPr>
              <a:t>Who has which access, and since when, is compiled manually.</a:t>
            </a:r>
          </a:p>
          <a:p>
            <a:pPr>
              <a:spcAft>
                <a:spcPts val="100"/>
              </a:spcAft>
            </a:pPr>
            <a:r>
              <a:rPr sz="1200" b="0">
                <a:solidFill>
                  <a:srgbClr val="0072D8"/>
                </a:solidFill>
                <a:latin typeface="Arial"/>
              </a:rPr>
              <a:t>BRD-11 p.5; BRD 3.003, 4.003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pic>
        <p:nvPicPr>
          <p:cNvPr id="9" name="Picture 8" descr="brd11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User access and group-profile requests in BIBS (FRS BRD-11 section 2.2)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70078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go through IT</a:t>
            </a:r>
          </a:p>
        </p:txBody>
      </p:sp>
      <p:sp>
        <p:nvSpPr>
          <p:cNvPr id="15" name="Right Arrow 14"/>
          <p:cNvSpPr/>
          <p:nvPr/>
        </p:nvSpPr>
        <p:spPr>
          <a:xfrm>
            <a:off x="4736592" y="175564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Requestor raises the request in BIBS, as a draft or submitted, alone or in bulk</a:t>
            </a:r>
          </a:p>
        </p:txBody>
      </p:sp>
      <p:sp>
        <p:nvSpPr>
          <p:cNvPr id="18" name="TextBox 17"/>
          <p:cNvSpPr txBox="1"/>
          <p:nvPr/>
        </p:nvSpPr>
        <p:spPr>
          <a:xfrm>
            <a:off x="9665208" y="157276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IT hand-off</a:t>
            </a:r>
          </a:p>
        </p:txBody>
      </p:sp>
      <p:sp>
        <p:nvSpPr>
          <p:cNvPr id="19" name="Oval 18"/>
          <p:cNvSpPr/>
          <p:nvPr/>
        </p:nvSpPr>
        <p:spPr>
          <a:xfrm>
            <a:off x="548640" y="235915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31136"/>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31136"/>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Approver reached by e-mail</a:t>
            </a:r>
          </a:p>
        </p:txBody>
      </p:sp>
      <p:sp>
        <p:nvSpPr>
          <p:cNvPr id="22" name="Right Arrow 21"/>
          <p:cNvSpPr/>
          <p:nvPr/>
        </p:nvSpPr>
        <p:spPr>
          <a:xfrm>
            <a:off x="4736592" y="241401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31136"/>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31136"/>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Chosen approver notified; request listed under "Assigned to me"</a:t>
            </a:r>
          </a:p>
        </p:txBody>
      </p:sp>
      <p:sp>
        <p:nvSpPr>
          <p:cNvPr id="25" name="TextBox 24"/>
          <p:cNvSpPr txBox="1"/>
          <p:nvPr/>
        </p:nvSpPr>
        <p:spPr>
          <a:xfrm>
            <a:off x="9665208" y="2231136"/>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Queue per approver</a:t>
            </a:r>
          </a:p>
        </p:txBody>
      </p:sp>
      <p:sp>
        <p:nvSpPr>
          <p:cNvPr id="26" name="Oval 25"/>
          <p:cNvSpPr/>
          <p:nvPr/>
        </p:nvSpPr>
        <p:spPr>
          <a:xfrm>
            <a:off x="548640" y="301752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89504"/>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89504"/>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grants the access</a:t>
            </a:r>
          </a:p>
        </p:txBody>
      </p:sp>
      <p:sp>
        <p:nvSpPr>
          <p:cNvPr id="29" name="Right Arrow 28"/>
          <p:cNvSpPr/>
          <p:nvPr/>
        </p:nvSpPr>
        <p:spPr>
          <a:xfrm>
            <a:off x="4736592" y="307238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89504"/>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89504"/>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BIBS applies the access on approval or on the effective date; high-risk changes need a 2nd approval</a:t>
            </a:r>
          </a:p>
        </p:txBody>
      </p:sp>
      <p:sp>
        <p:nvSpPr>
          <p:cNvPr id="32" name="TextBox 31"/>
          <p:cNvSpPr txBox="1"/>
          <p:nvPr/>
        </p:nvSpPr>
        <p:spPr>
          <a:xfrm>
            <a:off x="9665208" y="2889504"/>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 eyes on every change</a:t>
            </a:r>
          </a:p>
        </p:txBody>
      </p:sp>
      <p:sp>
        <p:nvSpPr>
          <p:cNvPr id="33" name="Oval 32"/>
          <p:cNvSpPr/>
          <p:nvPr/>
        </p:nvSpPr>
        <p:spPr>
          <a:xfrm>
            <a:off x="548640" y="367588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47872"/>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47872"/>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Group profiles changed by IT</a:t>
            </a:r>
          </a:p>
        </p:txBody>
      </p:sp>
      <p:sp>
        <p:nvSpPr>
          <p:cNvPr id="36" name="Right Arrow 35"/>
          <p:cNvSpPr/>
          <p:nvPr/>
        </p:nvSpPr>
        <p:spPr>
          <a:xfrm>
            <a:off x="4736592" y="373075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47872"/>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47872"/>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Business Administrator requests; approvers approve in order; System Administrator implements</a:t>
            </a:r>
          </a:p>
        </p:txBody>
      </p:sp>
      <p:sp>
        <p:nvSpPr>
          <p:cNvPr id="39" name="TextBox 38"/>
          <p:cNvSpPr txBox="1"/>
          <p:nvPr/>
        </p:nvSpPr>
        <p:spPr>
          <a:xfrm>
            <a:off x="9665208" y="3547872"/>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Approval trail</a:t>
            </a:r>
          </a:p>
        </p:txBody>
      </p:sp>
      <p:sp>
        <p:nvSpPr>
          <p:cNvPr id="40" name="Oval 39"/>
          <p:cNvSpPr/>
          <p:nvPr/>
        </p:nvSpPr>
        <p:spPr>
          <a:xfrm>
            <a:off x="548640" y="4334256"/>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206240"/>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206240"/>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lists by hand</a:t>
            </a:r>
          </a:p>
        </p:txBody>
      </p:sp>
      <p:sp>
        <p:nvSpPr>
          <p:cNvPr id="43" name="Right Arrow 42"/>
          <p:cNvSpPr/>
          <p:nvPr/>
        </p:nvSpPr>
        <p:spPr>
          <a:xfrm>
            <a:off x="4736592" y="4389120"/>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206240"/>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206240"/>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Four reports and a structured audit log with from / to values</a:t>
            </a:r>
          </a:p>
        </p:txBody>
      </p:sp>
      <p:sp>
        <p:nvSpPr>
          <p:cNvPr id="46" name="TextBox 45"/>
          <p:cNvSpPr txBox="1"/>
          <p:nvPr/>
        </p:nvSpPr>
        <p:spPr>
          <a:xfrm>
            <a:off x="9665208" y="4206240"/>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Reports in 20 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No BIBS-wide user access matrix</a:t>
                      </a:r>
                    </a:p>
                  </a:txBody>
                  <a:tcPr marL="64008" marR="64008" marT="27432" marB="27432" anchor="ctr">
                    <a:solidFill>
                      <a:srgbClr val="FFFFFF"/>
                    </a:solidFill>
                  </a:tcPr>
                </a:tc>
                <a:tc>
                  <a:txBody>
                    <a:bodyPr wrap="square"/>
                    <a:lstStyle/>
                    <a:p>
                      <a:r>
                        <a:rPr sz="1100" b="0">
                          <a:solidFill>
                            <a:srgbClr val="4B4B4B"/>
                          </a:solidFill>
                          <a:latin typeface="Arial"/>
                        </a:rPr>
                        <a:t>Roles and persona tests of every module</a:t>
                      </a:r>
                    </a:p>
                  </a:txBody>
                  <a:tcPr marL="64008" marR="64008" marT="27432" marB="27432" anchor="ctr">
                    <a:solidFill>
                      <a:srgbClr val="FFFFFF"/>
                    </a:solidFill>
                  </a:tcPr>
                </a:tc>
                <a:tc>
                  <a:txBody>
                    <a:bodyPr wrap="square"/>
                    <a:lstStyle/>
                    <a:p>
                      <a:r>
                        <a:rPr sz="1100" b="0">
                          <a:solidFill>
                            <a:srgbClr val="4B4B4B"/>
                          </a:solidFill>
                          <a:latin typeface="Arial"/>
                        </a:rPr>
                        <a:t>UAM process owner, all BRD owners</a:t>
                      </a:r>
                    </a:p>
                  </a:txBody>
                  <a:tcPr marL="64008" marR="64008" marT="27432" marB="27432" anchor="ctr">
                    <a:solidFill>
                      <a:srgbClr val="FFFFFF"/>
                    </a:solidFill>
                  </a:tcPr>
                </a:tc>
                <a:tc>
                  <a:txBody>
                    <a:bodyPr wrap="square"/>
                    <a:lstStyle/>
                    <a:p>
                      <a:r>
                        <a:rPr sz="1100" b="0">
                          <a:solidFill>
                            <a:srgbClr val="4B4B4B"/>
                          </a:solidFill>
                          <a:latin typeface="Arial"/>
                        </a:rPr>
                        <a:t>Provide or approve one matrix</a:t>
                      </a:r>
                    </a:p>
                  </a:txBody>
                  <a:tcPr marL="64008" marR="64008" marT="27432" marB="27432" anchor="ctr">
                    <a:solidFill>
                      <a:srgbClr val="FFFFFF"/>
                    </a:solidFill>
                  </a:tcPr>
                </a:tc>
                <a:tc>
                  <a:txBody>
                    <a:bodyPr wrap="square"/>
                    <a:lstStyle/>
                    <a:p>
                      <a:r>
                        <a:rPr sz="1100" b="0">
                          <a:solidFill>
                            <a:srgbClr val="4B4B4B"/>
                          </a:solidFill>
                          <a:latin typeface="Arial"/>
                        </a:rPr>
                        <a:t>DCR-121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Directory sign-in (EUA)</a:t>
                      </a:r>
                    </a:p>
                  </a:txBody>
                  <a:tcPr marL="64008" marR="64008" marT="27432" marB="27432" anchor="ctr">
                    <a:solidFill>
                      <a:srgbClr val="E5F5FF"/>
                    </a:solidFill>
                  </a:tcPr>
                </a:tc>
                <a:tc>
                  <a:txBody>
                    <a:bodyPr wrap="square"/>
                    <a:lstStyle/>
                    <a:p>
                      <a:r>
                        <a:rPr sz="1100" b="0">
                          <a:solidFill>
                            <a:srgbClr val="4B4B4B"/>
                          </a:solidFill>
                          <a:latin typeface="Arial"/>
                        </a:rPr>
                        <a:t>Identity source for every user</a:t>
                      </a:r>
                    </a:p>
                  </a:txBody>
                  <a:tcPr marL="64008" marR="64008" marT="27432" marB="27432" anchor="ctr">
                    <a:solidFill>
                      <a:srgbClr val="E5F5FF"/>
                    </a:solidFill>
                  </a:tcPr>
                </a:tc>
                <a:tc>
                  <a:txBody>
                    <a:bodyPr wrap="square"/>
                    <a:lstStyle/>
                    <a:p>
                      <a:r>
                        <a:rPr sz="1100" b="0">
                          <a:solidFill>
                            <a:srgbClr val="4B4B4B"/>
                          </a:solidFill>
                          <a:latin typeface="Arial"/>
                        </a:rPr>
                        <a:t>BDO ITIO</a:t>
                      </a:r>
                    </a:p>
                  </a:txBody>
                  <a:tcPr marL="64008" marR="64008" marT="27432" marB="27432" anchor="ctr">
                    <a:solidFill>
                      <a:srgbClr val="E5F5FF"/>
                    </a:solidFill>
                  </a:tcPr>
                </a:tc>
                <a:tc>
                  <a:txBody>
                    <a:bodyPr wrap="square"/>
                    <a:lstStyle/>
                    <a:p>
                      <a:r>
                        <a:rPr sz="1100" b="0">
                          <a:solidFill>
                            <a:srgbClr val="4B4B4B"/>
                          </a:solidFill>
                          <a:latin typeface="Arial"/>
                        </a:rPr>
                        <a:t>EUA interface; local sign-in meanwhile</a:t>
                      </a:r>
                    </a:p>
                  </a:txBody>
                  <a:tcPr marL="64008" marR="64008" marT="27432" marB="27432" anchor="ctr">
                    <a:solidFill>
                      <a:srgbClr val="E5F5FF"/>
                    </a:solidFill>
                  </a:tcPr>
                </a:tc>
                <a:tc>
                  <a:txBody>
                    <a:bodyPr wrap="square"/>
                    <a:lstStyle/>
                    <a:p>
                      <a:r>
                        <a:rPr sz="1100" b="0">
                          <a:solidFill>
                            <a:srgbClr val="4B4B4B"/>
                          </a:solidFill>
                          <a:latin typeface="Arial"/>
                        </a:rPr>
                        <a:t>DCR-143, D6</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BRD written for QPS only</a:t>
                      </a:r>
                    </a:p>
                  </a:txBody>
                  <a:tcPr marL="64008" marR="64008" marT="27432" marB="27432" anchor="ctr">
                    <a:solidFill>
                      <a:srgbClr val="FFFFFF"/>
                    </a:solidFill>
                  </a:tcPr>
                </a:tc>
                <a:tc>
                  <a:txBody>
                    <a:bodyPr wrap="square"/>
                    <a:lstStyle/>
                    <a:p>
                      <a:r>
                        <a:rPr sz="1100" b="0">
                          <a:solidFill>
                            <a:srgbClr val="4B4B4B"/>
                          </a:solidFill>
                          <a:latin typeface="Arial"/>
                        </a:rPr>
                        <a:t>Scope of access maintenance</a:t>
                      </a:r>
                    </a:p>
                  </a:txBody>
                  <a:tcPr marL="64008" marR="64008" marT="27432" marB="27432" anchor="ctr">
                    <a:solidFill>
                      <a:srgbClr val="FFFFFF"/>
                    </a:solidFill>
                  </a:tcPr>
                </a:tc>
                <a:tc>
                  <a:txBody>
                    <a:bodyPr wrap="square"/>
                    <a:lstStyle/>
                    <a:p>
                      <a:r>
                        <a:rPr sz="1100" b="0">
                          <a:solidFill>
                            <a:srgbClr val="4B4B4B"/>
                          </a:solidFill>
                          <a:latin typeface="Arial"/>
                        </a:rPr>
                        <a:t>UAM process owner</a:t>
                      </a:r>
                    </a:p>
                  </a:txBody>
                  <a:tcPr marL="64008" marR="64008" marT="27432" marB="27432" anchor="ctr">
                    <a:solidFill>
                      <a:srgbClr val="FFFFFF"/>
                    </a:solidFill>
                  </a:tcPr>
                </a:tc>
                <a:tc>
                  <a:txBody>
                    <a:bodyPr wrap="square"/>
                    <a:lstStyle/>
                    <a:p>
                      <a:r>
                        <a:rPr sz="1100" b="0">
                          <a:solidFill>
                            <a:srgbClr val="4B4B4B"/>
                          </a:solidFill>
                          <a:latin typeface="Arial"/>
                        </a:rPr>
                        <a:t>Confirm BRD-11 applies to all of BIBS</a:t>
                      </a:r>
                    </a:p>
                  </a:txBody>
                  <a:tcPr marL="64008" marR="64008" marT="27432" marB="27432" anchor="ctr">
                    <a:solidFill>
                      <a:srgbClr val="FFFFFF"/>
                    </a:solidFill>
                  </a:tcPr>
                </a:tc>
                <a:tc>
                  <a:txBody>
                    <a:bodyPr wrap="square"/>
                    <a:lstStyle/>
                    <a:p>
                      <a:r>
                        <a:rPr sz="1100" b="0">
                          <a:solidFill>
                            <a:srgbClr val="4B4B4B"/>
                          </a:solidFill>
                          <a:latin typeface="Arial"/>
                        </a:rPr>
                        <a:t>DCR-114</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No acceptance criteria; NFRs "follow QPS"</a:t>
                      </a:r>
                    </a:p>
                  </a:txBody>
                  <a:tcPr marL="64008" marR="64008" marT="27432" marB="27432" anchor="ctr">
                    <a:solidFill>
                      <a:srgbClr val="E5F5FF"/>
                    </a:solidFill>
                  </a:tcPr>
                </a:tc>
                <a:tc>
                  <a:txBody>
                    <a:bodyPr wrap="square"/>
                    <a:lstStyle/>
                    <a:p>
                      <a:r>
                        <a:rPr sz="1100" b="0">
                          <a:solidFill>
                            <a:srgbClr val="4B4B4B"/>
                          </a:solidFill>
                          <a:latin typeface="Arial"/>
                        </a:rPr>
                        <a:t>Test and sign-off</a:t>
                      </a:r>
                    </a:p>
                  </a:txBody>
                  <a:tcPr marL="64008" marR="64008" marT="27432" marB="27432" anchor="ctr">
                    <a:solidFill>
                      <a:srgbClr val="E5F5FF"/>
                    </a:solidFill>
                  </a:tcPr>
                </a:tc>
                <a:tc>
                  <a:txBody>
                    <a:bodyPr wrap="square"/>
                    <a:lstStyle/>
                    <a:p>
                      <a:r>
                        <a:rPr sz="1100" b="0">
                          <a:solidFill>
                            <a:srgbClr val="4B4B4B"/>
                          </a:solidFill>
                          <a:latin typeface="Arial"/>
                        </a:rPr>
                        <a:t>UAM process owner</a:t>
                      </a:r>
                    </a:p>
                  </a:txBody>
                  <a:tcPr marL="64008" marR="64008" marT="27432" marB="27432" anchor="ctr">
                    <a:solidFill>
                      <a:srgbClr val="E5F5FF"/>
                    </a:solidFill>
                  </a:tcPr>
                </a:tc>
                <a:tc>
                  <a:txBody>
                    <a:bodyPr wrap="square"/>
                    <a:lstStyle/>
                    <a:p>
                      <a:r>
                        <a:rPr sz="1100" b="0">
                          <a:solidFill>
                            <a:srgbClr val="4B4B4B"/>
                          </a:solidFill>
                          <a:latin typeface="Arial"/>
                        </a:rPr>
                        <a:t>Concur with the FRS criteria; give QPS retention</a:t>
                      </a:r>
                    </a:p>
                  </a:txBody>
                  <a:tcPr marL="64008" marR="64008" marT="27432" marB="27432" anchor="ctr">
                    <a:solidFill>
                      <a:srgbClr val="E5F5FF"/>
                    </a:solidFill>
                  </a:tcPr>
                </a:tc>
                <a:tc>
                  <a:txBody>
                    <a:bodyPr wrap="square"/>
                    <a:lstStyle/>
                    <a:p>
                      <a:r>
                        <a:rPr sz="1100" b="0">
                          <a:solidFill>
                            <a:srgbClr val="4B4B4B"/>
                          </a:solidFill>
                          <a:latin typeface="Arial"/>
                        </a:rPr>
                        <a:t>DCR-115</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Single session per device</a:t>
                      </a:r>
                    </a:p>
                  </a:txBody>
                  <a:tcPr marL="64008" marR="64008" marT="27432" marB="27432" anchor="ctr">
                    <a:solidFill>
                      <a:srgbClr val="FFFFFF"/>
                    </a:solidFill>
                  </a:tcPr>
                </a:tc>
                <a:tc>
                  <a:txBody>
                    <a:bodyPr wrap="square"/>
                    <a:lstStyle/>
                    <a:p>
                      <a:r>
                        <a:rPr sz="1100" b="0">
                          <a:solidFill>
                            <a:srgbClr val="4B4B4B"/>
                          </a:solidFill>
                          <a:latin typeface="Arial"/>
                        </a:rPr>
                        <a:t>Session control for all users</a:t>
                      </a:r>
                    </a:p>
                  </a:txBody>
                  <a:tcPr marL="64008" marR="64008" marT="27432" marB="27432" anchor="ctr">
                    <a:solidFill>
                      <a:srgbClr val="FFFFFF"/>
                    </a:solidFill>
                  </a:tcPr>
                </a:tc>
                <a:tc>
                  <a:txBody>
                    <a:bodyPr wrap="square"/>
                    <a:lstStyle/>
                    <a:p>
                      <a:r>
                        <a:rPr sz="1100" b="0">
                          <a:solidFill>
                            <a:srgbClr val="4B4B4B"/>
                          </a:solidFill>
                          <a:latin typeface="Arial"/>
                        </a:rPr>
                        <a:t>UAM owner, ITIO</a:t>
                      </a:r>
                    </a:p>
                  </a:txBody>
                  <a:tcPr marL="64008" marR="64008" marT="27432" marB="27432" anchor="ctr">
                    <a:solidFill>
                      <a:srgbClr val="FFFFFF"/>
                    </a:solidFill>
                  </a:tcPr>
                </a:tc>
                <a:tc>
                  <a:txBody>
                    <a:bodyPr wrap="square"/>
                    <a:lstStyle/>
                    <a:p>
                      <a:r>
                        <a:rPr sz="1100" b="0">
                          <a:solidFill>
                            <a:srgbClr val="4B4B4B"/>
                          </a:solidFill>
                          <a:latin typeface="Arial"/>
                        </a:rPr>
                        <a:t>All users, Collections only, or no one</a:t>
                      </a:r>
                    </a:p>
                  </a:txBody>
                  <a:tcPr marL="64008" marR="64008" marT="27432" marB="27432" anchor="ctr">
                    <a:solidFill>
                      <a:srgbClr val="FFFFFF"/>
                    </a:solidFill>
                  </a:tcPr>
                </a:tc>
                <a:tc>
                  <a:txBody>
                    <a:bodyPr wrap="square"/>
                    <a:lstStyle/>
                    <a:p>
                      <a:r>
                        <a:rPr sz="1100" b="0">
                          <a:solidFill>
                            <a:srgbClr val="4B4B4B"/>
                          </a:solidFill>
                          <a:latin typeface="Arial"/>
                        </a:rPr>
                        <a:t>DCR-141, XQ11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External portal users</a:t>
                      </a:r>
                    </a:p>
                  </a:txBody>
                  <a:tcPr marL="64008" marR="64008" marT="27432" marB="27432" anchor="ctr">
                    <a:solidFill>
                      <a:srgbClr val="E5F5FF"/>
                    </a:solidFill>
                  </a:tcPr>
                </a:tc>
                <a:tc>
                  <a:txBody>
                    <a:bodyPr wrap="square"/>
                    <a:lstStyle/>
                    <a:p>
                      <a:r>
                        <a:rPr sz="1100" b="0">
                          <a:solidFill>
                            <a:srgbClr val="4B4B4B"/>
                          </a:solidFill>
                          <a:latin typeface="Arial"/>
                        </a:rPr>
                        <a:t>First internet-facing users</a:t>
                      </a:r>
                    </a:p>
                  </a:txBody>
                  <a:tcPr marL="64008" marR="64008" marT="27432" marB="27432" anchor="ctr">
                    <a:solidFill>
                      <a:srgbClr val="E5F5FF"/>
                    </a:solidFill>
                  </a:tcPr>
                </a:tc>
                <a:tc>
                  <a:txBody>
                    <a:bodyPr wrap="square"/>
                    <a:lstStyle/>
                    <a:p>
                      <a:r>
                        <a:rPr sz="1100" b="0">
                          <a:solidFill>
                            <a:srgbClr val="4B4B4B"/>
                          </a:solidFill>
                          <a:latin typeface="Arial"/>
                        </a:rPr>
                        <a:t>UAM owner, Information Security</a:t>
                      </a:r>
                    </a:p>
                  </a:txBody>
                  <a:tcPr marL="64008" marR="64008" marT="27432" marB="27432" anchor="ctr">
                    <a:solidFill>
                      <a:srgbClr val="E5F5FF"/>
                    </a:solidFill>
                  </a:tcPr>
                </a:tc>
                <a:tc>
                  <a:txBody>
                    <a:bodyPr wrap="square"/>
                    <a:lstStyle/>
                    <a:p>
                      <a:r>
                        <a:rPr sz="1100" b="0">
                          <a:solidFill>
                            <a:srgbClr val="4B4B4B"/>
                          </a:solidFill>
                          <a:latin typeface="Arial"/>
                        </a:rPr>
                        <a:t>Provisioning, MFA, hosting (decision D7)</a:t>
                      </a:r>
                    </a:p>
                  </a:txBody>
                  <a:tcPr marL="64008" marR="64008" marT="27432" marB="27432" anchor="ctr">
                    <a:solidFill>
                      <a:srgbClr val="E5F5FF"/>
                    </a:solidFill>
                  </a:tcPr>
                </a:tc>
                <a:tc>
                  <a:txBody>
                    <a:bodyPr wrap="square"/>
                    <a:lstStyle/>
                    <a:p>
                      <a:r>
                        <a:rPr sz="1100" b="0">
                          <a:solidFill>
                            <a:srgbClr val="4B4B4B"/>
                          </a:solidFill>
                          <a:latin typeface="Arial"/>
                        </a:rPr>
                        <a:t>DCR-096</a:t>
                      </a:r>
                    </a:p>
                  </a:txBody>
                  <a:tcPr marL="64008" marR="64008" marT="27432" marB="27432" anchor="ctr">
                    <a:solidFill>
                      <a:srgbClr val="E5F5F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Least privilege from one role matrix</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Roles by permission and area; User Access Matrix with Excel export.</a:t>
            </a:r>
          </a:p>
          <a:p>
            <a:pPr>
              <a:spcAft>
                <a:spcPts val="400"/>
              </a:spcAft>
            </a:pPr>
            <a:r>
              <a:rPr sz="1200" b="1">
                <a:solidFill>
                  <a:srgbClr val="004EA8"/>
                </a:solidFill>
                <a:latin typeface="Arial"/>
              </a:rPr>
              <a:t>BDOI: </a:t>
            </a:r>
            <a:r>
              <a:rPr sz="1200" b="0">
                <a:solidFill>
                  <a:srgbClr val="4B4B4B"/>
                </a:solidFill>
                <a:latin typeface="Arial"/>
              </a:rPr>
              <a:t>Approve one BIBS-wide matrix (DCR-121).</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Segregation of duties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Approver cannot be the requester; maker-checker in every module; incompatible pairs can be blocked.</a:t>
            </a:r>
          </a:p>
          <a:p>
            <a:pPr>
              <a:spcAft>
                <a:spcPts val="400"/>
              </a:spcAft>
            </a:pPr>
            <a:r>
              <a:rPr sz="1200" b="1">
                <a:solidFill>
                  <a:srgbClr val="004EA8"/>
                </a:solidFill>
                <a:latin typeface="Arial"/>
              </a:rPr>
              <a:t>BDOI: </a:t>
            </a:r>
            <a:r>
              <a:rPr sz="1200" b="0">
                <a:solidFill>
                  <a:srgbClr val="4B4B4B"/>
                </a:solidFill>
                <a:latin typeface="Arial"/>
              </a:rPr>
              <a:t>Name the role pairs one user must not hold.</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Joiner, mover, leaver discipline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Enrol, modify, deactivate and reactivate requests with effective dates.</a:t>
            </a:r>
          </a:p>
          <a:p>
            <a:pPr>
              <a:spcAft>
                <a:spcPts val="400"/>
              </a:spcAft>
            </a:pPr>
            <a:r>
              <a:rPr sz="1200" b="1">
                <a:solidFill>
                  <a:srgbClr val="004EA8"/>
                </a:solidFill>
                <a:latin typeface="Arial"/>
              </a:rPr>
              <a:t>BDOI: </a:t>
            </a:r>
            <a:r>
              <a:rPr sz="1200" b="0">
                <a:solidFill>
                  <a:srgbClr val="4B4B4B"/>
                </a:solidFill>
                <a:latin typeface="Arial"/>
              </a:rPr>
              <a:t>Link HR movements to access requests.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Periodic access review</a:t>
            </a:r>
          </a:p>
        </p:txBody>
      </p:sp>
      <p:sp>
        <p:nvSpPr>
          <p:cNvPr id="27" name="Rounded Rectangle 26"/>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User access, group profile and membership reports.</a:t>
            </a:r>
          </a:p>
          <a:p>
            <a:pPr>
              <a:spcAft>
                <a:spcPts val="400"/>
              </a:spcAft>
            </a:pPr>
            <a:r>
              <a:rPr sz="1200" b="1">
                <a:solidFill>
                  <a:srgbClr val="004EA8"/>
                </a:solidFill>
                <a:latin typeface="Arial"/>
              </a:rPr>
              <a:t>BDOI: </a:t>
            </a:r>
            <a:r>
              <a:rPr sz="1200" b="0">
                <a:solidFill>
                  <a:srgbClr val="4B4B4B"/>
                </a:solidFill>
                <a:latin typeface="Arial"/>
              </a:rPr>
              <a:t>Run a quarterly recertification by each unit head.</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Single sign-on with the BDO directory</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Directory authentication port; local sign-in with lock-out until then.</a:t>
            </a:r>
          </a:p>
          <a:p>
            <a:pPr>
              <a:spcAft>
                <a:spcPts val="400"/>
              </a:spcAft>
            </a:pPr>
            <a:r>
              <a:rPr sz="1200" b="1">
                <a:solidFill>
                  <a:srgbClr val="004EA8"/>
                </a:solidFill>
                <a:latin typeface="Arial"/>
              </a:rPr>
              <a:t>BDOI: </a:t>
            </a:r>
            <a:r>
              <a:rPr sz="1200" b="0">
                <a:solidFill>
                  <a:srgbClr val="4B4B4B"/>
                </a:solidFill>
                <a:latin typeface="Arial"/>
              </a:rPr>
              <a:t>Provide the EUA interface (DCR-143).</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Audit of every access change</a:t>
            </a:r>
          </a:p>
        </p:txBody>
      </p:sp>
      <p:sp>
        <p:nvSpPr>
          <p:cNvPr id="37" name="Rounded Rectangle 36"/>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Insert-only change log with from / to values and the approver.</a:t>
            </a:r>
          </a:p>
          <a:p>
            <a:pPr>
              <a:spcAft>
                <a:spcPts val="400"/>
              </a:spcAft>
            </a:pPr>
            <a:r>
              <a:rPr sz="1200" b="1">
                <a:solidFill>
                  <a:srgbClr val="004EA8"/>
                </a:solidFill>
                <a:latin typeface="Arial"/>
              </a:rPr>
              <a:t>BDOI: </a:t>
            </a:r>
            <a:r>
              <a:rPr sz="1200" b="0">
                <a:solidFill>
                  <a:srgbClr val="4B4B4B"/>
                </a:solidFill>
                <a:latin typeface="Arial"/>
              </a:rPr>
              <a:t>Agree the retention of access logs.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12. Submitted Policies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BRD-12 | Policies submitted by bank clients: masterlist, sanitation, review, IAAF, renewal hand-off</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CBG and Non-CBG Marketing - Submitted Policies</a:t>
            </a:r>
          </a:p>
          <a:p>
            <a:pPr>
              <a:spcAft>
                <a:spcPts val="300"/>
              </a:spcAft>
            </a:pPr>
            <a:r>
              <a:rPr sz="1200" b="0">
                <a:solidFill>
                  <a:srgbClr val="004EA8"/>
                </a:solidFill>
                <a:latin typeface="Arial"/>
              </a:rPr>
              <a:t>•  </a:t>
            </a:r>
            <a:r>
              <a:rPr sz="1200" b="0">
                <a:solidFill>
                  <a:srgbClr val="4B4B4B"/>
                </a:solidFill>
                <a:latin typeface="Arial"/>
              </a:rPr>
              <a:t>Submitted Handler and Submitted Checker (CBG)</a:t>
            </a:r>
          </a:p>
          <a:p>
            <a:pPr>
              <a:spcAft>
                <a:spcPts val="300"/>
              </a:spcAft>
            </a:pPr>
            <a:r>
              <a:rPr sz="1200" b="0">
                <a:solidFill>
                  <a:srgbClr val="004EA8"/>
                </a:solidFill>
                <a:latin typeface="Arial"/>
              </a:rPr>
              <a:t>•  </a:t>
            </a:r>
            <a:r>
              <a:rPr sz="1200" b="0">
                <a:solidFill>
                  <a:srgbClr val="4B4B4B"/>
                </a:solidFill>
                <a:latin typeface="Arial"/>
              </a:rPr>
              <a:t>Sanitation Handler; Team Lead; rule administrator</a:t>
            </a:r>
          </a:p>
          <a:p>
            <a:pPr>
              <a:spcAft>
                <a:spcPts val="300"/>
              </a:spcAft>
            </a:pPr>
            <a:r>
              <a:rPr sz="1200" b="0">
                <a:solidFill>
                  <a:srgbClr val="004EA8"/>
                </a:solidFill>
                <a:latin typeface="Arial"/>
              </a:rPr>
              <a:t>•  </a:t>
            </a:r>
            <a:r>
              <a:rPr sz="1200" b="0">
                <a:solidFill>
                  <a:srgbClr val="4B4B4B"/>
                </a:solidFill>
                <a:latin typeface="Arial"/>
              </a:rPr>
              <a:t>Policy Review Officer (Non-CBG Corporate)</a:t>
            </a:r>
          </a:p>
          <a:p>
            <a:pPr>
              <a:spcAft>
                <a:spcPts val="300"/>
              </a:spcAft>
            </a:pPr>
            <a:r>
              <a:rPr sz="1200" b="0">
                <a:solidFill>
                  <a:srgbClr val="004EA8"/>
                </a:solidFill>
                <a:latin typeface="Arial"/>
              </a:rPr>
              <a:t>•  </a:t>
            </a:r>
            <a:r>
              <a:rPr sz="1200" b="0">
                <a:solidFill>
                  <a:srgbClr val="4B4B4B"/>
                </a:solidFill>
                <a:latin typeface="Arial"/>
              </a:rPr>
              <a:t>Marketing AO, NB Team Lead, TSU</a:t>
            </a:r>
          </a:p>
          <a:p>
            <a:pPr>
              <a:spcAft>
                <a:spcPts val="300"/>
              </a:spcAft>
            </a:pPr>
            <a:r>
              <a:rPr sz="1200" b="0">
                <a:solidFill>
                  <a:srgbClr val="004EA8"/>
                </a:solidFill>
                <a:latin typeface="Arial"/>
              </a:rPr>
              <a:t>•  </a:t>
            </a:r>
            <a:r>
              <a:rPr sz="1200" b="0">
                <a:solidFill>
                  <a:srgbClr val="4B4B4B"/>
                </a:solidFill>
                <a:latin typeface="Arial"/>
              </a:rPr>
              <a:t>Admin Team UPP handler; Placement and Booking users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63,000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sanitations a year, +25% a year (p.13-14)</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30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CBG Admin / Marketing users, 15 concurrent</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2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listed transaction</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30</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days to consolidate CBG Motor policies (p.4-5)</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FRS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FRS for review</a:t>
            </a:r>
          </a:p>
        </p:txBody>
      </p:sp>
      <p:sp>
        <p:nvSpPr>
          <p:cNvPr id="32" name="TextBox 31"/>
          <p:cNvSpPr txBox="1"/>
          <p:nvPr/>
        </p:nvSpPr>
        <p:spPr>
          <a:xfrm>
            <a:off x="8158276" y="2194560"/>
            <a:ext cx="3393338" cy="457200"/>
          </a:xfrm>
          <a:prstGeom prst="rect">
            <a:avLst/>
          </a:prstGeom>
          <a:noFill/>
        </p:spPr>
        <p:txBody>
          <a:bodyPr wrap="square" anchor="t" lIns="45720" rIns="45720" tIns="18288" bIns="18288">
            <a:spAutoFit/>
          </a:bodyPr>
          <a:lstStyle/>
          <a:p>
            <a:pPr>
              <a:spcAft>
                <a:spcPts val="400"/>
              </a:spcAft>
            </a:pPr>
            <a:r>
              <a:rPr sz="1200" b="1">
                <a:solidFill>
                  <a:srgbClr val="2E2E2E"/>
                </a:solidFill>
                <a:latin typeface="Arial"/>
              </a:rPr>
              <a:t>FRS v1.0 issued for review</a:t>
            </a:r>
          </a:p>
        </p:txBody>
      </p:sp>
      <p:sp>
        <p:nvSpPr>
          <p:cNvPr id="33" name="TextBox 32"/>
          <p:cNvSpPr txBox="1"/>
          <p:nvPr/>
        </p:nvSpPr>
        <p:spPr>
          <a:xfrm>
            <a:off x="8158276" y="2697480"/>
            <a:ext cx="3393338" cy="214884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BRD-12 p.4-7 (current and envisioned, image pages)</a:t>
            </a:r>
          </a:p>
          <a:p>
            <a:pPr>
              <a:spcAft>
                <a:spcPts val="300"/>
              </a:spcAft>
            </a:pPr>
            <a:r>
              <a:rPr sz="1200" b="0">
                <a:solidFill>
                  <a:srgbClr val="004EA8"/>
                </a:solidFill>
                <a:latin typeface="Arial"/>
              </a:rPr>
              <a:t>•  </a:t>
            </a:r>
            <a:r>
              <a:rPr sz="1200" b="0">
                <a:solidFill>
                  <a:srgbClr val="4B4B4B"/>
                </a:solidFill>
                <a:latin typeface="Arial"/>
              </a:rPr>
              <a:t>BRIDSP-01 to 33</a:t>
            </a:r>
          </a:p>
          <a:p>
            <a:pPr>
              <a:spcAft>
                <a:spcPts val="300"/>
              </a:spcAft>
            </a:pPr>
            <a:r>
              <a:rPr sz="1200" b="0">
                <a:solidFill>
                  <a:srgbClr val="004EA8"/>
                </a:solidFill>
                <a:latin typeface="Arial"/>
              </a:rPr>
              <a:t>•  </a:t>
            </a:r>
            <a:r>
              <a:rPr sz="1200" b="0">
                <a:solidFill>
                  <a:srgbClr val="4B4B4B"/>
                </a:solidFill>
                <a:latin typeface="Arial"/>
              </a:rPr>
              <a:t>FRS BRD-12 v1.0, sections 2 and 5; decision D2</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Intake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Extraction</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Masterlist</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Processing run</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Review and IAAF</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Limits and TOR</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Expiry scan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Renewal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pic>
        <p:nvPicPr>
          <p:cNvPr id="9" name="Picture 8" descr="brd12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Submitted policies today (BRD-12 p.4-7)</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Policy details consolidated by hand</a:t>
            </a:r>
          </a:p>
          <a:p>
            <a:pPr>
              <a:spcAft>
                <a:spcPts val="100"/>
              </a:spcAft>
            </a:pPr>
            <a:r>
              <a:rPr sz="1200" b="0">
                <a:solidFill>
                  <a:srgbClr val="4B4B4B"/>
                </a:solidFill>
                <a:latin typeface="Arial"/>
              </a:rPr>
              <a:t>Excel reports and documents per segment; 30 days to consolidate CBG Motor.</a:t>
            </a:r>
          </a:p>
          <a:p>
            <a:pPr>
              <a:spcAft>
                <a:spcPts val="100"/>
              </a:spcAft>
            </a:pPr>
            <a:r>
              <a:rPr sz="1200" b="0">
                <a:solidFill>
                  <a:srgbClr val="0072D8"/>
                </a:solidFill>
                <a:latin typeface="Arial"/>
              </a:rPr>
              <a:t>BRD-12 p.4-5; BRIDSP-01, 02</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Separate masterlists</a:t>
            </a:r>
          </a:p>
          <a:p>
            <a:pPr>
              <a:spcAft>
                <a:spcPts val="100"/>
              </a:spcAft>
            </a:pPr>
            <a:r>
              <a:rPr sz="1200" b="0">
                <a:solidFill>
                  <a:srgbClr val="4B4B4B"/>
                </a:solidFill>
                <a:latin typeface="Arial"/>
              </a:rPr>
              <a:t>One Excel masterlist per segment on Drive H:, with e-mail and SharePoint.</a:t>
            </a:r>
          </a:p>
          <a:p>
            <a:pPr>
              <a:spcAft>
                <a:spcPts val="100"/>
              </a:spcAft>
            </a:pPr>
            <a:r>
              <a:rPr sz="1200" b="0">
                <a:solidFill>
                  <a:srgbClr val="0072D8"/>
                </a:solidFill>
                <a:latin typeface="Arial"/>
              </a:rPr>
              <a:t>BRD-12 p.4-5; BRIDSP-04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Sanitation and LAMD matching by hand</a:t>
            </a:r>
          </a:p>
          <a:p>
            <a:pPr>
              <a:spcAft>
                <a:spcPts val="100"/>
              </a:spcAft>
            </a:pPr>
            <a:r>
              <a:rPr sz="1200" b="0">
                <a:solidFill>
                  <a:srgbClr val="4B4B4B"/>
                </a:solidFill>
                <a:latin typeface="Arial"/>
              </a:rPr>
              <a:t>Exclusions (FFY, employees, No Touch) applied manually.</a:t>
            </a:r>
          </a:p>
          <a:p>
            <a:pPr>
              <a:spcAft>
                <a:spcPts val="100"/>
              </a:spcAft>
            </a:pPr>
            <a:r>
              <a:rPr sz="1200" b="0">
                <a:solidFill>
                  <a:srgbClr val="0072D8"/>
                </a:solidFill>
                <a:latin typeface="Arial"/>
              </a:rPr>
              <a:t>BRD-12 p.4-7; BRIDSP-08, 09</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Reviews and IAAF on paper</a:t>
            </a:r>
          </a:p>
          <a:p>
            <a:pPr>
              <a:spcAft>
                <a:spcPts val="100"/>
              </a:spcAft>
            </a:pPr>
            <a:r>
              <a:rPr sz="1200" b="0">
                <a:solidFill>
                  <a:srgbClr val="4B4B4B"/>
                </a:solidFill>
                <a:latin typeface="Arial"/>
              </a:rPr>
              <a:t>Adequacy reviews by e-mail; IAAF signed on paper.</a:t>
            </a:r>
          </a:p>
          <a:p>
            <a:pPr>
              <a:spcAft>
                <a:spcPts val="100"/>
              </a:spcAft>
            </a:pPr>
            <a:r>
              <a:rPr sz="1200" b="0">
                <a:solidFill>
                  <a:srgbClr val="0072D8"/>
                </a:solidFill>
                <a:latin typeface="Arial"/>
              </a:rPr>
              <a:t>BRD-12 p.4-5; BRIDSP-05-07</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Limit breaches by e-mail</a:t>
            </a:r>
          </a:p>
          <a:p>
            <a:pPr>
              <a:spcAft>
                <a:spcPts val="100"/>
              </a:spcAft>
            </a:pPr>
            <a:r>
              <a:rPr sz="1200" b="0">
                <a:solidFill>
                  <a:srgbClr val="4B4B4B"/>
                </a:solidFill>
                <a:latin typeface="Arial"/>
              </a:rPr>
              <a:t>Breaches handled with TSU by e-mail.</a:t>
            </a:r>
          </a:p>
          <a:p>
            <a:pPr>
              <a:spcAft>
                <a:spcPts val="100"/>
              </a:spcAft>
            </a:pPr>
            <a:r>
              <a:rPr sz="1200" b="0">
                <a:solidFill>
                  <a:srgbClr val="0072D8"/>
                </a:solidFill>
                <a:latin typeface="Arial"/>
              </a:rPr>
              <a:t>BRD-12 p.4-7; BRIDSP-16-19</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Renewal prepared by hand</a:t>
            </a:r>
          </a:p>
          <a:p>
            <a:pPr>
              <a:spcAft>
                <a:spcPts val="100"/>
              </a:spcAft>
            </a:pPr>
            <a:r>
              <a:rPr sz="1200" b="0">
                <a:solidFill>
                  <a:srgbClr val="4B4B4B"/>
                </a:solidFill>
                <a:latin typeface="Arial"/>
              </a:rPr>
              <a:t>Proposal, 30-day hold cover request and RA text file for COG prepared manually.</a:t>
            </a:r>
          </a:p>
          <a:p>
            <a:pPr>
              <a:spcAft>
                <a:spcPts val="100"/>
              </a:spcAft>
            </a:pPr>
            <a:r>
              <a:rPr sz="1200" b="0">
                <a:solidFill>
                  <a:srgbClr val="0072D8"/>
                </a:solidFill>
                <a:latin typeface="Arial"/>
              </a:rPr>
              <a:t>BRD-12 p.5-7; BRIDSP-22-26</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Handling fee from the UPP list</a:t>
            </a:r>
          </a:p>
          <a:p>
            <a:pPr>
              <a:spcAft>
                <a:spcPts val="100"/>
              </a:spcAft>
            </a:pPr>
            <a:r>
              <a:rPr sz="1200" b="0">
                <a:solidFill>
                  <a:srgbClr val="4B4B4B"/>
                </a:solidFill>
                <a:latin typeface="Arial"/>
              </a:rPr>
              <a:t>Handling-fee payments filtered from the Unapplied Payment List on SharePoint.</a:t>
            </a:r>
          </a:p>
          <a:p>
            <a:pPr>
              <a:spcAft>
                <a:spcPts val="100"/>
              </a:spcAft>
            </a:pPr>
            <a:r>
              <a:rPr sz="1200" b="0">
                <a:solidFill>
                  <a:srgbClr val="0072D8"/>
                </a:solidFill>
                <a:latin typeface="Arial"/>
              </a:rPr>
              <a:t>BRD-12 p.4-7; BRIDSP-31</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in the masterlists</a:t>
            </a:r>
          </a:p>
          <a:p>
            <a:pPr>
              <a:spcAft>
                <a:spcPts val="100"/>
              </a:spcAft>
            </a:pPr>
            <a:r>
              <a:rPr sz="1200" b="0">
                <a:solidFill>
                  <a:srgbClr val="4B4B4B"/>
                </a:solidFill>
                <a:latin typeface="Arial"/>
              </a:rPr>
              <a:t>No reports or alerts from live data.</a:t>
            </a:r>
          </a:p>
          <a:p>
            <a:pPr>
              <a:spcAft>
                <a:spcPts val="100"/>
              </a:spcAft>
            </a:pPr>
            <a:r>
              <a:rPr sz="1200" b="0">
                <a:solidFill>
                  <a:srgbClr val="0072D8"/>
                </a:solidFill>
                <a:latin typeface="Arial"/>
              </a:rPr>
              <a:t>BRD-12 p.4-7; BRIDSP-20, 21, 24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pic>
        <p:nvPicPr>
          <p:cNvPr id="9" name="Picture 8" descr="brd12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Submitted Policies in BIBS: workflow SBM_POLICY and the Renewal hand-off (FRS BRD-12 section 2.2; decision D2)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Policy details consolidated by hand</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Each source uploaded; fields extracted from the document and confirmed by a user</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Keyed once</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Separate masterlists</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Submitted Masterlist with history and role-based access</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2 s response (p.13-14)</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 and LAMD matching by hand</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Configurable rules sanitise, match, classify and bucket every policy; fallout reported</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63,000 a year by rule</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Reviews and IAAF on paper</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Reviews, IAAF and approval matrix in BIBS, with stamped signatures</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Approval trail</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Limit breaches by e-mail</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TOR generated, approved by the TSU matrix and handed over to the AO</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Limit check by rule</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prepared by hand</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Expiry scan hands renewable policies to Renewal: account, hold cover, letters</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manual RA file</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Handling fee from the UPP list</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Handling-fee payments tagged automatically by PN or location reference</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Tagged daily</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in the masterlists</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alerts and notifications from live data</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Live status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open points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Bucket list and precedence</a:t>
                      </a:r>
                    </a:p>
                  </a:txBody>
                  <a:tcPr marL="64008" marR="64008" marT="27432" marB="27432" anchor="ctr">
                    <a:solidFill>
                      <a:srgbClr val="FFFFFF"/>
                    </a:solidFill>
                  </a:tcPr>
                </a:tc>
                <a:tc>
                  <a:txBody>
                    <a:bodyPr wrap="square"/>
                    <a:lstStyle/>
                    <a:p>
                      <a:r>
                        <a:rPr sz="1100" b="0">
                          <a:solidFill>
                            <a:srgbClr val="4B4B4B"/>
                          </a:solidFill>
                          <a:latin typeface="Arial"/>
                        </a:rPr>
                        <a:t>Which submitted policies are renewed</a:t>
                      </a:r>
                    </a:p>
                  </a:txBody>
                  <a:tcPr marL="64008" marR="64008" marT="27432" marB="27432" anchor="ctr">
                    <a:solidFill>
                      <a:srgbClr val="FFFFFF"/>
                    </a:solidFill>
                  </a:tcPr>
                </a:tc>
                <a:tc>
                  <a:txBody>
                    <a:bodyPr wrap="square"/>
                    <a:lstStyle/>
                    <a:p>
                      <a:r>
                        <a:rPr sz="1100" b="0">
                          <a:solidFill>
                            <a:srgbClr val="4B4B4B"/>
                          </a:solidFill>
                          <a:latin typeface="Arial"/>
                        </a:rPr>
                        <a:t>CBG and Non-CBG Marketing</a:t>
                      </a:r>
                    </a:p>
                  </a:txBody>
                  <a:tcPr marL="64008" marR="64008" marT="27432" marB="27432" anchor="ctr">
                    <a:solidFill>
                      <a:srgbClr val="FFFFFF"/>
                    </a:solidFill>
                  </a:tcPr>
                </a:tc>
                <a:tc>
                  <a:txBody>
                    <a:bodyPr wrap="square"/>
                    <a:lstStyle/>
                    <a:p>
                      <a:r>
                        <a:rPr sz="1100" b="0">
                          <a:solidFill>
                            <a:srgbClr val="4B4B4B"/>
                          </a:solidFill>
                          <a:latin typeface="Arial"/>
                        </a:rPr>
                        <a:t>Complete bucket list; FFY, RMU, Fully Paid renewed?</a:t>
                      </a:r>
                    </a:p>
                  </a:txBody>
                  <a:tcPr marL="64008" marR="64008" marT="27432" marB="27432" anchor="ctr">
                    <a:solidFill>
                      <a:srgbClr val="FFFFFF"/>
                    </a:solidFill>
                  </a:tcPr>
                </a:tc>
                <a:tc>
                  <a:txBody>
                    <a:bodyPr wrap="square"/>
                    <a:lstStyle/>
                    <a:p>
                      <a:r>
                        <a:rPr sz="1100" b="0">
                          <a:solidFill>
                            <a:srgbClr val="4B4B4B"/>
                          </a:solidFill>
                          <a:latin typeface="Arial"/>
                        </a:rPr>
                        <a:t>DCR-124</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Renewal boundary with BRD-6</a:t>
                      </a:r>
                    </a:p>
                  </a:txBody>
                  <a:tcPr marL="64008" marR="64008" marT="27432" marB="27432" anchor="ctr">
                    <a:solidFill>
                      <a:srgbClr val="E5F5FF"/>
                    </a:solidFill>
                  </a:tcPr>
                </a:tc>
                <a:tc>
                  <a:txBody>
                    <a:bodyPr wrap="square"/>
                    <a:lstStyle/>
                    <a:p>
                      <a:r>
                        <a:rPr sz="1100" b="0">
                          <a:solidFill>
                            <a:srgbClr val="4B4B4B"/>
                          </a:solidFill>
                          <a:latin typeface="Arial"/>
                        </a:rPr>
                        <a:t>Two renewal paths for one policy</a:t>
                      </a:r>
                    </a:p>
                  </a:txBody>
                  <a:tcPr marL="64008" marR="64008" marT="27432" marB="27432" anchor="ctr">
                    <a:solidFill>
                      <a:srgbClr val="E5F5FF"/>
                    </a:solidFill>
                  </a:tcPr>
                </a:tc>
                <a:tc>
                  <a:txBody>
                    <a:bodyPr wrap="square"/>
                    <a:lstStyle/>
                    <a:p>
                      <a:r>
                        <a:rPr sz="1100" b="0">
                          <a:solidFill>
                            <a:srgbClr val="4B4B4B"/>
                          </a:solidFill>
                          <a:latin typeface="Arial"/>
                        </a:rPr>
                        <a:t>Submitted Policies and RMEL owners</a:t>
                      </a:r>
                    </a:p>
                  </a:txBody>
                  <a:tcPr marL="64008" marR="64008" marT="27432" marB="27432" anchor="ctr">
                    <a:solidFill>
                      <a:srgbClr val="E5F5FF"/>
                    </a:solidFill>
                  </a:tcPr>
                </a:tc>
                <a:tc>
                  <a:txBody>
                    <a:bodyPr wrap="square"/>
                    <a:lstStyle/>
                    <a:p>
                      <a:r>
                        <a:rPr sz="1100" b="0">
                          <a:solidFill>
                            <a:srgbClr val="4B4B4B"/>
                          </a:solidFill>
                          <a:latin typeface="Arial"/>
                        </a:rPr>
                        <a:t>Confirm decision D2; notices and proposals (XQ03)</a:t>
                      </a:r>
                    </a:p>
                  </a:txBody>
                  <a:tcPr marL="64008" marR="64008" marT="27432" marB="27432" anchor="ctr">
                    <a:solidFill>
                      <a:srgbClr val="E5F5FF"/>
                    </a:solidFill>
                  </a:tcPr>
                </a:tc>
                <a:tc>
                  <a:txBody>
                    <a:bodyPr wrap="square"/>
                    <a:lstStyle/>
                    <a:p>
                      <a:r>
                        <a:rPr sz="1100" b="0">
                          <a:solidFill>
                            <a:srgbClr val="4B4B4B"/>
                          </a:solidFill>
                          <a:latin typeface="Arial"/>
                        </a:rPr>
                        <a:t>DCR-129</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LAMD intake or two</a:t>
                      </a:r>
                    </a:p>
                  </a:txBody>
                  <a:tcPr marL="64008" marR="64008" marT="27432" marB="27432" anchor="ctr">
                    <a:solidFill>
                      <a:srgbClr val="FFFFFF"/>
                    </a:solidFill>
                  </a:tcPr>
                </a:tc>
                <a:tc>
                  <a:txBody>
                    <a:bodyPr wrap="square"/>
                    <a:lstStyle/>
                    <a:p>
                      <a:r>
                        <a:rPr sz="1100" b="0">
                          <a:solidFill>
                            <a:srgbClr val="4B4B4B"/>
                          </a:solidFill>
                          <a:latin typeface="Arial"/>
                        </a:rPr>
                        <a:t>Loan status for buckets and renewal eligibility</a:t>
                      </a:r>
                    </a:p>
                  </a:txBody>
                  <a:tcPr marL="64008" marR="64008" marT="27432" marB="27432" anchor="ctr">
                    <a:solidFill>
                      <a:srgbClr val="FFFFFF"/>
                    </a:solidFill>
                  </a:tcPr>
                </a:tc>
                <a:tc>
                  <a:txBody>
                    <a:bodyPr wrap="square"/>
                    <a:lstStyle/>
                    <a:p>
                      <a:r>
                        <a:rPr sz="1100" b="0">
                          <a:solidFill>
                            <a:srgbClr val="4B4B4B"/>
                          </a:solidFill>
                          <a:latin typeface="Arial"/>
                        </a:rPr>
                        <a:t>Marketing, LAMD</a:t>
                      </a:r>
                    </a:p>
                  </a:txBody>
                  <a:tcPr marL="64008" marR="64008" marT="27432" marB="27432" anchor="ctr">
                    <a:solidFill>
                      <a:srgbClr val="FFFFFF"/>
                    </a:solidFill>
                  </a:tcPr>
                </a:tc>
                <a:tc>
                  <a:txBody>
                    <a:bodyPr wrap="square"/>
                    <a:lstStyle/>
                    <a:p>
                      <a:r>
                        <a:rPr sz="1100" b="0">
                          <a:solidFill>
                            <a:srgbClr val="4B4B4B"/>
                          </a:solidFill>
                          <a:latin typeface="Arial"/>
                        </a:rPr>
                        <a:t>One report, one owner, frequency</a:t>
                      </a:r>
                    </a:p>
                  </a:txBody>
                  <a:tcPr marL="64008" marR="64008" marT="27432" marB="27432" anchor="ctr">
                    <a:solidFill>
                      <a:srgbClr val="FFFFFF"/>
                    </a:solidFill>
                  </a:tcPr>
                </a:tc>
                <a:tc>
                  <a:txBody>
                    <a:bodyPr wrap="square"/>
                    <a:lstStyle/>
                    <a:p>
                      <a:r>
                        <a:rPr sz="1100" b="0">
                          <a:solidFill>
                            <a:srgbClr val="4B4B4B"/>
                          </a:solidFill>
                          <a:latin typeface="Arial"/>
                        </a:rPr>
                        <a:t>DCR-146, XQ01</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One IAAF per policy</a:t>
                      </a:r>
                    </a:p>
                  </a:txBody>
                  <a:tcPr marL="64008" marR="64008" marT="27432" marB="27432" anchor="ctr">
                    <a:solidFill>
                      <a:srgbClr val="E5F5FF"/>
                    </a:solidFill>
                  </a:tcPr>
                </a:tc>
                <a:tc>
                  <a:txBody>
                    <a:bodyPr wrap="square"/>
                    <a:lstStyle/>
                    <a:p>
                      <a:r>
                        <a:rPr sz="1100" b="0">
                          <a:solidFill>
                            <a:srgbClr val="4B4B4B"/>
                          </a:solidFill>
                          <a:latin typeface="Arial"/>
                        </a:rPr>
                        <a:t>IAAF generation and approvals</a:t>
                      </a:r>
                    </a:p>
                  </a:txBody>
                  <a:tcPr marL="64008" marR="64008" marT="27432" marB="27432" anchor="ctr">
                    <a:solidFill>
                      <a:srgbClr val="E5F5FF"/>
                    </a:solidFill>
                  </a:tcPr>
                </a:tc>
                <a:tc>
                  <a:txBody>
                    <a:bodyPr wrap="square"/>
                    <a:lstStyle/>
                    <a:p>
                      <a:r>
                        <a:rPr sz="1100" b="0">
                          <a:solidFill>
                            <a:srgbClr val="4B4B4B"/>
                          </a:solidFill>
                          <a:latin typeface="Arial"/>
                        </a:rPr>
                        <a:t>Non-CBG Corporate Marketing</a:t>
                      </a:r>
                    </a:p>
                  </a:txBody>
                  <a:tcPr marL="64008" marR="64008" marT="27432" marB="27432" anchor="ctr">
                    <a:solidFill>
                      <a:srgbClr val="E5F5FF"/>
                    </a:solidFill>
                  </a:tcPr>
                </a:tc>
                <a:tc>
                  <a:txBody>
                    <a:bodyPr wrap="square"/>
                    <a:lstStyle/>
                    <a:p>
                      <a:r>
                        <a:rPr sz="1100" b="0">
                          <a:solidFill>
                            <a:srgbClr val="4B4B4B"/>
                          </a:solidFill>
                          <a:latin typeface="Arial"/>
                        </a:rPr>
                        <a:t>One IAAF per policy; approval matrix</a:t>
                      </a:r>
                    </a:p>
                  </a:txBody>
                  <a:tcPr marL="64008" marR="64008" marT="27432" marB="27432" anchor="ctr">
                    <a:solidFill>
                      <a:srgbClr val="E5F5FF"/>
                    </a:solidFill>
                  </a:tcPr>
                </a:tc>
                <a:tc>
                  <a:txBody>
                    <a:bodyPr wrap="square"/>
                    <a:lstStyle/>
                    <a:p>
                      <a:r>
                        <a:rPr sz="1100" b="0">
                          <a:solidFill>
                            <a:srgbClr val="4B4B4B"/>
                          </a:solidFill>
                          <a:latin typeface="Arial"/>
                        </a:rPr>
                        <a:t>DCR-125</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Handling fee undefined</a:t>
                      </a:r>
                    </a:p>
                  </a:txBody>
                  <a:tcPr marL="64008" marR="64008" marT="27432" marB="27432" anchor="ctr">
                    <a:solidFill>
                      <a:srgbClr val="FFFFFF"/>
                    </a:solidFill>
                  </a:tcPr>
                </a:tc>
                <a:tc>
                  <a:txBody>
                    <a:bodyPr wrap="square"/>
                    <a:lstStyle/>
                    <a:p>
                      <a:r>
                        <a:rPr sz="1100" b="0">
                          <a:solidFill>
                            <a:srgbClr val="4B4B4B"/>
                          </a:solidFill>
                          <a:latin typeface="Arial"/>
                        </a:rPr>
                        <a:t>Amount, payer, VAT, OR, GL account</a:t>
                      </a:r>
                    </a:p>
                  </a:txBody>
                  <a:tcPr marL="64008" marR="64008" marT="27432" marB="27432" anchor="ctr">
                    <a:solidFill>
                      <a:srgbClr val="FFFFFF"/>
                    </a:solidFill>
                  </a:tcPr>
                </a:tc>
                <a:tc>
                  <a:txBody>
                    <a:bodyPr wrap="square"/>
                    <a:lstStyle/>
                    <a:p>
                      <a:r>
                        <a:rPr sz="1100" b="0">
                          <a:solidFill>
                            <a:srgbClr val="4B4B4B"/>
                          </a:solidFill>
                          <a:latin typeface="Arial"/>
                        </a:rPr>
                        <a:t>Marketing, Comptrollership</a:t>
                      </a:r>
                    </a:p>
                  </a:txBody>
                  <a:tcPr marL="64008" marR="64008" marT="27432" marB="27432" anchor="ctr">
                    <a:solidFill>
                      <a:srgbClr val="FFFFFF"/>
                    </a:solidFill>
                  </a:tcPr>
                </a:tc>
                <a:tc>
                  <a:txBody>
                    <a:bodyPr wrap="square"/>
                    <a:lstStyle/>
                    <a:p>
                      <a:r>
                        <a:rPr sz="1100" b="0">
                          <a:solidFill>
                            <a:srgbClr val="4B4B4B"/>
                          </a:solidFill>
                          <a:latin typeface="Arial"/>
                        </a:rPr>
                        <a:t>Define the fee and who dispositions it</a:t>
                      </a:r>
                    </a:p>
                  </a:txBody>
                  <a:tcPr marL="64008" marR="64008" marT="27432" marB="27432" anchor="ctr">
                    <a:solidFill>
                      <a:srgbClr val="FFFFFF"/>
                    </a:solidFill>
                  </a:tcPr>
                </a:tc>
                <a:tc>
                  <a:txBody>
                    <a:bodyPr wrap="square"/>
                    <a:lstStyle/>
                    <a:p>
                      <a:r>
                        <a:rPr sz="1100" b="0">
                          <a:solidFill>
                            <a:srgbClr val="4B4B4B"/>
                          </a:solidFill>
                          <a:latin typeface="Arial"/>
                        </a:rPr>
                        <a:t>DCR-126</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On hold</a:t>
                      </a:r>
                    </a:p>
                  </a:txBody>
                  <a:tcPr marL="64008" marR="64008" marT="27432" marB="27432" anchor="ctr">
                    <a:solidFill>
                      <a:srgbClr val="EDE7F6"/>
                    </a:solidFill>
                  </a:tcPr>
                </a:tc>
                <a:tc>
                  <a:txBody>
                    <a:bodyPr wrap="square"/>
                    <a:lstStyle/>
                    <a:p>
                      <a:r>
                        <a:rPr sz="1100" b="0">
                          <a:solidFill>
                            <a:srgbClr val="4B4B4B"/>
                          </a:solidFill>
                          <a:latin typeface="Arial"/>
                        </a:rPr>
                        <a:t>Source feeds, OCR, e-signature, COG</a:t>
                      </a:r>
                    </a:p>
                  </a:txBody>
                  <a:tcPr marL="64008" marR="64008" marT="27432" marB="27432" anchor="ctr">
                    <a:solidFill>
                      <a:srgbClr val="E5F5FF"/>
                    </a:solidFill>
                  </a:tcPr>
                </a:tc>
                <a:tc>
                  <a:txBody>
                    <a:bodyPr wrap="square"/>
                    <a:lstStyle/>
                    <a:p>
                      <a:r>
                        <a:rPr sz="1100" b="0">
                          <a:solidFill>
                            <a:srgbClr val="4B4B4B"/>
                          </a:solidFill>
                          <a:latin typeface="Arial"/>
                        </a:rPr>
                        <a:t>Uploads, manual entry, stamped signature, print batch</a:t>
                      </a:r>
                    </a:p>
                  </a:txBody>
                  <a:tcPr marL="64008" marR="64008" marT="27432" marB="27432" anchor="ctr">
                    <a:solidFill>
                      <a:srgbClr val="E5F5FF"/>
                    </a:solidFill>
                  </a:tcPr>
                </a:tc>
                <a:tc>
                  <a:txBody>
                    <a:bodyPr wrap="square"/>
                    <a:lstStyle/>
                    <a:p>
                      <a:r>
                        <a:rPr sz="1100" b="0">
                          <a:solidFill>
                            <a:srgbClr val="4B4B4B"/>
                          </a:solidFill>
                          <a:latin typeface="Arial"/>
                        </a:rPr>
                        <a:t>BDO IT, COG</a:t>
                      </a:r>
                    </a:p>
                  </a:txBody>
                  <a:tcPr marL="64008" marR="64008" marT="27432" marB="27432" anchor="ctr">
                    <a:solidFill>
                      <a:srgbClr val="E5F5FF"/>
                    </a:solidFill>
                  </a:tcPr>
                </a:tc>
                <a:tc>
                  <a:txBody>
                    <a:bodyPr wrap="square"/>
                    <a:lstStyle/>
                    <a:p>
                      <a:r>
                        <a:rPr sz="1100" b="0">
                          <a:solidFill>
                            <a:srgbClr val="4B4B4B"/>
                          </a:solidFill>
                          <a:latin typeface="Arial"/>
                        </a:rPr>
                        <a:t>Interface specifications per source</a:t>
                      </a:r>
                    </a:p>
                  </a:txBody>
                  <a:tcPr marL="64008" marR="64008" marT="27432" marB="27432" anchor="ctr">
                    <a:solidFill>
                      <a:srgbClr val="E5F5FF"/>
                    </a:solidFill>
                  </a:tcPr>
                </a:tc>
                <a:tc>
                  <a:txBody>
                    <a:bodyPr wrap="square"/>
                    <a:lstStyle/>
                    <a:p>
                      <a:r>
                        <a:rPr sz="1100" b="0">
                          <a:solidFill>
                            <a:srgbClr val="4B4B4B"/>
                          </a:solidFill>
                          <a:latin typeface="Arial"/>
                        </a:rPr>
                        <a:t>FRS BRD-12 section 7</a:t>
                      </a:r>
                    </a:p>
                  </a:txBody>
                  <a:tcPr marL="64008" marR="64008" marT="27432" marB="27432" anchor="ctr">
                    <a:solidFill>
                      <a:srgbClr val="E5F5FF"/>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matching with bank loan data</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LAMD matching by PN in the processing run; fallout with reason codes.</a:t>
            </a:r>
          </a:p>
          <a:p>
            <a:pPr>
              <a:spcAft>
                <a:spcPts val="400"/>
              </a:spcAft>
            </a:pPr>
            <a:r>
              <a:rPr sz="1200" b="1">
                <a:solidFill>
                  <a:srgbClr val="004EA8"/>
                </a:solidFill>
                <a:latin typeface="Arial"/>
              </a:rPr>
              <a:t>BDOI: </a:t>
            </a:r>
            <a:r>
              <a:rPr sz="1200" b="0">
                <a:solidFill>
                  <a:srgbClr val="4B4B4B"/>
                </a:solidFill>
                <a:latin typeface="Arial"/>
              </a:rPr>
              <a:t>One LAMD report and owner (DCR-146).</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Rules owned by the business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Sanitation, bucket and insurer-assignment rules maintained by a rule administrator.</a:t>
            </a:r>
          </a:p>
          <a:p>
            <a:pPr>
              <a:spcAft>
                <a:spcPts val="400"/>
              </a:spcAft>
            </a:pPr>
            <a:r>
              <a:rPr sz="1200" b="1">
                <a:solidFill>
                  <a:srgbClr val="004EA8"/>
                </a:solidFill>
                <a:latin typeface="Arial"/>
              </a:rPr>
              <a:t>BDOI: </a:t>
            </a:r>
            <a:r>
              <a:rPr sz="1200" b="0">
                <a:solidFill>
                  <a:srgbClr val="4B4B4B"/>
                </a:solidFill>
                <a:latin typeface="Arial"/>
              </a:rPr>
              <a:t>Give the bucket precedence (DCR-124).</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Adequacy review with an approval matrix</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Policy reviews and IAAF routed by the matrix.</a:t>
            </a:r>
          </a:p>
          <a:p>
            <a:pPr>
              <a:spcAft>
                <a:spcPts val="400"/>
              </a:spcAft>
            </a:pPr>
            <a:r>
              <a:rPr sz="1200" b="1">
                <a:solidFill>
                  <a:srgbClr val="004EA8"/>
                </a:solidFill>
                <a:latin typeface="Arial"/>
              </a:rPr>
              <a:t>BDOI: </a:t>
            </a:r>
            <a:r>
              <a:rPr sz="1200" b="0">
                <a:solidFill>
                  <a:srgbClr val="4B4B4B"/>
                </a:solidFill>
                <a:latin typeface="Arial"/>
              </a:rPr>
              <a:t>Approve the IAAF matrix (DCR-125).</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signature</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Stamped signature image; qualified e-signature on hold.</a:t>
            </a:r>
          </a:p>
          <a:p>
            <a:pPr>
              <a:spcAft>
                <a:spcPts val="400"/>
              </a:spcAft>
            </a:pPr>
            <a:r>
              <a:rPr sz="1200" b="1">
                <a:solidFill>
                  <a:srgbClr val="004EA8"/>
                </a:solidFill>
                <a:latin typeface="Arial"/>
              </a:rPr>
              <a:t>BDOI: </a:t>
            </a:r>
            <a:r>
              <a:rPr sz="1200" b="0">
                <a:solidFill>
                  <a:srgbClr val="4B4B4B"/>
                </a:solidFill>
                <a:latin typeface="Arial"/>
              </a:rPr>
              <a:t>Choose a qualified e-signature service.</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masterlist</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One record per policy with history, handler and conversion status.</a:t>
            </a:r>
          </a:p>
          <a:p>
            <a:pPr>
              <a:spcAft>
                <a:spcPts val="400"/>
              </a:spcAft>
            </a:pPr>
            <a:r>
              <a:rPr sz="1200" b="1">
                <a:solidFill>
                  <a:srgbClr val="004EA8"/>
                </a:solidFill>
                <a:latin typeface="Arial"/>
              </a:rPr>
              <a:t>BDOI: </a:t>
            </a:r>
            <a:r>
              <a:rPr sz="1200" b="0">
                <a:solidFill>
                  <a:srgbClr val="4B4B4B"/>
                </a:solidFill>
                <a:latin typeface="Arial"/>
              </a:rPr>
              <a:t>Migrate the Excel masterlists with reconciliation (BRIDSP-33).</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Conversion KPI</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Masterlist shows BOOKED when the renewal books; persistency report for submitted accounts.</a:t>
            </a:r>
          </a:p>
          <a:p>
            <a:pPr>
              <a:spcAft>
                <a:spcPts val="400"/>
              </a:spcAft>
            </a:pPr>
            <a:r>
              <a:rPr sz="1200" b="1">
                <a:solidFill>
                  <a:srgbClr val="004EA8"/>
                </a:solidFill>
                <a:latin typeface="Arial"/>
              </a:rPr>
              <a:t>BDOI: </a:t>
            </a:r>
            <a:r>
              <a:rPr sz="1200" b="0">
                <a:solidFill>
                  <a:srgbClr val="4B4B4B"/>
                </a:solidFill>
                <a:latin typeface="Arial"/>
              </a:rPr>
              <a:t>Set conversion targets per segment.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13. Summary</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Maturity, decisions and roadmap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Summary: from today to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ectangle 8"/>
          <p:cNvSpPr/>
          <p:nvPr/>
        </p:nvSpPr>
        <p:spPr>
          <a:xfrm>
            <a:off x="2679192"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1  </a:t>
            </a:r>
            <a:r>
              <a:rPr sz="1100" b="0">
                <a:solidFill>
                  <a:srgbClr val="2E2E2E"/>
                </a:solidFill>
                <a:latin typeface="Arial"/>
              </a:rPr>
              <a:t>Manual: paper, e-mail</a:t>
            </a:r>
          </a:p>
        </p:txBody>
      </p:sp>
      <p:sp>
        <p:nvSpPr>
          <p:cNvPr id="11" name="Rectangle 10"/>
          <p:cNvSpPr/>
          <p:nvPr/>
        </p:nvSpPr>
        <p:spPr>
          <a:xfrm>
            <a:off x="4477451"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739"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2  </a:t>
            </a:r>
            <a:r>
              <a:rPr sz="1100" b="0">
                <a:solidFill>
                  <a:srgbClr val="2E2E2E"/>
                </a:solidFill>
                <a:latin typeface="Arial"/>
              </a:rPr>
              <a:t>Tool-assisted: spreadsheets, separate systems</a:t>
            </a:r>
          </a:p>
        </p:txBody>
      </p:sp>
      <p:sp>
        <p:nvSpPr>
          <p:cNvPr id="13" name="Rectangle 12"/>
          <p:cNvSpPr/>
          <p:nvPr/>
        </p:nvSpPr>
        <p:spPr>
          <a:xfrm>
            <a:off x="6275710"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998"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3  </a:t>
            </a:r>
            <a:r>
              <a:rPr sz="1100" b="0">
                <a:solidFill>
                  <a:srgbClr val="2E2E2E"/>
                </a:solidFill>
                <a:latin typeface="Arial"/>
              </a:rPr>
              <a:t>One workflow in one system</a:t>
            </a:r>
          </a:p>
        </p:txBody>
      </p:sp>
      <p:sp>
        <p:nvSpPr>
          <p:cNvPr id="15" name="Rectangle 14"/>
          <p:cNvSpPr/>
          <p:nvPr/>
        </p:nvSpPr>
        <p:spPr>
          <a:xfrm>
            <a:off x="8073969"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257"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4  </a:t>
            </a:r>
            <a:r>
              <a:rPr sz="1100" b="0">
                <a:solidFill>
                  <a:srgbClr val="2E2E2E"/>
                </a:solidFill>
                <a:latin typeface="Arial"/>
              </a:rPr>
              <a:t>Automated, with exception queues</a:t>
            </a:r>
          </a:p>
        </p:txBody>
      </p:sp>
      <p:sp>
        <p:nvSpPr>
          <p:cNvPr id="17" name="Rectangle 16"/>
          <p:cNvSpPr/>
          <p:nvPr/>
        </p:nvSpPr>
        <p:spPr>
          <a:xfrm>
            <a:off x="9872228"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90516"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5  </a:t>
            </a:r>
            <a:r>
              <a:rPr sz="1100" b="0">
                <a:solidFill>
                  <a:srgbClr val="2E2E2E"/>
                </a:solidFill>
                <a:latin typeface="Arial"/>
              </a:rPr>
              <a:t>Integrated and measured</a:t>
            </a:r>
          </a:p>
        </p:txBody>
      </p:sp>
      <p:sp>
        <p:nvSpPr>
          <p:cNvPr id="19" name="Rectangle 18"/>
          <p:cNvSpPr/>
          <p:nvPr/>
        </p:nvSpPr>
        <p:spPr>
          <a:xfrm>
            <a:off x="548640" y="1938528"/>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38528"/>
            <a:ext cx="2103120" cy="483325"/>
          </a:xfrm>
          <a:prstGeom prst="rect">
            <a:avLst/>
          </a:prstGeom>
          <a:noFill/>
        </p:spPr>
        <p:txBody>
          <a:bodyPr wrap="square" anchor="ctr" lIns="45720" rIns="45720">
            <a:spAutoFit/>
          </a:bodyPr>
          <a:lstStyle/>
          <a:p>
            <a:r>
              <a:rPr sz="1300" b="1" i="0">
                <a:solidFill>
                  <a:srgbClr val="004EA8"/>
                </a:solidFill>
                <a:latin typeface="Arial"/>
              </a:rPr>
              <a:t>Automation</a:t>
            </a:r>
          </a:p>
        </p:txBody>
      </p:sp>
      <p:sp>
        <p:nvSpPr>
          <p:cNvPr id="21" name="Rectangle 20"/>
          <p:cNvSpPr/>
          <p:nvPr/>
        </p:nvSpPr>
        <p:spPr>
          <a:xfrm>
            <a:off x="3550889" y="2161140"/>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13729" y="2043030"/>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3" name="Oval 22"/>
          <p:cNvSpPr/>
          <p:nvPr/>
        </p:nvSpPr>
        <p:spPr>
          <a:xfrm>
            <a:off x="8808506" y="2043030"/>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4" name="Oval 23"/>
          <p:cNvSpPr/>
          <p:nvPr/>
        </p:nvSpPr>
        <p:spPr>
          <a:xfrm>
            <a:off x="10606765" y="2043030"/>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5" name="TextBox 24"/>
          <p:cNvSpPr txBox="1"/>
          <p:nvPr/>
        </p:nvSpPr>
        <p:spPr>
          <a:xfrm>
            <a:off x="594360" y="2421853"/>
            <a:ext cx="2103120" cy="483325"/>
          </a:xfrm>
          <a:prstGeom prst="rect">
            <a:avLst/>
          </a:prstGeom>
          <a:noFill/>
        </p:spPr>
        <p:txBody>
          <a:bodyPr wrap="square" anchor="ctr" lIns="45720" rIns="45720">
            <a:spAutoFit/>
          </a:bodyPr>
          <a:lstStyle/>
          <a:p>
            <a:r>
              <a:rPr sz="1300" b="1" i="0">
                <a:solidFill>
                  <a:srgbClr val="004EA8"/>
                </a:solidFill>
                <a:latin typeface="Arial"/>
              </a:rPr>
              <a:t>Controls</a:t>
            </a:r>
          </a:p>
        </p:txBody>
      </p:sp>
      <p:sp>
        <p:nvSpPr>
          <p:cNvPr id="26" name="Rectangle 25"/>
          <p:cNvSpPr/>
          <p:nvPr/>
        </p:nvSpPr>
        <p:spPr>
          <a:xfrm>
            <a:off x="5349148" y="2644466"/>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211988" y="2526356"/>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8" name="Oval 27"/>
          <p:cNvSpPr/>
          <p:nvPr/>
        </p:nvSpPr>
        <p:spPr>
          <a:xfrm>
            <a:off x="8808506" y="2526356"/>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9" name="Oval 28"/>
          <p:cNvSpPr/>
          <p:nvPr/>
        </p:nvSpPr>
        <p:spPr>
          <a:xfrm>
            <a:off x="10606765" y="2526356"/>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0" name="Rectangle 29"/>
          <p:cNvSpPr/>
          <p:nvPr/>
        </p:nvSpPr>
        <p:spPr>
          <a:xfrm>
            <a:off x="548640" y="2905179"/>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905179"/>
            <a:ext cx="2103120" cy="483325"/>
          </a:xfrm>
          <a:prstGeom prst="rect">
            <a:avLst/>
          </a:prstGeom>
          <a:noFill/>
        </p:spPr>
        <p:txBody>
          <a:bodyPr wrap="square" anchor="ctr" lIns="45720" rIns="45720">
            <a:spAutoFit/>
          </a:bodyPr>
          <a:lstStyle/>
          <a:p>
            <a:r>
              <a:rPr sz="1300" b="1" i="0">
                <a:solidFill>
                  <a:srgbClr val="004EA8"/>
                </a:solidFill>
                <a:latin typeface="Arial"/>
              </a:rPr>
              <a:t>Data</a:t>
            </a:r>
          </a:p>
        </p:txBody>
      </p:sp>
      <p:sp>
        <p:nvSpPr>
          <p:cNvPr id="32" name="Rectangle 31"/>
          <p:cNvSpPr/>
          <p:nvPr/>
        </p:nvSpPr>
        <p:spPr>
          <a:xfrm>
            <a:off x="3550889" y="3127792"/>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3729" y="3009682"/>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4" name="Oval 33"/>
          <p:cNvSpPr/>
          <p:nvPr/>
        </p:nvSpPr>
        <p:spPr>
          <a:xfrm>
            <a:off x="8808506" y="3009682"/>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5" name="Oval 34"/>
          <p:cNvSpPr/>
          <p:nvPr/>
        </p:nvSpPr>
        <p:spPr>
          <a:xfrm>
            <a:off x="10606765" y="3009682"/>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6" name="TextBox 35"/>
          <p:cNvSpPr txBox="1"/>
          <p:nvPr/>
        </p:nvSpPr>
        <p:spPr>
          <a:xfrm>
            <a:off x="594360" y="3388505"/>
            <a:ext cx="2103120" cy="483325"/>
          </a:xfrm>
          <a:prstGeom prst="rect">
            <a:avLst/>
          </a:prstGeom>
          <a:noFill/>
        </p:spPr>
        <p:txBody>
          <a:bodyPr wrap="square" anchor="ctr" lIns="45720" rIns="45720">
            <a:spAutoFit/>
          </a:bodyPr>
          <a:lstStyle/>
          <a:p>
            <a:r>
              <a:rPr sz="1300" b="1" i="0">
                <a:solidFill>
                  <a:srgbClr val="004EA8"/>
                </a:solidFill>
                <a:latin typeface="Arial"/>
              </a:rPr>
              <a:t>Integration</a:t>
            </a:r>
          </a:p>
        </p:txBody>
      </p:sp>
      <p:sp>
        <p:nvSpPr>
          <p:cNvPr id="37" name="Rectangle 36"/>
          <p:cNvSpPr/>
          <p:nvPr/>
        </p:nvSpPr>
        <p:spPr>
          <a:xfrm>
            <a:off x="5349148" y="3611118"/>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11988" y="3493008"/>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9" name="Oval 38"/>
          <p:cNvSpPr/>
          <p:nvPr/>
        </p:nvSpPr>
        <p:spPr>
          <a:xfrm>
            <a:off x="7010247" y="3493008"/>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0" name="Oval 39"/>
          <p:cNvSpPr/>
          <p:nvPr/>
        </p:nvSpPr>
        <p:spPr>
          <a:xfrm>
            <a:off x="10606765" y="3493008"/>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1" name="Rectangle 40"/>
          <p:cNvSpPr/>
          <p:nvPr/>
        </p:nvSpPr>
        <p:spPr>
          <a:xfrm>
            <a:off x="548640" y="3871830"/>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871830"/>
            <a:ext cx="2103120" cy="483325"/>
          </a:xfrm>
          <a:prstGeom prst="rect">
            <a:avLst/>
          </a:prstGeom>
          <a:noFill/>
        </p:spPr>
        <p:txBody>
          <a:bodyPr wrap="square" anchor="ctr" lIns="45720" rIns="45720">
            <a:spAutoFit/>
          </a:bodyPr>
          <a:lstStyle/>
          <a:p>
            <a:r>
              <a:rPr sz="1300" b="1" i="0">
                <a:solidFill>
                  <a:srgbClr val="004EA8"/>
                </a:solidFill>
                <a:latin typeface="Arial"/>
              </a:rPr>
              <a:t>Customer service</a:t>
            </a:r>
          </a:p>
        </p:txBody>
      </p:sp>
      <p:sp>
        <p:nvSpPr>
          <p:cNvPr id="43" name="Rectangle 42"/>
          <p:cNvSpPr/>
          <p:nvPr/>
        </p:nvSpPr>
        <p:spPr>
          <a:xfrm>
            <a:off x="5349148" y="4094443"/>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211988" y="3976333"/>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5" name="Oval 44"/>
          <p:cNvSpPr/>
          <p:nvPr/>
        </p:nvSpPr>
        <p:spPr>
          <a:xfrm>
            <a:off x="8808506" y="3976333"/>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6" name="Oval 45"/>
          <p:cNvSpPr/>
          <p:nvPr/>
        </p:nvSpPr>
        <p:spPr>
          <a:xfrm>
            <a:off x="10606765" y="3976333"/>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7" name="TextBox 46"/>
          <p:cNvSpPr txBox="1"/>
          <p:nvPr/>
        </p:nvSpPr>
        <p:spPr>
          <a:xfrm>
            <a:off x="594360" y="4355156"/>
            <a:ext cx="2103120" cy="483325"/>
          </a:xfrm>
          <a:prstGeom prst="rect">
            <a:avLst/>
          </a:prstGeom>
          <a:noFill/>
        </p:spPr>
        <p:txBody>
          <a:bodyPr wrap="square" anchor="ctr" lIns="45720" rIns="45720">
            <a:spAutoFit/>
          </a:bodyPr>
          <a:lstStyle/>
          <a:p>
            <a:r>
              <a:rPr sz="1300" b="1" i="0">
                <a:solidFill>
                  <a:srgbClr val="004EA8"/>
                </a:solidFill>
                <a:latin typeface="Arial"/>
              </a:rPr>
              <a:t>Compliance</a:t>
            </a:r>
          </a:p>
        </p:txBody>
      </p:sp>
      <p:sp>
        <p:nvSpPr>
          <p:cNvPr id="48" name="Rectangle 47"/>
          <p:cNvSpPr/>
          <p:nvPr/>
        </p:nvSpPr>
        <p:spPr>
          <a:xfrm>
            <a:off x="3550889" y="4577769"/>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13729" y="4459659"/>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0" name="Oval 49"/>
          <p:cNvSpPr/>
          <p:nvPr/>
        </p:nvSpPr>
        <p:spPr>
          <a:xfrm>
            <a:off x="8808506" y="4459659"/>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1" name="Oval 50"/>
          <p:cNvSpPr/>
          <p:nvPr/>
        </p:nvSpPr>
        <p:spPr>
          <a:xfrm>
            <a:off x="10606765" y="4459659"/>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2" name="Rectangle 51"/>
          <p:cNvSpPr/>
          <p:nvPr/>
        </p:nvSpPr>
        <p:spPr>
          <a:xfrm>
            <a:off x="548640" y="4838482"/>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838482"/>
            <a:ext cx="2103120" cy="483325"/>
          </a:xfrm>
          <a:prstGeom prst="rect">
            <a:avLst/>
          </a:prstGeom>
          <a:noFill/>
        </p:spPr>
        <p:txBody>
          <a:bodyPr wrap="square" anchor="ctr" lIns="45720" rIns="45720">
            <a:spAutoFit/>
          </a:bodyPr>
          <a:lstStyle/>
          <a:p>
            <a:r>
              <a:rPr sz="1300" b="1" i="0">
                <a:solidFill>
                  <a:srgbClr val="004EA8"/>
                </a:solidFill>
                <a:latin typeface="Arial"/>
              </a:rPr>
              <a:t>Reporting</a:t>
            </a:r>
          </a:p>
        </p:txBody>
      </p:sp>
      <p:sp>
        <p:nvSpPr>
          <p:cNvPr id="54" name="Rectangle 53"/>
          <p:cNvSpPr/>
          <p:nvPr/>
        </p:nvSpPr>
        <p:spPr>
          <a:xfrm>
            <a:off x="3550889" y="5061095"/>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413729" y="4942985"/>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6" name="Oval 55"/>
          <p:cNvSpPr/>
          <p:nvPr/>
        </p:nvSpPr>
        <p:spPr>
          <a:xfrm>
            <a:off x="8808506" y="4942985"/>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7" name="Oval 56"/>
          <p:cNvSpPr/>
          <p:nvPr/>
        </p:nvSpPr>
        <p:spPr>
          <a:xfrm>
            <a:off x="10606765" y="4942985"/>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8" name="Oval 57"/>
          <p:cNvSpPr/>
          <p:nvPr/>
        </p:nvSpPr>
        <p:spPr>
          <a:xfrm>
            <a:off x="548640" y="5431536"/>
            <a:ext cx="237744" cy="237744"/>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59" name="TextBox 58"/>
          <p:cNvSpPr txBox="1"/>
          <p:nvPr/>
        </p:nvSpPr>
        <p:spPr>
          <a:xfrm>
            <a:off x="822960" y="5404104"/>
            <a:ext cx="2011680" cy="292608"/>
          </a:xfrm>
          <a:prstGeom prst="rect">
            <a:avLst/>
          </a:prstGeom>
          <a:noFill/>
        </p:spPr>
        <p:txBody>
          <a:bodyPr wrap="square" anchor="t" lIns="45720" rIns="45720">
            <a:spAutoFit/>
          </a:bodyPr>
          <a:lstStyle/>
          <a:p>
            <a:r>
              <a:rPr sz="1200" b="0" i="0">
                <a:solidFill>
                  <a:srgbClr val="4B4B4B"/>
                </a:solidFill>
                <a:latin typeface="Arial"/>
              </a:rPr>
              <a:t>Today</a:t>
            </a:r>
          </a:p>
        </p:txBody>
      </p:sp>
      <p:sp>
        <p:nvSpPr>
          <p:cNvPr id="60" name="Oval 59"/>
          <p:cNvSpPr/>
          <p:nvPr/>
        </p:nvSpPr>
        <p:spPr>
          <a:xfrm>
            <a:off x="2651760" y="5431536"/>
            <a:ext cx="237744" cy="237744"/>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1" name="TextBox 60"/>
          <p:cNvSpPr txBox="1"/>
          <p:nvPr/>
        </p:nvSpPr>
        <p:spPr>
          <a:xfrm>
            <a:off x="2926080" y="5404104"/>
            <a:ext cx="2011680" cy="292608"/>
          </a:xfrm>
          <a:prstGeom prst="rect">
            <a:avLst/>
          </a:prstGeom>
          <a:noFill/>
        </p:spPr>
        <p:txBody>
          <a:bodyPr wrap="square" anchor="t" lIns="45720" rIns="45720">
            <a:spAutoFit/>
          </a:bodyPr>
          <a:lstStyle/>
          <a:p>
            <a:r>
              <a:rPr sz="1200" b="0" i="0">
                <a:solidFill>
                  <a:srgbClr val="4B4B4B"/>
                </a:solidFill>
                <a:latin typeface="Arial"/>
              </a:rPr>
              <a:t>BIBS envisioned</a:t>
            </a:r>
          </a:p>
        </p:txBody>
      </p:sp>
      <p:sp>
        <p:nvSpPr>
          <p:cNvPr id="62" name="Oval 61"/>
          <p:cNvSpPr/>
          <p:nvPr/>
        </p:nvSpPr>
        <p:spPr>
          <a:xfrm>
            <a:off x="4754880" y="5431536"/>
            <a:ext cx="237744" cy="23774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3" name="TextBox 62"/>
          <p:cNvSpPr txBox="1"/>
          <p:nvPr/>
        </p:nvSpPr>
        <p:spPr>
          <a:xfrm>
            <a:off x="5029200" y="5404104"/>
            <a:ext cx="2011680" cy="292608"/>
          </a:xfrm>
          <a:prstGeom prst="rect">
            <a:avLst/>
          </a:prstGeom>
          <a:noFill/>
        </p:spPr>
        <p:txBody>
          <a:bodyPr wrap="square" anchor="t" lIns="45720" rIns="45720">
            <a:spAutoFit/>
          </a:bodyPr>
          <a:lstStyle/>
          <a:p>
            <a:r>
              <a:rPr sz="1200" b="0" i="0">
                <a:solidFill>
                  <a:srgbClr val="4B4B4B"/>
                </a:solidFill>
                <a:latin typeface="Arial"/>
              </a:rPr>
              <a:t>Best practice</a:t>
            </a:r>
          </a:p>
        </p:txBody>
      </p:sp>
      <p:sp>
        <p:nvSpPr>
          <p:cNvPr id="64" name="TextBox 63"/>
          <p:cNvSpPr txBox="1"/>
          <p:nvPr/>
        </p:nvSpPr>
        <p:spPr>
          <a:xfrm>
            <a:off x="6949440" y="5385816"/>
            <a:ext cx="4693615" cy="457200"/>
          </a:xfrm>
          <a:prstGeom prst="rect">
            <a:avLst/>
          </a:prstGeom>
          <a:noFill/>
        </p:spPr>
        <p:txBody>
          <a:bodyPr wrap="square" anchor="t" lIns="45720" rIns="45720" tIns="18288" bIns="18288">
            <a:spAutoFit/>
          </a:bodyPr>
          <a:lstStyle/>
          <a:p>
            <a:pPr>
              <a:spcAft>
                <a:spcPts val="400"/>
              </a:spcAft>
            </a:pPr>
            <a:r>
              <a:rPr sz="1100" b="0">
                <a:solidFill>
                  <a:srgbClr val="656565"/>
                </a:solidFill>
                <a:latin typeface="Arial"/>
              </a:rPr>
              <a:t>Scale: project team assessment from the BRD current-process sections and the FRS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Summary: decisions for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Directory sign-in (EUA) for every user</a:t>
                      </a:r>
                    </a:p>
                  </a:txBody>
                  <a:tcPr marL="64008" marR="64008" marT="27432" marB="27432" anchor="ctr">
                    <a:solidFill>
                      <a:srgbClr val="FFFFFF"/>
                    </a:solidFill>
                  </a:tcPr>
                </a:tc>
                <a:tc>
                  <a:txBody>
                    <a:bodyPr wrap="square"/>
                    <a:lstStyle/>
                    <a:p>
                      <a:r>
                        <a:rPr sz="1100" b="0">
                          <a:solidFill>
                            <a:srgbClr val="4B4B4B"/>
                          </a:solidFill>
                          <a:latin typeface="Arial"/>
                        </a:rPr>
                        <a:t>Identity source for all BIBS users</a:t>
                      </a:r>
                    </a:p>
                  </a:txBody>
                  <a:tcPr marL="64008" marR="64008" marT="27432" marB="27432" anchor="ctr">
                    <a:solidFill>
                      <a:srgbClr val="FFFFFF"/>
                    </a:solidFill>
                  </a:tcPr>
                </a:tc>
                <a:tc>
                  <a:txBody>
                    <a:bodyPr wrap="square"/>
                    <a:lstStyle/>
                    <a:p>
                      <a:r>
                        <a:rPr sz="1100" b="0">
                          <a:solidFill>
                            <a:srgbClr val="4B4B4B"/>
                          </a:solidFill>
                          <a:latin typeface="Arial"/>
                        </a:rPr>
                        <a:t>UAM owner with BDO ITIO</a:t>
                      </a:r>
                    </a:p>
                  </a:txBody>
                  <a:tcPr marL="64008" marR="64008" marT="27432" marB="27432" anchor="ctr">
                    <a:solidFill>
                      <a:srgbClr val="FFFFFF"/>
                    </a:solidFill>
                  </a:tcPr>
                </a:tc>
                <a:tc>
                  <a:txBody>
                    <a:bodyPr wrap="square"/>
                    <a:lstStyle/>
                    <a:p>
                      <a:r>
                        <a:rPr sz="1100" b="0">
                          <a:solidFill>
                            <a:srgbClr val="4B4B4B"/>
                          </a:solidFill>
                          <a:latin typeface="Arial"/>
                        </a:rPr>
                        <a:t>Provide the EUA interface; are contact centre agents in the directory?</a:t>
                      </a:r>
                    </a:p>
                  </a:txBody>
                  <a:tcPr marL="64008" marR="64008" marT="27432" marB="27432" anchor="ctr">
                    <a:solidFill>
                      <a:srgbClr val="FFFFFF"/>
                    </a:solidFill>
                  </a:tcPr>
                </a:tc>
                <a:tc>
                  <a:txBody>
                    <a:bodyPr wrap="square"/>
                    <a:lstStyle/>
                    <a:p>
                      <a:r>
                        <a:rPr sz="1100" b="0">
                          <a:solidFill>
                            <a:srgbClr val="4B4B4B"/>
                          </a:solidFill>
                          <a:latin typeface="Arial"/>
                        </a:rPr>
                        <a:t>DCR-143</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BIBS-wide user access matrix</a:t>
                      </a:r>
                    </a:p>
                  </a:txBody>
                  <a:tcPr marL="64008" marR="64008" marT="27432" marB="27432" anchor="ctr">
                    <a:solidFill>
                      <a:srgbClr val="E5F5FF"/>
                    </a:solidFill>
                  </a:tcPr>
                </a:tc>
                <a:tc>
                  <a:txBody>
                    <a:bodyPr wrap="square"/>
                    <a:lstStyle/>
                    <a:p>
                      <a:r>
                        <a:rPr sz="1100" b="0">
                          <a:solidFill>
                            <a:srgbClr val="4B4B4B"/>
                          </a:solidFill>
                          <a:latin typeface="Arial"/>
                        </a:rPr>
                        <a:t>Roles and persona tests of every module</a:t>
                      </a:r>
                    </a:p>
                  </a:txBody>
                  <a:tcPr marL="64008" marR="64008" marT="27432" marB="27432" anchor="ctr">
                    <a:solidFill>
                      <a:srgbClr val="E5F5FF"/>
                    </a:solidFill>
                  </a:tcPr>
                </a:tc>
                <a:tc>
                  <a:txBody>
                    <a:bodyPr wrap="square"/>
                    <a:lstStyle/>
                    <a:p>
                      <a:r>
                        <a:rPr sz="1100" b="0">
                          <a:solidFill>
                            <a:srgbClr val="4B4B4B"/>
                          </a:solidFill>
                          <a:latin typeface="Arial"/>
                        </a:rPr>
                        <a:t>Product Owner, all BRD owners</a:t>
                      </a:r>
                    </a:p>
                  </a:txBody>
                  <a:tcPr marL="64008" marR="64008" marT="27432" marB="27432" anchor="ctr">
                    <a:solidFill>
                      <a:srgbClr val="E5F5FF"/>
                    </a:solidFill>
                  </a:tcPr>
                </a:tc>
                <a:tc>
                  <a:txBody>
                    <a:bodyPr wrap="square"/>
                    <a:lstStyle/>
                    <a:p>
                      <a:r>
                        <a:rPr sz="1100" b="0">
                          <a:solidFill>
                            <a:srgbClr val="4B4B4B"/>
                          </a:solidFill>
                          <a:latin typeface="Arial"/>
                        </a:rPr>
                        <a:t>Approve one matrix for all modules</a:t>
                      </a:r>
                    </a:p>
                  </a:txBody>
                  <a:tcPr marL="64008" marR="64008" marT="27432" marB="27432" anchor="ctr">
                    <a:solidFill>
                      <a:srgbClr val="E5F5FF"/>
                    </a:solidFill>
                  </a:tcPr>
                </a:tc>
                <a:tc>
                  <a:txBody>
                    <a:bodyPr wrap="square"/>
                    <a:lstStyle/>
                    <a:p>
                      <a:r>
                        <a:rPr sz="1100" b="0">
                          <a:solidFill>
                            <a:srgbClr val="4B4B4B"/>
                          </a:solidFill>
                          <a:latin typeface="Arial"/>
                        </a:rPr>
                        <a:t>DCR-121</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Renewal of submitted policies; one LAMD intake</a:t>
                      </a:r>
                    </a:p>
                  </a:txBody>
                  <a:tcPr marL="64008" marR="64008" marT="27432" marB="27432" anchor="ctr">
                    <a:solidFill>
                      <a:srgbClr val="FFFFFF"/>
                    </a:solidFill>
                  </a:tcPr>
                </a:tc>
                <a:tc>
                  <a:txBody>
                    <a:bodyPr wrap="square"/>
                    <a:lstStyle/>
                    <a:p>
                      <a:r>
                        <a:rPr sz="1100" b="0">
                          <a:solidFill>
                            <a:srgbClr val="4B4B4B"/>
                          </a:solidFill>
                          <a:latin typeface="Arial"/>
                        </a:rPr>
                        <a:t>Two renewal paths; two loan-status feeds</a:t>
                      </a:r>
                    </a:p>
                  </a:txBody>
                  <a:tcPr marL="64008" marR="64008" marT="27432" marB="27432" anchor="ctr">
                    <a:solidFill>
                      <a:srgbClr val="FFFFFF"/>
                    </a:solidFill>
                  </a:tcPr>
                </a:tc>
                <a:tc>
                  <a:txBody>
                    <a:bodyPr wrap="square"/>
                    <a:lstStyle/>
                    <a:p>
                      <a:r>
                        <a:rPr sz="1100" b="0">
                          <a:solidFill>
                            <a:srgbClr val="4B4B4B"/>
                          </a:solidFill>
                          <a:latin typeface="Arial"/>
                        </a:rPr>
                        <a:t>Renewal and Submitted Policies owners</a:t>
                      </a:r>
                    </a:p>
                  </a:txBody>
                  <a:tcPr marL="64008" marR="64008" marT="27432" marB="27432" anchor="ctr">
                    <a:solidFill>
                      <a:srgbClr val="FFFFFF"/>
                    </a:solidFill>
                  </a:tcPr>
                </a:tc>
                <a:tc>
                  <a:txBody>
                    <a:bodyPr wrap="square"/>
                    <a:lstStyle/>
                    <a:p>
                      <a:r>
                        <a:rPr sz="1100" b="0">
                          <a:solidFill>
                            <a:srgbClr val="4B4B4B"/>
                          </a:solidFill>
                          <a:latin typeface="Arial"/>
                        </a:rPr>
                        <a:t>Confirm the hand-off boundary and one LAMD report</a:t>
                      </a:r>
                    </a:p>
                  </a:txBody>
                  <a:tcPr marL="64008" marR="64008" marT="27432" marB="27432" anchor="ctr">
                    <a:solidFill>
                      <a:srgbClr val="FFFFFF"/>
                    </a:solidFill>
                  </a:tcPr>
                </a:tc>
                <a:tc>
                  <a:txBody>
                    <a:bodyPr wrap="square"/>
                    <a:lstStyle/>
                    <a:p>
                      <a:r>
                        <a:rPr sz="1100" b="0">
                          <a:solidFill>
                            <a:srgbClr val="4B4B4B"/>
                          </a:solidFill>
                          <a:latin typeface="Arial"/>
                        </a:rPr>
                        <a:t>DCR-129, 146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programmes in four BRDs</a:t>
                      </a:r>
                    </a:p>
                  </a:txBody>
                  <a:tcPr marL="64008" marR="64008" marT="27432" marB="27432" anchor="ctr">
                    <a:solidFill>
                      <a:srgbClr val="E5F5FF"/>
                    </a:solidFill>
                  </a:tcPr>
                </a:tc>
                <a:tc>
                  <a:txBody>
                    <a:bodyPr wrap="square"/>
                    <a:lstStyle/>
                    <a:p>
                      <a:r>
                        <a:rPr sz="1100" b="0">
                          <a:solidFill>
                            <a:srgbClr val="4B4B4B"/>
                          </a:solidFill>
                          <a:latin typeface="Arial"/>
                        </a:rPr>
                        <a:t>Incentive income computed twice or not at all</a:t>
                      </a:r>
                    </a:p>
                  </a:txBody>
                  <a:tcPr marL="64008" marR="64008" marT="27432" marB="27432" anchor="ctr">
                    <a:solidFill>
                      <a:srgbClr val="E5F5FF"/>
                    </a:solidFill>
                  </a:tcPr>
                </a:tc>
                <a:tc>
                  <a:txBody>
                    <a:bodyPr wrap="square"/>
                    <a:lstStyle/>
                    <a:p>
                      <a:r>
                        <a:rPr sz="1100" b="0">
                          <a:solidFill>
                            <a:srgbClr val="4B4B4B"/>
                          </a:solidFill>
                          <a:latin typeface="Arial"/>
                        </a:rPr>
                        <a:t>Comptrollership, MBS, Operations</a:t>
                      </a:r>
                    </a:p>
                  </a:txBody>
                  <a:tcPr marL="64008" marR="64008" marT="27432" marB="27432" anchor="ctr">
                    <a:solidFill>
                      <a:srgbClr val="E5F5FF"/>
                    </a:solidFill>
                  </a:tcPr>
                </a:tc>
                <a:tc>
                  <a:txBody>
                    <a:bodyPr wrap="square"/>
                    <a:lstStyle/>
                    <a:p>
                      <a:r>
                        <a:rPr sz="1100" b="0">
                          <a:solidFill>
                            <a:srgbClr val="4B4B4B"/>
                          </a:solidFill>
                          <a:latin typeface="Arial"/>
                        </a:rPr>
                        <a:t>List the programmes with rate, base, payer</a:t>
                      </a:r>
                    </a:p>
                  </a:txBody>
                  <a:tcPr marL="64008" marR="64008" marT="27432" marB="27432" anchor="ctr">
                    <a:solidFill>
                      <a:srgbClr val="E5F5FF"/>
                    </a:solidFill>
                  </a:tcPr>
                </a:tc>
                <a:tc>
                  <a:txBody>
                    <a:bodyPr wrap="square"/>
                    <a:lstStyle/>
                    <a:p>
                      <a:r>
                        <a:rPr sz="1100" b="0">
                          <a:solidFill>
                            <a:srgbClr val="4B4B4B"/>
                          </a:solidFill>
                          <a:latin typeface="Arial"/>
                        </a:rPr>
                        <a:t>DCR-037</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block or warn</a:t>
                      </a:r>
                    </a:p>
                  </a:txBody>
                  <a:tcPr marL="64008" marR="64008" marT="27432" marB="27432" anchor="ctr">
                    <a:solidFill>
                      <a:srgbClr val="FFFFFF"/>
                    </a:solidFill>
                  </a:tcPr>
                </a:tc>
                <a:tc>
                  <a:txBody>
                    <a:bodyPr wrap="square"/>
                    <a:lstStyle/>
                    <a:p>
                      <a:r>
                        <a:rPr sz="1100" b="0">
                          <a:solidFill>
                            <a:srgbClr val="4B4B4B"/>
                          </a:solidFill>
                          <a:latin typeface="Arial"/>
                        </a:rPr>
                        <a:t>Business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Chief Compliance Officer</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placement, booking, renewal</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service window, RPO / RTO, maintenance slot</a:t>
                      </a:r>
                    </a:p>
                  </a:txBody>
                  <a:tcPr marL="64008" marR="64008" marT="27432" marB="27432" anchor="ctr">
                    <a:solidFill>
                      <a:srgbClr val="E5F5FF"/>
                    </a:solidFill>
                  </a:tcPr>
                </a:tc>
                <a:tc>
                  <a:txBody>
                    <a:bodyPr wrap="square"/>
                    <a:lstStyle/>
                    <a:p>
                      <a:r>
                        <a:rPr sz="1100" b="0">
                          <a:solidFill>
                            <a:srgbClr val="4B4B4B"/>
                          </a:solidFill>
                          <a:latin typeface="Arial"/>
                        </a:rPr>
                        <a:t>Backup, DR and batch design of the platform</a:t>
                      </a:r>
                    </a:p>
                  </a:txBody>
                  <a:tcPr marL="64008" marR="64008" marT="27432" marB="27432" anchor="ctr">
                    <a:solidFill>
                      <a:srgbClr val="E5F5FF"/>
                    </a:solidFill>
                  </a:tcPr>
                </a:tc>
                <a:tc>
                  <a:txBody>
                    <a:bodyPr wrap="square"/>
                    <a:lstStyle/>
                    <a:p>
                      <a:r>
                        <a:rPr sz="1100" b="0">
                          <a:solidFill>
                            <a:srgbClr val="4B4B4B"/>
                          </a:solidFill>
                          <a:latin typeface="Arial"/>
                        </a:rPr>
                        <a:t>BDO IT with the BRD owners</a:t>
                      </a:r>
                    </a:p>
                  </a:txBody>
                  <a:tcPr marL="64008" marR="64008" marT="27432" marB="27432" anchor="ctr">
                    <a:solidFill>
                      <a:srgbClr val="E5F5FF"/>
                    </a:solidFill>
                  </a:tcPr>
                </a:tc>
                <a:tc>
                  <a:txBody>
                    <a:bodyPr wrap="square"/>
                    <a:lstStyle/>
                    <a:p>
                      <a:r>
                        <a:rPr sz="1100" b="0">
                          <a:solidFill>
                            <a:srgbClr val="4B4B4B"/>
                          </a:solidFill>
                          <a:latin typeface="Arial"/>
                        </a:rPr>
                        <a:t>Agree one BIBS-wide NFR set</a:t>
                      </a:r>
                    </a:p>
                  </a:txBody>
                  <a:tcPr marL="64008" marR="64008" marT="27432" marB="27432" anchor="ctr">
                    <a:solidFill>
                      <a:srgbClr val="E5F5FF"/>
                    </a:solidFill>
                  </a:tcPr>
                </a:tc>
                <a:tc>
                  <a:txBody>
                    <a:bodyPr wrap="square"/>
                    <a:lstStyle/>
                    <a:p>
                      <a:r>
                        <a:rPr sz="1100" b="0">
                          <a:solidFill>
                            <a:srgbClr val="4B4B4B"/>
                          </a:solidFill>
                          <a:latin typeface="Arial"/>
                        </a:rPr>
                        <a:t>DCR-133, 135, 138</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Retention per record type</a:t>
                      </a:r>
                    </a:p>
                  </a:txBody>
                  <a:tcPr marL="64008" marR="64008" marT="27432" marB="27432" anchor="ctr">
                    <a:solidFill>
                      <a:srgbClr val="FFFFFF"/>
                    </a:solidFill>
                  </a:tcPr>
                </a:tc>
                <a:tc>
                  <a:txBody>
                    <a:bodyPr wrap="square"/>
                    <a:lstStyle/>
                    <a:p>
                      <a:r>
                        <a:rPr sz="1100" b="0">
                          <a:solidFill>
                            <a:srgbClr val="4B4B4B"/>
                          </a:solidFill>
                          <a:latin typeface="Arial"/>
                        </a:rPr>
                        <a:t>Legal record keeping; archive design</a:t>
                      </a:r>
                    </a:p>
                  </a:txBody>
                  <a:tcPr marL="64008" marR="64008" marT="27432" marB="27432" anchor="ctr">
                    <a:solidFill>
                      <a:srgbClr val="FFFFFF"/>
                    </a:solidFill>
                  </a:tcPr>
                </a:tc>
                <a:tc>
                  <a:txBody>
                    <a:bodyPr wrap="square"/>
                    <a:lstStyle/>
                    <a:p>
                      <a:r>
                        <a:rPr sz="1100" b="0">
                          <a:solidFill>
                            <a:srgbClr val="4B4B4B"/>
                          </a:solidFill>
                          <a:latin typeface="Arial"/>
                        </a:rPr>
                        <a:t>Compliance, Comptrollership</a:t>
                      </a:r>
                    </a:p>
                  </a:txBody>
                  <a:tcPr marL="64008" marR="64008" marT="27432" marB="27432" anchor="ctr">
                    <a:solidFill>
                      <a:srgbClr val="FFFFFF"/>
                    </a:solidFill>
                  </a:tcPr>
                </a:tc>
                <a:tc>
                  <a:txBody>
                    <a:bodyPr wrap="square"/>
                    <a:lstStyle/>
                    <a:p>
                      <a:r>
                        <a:rPr sz="1100" b="0">
                          <a:solidFill>
                            <a:srgbClr val="4B4B4B"/>
                          </a:solidFill>
                          <a:latin typeface="Arial"/>
                        </a:rPr>
                        <a:t>One schedule; archive or purge at the end</a:t>
                      </a:r>
                    </a:p>
                  </a:txBody>
                  <a:tcPr marL="64008" marR="64008" marT="27432" marB="27432" anchor="ctr">
                    <a:solidFill>
                      <a:srgbClr val="FFFFFF"/>
                    </a:solidFill>
                  </a:tcPr>
                </a:tc>
                <a:tc>
                  <a:txBody>
                    <a:bodyPr wrap="square"/>
                    <a:lstStyle/>
                    <a:p>
                      <a:r>
                        <a:rPr sz="1100" b="0">
                          <a:solidFill>
                            <a:srgbClr val="4B4B4B"/>
                          </a:solidFill>
                          <a:latin typeface="Arial"/>
                        </a:rPr>
                        <a:t>DCR-136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Go-live data migration scope</a:t>
                      </a:r>
                    </a:p>
                  </a:txBody>
                  <a:tcPr marL="64008" marR="64008" marT="27432" marB="27432" anchor="ctr">
                    <a:solidFill>
                      <a:srgbClr val="E5F5FF"/>
                    </a:solidFill>
                  </a:tcPr>
                </a:tc>
                <a:tc>
                  <a:txBody>
                    <a:bodyPr wrap="square"/>
                    <a:lstStyle/>
                    <a:p>
                      <a:r>
                        <a:rPr sz="1100" b="0">
                          <a:solidFill>
                            <a:srgbClr val="4B4B4B"/>
                          </a:solidFill>
                          <a:latin typeface="Arial"/>
                        </a:rPr>
                        <a:t>Open items and history at cut-over</a:t>
                      </a:r>
                    </a:p>
                  </a:txBody>
                  <a:tcPr marL="64008" marR="64008" marT="27432" marB="27432" anchor="ctr">
                    <a:solidFill>
                      <a:srgbClr val="E5F5FF"/>
                    </a:solidFill>
                  </a:tcPr>
                </a:tc>
                <a:tc>
                  <a:txBody>
                    <a:bodyPr wrap="square"/>
                    <a:lstStyle/>
                    <a:p>
                      <a:r>
                        <a:rPr sz="1100" b="0">
                          <a:solidFill>
                            <a:srgbClr val="4B4B4B"/>
                          </a:solidFill>
                          <a:latin typeface="Arial"/>
                        </a:rPr>
                        <a:t>All BRD owners</a:t>
                      </a:r>
                    </a:p>
                  </a:txBody>
                  <a:tcPr marL="64008" marR="64008" marT="27432" marB="27432" anchor="ctr">
                    <a:solidFill>
                      <a:srgbClr val="E5F5FF"/>
                    </a:solidFill>
                  </a:tcPr>
                </a:tc>
                <a:tc>
                  <a:txBody>
                    <a:bodyPr wrap="square"/>
                    <a:lstStyle/>
                    <a:p>
                      <a:r>
                        <a:rPr sz="1100" b="0">
                          <a:solidFill>
                            <a:srgbClr val="4B4B4B"/>
                          </a:solidFill>
                          <a:latin typeface="Arial"/>
                        </a:rPr>
                        <a:t>What is migrated from EBIX, ISYS, QPS, Excel</a:t>
                      </a:r>
                    </a:p>
                  </a:txBody>
                  <a:tcPr marL="64008" marR="64008" marT="27432" marB="27432" anchor="ctr">
                    <a:solidFill>
                      <a:srgbClr val="E5F5FF"/>
                    </a:solidFill>
                  </a:tcPr>
                </a:tc>
                <a:tc>
                  <a:txBody>
                    <a:bodyPr wrap="square"/>
                    <a:lstStyle/>
                    <a:p>
                      <a:r>
                        <a:rPr sz="1100" b="0">
                          <a:solidFill>
                            <a:srgbClr val="4B4B4B"/>
                          </a:solidFill>
                          <a:latin typeface="Arial"/>
                        </a:rPr>
                        <a:t>DCR-157</a:t>
                      </a:r>
                    </a:p>
                  </a:txBody>
                  <a:tcPr marL="64008" marR="64008" marT="27432" marB="27432" anchor="ctr">
                    <a:solidFill>
                      <a:srgbClr val="E5F5FF"/>
                    </a:solidFill>
                  </a:tcPr>
                </a:tc>
              </a:tr>
            </a:tbl>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Summary: roadmap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548640"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57200"/>
          </a:xfrm>
          <a:prstGeom prst="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80160"/>
            <a:ext cx="3576218" cy="457200"/>
          </a:xfrm>
          <a:prstGeom prst="rect">
            <a:avLst/>
          </a:prstGeom>
          <a:noFill/>
        </p:spPr>
        <p:txBody>
          <a:bodyPr wrap="square" anchor="ctr" lIns="45720" rIns="45720">
            <a:spAutoFit/>
          </a:bodyPr>
          <a:lstStyle/>
          <a:p>
            <a:r>
              <a:rPr sz="1500" b="1" i="0">
                <a:solidFill>
                  <a:srgbClr val="004EA8"/>
                </a:solidFill>
                <a:latin typeface="Arial"/>
              </a:rPr>
              <a:t>FRS for review</a:t>
            </a:r>
          </a:p>
        </p:txBody>
      </p:sp>
      <p:sp>
        <p:nvSpPr>
          <p:cNvPr id="12" name="TextBox 11"/>
          <p:cNvSpPr txBox="1"/>
          <p:nvPr/>
        </p:nvSpPr>
        <p:spPr>
          <a:xfrm>
            <a:off x="640080"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 New Business, BRD-2 Operations, BRD-3 Product Maintenance (reference FRS)</a:t>
            </a:r>
          </a:p>
          <a:p>
            <a:pPr>
              <a:spcAft>
                <a:spcPts val="300"/>
              </a:spcAft>
            </a:pPr>
            <a:r>
              <a:rPr sz="1200" b="0">
                <a:solidFill>
                  <a:srgbClr val="004EA8"/>
                </a:solidFill>
                <a:latin typeface="Arial"/>
              </a:rPr>
              <a:t>•  </a:t>
            </a:r>
            <a:r>
              <a:rPr sz="1200" b="0">
                <a:solidFill>
                  <a:srgbClr val="4B4B4B"/>
                </a:solidFill>
                <a:latin typeface="Arial"/>
              </a:rPr>
              <a:t>BRD-4 Collections, BRD-5 Accounting (two volumes)</a:t>
            </a:r>
          </a:p>
          <a:p>
            <a:pPr>
              <a:spcAft>
                <a:spcPts val="300"/>
              </a:spcAft>
            </a:pPr>
            <a:r>
              <a:rPr sz="1200" b="0">
                <a:solidFill>
                  <a:srgbClr val="004EA8"/>
                </a:solidFill>
                <a:latin typeface="Arial"/>
              </a:rPr>
              <a:t>•  </a:t>
            </a:r>
            <a:r>
              <a:rPr sz="1200" b="0">
                <a:solidFill>
                  <a:srgbClr val="4B4B4B"/>
                </a:solidFill>
                <a:latin typeface="Arial"/>
              </a:rPr>
              <a:t>BRD-6 Renewal, BRD-12 Submitted Policies</a:t>
            </a:r>
          </a:p>
          <a:p>
            <a:pPr>
              <a:spcAft>
                <a:spcPts val="300"/>
              </a:spcAft>
            </a:pPr>
            <a:r>
              <a:rPr sz="1200" b="0">
                <a:solidFill>
                  <a:srgbClr val="004EA8"/>
                </a:solidFill>
                <a:latin typeface="Arial"/>
              </a:rPr>
              <a:t>•  </a:t>
            </a:r>
            <a:r>
              <a:rPr sz="1200" b="0">
                <a:solidFill>
                  <a:srgbClr val="4B4B4B"/>
                </a:solidFill>
                <a:latin typeface="Arial"/>
              </a:rPr>
              <a:t>BRD-7 Claims, BRD-8 Employee Benefits</a:t>
            </a:r>
          </a:p>
          <a:p>
            <a:pPr>
              <a:spcAft>
                <a:spcPts val="300"/>
              </a:spcAft>
            </a:pPr>
            <a:r>
              <a:rPr sz="1200" b="0">
                <a:solidFill>
                  <a:srgbClr val="004EA8"/>
                </a:solidFill>
                <a:latin typeface="Arial"/>
              </a:rPr>
              <a:t>•  </a:t>
            </a:r>
            <a:r>
              <a:rPr sz="1200" b="0">
                <a:solidFill>
                  <a:srgbClr val="4B4B4B"/>
                </a:solidFill>
                <a:latin typeface="Arial"/>
              </a:rPr>
              <a:t>BRD-9 Customer Servicing, BRD-10 Sanction Screening, BRD-11 User Access</a:t>
            </a:r>
          </a:p>
        </p:txBody>
      </p:sp>
      <p:sp>
        <p:nvSpPr>
          <p:cNvPr id="13" name="Right Arrow 12"/>
          <p:cNvSpPr/>
          <p:nvPr/>
        </p:nvSpPr>
        <p:spPr>
          <a:xfrm>
            <a:off x="4106570"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7738"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7738" y="1280160"/>
            <a:ext cx="3576218" cy="457200"/>
          </a:xfrm>
          <a:prstGeom prst="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9178" y="1280160"/>
            <a:ext cx="3576218" cy="457200"/>
          </a:xfrm>
          <a:prstGeom prst="rect">
            <a:avLst/>
          </a:prstGeom>
          <a:noFill/>
        </p:spPr>
        <p:txBody>
          <a:bodyPr wrap="square" anchor="ctr" lIns="45720" rIns="45720">
            <a:spAutoFit/>
          </a:bodyPr>
          <a:lstStyle/>
          <a:p>
            <a:r>
              <a:rPr sz="1500" b="1" i="0">
                <a:solidFill>
                  <a:srgbClr val="8A5A00"/>
                </a:solidFill>
                <a:latin typeface="Arial"/>
              </a:rPr>
              <a:t>BDOI review</a:t>
            </a:r>
          </a:p>
        </p:txBody>
      </p:sp>
      <p:sp>
        <p:nvSpPr>
          <p:cNvPr id="17" name="TextBox 16"/>
          <p:cNvSpPr txBox="1"/>
          <p:nvPr/>
        </p:nvSpPr>
        <p:spPr>
          <a:xfrm>
            <a:off x="4399178"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Department heads review their chapter with the FRS of their BRD</a:t>
            </a:r>
          </a:p>
          <a:p>
            <a:pPr>
              <a:spcAft>
                <a:spcPts val="300"/>
              </a:spcAft>
            </a:pPr>
            <a:r>
              <a:rPr sz="1200" b="0">
                <a:solidFill>
                  <a:srgbClr val="004EA8"/>
                </a:solidFill>
                <a:latin typeface="Arial"/>
              </a:rPr>
              <a:t>•  </a:t>
            </a:r>
            <a:r>
              <a:rPr sz="1200" b="0">
                <a:solidFill>
                  <a:srgbClr val="4B4B4B"/>
                </a:solidFill>
                <a:latin typeface="Arial"/>
              </a:rPr>
              <a:t>BDOI decides the proposed business rules and clarifications of each FRS</a:t>
            </a:r>
          </a:p>
          <a:p>
            <a:pPr>
              <a:spcAft>
                <a:spcPts val="300"/>
              </a:spcAft>
            </a:pPr>
            <a:r>
              <a:rPr sz="1200" b="0">
                <a:solidFill>
                  <a:srgbClr val="004EA8"/>
                </a:solidFill>
                <a:latin typeface="Arial"/>
              </a:rPr>
              <a:t>•  </a:t>
            </a:r>
            <a:r>
              <a:rPr sz="1200" b="0">
                <a:solidFill>
                  <a:srgbClr val="4B4B4B"/>
                </a:solidFill>
                <a:latin typeface="Arial"/>
              </a:rPr>
              <a:t>BDOI answers the High items of the discrepancy register</a:t>
            </a:r>
          </a:p>
        </p:txBody>
      </p:sp>
      <p:sp>
        <p:nvSpPr>
          <p:cNvPr id="18" name="Right Arrow 17"/>
          <p:cNvSpPr/>
          <p:nvPr/>
        </p:nvSpPr>
        <p:spPr>
          <a:xfrm>
            <a:off x="7865668"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66836"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6836" y="1280160"/>
            <a:ext cx="3576218" cy="457200"/>
          </a:xfrm>
          <a:prstGeom prst="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8276" y="1280160"/>
            <a:ext cx="3576218" cy="457200"/>
          </a:xfrm>
          <a:prstGeom prst="rect">
            <a:avLst/>
          </a:prstGeom>
          <a:noFill/>
        </p:spPr>
        <p:txBody>
          <a:bodyPr wrap="square" anchor="ctr" lIns="45720" rIns="45720">
            <a:spAutoFit/>
          </a:bodyPr>
          <a:lstStyle/>
          <a:p>
            <a:r>
              <a:rPr sz="1500" b="1" i="0">
                <a:solidFill>
                  <a:srgbClr val="2E7D32"/>
                </a:solidFill>
                <a:latin typeface="Arial"/>
              </a:rPr>
              <a:t>Sign-off</a:t>
            </a:r>
          </a:p>
        </p:txBody>
      </p:sp>
      <p:sp>
        <p:nvSpPr>
          <p:cNvPr id="22" name="TextBox 21"/>
          <p:cNvSpPr txBox="1"/>
          <p:nvPr/>
        </p:nvSpPr>
        <p:spPr>
          <a:xfrm>
            <a:off x="8158276"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FRS sign-off per BRD (sign-off tracker, item 32)</a:t>
            </a:r>
          </a:p>
          <a:p>
            <a:pPr>
              <a:spcAft>
                <a:spcPts val="300"/>
              </a:spcAft>
            </a:pPr>
            <a:r>
              <a:rPr sz="1200" b="0">
                <a:solidFill>
                  <a:srgbClr val="004EA8"/>
                </a:solidFill>
                <a:latin typeface="Arial"/>
              </a:rPr>
              <a:t>•  </a:t>
            </a:r>
            <a:r>
              <a:rPr sz="1200" b="0">
                <a:solidFill>
                  <a:srgbClr val="4B4B4B"/>
                </a:solidFill>
                <a:latin typeface="Arial"/>
              </a:rPr>
              <a:t>Test plans aligned with the signed FRS</a:t>
            </a:r>
          </a:p>
          <a:p>
            <a:pPr>
              <a:spcAft>
                <a:spcPts val="300"/>
              </a:spcAft>
            </a:pPr>
            <a:r>
              <a:rPr sz="1200" b="0">
                <a:solidFill>
                  <a:srgbClr val="004EA8"/>
                </a:solidFill>
                <a:latin typeface="Arial"/>
              </a:rPr>
              <a:t>•  </a:t>
            </a:r>
            <a:r>
              <a:rPr sz="1200" b="0">
                <a:solidFill>
                  <a:srgbClr val="4B4B4B"/>
                </a:solidFill>
                <a:latin typeface="Arial"/>
              </a:rPr>
              <a:t>Deck refreshed with screenshots of the BIBS screens</a:t>
            </a:r>
          </a:p>
        </p:txBody>
      </p:sp>
      <p:sp>
        <p:nvSpPr>
          <p:cNvPr id="23" name="Rounded Rectangle 22"/>
          <p:cNvSpPr/>
          <p:nvPr/>
        </p:nvSpPr>
        <p:spPr>
          <a:xfrm>
            <a:off x="548640" y="4279392"/>
            <a:ext cx="11094415" cy="1984248"/>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325112"/>
            <a:ext cx="11094415" cy="320040"/>
          </a:xfrm>
          <a:prstGeom prst="rect">
            <a:avLst/>
          </a:prstGeom>
          <a:noFill/>
        </p:spPr>
        <p:txBody>
          <a:bodyPr wrap="square" anchor="t" lIns="45720" rIns="45720">
            <a:spAutoFit/>
          </a:bodyPr>
          <a:lstStyle/>
          <a:p>
            <a:r>
              <a:rPr sz="1400" b="1" i="0">
                <a:solidFill>
                  <a:srgbClr val="004EA8"/>
                </a:solidFill>
                <a:latin typeface="Arial"/>
              </a:rPr>
              <a:t>What BDOI must decide to move forward</a:t>
            </a:r>
          </a:p>
        </p:txBody>
      </p:sp>
      <p:sp>
        <p:nvSpPr>
          <p:cNvPr id="25" name="TextBox 24"/>
          <p:cNvSpPr txBox="1"/>
          <p:nvPr/>
        </p:nvSpPr>
        <p:spPr>
          <a:xfrm>
            <a:off x="658368"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EUA interface and the BIBS-wide access matrix (DCR-143, 121)</a:t>
            </a:r>
          </a:p>
          <a:p>
            <a:pPr>
              <a:spcAft>
                <a:spcPts val="300"/>
              </a:spcAft>
            </a:pPr>
            <a:r>
              <a:rPr sz="1200" b="0">
                <a:solidFill>
                  <a:srgbClr val="004EA8"/>
                </a:solidFill>
                <a:latin typeface="Arial"/>
              </a:rPr>
              <a:t>•  </a:t>
            </a:r>
            <a:r>
              <a:rPr sz="1200" b="0">
                <a:solidFill>
                  <a:srgbClr val="2E2E2E"/>
                </a:solidFill>
                <a:latin typeface="Arial"/>
              </a:rPr>
              <a:t>Renewal boundary with Submitted Policies; one LAMD intake (DCR-129, 146)</a:t>
            </a:r>
          </a:p>
          <a:p>
            <a:pPr>
              <a:spcAft>
                <a:spcPts val="300"/>
              </a:spcAft>
            </a:pPr>
            <a:r>
              <a:rPr sz="1200" b="0">
                <a:solidFill>
                  <a:srgbClr val="004EA8"/>
                </a:solidFill>
                <a:latin typeface="Arial"/>
              </a:rPr>
              <a:t>•  </a:t>
            </a:r>
            <a:r>
              <a:rPr sz="1200" b="0">
                <a:solidFill>
                  <a:srgbClr val="2E2E2E"/>
                </a:solidFill>
                <a:latin typeface="Arial"/>
              </a:rPr>
              <a:t>Incentive programmes and the Fire premium tax (DCR-037, 005)</a:t>
            </a:r>
          </a:p>
          <a:p>
            <a:pPr>
              <a:spcAft>
                <a:spcPts val="300"/>
              </a:spcAft>
            </a:pPr>
            <a:r>
              <a:rPr sz="1200" b="0">
                <a:solidFill>
                  <a:srgbClr val="004EA8"/>
                </a:solidFill>
                <a:latin typeface="Arial"/>
              </a:rPr>
              <a:t>•  </a:t>
            </a:r>
            <a:r>
              <a:rPr sz="1200" b="0">
                <a:solidFill>
                  <a:srgbClr val="2E2E2E"/>
                </a:solidFill>
                <a:latin typeface="Arial"/>
              </a:rPr>
              <a:t>Sanctions: block or warn (DCR-112)</a:t>
            </a:r>
          </a:p>
        </p:txBody>
      </p:sp>
      <p:sp>
        <p:nvSpPr>
          <p:cNvPr id="26" name="TextBox 25"/>
          <p:cNvSpPr txBox="1"/>
          <p:nvPr/>
        </p:nvSpPr>
        <p:spPr>
          <a:xfrm>
            <a:off x="6205575"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One NFR set: service window, RPO / RTO, retention (DCR-133, 135, 136)</a:t>
            </a:r>
          </a:p>
          <a:p>
            <a:pPr>
              <a:spcAft>
                <a:spcPts val="300"/>
              </a:spcAft>
            </a:pPr>
            <a:r>
              <a:rPr sz="1200" b="0">
                <a:solidFill>
                  <a:srgbClr val="004EA8"/>
                </a:solidFill>
                <a:latin typeface="Arial"/>
              </a:rPr>
              <a:t>•  </a:t>
            </a:r>
            <a:r>
              <a:rPr sz="1200" b="0">
                <a:solidFill>
                  <a:srgbClr val="2E2E2E"/>
                </a:solidFill>
                <a:latin typeface="Arial"/>
              </a:rPr>
              <a:t>Migration scope per legacy source (DCR-157)</a:t>
            </a:r>
          </a:p>
          <a:p>
            <a:pPr>
              <a:spcAft>
                <a:spcPts val="300"/>
              </a:spcAft>
            </a:pPr>
            <a:r>
              <a:rPr sz="1200" b="0">
                <a:solidFill>
                  <a:srgbClr val="004EA8"/>
                </a:solidFill>
                <a:latin typeface="Arial"/>
              </a:rPr>
              <a:t>•  </a:t>
            </a:r>
            <a:r>
              <a:rPr sz="1200" b="0">
                <a:solidFill>
                  <a:srgbClr val="2E2E2E"/>
                </a:solidFill>
                <a:latin typeface="Arial"/>
              </a:rPr>
              <a:t>Partner portal users: provisioning, MFA, hosting (DCR-096)</a:t>
            </a:r>
          </a:p>
          <a:p>
            <a:pPr>
              <a:spcAft>
                <a:spcPts val="300"/>
              </a:spcAft>
            </a:pPr>
            <a:r>
              <a:rPr sz="1200" b="0">
                <a:solidFill>
                  <a:srgbClr val="004EA8"/>
                </a:solidFill>
                <a:latin typeface="Arial"/>
              </a:rPr>
              <a:t>•  </a:t>
            </a:r>
            <a:r>
              <a:rPr sz="1200" b="0">
                <a:solidFill>
                  <a:srgbClr val="2E2E2E"/>
                </a:solidFill>
                <a:latin typeface="Arial"/>
              </a:rPr>
              <a:t>Sign-off of the FRS per BRD (sign-off tracker, item 32)</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Department heads review their chapter with the FRS of their BRD and return comments through the sign-off tracker</a:t>
            </a:r>
          </a:p>
          <a:p>
            <a:pPr>
              <a:spcAft>
                <a:spcPts val="600"/>
              </a:spcAft>
            </a:pPr>
            <a:r>
              <a:rPr sz="1600">
                <a:solidFill>
                  <a:srgbClr val="004EA8"/>
                </a:solidFill>
                <a:latin typeface="Arial"/>
              </a:rPr>
              <a:t>•  </a:t>
            </a:r>
            <a:r>
              <a:rPr sz="1600">
                <a:solidFill>
                  <a:srgbClr val="4B4B4B"/>
                </a:solidFill>
                <a:latin typeface="Arial"/>
              </a:rPr>
              <a:t>BDOI answers the High items of the discrepancy register, starting with the eight decisions of this deck</a:t>
            </a:r>
          </a:p>
          <a:p>
            <a:pPr>
              <a:spcAft>
                <a:spcPts val="600"/>
              </a:spcAft>
            </a:pPr>
            <a:r>
              <a:rPr sz="1600">
                <a:solidFill>
                  <a:srgbClr val="004EA8"/>
                </a:solidFill>
                <a:latin typeface="Arial"/>
              </a:rPr>
              <a:t>•  </a:t>
            </a:r>
            <a:r>
              <a:rPr sz="1600">
                <a:solidFill>
                  <a:srgbClr val="4B4B4B"/>
                </a:solidFill>
                <a:latin typeface="Arial"/>
              </a:rPr>
              <a:t>The project team refreshes this deck after FRS sign-off, with screenshots of the BIBS screens</a:t>
            </a:r>
          </a:p>
          <a:p>
            <a:pPr>
              <a:spcAft>
                <a:spcPts val="600"/>
              </a:spcAft>
            </a:pPr>
            <a:r>
              <a:rPr sz="1600">
                <a:solidFill>
                  <a:srgbClr val="004EA8"/>
                </a:solidFill>
                <a:latin typeface="Arial"/>
              </a:rPr>
              <a:t>•  </a:t>
            </a:r>
            <a:r>
              <a:rPr sz="1600">
                <a:solidFill>
                  <a:srgbClr val="4B4B4B"/>
                </a:solidFill>
                <a:latin typeface="Arial"/>
              </a:rPr>
              <a:t>The steering committee confirms the FRS sign-off plan per area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BIBS Business Process Deck</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