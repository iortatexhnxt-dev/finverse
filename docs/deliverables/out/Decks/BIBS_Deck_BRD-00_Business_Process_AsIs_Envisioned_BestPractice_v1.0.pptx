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for the BDOI steering committee and the department heads. It shows each business area in pictures: how the work runs today, how it runs in BIBS, what is still open, and which practices BDOI should adopt. Every statement cites the BRD (PDF page of the source pack), the FRS or the discrepancy register (DCR numbers). The deck is rebuilt from docs/deliverables/src/decks/.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 gives the enterprise view across all twelve BRDs. Chapters 1 to 12 follow the business order, from New Business to Submitted Policies; each chapter has the same seven slides. The status chip shows whether the area is built, in build or designed in BIBS. The summary repeats the maturity view, the decisions and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Swimlanes: one lane per BDOI role, external party or system. Yellow circles are pain points; the slide after the As-Is diagram explains each one with its BRD page. On the envisioned diagram, light blue boxes are steps a BDOI user takes on a BIBS screen and solid CTA Blue boxes are steps BIBS runs by itself (jobs, checks, matching, postings). Dashed lines are hand-offs by e-mail or file, or parked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holistic chapter looks across the twelve BRDs before going area by area: where the work sits today, what BIBS puts in one platform, how money and data flow from the client to claims, how far each theme moves, and which cross-BRD decisions BDOI must take.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business area works in its own mix of systems and files. New Business quotes in QPS and books in EBIX (BRD-1 p.133); Collections uses EBIX, QPS and the ISYS Marketing Diary (BRD-4 p.40-41); Claims reports come from ISYS (BRD-7, Report List); Sanction Screening runs on e-mail advisories, SharePoint and NLDS (BRD-10 p.6-7); Submitted Policies keeps Excel masterlists on a shared drive (BRD-12 p.4-5); the contact centre uses the BDO-Insure Front-End over QPS and EBIX (BRD-9 p.4). Almost every hand-off between areas runs by e-mail and spreadsheet, so the same client, policy and payment are keyed several times. The yellow number on each area is the count of pain points in its chapter.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BIBS puts the twelve areas in one application with six navigation groups, following the BDOI navigation of the BDO Insure UX design (frontend/src/navigation/modules.ts; BDO UX guidelines section 3). Every module uses the same shared services: workflow with SLA, documents and templates, notifications, the report centre, the insert-only audit trail and the configuration masters that the business maintains. External parties reach BIBS by e-mail with a send log, by file upload, or through the partner portal for Employee Benefits. The HLS, insurer API, CLPC transfer and BDO directory (EUA) interfaces are parked seams until BDO and the insurers give the specifications. Redis caching, Kafka events and the AWS Singapore hosting are the client technology bill of materials; their conformance is tracked in the bill of materials deliverable (item 4) and the technical architecture (item 12).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follows one policy and its money. Marketing owns the client and the quotation; Processing places, issues and books; Operations receives the cash, remits the premium net of commission to the insurer and collects the commission; Comptrollership accounts for it; Collections follows unpaid premium; Renewal restarts the cycle; Claims serves the client during the cover. In BIBS every stage reads the same client, account (ARN) and invoice ledger, so no stage re-keys the output of the previous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is the project team's reading of the current-process sections of the twelve BRDs, the BIBS designs and the practices named in each chapter. It is a discussion aid for the steering committee, not an audit rating. Integration stays at level 3 in BIBS until the parked interfaces (HLS, insurer APIs, CLPC transfer, BDO directory, mailbox reading, OCR) are specified by BDO and the insurers.</a:t>
            </a:r>
          </a:p>
          <a:p>
            <a:r>
              <a:t>Automation: today 1, BIBS 4, best practice 5. Today most steps are manual (BRD-1 p.133, BRD-2 p.11, BRD-5 p.44). BIBS runs jobs, matching and straight-through steps with exception queues.</a:t>
            </a:r>
          </a:p>
          <a:p>
            <a:r>
              <a:t>Controls: today 2, BIBS 4, best practice 5. Approvals run by e-mail and paper (BRD-5 p.45, BRD-10 p.6). BIBS enforces maker-checker, four-eyes and approval matrices.</a:t>
            </a:r>
          </a:p>
          <a:p>
            <a:r>
              <a:t>Data: today 1, BIBS 4, best practice 5. Separate masterlists and re-keying (BRD-12 p.4, BRD-1 p.133). BIBS has one client, one ARN and one invoice ledger.</a:t>
            </a:r>
          </a:p>
          <a:p>
            <a:r>
              <a:t>Integration: today 2, BIBS 3, best practice 5. Files and e-mail with banks and insurers. BIBS adds uploads and seams; APIs are parked.</a:t>
            </a:r>
          </a:p>
          <a:p>
            <a:r>
              <a:t>Customer service: today 2, BIBS 4, best practice 5. The Front-End shows full details for CBG accounts only (BRD-9 p.4). BIBS shows every account, with resends.</a:t>
            </a:r>
          </a:p>
          <a:p>
            <a:r>
              <a:t>Compliance: today 1, BIBS 4, best practice 5. Name matching by hand, no EDD for PEPs (BRD-10 p.6-7). BIBS screens on every trigger and routes cases.</a:t>
            </a:r>
          </a:p>
          <a:p>
            <a:r>
              <a:t>Reporting: today 1, BIBS 4, best practice 5. Reports depend on IT (BRD-2 p.11, BRD-5 p.44). BIBS users run reports and exports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 items are raised against the 12 BRDs and the Report List; 8 are answered by a later signed BDOI document.</a:t>
            </a:r>
          </a:p>
          <a:p>
            <a:r>
              <a:t>High items change what is built, the money, compliance or access; they are resolved before the FRS of the area is signed off.</a:t>
            </a:r>
          </a:p>
          <a:p>
            <a:r>
              <a:t>Items that touch several BRDs, such as the service window, RPO and retention, count under each BRD.</a:t>
            </a:r>
          </a:p>
          <a:p>
            <a:r>
              <a:t>The next slide lists the decisions that unblock the most areas.</a:t>
            </a:r>
          </a:p>
          <a:p>
            <a:r>
              <a:t>Source: docs/deliverables/src/registers/discrepancy_register.yaml. An item that touches several BRDs is counted under each of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priority items of the discrepancy register and the open cross-BRD questions of BDOI_CROSS_BRD_DECISIONS.md. Each blocks more than one area. The proposals in the register are the project's default until BDOI decides.</a:t>
            </a:r>
          </a:p>
          <a:p>
            <a:r>
              <a:t>DCR-143 (High): Directory sign-in (EUA) for every user. Impact: Identity source for all BIBS users. Owner: UAM owner with BDO ITIO. Decision: Provide the EUA interface; are contact centre agents in the directory?</a:t>
            </a:r>
          </a:p>
          <a:p>
            <a:r>
              <a:t>DCR-121 (High): BIBS-wide user access matrix. Impact: Roles and persona tests of every module. Owner: Product Owner, all BRD owners. Decision: Approve one matrix for all modules</a:t>
            </a:r>
          </a:p>
          <a:p>
            <a:r>
              <a:t>DCR-129, 146 (High): Renewal of submitted policies; one LAMD intake. Impact: Two renewal paths; two loan-status feeds. Owner: Renewal and Submitted Policies owners. Decision: Confirm the hand-off boundary and one LAMD report</a:t>
            </a:r>
          </a:p>
          <a:p>
            <a:r>
              <a:t>DCR-037 (High): Incentive programmes in four BRDs. Impact: Incentive income computed twice or not at all. Owner: Comptrollership, MBS, Operations. Decision: List the programmes with rate, base, payer</a:t>
            </a:r>
          </a:p>
          <a:p>
            <a:r>
              <a:t>DCR-112 (High): Sanctions match: block or warn. Impact: Business with a possible sanctioned party. Owner: Chief Compliance Officer. Decision: Block or warn on quotation, placement, booking, renewal</a:t>
            </a:r>
          </a:p>
          <a:p>
            <a:r>
              <a:t>DCR-133, 135, 138 (High): One service window, RPO / RTO, maintenance slot. Impact: Backup, DR and batch design of the platform. Owner: BDO IT with the BRD owners. Decision: Agree one BIBS-wide NFR set</a:t>
            </a:r>
          </a:p>
          <a:p>
            <a:r>
              <a:t>DCR-136 (High): Retention per record type. Impact: Legal record keeping; archive design. Owner: Compliance, Comptrollership. Decision: One schedule; archive or purge at the end</a:t>
            </a:r>
          </a:p>
          <a:p>
            <a:r>
              <a:t>DCR-157 (High): Go-live data migration scope. Impact: Open items and history at cut-over. Owner: All BRD owners. Decision: What is migrated from EBIX, ISYS, QPS, Excel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on 25 September 2026. The build order of the designed areas follows the cross-BRD decisions (section 6.2): User Access with Sanction Screening first, then Claims, Employee Benefits, Customer Servicing, Renewal and Submitted Policies, with the Renewal hand-off and the CSF integration last. The decisions below move the gaps of several areas at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 New Business: Client onboarding to booking (Fire, Motor, Other Lines, Non-Package).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is the spine of BIBS: every other area reads the client, the account (ARN) and the booked invoice that it creates. It is built, and FRS BRD-1 v1.0 describes the delivered screens. The volumes come from the usage tables of the BRD (p.210-212) and the retention values from the workshop addendum (p.82), which prevail over "follow QPS" (assumption A-NB-08).</a:t>
            </a:r>
          </a:p>
          <a:p/>
          <a:p>
            <a:r>
              <a:t>Sources: BRD-1 p.132-134 (current and envisioned process); Other Lines addendum p.47-48; Workshop addendum Apr-2026 p.3-19; BRNB.001-115; FRS BRD-1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most New Business work is manual. Requests arrive by e-mail; HLS requests are keyed in. Quotations are prepared in QPS or Excel; non-package risks go to TSU by e-mail and the comparative is built in Excel. Clients are created without a standard onboarding step. Accounts are tracked in spreadsheets, so duplicates are found late. CBG Fire billing and payment matching are manual. Placement files, hold covers and e-policies go by e-mail without a log. Booking, GL entries and invoices are separate steps, and status reports are compiled by hand (BRD p.133-134; Other Lines addendum p.47). Bulk processing exists for CBG Home only.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numbered markers on the As-Is swimlane refer to these points. The page numbers are PDF pages of the BRD-1 pack.</a:t>
            </a:r>
          </a:p>
          <a:p>
            <a:r>
              <a:t>1. Requests arrive by e-mail and are keyed in: HLS requests are re-keyed; bulk processing exists for CBG Home only. (BRD-1 p.133; BRNB.023, 041)</a:t>
            </a:r>
          </a:p>
          <a:p>
            <a:r>
              <a:t>2. Quotations prepared in QPS or Excel: Rating and versions live outside one workflow; approvals by e-mail. (BRD-1 p.133; FRS 2.1 row 2)</a:t>
            </a:r>
          </a:p>
          <a:p>
            <a:r>
              <a:t>3. Non-package placement by e-mail: TSU receives risks by e-mail and builds the comparative table in Excel. (Other Lines addendum p.47)</a:t>
            </a:r>
          </a:p>
          <a:p>
            <a:r>
              <a:t>4. No standard client onboarding: Clients are created without a KYC verification step. (Workshop addendum p.3-5; BRNB.090)</a:t>
            </a:r>
          </a:p>
          <a:p>
            <a:r>
              <a:t>5. Accounts in spreadsheets: No single account number; duplicates are found late. (BRD-1 p.133; BRNB.032, 051)</a:t>
            </a:r>
          </a:p>
          <a:p>
            <a:r>
              <a:t>6. CBG Fire billing and payment matching by hand: The CLPC billing file and payment reports are handled manually. (BRD-1 p.133; BRNB.067, 068)</a:t>
            </a:r>
          </a:p>
          <a:p>
            <a:r>
              <a:t>7. Placement, hold cover, e-policy by e-mail: Files leave by e-mail with no send log and no protection rule. (BRD-1 p.133; BRNB.071, 072, 073)</a:t>
            </a:r>
          </a:p>
          <a:p>
            <a:r>
              <a:t>8. Booking in separate steps: Invoice, GL entry and service invoice are separate tasks. (BRD-1 p.133-134; BRNB.027, 100)</a:t>
            </a:r>
          </a:p>
          <a:p>
            <a:r>
              <a:t>9. Status monitoring by hand: Status and reconciliation reports are compiled manually. (BRD-1 p.133)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requests are captured in a request inbox or loaded from a source-system file. Every client starts as a prospect and is confirmed after a second user verifies the KYC documents. Package quotations are rated with the Appendix A formulas, approved and sent protected; non-package risks go through the PRF, with quotation slips to insurers and a comparative compiled by BIBS. One account per accepted risk group carries the ARN. BIBS produces the CLPC billing file and matches payment reports. Processing sends placement slips and hold cover requests with a send log, matches the e-policy and sends it protected. Booking posts the invoice, the GL entry and the service invoice in one transaction; batch booking runs at 20:00. Dashboards read the workflow history. The HLS interface, the mailbox reader and insurer SFTP / API are parked seams (Q11, Q12, Q06).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pairs a pain point with the BIBS behaviour that removes it. The BRD states objectives (batch processing across all segments, one workflow, reports) but no turnaround targets, so the measures are the NFR values and the controls added.</a:t>
            </a:r>
          </a:p>
          <a:p>
            <a:r>
              <a:t>1. Requests arrive by e-mail and are keyed in -&gt; Request inbox; HLS extract and bulk files uploaded with a template and row checks Measure: Up to 5,000 rows a file.</a:t>
            </a:r>
          </a:p>
          <a:p>
            <a:r>
              <a:t>2. Quotations prepared in QPS or Excel -&gt; Quotation rated with the Appendix A formulas, versioned, approved before it is sent Measure: Approval before send.</a:t>
            </a:r>
          </a:p>
          <a:p>
            <a:r>
              <a:t>3. Non-package placement by e-mail -&gt; PRF workflow: TSU slips per insurer, insurer terms keyed once, comparative compiled by BIBS Measure: Comparative not re-keyed.</a:t>
            </a:r>
          </a:p>
          <a:p>
            <a:r>
              <a:t>4. No standard client onboarding -&gt; Prospect, KYC documents, verification by a second user, then confirmed client Measure: Four-eyes KYC.</a:t>
            </a:r>
          </a:p>
          <a:p>
            <a:r>
              <a:t>5. Accounts in spreadsheets -&gt; One ARN per account; workflow stage; duplicate check at creation Measure: Duplicates stopped at entry.</a:t>
            </a:r>
          </a:p>
          <a:p>
            <a:r>
              <a:t>6. CBG Fire billing and payment matching by hand -&gt; CLPC billing file produced and payment report matched in BIBS Measure: Matching automated.</a:t>
            </a:r>
          </a:p>
          <a:p>
            <a:r>
              <a:t>7. Placement, hold cover, e-policy by e-mail -&gt; Slips, hold cover requests and e-policies generated, password protected and logged Measure: Send log per document.</a:t>
            </a:r>
          </a:p>
          <a:p>
            <a:r>
              <a:t>8. Booking in separate steps -&gt; Booking posts invoice, GL entry and service invoice in one transaction; batch at 20:00 Measure: One step instead of three.</a:t>
            </a:r>
          </a:p>
          <a:p>
            <a:r>
              <a:t>9. Status monitoring by hand -&gt; Dashboards and status reports read the workflow history Measure: 10 s response (p.211).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items first. The parked interfaces are built as seams: a port, a staging table or a manual upload, so adding the transport later needs no workflow change (FRS section 7).</a:t>
            </a:r>
          </a:p>
          <a:p>
            <a:r>
              <a:t>DCR-001 (High): Quotation before the client exists. Impact: Walk-in and bank-referred prospects may not be quotable. Owner: Marketing / Product Owner. Decision: May BIBS create a prospect code at quotation (BRNB.029 vs 063)?</a:t>
            </a:r>
          </a:p>
          <a:p>
            <a:r>
              <a:t>DCR-005 (High): Fire premium tax rate and base. Impact: Gross premium on every Fire quotation and invoice. Owner: Comptrollership. Decision: Which taxes, rates and bases apply to Fire?</a:t>
            </a:r>
          </a:p>
          <a:p>
            <a:r>
              <a:t>DCR-006 (High): Motor OD / Theft base 81% or 90% of TSI. Impact: Motor premium differs by 9 points of TSI. Owner: Marketing / TSU. Decision: When each base applies</a:t>
            </a:r>
          </a:p>
          <a:p>
            <a:r>
              <a:t>DCR-027 (High): CLPC payments and endorsements specified twice. Impact: Two payment intakes and two endorsement paths. Owner: NB and Operations. Decision: Confirm Cashiering as the single payment intake and Adjustment for endorsements</a:t>
            </a:r>
          </a:p>
          <a:p>
            <a:r>
              <a:t>DCR-112 (High): Sanctions match blocks or warns. Impact: Business placed with a possible sanctioned party. Owner: Compliance. Decision: Block or warn on quotation to booking</a:t>
            </a:r>
          </a:p>
          <a:p>
            <a:r>
              <a:t>Q11, Q12, Q06, Q24 (Parked): HLS, mailbox, insurer SFTP / API, OCR. Impact: Uploads and manual capture remain. Owner: BDO IT and insurers. Decision: Interface specifications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Straight-through processing with exception queues [Partly in BIBS]. BIBS: Bulk uploads with row checks, batch booking, work queues per stage. BDOI: Give the product matrix and minimum fields per line (Q01, Q02) so clean cases pass untouched.</a:t>
            </a:r>
          </a:p>
          <a:p>
            <a:r>
              <a:t>KYC at onboarding and a single client view [Supported by BIBS]. BIBS: Prospect to confirmed client with four-eyes KYC; one client record for every module. BDOI: Confirm the BDO KYC standard fields, CIF and duplicate keys (Q16, Q17).</a:t>
            </a:r>
          </a:p>
          <a:p>
            <a:r>
              <a:t>Maker-checker on client documents [Supported by BIBS]. BIBS: Approval before a quotation, PRF or slip is sent; maker cannot approve. BDOI: Set the approval chain and limits (Q05).</a:t>
            </a:r>
          </a:p>
          <a:p>
            <a:r>
              <a:t>Protected digital documents [Partly in BIBS]. BIBS: Password-protected PDF and Excel, password sent separately, send log. BDOI: Agree the password convention (DCR-153).</a:t>
            </a:r>
          </a:p>
          <a:p>
            <a:r>
              <a:t>Screening before binding [Partly in BIBS]. BIBS: Screening on client creation and account submission (BRD-10 design). BDOI: Decide block or warn while a match is open (DCR-112).</a:t>
            </a:r>
          </a:p>
          <a:p>
            <a:r>
              <a:t>Production KPIs against target [BDOI to adopt]. BIBS: Dashboard by region, department, team and officer. BDOI: Provide the sales hierarchy and targets (Q41).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BRD-2 Operations: Cashiering, Remittance, Production Reconciliation, Adjustment, Commission / Direct Payment.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Operations takes over every invoice booked in New Business and follows its money until the insurer is paid, the insurer's official receipt is recorded and every difference is closed. BDOI collects premium on behalf of insurers and remits it net of its commission (BRD-2 p.11). The modules are built; FRS BRD-2 describes the delivered screens. The BRD gives users and response times but no transaction volumes (OQ44). The annex names 11 head-office and 5 branch cashiers, 4 remittance processors, 4 reconciliation handlers and 6 adjustment processors, plus team leads.</a:t>
            </a:r>
          </a:p>
          <a:p/>
          <a:p>
            <a:r>
              <a:t>Sources: BRD-2 p.10-13 (current and envisioned process); CSHID, RMTID, PRCID, ADJID, CMRID, MKTID, DBMID; FRS BRD-2 v1.0, sections 1.6 and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receipts are issued by hand and payment details are not visible; payment application is fragmented. Remittances are extracted manually with no tracking of batches and no check of what is not for remittance. Booked accounts are matched with insurer reports by hand. Endorsements go through redundant steps with manual computation. Reports depend on IT, and direct-payment commission receivables are gathered, cleaned and billed by hand (BRD-2 p.11, current process items 1-6).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points are the six "current process" items of the BRD (p.11), in the same order.</a:t>
            </a:r>
          </a:p>
          <a:p>
            <a:r>
              <a:t>1. Manual receipts: Payment details are not visible and payment application is fragmented. (BRD-2 p.11, item 1; CSHID.001-027)</a:t>
            </a:r>
          </a:p>
          <a:p>
            <a:r>
              <a:t>2. Remittance extracted by hand: No batch tracking and no check of what is not for remittance. (BRD-2 p.11, item 2; RMTID.001-023)</a:t>
            </a:r>
          </a:p>
          <a:p>
            <a:r>
              <a:t>3. Insurer reports matched by hand: Booked accounts are matched manually; unmatched items are checked one by one. (BRD-2 p.11, item 3; PRCID.001-039)</a:t>
            </a:r>
          </a:p>
          <a:p>
            <a:r>
              <a:t>4. Endorsements computed by hand: Redundant steps, manual computation and limited traceability. (BRD-2 p.11, item 4; ADJID.001-028)</a:t>
            </a:r>
          </a:p>
          <a:p>
            <a:r>
              <a:t>5. Reports depend on IT: Timely, correct and complete reports need the IT Group. (BRD-2 p.11, item 5)</a:t>
            </a:r>
          </a:p>
          <a:p>
            <a:r>
              <a:t>6. Commission receivables billed by hand: Direct-payment data are gathered, sanitised and billed to insurers manually. (BRD-2 p.11, item 6; CMRID.001-015)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booked invoice is copied into the invoice ledger with its components. The cashier issues an AR from the branch series; BIBS matches the payment to the invoice and applies it by component, and money it cannot apply goes to the unapplied workbench. A scheduled job extracts paid, cleared and eligible premium into batches per insurer and type; the TL approves the batch (four eyes), which posts the remittance, issues the commission OR and raises the payment request to Disbursement. The insurer's OR schedule is uploaded. The production register goes to the insurer and its feedback is matched within a 1.00 tolerance. Endorsements are requests recomputed per insurer and approved; direct-payment accounts are billed per insurer against a 10-working-day SLA.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states the target (unified operations, scheduled extraction, auto-matching, validated entries, tracking) without turnaround targets; the measures are the controls BIBS adds.</a:t>
            </a:r>
          </a:p>
          <a:p>
            <a:r>
              <a:t>1. Manual receipts -&gt; AR and OR from controlled series; payment matched at acceptance and applied by component Measure: Unapplied money kept in a workbench.</a:t>
            </a:r>
          </a:p>
          <a:p>
            <a:r>
              <a:t>2. Remittance extracted by hand -&gt; Scheduled and manual extraction with eligibility checks; batches with approval, DV and insurer OR Measure: Batch reference per remittance.</a:t>
            </a:r>
          </a:p>
          <a:p>
            <a:r>
              <a:t>3. Insurer reports matched by hand -&gt; Register sent to the insurer; feedback uploaded and matched; differences followed to closure Measure: Tolerance 1.00.</a:t>
            </a:r>
          </a:p>
          <a:p>
            <a:r>
              <a:t>4. Endorsements computed by hand -&gt; Endorsement requests recomputed per insurer, approved, posted in batches, linked to the original Measure: Four-eyes approval.</a:t>
            </a:r>
          </a:p>
          <a:p>
            <a:r>
              <a:t>5. Reports depend on IT -&gt; Users run the reports themselves, with view and export rights Measure: Response &lt; 5 s (annex).</a:t>
            </a:r>
          </a:p>
          <a:p>
            <a:r>
              <a:t>6. Commission receivables billed by hand -&gt; DP lists validated and billed per insurer; answers tracked; commission collected with an OR Measure: 10 working days SLA.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Operations gaps are rules that the BRD states twice or leaves open. BIBS builds a documented default behind a parameter, so the answer is a configuration change (FRS BRD-2 section 1.6).</a:t>
            </a:r>
          </a:p>
          <a:p>
            <a:r>
              <a:t>DCR-013 (High): Early-remittance incentive in two places. Impact: Incentive income computed twice or on the wrong lines. Owner: Operations. Decision: One programme? Lines, rates and start of the window</a:t>
            </a:r>
          </a:p>
          <a:p>
            <a:r>
              <a:t>DCR-014 (High): Three minimal-balance rules. Impact: Small balances post to different GL accounts. Owner: Operations, Comptrollership. Decision: One rule at 10.00; GL accounts; who approves write-off</a:t>
            </a:r>
          </a:p>
          <a:p>
            <a:r>
              <a:t>DCR-015 (High): Paid AR above the DTIP balance. Impact: Remittance capped or withheld. Owner: Operations. Decision: Remit the DTIP balance or exclude the account</a:t>
            </a:r>
          </a:p>
          <a:p>
            <a:r>
              <a:t>DCR-028 (High): CWT 2307 cash payments without entries. Impact: GL entries for CWT unclear. Owner: Comptrollership. Decision: Give the entries and when Dr DTIP / Cr PR2307 posts</a:t>
            </a:r>
          </a:p>
          <a:p>
            <a:r>
              <a:t>DCR-027 (High): CLPC payments and endorsements also in BRD-1. Impact: Two payment intakes and two endorsement paths. Owner: Operations and NB. Decision: Confirm Cashiering and Adjustment as owners</a:t>
            </a:r>
          </a:p>
          <a:p>
            <a:r>
              <a:t>OQ29, OQ01, OQ02 (Parked): Insurer report pick-up; Collection and Disbursement links. Impact: Uploads and in-app queue until BRD-4 / BRD-5 are built. Owner: Insurers, BDO IT. Decision: Mailbox or SFTP channel per insurer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Automated bank and insurer reconciliation [Supported by BIBS]. BIBS: Bank files uploaded and matched; insurer feedback matched within 1.00; duplicate files refused. BDOI: Give the bank file layouts and an OR tolerance (OQ03, OQ22).</a:t>
            </a:r>
          </a:p>
          <a:p>
            <a:r>
              <a:t>Premium remittance discipline [Supported by BIBS]. BIBS: Only paid, cleared (3 banking days) and eligible premium is batched; holds need a reason. BDOI: Agree a remittance calendar per insurer and the DTIP rule (DCR-015).</a:t>
            </a:r>
          </a:p>
          <a:p>
            <a:r>
              <a:t>Maker-checker and segregation of duties [Supported by BIBS]. BIBS: Batch approval, receipt cancellation and endorsements need a TL / TH who is not the maker. BDOI: Set approver limits per team.</a:t>
            </a:r>
          </a:p>
          <a:p>
            <a:r>
              <a:t>Unapplied cash under ageing control [Partly in BIBS]. BIBS: Unapplied workbench with disposition, approval and reversal. BDOI: One small-balance rule and write-off authority (DCR-014).</a:t>
            </a:r>
          </a:p>
          <a:p>
            <a:r>
              <a:t>Commission receivable follow-up [Partly in BIBS]. BIBS: DP billing per insurer with a 10-working-day SLA; incentive scheme engine built. BDOI: Give incentive targets and amounts so the schemes can go live (OQ39).</a:t>
            </a:r>
          </a:p>
          <a:p>
            <a:r>
              <a:t>Controlled receipt series [Supported by BIBS]. BIBS: AR and OR numbered from controlled series per branch; cancellations approved. BDOI: Confirm OR per batch or per payment for BIR purposes (OQ49).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BRD-3 Product Maintenance: Package products, from the Package Request Form to release and expiry.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package is a pre-arranged programme whose terms, rates and conditions BDOI negotiates with one or more insurers and then offers through Marketing. Product Maintenance feeds the products and package versions that quotations, accounts and booking read. It is built; FRS BRD-3 is the reference FRS for the pack. The BRD states no volumes (the project assumes tens of package requests a month).</a:t>
            </a:r>
          </a:p>
          <a:p/>
          <a:p>
            <a:r>
              <a:t>Sources: BRD-3 p.12-13 (current and envisioned process); BRPM.001-022; workshop addendum PMADD01-06; FRS BRD-3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asks TSU for a package placement by e-mail with a TSU request form. TSU prepares quotation slips and e-mails them to insurers, who reply by e-mail with signed slips or approved terms. The comparative table is compiled in Excel and shared by e-mail. Sign-off and advisories are manual, documents go out without password protection, package expiry is watched in spreadsheets or calendars, and changes and approvals are tracked in e-mail threads.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points are the current-process rows of the BRD (p.12-13).</a:t>
            </a:r>
          </a:p>
          <a:p>
            <a:r>
              <a:t>1. Requests by e-mail: Marketing requests placements by e-mail using a TSU request form. (BRD-3 p.12; BRPM.008)</a:t>
            </a:r>
          </a:p>
          <a:p>
            <a:r>
              <a:t>2. Quotation slips by e-mail: TSU prepares and e-mails the slips; no log of what was sent. (BRD-3 p.12; BRPM.010)</a:t>
            </a:r>
          </a:p>
          <a:p>
            <a:r>
              <a:t>3. Insurer replies in mailboxes: Signed slips and approved terms arrive by e-mail. (BRD-3 p.12; BRPM.012)</a:t>
            </a:r>
          </a:p>
          <a:p>
            <a:r>
              <a:t>4. Comparative in Excel: Compiled by hand and shared by e-mail. (BRD-3 p.12; BRPM.014; PMADD03)</a:t>
            </a:r>
          </a:p>
          <a:p>
            <a:r>
              <a:t>5. Manual sign-off and advisory: ManCom sign-off and the advisory are prepared outside a system. (BRD-3 p.12-13; BRPM.015, 016)</a:t>
            </a:r>
          </a:p>
          <a:p>
            <a:r>
              <a:t>6. Documents without a password: Shared documents have no password protection. (BRD-3 p.13)</a:t>
            </a:r>
          </a:p>
          <a:p>
            <a:r>
              <a:t>7. Expiry in spreadsheets: Package expiry is monitored in spreadsheets or calendars. (BRD-3 p.13; BRPM.017)</a:t>
            </a:r>
          </a:p>
          <a:p>
            <a:r>
              <a:t>8. History in e-mail threads: Changes, approvals and documents are tracked in e-mail and files. (BRD-3 p.13)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Marketing logs the Package Request Form, which BIBS numbers PKR-yyyy-n. A Marketing TL, TH or UH approves it (never the maker); the TSU TL recommends and the TSU Head approves. TSU prepares the quotation slips, which are approved and e-mailed per insurer, protected and logged. Insurer responses are keyed in with their outcome, over as many rounds as needed. BIBS keeps one comparative master per request and derives client views from it. ManCom signs off, which locks the slips; MBS creates the package version and the TSU Head or Business Administrator releases it. The advisory is drafted on release and sent with the signed package slip. A daily job raises expiry alerts and can draft the renewal request.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turnaround targets are given in the BRD; the measures are the controls BIBS adds.</a:t>
            </a:r>
          </a:p>
          <a:p>
            <a:r>
              <a:t>1. Requests by e-mail -&gt; Package Request Form logged in BIBS, numbered PKR-yyyy-n and tracked by stage Measure: Stage and SLA per request.</a:t>
            </a:r>
          </a:p>
          <a:p>
            <a:r>
              <a:t>2. Quotation slips by e-mail -&gt; Quotation slips prepared, approved and e-mailed per insurer, protected and logged Measure: Send log per slip.</a:t>
            </a:r>
          </a:p>
          <a:p>
            <a:r>
              <a:t>3. Insurer replies in mailboxes -&gt; TSU keys in each response with its outcome; every change is kept Measure: Rounds recorded.</a:t>
            </a:r>
          </a:p>
          <a:p>
            <a:r>
              <a:t>4. Comparative in Excel -&gt; One comparative master per package; client views derived from it Measure: No Excel re-compile.</a:t>
            </a:r>
          </a:p>
          <a:p>
            <a:r>
              <a:t>5. Manual sign-off and advisory -&gt; ManCom signs off in BIBS; the advisory is drafted on release Measure: Sign-off before release.</a:t>
            </a:r>
          </a:p>
          <a:p>
            <a:r>
              <a:t>6. Documents without a password -&gt; Documents leave password protected; password in a separate e-mail Measure: Every document protected.</a:t>
            </a:r>
          </a:p>
          <a:p>
            <a:r>
              <a:t>7. Expiry in spreadsheets -&gt; Daily job raises expiry alerts and can draft the renewal request Measure: No expiry missed.</a:t>
            </a:r>
          </a:p>
          <a:p>
            <a:r>
              <a:t>8. History in e-mail threads -&gt; Every action in the request history and the audit trail Measure: Full history per package.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High incentive item is shared with BRD-2, BRD-4 and BRD-5; the criteria are kept once in Product Maintenance.</a:t>
            </a:r>
          </a:p>
          <a:p>
            <a:r>
              <a:t>DCR-037 (High): Incentive criteria without a definition. Impact: Incentive income across four BRDs. Owner: MBS, Comptrollership. Decision: List the programmes (CPC2 and others) with rate, base, payer</a:t>
            </a:r>
          </a:p>
          <a:p>
            <a:r>
              <a:t>DCR-153 (High): Password convention for documents. Impact: Clients and insurers cannot open files without a known rule. Owner: MBS, Information Security. Decision: Password rule per document type</a:t>
            </a:r>
          </a:p>
          <a:p>
            <a:r>
              <a:t>DCR-035 (Medium): Role-to-action matrix; ManCom decision rule. Impact: Approval routing and persona tests. Owner: MBS and TSU. Decision: Approve the matrix; ManCom membership and quorum</a:t>
            </a:r>
          </a:p>
          <a:p>
            <a:r>
              <a:t>DCR-036 (Medium): Non-package product maintenance. Impact: Scope of the module. Owner: MBS. Decision: Confirm out of scope for this phase</a:t>
            </a:r>
          </a:p>
          <a:p>
            <a:r>
              <a:t>DCR-030 (Medium): BRQID.008 dropped without a revision entry. Impact: Renewals repriced without client evidence. Owner: MBS. Decision: Confirm BRRN.038 now governs</a:t>
            </a:r>
          </a:p>
          <a:p>
            <a:r>
              <a:t>PQ16 (Parked): Product master feed to other BDOI systems. Impact: Other systems not updated automatically. Owner: BDO IT. Decision: Which systems receive product changes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Configurable rules owned by the business [Supported by BIBS]. BIBS: Products, package versions, rates and incentive criteria kept as masters, maintained without IT. BDOI: Name the business owner of each master and its approver.</a:t>
            </a:r>
          </a:p>
          <a:p>
            <a:r>
              <a:t>Maker-checker on product changes [Supported by BIBS]. BIBS: Marketing approval, TSU Head approval, ManCom sign-off and release validation; never the maker. BDOI: Approve the role-to-action matrix (DCR-035).</a:t>
            </a:r>
          </a:p>
          <a:p>
            <a:r>
              <a:t>One version of the terms [Supported by BIBS]. BIBS: One comparative master per request and versioned packages; old versions locked. BDOI: Retire Excel comparatives once BIBS is live.</a:t>
            </a:r>
          </a:p>
          <a:p>
            <a:r>
              <a:t>Protected digital documents [Partly in BIBS]. BIBS: Slips and advisories password protected, password sent separately, send log. BDOI: Agree the password convention (DCR-153).</a:t>
            </a:r>
          </a:p>
          <a:p>
            <a:r>
              <a:t>Expiry and renewal pipeline [Supported by BIBS]. BIBS: Daily expiry alerts and a renewal request pre-filled from the current version. BDOI: Set the lead days per package type.</a:t>
            </a:r>
          </a:p>
          <a:p>
            <a:r>
              <a:t>KPI on package turnaround [BDOI to adopt]. BIBS: Stage history and SLA per stage (for example 120 hours for negotiation). BDOI: Adopt turnaround targets per stage and review them monthly.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BRD-4 Collections: Premium receivable follow-up, unapplied payments, escalation and billing statements.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Collections follows unpaid premium receivables (PR) until they are paid, reversed or cancelled. The CMS BRD describes a separate application fed nightly from EBIX and QPS; in BIBS it is a module that reads the Operations invoice ledger and hands work to Cashiering and Commission inside the application. It posts no money itself. The module is in build; there is no FRS yet, so this chapter uses the requirements baseline and the design.</a:t>
            </a:r>
          </a:p>
          <a:p/>
          <a:p>
            <a:r>
              <a:t>Sources: CMS BRD p.40-42 (current and target process); BRCLXN.001-060 (signed); 061-064 draft only; Requirements baseline BDOI_CLXN_BRD_SPEC.md; design COLLECTIONS_DESIGN.md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AO records the client's payment instruction in the Marketing Diary in ISYS. The Collection Handler takes the outstanding-PR list of the market segment from EBIX and follows up each account as the diary says: new bookings within 10 to 15 days, a payment commitment within 60 days. A commitment outside the credit term goes to the AO, who asks the insurer for a credit term extension and escalates to the Unit Head by e-mail. On day 60 without a commitment the handler sets a disposition and the A / B / C tag. Payment status is checked by channel with Cashiering, the Unapplied screen or the insurer. CWT 2307 tagging moves from Marketing to Operations by hand, and Operations extracts the Direct Payment report every month for PR reversal.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1-10 of the current process (CMS BRD p.40-41) and the handler's other tasks (p.40).</a:t>
            </a:r>
          </a:p>
          <a:p>
            <a:r>
              <a:t>1. PR list and diary in two systems: The handler takes the EBIX list and checks the ISYS Marketing Diary per account. (CMS BRD p.40-41, steps 1-2)</a:t>
            </a:r>
          </a:p>
          <a:p>
            <a:r>
              <a:t>2. Follow-up by hand: New bookings within 10-15 days, commitment within 60 days, tracked by the handler. (CMS BRD p.40-41, steps 3-4)</a:t>
            </a:r>
          </a:p>
          <a:p>
            <a:r>
              <a:t>3. CTE and escalation by e-mail: The AO asks the insurer for a credit term extension and escalates to the Unit Head. (CMS BRD p.40-41, step 5)</a:t>
            </a:r>
          </a:p>
          <a:p>
            <a:r>
              <a:t>4. Dispositions kept by hand: Day-60 disposition, category A / B / C and remarks are updated manually. (CMS BRD p.40-41, steps 6-7)</a:t>
            </a:r>
          </a:p>
          <a:p>
            <a:r>
              <a:t>5. Payment status by channel: Deposit with Cashiering, bills payment on the Unapplied screen, direct payment with the insurer. (CMS BRD p.40-41, step 8)</a:t>
            </a:r>
          </a:p>
          <a:p>
            <a:r>
              <a:t>6. 2307 tagging handed over: A net-of-CWT payment stays a Marketing action until the BIR 2307 is collected. (CMS BRD p.40-41, step 9)</a:t>
            </a:r>
          </a:p>
          <a:p>
            <a:r>
              <a:t>7. DP report extracted monthly: Operations extracts the Direct Payment report as the basis for PR reversal. (CMS BRD p.40-41, step 10)</a:t>
            </a:r>
          </a:p>
          <a:p>
            <a:r>
              <a:t>8. Side tasks by e-mail: Cheque pick-up requests and 2307 certificates received by e-mail. (CMS BRD p.40, other tasks)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a nightly job after the 22:00 end of day turns every invoice with PR above the threshold into a collection item, refreshes existing items and closes items at zero, keeping their history. The TL assigns items by rule (segment, unit, client). The handler records efforts, promises per installment, the collector disposition and the A / B / C category on the item, with the Marketing Diary in view. Rules escalate by ageing, commitments and broken promises to the TL / UH queue. Dispositions for Operations become in-app requests: "PR 2307 for reversal" to Cashiering, "DP PR for reversal" to Commission, "for check pick-up" to the Cashiering queue. The monthly and weekly files are produced on schedule, and billing statements are issued per billing cycle of multi-year policies.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CMS BRD gives volume and response targets (NFR 15.01-15.14) but no collection-rate targets.</a:t>
            </a:r>
          </a:p>
          <a:p>
            <a:r>
              <a:t>1. PR list and diary in two systems -&gt; One worklist read from the invoice ledger, with the Marketing Diary in view on the item Measure: Refreshed nightly after 22:00.</a:t>
            </a:r>
          </a:p>
          <a:p>
            <a:r>
              <a:t>2. Follow-up by hand -&gt; Efforts, promises per installment and reminders recorded on the collection item Measure: History kept per item.</a:t>
            </a:r>
          </a:p>
          <a:p>
            <a:r>
              <a:t>3. CTE and escalation by e-mail -&gt; Escalation rules by ageing, commitments and broken promises; manual escalation, also in bulk Measure: TL / UH queue by rule.</a:t>
            </a:r>
          </a:p>
          <a:p>
            <a:r>
              <a:t>4. Dispositions kept by hand -&gt; Disposition from a list of values with category A / B / C; append-only history Measure: From / to audit per field.</a:t>
            </a:r>
          </a:p>
          <a:p>
            <a:r>
              <a:t>5. Payment status by channel -&gt; Payment status, balances and co-insurance shares read from the invoice ledger Measure: Same-day balance refresh.</a:t>
            </a:r>
          </a:p>
          <a:p>
            <a:r>
              <a:t>6. 2307 tagging handed over -&gt; "PR 2307 for reversal" goes to the Cashiering 2307 intake as an in-app request Measure: No e-mail hand-off.</a:t>
            </a:r>
          </a:p>
          <a:p>
            <a:r>
              <a:t>7. DP report extracted monthly -&gt; DP-for-reversal file on the first working day; the same list goes to Commission Measure: Ready on working day 1.</a:t>
            </a:r>
          </a:p>
          <a:p>
            <a:r>
              <a:t>8. Side tasks by e-mail -&gt; Cheque pick-up request placed on the Cashiering queue from the item Measure: Request tracked.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BRCLXN.061-064 appear only in the unsigned draft of the workshop addendum; they are designed as Draft and built only after BDOI confirms them (CQ01). The Operations Head's caveat on exports (p.93) is met by asynchronous, permission-gated exports.</a:t>
            </a:r>
          </a:p>
          <a:p>
            <a:r>
              <a:t>DCR-039, CQ01 (High): BRCLXN.061-064 only in the unsigned draft. Impact: Commission, incentive and refund items not approved. Owner: Head of BDOI Operations. Decision: In scope? Owner: Collections or Commission</a:t>
            </a:r>
          </a:p>
          <a:p>
            <a:r>
              <a:t>DCR-041, CQ02 (High): List at invoice or cover level. Impact: Grain of the list and of the threshold rule. Owner: Head of BDOI Operations. Decision: Confirm invoice level; threshold per invoice, ARN or client</a:t>
            </a:r>
          </a:p>
          <a:p>
            <a:r>
              <a:t>DCR-044, 141 (High): One session per device. Impact: Session control for every user. Owner: Operations with BDO ITIO. Decision: For all users, Collections only, or no one</a:t>
            </a:r>
          </a:p>
          <a:p>
            <a:r>
              <a:t>DCR-157, CQ07 (High): Open EBIX PRs and history at go-live. Impact: Worklist incomplete at cut-over. Owner: Operations, BDO IT. Decision: Migration scope, cut-off and format</a:t>
            </a:r>
          </a:p>
          <a:p>
            <a:r>
              <a:t>CQ03 (Medium): Minimal balance threshold value. Impact: Which invoices enter the list. Owner: Operations - Collections. Decision: Value, currency, net of PR2307?</a:t>
            </a:r>
          </a:p>
          <a:p>
            <a:r>
              <a:t>CQ14, CQ16 (Medium): Escalation defaults and promise rules. Impact: Escalation and broken-promise tests. Owner: Operations - Collections. Decision: Days (45 / 60), levels, grace days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Ageing control with escalation by rule [Supported by BIBS]. BIBS: Rules by ageing, commitments and broken promises; TL / UH queue; manual escalation in bulk. BDOI: Set the default days and levels (CQ14).</a:t>
            </a:r>
          </a:p>
          <a:p>
            <a:r>
              <a:t>Promise-to-pay per installment [Supported by BIBS]. BIBS: Promises recorded per installment, marked kept or broken from the ledger. BDOI: Define when a promise is kept and the grace days (CQ16).</a:t>
            </a:r>
          </a:p>
          <a:p>
            <a:r>
              <a:t>Single view of the receivable [Supported by BIBS]. BIBS: Invoice 360: policy, invoice, co-insurance shares, payments and history on one screen. BDOI: Retire the separate EBIX and Excel lists after migration.</a:t>
            </a:r>
          </a:p>
          <a:p>
            <a:r>
              <a:t>Collections monitors; finance posts [Supported by BIBS]. BIBS: Collections posts no money; Cashiering and Commission act on its requests. BDOI: Keep this split in the role matrix (DCR-121).</a:t>
            </a:r>
          </a:p>
          <a:p>
            <a:r>
              <a:t>Credit term discipline [BDOI to adopt]. BIBS: Commitment dates and CTE requests can be recorded on the item. BDOI: Publish credit terms per segment and track CTEs in BIBS (CQ20).</a:t>
            </a:r>
          </a:p>
          <a:p>
            <a:r>
              <a:t>Collection KPIs [Partly in BIBS]. BIBS: Outstanding PR, escalation and broken-promise reports; Collections home. BDOI: Define the dashboard per role and the collection targets (CQ21).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BRD-5 Accounting and Disbursement: Accounting (FRBS), Disbursement, ACSL, Marketing refund and cash-advance requests, financial reports.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handles two kinds of money: trust money (premium collected for insurers and remitted net of commission) and its own income (commission, service fee, profit share, incentives). BRD-2 covers the front of the cycle; BRD-5 covers the back office of Comptrollership. Most of the accounting core already exists in BIBS (chart, journals, accounting engine, sub-ledger, periods, FX revaluation, year-end, bank reconciliation, BIR returns and 2307). The large new build is Disbursement, then ACSL reconciliation and correction, the Marketing request flow and the BDOI report pack. There is no FRS yet; this chapter uses the requirements baseline and the design.</a:t>
            </a:r>
          </a:p>
          <a:p/>
          <a:p>
            <a:r>
              <a:t>Sources: BRD-5 p.44-45 (current process), p.46-48 (envisioned); FRBS, DIS, MKT, ACSL, BASAU requirements; Addenda 1 and 2; Requirements baseline BDOI_ACCT_BRD_SPEC.md; design ACCOUNTING_DISBURSEMENT_DESIGN.md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Marketing refund and cash-advance requests arrive from AOs by e-mail; review and approval happen outside the system and signed paper is handed to Disbursement. Some disbursement requests still come on paper or by e-mail; not every payment method is integrated; processing and CWT tagging are manual; communication and approval run outside the system. In Accounting the input reports and the closing of the broking books depend on IT, output reports and reconciliations are manual, unbalanced transactions are not prevented and some entries are keyed by hand. In ACSL, input reports depend on IT, corrections and reversals are manual and posted by a separate unit, a cancellation gets a different invoice number, and reports lack the source-system references (BRD-5 p.44-45).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points are the lettered current-process items of the BRD (A = Accounting, B = Disbursement, B.2 = Marketing requests, C = ACSL), p.44-45.</a:t>
            </a:r>
          </a:p>
          <a:p>
            <a:r>
              <a:t>1. Marketing requests by e-mail and paper: Review and approval outside the system; signed paper handed to Disbursement. (BRD-5 p.45, B.2 a-c)</a:t>
            </a:r>
          </a:p>
          <a:p>
            <a:r>
              <a:t>2. Requests received by hand: Some disbursement requests still arrive as paper or e-mail. (BRD-5 p.45, B a)</a:t>
            </a:r>
          </a:p>
          <a:p>
            <a:r>
              <a:t>3. Manual processing and CWT tagging: Communication and approval run outside the system; payees only for CTA and check. (BRD-5 p.45, B c-e)</a:t>
            </a:r>
          </a:p>
          <a:p>
            <a:r>
              <a:t>4. Payment methods not all integrated: Not every mode of payment is in the system; most output reports are manual. (BRD-5 p.45, B b, f)</a:t>
            </a:r>
          </a:p>
          <a:p>
            <a:r>
              <a:t>5. Unbalanced entries not prevented: Some accounting entries are keyed by hand. (BRD-5 p.44, A d-e)</a:t>
            </a:r>
          </a:p>
          <a:p>
            <a:r>
              <a:t>6. Corrections by another unit: Correction and reversal entries are processed manually and posted by a separate unit. (BRD-5 p.45, C b-c)</a:t>
            </a:r>
          </a:p>
          <a:p>
            <a:r>
              <a:t>7. Cancellations get a new invoice number: Related transactions cannot be followed under one number; reports lack source references. (BRD-5 p.45, C d-e)</a:t>
            </a:r>
          </a:p>
          <a:p>
            <a:r>
              <a:t>8. IT needed for input and closing: Input reports and the closing of the broking books depend on IT support. (BRD-5 p.44, A a; p.45, C a)</a:t>
            </a:r>
          </a:p>
          <a:p>
            <a:r>
              <a:t>9. Reconciliation and reports by hand: Output reports are generated and reconciliations performed manually. (BRD-5 p.44, A b-c)</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refund and cash-advance requests are raised on the RRF / RFP with documents and approved in the workflow, then routed to Disbursement. Disbursement receives requests from the other modules, by upload or by encoding; BIBS creates the disbursement voucher with an editable proforma entry. The verifier and approvers decide in BIBS, and approval posts the entry to the GL and the sub-ledger, which refuses unbalanced entries. The payment runs in one of seven modes; statuses and CWT are tagged automatically and by bank files, and BIR 2307 is generated. ACSL uploads the insurer statements and reconciles them per invoice, and posts corrections through create, review, approve and post. Accounting reconciles the bank by check number and amount, closes the books on schedule and runs the reports on demand. The BDO Business Online Banking interface is parked (AQ09): approvals are confirmed manually or by file.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gives response times and yearly volumes; it states no turnaround targets. The measures are the controls BIBS adds.</a:t>
            </a:r>
          </a:p>
          <a:p>
            <a:r>
              <a:t>1. Marketing requests by e-mail and paper -&gt; RRF and RFP in BIBS with documents; Marketing (and HR) approval routes them to Disbursement Measure: No paper hand-over.</a:t>
            </a:r>
          </a:p>
          <a:p>
            <a:r>
              <a:t>2. Requests received by hand -&gt; Requests from other modules, uploads and encoding in one intake Measure: One request queue.</a:t>
            </a:r>
          </a:p>
          <a:p>
            <a:r>
              <a:t>3. Manual processing and CWT tagging -&gt; DV and proforma entry created by BIBS; approval in the workflow; payees for every mode Measure: Verifier plus two approvers.</a:t>
            </a:r>
          </a:p>
          <a:p>
            <a:r>
              <a:t>4. Payment methods not all integrated -&gt; Seven payment modes with instrument life cycles; end-of-day files and forms Measure: Statuses tagged by bank file.</a:t>
            </a:r>
          </a:p>
          <a:p>
            <a:r>
              <a:t>5. Unbalanced entries not prevented -&gt; Validator refuses unbalanced entries and flags negative balances; accruals reverse automatically Measure: Debit = credit enforced.</a:t>
            </a:r>
          </a:p>
          <a:p>
            <a:r>
              <a:t>6. Corrections by another unit -&gt; ACSL corrections post on approval to the sub-ledger and the invoice ledger Measure: Posting on approval.</a:t>
            </a:r>
          </a:p>
          <a:p>
            <a:r>
              <a:t>7. Cancellations get a new invoice number -&gt; Every related transaction carries one root invoice number; source references in reports Measure: One invoice family.</a:t>
            </a:r>
          </a:p>
          <a:p>
            <a:r>
              <a:t>8. IT needed for input and closing -&gt; Users run input reports; broking books close by a scheduled job Measure: No IT request.</a:t>
            </a:r>
          </a:p>
          <a:p>
            <a:r>
              <a:t>9. Reconciliation and reports by hand -&gt; Bank file matched on check number and amount; reports on demand Measure: Reports 10-20 s (p.133-137).</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invoice-number question (DCR-058, AQ29) decides how ACSL links booking, adjustment and cancellation.</a:t>
            </a:r>
          </a:p>
          <a:p>
            <a:r>
              <a:t>DCR-058, AQ29 (High): One invoice number or a root number. Impact: BIR invoice uniqueness against one reference per policy. Owner: Comptrollership (ACSL). Decision: Accept a root invoice number linking related documents</a:t>
            </a:r>
          </a:p>
          <a:p>
            <a:r>
              <a:t>DCR-037, AQ24 (High): Incentive programmes (CPC2 and early incentive). Impact: Incentive income and service invoices. Owner: Comptrollership, MBS, Operations. Decision: Rates, base, payer, service invoice per programme</a:t>
            </a:r>
          </a:p>
          <a:p>
            <a:r>
              <a:t>DCR-157, AQ11 (High): Payee master and open items at go-live. Impact: Disbursement cannot start without payees. Owner: Comptrollership. Decision: Migration file, cut-off and reconciliation</a:t>
            </a:r>
          </a:p>
          <a:p>
            <a:r>
              <a:t>DCR-054, AQ04 (Medium): GL month-end closing rule. Impact: Close date, reopening, period controls. Owner: FRBS. Decision: 2nd banking day or a preferred date; can a month reopen?</a:t>
            </a:r>
          </a:p>
          <a:p>
            <a:r>
              <a:t>DCR-052, AQ18 (Medium): RRF and RFP mandatory fields. Impact: Marketing request screens and tests. Owner: Comptrollership, Marketing. Decision: Mandatory fields and approval chain per segment</a:t>
            </a:r>
          </a:p>
          <a:p>
            <a:r>
              <a:t>AQ09, AQ10 (Parked): BDO Business Online Banking and DCTF channel. Impact: Funding approvals confirmed by hand or file. Owner: BDO IT. Decision: Channel per payment mode; DCTF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Maker-checker and dual approval on payments [Supported by BIBS]. BIBS: DV verifier and approvers; account funding with a verifier and two approvers; maker cannot approve. BDOI: Confirm the approvers, their order and limits (AQ10, AQ28).</a:t>
            </a:r>
          </a:p>
          <a:p>
            <a:r>
              <a:t>Balanced posting and a closed period [Supported by BIBS]. BIBS: Unbalanced entries refused; posting only to open periods; scheduled close with a checklist. BDOI: Agree the close calendar and reopen rule (AQ04).</a:t>
            </a:r>
          </a:p>
          <a:p>
            <a:r>
              <a:t>Automated bank reconciliation [Partly in BIBS]. BIBS: Bank file import and matching on check number and amount. BDOI: Give the bank file layouts per bank (AQ08).</a:t>
            </a:r>
          </a:p>
          <a:p>
            <a:r>
              <a:t>Sub-ledger reconciled to the GL [Supported by BIBS]. BIBS: GL-SL reconciliation per GL code; insurer SOA reconciled per invoice. BDOI: Ask insurers to show the BDOI invoice number on their SOA (AQ21).</a:t>
            </a:r>
          </a:p>
          <a:p>
            <a:r>
              <a:t>BIR withholding and certificates from the system [Partly in BIBS]. BIBS: CWT tagging and BIR 2307 generated; BIR returns from the tax module. BDOI: Confirm the BIR forms and books still required (AQ07).</a:t>
            </a:r>
          </a:p>
          <a:p>
            <a:r>
              <a:t>One invoice family for audit [BDOI to adopt]. BIBS: Root invoice number carried by booking, ledger and every downstream document. BDOI: Accept the root-number model (DCR-058).</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repeats the three views the steering committee acts 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BIBS moves every theme to one workflow in one system or better. Integration is the theme that stays furthest from best practice, because the bank, insurer and directory interfaces are parked until their owners specify them.</a:t>
            </a:r>
          </a:p>
          <a:p>
            <a:r>
              <a:t>Automation: today 1, BIBS 4, best practice 5. Today most steps are manual (BRD-1 p.133, BRD-2 p.11, BRD-5 p.44). BIBS runs jobs, matching and straight-through steps with exception queues.</a:t>
            </a:r>
          </a:p>
          <a:p>
            <a:r>
              <a:t>Controls: today 2, BIBS 4, best practice 5. Approvals run by e-mail and paper (BRD-5 p.45, BRD-10 p.6). BIBS enforces maker-checker, four-eyes and approval matrices.</a:t>
            </a:r>
          </a:p>
          <a:p>
            <a:r>
              <a:t>Data: today 1, BIBS 4, best practice 5. Separate masterlists and re-keying (BRD-12 p.4, BRD-1 p.133). BIBS has one client, one ARN and one invoice ledger.</a:t>
            </a:r>
          </a:p>
          <a:p>
            <a:r>
              <a:t>Integration: today 2, BIBS 3, best practice 5. Files and e-mail with banks and insurers. BIBS adds uploads and seams; APIs are parked.</a:t>
            </a:r>
          </a:p>
          <a:p>
            <a:r>
              <a:t>Customer service: today 2, BIBS 4, best practice 5. The Front-End shows full details for CBG accounts only (BRD-9 p.4). BIBS shows every account, with resends.</a:t>
            </a:r>
          </a:p>
          <a:p>
            <a:r>
              <a:t>Compliance: today 1, BIBS 4, best practice 5. Name matching by hand, no EDD for PEPs (BRD-10 p.6-7). BIBS screens on every trigger and routes cases.</a:t>
            </a:r>
          </a:p>
          <a:p>
            <a:r>
              <a:t>Reporting: today 1, BIBS 4, best practice 5. Reports depend on IT (BRD-2 p.11, BRD-5 p.44). BIBS users run reports and exports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eight decisions as in the holistic chapter; each unblocks more than one area.</a:t>
            </a:r>
          </a:p>
          <a:p>
            <a:r>
              <a:t>DCR-143 (High): Directory sign-in (EUA) for every user. Impact: Identity source for all BIBS users. Owner: UAM owner with BDO ITIO. Decision: Provide the EUA interface; are contact centre agents in the directory?</a:t>
            </a:r>
          </a:p>
          <a:p>
            <a:r>
              <a:t>DCR-121 (High): BIBS-wide user access matrix. Impact: Roles and persona tests of every module. Owner: Product Owner, all BRD owners. Decision: Approve one matrix for all modules</a:t>
            </a:r>
          </a:p>
          <a:p>
            <a:r>
              <a:t>DCR-129, 146 (High): Renewal of submitted policies; one LAMD intake. Impact: Two renewal paths; two loan-status feeds. Owner: Renewal and Submitted Policies owners. Decision: Confirm the hand-off boundary and one LAMD report</a:t>
            </a:r>
          </a:p>
          <a:p>
            <a:r>
              <a:t>DCR-037 (High): Incentive programmes in four BRDs. Impact: Incentive income computed twice or not at all. Owner: Comptrollership, MBS, Operations. Decision: List the programmes with rate, base, payer</a:t>
            </a:r>
          </a:p>
          <a:p>
            <a:r>
              <a:t>DCR-112 (High): Sanctions match: block or warn. Impact: Business with a possible sanctioned party. Owner: Chief Compliance Officer. Decision: Block or warn on quotation, placement, booking, renewal</a:t>
            </a:r>
          </a:p>
          <a:p>
            <a:r>
              <a:t>DCR-133, 135, 138 (High): One service window, RPO / RTO, maintenance slot. Impact: Backup, DR and batch design of the platform. Owner: BDO IT with the BRD owners. Decision: Agree one BIBS-wide NFR set</a:t>
            </a:r>
          </a:p>
          <a:p>
            <a:r>
              <a:t>DCR-136 (High): Retention per record type. Impact: Legal record keeping; archive design. Owner: Compliance, Comptrollership. Decision: One schedule; archive or purge at the end</a:t>
            </a:r>
          </a:p>
          <a:p>
            <a:r>
              <a:t>DCR-157 (High): Go-live data migration scope. Impact: Open items and history at cut-over. Owner: All BRD owners. Decision: What is migrated from EBIX, ISYS, QPS, Excel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on 25 September 2026. The build order of the designed areas follows the cross-BRD decisions (section 6.2): User Access with Sanction Screening first, then Claims, Employee Benefits, Customer Servicing, Renewal and Submitted Policies, with the Renewal hand-off and the CSF integration last. The decisions below move the gaps of several areas at once.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refreshed in phase B (after the end-to-end build) from the running platform. Comments go to the document review and sign-off tracker (deliverable 32).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BIBS Business Process Deck</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Business processes: As-Is, Envisioned in BIBS, Gaps and Best Practice</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1.0 | 25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Agenda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Rounded Rectangle 8"/>
          <p:cNvSpPr/>
          <p:nvPr/>
        </p:nvSpPr>
        <p:spPr>
          <a:xfrm>
            <a:off x="548640" y="1280160"/>
            <a:ext cx="2650159" cy="1078992"/>
          </a:xfrm>
          <a:prstGeom prst="roundRect">
            <a:avLst>
              <a:gd name="adj" fmla="val 8000"/>
            </a:avLst>
          </a:prstGeom>
          <a:solidFill>
            <a:srgbClr val="004EA8"/>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35024"/>
            <a:ext cx="548640" cy="457200"/>
          </a:xfrm>
          <a:prstGeom prst="rect">
            <a:avLst/>
          </a:prstGeom>
          <a:noFill/>
        </p:spPr>
        <p:txBody>
          <a:bodyPr wrap="square" anchor="t" lIns="45720" rIns="45720">
            <a:spAutoFit/>
          </a:bodyPr>
          <a:lstStyle/>
          <a:p>
            <a:r>
              <a:rPr sz="2200" b="1" i="0">
                <a:solidFill>
                  <a:srgbClr val="FDB913"/>
                </a:solidFill>
                <a:latin typeface="Arial"/>
              </a:rPr>
              <a:t>0</a:t>
            </a:r>
          </a:p>
        </p:txBody>
      </p:sp>
      <p:sp>
        <p:nvSpPr>
          <p:cNvPr id="11" name="TextBox 10"/>
          <p:cNvSpPr txBox="1"/>
          <p:nvPr/>
        </p:nvSpPr>
        <p:spPr>
          <a:xfrm>
            <a:off x="1115568" y="1353312"/>
            <a:ext cx="2010079" cy="685800"/>
          </a:xfrm>
          <a:prstGeom prst="rect">
            <a:avLst/>
          </a:prstGeom>
          <a:noFill/>
        </p:spPr>
        <p:txBody>
          <a:bodyPr wrap="square" anchor="t" lIns="45720" rIns="45720" tIns="18288" bIns="18288">
            <a:spAutoFit/>
          </a:bodyPr>
          <a:lstStyle/>
          <a:p>
            <a:pPr>
              <a:spcAft>
                <a:spcPts val="400"/>
              </a:spcAft>
            </a:pPr>
            <a:r>
              <a:rPr sz="1400" b="1">
                <a:solidFill>
                  <a:srgbClr val="FFFFFF"/>
                </a:solidFill>
                <a:latin typeface="Arial"/>
              </a:rPr>
              <a:t>Holistic view: the enterprise today, in BIBS and at best practice</a:t>
            </a:r>
          </a:p>
        </p:txBody>
      </p:sp>
      <p:sp>
        <p:nvSpPr>
          <p:cNvPr id="12" name="Rounded Rectangle 11"/>
          <p:cNvSpPr/>
          <p:nvPr/>
        </p:nvSpPr>
        <p:spPr>
          <a:xfrm>
            <a:off x="3363391"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54831" y="1335024"/>
            <a:ext cx="548640" cy="457200"/>
          </a:xfrm>
          <a:prstGeom prst="rect">
            <a:avLst/>
          </a:prstGeom>
          <a:noFill/>
        </p:spPr>
        <p:txBody>
          <a:bodyPr wrap="square" anchor="t" lIns="45720" rIns="45720">
            <a:spAutoFit/>
          </a:bodyPr>
          <a:lstStyle/>
          <a:p>
            <a:r>
              <a:rPr sz="2200" b="1" i="0">
                <a:solidFill>
                  <a:srgbClr val="0072D8"/>
                </a:solidFill>
                <a:latin typeface="Arial"/>
              </a:rPr>
              <a:t>1</a:t>
            </a:r>
          </a:p>
        </p:txBody>
      </p:sp>
      <p:sp>
        <p:nvSpPr>
          <p:cNvPr id="14" name="TextBox 13"/>
          <p:cNvSpPr txBox="1"/>
          <p:nvPr/>
        </p:nvSpPr>
        <p:spPr>
          <a:xfrm>
            <a:off x="3930319"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New Business</a:t>
            </a:r>
          </a:p>
        </p:txBody>
      </p:sp>
      <p:sp>
        <p:nvSpPr>
          <p:cNvPr id="15" name="TextBox 14"/>
          <p:cNvSpPr txBox="1"/>
          <p:nvPr/>
        </p:nvSpPr>
        <p:spPr>
          <a:xfrm>
            <a:off x="3473119" y="1975104"/>
            <a:ext cx="1188720" cy="320040"/>
          </a:xfrm>
          <a:prstGeom prst="rect">
            <a:avLst/>
          </a:prstGeom>
          <a:noFill/>
        </p:spPr>
        <p:txBody>
          <a:bodyPr wrap="square" anchor="t" lIns="45720" rIns="45720">
            <a:spAutoFit/>
          </a:bodyPr>
          <a:lstStyle/>
          <a:p>
            <a:r>
              <a:rPr sz="1200" b="0" i="0">
                <a:solidFill>
                  <a:srgbClr val="656565"/>
                </a:solidFill>
                <a:latin typeface="Arial"/>
              </a:rPr>
              <a:t>BRD-1</a:t>
            </a:r>
          </a:p>
        </p:txBody>
      </p:sp>
      <p:sp>
        <p:nvSpPr>
          <p:cNvPr id="16" name="Rounded Rectangle 15"/>
          <p:cNvSpPr/>
          <p:nvPr/>
        </p:nvSpPr>
        <p:spPr>
          <a:xfrm>
            <a:off x="4715103" y="1975104"/>
            <a:ext cx="1188720" cy="292608"/>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Built</a:t>
            </a:r>
          </a:p>
        </p:txBody>
      </p:sp>
      <p:sp>
        <p:nvSpPr>
          <p:cNvPr id="17" name="Rounded Rectangle 16"/>
          <p:cNvSpPr/>
          <p:nvPr/>
        </p:nvSpPr>
        <p:spPr>
          <a:xfrm>
            <a:off x="6178143"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9583" y="1335024"/>
            <a:ext cx="548640" cy="457200"/>
          </a:xfrm>
          <a:prstGeom prst="rect">
            <a:avLst/>
          </a:prstGeom>
          <a:noFill/>
        </p:spPr>
        <p:txBody>
          <a:bodyPr wrap="square" anchor="t" lIns="45720" rIns="45720">
            <a:spAutoFit/>
          </a:bodyPr>
          <a:lstStyle/>
          <a:p>
            <a:r>
              <a:rPr sz="2200" b="1" i="0">
                <a:solidFill>
                  <a:srgbClr val="0072D8"/>
                </a:solidFill>
                <a:latin typeface="Arial"/>
              </a:rPr>
              <a:t>2</a:t>
            </a:r>
          </a:p>
        </p:txBody>
      </p:sp>
      <p:sp>
        <p:nvSpPr>
          <p:cNvPr id="19" name="TextBox 18"/>
          <p:cNvSpPr txBox="1"/>
          <p:nvPr/>
        </p:nvSpPr>
        <p:spPr>
          <a:xfrm>
            <a:off x="6745071"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Operations</a:t>
            </a:r>
          </a:p>
        </p:txBody>
      </p:sp>
      <p:sp>
        <p:nvSpPr>
          <p:cNvPr id="20" name="TextBox 19"/>
          <p:cNvSpPr txBox="1"/>
          <p:nvPr/>
        </p:nvSpPr>
        <p:spPr>
          <a:xfrm>
            <a:off x="6287871" y="1975104"/>
            <a:ext cx="1188720" cy="320040"/>
          </a:xfrm>
          <a:prstGeom prst="rect">
            <a:avLst/>
          </a:prstGeom>
          <a:noFill/>
        </p:spPr>
        <p:txBody>
          <a:bodyPr wrap="square" anchor="t" lIns="45720" rIns="45720">
            <a:spAutoFit/>
          </a:bodyPr>
          <a:lstStyle/>
          <a:p>
            <a:r>
              <a:rPr sz="1200" b="0" i="0">
                <a:solidFill>
                  <a:srgbClr val="656565"/>
                </a:solidFill>
                <a:latin typeface="Arial"/>
              </a:rPr>
              <a:t>BRD-2</a:t>
            </a:r>
          </a:p>
        </p:txBody>
      </p:sp>
      <p:sp>
        <p:nvSpPr>
          <p:cNvPr id="21" name="Rounded Rectangle 20"/>
          <p:cNvSpPr/>
          <p:nvPr/>
        </p:nvSpPr>
        <p:spPr>
          <a:xfrm>
            <a:off x="7529855" y="1975104"/>
            <a:ext cx="1188720" cy="292608"/>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Built</a:t>
            </a:r>
          </a:p>
        </p:txBody>
      </p:sp>
      <p:sp>
        <p:nvSpPr>
          <p:cNvPr id="22" name="Rounded Rectangle 21"/>
          <p:cNvSpPr/>
          <p:nvPr/>
        </p:nvSpPr>
        <p:spPr>
          <a:xfrm>
            <a:off x="8992895"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84335" y="1335024"/>
            <a:ext cx="548640" cy="457200"/>
          </a:xfrm>
          <a:prstGeom prst="rect">
            <a:avLst/>
          </a:prstGeom>
          <a:noFill/>
        </p:spPr>
        <p:txBody>
          <a:bodyPr wrap="square" anchor="t" lIns="45720" rIns="45720">
            <a:spAutoFit/>
          </a:bodyPr>
          <a:lstStyle/>
          <a:p>
            <a:r>
              <a:rPr sz="2200" b="1" i="0">
                <a:solidFill>
                  <a:srgbClr val="0072D8"/>
                </a:solidFill>
                <a:latin typeface="Arial"/>
              </a:rPr>
              <a:t>3</a:t>
            </a:r>
          </a:p>
        </p:txBody>
      </p:sp>
      <p:sp>
        <p:nvSpPr>
          <p:cNvPr id="24" name="TextBox 23"/>
          <p:cNvSpPr txBox="1"/>
          <p:nvPr/>
        </p:nvSpPr>
        <p:spPr>
          <a:xfrm>
            <a:off x="9559823"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Product Maintenance</a:t>
            </a:r>
          </a:p>
        </p:txBody>
      </p:sp>
      <p:sp>
        <p:nvSpPr>
          <p:cNvPr id="25" name="TextBox 24"/>
          <p:cNvSpPr txBox="1"/>
          <p:nvPr/>
        </p:nvSpPr>
        <p:spPr>
          <a:xfrm>
            <a:off x="9102623" y="1975104"/>
            <a:ext cx="1188720" cy="320040"/>
          </a:xfrm>
          <a:prstGeom prst="rect">
            <a:avLst/>
          </a:prstGeom>
          <a:noFill/>
        </p:spPr>
        <p:txBody>
          <a:bodyPr wrap="square" anchor="t" lIns="45720" rIns="45720">
            <a:spAutoFit/>
          </a:bodyPr>
          <a:lstStyle/>
          <a:p>
            <a:r>
              <a:rPr sz="1200" b="0" i="0">
                <a:solidFill>
                  <a:srgbClr val="656565"/>
                </a:solidFill>
                <a:latin typeface="Arial"/>
              </a:rPr>
              <a:t>BRD-3</a:t>
            </a:r>
          </a:p>
        </p:txBody>
      </p:sp>
      <p:sp>
        <p:nvSpPr>
          <p:cNvPr id="26" name="Rounded Rectangle 25"/>
          <p:cNvSpPr/>
          <p:nvPr/>
        </p:nvSpPr>
        <p:spPr>
          <a:xfrm>
            <a:off x="10344607" y="1975104"/>
            <a:ext cx="1188720" cy="292608"/>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Built</a:t>
            </a:r>
          </a:p>
        </p:txBody>
      </p:sp>
      <p:sp>
        <p:nvSpPr>
          <p:cNvPr id="27" name="Rounded Rectangle 26"/>
          <p:cNvSpPr/>
          <p:nvPr/>
        </p:nvSpPr>
        <p:spPr>
          <a:xfrm>
            <a:off x="548640"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2578608"/>
            <a:ext cx="548640" cy="457200"/>
          </a:xfrm>
          <a:prstGeom prst="rect">
            <a:avLst/>
          </a:prstGeom>
          <a:noFill/>
        </p:spPr>
        <p:txBody>
          <a:bodyPr wrap="square" anchor="t" lIns="45720" rIns="45720">
            <a:spAutoFit/>
          </a:bodyPr>
          <a:lstStyle/>
          <a:p>
            <a:r>
              <a:rPr sz="2200" b="1" i="0">
                <a:solidFill>
                  <a:srgbClr val="0072D8"/>
                </a:solidFill>
                <a:latin typeface="Arial"/>
              </a:rPr>
              <a:t>4</a:t>
            </a:r>
          </a:p>
        </p:txBody>
      </p:sp>
      <p:sp>
        <p:nvSpPr>
          <p:cNvPr id="29" name="TextBox 28"/>
          <p:cNvSpPr txBox="1"/>
          <p:nvPr/>
        </p:nvSpPr>
        <p:spPr>
          <a:xfrm>
            <a:off x="1115568"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Collections</a:t>
            </a:r>
          </a:p>
        </p:txBody>
      </p:sp>
      <p:sp>
        <p:nvSpPr>
          <p:cNvPr id="30" name="TextBox 29"/>
          <p:cNvSpPr txBox="1"/>
          <p:nvPr/>
        </p:nvSpPr>
        <p:spPr>
          <a:xfrm>
            <a:off x="658368" y="3218688"/>
            <a:ext cx="1188720" cy="320040"/>
          </a:xfrm>
          <a:prstGeom prst="rect">
            <a:avLst/>
          </a:prstGeom>
          <a:noFill/>
        </p:spPr>
        <p:txBody>
          <a:bodyPr wrap="square" anchor="t" lIns="45720" rIns="45720">
            <a:spAutoFit/>
          </a:bodyPr>
          <a:lstStyle/>
          <a:p>
            <a:r>
              <a:rPr sz="1200" b="0" i="0">
                <a:solidFill>
                  <a:srgbClr val="656565"/>
                </a:solidFill>
                <a:latin typeface="Arial"/>
              </a:rPr>
              <a:t>BRD-4</a:t>
            </a:r>
          </a:p>
        </p:txBody>
      </p:sp>
      <p:sp>
        <p:nvSpPr>
          <p:cNvPr id="31" name="Rounded Rectangle 30"/>
          <p:cNvSpPr/>
          <p:nvPr/>
        </p:nvSpPr>
        <p:spPr>
          <a:xfrm>
            <a:off x="1900351" y="3218688"/>
            <a:ext cx="1188720" cy="292608"/>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In build</a:t>
            </a:r>
          </a:p>
        </p:txBody>
      </p:sp>
      <p:sp>
        <p:nvSpPr>
          <p:cNvPr id="32" name="Rounded Rectangle 31"/>
          <p:cNvSpPr/>
          <p:nvPr/>
        </p:nvSpPr>
        <p:spPr>
          <a:xfrm>
            <a:off x="3363391"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54831" y="2578608"/>
            <a:ext cx="548640" cy="457200"/>
          </a:xfrm>
          <a:prstGeom prst="rect">
            <a:avLst/>
          </a:prstGeom>
          <a:noFill/>
        </p:spPr>
        <p:txBody>
          <a:bodyPr wrap="square" anchor="t" lIns="45720" rIns="45720">
            <a:spAutoFit/>
          </a:bodyPr>
          <a:lstStyle/>
          <a:p>
            <a:r>
              <a:rPr sz="2200" b="1" i="0">
                <a:solidFill>
                  <a:srgbClr val="0072D8"/>
                </a:solidFill>
                <a:latin typeface="Arial"/>
              </a:rPr>
              <a:t>5</a:t>
            </a:r>
          </a:p>
        </p:txBody>
      </p:sp>
      <p:sp>
        <p:nvSpPr>
          <p:cNvPr id="34" name="TextBox 33"/>
          <p:cNvSpPr txBox="1"/>
          <p:nvPr/>
        </p:nvSpPr>
        <p:spPr>
          <a:xfrm>
            <a:off x="3930319"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Accounting and Disbursement</a:t>
            </a:r>
          </a:p>
        </p:txBody>
      </p:sp>
      <p:sp>
        <p:nvSpPr>
          <p:cNvPr id="35" name="TextBox 34"/>
          <p:cNvSpPr txBox="1"/>
          <p:nvPr/>
        </p:nvSpPr>
        <p:spPr>
          <a:xfrm>
            <a:off x="3473119" y="3218688"/>
            <a:ext cx="1188720" cy="320040"/>
          </a:xfrm>
          <a:prstGeom prst="rect">
            <a:avLst/>
          </a:prstGeom>
          <a:noFill/>
        </p:spPr>
        <p:txBody>
          <a:bodyPr wrap="square" anchor="t" lIns="45720" rIns="45720">
            <a:spAutoFit/>
          </a:bodyPr>
          <a:lstStyle/>
          <a:p>
            <a:r>
              <a:rPr sz="1200" b="0" i="0">
                <a:solidFill>
                  <a:srgbClr val="656565"/>
                </a:solidFill>
                <a:latin typeface="Arial"/>
              </a:rPr>
              <a:t>BRD-5</a:t>
            </a:r>
          </a:p>
        </p:txBody>
      </p:sp>
      <p:sp>
        <p:nvSpPr>
          <p:cNvPr id="36" name="Rounded Rectangle 35"/>
          <p:cNvSpPr/>
          <p:nvPr/>
        </p:nvSpPr>
        <p:spPr>
          <a:xfrm>
            <a:off x="4715103" y="3218688"/>
            <a:ext cx="1188720" cy="292608"/>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In build</a:t>
            </a:r>
          </a:p>
        </p:txBody>
      </p:sp>
      <p:sp>
        <p:nvSpPr>
          <p:cNvPr id="37" name="Rounded Rectangle 36"/>
          <p:cNvSpPr/>
          <p:nvPr/>
        </p:nvSpPr>
        <p:spPr>
          <a:xfrm>
            <a:off x="6178143" y="2523744"/>
            <a:ext cx="2650159" cy="1078992"/>
          </a:xfrm>
          <a:prstGeom prst="roundRect">
            <a:avLst>
              <a:gd name="adj" fmla="val 8000"/>
            </a:avLst>
          </a:prstGeom>
          <a:solidFill>
            <a:srgbClr val="004EA8"/>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69583" y="2578608"/>
            <a:ext cx="548640" cy="457200"/>
          </a:xfrm>
          <a:prstGeom prst="rect">
            <a:avLst/>
          </a:prstGeom>
          <a:noFill/>
        </p:spPr>
        <p:txBody>
          <a:bodyPr wrap="square" anchor="t" lIns="45720" rIns="45720">
            <a:spAutoFit/>
          </a:bodyPr>
          <a:lstStyle/>
          <a:p>
            <a:r>
              <a:rPr sz="2200" b="1" i="0">
                <a:solidFill>
                  <a:srgbClr val="FDB913"/>
                </a:solidFill>
                <a:latin typeface="Arial"/>
              </a:rPr>
              <a:t>6</a:t>
            </a:r>
          </a:p>
        </p:txBody>
      </p:sp>
      <p:sp>
        <p:nvSpPr>
          <p:cNvPr id="39" name="TextBox 38"/>
          <p:cNvSpPr txBox="1"/>
          <p:nvPr/>
        </p:nvSpPr>
        <p:spPr>
          <a:xfrm>
            <a:off x="6745071" y="2596896"/>
            <a:ext cx="2010079" cy="685800"/>
          </a:xfrm>
          <a:prstGeom prst="rect">
            <a:avLst/>
          </a:prstGeom>
          <a:noFill/>
        </p:spPr>
        <p:txBody>
          <a:bodyPr wrap="square" anchor="t" lIns="45720" rIns="45720" tIns="18288" bIns="18288">
            <a:spAutoFit/>
          </a:bodyPr>
          <a:lstStyle/>
          <a:p>
            <a:pPr>
              <a:spcAft>
                <a:spcPts val="400"/>
              </a:spcAft>
            </a:pPr>
            <a:r>
              <a:rPr sz="1400" b="1">
                <a:solidFill>
                  <a:srgbClr val="FFFFFF"/>
                </a:solidFill>
                <a:latin typeface="Arial"/>
              </a:rPr>
              <a:t>Summary: maturity, decisions and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read the process slides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Each business area has seven slides: at a glance, As-Is swimlane, pain points, envisioned swimlane, before and after, gaps, best practice</a:t>
            </a:r>
          </a:p>
          <a:p>
            <a:pPr>
              <a:spcAft>
                <a:spcPts val="600"/>
              </a:spcAft>
            </a:pPr>
            <a:r>
              <a:rPr sz="1600">
                <a:solidFill>
                  <a:srgbClr val="004EA8"/>
                </a:solidFill>
                <a:latin typeface="Arial"/>
              </a:rPr>
              <a:t>•  </a:t>
            </a:r>
            <a:r>
              <a:rPr sz="1600">
                <a:solidFill>
                  <a:srgbClr val="4B4B4B"/>
                </a:solidFill>
                <a:latin typeface="Arial"/>
              </a:rPr>
              <a:t>Lanes are BDOI roles (Header Blue), external parties (grey) and today's systems (light blue)</a:t>
            </a:r>
          </a:p>
          <a:p>
            <a:pPr>
              <a:spcAft>
                <a:spcPts val="600"/>
              </a:spcAft>
            </a:pPr>
            <a:r>
              <a:rPr sz="1600">
                <a:solidFill>
                  <a:srgbClr val="004EA8"/>
                </a:solidFill>
                <a:latin typeface="Arial"/>
              </a:rPr>
              <a:t>•  </a:t>
            </a:r>
            <a:r>
              <a:rPr sz="1600">
                <a:solidFill>
                  <a:srgbClr val="4B4B4B"/>
                </a:solidFill>
                <a:latin typeface="Arial"/>
              </a:rPr>
              <a:t>Yellow numbered circles mark pain points: manual steps, re-keying, hand-offs, weak controls</a:t>
            </a:r>
          </a:p>
          <a:p>
            <a:pPr>
              <a:spcAft>
                <a:spcPts val="600"/>
              </a:spcAft>
            </a:pPr>
            <a:r>
              <a:rPr sz="1600">
                <a:solidFill>
                  <a:srgbClr val="004EA8"/>
                </a:solidFill>
                <a:latin typeface="Arial"/>
              </a:rPr>
              <a:t>•  </a:t>
            </a:r>
            <a:r>
              <a:rPr sz="1600">
                <a:solidFill>
                  <a:srgbClr val="4B4B4B"/>
                </a:solidFill>
                <a:latin typeface="Arial"/>
              </a:rPr>
              <a:t>On the envisioned diagram, solid blue boxes are what BIBS does automatically</a:t>
            </a:r>
          </a:p>
          <a:p>
            <a:pPr>
              <a:spcAft>
                <a:spcPts val="600"/>
              </a:spcAft>
            </a:pPr>
            <a:r>
              <a:rPr sz="1600">
                <a:solidFill>
                  <a:srgbClr val="004EA8"/>
                </a:solidFill>
                <a:latin typeface="Arial"/>
              </a:rPr>
              <a:t>•  </a:t>
            </a:r>
            <a:r>
              <a:rPr sz="1600">
                <a:solidFill>
                  <a:srgbClr val="4B4B4B"/>
                </a:solidFill>
                <a:latin typeface="Arial"/>
              </a:rPr>
              <a:t>Dashed lines are e-mail or file hand-offs, or interfaces that are parked until BDO or the insurers provide them</a:t>
            </a:r>
          </a:p>
          <a:p>
            <a:pPr>
              <a:spcAft>
                <a:spcPts val="600"/>
              </a:spcAft>
            </a:pPr>
            <a:r>
              <a:rPr sz="1600">
                <a:solidFill>
                  <a:srgbClr val="004EA8"/>
                </a:solidFill>
                <a:latin typeface="Arial"/>
              </a:rPr>
              <a:t>•  </a:t>
            </a:r>
            <a:r>
              <a:rPr sz="1600">
                <a:solidFill>
                  <a:srgbClr val="4B4B4B"/>
                </a:solidFill>
                <a:latin typeface="Arial"/>
              </a:rPr>
              <a:t>References: BRD PDF page, BRD requirement ID, FRS section, register item (DCR-nnn), open question (Qnn)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0. Holistic view</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enterprise today, in BIBS and at best practice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Today: twelve areas, seven systems and channels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pic>
        <p:nvPicPr>
          <p:cNvPr id="9" name="Picture 8" descr="holistic_asis_map.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Each line is a system or channel an area depends on today (current-process sections of the 12 BRDs)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Envisioned: BIBS as one platform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pic>
        <p:nvPicPr>
          <p:cNvPr id="9" name="Picture 8" descr="holistic_envisioned_map.png"/>
          <p:cNvPicPr>
            <a:picLocks noChangeAspect="1"/>
          </p:cNvPicPr>
          <p:nvPr/>
        </p:nvPicPr>
        <p:blipFill>
          <a:blip r:embed="rId3"/>
          <a:stretch>
            <a:fillRect/>
          </a:stretch>
        </p:blipFill>
        <p:spPr>
          <a:xfrm>
            <a:off x="590947" y="1243584"/>
            <a:ext cx="1100980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Module map by navigation group (* designed, not yet built); shared services; external parties; hosting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End-to-end value chain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pic>
        <p:nvPicPr>
          <p:cNvPr id="9" name="Picture 8" descr="holistic_value_chain.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From client to claims: the stage, the BDOI owner and the BIBS module (status in brackets)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Best-practice target 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2679192"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97480"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1  </a:t>
            </a:r>
            <a:r>
              <a:rPr sz="1100" b="0">
                <a:solidFill>
                  <a:srgbClr val="2E2E2E"/>
                </a:solidFill>
                <a:latin typeface="Arial"/>
              </a:rPr>
              <a:t>Manual: paper, e-mail</a:t>
            </a:r>
          </a:p>
        </p:txBody>
      </p:sp>
      <p:sp>
        <p:nvSpPr>
          <p:cNvPr id="11" name="Rectangle 10"/>
          <p:cNvSpPr/>
          <p:nvPr/>
        </p:nvSpPr>
        <p:spPr>
          <a:xfrm>
            <a:off x="4477451"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5739"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2  </a:t>
            </a:r>
            <a:r>
              <a:rPr sz="1100" b="0">
                <a:solidFill>
                  <a:srgbClr val="2E2E2E"/>
                </a:solidFill>
                <a:latin typeface="Arial"/>
              </a:rPr>
              <a:t>Tool-assisted: spreadsheets, separate systems</a:t>
            </a:r>
          </a:p>
        </p:txBody>
      </p:sp>
      <p:sp>
        <p:nvSpPr>
          <p:cNvPr id="13" name="Rectangle 12"/>
          <p:cNvSpPr/>
          <p:nvPr/>
        </p:nvSpPr>
        <p:spPr>
          <a:xfrm>
            <a:off x="6275710"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3998"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3  </a:t>
            </a:r>
            <a:r>
              <a:rPr sz="1100" b="0">
                <a:solidFill>
                  <a:srgbClr val="2E2E2E"/>
                </a:solidFill>
                <a:latin typeface="Arial"/>
              </a:rPr>
              <a:t>One workflow in one system</a:t>
            </a:r>
          </a:p>
        </p:txBody>
      </p:sp>
      <p:sp>
        <p:nvSpPr>
          <p:cNvPr id="15" name="Rectangle 14"/>
          <p:cNvSpPr/>
          <p:nvPr/>
        </p:nvSpPr>
        <p:spPr>
          <a:xfrm>
            <a:off x="8073969"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257"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4  </a:t>
            </a:r>
            <a:r>
              <a:rPr sz="1100" b="0">
                <a:solidFill>
                  <a:srgbClr val="2E2E2E"/>
                </a:solidFill>
                <a:latin typeface="Arial"/>
              </a:rPr>
              <a:t>Automated, with exception queues</a:t>
            </a:r>
          </a:p>
        </p:txBody>
      </p:sp>
      <p:sp>
        <p:nvSpPr>
          <p:cNvPr id="17" name="Rectangle 16"/>
          <p:cNvSpPr/>
          <p:nvPr/>
        </p:nvSpPr>
        <p:spPr>
          <a:xfrm>
            <a:off x="9872228"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90516"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5  </a:t>
            </a:r>
            <a:r>
              <a:rPr sz="1100" b="0">
                <a:solidFill>
                  <a:srgbClr val="2E2E2E"/>
                </a:solidFill>
                <a:latin typeface="Arial"/>
              </a:rPr>
              <a:t>Integrated and measured</a:t>
            </a:r>
          </a:p>
        </p:txBody>
      </p:sp>
      <p:sp>
        <p:nvSpPr>
          <p:cNvPr id="19" name="Rectangle 18"/>
          <p:cNvSpPr/>
          <p:nvPr/>
        </p:nvSpPr>
        <p:spPr>
          <a:xfrm>
            <a:off x="548640" y="1938528"/>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1938528"/>
            <a:ext cx="2103120" cy="483325"/>
          </a:xfrm>
          <a:prstGeom prst="rect">
            <a:avLst/>
          </a:prstGeom>
          <a:noFill/>
        </p:spPr>
        <p:txBody>
          <a:bodyPr wrap="square" anchor="ctr" lIns="45720" rIns="45720">
            <a:spAutoFit/>
          </a:bodyPr>
          <a:lstStyle/>
          <a:p>
            <a:r>
              <a:rPr sz="1300" b="1" i="0">
                <a:solidFill>
                  <a:srgbClr val="004EA8"/>
                </a:solidFill>
                <a:latin typeface="Arial"/>
              </a:rPr>
              <a:t>Automation</a:t>
            </a:r>
          </a:p>
        </p:txBody>
      </p:sp>
      <p:sp>
        <p:nvSpPr>
          <p:cNvPr id="21" name="Rectangle 20"/>
          <p:cNvSpPr/>
          <p:nvPr/>
        </p:nvSpPr>
        <p:spPr>
          <a:xfrm>
            <a:off x="3550889" y="2161140"/>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13729" y="2043030"/>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3" name="Oval 22"/>
          <p:cNvSpPr/>
          <p:nvPr/>
        </p:nvSpPr>
        <p:spPr>
          <a:xfrm>
            <a:off x="8808506" y="2043030"/>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4" name="Oval 23"/>
          <p:cNvSpPr/>
          <p:nvPr/>
        </p:nvSpPr>
        <p:spPr>
          <a:xfrm>
            <a:off x="10606765" y="2043030"/>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5" name="TextBox 24"/>
          <p:cNvSpPr txBox="1"/>
          <p:nvPr/>
        </p:nvSpPr>
        <p:spPr>
          <a:xfrm>
            <a:off x="594360" y="2421853"/>
            <a:ext cx="2103120" cy="483325"/>
          </a:xfrm>
          <a:prstGeom prst="rect">
            <a:avLst/>
          </a:prstGeom>
          <a:noFill/>
        </p:spPr>
        <p:txBody>
          <a:bodyPr wrap="square" anchor="ctr" lIns="45720" rIns="45720">
            <a:spAutoFit/>
          </a:bodyPr>
          <a:lstStyle/>
          <a:p>
            <a:r>
              <a:rPr sz="1300" b="1" i="0">
                <a:solidFill>
                  <a:srgbClr val="004EA8"/>
                </a:solidFill>
                <a:latin typeface="Arial"/>
              </a:rPr>
              <a:t>Controls</a:t>
            </a:r>
          </a:p>
        </p:txBody>
      </p:sp>
      <p:sp>
        <p:nvSpPr>
          <p:cNvPr id="26" name="Rectangle 25"/>
          <p:cNvSpPr/>
          <p:nvPr/>
        </p:nvSpPr>
        <p:spPr>
          <a:xfrm>
            <a:off x="5349148" y="2644466"/>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1988" y="2526356"/>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8" name="Oval 27"/>
          <p:cNvSpPr/>
          <p:nvPr/>
        </p:nvSpPr>
        <p:spPr>
          <a:xfrm>
            <a:off x="8808506" y="2526356"/>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9" name="Oval 28"/>
          <p:cNvSpPr/>
          <p:nvPr/>
        </p:nvSpPr>
        <p:spPr>
          <a:xfrm>
            <a:off x="10606765" y="2526356"/>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0" name="Rectangle 29"/>
          <p:cNvSpPr/>
          <p:nvPr/>
        </p:nvSpPr>
        <p:spPr>
          <a:xfrm>
            <a:off x="548640" y="2905179"/>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905179"/>
            <a:ext cx="2103120" cy="483325"/>
          </a:xfrm>
          <a:prstGeom prst="rect">
            <a:avLst/>
          </a:prstGeom>
          <a:noFill/>
        </p:spPr>
        <p:txBody>
          <a:bodyPr wrap="square" anchor="ctr" lIns="45720" rIns="45720">
            <a:spAutoFit/>
          </a:bodyPr>
          <a:lstStyle/>
          <a:p>
            <a:r>
              <a:rPr sz="1300" b="1" i="0">
                <a:solidFill>
                  <a:srgbClr val="004EA8"/>
                </a:solidFill>
                <a:latin typeface="Arial"/>
              </a:rPr>
              <a:t>Data</a:t>
            </a:r>
          </a:p>
        </p:txBody>
      </p:sp>
      <p:sp>
        <p:nvSpPr>
          <p:cNvPr id="32" name="Rectangle 31"/>
          <p:cNvSpPr/>
          <p:nvPr/>
        </p:nvSpPr>
        <p:spPr>
          <a:xfrm>
            <a:off x="3550889" y="3127792"/>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413729" y="3009682"/>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4" name="Oval 33"/>
          <p:cNvSpPr/>
          <p:nvPr/>
        </p:nvSpPr>
        <p:spPr>
          <a:xfrm>
            <a:off x="8808506" y="3009682"/>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5" name="Oval 34"/>
          <p:cNvSpPr/>
          <p:nvPr/>
        </p:nvSpPr>
        <p:spPr>
          <a:xfrm>
            <a:off x="10606765" y="3009682"/>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6" name="TextBox 35"/>
          <p:cNvSpPr txBox="1"/>
          <p:nvPr/>
        </p:nvSpPr>
        <p:spPr>
          <a:xfrm>
            <a:off x="594360" y="3388505"/>
            <a:ext cx="2103120" cy="483325"/>
          </a:xfrm>
          <a:prstGeom prst="rect">
            <a:avLst/>
          </a:prstGeom>
          <a:noFill/>
        </p:spPr>
        <p:txBody>
          <a:bodyPr wrap="square" anchor="ctr" lIns="45720" rIns="45720">
            <a:spAutoFit/>
          </a:bodyPr>
          <a:lstStyle/>
          <a:p>
            <a:r>
              <a:rPr sz="1300" b="1" i="0">
                <a:solidFill>
                  <a:srgbClr val="004EA8"/>
                </a:solidFill>
                <a:latin typeface="Arial"/>
              </a:rPr>
              <a:t>Integration</a:t>
            </a:r>
          </a:p>
        </p:txBody>
      </p:sp>
      <p:sp>
        <p:nvSpPr>
          <p:cNvPr id="37" name="Rectangle 36"/>
          <p:cNvSpPr/>
          <p:nvPr/>
        </p:nvSpPr>
        <p:spPr>
          <a:xfrm>
            <a:off x="5349148" y="3611118"/>
            <a:ext cx="1798259"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11988" y="3493008"/>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9" name="Oval 38"/>
          <p:cNvSpPr/>
          <p:nvPr/>
        </p:nvSpPr>
        <p:spPr>
          <a:xfrm>
            <a:off x="7010247" y="3493008"/>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0" name="Oval 39"/>
          <p:cNvSpPr/>
          <p:nvPr/>
        </p:nvSpPr>
        <p:spPr>
          <a:xfrm>
            <a:off x="10606765" y="3493008"/>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1" name="Rectangle 40"/>
          <p:cNvSpPr/>
          <p:nvPr/>
        </p:nvSpPr>
        <p:spPr>
          <a:xfrm>
            <a:off x="548640" y="3871830"/>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871830"/>
            <a:ext cx="2103120" cy="483325"/>
          </a:xfrm>
          <a:prstGeom prst="rect">
            <a:avLst/>
          </a:prstGeom>
          <a:noFill/>
        </p:spPr>
        <p:txBody>
          <a:bodyPr wrap="square" anchor="ctr" lIns="45720" rIns="45720">
            <a:spAutoFit/>
          </a:bodyPr>
          <a:lstStyle/>
          <a:p>
            <a:r>
              <a:rPr sz="1300" b="1" i="0">
                <a:solidFill>
                  <a:srgbClr val="004EA8"/>
                </a:solidFill>
                <a:latin typeface="Arial"/>
              </a:rPr>
              <a:t>Customer service</a:t>
            </a:r>
          </a:p>
        </p:txBody>
      </p:sp>
      <p:sp>
        <p:nvSpPr>
          <p:cNvPr id="43" name="Rectangle 42"/>
          <p:cNvSpPr/>
          <p:nvPr/>
        </p:nvSpPr>
        <p:spPr>
          <a:xfrm>
            <a:off x="5349148" y="4094443"/>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211988" y="3976333"/>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5" name="Oval 44"/>
          <p:cNvSpPr/>
          <p:nvPr/>
        </p:nvSpPr>
        <p:spPr>
          <a:xfrm>
            <a:off x="8808506" y="3976333"/>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6" name="Oval 45"/>
          <p:cNvSpPr/>
          <p:nvPr/>
        </p:nvSpPr>
        <p:spPr>
          <a:xfrm>
            <a:off x="10606765" y="3976333"/>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7" name="TextBox 46"/>
          <p:cNvSpPr txBox="1"/>
          <p:nvPr/>
        </p:nvSpPr>
        <p:spPr>
          <a:xfrm>
            <a:off x="594360" y="4355156"/>
            <a:ext cx="2103120" cy="483325"/>
          </a:xfrm>
          <a:prstGeom prst="rect">
            <a:avLst/>
          </a:prstGeom>
          <a:noFill/>
        </p:spPr>
        <p:txBody>
          <a:bodyPr wrap="square" anchor="ctr" lIns="45720" rIns="45720">
            <a:spAutoFit/>
          </a:bodyPr>
          <a:lstStyle/>
          <a:p>
            <a:r>
              <a:rPr sz="1300" b="1" i="0">
                <a:solidFill>
                  <a:srgbClr val="004EA8"/>
                </a:solidFill>
                <a:latin typeface="Arial"/>
              </a:rPr>
              <a:t>Compliance</a:t>
            </a:r>
          </a:p>
        </p:txBody>
      </p:sp>
      <p:sp>
        <p:nvSpPr>
          <p:cNvPr id="48" name="Rectangle 47"/>
          <p:cNvSpPr/>
          <p:nvPr/>
        </p:nvSpPr>
        <p:spPr>
          <a:xfrm>
            <a:off x="3550889" y="4577769"/>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413729" y="4459659"/>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0" name="Oval 49"/>
          <p:cNvSpPr/>
          <p:nvPr/>
        </p:nvSpPr>
        <p:spPr>
          <a:xfrm>
            <a:off x="8808506" y="4459659"/>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1" name="Oval 50"/>
          <p:cNvSpPr/>
          <p:nvPr/>
        </p:nvSpPr>
        <p:spPr>
          <a:xfrm>
            <a:off x="10606765" y="4459659"/>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2" name="Rectangle 51"/>
          <p:cNvSpPr/>
          <p:nvPr/>
        </p:nvSpPr>
        <p:spPr>
          <a:xfrm>
            <a:off x="548640" y="4838482"/>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838482"/>
            <a:ext cx="2103120" cy="483325"/>
          </a:xfrm>
          <a:prstGeom prst="rect">
            <a:avLst/>
          </a:prstGeom>
          <a:noFill/>
        </p:spPr>
        <p:txBody>
          <a:bodyPr wrap="square" anchor="ctr" lIns="45720" rIns="45720">
            <a:spAutoFit/>
          </a:bodyPr>
          <a:lstStyle/>
          <a:p>
            <a:r>
              <a:rPr sz="1300" b="1" i="0">
                <a:solidFill>
                  <a:srgbClr val="004EA8"/>
                </a:solidFill>
                <a:latin typeface="Arial"/>
              </a:rPr>
              <a:t>Reporting</a:t>
            </a:r>
          </a:p>
        </p:txBody>
      </p:sp>
      <p:sp>
        <p:nvSpPr>
          <p:cNvPr id="54" name="Rectangle 53"/>
          <p:cNvSpPr/>
          <p:nvPr/>
        </p:nvSpPr>
        <p:spPr>
          <a:xfrm>
            <a:off x="3550889" y="5061095"/>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413729" y="4942985"/>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6" name="Oval 55"/>
          <p:cNvSpPr/>
          <p:nvPr/>
        </p:nvSpPr>
        <p:spPr>
          <a:xfrm>
            <a:off x="8808506" y="4942985"/>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7" name="Oval 56"/>
          <p:cNvSpPr/>
          <p:nvPr/>
        </p:nvSpPr>
        <p:spPr>
          <a:xfrm>
            <a:off x="10606765" y="4942985"/>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8" name="Oval 57"/>
          <p:cNvSpPr/>
          <p:nvPr/>
        </p:nvSpPr>
        <p:spPr>
          <a:xfrm>
            <a:off x="548640" y="5431536"/>
            <a:ext cx="237744" cy="237744"/>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59" name="TextBox 58"/>
          <p:cNvSpPr txBox="1"/>
          <p:nvPr/>
        </p:nvSpPr>
        <p:spPr>
          <a:xfrm>
            <a:off x="822960" y="5404104"/>
            <a:ext cx="2011680" cy="292608"/>
          </a:xfrm>
          <a:prstGeom prst="rect">
            <a:avLst/>
          </a:prstGeom>
          <a:noFill/>
        </p:spPr>
        <p:txBody>
          <a:bodyPr wrap="square" anchor="t" lIns="45720" rIns="45720">
            <a:spAutoFit/>
          </a:bodyPr>
          <a:lstStyle/>
          <a:p>
            <a:r>
              <a:rPr sz="1200" b="0" i="0">
                <a:solidFill>
                  <a:srgbClr val="4B4B4B"/>
                </a:solidFill>
                <a:latin typeface="Arial"/>
              </a:rPr>
              <a:t>Today</a:t>
            </a:r>
          </a:p>
        </p:txBody>
      </p:sp>
      <p:sp>
        <p:nvSpPr>
          <p:cNvPr id="60" name="Oval 59"/>
          <p:cNvSpPr/>
          <p:nvPr/>
        </p:nvSpPr>
        <p:spPr>
          <a:xfrm>
            <a:off x="2651760" y="5431536"/>
            <a:ext cx="237744" cy="237744"/>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1" name="TextBox 60"/>
          <p:cNvSpPr txBox="1"/>
          <p:nvPr/>
        </p:nvSpPr>
        <p:spPr>
          <a:xfrm>
            <a:off x="2926080" y="5404104"/>
            <a:ext cx="2011680" cy="292608"/>
          </a:xfrm>
          <a:prstGeom prst="rect">
            <a:avLst/>
          </a:prstGeom>
          <a:noFill/>
        </p:spPr>
        <p:txBody>
          <a:bodyPr wrap="square" anchor="t" lIns="45720" rIns="45720">
            <a:spAutoFit/>
          </a:bodyPr>
          <a:lstStyle/>
          <a:p>
            <a:r>
              <a:rPr sz="1200" b="0" i="0">
                <a:solidFill>
                  <a:srgbClr val="4B4B4B"/>
                </a:solidFill>
                <a:latin typeface="Arial"/>
              </a:rPr>
              <a:t>BIBS envisioned</a:t>
            </a:r>
          </a:p>
        </p:txBody>
      </p:sp>
      <p:sp>
        <p:nvSpPr>
          <p:cNvPr id="62" name="Oval 61"/>
          <p:cNvSpPr/>
          <p:nvPr/>
        </p:nvSpPr>
        <p:spPr>
          <a:xfrm>
            <a:off x="4754880" y="5431536"/>
            <a:ext cx="237744" cy="23774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3" name="TextBox 62"/>
          <p:cNvSpPr txBox="1"/>
          <p:nvPr/>
        </p:nvSpPr>
        <p:spPr>
          <a:xfrm>
            <a:off x="5029200" y="5404104"/>
            <a:ext cx="2011680" cy="292608"/>
          </a:xfrm>
          <a:prstGeom prst="rect">
            <a:avLst/>
          </a:prstGeom>
          <a:noFill/>
        </p:spPr>
        <p:txBody>
          <a:bodyPr wrap="square" anchor="t" lIns="45720" rIns="45720">
            <a:spAutoFit/>
          </a:bodyPr>
          <a:lstStyle/>
          <a:p>
            <a:r>
              <a:rPr sz="1200" b="0" i="0">
                <a:solidFill>
                  <a:srgbClr val="4B4B4B"/>
                </a:solidFill>
                <a:latin typeface="Arial"/>
              </a:rPr>
              <a:t>Best practice</a:t>
            </a:r>
          </a:p>
        </p:txBody>
      </p:sp>
      <p:sp>
        <p:nvSpPr>
          <p:cNvPr id="64" name="TextBox 63"/>
          <p:cNvSpPr txBox="1"/>
          <p:nvPr/>
        </p:nvSpPr>
        <p:spPr>
          <a:xfrm>
            <a:off x="6949440" y="5385816"/>
            <a:ext cx="4693615" cy="457200"/>
          </a:xfrm>
          <a:prstGeom prst="rect">
            <a:avLst/>
          </a:prstGeom>
          <a:noFill/>
        </p:spPr>
        <p:txBody>
          <a:bodyPr wrap="square" anchor="t" lIns="45720" rIns="45720" tIns="18288" bIns="18288">
            <a:spAutoFit/>
          </a:bodyPr>
          <a:lstStyle/>
          <a:p>
            <a:pPr>
              <a:spcAft>
                <a:spcPts val="400"/>
              </a:spcAft>
            </a:pPr>
            <a:r>
              <a:rPr sz="1100" b="0">
                <a:solidFill>
                  <a:srgbClr val="656565"/>
                </a:solidFill>
                <a:latin typeface="Arial"/>
              </a:rPr>
              <a:t>Scale: project team assessment from the BRD current-process sections and the BIBS designs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Open items per area (discrepancy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280160"/>
          <a:ext cx="7498076" cy="2011680"/>
        </p:xfrm>
        <a:graphic>
          <a:graphicData uri="http://schemas.openxmlformats.org/drawingml/2006/table">
            <a:tbl>
              <a:tblPr firstRow="1" bandRow="1">
                <a:tableStyleId>{5C22544A-7EE6-4342-B048-85BDC9FD1C3A}</a:tableStyleId>
              </a:tblPr>
              <a:tblGrid>
                <a:gridCol w="2741233"/>
                <a:gridCol w="967494"/>
                <a:gridCol w="725620"/>
                <a:gridCol w="725620"/>
                <a:gridCol w="725620"/>
                <a:gridCol w="725620"/>
                <a:gridCol w="886869"/>
              </a:tblGrid>
              <a:tr h="365760">
                <a:tc>
                  <a:txBody>
                    <a:bodyPr wrap="square"/>
                    <a:lstStyle/>
                    <a:p>
                      <a:r>
                        <a:rPr sz="1200" b="1">
                          <a:solidFill>
                            <a:srgbClr val="FFFFFF"/>
                          </a:solidFill>
                          <a:latin typeface="Arial"/>
                        </a:rPr>
                        <a:t>Area</a:t>
                      </a:r>
                    </a:p>
                  </a:txBody>
                  <a:tcPr marL="64008" marR="64008" marT="27432" marB="27432" anchor="ctr">
                    <a:solidFill>
                      <a:srgbClr val="004EA8"/>
                    </a:solidFill>
                  </a:tcPr>
                </a:tc>
                <a:tc>
                  <a:txBody>
                    <a:bodyPr wrap="square"/>
                    <a:lstStyle/>
                    <a:p>
                      <a:r>
                        <a:rPr sz="1200" b="1">
                          <a:solidFill>
                            <a:srgbClr val="FFFFFF"/>
                          </a:solidFill>
                          <a:latin typeface="Arial"/>
                        </a:rPr>
                        <a:t>BRD</a:t>
                      </a:r>
                    </a:p>
                  </a:txBody>
                  <a:tcPr marL="64008" marR="64008" marT="27432" marB="27432" anchor="ctr">
                    <a:solidFill>
                      <a:srgbClr val="004EA8"/>
                    </a:solidFill>
                  </a:tcPr>
                </a:tc>
                <a:tc>
                  <a:txBody>
                    <a:bodyPr wrap="square"/>
                    <a:lstStyle/>
                    <a:p>
                      <a:r>
                        <a:rPr sz="1200" b="1">
                          <a:solidFill>
                            <a:srgbClr val="FFFFFF"/>
                          </a:solidFill>
                          <a:latin typeface="Arial"/>
                        </a:rPr>
                        <a:t>High</a:t>
                      </a:r>
                    </a:p>
                  </a:txBody>
                  <a:tcPr marL="64008" marR="64008" marT="27432" marB="27432" anchor="ctr">
                    <a:solidFill>
                      <a:srgbClr val="004EA8"/>
                    </a:solidFill>
                  </a:tcPr>
                </a:tc>
                <a:tc>
                  <a:txBody>
                    <a:bodyPr wrap="square"/>
                    <a:lstStyle/>
                    <a:p>
                      <a:r>
                        <a:rPr sz="1200" b="1">
                          <a:solidFill>
                            <a:srgbClr val="FFFFFF"/>
                          </a:solidFill>
                          <a:latin typeface="Arial"/>
                        </a:rPr>
                        <a:t>Medium</a:t>
                      </a:r>
                    </a:p>
                  </a:txBody>
                  <a:tcPr marL="64008" marR="64008" marT="27432" marB="27432" anchor="ctr">
                    <a:solidFill>
                      <a:srgbClr val="004EA8"/>
                    </a:solidFill>
                  </a:tcPr>
                </a:tc>
                <a:tc>
                  <a:txBody>
                    <a:bodyPr wrap="square"/>
                    <a:lstStyle/>
                    <a:p>
                      <a:r>
                        <a:rPr sz="1200" b="1">
                          <a:solidFill>
                            <a:srgbClr val="FFFFFF"/>
                          </a:solidFill>
                          <a:latin typeface="Arial"/>
                        </a:rPr>
                        <a:t>Low</a:t>
                      </a:r>
                    </a:p>
                  </a:txBody>
                  <a:tcPr marL="64008" marR="64008" marT="27432" marB="27432" anchor="ctr">
                    <a:solidFill>
                      <a:srgbClr val="004EA8"/>
                    </a:solidFill>
                  </a:tcPr>
                </a:tc>
                <a:tc>
                  <a:txBody>
                    <a:bodyPr wrap="square"/>
                    <a:lstStyle/>
                    <a:p>
                      <a:r>
                        <a:rPr sz="1200" b="1">
                          <a:solidFill>
                            <a:srgbClr val="FFFFFF"/>
                          </a:solidFill>
                          <a:latin typeface="Arial"/>
                        </a:rPr>
                        <a:t>Open</a:t>
                      </a:r>
                    </a:p>
                  </a:txBody>
                  <a:tcPr marL="64008" marR="64008" marT="27432" marB="27432" anchor="ctr">
                    <a:solidFill>
                      <a:srgbClr val="004EA8"/>
                    </a:solidFill>
                  </a:tcPr>
                </a:tc>
                <a:tc>
                  <a:txBody>
                    <a:bodyPr wrap="square"/>
                    <a:lstStyle/>
                    <a:p>
                      <a:r>
                        <a:rPr sz="1200" b="1">
                          <a:solidFill>
                            <a:srgbClr val="FFFFFF"/>
                          </a:solidFill>
                          <a:latin typeface="Arial"/>
                        </a:rPr>
                        <a:t>Answered</a:t>
                      </a:r>
                    </a:p>
                  </a:txBody>
                  <a:tcPr marL="64008" marR="64008" marT="27432" marB="27432" anchor="ctr">
                    <a:solidFill>
                      <a:srgbClr val="004EA8"/>
                    </a:solidFill>
                  </a:tcPr>
                </a:tc>
              </a:tr>
              <a:tr h="329184">
                <a:tc>
                  <a:txBody>
                    <a:bodyPr wrap="square"/>
                    <a:lstStyle/>
                    <a:p>
                      <a:r>
                        <a:rPr sz="1200" b="0">
                          <a:solidFill>
                            <a:srgbClr val="4B4B4B"/>
                          </a:solidFill>
                          <a:latin typeface="Arial"/>
                        </a:rPr>
                        <a:t>New Business</a:t>
                      </a:r>
                    </a:p>
                  </a:txBody>
                  <a:tcPr marL="64008" marR="64008" marT="27432" marB="27432" anchor="ctr">
                    <a:solidFill>
                      <a:srgbClr val="FFFFFF"/>
                    </a:solidFill>
                  </a:tcPr>
                </a:tc>
                <a:tc>
                  <a:txBody>
                    <a:bodyPr wrap="square"/>
                    <a:lstStyle/>
                    <a:p>
                      <a:r>
                        <a:rPr sz="1200" b="0">
                          <a:solidFill>
                            <a:srgbClr val="4B4B4B"/>
                          </a:solidFill>
                          <a:latin typeface="Arial"/>
                        </a:rPr>
                        <a:t>BRD-1</a:t>
                      </a:r>
                    </a:p>
                  </a:txBody>
                  <a:tcPr marL="64008" marR="64008" marT="27432" marB="27432" anchor="ctr">
                    <a:solidFill>
                      <a:srgbClr val="FFFFFF"/>
                    </a:solidFill>
                  </a:tcPr>
                </a:tc>
                <a:tc>
                  <a:txBody>
                    <a:bodyPr wrap="square"/>
                    <a:lstStyle/>
                    <a:p>
                      <a:pPr algn="ctr"/>
                      <a:r>
                        <a:rPr sz="1200" b="1">
                          <a:solidFill>
                            <a:srgbClr val="FFFFFF"/>
                          </a:solidFill>
                          <a:latin typeface="Arial"/>
                        </a:rPr>
                        <a:t>11</a:t>
                      </a:r>
                    </a:p>
                  </a:txBody>
                  <a:tcPr marL="64008" marR="64008" marT="27432" marB="27432" anchor="ctr">
                    <a:solidFill>
                      <a:srgbClr val="C62828"/>
                    </a:solidFill>
                  </a:tcPr>
                </a:tc>
                <a:tc>
                  <a:txBody>
                    <a:bodyPr wrap="square"/>
                    <a:lstStyle/>
                    <a:p>
                      <a:pPr algn="ctr"/>
                      <a:r>
                        <a:rPr sz="1200" b="1">
                          <a:solidFill>
                            <a:srgbClr val="8A5A00"/>
                          </a:solidFill>
                          <a:latin typeface="Arial"/>
                        </a:rPr>
                        <a:t>14</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26</a:t>
                      </a:r>
                    </a:p>
                  </a:txBody>
                  <a:tcPr marL="64008" marR="64008" marT="27432" marB="27432" anchor="ctr">
                    <a:solidFill>
                      <a:srgbClr val="FFFFFF"/>
                    </a:solidFill>
                  </a:tcPr>
                </a:tc>
                <a:tc>
                  <a:txBody>
                    <a:bodyPr wrap="square"/>
                    <a:lstStyle/>
                    <a:p>
                      <a:r>
                        <a:rPr sz="1200" b="0">
                          <a:solidFill>
                            <a:srgbClr val="4B4B4B"/>
                          </a:solidFill>
                          <a:latin typeface="Arial"/>
                        </a:rPr>
                        <a:t>2</a:t>
                      </a:r>
                    </a:p>
                  </a:txBody>
                  <a:tcPr marL="64008" marR="64008" marT="27432" marB="27432" anchor="ctr">
                    <a:solidFill>
                      <a:srgbClr val="FFFFFF"/>
                    </a:solidFill>
                  </a:tcPr>
                </a:tc>
              </a:tr>
              <a:tr h="329184">
                <a:tc>
                  <a:txBody>
                    <a:bodyPr wrap="square"/>
                    <a:lstStyle/>
                    <a:p>
                      <a:r>
                        <a:rPr sz="1200" b="0">
                          <a:solidFill>
                            <a:srgbClr val="4B4B4B"/>
                          </a:solidFill>
                          <a:latin typeface="Arial"/>
                        </a:rPr>
                        <a:t>Operations</a:t>
                      </a:r>
                    </a:p>
                  </a:txBody>
                  <a:tcPr marL="64008" marR="64008" marT="27432" marB="27432" anchor="ctr">
                    <a:solidFill>
                      <a:srgbClr val="E5F5FF"/>
                    </a:solidFill>
                  </a:tcPr>
                </a:tc>
                <a:tc>
                  <a:txBody>
                    <a:bodyPr wrap="square"/>
                    <a:lstStyle/>
                    <a:p>
                      <a:r>
                        <a:rPr sz="1200" b="0">
                          <a:solidFill>
                            <a:srgbClr val="4B4B4B"/>
                          </a:solidFill>
                          <a:latin typeface="Arial"/>
                        </a:rPr>
                        <a:t>BRD-2</a:t>
                      </a:r>
                    </a:p>
                  </a:txBody>
                  <a:tcPr marL="64008" marR="64008" marT="27432" marB="27432" anchor="ctr">
                    <a:solidFill>
                      <a:srgbClr val="E5F5FF"/>
                    </a:solidFill>
                  </a:tcPr>
                </a:tc>
                <a:tc>
                  <a:txBody>
                    <a:bodyPr wrap="square"/>
                    <a:lstStyle/>
                    <a:p>
                      <a:pPr algn="ctr"/>
                      <a:r>
                        <a:rPr sz="1200" b="1">
                          <a:solidFill>
                            <a:srgbClr val="FFFFFF"/>
                          </a:solidFill>
                          <a:latin typeface="Arial"/>
                        </a:rPr>
                        <a:t>10</a:t>
                      </a:r>
                    </a:p>
                  </a:txBody>
                  <a:tcPr marL="64008" marR="64008" marT="27432" marB="27432" anchor="ctr">
                    <a:solidFill>
                      <a:srgbClr val="C62828"/>
                    </a:solidFill>
                  </a:tcPr>
                </a:tc>
                <a:tc>
                  <a:txBody>
                    <a:bodyPr wrap="square"/>
                    <a:lstStyle/>
                    <a:p>
                      <a:pPr algn="ctr"/>
                      <a:r>
                        <a:rPr sz="1200" b="1">
                          <a:solidFill>
                            <a:srgbClr val="8A5A00"/>
                          </a:solidFill>
                          <a:latin typeface="Arial"/>
                        </a:rPr>
                        <a:t>15</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27</a:t>
                      </a:r>
                    </a:p>
                  </a:txBody>
                  <a:tcPr marL="64008" marR="64008" marT="27432" marB="27432" anchor="ctr">
                    <a:solidFill>
                      <a:srgbClr val="E5F5FF"/>
                    </a:solidFill>
                  </a:tcPr>
                </a:tc>
                <a:tc>
                  <a:txBody>
                    <a:bodyPr wrap="square"/>
                    <a:lstStyle/>
                    <a:p>
                      <a:r>
                        <a:rPr sz="1200" b="0">
                          <a:solidFill>
                            <a:srgbClr val="4B4B4B"/>
                          </a:solidFill>
                          <a:latin typeface="Arial"/>
                        </a:rPr>
                        <a:t>2</a:t>
                      </a:r>
                    </a:p>
                  </a:txBody>
                  <a:tcPr marL="64008" marR="64008" marT="27432" marB="27432" anchor="ctr">
                    <a:solidFill>
                      <a:srgbClr val="E5F5FF"/>
                    </a:solidFill>
                  </a:tcPr>
                </a:tc>
              </a:tr>
              <a:tr h="329184">
                <a:tc>
                  <a:txBody>
                    <a:bodyPr wrap="square"/>
                    <a:lstStyle/>
                    <a:p>
                      <a:r>
                        <a:rPr sz="1200" b="0">
                          <a:solidFill>
                            <a:srgbClr val="4B4B4B"/>
                          </a:solidFill>
                          <a:latin typeface="Arial"/>
                        </a:rPr>
                        <a:t>Product Maintenance</a:t>
                      </a:r>
                    </a:p>
                  </a:txBody>
                  <a:tcPr marL="64008" marR="64008" marT="27432" marB="27432" anchor="ctr">
                    <a:solidFill>
                      <a:srgbClr val="FFFFFF"/>
                    </a:solidFill>
                  </a:tcPr>
                </a:tc>
                <a:tc>
                  <a:txBody>
                    <a:bodyPr wrap="square"/>
                    <a:lstStyle/>
                    <a:p>
                      <a:r>
                        <a:rPr sz="1200" b="0">
                          <a:solidFill>
                            <a:srgbClr val="4B4B4B"/>
                          </a:solidFill>
                          <a:latin typeface="Arial"/>
                        </a:rPr>
                        <a:t>BRD-3</a:t>
                      </a:r>
                    </a:p>
                  </a:txBody>
                  <a:tcPr marL="64008" marR="64008" marT="27432" marB="27432" anchor="ctr">
                    <a:solidFill>
                      <a:srgbClr val="FFFFFF"/>
                    </a:solidFill>
                  </a:tcPr>
                </a:tc>
                <a:tc>
                  <a:txBody>
                    <a:bodyPr wrap="square"/>
                    <a:lstStyle/>
                    <a:p>
                      <a:pPr algn="ctr"/>
                      <a:r>
                        <a:rPr sz="1200" b="1">
                          <a:solidFill>
                            <a:srgbClr val="C62828"/>
                          </a:solidFill>
                          <a:latin typeface="Arial"/>
                        </a:rPr>
                        <a:t>6</a:t>
                      </a:r>
                    </a:p>
                  </a:txBody>
                  <a:tcPr marL="64008" marR="64008" marT="27432" marB="27432" anchor="ctr">
                    <a:solidFill>
                      <a:srgbClr val="FDECEA"/>
                    </a:solidFill>
                  </a:tcPr>
                </a:tc>
                <a:tc>
                  <a:txBody>
                    <a:bodyPr wrap="square"/>
                    <a:lstStyle/>
                    <a:p>
                      <a:pPr algn="ctr"/>
                      <a:r>
                        <a:rPr sz="1200" b="1">
                          <a:solidFill>
                            <a:srgbClr val="8A5A00"/>
                          </a:solidFill>
                          <a:latin typeface="Arial"/>
                        </a:rPr>
                        <a:t>7</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17</a:t>
                      </a:r>
                    </a:p>
                  </a:txBody>
                  <a:tcPr marL="64008" marR="64008" marT="27432" marB="27432" anchor="ctr">
                    <a:solidFill>
                      <a:srgbClr val="FFFFFF"/>
                    </a:solidFill>
                  </a:tcPr>
                </a:tc>
                <a:tc>
                  <a:txBody>
                    <a:bodyPr wrap="square"/>
                    <a:lstStyle/>
                    <a:p>
                      <a:r>
                        <a:rPr sz="1200" b="0">
                          <a:solidFill>
                            <a:srgbClr val="4B4B4B"/>
                          </a:solidFill>
                          <a:latin typeface="Arial"/>
                        </a:rPr>
                        <a:t>0</a:t>
                      </a:r>
                    </a:p>
                  </a:txBody>
                  <a:tcPr marL="64008" marR="64008" marT="27432" marB="27432" anchor="ctr">
                    <a:solidFill>
                      <a:srgbClr val="FFFFFF"/>
                    </a:solidFill>
                  </a:tcPr>
                </a:tc>
              </a:tr>
              <a:tr h="329184">
                <a:tc>
                  <a:txBody>
                    <a:bodyPr wrap="square"/>
                    <a:lstStyle/>
                    <a:p>
                      <a:r>
                        <a:rPr sz="1200" b="0">
                          <a:solidFill>
                            <a:srgbClr val="4B4B4B"/>
                          </a:solidFill>
                          <a:latin typeface="Arial"/>
                        </a:rPr>
                        <a:t>Collections</a:t>
                      </a:r>
                    </a:p>
                  </a:txBody>
                  <a:tcPr marL="64008" marR="64008" marT="27432" marB="27432" anchor="ctr">
                    <a:solidFill>
                      <a:srgbClr val="E5F5FF"/>
                    </a:solidFill>
                  </a:tcPr>
                </a:tc>
                <a:tc>
                  <a:txBody>
                    <a:bodyPr wrap="square"/>
                    <a:lstStyle/>
                    <a:p>
                      <a:r>
                        <a:rPr sz="1200" b="0">
                          <a:solidFill>
                            <a:srgbClr val="4B4B4B"/>
                          </a:solidFill>
                          <a:latin typeface="Arial"/>
                        </a:rPr>
                        <a:t>BRD-4</a:t>
                      </a:r>
                    </a:p>
                  </a:txBody>
                  <a:tcPr marL="64008" marR="64008" marT="27432" marB="27432" anchor="ctr">
                    <a:solidFill>
                      <a:srgbClr val="E5F5FF"/>
                    </a:solidFill>
                  </a:tcPr>
                </a:tc>
                <a:tc>
                  <a:txBody>
                    <a:bodyPr wrap="square"/>
                    <a:lstStyle/>
                    <a:p>
                      <a:pPr algn="ctr"/>
                      <a:r>
                        <a:rPr sz="1200" b="1">
                          <a:solidFill>
                            <a:srgbClr val="FFFFFF"/>
                          </a:solidFill>
                          <a:latin typeface="Arial"/>
                        </a:rPr>
                        <a:t>12</a:t>
                      </a:r>
                    </a:p>
                  </a:txBody>
                  <a:tcPr marL="64008" marR="64008" marT="27432" marB="27432" anchor="ctr">
                    <a:solidFill>
                      <a:srgbClr val="C62828"/>
                    </a:solidFill>
                  </a:tcPr>
                </a:tc>
                <a:tc>
                  <a:txBody>
                    <a:bodyPr wrap="square"/>
                    <a:lstStyle/>
                    <a:p>
                      <a:pPr algn="ctr"/>
                      <a:r>
                        <a:rPr sz="1200" b="1">
                          <a:solidFill>
                            <a:srgbClr val="8A5A00"/>
                          </a:solidFill>
                          <a:latin typeface="Arial"/>
                        </a:rPr>
                        <a:t>12</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24</a:t>
                      </a:r>
                    </a:p>
                  </a:txBody>
                  <a:tcPr marL="64008" marR="64008" marT="27432" marB="27432" anchor="ctr">
                    <a:solidFill>
                      <a:srgbClr val="E5F5FF"/>
                    </a:solidFill>
                  </a:tcPr>
                </a:tc>
                <a:tc>
                  <a:txBody>
                    <a:bodyPr wrap="square"/>
                    <a:lstStyle/>
                    <a:p>
                      <a:r>
                        <a:rPr sz="1200" b="0">
                          <a:solidFill>
                            <a:srgbClr val="4B4B4B"/>
                          </a:solidFill>
                          <a:latin typeface="Arial"/>
                        </a:rPr>
                        <a:t>3</a:t>
                      </a:r>
                    </a:p>
                  </a:txBody>
                  <a:tcPr marL="64008" marR="64008" marT="27432" marB="27432" anchor="ctr">
                    <a:solidFill>
                      <a:srgbClr val="E5F5FF"/>
                    </a:solidFill>
                  </a:tcPr>
                </a:tc>
              </a:tr>
              <a:tr h="329184">
                <a:tc>
                  <a:txBody>
                    <a:bodyPr wrap="square"/>
                    <a:lstStyle/>
                    <a:p>
                      <a:r>
                        <a:rPr sz="1200" b="0">
                          <a:solidFill>
                            <a:srgbClr val="4B4B4B"/>
                          </a:solidFill>
                          <a:latin typeface="Arial"/>
                        </a:rPr>
                        <a:t>Accounting and Disbursement</a:t>
                      </a:r>
                    </a:p>
                  </a:txBody>
                  <a:tcPr marL="64008" marR="64008" marT="27432" marB="27432" anchor="ctr">
                    <a:solidFill>
                      <a:srgbClr val="FFFFFF"/>
                    </a:solidFill>
                  </a:tcPr>
                </a:tc>
                <a:tc>
                  <a:txBody>
                    <a:bodyPr wrap="square"/>
                    <a:lstStyle/>
                    <a:p>
                      <a:r>
                        <a:rPr sz="1200" b="0">
                          <a:solidFill>
                            <a:srgbClr val="4B4B4B"/>
                          </a:solidFill>
                          <a:latin typeface="Arial"/>
                        </a:rPr>
                        <a:t>BRD-5</a:t>
                      </a:r>
                    </a:p>
                  </a:txBody>
                  <a:tcPr marL="64008" marR="64008" marT="27432" marB="27432" anchor="ctr">
                    <a:solidFill>
                      <a:srgbClr val="FFFFFF"/>
                    </a:solidFill>
                  </a:tcPr>
                </a:tc>
                <a:tc>
                  <a:txBody>
                    <a:bodyPr wrap="square"/>
                    <a:lstStyle/>
                    <a:p>
                      <a:pPr algn="ctr"/>
                      <a:r>
                        <a:rPr sz="1200" b="1">
                          <a:solidFill>
                            <a:srgbClr val="C62828"/>
                          </a:solidFill>
                          <a:latin typeface="Arial"/>
                        </a:rPr>
                        <a:t>7</a:t>
                      </a:r>
                    </a:p>
                  </a:txBody>
                  <a:tcPr marL="64008" marR="64008" marT="27432" marB="27432" anchor="ctr">
                    <a:solidFill>
                      <a:srgbClr val="FDECEA"/>
                    </a:solidFill>
                  </a:tcPr>
                </a:tc>
                <a:tc>
                  <a:txBody>
                    <a:bodyPr wrap="square"/>
                    <a:lstStyle/>
                    <a:p>
                      <a:pPr algn="ctr"/>
                      <a:r>
                        <a:rPr sz="1200" b="1">
                          <a:solidFill>
                            <a:srgbClr val="8A5A00"/>
                          </a:solidFill>
                          <a:latin typeface="Arial"/>
                        </a:rPr>
                        <a:t>14</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24</a:t>
                      </a:r>
                    </a:p>
                  </a:txBody>
                  <a:tcPr marL="64008" marR="64008" marT="27432" marB="27432" anchor="ctr">
                    <a:solidFill>
                      <a:srgbClr val="FFFFFF"/>
                    </a:solidFill>
                  </a:tcPr>
                </a:tc>
                <a:tc>
                  <a:txBody>
                    <a:bodyPr wrap="square"/>
                    <a:lstStyle/>
                    <a:p>
                      <a:r>
                        <a:rPr sz="1200" b="0">
                          <a:solidFill>
                            <a:srgbClr val="4B4B4B"/>
                          </a:solidFill>
                          <a:latin typeface="Arial"/>
                        </a:rPr>
                        <a:t>1</a:t>
                      </a:r>
                    </a:p>
                  </a:txBody>
                  <a:tcPr marL="64008" marR="64008" marT="27432" marB="27432" anchor="ctr">
                    <a:solidFill>
                      <a:srgbClr val="FFFFFF"/>
                    </a:solidFill>
                  </a:tcPr>
                </a:tc>
              </a:tr>
            </a:tbl>
          </a:graphicData>
        </a:graphic>
      </p:graphicFrame>
      <p:sp>
        <p:nvSpPr>
          <p:cNvPr id="10" name="TextBox 9"/>
          <p:cNvSpPr txBox="1"/>
          <p:nvPr/>
        </p:nvSpPr>
        <p:spPr>
          <a:xfrm>
            <a:off x="8275319" y="1280160"/>
            <a:ext cx="3367736" cy="4846320"/>
          </a:xfrm>
          <a:prstGeom prst="rect">
            <a:avLst/>
          </a:prstGeom>
          <a:noFill/>
        </p:spPr>
        <p:txBody>
          <a:bodyPr wrap="square" anchor="t" lIns="45720" rIns="45720" tIns="18288" bIns="18288">
            <a:spAutoFit/>
          </a:bodyPr>
          <a:lstStyle/>
          <a:p>
            <a:pPr>
              <a:spcAft>
                <a:spcPts val="600"/>
              </a:spcAft>
            </a:pPr>
            <a:r>
              <a:rPr sz="1200" b="0">
                <a:solidFill>
                  <a:srgbClr val="4B4B4B"/>
                </a:solidFill>
                <a:latin typeface="Arial"/>
              </a:rPr>
              <a:t>162 items are raised against the 12 BRDs and the Report List; 8 are answered by a later signed BDOI document.</a:t>
            </a:r>
          </a:p>
          <a:p>
            <a:pPr>
              <a:spcAft>
                <a:spcPts val="600"/>
              </a:spcAft>
            </a:pPr>
            <a:r>
              <a:rPr sz="1200" b="0">
                <a:solidFill>
                  <a:srgbClr val="4B4B4B"/>
                </a:solidFill>
                <a:latin typeface="Arial"/>
              </a:rPr>
              <a:t>High items change what is built, the money, compliance or access; they are resolved before the FRS of the area is signed off.</a:t>
            </a:r>
          </a:p>
          <a:p>
            <a:pPr>
              <a:spcAft>
                <a:spcPts val="600"/>
              </a:spcAft>
            </a:pPr>
            <a:r>
              <a:rPr sz="1200" b="0">
                <a:solidFill>
                  <a:srgbClr val="4B4B4B"/>
                </a:solidFill>
                <a:latin typeface="Arial"/>
              </a:rPr>
              <a:t>Items that touch several BRDs, such as the service window, RPO and retention, count under each BRD.</a:t>
            </a:r>
          </a:p>
          <a:p>
            <a:pPr>
              <a:spcAft>
                <a:spcPts val="600"/>
              </a:spcAft>
            </a:pPr>
            <a:r>
              <a:rPr sz="1200" b="0">
                <a:solidFill>
                  <a:srgbClr val="4B4B4B"/>
                </a:solidFill>
                <a:latin typeface="Arial"/>
              </a:rPr>
              <a:t>The next slide lists the decisions that unblock the most areas.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Cross-BRD gaps: decisions for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 for every user</a:t>
                      </a:r>
                    </a:p>
                  </a:txBody>
                  <a:tcPr marL="64008" marR="64008" marT="27432" marB="27432" anchor="ctr">
                    <a:solidFill>
                      <a:srgbClr val="FFFFFF"/>
                    </a:solidFill>
                  </a:tcPr>
                </a:tc>
                <a:tc>
                  <a:txBody>
                    <a:bodyPr wrap="square"/>
                    <a:lstStyle/>
                    <a:p>
                      <a:r>
                        <a:rPr sz="1100" b="0">
                          <a:solidFill>
                            <a:srgbClr val="4B4B4B"/>
                          </a:solidFill>
                          <a:latin typeface="Arial"/>
                        </a:rPr>
                        <a:t>Identity source for all BIBS users</a:t>
                      </a:r>
                    </a:p>
                  </a:txBody>
                  <a:tcPr marL="64008" marR="64008" marT="27432" marB="27432" anchor="ctr">
                    <a:solidFill>
                      <a:srgbClr val="FFFFFF"/>
                    </a:solidFill>
                  </a:tcPr>
                </a:tc>
                <a:tc>
                  <a:txBody>
                    <a:bodyPr wrap="square"/>
                    <a:lstStyle/>
                    <a:p>
                      <a:r>
                        <a:rPr sz="1100" b="0">
                          <a:solidFill>
                            <a:srgbClr val="4B4B4B"/>
                          </a:solidFill>
                          <a:latin typeface="Arial"/>
                        </a:rPr>
                        <a:t>UAM owner with BDO ITIO</a:t>
                      </a:r>
                    </a:p>
                  </a:txBody>
                  <a:tcPr marL="64008" marR="64008" marT="27432" marB="27432" anchor="ctr">
                    <a:solidFill>
                      <a:srgbClr val="FFFFFF"/>
                    </a:solidFill>
                  </a:tcPr>
                </a:tc>
                <a:tc>
                  <a:txBody>
                    <a:bodyPr wrap="square"/>
                    <a:lstStyle/>
                    <a:p>
                      <a:r>
                        <a:rPr sz="1100" b="0">
                          <a:solidFill>
                            <a:srgbClr val="4B4B4B"/>
                          </a:solidFill>
                          <a:latin typeface="Arial"/>
                        </a:rPr>
                        <a:t>Provide the EUA interface; are contact centre agents in the directory?</a:t>
                      </a:r>
                    </a:p>
                  </a:txBody>
                  <a:tcPr marL="64008" marR="64008" marT="27432" marB="27432" anchor="ctr">
                    <a:solidFill>
                      <a:srgbClr val="FFFFFF"/>
                    </a:solidFill>
                  </a:tcPr>
                </a:tc>
                <a:tc>
                  <a:txBody>
                    <a:bodyPr wrap="square"/>
                    <a:lstStyle/>
                    <a:p>
                      <a:r>
                        <a:rPr sz="1100" b="0">
                          <a:solidFill>
                            <a:srgbClr val="4B4B4B"/>
                          </a:solidFill>
                          <a:latin typeface="Arial"/>
                        </a:rPr>
                        <a:t>DCR-143</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BIBS-wide user access matrix</a:t>
                      </a:r>
                    </a:p>
                  </a:txBody>
                  <a:tcPr marL="64008" marR="64008" marT="27432" marB="27432" anchor="ctr">
                    <a:solidFill>
                      <a:srgbClr val="E5F5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E5F5FF"/>
                    </a:solidFill>
                  </a:tcPr>
                </a:tc>
                <a:tc>
                  <a:txBody>
                    <a:bodyPr wrap="square"/>
                    <a:lstStyle/>
                    <a:p>
                      <a:r>
                        <a:rPr sz="1100" b="0">
                          <a:solidFill>
                            <a:srgbClr val="4B4B4B"/>
                          </a:solidFill>
                          <a:latin typeface="Arial"/>
                        </a:rPr>
                        <a:t>Product Owner, all BRD owners</a:t>
                      </a:r>
                    </a:p>
                  </a:txBody>
                  <a:tcPr marL="64008" marR="64008" marT="27432" marB="27432" anchor="ctr">
                    <a:solidFill>
                      <a:srgbClr val="E5F5FF"/>
                    </a:solidFill>
                  </a:tcPr>
                </a:tc>
                <a:tc>
                  <a:txBody>
                    <a:bodyPr wrap="square"/>
                    <a:lstStyle/>
                    <a:p>
                      <a:r>
                        <a:rPr sz="1100" b="0">
                          <a:solidFill>
                            <a:srgbClr val="4B4B4B"/>
                          </a:solidFill>
                          <a:latin typeface="Arial"/>
                        </a:rPr>
                        <a:t>Approve one matrix for all modules</a:t>
                      </a:r>
                    </a:p>
                  </a:txBody>
                  <a:tcPr marL="64008" marR="64008" marT="27432" marB="27432" anchor="ctr">
                    <a:solidFill>
                      <a:srgbClr val="E5F5FF"/>
                    </a:solidFill>
                  </a:tcPr>
                </a:tc>
                <a:tc>
                  <a:txBody>
                    <a:bodyPr wrap="square"/>
                    <a:lstStyle/>
                    <a:p>
                      <a:r>
                        <a:rPr sz="1100" b="0">
                          <a:solidFill>
                            <a:srgbClr val="4B4B4B"/>
                          </a:solidFill>
                          <a:latin typeface="Arial"/>
                        </a:rPr>
                        <a:t>DCR-121</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of submitted policies; one LAMD intake</a:t>
                      </a:r>
                    </a:p>
                  </a:txBody>
                  <a:tcPr marL="64008" marR="64008" marT="27432" marB="27432" anchor="ctr">
                    <a:solidFill>
                      <a:srgbClr val="FFFF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FFFFFF"/>
                    </a:solidFill>
                  </a:tcPr>
                </a:tc>
                <a:tc>
                  <a:txBody>
                    <a:bodyPr wrap="square"/>
                    <a:lstStyle/>
                    <a:p>
                      <a:r>
                        <a:rPr sz="1100" b="0">
                          <a:solidFill>
                            <a:srgbClr val="4B4B4B"/>
                          </a:solidFill>
                          <a:latin typeface="Arial"/>
                        </a:rPr>
                        <a:t>Renewal and Submitted Policies owners</a:t>
                      </a:r>
                    </a:p>
                  </a:txBody>
                  <a:tcPr marL="64008" marR="64008" marT="27432" marB="27432" anchor="ctr">
                    <a:solidFill>
                      <a:srgbClr val="FFFFFF"/>
                    </a:solidFill>
                  </a:tcPr>
                </a:tc>
                <a:tc>
                  <a:txBody>
                    <a:bodyPr wrap="square"/>
                    <a:lstStyle/>
                    <a:p>
                      <a:r>
                        <a:rPr sz="1100" b="0">
                          <a:solidFill>
                            <a:srgbClr val="4B4B4B"/>
                          </a:solidFill>
                          <a:latin typeface="Arial"/>
                        </a:rPr>
                        <a:t>Confirm the hand-off boundary and one LAMD report</a:t>
                      </a:r>
                    </a:p>
                  </a:txBody>
                  <a:tcPr marL="64008" marR="64008" marT="27432" marB="27432" anchor="ctr">
                    <a:solidFill>
                      <a:srgbClr val="FFFFFF"/>
                    </a:solidFill>
                  </a:tcPr>
                </a:tc>
                <a:tc>
                  <a:txBody>
                    <a:bodyPr wrap="square"/>
                    <a:lstStyle/>
                    <a:p>
                      <a:r>
                        <a:rPr sz="1100" b="0">
                          <a:solidFill>
                            <a:srgbClr val="4B4B4B"/>
                          </a:solidFill>
                          <a:latin typeface="Arial"/>
                        </a:rPr>
                        <a:t>DCR-129, 146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in four BRDs</a:t>
                      </a:r>
                    </a:p>
                  </a:txBody>
                  <a:tcPr marL="64008" marR="64008" marT="27432" marB="27432" anchor="ctr">
                    <a:solidFill>
                      <a:srgbClr val="E5F5FF"/>
                    </a:solidFill>
                  </a:tcPr>
                </a:tc>
                <a:tc>
                  <a:txBody>
                    <a:bodyPr wrap="square"/>
                    <a:lstStyle/>
                    <a:p>
                      <a:r>
                        <a:rPr sz="1100" b="0">
                          <a:solidFill>
                            <a:srgbClr val="4B4B4B"/>
                          </a:solidFill>
                          <a:latin typeface="Arial"/>
                        </a:rPr>
                        <a:t>Incentive income computed twice or not at all</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List the programmes with rate, base, payer</a:t>
                      </a:r>
                    </a:p>
                  </a:txBody>
                  <a:tcPr marL="64008" marR="64008" marT="27432" marB="27432" anchor="ctr">
                    <a:solidFill>
                      <a:srgbClr val="E5F5FF"/>
                    </a:solidFill>
                  </a:tcPr>
                </a:tc>
                <a:tc>
                  <a:txBody>
                    <a:bodyPr wrap="square"/>
                    <a:lstStyle/>
                    <a:p>
                      <a:r>
                        <a:rPr sz="1100" b="0">
                          <a:solidFill>
                            <a:srgbClr val="4B4B4B"/>
                          </a:solidFill>
                          <a:latin typeface="Arial"/>
                        </a:rPr>
                        <a:t>DCR-037</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 or warn</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service window, RPO / RTO, maintenance slot</a:t>
                      </a:r>
                    </a:p>
                  </a:txBody>
                  <a:tcPr marL="64008" marR="64008" marT="27432" marB="27432" anchor="ctr">
                    <a:solidFill>
                      <a:srgbClr val="E5F5FF"/>
                    </a:solidFill>
                  </a:tcPr>
                </a:tc>
                <a:tc>
                  <a:txBody>
                    <a:bodyPr wrap="square"/>
                    <a:lstStyle/>
                    <a:p>
                      <a:r>
                        <a:rPr sz="1100" b="0">
                          <a:solidFill>
                            <a:srgbClr val="4B4B4B"/>
                          </a:solidFill>
                          <a:latin typeface="Arial"/>
                        </a:rPr>
                        <a:t>Backup, DR and batch design of the platform</a:t>
                      </a:r>
                    </a:p>
                  </a:txBody>
                  <a:tcPr marL="64008" marR="64008" marT="27432" marB="27432" anchor="ctr">
                    <a:solidFill>
                      <a:srgbClr val="E5F5FF"/>
                    </a:solidFill>
                  </a:tcPr>
                </a:tc>
                <a:tc>
                  <a:txBody>
                    <a:bodyPr wrap="square"/>
                    <a:lstStyle/>
                    <a:p>
                      <a:r>
                        <a:rPr sz="1100" b="0">
                          <a:solidFill>
                            <a:srgbClr val="4B4B4B"/>
                          </a:solidFill>
                          <a:latin typeface="Arial"/>
                        </a:rPr>
                        <a:t>BDO IT with the BRD owners</a:t>
                      </a:r>
                    </a:p>
                  </a:txBody>
                  <a:tcPr marL="64008" marR="64008" marT="27432" marB="27432" anchor="ctr">
                    <a:solidFill>
                      <a:srgbClr val="E5F5FF"/>
                    </a:solidFill>
                  </a:tcPr>
                </a:tc>
                <a:tc>
                  <a:txBody>
                    <a:bodyPr wrap="square"/>
                    <a:lstStyle/>
                    <a:p>
                      <a:r>
                        <a:rPr sz="1100" b="0">
                          <a:solidFill>
                            <a:srgbClr val="4B4B4B"/>
                          </a:solidFill>
                          <a:latin typeface="Arial"/>
                        </a:rPr>
                        <a:t>Agree one BIBS-wide NFR set</a:t>
                      </a:r>
                    </a:p>
                  </a:txBody>
                  <a:tcPr marL="64008" marR="64008" marT="27432" marB="27432" anchor="ctr">
                    <a:solidFill>
                      <a:srgbClr val="E5F5FF"/>
                    </a:solidFill>
                  </a:tcPr>
                </a:tc>
                <a:tc>
                  <a:txBody>
                    <a:bodyPr wrap="square"/>
                    <a:lstStyle/>
                    <a:p>
                      <a:r>
                        <a:rPr sz="1100" b="0">
                          <a:solidFill>
                            <a:srgbClr val="4B4B4B"/>
                          </a:solidFill>
                          <a:latin typeface="Arial"/>
                        </a:rPr>
                        <a:t>DCR-133, 135, 138</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Retention per record type</a:t>
                      </a:r>
                    </a:p>
                  </a:txBody>
                  <a:tcPr marL="64008" marR="64008" marT="27432" marB="27432" anchor="ctr">
                    <a:solidFill>
                      <a:srgbClr val="FFFFFF"/>
                    </a:solidFill>
                  </a:tcPr>
                </a:tc>
                <a:tc>
                  <a:txBody>
                    <a:bodyPr wrap="square"/>
                    <a:lstStyle/>
                    <a:p>
                      <a:r>
                        <a:rPr sz="1100" b="0">
                          <a:solidFill>
                            <a:srgbClr val="4B4B4B"/>
                          </a:solidFill>
                          <a:latin typeface="Arial"/>
                        </a:rPr>
                        <a:t>Legal record keeping; archive design</a:t>
                      </a:r>
                    </a:p>
                  </a:txBody>
                  <a:tcPr marL="64008" marR="64008" marT="27432" marB="27432" anchor="ctr">
                    <a:solidFill>
                      <a:srgbClr val="FFFFFF"/>
                    </a:solidFill>
                  </a:tcPr>
                </a:tc>
                <a:tc>
                  <a:txBody>
                    <a:bodyPr wrap="square"/>
                    <a:lstStyle/>
                    <a:p>
                      <a:r>
                        <a:rPr sz="1100" b="0">
                          <a:solidFill>
                            <a:srgbClr val="4B4B4B"/>
                          </a:solidFill>
                          <a:latin typeface="Arial"/>
                        </a:rPr>
                        <a:t>Compliance, Comptrollership</a:t>
                      </a:r>
                    </a:p>
                  </a:txBody>
                  <a:tcPr marL="64008" marR="64008" marT="27432" marB="27432" anchor="ctr">
                    <a:solidFill>
                      <a:srgbClr val="FFFFFF"/>
                    </a:solidFill>
                  </a:tcPr>
                </a:tc>
                <a:tc>
                  <a:txBody>
                    <a:bodyPr wrap="square"/>
                    <a:lstStyle/>
                    <a:p>
                      <a:r>
                        <a:rPr sz="1100" b="0">
                          <a:solidFill>
                            <a:srgbClr val="4B4B4B"/>
                          </a:solidFill>
                          <a:latin typeface="Arial"/>
                        </a:rPr>
                        <a:t>One schedule; archive or purge at the end</a:t>
                      </a:r>
                    </a:p>
                  </a:txBody>
                  <a:tcPr marL="64008" marR="64008" marT="27432" marB="27432" anchor="ctr">
                    <a:solidFill>
                      <a:srgbClr val="FFFFFF"/>
                    </a:solidFill>
                  </a:tcPr>
                </a:tc>
                <a:tc>
                  <a:txBody>
                    <a:bodyPr wrap="square"/>
                    <a:lstStyle/>
                    <a:p>
                      <a:r>
                        <a:rPr sz="1100" b="0">
                          <a:solidFill>
                            <a:srgbClr val="4B4B4B"/>
                          </a:solidFill>
                          <a:latin typeface="Arial"/>
                        </a:rPr>
                        <a:t>DCR-136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Go-live data migration scope</a:t>
                      </a:r>
                    </a:p>
                  </a:txBody>
                  <a:tcPr marL="64008" marR="64008" marT="27432" marB="27432" anchor="ctr">
                    <a:solidFill>
                      <a:srgbClr val="E5F5FF"/>
                    </a:solidFill>
                  </a:tcPr>
                </a:tc>
                <a:tc>
                  <a:txBody>
                    <a:bodyPr wrap="square"/>
                    <a:lstStyle/>
                    <a:p>
                      <a:r>
                        <a:rPr sz="1100" b="0">
                          <a:solidFill>
                            <a:srgbClr val="4B4B4B"/>
                          </a:solidFill>
                          <a:latin typeface="Arial"/>
                        </a:rPr>
                        <a:t>Open items and history at cut-over</a:t>
                      </a:r>
                    </a:p>
                  </a:txBody>
                  <a:tcPr marL="64008" marR="64008" marT="27432" marB="27432" anchor="ctr">
                    <a:solidFill>
                      <a:srgbClr val="E5F5FF"/>
                    </a:solidFill>
                  </a:tcPr>
                </a:tc>
                <a:tc>
                  <a:txBody>
                    <a:bodyPr wrap="square"/>
                    <a:lstStyle/>
                    <a:p>
                      <a:r>
                        <a:rPr sz="1100" b="0">
                          <a:solidFill>
                            <a:srgbClr val="4B4B4B"/>
                          </a:solidFill>
                          <a:latin typeface="Arial"/>
                        </a:rPr>
                        <a:t>All BRD owners</a:t>
                      </a:r>
                    </a:p>
                  </a:txBody>
                  <a:tcPr marL="64008" marR="64008" marT="27432" marB="27432" anchor="ctr">
                    <a:solidFill>
                      <a:srgbClr val="E5F5FF"/>
                    </a:solidFill>
                  </a:tcPr>
                </a:tc>
                <a:tc>
                  <a:txBody>
                    <a:bodyPr wrap="square"/>
                    <a:lstStyle/>
                    <a:p>
                      <a:r>
                        <a:rPr sz="1100" b="0">
                          <a:solidFill>
                            <a:srgbClr val="4B4B4B"/>
                          </a:solidFill>
                          <a:latin typeface="Arial"/>
                        </a:rPr>
                        <a:t>What is migrated from EBIX, ISYS, QPS, Excel</a:t>
                      </a:r>
                    </a:p>
                  </a:txBody>
                  <a:tcPr marL="64008" marR="64008" marT="27432" marB="27432" anchor="ctr">
                    <a:solidFill>
                      <a:srgbClr val="E5F5FF"/>
                    </a:solidFill>
                  </a:tcPr>
                </a:tc>
                <a:tc>
                  <a:txBody>
                    <a:bodyPr wrap="square"/>
                    <a:lstStyle/>
                    <a:p>
                      <a:r>
                        <a:rPr sz="1100" b="0">
                          <a:solidFill>
                            <a:srgbClr val="4B4B4B"/>
                          </a:solidFill>
                          <a:latin typeface="Arial"/>
                        </a:rPr>
                        <a:t>DCR-157</a:t>
                      </a:r>
                    </a:p>
                  </a:txBody>
                  <a:tcPr marL="64008" marR="64008" marT="27432" marB="27432" anchor="ctr">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Roadmap: built, in build, designed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sp>
        <p:nvSpPr>
          <p:cNvPr id="9" name="Rounded Rectangle 8"/>
          <p:cNvSpPr/>
          <p:nvPr/>
        </p:nvSpPr>
        <p:spPr>
          <a:xfrm>
            <a:off x="548640"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57200"/>
          </a:xfrm>
          <a:prstGeom prst="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80160"/>
            <a:ext cx="3576218" cy="457200"/>
          </a:xfrm>
          <a:prstGeom prst="rect">
            <a:avLst/>
          </a:prstGeom>
          <a:noFill/>
        </p:spPr>
        <p:txBody>
          <a:bodyPr wrap="square" anchor="ctr" lIns="45720" rIns="45720">
            <a:spAutoFit/>
          </a:bodyPr>
          <a:lstStyle/>
          <a:p>
            <a:r>
              <a:rPr sz="1500" b="1" i="0">
                <a:solidFill>
                  <a:srgbClr val="2E7D32"/>
                </a:solidFill>
                <a:latin typeface="Arial"/>
              </a:rPr>
              <a:t>Built</a:t>
            </a:r>
          </a:p>
        </p:txBody>
      </p:sp>
      <p:sp>
        <p:nvSpPr>
          <p:cNvPr id="12" name="TextBox 11"/>
          <p:cNvSpPr txBox="1"/>
          <p:nvPr/>
        </p:nvSpPr>
        <p:spPr>
          <a:xfrm>
            <a:off x="640080"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New Business</a:t>
            </a:r>
          </a:p>
          <a:p>
            <a:pPr>
              <a:spcAft>
                <a:spcPts val="300"/>
              </a:spcAft>
            </a:pPr>
            <a:r>
              <a:rPr sz="1200" b="0">
                <a:solidFill>
                  <a:srgbClr val="004EA8"/>
                </a:solidFill>
                <a:latin typeface="Arial"/>
              </a:rPr>
              <a:t>•  </a:t>
            </a:r>
            <a:r>
              <a:rPr sz="1200" b="0">
                <a:solidFill>
                  <a:srgbClr val="4B4B4B"/>
                </a:solidFill>
                <a:latin typeface="Arial"/>
              </a:rPr>
              <a:t>BRD-2 Operations</a:t>
            </a:r>
          </a:p>
          <a:p>
            <a:pPr>
              <a:spcAft>
                <a:spcPts val="300"/>
              </a:spcAft>
            </a:pPr>
            <a:r>
              <a:rPr sz="1200" b="0">
                <a:solidFill>
                  <a:srgbClr val="004EA8"/>
                </a:solidFill>
                <a:latin typeface="Arial"/>
              </a:rPr>
              <a:t>•  </a:t>
            </a:r>
            <a:r>
              <a:rPr sz="1200" b="0">
                <a:solidFill>
                  <a:srgbClr val="4B4B4B"/>
                </a:solidFill>
                <a:latin typeface="Arial"/>
              </a:rPr>
              <a:t>BRD-3 Product Maintenance</a:t>
            </a:r>
          </a:p>
          <a:p>
            <a:pPr>
              <a:spcAft>
                <a:spcPts val="300"/>
              </a:spcAft>
            </a:pPr>
            <a:r>
              <a:rPr sz="1200" b="0">
                <a:solidFill>
                  <a:srgbClr val="004EA8"/>
                </a:solidFill>
                <a:latin typeface="Arial"/>
              </a:rPr>
              <a:t>•  </a:t>
            </a:r>
            <a:r>
              <a:rPr sz="1200" b="0">
                <a:solidFill>
                  <a:srgbClr val="4B4B4B"/>
                </a:solidFill>
                <a:latin typeface="Arial"/>
              </a:rPr>
              <a:t>BRD-11 baseline: users, roles, access requests, lock-out, session</a:t>
            </a:r>
          </a:p>
          <a:p>
            <a:pPr>
              <a:spcAft>
                <a:spcPts val="300"/>
              </a:spcAft>
            </a:pPr>
            <a:r>
              <a:rPr sz="1200" b="0">
                <a:solidFill>
                  <a:srgbClr val="004EA8"/>
                </a:solidFill>
                <a:latin typeface="Arial"/>
              </a:rPr>
              <a:t>•  </a:t>
            </a:r>
            <a:r>
              <a:rPr sz="1200" b="0">
                <a:solidFill>
                  <a:srgbClr val="4B4B4B"/>
                </a:solidFill>
                <a:latin typeface="Arial"/>
              </a:rPr>
              <a:t>Finance platform for BRD-5: chart, journals, engine, periods, FX, bank reconciliation</a:t>
            </a:r>
          </a:p>
        </p:txBody>
      </p:sp>
      <p:sp>
        <p:nvSpPr>
          <p:cNvPr id="13" name="Right Arrow 12"/>
          <p:cNvSpPr/>
          <p:nvPr/>
        </p:nvSpPr>
        <p:spPr>
          <a:xfrm>
            <a:off x="4106570"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7738"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1280160"/>
            <a:ext cx="3576218" cy="457200"/>
          </a:xfrm>
          <a:prstGeom prst="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9178" y="1280160"/>
            <a:ext cx="3576218" cy="457200"/>
          </a:xfrm>
          <a:prstGeom prst="rect">
            <a:avLst/>
          </a:prstGeom>
          <a:noFill/>
        </p:spPr>
        <p:txBody>
          <a:bodyPr wrap="square" anchor="ctr" lIns="45720" rIns="45720">
            <a:spAutoFit/>
          </a:bodyPr>
          <a:lstStyle/>
          <a:p>
            <a:r>
              <a:rPr sz="1500" b="1" i="0">
                <a:solidFill>
                  <a:srgbClr val="8A5A00"/>
                </a:solidFill>
                <a:latin typeface="Arial"/>
              </a:rPr>
              <a:t>In build</a:t>
            </a:r>
          </a:p>
        </p:txBody>
      </p:sp>
      <p:sp>
        <p:nvSpPr>
          <p:cNvPr id="17" name="TextBox 16"/>
          <p:cNvSpPr txBox="1"/>
          <p:nvPr/>
        </p:nvSpPr>
        <p:spPr>
          <a:xfrm>
            <a:off x="4399178"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BRD-4 Collections (foundation and worklist)</a:t>
            </a:r>
          </a:p>
          <a:p>
            <a:pPr>
              <a:spcAft>
                <a:spcPts val="300"/>
              </a:spcAft>
            </a:pPr>
            <a:r>
              <a:rPr sz="1200" b="0">
                <a:solidFill>
                  <a:srgbClr val="004EA8"/>
                </a:solidFill>
                <a:latin typeface="Arial"/>
              </a:rPr>
              <a:t>•  </a:t>
            </a:r>
            <a:r>
              <a:rPr sz="1200" b="0">
                <a:solidFill>
                  <a:srgbClr val="4B4B4B"/>
                </a:solidFill>
                <a:latin typeface="Arial"/>
              </a:rPr>
              <a:t>BRD-5 Disbursement, ACSL, FRBS reports</a:t>
            </a:r>
          </a:p>
          <a:p>
            <a:pPr>
              <a:spcAft>
                <a:spcPts val="300"/>
              </a:spcAft>
            </a:pPr>
            <a:r>
              <a:rPr sz="1200" b="0">
                <a:solidFill>
                  <a:srgbClr val="004EA8"/>
                </a:solidFill>
                <a:latin typeface="Arial"/>
              </a:rPr>
              <a:t>•  </a:t>
            </a:r>
            <a:r>
              <a:rPr sz="1200" b="0">
                <a:solidFill>
                  <a:srgbClr val="4B4B4B"/>
                </a:solidFill>
                <a:latin typeface="Arial"/>
              </a:rPr>
              <a:t>BRD-5 Refund and cash-advance requests</a:t>
            </a:r>
          </a:p>
          <a:p>
            <a:pPr>
              <a:spcAft>
                <a:spcPts val="300"/>
              </a:spcAft>
            </a:pPr>
            <a:r>
              <a:rPr sz="1200" b="0">
                <a:solidFill>
                  <a:srgbClr val="004EA8"/>
                </a:solidFill>
                <a:latin typeface="Arial"/>
              </a:rPr>
              <a:t>•  </a:t>
            </a:r>
            <a:r>
              <a:rPr sz="1200" b="0">
                <a:solidFill>
                  <a:srgbClr val="4B4B4B"/>
                </a:solidFill>
                <a:latin typeface="Arial"/>
              </a:rPr>
              <a:t>Shared work item BT0: business type New Business / Renewal</a:t>
            </a:r>
          </a:p>
        </p:txBody>
      </p:sp>
      <p:sp>
        <p:nvSpPr>
          <p:cNvPr id="18" name="Right Arrow 17"/>
          <p:cNvSpPr/>
          <p:nvPr/>
        </p:nvSpPr>
        <p:spPr>
          <a:xfrm>
            <a:off x="7865668"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66836"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6836" y="1280160"/>
            <a:ext cx="3576218" cy="457200"/>
          </a:xfrm>
          <a:prstGeom prst="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8276" y="1280160"/>
            <a:ext cx="3576218" cy="457200"/>
          </a:xfrm>
          <a:prstGeom prst="rect">
            <a:avLst/>
          </a:prstGeom>
          <a:noFill/>
        </p:spPr>
        <p:txBody>
          <a:bodyPr wrap="square" anchor="ctr" lIns="45720" rIns="45720">
            <a:spAutoFit/>
          </a:bodyPr>
          <a:lstStyle/>
          <a:p>
            <a:r>
              <a:rPr sz="1500" b="1" i="0">
                <a:solidFill>
                  <a:srgbClr val="004EA8"/>
                </a:solidFill>
                <a:latin typeface="Arial"/>
              </a:rPr>
              <a:t>Designed, next</a:t>
            </a:r>
          </a:p>
        </p:txBody>
      </p:sp>
      <p:sp>
        <p:nvSpPr>
          <p:cNvPr id="22" name="TextBox 21"/>
          <p:cNvSpPr txBox="1"/>
          <p:nvPr/>
        </p:nvSpPr>
        <p:spPr>
          <a:xfrm>
            <a:off x="8158276"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BRD-11 changes and BRD-10 Sanction Screening</a:t>
            </a:r>
          </a:p>
          <a:p>
            <a:pPr>
              <a:spcAft>
                <a:spcPts val="300"/>
              </a:spcAft>
            </a:pPr>
            <a:r>
              <a:rPr sz="1200" b="0">
                <a:solidFill>
                  <a:srgbClr val="004EA8"/>
                </a:solidFill>
                <a:latin typeface="Arial"/>
              </a:rPr>
              <a:t>•  </a:t>
            </a:r>
            <a:r>
              <a:rPr sz="1200" b="0">
                <a:solidFill>
                  <a:srgbClr val="4B4B4B"/>
                </a:solidFill>
                <a:latin typeface="Arial"/>
              </a:rPr>
              <a:t>BRD-7 Claims</a:t>
            </a:r>
          </a:p>
          <a:p>
            <a:pPr>
              <a:spcAft>
                <a:spcPts val="300"/>
              </a:spcAft>
            </a:pPr>
            <a:r>
              <a:rPr sz="1200" b="0">
                <a:solidFill>
                  <a:srgbClr val="004EA8"/>
                </a:solidFill>
                <a:latin typeface="Arial"/>
              </a:rPr>
              <a:t>•  </a:t>
            </a:r>
            <a:r>
              <a:rPr sz="1200" b="0">
                <a:solidFill>
                  <a:srgbClr val="4B4B4B"/>
                </a:solidFill>
                <a:latin typeface="Arial"/>
              </a:rPr>
              <a:t>BRD-8 Employee Benefits and partner portal</a:t>
            </a:r>
          </a:p>
          <a:p>
            <a:pPr>
              <a:spcAft>
                <a:spcPts val="300"/>
              </a:spcAft>
            </a:pPr>
            <a:r>
              <a:rPr sz="1200" b="0">
                <a:solidFill>
                  <a:srgbClr val="004EA8"/>
                </a:solidFill>
                <a:latin typeface="Arial"/>
              </a:rPr>
              <a:t>•  </a:t>
            </a:r>
            <a:r>
              <a:rPr sz="1200" b="0">
                <a:solidFill>
                  <a:srgbClr val="4B4B4B"/>
                </a:solidFill>
                <a:latin typeface="Arial"/>
              </a:rPr>
              <a:t>BRD-9 Customer Servicing Facility</a:t>
            </a:r>
          </a:p>
          <a:p>
            <a:pPr>
              <a:spcAft>
                <a:spcPts val="300"/>
              </a:spcAft>
            </a:pPr>
            <a:r>
              <a:rPr sz="1200" b="0">
                <a:solidFill>
                  <a:srgbClr val="004EA8"/>
                </a:solidFill>
                <a:latin typeface="Arial"/>
              </a:rPr>
              <a:t>•  </a:t>
            </a:r>
            <a:r>
              <a:rPr sz="1200" b="0">
                <a:solidFill>
                  <a:srgbClr val="4B4B4B"/>
                </a:solidFill>
                <a:latin typeface="Arial"/>
              </a:rPr>
              <a:t>BRD-6 Renewal and BRD-12 Submitted Policies</a:t>
            </a:r>
          </a:p>
        </p:txBody>
      </p:sp>
      <p:sp>
        <p:nvSpPr>
          <p:cNvPr id="23" name="Rounded Rectangle 22"/>
          <p:cNvSpPr/>
          <p:nvPr/>
        </p:nvSpPr>
        <p:spPr>
          <a:xfrm>
            <a:off x="548640" y="4279392"/>
            <a:ext cx="11094415" cy="1984248"/>
          </a:xfrm>
          <a:prstGeom prst="roundRect">
            <a:avLst>
              <a:gd name="adj" fmla="val 8000"/>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25112"/>
            <a:ext cx="11094415" cy="320040"/>
          </a:xfrm>
          <a:prstGeom prst="rect">
            <a:avLst/>
          </a:prstGeom>
          <a:noFill/>
        </p:spPr>
        <p:txBody>
          <a:bodyPr wrap="square" anchor="t" lIns="45720" rIns="45720">
            <a:spAutoFit/>
          </a:bodyPr>
          <a:lstStyle/>
          <a:p>
            <a:r>
              <a:rPr sz="1400" b="1" i="0">
                <a:solidFill>
                  <a:srgbClr val="004EA8"/>
                </a:solidFill>
                <a:latin typeface="Arial"/>
              </a:rPr>
              <a:t>What BDOI must decide to move forward</a:t>
            </a:r>
          </a:p>
        </p:txBody>
      </p:sp>
      <p:sp>
        <p:nvSpPr>
          <p:cNvPr id="25" name="TextBox 24"/>
          <p:cNvSpPr txBox="1"/>
          <p:nvPr/>
        </p:nvSpPr>
        <p:spPr>
          <a:xfrm>
            <a:off x="658368"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EUA interface and the BIBS-wide access matrix (DCR-143, 121)</a:t>
            </a:r>
          </a:p>
          <a:p>
            <a:pPr>
              <a:spcAft>
                <a:spcPts val="300"/>
              </a:spcAft>
            </a:pPr>
            <a:r>
              <a:rPr sz="1200" b="0">
                <a:solidFill>
                  <a:srgbClr val="004EA8"/>
                </a:solidFill>
                <a:latin typeface="Arial"/>
              </a:rPr>
              <a:t>•  </a:t>
            </a:r>
            <a:r>
              <a:rPr sz="1200" b="0">
                <a:solidFill>
                  <a:srgbClr val="2E2E2E"/>
                </a:solidFill>
                <a:latin typeface="Arial"/>
              </a:rPr>
              <a:t>Renewal boundary with Submitted Policies; one LAMD intake (DCR-129, 146)</a:t>
            </a:r>
          </a:p>
          <a:p>
            <a:pPr>
              <a:spcAft>
                <a:spcPts val="300"/>
              </a:spcAft>
            </a:pPr>
            <a:r>
              <a:rPr sz="1200" b="0">
                <a:solidFill>
                  <a:srgbClr val="004EA8"/>
                </a:solidFill>
                <a:latin typeface="Arial"/>
              </a:rPr>
              <a:t>•  </a:t>
            </a:r>
            <a:r>
              <a:rPr sz="1200" b="0">
                <a:solidFill>
                  <a:srgbClr val="2E2E2E"/>
                </a:solidFill>
                <a:latin typeface="Arial"/>
              </a:rPr>
              <a:t>Incentive programmes and the Fire premium tax (DCR-037, 005)</a:t>
            </a:r>
          </a:p>
          <a:p>
            <a:pPr>
              <a:spcAft>
                <a:spcPts val="300"/>
              </a:spcAft>
            </a:pPr>
            <a:r>
              <a:rPr sz="1200" b="0">
                <a:solidFill>
                  <a:srgbClr val="004EA8"/>
                </a:solidFill>
                <a:latin typeface="Arial"/>
              </a:rPr>
              <a:t>•  </a:t>
            </a:r>
            <a:r>
              <a:rPr sz="1200" b="0">
                <a:solidFill>
                  <a:srgbClr val="2E2E2E"/>
                </a:solidFill>
                <a:latin typeface="Arial"/>
              </a:rPr>
              <a:t>Sanctions: block or warn (DCR-112)</a:t>
            </a:r>
          </a:p>
        </p:txBody>
      </p:sp>
      <p:sp>
        <p:nvSpPr>
          <p:cNvPr id="26" name="TextBox 25"/>
          <p:cNvSpPr txBox="1"/>
          <p:nvPr/>
        </p:nvSpPr>
        <p:spPr>
          <a:xfrm>
            <a:off x="6205575"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One NFR set: service window, RPO / RTO, retention (DCR-133, 135, 136)</a:t>
            </a:r>
          </a:p>
          <a:p>
            <a:pPr>
              <a:spcAft>
                <a:spcPts val="300"/>
              </a:spcAft>
            </a:pPr>
            <a:r>
              <a:rPr sz="1200" b="0">
                <a:solidFill>
                  <a:srgbClr val="004EA8"/>
                </a:solidFill>
                <a:latin typeface="Arial"/>
              </a:rPr>
              <a:t>•  </a:t>
            </a:r>
            <a:r>
              <a:rPr sz="1200" b="0">
                <a:solidFill>
                  <a:srgbClr val="2E2E2E"/>
                </a:solidFill>
                <a:latin typeface="Arial"/>
              </a:rPr>
              <a:t>Migration scope per legacy source (DCR-157)</a:t>
            </a:r>
          </a:p>
          <a:p>
            <a:pPr>
              <a:spcAft>
                <a:spcPts val="300"/>
              </a:spcAft>
            </a:pPr>
            <a:r>
              <a:rPr sz="1200" b="0">
                <a:solidFill>
                  <a:srgbClr val="004EA8"/>
                </a:solidFill>
                <a:latin typeface="Arial"/>
              </a:rPr>
              <a:t>•  </a:t>
            </a:r>
            <a:r>
              <a:rPr sz="1200" b="0">
                <a:solidFill>
                  <a:srgbClr val="2E2E2E"/>
                </a:solidFill>
                <a:latin typeface="Arial"/>
              </a:rPr>
              <a:t>Partner portal users: provisioning, MFA, hosting (DCR-096)</a:t>
            </a:r>
          </a:p>
          <a:p>
            <a:pPr>
              <a:spcAft>
                <a:spcPts val="300"/>
              </a:spcAft>
            </a:pPr>
            <a:r>
              <a:rPr sz="1200" b="0">
                <a:solidFill>
                  <a:srgbClr val="004EA8"/>
                </a:solidFill>
                <a:latin typeface="Arial"/>
              </a:rPr>
              <a:t>•  </a:t>
            </a:r>
            <a:r>
              <a:rPr sz="1200" b="0">
                <a:solidFill>
                  <a:srgbClr val="2E2E2E"/>
                </a:solidFill>
                <a:latin typeface="Arial"/>
              </a:rPr>
              <a:t>Sign-off of the FRS per BRD (sign-off tracker, item 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 New Business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 | Client onboarding to booking (Fire, Motor, Other Lines, Non-Package)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TSU and Processing</a:t>
            </a:r>
          </a:p>
          <a:p>
            <a:pPr>
              <a:spcAft>
                <a:spcPts val="300"/>
              </a:spcAft>
            </a:pPr>
            <a:r>
              <a:rPr sz="1200" b="0">
                <a:solidFill>
                  <a:srgbClr val="004EA8"/>
                </a:solidFill>
                <a:latin typeface="Arial"/>
              </a:rPr>
              <a:t>•  </a:t>
            </a:r>
            <a:r>
              <a:rPr sz="1200" b="0">
                <a:solidFill>
                  <a:srgbClr val="4B4B4B"/>
                </a:solidFill>
                <a:latin typeface="Arial"/>
              </a:rPr>
              <a:t>Marketing AO, TL / TH / UH (Retail, Commercial, Corporate, Institutional)</a:t>
            </a:r>
          </a:p>
          <a:p>
            <a:pPr>
              <a:spcAft>
                <a:spcPts val="300"/>
              </a:spcAft>
            </a:pPr>
            <a:r>
              <a:rPr sz="1200" b="0">
                <a:solidFill>
                  <a:srgbClr val="004EA8"/>
                </a:solidFill>
                <a:latin typeface="Arial"/>
              </a:rPr>
              <a:t>•  </a:t>
            </a:r>
            <a:r>
              <a:rPr sz="1200" b="0">
                <a:solidFill>
                  <a:srgbClr val="4B4B4B"/>
                </a:solidFill>
                <a:latin typeface="Arial"/>
              </a:rPr>
              <a:t>TSU (non-package slips, insurer terms)</a:t>
            </a:r>
          </a:p>
          <a:p>
            <a:pPr>
              <a:spcAft>
                <a:spcPts val="300"/>
              </a:spcAft>
            </a:pPr>
            <a:r>
              <a:rPr sz="1200" b="0">
                <a:solidFill>
                  <a:srgbClr val="004EA8"/>
                </a:solidFill>
                <a:latin typeface="Arial"/>
              </a:rPr>
              <a:t>•  </a:t>
            </a:r>
            <a:r>
              <a:rPr sz="1200" b="0">
                <a:solidFill>
                  <a:srgbClr val="4B4B4B"/>
                </a:solidFill>
                <a:latin typeface="Arial"/>
              </a:rPr>
              <a:t>Processing and Processing TL (placement, issuance, booking)</a:t>
            </a:r>
          </a:p>
          <a:p>
            <a:pPr>
              <a:spcAft>
                <a:spcPts val="300"/>
              </a:spcAft>
            </a:pPr>
            <a:r>
              <a:rPr sz="1200" b="0">
                <a:solidFill>
                  <a:srgbClr val="004EA8"/>
                </a:solidFill>
                <a:latin typeface="Arial"/>
              </a:rPr>
              <a:t>•  </a:t>
            </a:r>
            <a:r>
              <a:rPr sz="1200" b="0">
                <a:solidFill>
                  <a:srgbClr val="4B4B4B"/>
                </a:solidFill>
                <a:latin typeface="Arial"/>
              </a:rPr>
              <a:t>Approver, E-policy Sender, Adjustment</a:t>
            </a:r>
          </a:p>
          <a:p>
            <a:pPr>
              <a:spcAft>
                <a:spcPts val="300"/>
              </a:spcAft>
            </a:pPr>
            <a:r>
              <a:rPr sz="1200" b="0">
                <a:solidFill>
                  <a:srgbClr val="004EA8"/>
                </a:solidFill>
                <a:latin typeface="Arial"/>
              </a:rPr>
              <a:t>•  </a:t>
            </a:r>
            <a:r>
              <a:rPr sz="1200" b="0">
                <a:solidFill>
                  <a:srgbClr val="4B4B4B"/>
                </a:solidFill>
                <a:latin typeface="Arial"/>
              </a:rPr>
              <a:t>Comptrollership (service invoice)</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named users; 145 concurrent (p.210)</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21,200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transactions a month (p.210); 1,300 endorsements (p.211)</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listed function (p.210-211)</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5 + 15</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years online + archive; backup every 4 h (p.82)</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2E7D32"/>
                </a:solidFill>
                <a:latin typeface="Arial"/>
              </a:rPr>
              <a:t>Built</a:t>
            </a:r>
          </a:p>
        </p:txBody>
      </p:sp>
      <p:sp>
        <p:nvSpPr>
          <p:cNvPr id="32" name="TextBox 31"/>
          <p:cNvSpPr txBox="1"/>
          <p:nvPr/>
        </p:nvSpPr>
        <p:spPr>
          <a:xfrm>
            <a:off x="9639604" y="1783080"/>
            <a:ext cx="1930298" cy="457200"/>
          </a:xfrm>
          <a:prstGeom prst="rect">
            <a:avLst/>
          </a:prstGeom>
          <a:noFill/>
        </p:spPr>
        <p:txBody>
          <a:bodyPr wrap="square" anchor="ctr" lIns="45720" rIns="45720" tIns="18288" bIns="18288">
            <a:spAutoFit/>
          </a:bodyPr>
          <a:lstStyle/>
          <a:p>
            <a:pPr>
              <a:spcAft>
                <a:spcPts val="400"/>
              </a:spcAft>
            </a:pPr>
            <a:r>
              <a:rPr sz="1200" b="0">
                <a:solidFill>
                  <a:srgbClr val="4B4B4B"/>
                </a:solidFill>
                <a:latin typeface="Arial"/>
              </a:rPr>
              <a:t>Built; FRS v1.0 issued for review</a:t>
            </a:r>
          </a:p>
        </p:txBody>
      </p:sp>
      <p:sp>
        <p:nvSpPr>
          <p:cNvPr id="33" name="TextBox 32"/>
          <p:cNvSpPr txBox="1"/>
          <p:nvPr/>
        </p:nvSpPr>
        <p:spPr>
          <a:xfrm>
            <a:off x="8158276" y="2286000"/>
            <a:ext cx="3393338" cy="25146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p.132-134 (current and envisioned process)</a:t>
            </a:r>
          </a:p>
          <a:p>
            <a:pPr>
              <a:spcAft>
                <a:spcPts val="300"/>
              </a:spcAft>
            </a:pPr>
            <a:r>
              <a:rPr sz="1200" b="0">
                <a:solidFill>
                  <a:srgbClr val="004EA8"/>
                </a:solidFill>
                <a:latin typeface="Arial"/>
              </a:rPr>
              <a:t>•  </a:t>
            </a:r>
            <a:r>
              <a:rPr sz="1200" b="0">
                <a:solidFill>
                  <a:srgbClr val="4B4B4B"/>
                </a:solidFill>
                <a:latin typeface="Arial"/>
              </a:rPr>
              <a:t>Other Lines addendum p.47-48; Workshop addendum Apr-2026 p.3-19</a:t>
            </a:r>
          </a:p>
          <a:p>
            <a:pPr>
              <a:spcAft>
                <a:spcPts val="300"/>
              </a:spcAft>
            </a:pPr>
            <a:r>
              <a:rPr sz="1200" b="0">
                <a:solidFill>
                  <a:srgbClr val="004EA8"/>
                </a:solidFill>
                <a:latin typeface="Arial"/>
              </a:rPr>
              <a:t>•  </a:t>
            </a:r>
            <a:r>
              <a:rPr sz="1200" b="0">
                <a:solidFill>
                  <a:srgbClr val="4B4B4B"/>
                </a:solidFill>
                <a:latin typeface="Arial"/>
              </a:rPr>
              <a:t>BRNB.001-115</a:t>
            </a:r>
          </a:p>
          <a:p>
            <a:pPr>
              <a:spcAft>
                <a:spcPts val="300"/>
              </a:spcAft>
            </a:pPr>
            <a:r>
              <a:rPr sz="1200" b="0">
                <a:solidFill>
                  <a:srgbClr val="004EA8"/>
                </a:solidFill>
                <a:latin typeface="Arial"/>
              </a:rPr>
              <a:t>•  </a:t>
            </a:r>
            <a:r>
              <a:rPr sz="1200" b="0">
                <a:solidFill>
                  <a:srgbClr val="4B4B4B"/>
                </a:solidFill>
                <a:latin typeface="Arial"/>
              </a:rPr>
              <a:t>FRS BRD-1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Onboarding</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Quotation / PRF</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Account</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Payment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Placement</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Issuance</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Booking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01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Request to booking today (BRD-1 p.133-134, p.47)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arrive by e-mail and are keyed in</a:t>
            </a:r>
          </a:p>
          <a:p>
            <a:pPr>
              <a:spcAft>
                <a:spcPts val="100"/>
              </a:spcAft>
            </a:pPr>
            <a:r>
              <a:rPr sz="1200" b="0">
                <a:solidFill>
                  <a:srgbClr val="4B4B4B"/>
                </a:solidFill>
                <a:latin typeface="Arial"/>
              </a:rPr>
              <a:t>HLS requests are re-keyed; bulk processing exists for CBG Home only.</a:t>
            </a:r>
          </a:p>
          <a:p>
            <a:pPr>
              <a:spcAft>
                <a:spcPts val="100"/>
              </a:spcAft>
            </a:pPr>
            <a:r>
              <a:rPr sz="1200" b="0">
                <a:solidFill>
                  <a:srgbClr val="0072D8"/>
                </a:solidFill>
                <a:latin typeface="Arial"/>
              </a:rPr>
              <a:t>BRD-1 p.133; BRNB.023, 041</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Quotations prepared in QPS or Excel</a:t>
            </a:r>
          </a:p>
          <a:p>
            <a:pPr>
              <a:spcAft>
                <a:spcPts val="100"/>
              </a:spcAft>
            </a:pPr>
            <a:r>
              <a:rPr sz="1200" b="0">
                <a:solidFill>
                  <a:srgbClr val="4B4B4B"/>
                </a:solidFill>
                <a:latin typeface="Arial"/>
              </a:rPr>
              <a:t>Rating and versions live outside one workflow; approvals by e-mail.</a:t>
            </a:r>
          </a:p>
          <a:p>
            <a:pPr>
              <a:spcAft>
                <a:spcPts val="100"/>
              </a:spcAft>
            </a:pPr>
            <a:r>
              <a:rPr sz="1200" b="0">
                <a:solidFill>
                  <a:srgbClr val="0072D8"/>
                </a:solidFill>
                <a:latin typeface="Arial"/>
              </a:rPr>
              <a:t>BRD-1 p.133; FRS 2.1 row 2</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Non-package placement by e-mail</a:t>
            </a:r>
          </a:p>
          <a:p>
            <a:pPr>
              <a:spcAft>
                <a:spcPts val="100"/>
              </a:spcAft>
            </a:pPr>
            <a:r>
              <a:rPr sz="1200" b="0">
                <a:solidFill>
                  <a:srgbClr val="4B4B4B"/>
                </a:solidFill>
                <a:latin typeface="Arial"/>
              </a:rPr>
              <a:t>TSU receives risks by e-mail and builds the comparative table in Excel.</a:t>
            </a:r>
          </a:p>
          <a:p>
            <a:pPr>
              <a:spcAft>
                <a:spcPts val="100"/>
              </a:spcAft>
            </a:pPr>
            <a:r>
              <a:rPr sz="1200" b="0">
                <a:solidFill>
                  <a:srgbClr val="0072D8"/>
                </a:solidFill>
                <a:latin typeface="Arial"/>
              </a:rPr>
              <a:t>Other Lines addendum p.47</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standard client onboarding</a:t>
            </a:r>
          </a:p>
          <a:p>
            <a:pPr>
              <a:spcAft>
                <a:spcPts val="100"/>
              </a:spcAft>
            </a:pPr>
            <a:r>
              <a:rPr sz="1200" b="0">
                <a:solidFill>
                  <a:srgbClr val="4B4B4B"/>
                </a:solidFill>
                <a:latin typeface="Arial"/>
              </a:rPr>
              <a:t>Clients are created without a KYC verification step.</a:t>
            </a:r>
          </a:p>
          <a:p>
            <a:pPr>
              <a:spcAft>
                <a:spcPts val="100"/>
              </a:spcAft>
            </a:pPr>
            <a:r>
              <a:rPr sz="1200" b="0">
                <a:solidFill>
                  <a:srgbClr val="0072D8"/>
                </a:solidFill>
                <a:latin typeface="Arial"/>
              </a:rPr>
              <a:t>Workshop addendum p.3-5; BRNB.090</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Accounts in spreadsheets</a:t>
            </a:r>
          </a:p>
          <a:p>
            <a:pPr>
              <a:spcAft>
                <a:spcPts val="100"/>
              </a:spcAft>
            </a:pPr>
            <a:r>
              <a:rPr sz="1200" b="0">
                <a:solidFill>
                  <a:srgbClr val="4B4B4B"/>
                </a:solidFill>
                <a:latin typeface="Arial"/>
              </a:rPr>
              <a:t>No single account number; duplicates are found late.</a:t>
            </a:r>
          </a:p>
          <a:p>
            <a:pPr>
              <a:spcAft>
                <a:spcPts val="100"/>
              </a:spcAft>
            </a:pPr>
            <a:r>
              <a:rPr sz="1200" b="0">
                <a:solidFill>
                  <a:srgbClr val="0072D8"/>
                </a:solidFill>
                <a:latin typeface="Arial"/>
              </a:rPr>
              <a:t>BRD-1 p.133; BRNB.032, 051</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CBG Fire billing and payment matching by hand</a:t>
            </a:r>
          </a:p>
          <a:p>
            <a:pPr>
              <a:spcAft>
                <a:spcPts val="100"/>
              </a:spcAft>
            </a:pPr>
            <a:r>
              <a:rPr sz="1200" b="0">
                <a:solidFill>
                  <a:srgbClr val="4B4B4B"/>
                </a:solidFill>
                <a:latin typeface="Arial"/>
              </a:rPr>
              <a:t>The CLPC billing file and payment reports are handled manually.</a:t>
            </a:r>
          </a:p>
          <a:p>
            <a:pPr>
              <a:spcAft>
                <a:spcPts val="100"/>
              </a:spcAft>
            </a:pPr>
            <a:r>
              <a:rPr sz="1200" b="0">
                <a:solidFill>
                  <a:srgbClr val="0072D8"/>
                </a:solidFill>
                <a:latin typeface="Arial"/>
              </a:rPr>
              <a:t>BRD-1 p.133; BRNB.067, 068</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Placement, hold cover, e-policy by e-mail</a:t>
            </a:r>
          </a:p>
          <a:p>
            <a:pPr>
              <a:spcAft>
                <a:spcPts val="100"/>
              </a:spcAft>
            </a:pPr>
            <a:r>
              <a:rPr sz="1200" b="0">
                <a:solidFill>
                  <a:srgbClr val="4B4B4B"/>
                </a:solidFill>
                <a:latin typeface="Arial"/>
              </a:rPr>
              <a:t>Files leave by e-mail with no send log and no protection rule.</a:t>
            </a:r>
          </a:p>
          <a:p>
            <a:pPr>
              <a:spcAft>
                <a:spcPts val="100"/>
              </a:spcAft>
            </a:pPr>
            <a:r>
              <a:rPr sz="1200" b="0">
                <a:solidFill>
                  <a:srgbClr val="0072D8"/>
                </a:solidFill>
                <a:latin typeface="Arial"/>
              </a:rPr>
              <a:t>BRD-1 p.133; BRNB.071, 072, 073</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Booking in separate steps</a:t>
            </a:r>
          </a:p>
          <a:p>
            <a:pPr>
              <a:spcAft>
                <a:spcPts val="100"/>
              </a:spcAft>
            </a:pPr>
            <a:r>
              <a:rPr sz="1200" b="0">
                <a:solidFill>
                  <a:srgbClr val="4B4B4B"/>
                </a:solidFill>
                <a:latin typeface="Arial"/>
              </a:rPr>
              <a:t>Invoice, GL entry and service invoice are separate tasks.</a:t>
            </a:r>
          </a:p>
          <a:p>
            <a:pPr>
              <a:spcAft>
                <a:spcPts val="100"/>
              </a:spcAft>
            </a:pPr>
            <a:r>
              <a:rPr sz="1200" b="0">
                <a:solidFill>
                  <a:srgbClr val="0072D8"/>
                </a:solidFill>
                <a:latin typeface="Arial"/>
              </a:rPr>
              <a:t>BRD-1 p.133-134; BRNB.027, 100</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monitoring by hand</a:t>
            </a:r>
          </a:p>
          <a:p>
            <a:pPr>
              <a:spcAft>
                <a:spcPts val="100"/>
              </a:spcAft>
            </a:pPr>
            <a:r>
              <a:rPr sz="1200" b="0">
                <a:solidFill>
                  <a:srgbClr val="4B4B4B"/>
                </a:solidFill>
                <a:latin typeface="Arial"/>
              </a:rPr>
              <a:t>Status and reconciliation reports are compiled manually.</a:t>
            </a:r>
          </a:p>
          <a:p>
            <a:pPr>
              <a:spcAft>
                <a:spcPts val="100"/>
              </a:spcAft>
            </a:pPr>
            <a:r>
              <a:rPr sz="1200" b="0">
                <a:solidFill>
                  <a:srgbClr val="0072D8"/>
                </a:solidFill>
                <a:latin typeface="Arial"/>
              </a:rPr>
              <a:t>BRD-1 p.133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brd01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Request to booking in BIBS: workflows NB_CLIENT, NB_QUOTATION, NB_PROPOSAL, NB_ACCOUNT (FRS BRD-1 section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arrive by e-mail and are keyed in</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 inbox; HLS extract and bulk files uploaded with a template and row checks</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Up to 5,000 rows a file</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Quotations prepared in QPS or Excel</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rated with the Appendix A formulas, versioned, approved before it is sent</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Approval before send</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Non-package placement by e-mail</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PRF workflow: TSU slips per insurer, insurer terms keyed once, comparative compiled by BIBS</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Comparative not re-keyed</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standard client onboarding</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Prospect, KYC documents, verification by a second user, then confirmed client</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KYC</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Accounts in spreadsheets</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ARN per account; workflow stage; duplicate check at creation</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Duplicates stopped at entry</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CBG Fire billing and payment matching by hand</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CLPC billing file produced and payment report matched in BIBS</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Matching automated</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Placement, hold cover, e-policy by e-mail</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Slips, hold cover requests and e-policies generated, password protected and logged</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 per document</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Booking in separate steps</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Booking posts invoice, GL entry and service invoice in one transaction; batch at 20:00</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step instead of three</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monitoring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Dashboards and status reports read the workflow history</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s response (p.211)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gaps in the envisioned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Quotation before the client exists</a:t>
                      </a:r>
                    </a:p>
                  </a:txBody>
                  <a:tcPr marL="64008" marR="64008" marT="27432" marB="27432" anchor="ctr">
                    <a:solidFill>
                      <a:srgbClr val="FFFFFF"/>
                    </a:solidFill>
                  </a:tcPr>
                </a:tc>
                <a:tc>
                  <a:txBody>
                    <a:bodyPr wrap="square"/>
                    <a:lstStyle/>
                    <a:p>
                      <a:r>
                        <a:rPr sz="1100" b="0">
                          <a:solidFill>
                            <a:srgbClr val="4B4B4B"/>
                          </a:solidFill>
                          <a:latin typeface="Arial"/>
                        </a:rPr>
                        <a:t>Walk-in and bank-referred prospects may not be quotable</a:t>
                      </a:r>
                    </a:p>
                  </a:txBody>
                  <a:tcPr marL="64008" marR="64008" marT="27432" marB="27432" anchor="ctr">
                    <a:solidFill>
                      <a:srgbClr val="FFFFFF"/>
                    </a:solidFill>
                  </a:tcPr>
                </a:tc>
                <a:tc>
                  <a:txBody>
                    <a:bodyPr wrap="square"/>
                    <a:lstStyle/>
                    <a:p>
                      <a:r>
                        <a:rPr sz="1100" b="0">
                          <a:solidFill>
                            <a:srgbClr val="4B4B4B"/>
                          </a:solidFill>
                          <a:latin typeface="Arial"/>
                        </a:rPr>
                        <a:t>Marketing / Product Owner</a:t>
                      </a:r>
                    </a:p>
                  </a:txBody>
                  <a:tcPr marL="64008" marR="64008" marT="27432" marB="27432" anchor="ctr">
                    <a:solidFill>
                      <a:srgbClr val="FFFFFF"/>
                    </a:solidFill>
                  </a:tcPr>
                </a:tc>
                <a:tc>
                  <a:txBody>
                    <a:bodyPr wrap="square"/>
                    <a:lstStyle/>
                    <a:p>
                      <a:r>
                        <a:rPr sz="1100" b="0">
                          <a:solidFill>
                            <a:srgbClr val="4B4B4B"/>
                          </a:solidFill>
                          <a:latin typeface="Arial"/>
                        </a:rPr>
                        <a:t>May BIBS create a prospect code at quotation (BRNB.029 vs 063)?</a:t>
                      </a:r>
                    </a:p>
                  </a:txBody>
                  <a:tcPr marL="64008" marR="64008" marT="27432" marB="27432" anchor="ctr">
                    <a:solidFill>
                      <a:srgbClr val="FFFFFF"/>
                    </a:solidFill>
                  </a:tcPr>
                </a:tc>
                <a:tc>
                  <a:txBody>
                    <a:bodyPr wrap="square"/>
                    <a:lstStyle/>
                    <a:p>
                      <a:r>
                        <a:rPr sz="1100" b="0">
                          <a:solidFill>
                            <a:srgbClr val="4B4B4B"/>
                          </a:solidFill>
                          <a:latin typeface="Arial"/>
                        </a:rPr>
                        <a:t>DCR-001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Fire premium tax rate and base</a:t>
                      </a:r>
                    </a:p>
                  </a:txBody>
                  <a:tcPr marL="64008" marR="64008" marT="27432" marB="27432" anchor="ctr">
                    <a:solidFill>
                      <a:srgbClr val="E5F5FF"/>
                    </a:solidFill>
                  </a:tcPr>
                </a:tc>
                <a:tc>
                  <a:txBody>
                    <a:bodyPr wrap="square"/>
                    <a:lstStyle/>
                    <a:p>
                      <a:r>
                        <a:rPr sz="1100" b="0">
                          <a:solidFill>
                            <a:srgbClr val="4B4B4B"/>
                          </a:solidFill>
                          <a:latin typeface="Arial"/>
                        </a:rPr>
                        <a:t>Gross premium on every Fire quotation and invoice</a:t>
                      </a:r>
                    </a:p>
                  </a:txBody>
                  <a:tcPr marL="64008" marR="64008" marT="27432" marB="27432" anchor="ctr">
                    <a:solidFill>
                      <a:srgbClr val="E5F5FF"/>
                    </a:solidFill>
                  </a:tcPr>
                </a:tc>
                <a:tc>
                  <a:txBody>
                    <a:bodyPr wrap="square"/>
                    <a:lstStyle/>
                    <a:p>
                      <a:r>
                        <a:rPr sz="1100" b="0">
                          <a:solidFill>
                            <a:srgbClr val="4B4B4B"/>
                          </a:solidFill>
                          <a:latin typeface="Arial"/>
                        </a:rPr>
                        <a:t>Comptrollership</a:t>
                      </a:r>
                    </a:p>
                  </a:txBody>
                  <a:tcPr marL="64008" marR="64008" marT="27432" marB="27432" anchor="ctr">
                    <a:solidFill>
                      <a:srgbClr val="E5F5FF"/>
                    </a:solidFill>
                  </a:tcPr>
                </a:tc>
                <a:tc>
                  <a:txBody>
                    <a:bodyPr wrap="square"/>
                    <a:lstStyle/>
                    <a:p>
                      <a:r>
                        <a:rPr sz="1100" b="0">
                          <a:solidFill>
                            <a:srgbClr val="4B4B4B"/>
                          </a:solidFill>
                          <a:latin typeface="Arial"/>
                        </a:rPr>
                        <a:t>Which taxes, rates and bases apply to Fire?</a:t>
                      </a:r>
                    </a:p>
                  </a:txBody>
                  <a:tcPr marL="64008" marR="64008" marT="27432" marB="27432" anchor="ctr">
                    <a:solidFill>
                      <a:srgbClr val="E5F5FF"/>
                    </a:solidFill>
                  </a:tcPr>
                </a:tc>
                <a:tc>
                  <a:txBody>
                    <a:bodyPr wrap="square"/>
                    <a:lstStyle/>
                    <a:p>
                      <a:r>
                        <a:rPr sz="1100" b="0">
                          <a:solidFill>
                            <a:srgbClr val="4B4B4B"/>
                          </a:solidFill>
                          <a:latin typeface="Arial"/>
                        </a:rPr>
                        <a:t>DCR-005</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Motor OD / Theft base 81% or 90% of TSI</a:t>
                      </a:r>
                    </a:p>
                  </a:txBody>
                  <a:tcPr marL="64008" marR="64008" marT="27432" marB="27432" anchor="ctr">
                    <a:solidFill>
                      <a:srgbClr val="FFFFFF"/>
                    </a:solidFill>
                  </a:tcPr>
                </a:tc>
                <a:tc>
                  <a:txBody>
                    <a:bodyPr wrap="square"/>
                    <a:lstStyle/>
                    <a:p>
                      <a:r>
                        <a:rPr sz="1100" b="0">
                          <a:solidFill>
                            <a:srgbClr val="4B4B4B"/>
                          </a:solidFill>
                          <a:latin typeface="Arial"/>
                        </a:rPr>
                        <a:t>Motor premium differs by 9 points of TSI</a:t>
                      </a:r>
                    </a:p>
                  </a:txBody>
                  <a:tcPr marL="64008" marR="64008" marT="27432" marB="27432" anchor="ctr">
                    <a:solidFill>
                      <a:srgbClr val="FFFFFF"/>
                    </a:solidFill>
                  </a:tcPr>
                </a:tc>
                <a:tc>
                  <a:txBody>
                    <a:bodyPr wrap="square"/>
                    <a:lstStyle/>
                    <a:p>
                      <a:r>
                        <a:rPr sz="1100" b="0">
                          <a:solidFill>
                            <a:srgbClr val="4B4B4B"/>
                          </a:solidFill>
                          <a:latin typeface="Arial"/>
                        </a:rPr>
                        <a:t>Marketing / TSU</a:t>
                      </a:r>
                    </a:p>
                  </a:txBody>
                  <a:tcPr marL="64008" marR="64008" marT="27432" marB="27432" anchor="ctr">
                    <a:solidFill>
                      <a:srgbClr val="FFFFFF"/>
                    </a:solidFill>
                  </a:tcPr>
                </a:tc>
                <a:tc>
                  <a:txBody>
                    <a:bodyPr wrap="square"/>
                    <a:lstStyle/>
                    <a:p>
                      <a:r>
                        <a:rPr sz="1100" b="0">
                          <a:solidFill>
                            <a:srgbClr val="4B4B4B"/>
                          </a:solidFill>
                          <a:latin typeface="Arial"/>
                        </a:rPr>
                        <a:t>When each base applies</a:t>
                      </a:r>
                    </a:p>
                  </a:txBody>
                  <a:tcPr marL="64008" marR="64008" marT="27432" marB="27432" anchor="ctr">
                    <a:solidFill>
                      <a:srgbClr val="FFFFFF"/>
                    </a:solidFill>
                  </a:tcPr>
                </a:tc>
                <a:tc>
                  <a:txBody>
                    <a:bodyPr wrap="square"/>
                    <a:lstStyle/>
                    <a:p>
                      <a:r>
                        <a:rPr sz="1100" b="0">
                          <a:solidFill>
                            <a:srgbClr val="4B4B4B"/>
                          </a:solidFill>
                          <a:latin typeface="Arial"/>
                        </a:rPr>
                        <a:t>DCR-006</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CLPC payments and endorsements specified twice</a:t>
                      </a:r>
                    </a:p>
                  </a:txBody>
                  <a:tcPr marL="64008" marR="64008" marT="27432" marB="27432" anchor="ctr">
                    <a:solidFill>
                      <a:srgbClr val="E5F5FF"/>
                    </a:solidFill>
                  </a:tcPr>
                </a:tc>
                <a:tc>
                  <a:txBody>
                    <a:bodyPr wrap="square"/>
                    <a:lstStyle/>
                    <a:p>
                      <a:r>
                        <a:rPr sz="1100" b="0">
                          <a:solidFill>
                            <a:srgbClr val="4B4B4B"/>
                          </a:solidFill>
                          <a:latin typeface="Arial"/>
                        </a:rPr>
                        <a:t>Two payment intakes and two endorsement paths</a:t>
                      </a:r>
                    </a:p>
                  </a:txBody>
                  <a:tcPr marL="64008" marR="64008" marT="27432" marB="27432" anchor="ctr">
                    <a:solidFill>
                      <a:srgbClr val="E5F5FF"/>
                    </a:solidFill>
                  </a:tcPr>
                </a:tc>
                <a:tc>
                  <a:txBody>
                    <a:bodyPr wrap="square"/>
                    <a:lstStyle/>
                    <a:p>
                      <a:r>
                        <a:rPr sz="1100" b="0">
                          <a:solidFill>
                            <a:srgbClr val="4B4B4B"/>
                          </a:solidFill>
                          <a:latin typeface="Arial"/>
                        </a:rPr>
                        <a:t>NB and Operations</a:t>
                      </a:r>
                    </a:p>
                  </a:txBody>
                  <a:tcPr marL="64008" marR="64008" marT="27432" marB="27432" anchor="ctr">
                    <a:solidFill>
                      <a:srgbClr val="E5F5FF"/>
                    </a:solidFill>
                  </a:tcPr>
                </a:tc>
                <a:tc>
                  <a:txBody>
                    <a:bodyPr wrap="square"/>
                    <a:lstStyle/>
                    <a:p>
                      <a:r>
                        <a:rPr sz="1100" b="0">
                          <a:solidFill>
                            <a:srgbClr val="4B4B4B"/>
                          </a:solidFill>
                          <a:latin typeface="Arial"/>
                        </a:rPr>
                        <a:t>Confirm Cashiering as the single payment intake and Adjustment for endorsements</a:t>
                      </a:r>
                    </a:p>
                  </a:txBody>
                  <a:tcPr marL="64008" marR="64008" marT="27432" marB="27432" anchor="ctr">
                    <a:solidFill>
                      <a:srgbClr val="E5F5FF"/>
                    </a:solidFill>
                  </a:tcPr>
                </a:tc>
                <a:tc>
                  <a:txBody>
                    <a:bodyPr wrap="square"/>
                    <a:lstStyle/>
                    <a:p>
                      <a:r>
                        <a:rPr sz="1100" b="0">
                          <a:solidFill>
                            <a:srgbClr val="4B4B4B"/>
                          </a:solidFill>
                          <a:latin typeface="Arial"/>
                        </a:rPr>
                        <a:t>DCR-027</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blocks or warns</a:t>
                      </a:r>
                    </a:p>
                  </a:txBody>
                  <a:tcPr marL="64008" marR="64008" marT="27432" marB="27432" anchor="ctr">
                    <a:solidFill>
                      <a:srgbClr val="FFFFFF"/>
                    </a:solidFill>
                  </a:tcPr>
                </a:tc>
                <a:tc>
                  <a:txBody>
                    <a:bodyPr wrap="square"/>
                    <a:lstStyle/>
                    <a:p>
                      <a:r>
                        <a:rPr sz="1100" b="0">
                          <a:solidFill>
                            <a:srgbClr val="4B4B4B"/>
                          </a:solidFill>
                          <a:latin typeface="Arial"/>
                        </a:rPr>
                        <a:t>Business placed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to booking</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HLS, mailbox, insurer SFTP / API, OCR</a:t>
                      </a:r>
                    </a:p>
                  </a:txBody>
                  <a:tcPr marL="64008" marR="64008" marT="27432" marB="27432" anchor="ctr">
                    <a:solidFill>
                      <a:srgbClr val="E5F5FF"/>
                    </a:solidFill>
                  </a:tcPr>
                </a:tc>
                <a:tc>
                  <a:txBody>
                    <a:bodyPr wrap="square"/>
                    <a:lstStyle/>
                    <a:p>
                      <a:r>
                        <a:rPr sz="1100" b="0">
                          <a:solidFill>
                            <a:srgbClr val="4B4B4B"/>
                          </a:solidFill>
                          <a:latin typeface="Arial"/>
                        </a:rPr>
                        <a:t>Uploads and manual capture remain</a:t>
                      </a:r>
                    </a:p>
                  </a:txBody>
                  <a:tcPr marL="64008" marR="64008" marT="27432" marB="27432" anchor="ctr">
                    <a:solidFill>
                      <a:srgbClr val="E5F5FF"/>
                    </a:solidFill>
                  </a:tcPr>
                </a:tc>
                <a:tc>
                  <a:txBody>
                    <a:bodyPr wrap="square"/>
                    <a:lstStyle/>
                    <a:p>
                      <a:r>
                        <a:rPr sz="1100" b="0">
                          <a:solidFill>
                            <a:srgbClr val="4B4B4B"/>
                          </a:solidFill>
                          <a:latin typeface="Arial"/>
                        </a:rPr>
                        <a:t>BDO IT and insurers</a:t>
                      </a:r>
                    </a:p>
                  </a:txBody>
                  <a:tcPr marL="64008" marR="64008" marT="27432" marB="27432" anchor="ctr">
                    <a:solidFill>
                      <a:srgbClr val="E5F5FF"/>
                    </a:solidFill>
                  </a:tcPr>
                </a:tc>
                <a:tc>
                  <a:txBody>
                    <a:bodyPr wrap="square"/>
                    <a:lstStyle/>
                    <a:p>
                      <a:r>
                        <a:rPr sz="1100" b="0">
                          <a:solidFill>
                            <a:srgbClr val="4B4B4B"/>
                          </a:solidFill>
                          <a:latin typeface="Arial"/>
                        </a:rPr>
                        <a:t>Interface specifications</a:t>
                      </a:r>
                    </a:p>
                  </a:txBody>
                  <a:tcPr marL="64008" marR="64008" marT="27432" marB="27432" anchor="ctr">
                    <a:solidFill>
                      <a:srgbClr val="E5F5FF"/>
                    </a:solidFill>
                  </a:tcPr>
                </a:tc>
                <a:tc>
                  <a:txBody>
                    <a:bodyPr wrap="square"/>
                    <a:lstStyle/>
                    <a:p>
                      <a:r>
                        <a:rPr sz="1100" b="0">
                          <a:solidFill>
                            <a:srgbClr val="4B4B4B"/>
                          </a:solidFill>
                          <a:latin typeface="Arial"/>
                        </a:rPr>
                        <a:t>Q11, Q12, Q06, Q24</a:t>
                      </a:r>
                    </a:p>
                  </a:txBody>
                  <a:tcPr marL="64008" marR="64008" marT="27432" marB="27432" anchor="ctr">
                    <a:solidFill>
                      <a:srgbClr val="E5F5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Straight-through processing with exception queues</a:t>
            </a:r>
          </a:p>
        </p:txBody>
      </p:sp>
      <p:sp>
        <p:nvSpPr>
          <p:cNvPr id="12" name="Rounded Rectangle 11"/>
          <p:cNvSpPr/>
          <p:nvPr/>
        </p:nvSpPr>
        <p:spPr>
          <a:xfrm>
            <a:off x="640080"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Bulk uploads with row checks, batch booking, work queues per stage.</a:t>
            </a:r>
          </a:p>
          <a:p>
            <a:pPr>
              <a:spcAft>
                <a:spcPts val="400"/>
              </a:spcAft>
            </a:pPr>
            <a:r>
              <a:rPr sz="1200" b="1">
                <a:solidFill>
                  <a:srgbClr val="004EA8"/>
                </a:solidFill>
                <a:latin typeface="Arial"/>
              </a:rPr>
              <a:t>BDOI: </a:t>
            </a:r>
            <a:r>
              <a:rPr sz="1200" b="0">
                <a:solidFill>
                  <a:srgbClr val="4B4B4B"/>
                </a:solidFill>
                <a:latin typeface="Arial"/>
              </a:rPr>
              <a:t>Give the product matrix and minimum fields per line (Q01, Q02) so clean cases pass untouched.</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KYC at onboarding and a single client view</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Prospect to confirmed client with four-eyes KYC; one client record for every module.</a:t>
            </a:r>
          </a:p>
          <a:p>
            <a:pPr>
              <a:spcAft>
                <a:spcPts val="400"/>
              </a:spcAft>
            </a:pPr>
            <a:r>
              <a:rPr sz="1200" b="1">
                <a:solidFill>
                  <a:srgbClr val="004EA8"/>
                </a:solidFill>
                <a:latin typeface="Arial"/>
              </a:rPr>
              <a:t>BDOI: </a:t>
            </a:r>
            <a:r>
              <a:rPr sz="1200" b="0">
                <a:solidFill>
                  <a:srgbClr val="4B4B4B"/>
                </a:solidFill>
                <a:latin typeface="Arial"/>
              </a:rPr>
              <a:t>Confirm the BDO KYC standard fields, CIF and duplicate keys (Q16, Q17).</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client documents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Approval before a quotation, PRF or slip is sent; maker cannot approve.</a:t>
            </a:r>
          </a:p>
          <a:p>
            <a:pPr>
              <a:spcAft>
                <a:spcPts val="400"/>
              </a:spcAft>
            </a:pPr>
            <a:r>
              <a:rPr sz="1200" b="1">
                <a:solidFill>
                  <a:srgbClr val="004EA8"/>
                </a:solidFill>
                <a:latin typeface="Arial"/>
              </a:rPr>
              <a:t>BDOI: </a:t>
            </a:r>
            <a:r>
              <a:rPr sz="1200" b="0">
                <a:solidFill>
                  <a:srgbClr val="4B4B4B"/>
                </a:solidFill>
                <a:latin typeface="Arial"/>
              </a:rPr>
              <a:t>Set the approval chain and limits (Q05).</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Password-protected PDF and Excel, password sent separately,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Screening before binding</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Screening on client creation and account submission (BRD-10 design).</a:t>
            </a:r>
          </a:p>
          <a:p>
            <a:pPr>
              <a:spcAft>
                <a:spcPts val="400"/>
              </a:spcAft>
            </a:pPr>
            <a:r>
              <a:rPr sz="1200" b="1">
                <a:solidFill>
                  <a:srgbClr val="004EA8"/>
                </a:solidFill>
                <a:latin typeface="Arial"/>
              </a:rPr>
              <a:t>BDOI: </a:t>
            </a:r>
            <a:r>
              <a:rPr sz="1200" b="0">
                <a:solidFill>
                  <a:srgbClr val="4B4B4B"/>
                </a:solidFill>
                <a:latin typeface="Arial"/>
              </a:rPr>
              <a:t>Decide block or warn while a match is open (DCR-112).</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Production KPIs against target</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Dashboard by region, department, team and officer.</a:t>
            </a:r>
          </a:p>
          <a:p>
            <a:pPr>
              <a:spcAft>
                <a:spcPts val="400"/>
              </a:spcAft>
            </a:pPr>
            <a:r>
              <a:rPr sz="1200" b="1">
                <a:solidFill>
                  <a:srgbClr val="004EA8"/>
                </a:solidFill>
                <a:latin typeface="Arial"/>
              </a:rPr>
              <a:t>BDOI: </a:t>
            </a:r>
            <a:r>
              <a:rPr sz="1200" b="0">
                <a:solidFill>
                  <a:srgbClr val="4B4B4B"/>
                </a:solidFill>
                <a:latin typeface="Arial"/>
              </a:rPr>
              <a:t>Provide the sales hierarchy and targets (Q41).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2. Operations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BRD-2 | Cashiering, Remittance, Production Reconciliation, Adjustment, Commission / Direct Payment</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Operations, Financial Transactions and Processing</a:t>
            </a:r>
          </a:p>
          <a:p>
            <a:pPr>
              <a:spcAft>
                <a:spcPts val="300"/>
              </a:spcAft>
            </a:pPr>
            <a:r>
              <a:rPr sz="1200" b="0">
                <a:solidFill>
                  <a:srgbClr val="004EA8"/>
                </a:solidFill>
                <a:latin typeface="Arial"/>
              </a:rPr>
              <a:t>•  </a:t>
            </a:r>
            <a:r>
              <a:rPr sz="1200" b="0">
                <a:solidFill>
                  <a:srgbClr val="4B4B4B"/>
                </a:solidFill>
                <a:latin typeface="Arial"/>
              </a:rPr>
              <a:t>Cashier, HO (11) and branches (5); Cashiering TL / TH</a:t>
            </a:r>
          </a:p>
          <a:p>
            <a:pPr>
              <a:spcAft>
                <a:spcPts val="300"/>
              </a:spcAft>
            </a:pPr>
            <a:r>
              <a:rPr sz="1200" b="0">
                <a:solidFill>
                  <a:srgbClr val="004EA8"/>
                </a:solidFill>
                <a:latin typeface="Arial"/>
              </a:rPr>
              <a:t>•  </a:t>
            </a:r>
            <a:r>
              <a:rPr sz="1200" b="0">
                <a:solidFill>
                  <a:srgbClr val="4B4B4B"/>
                </a:solidFill>
                <a:latin typeface="Arial"/>
              </a:rPr>
              <a:t>Remittance Processor (4) and TL / TH</a:t>
            </a:r>
          </a:p>
          <a:p>
            <a:pPr>
              <a:spcAft>
                <a:spcPts val="300"/>
              </a:spcAft>
            </a:pPr>
            <a:r>
              <a:rPr sz="1200" b="0">
                <a:solidFill>
                  <a:srgbClr val="004EA8"/>
                </a:solidFill>
                <a:latin typeface="Arial"/>
              </a:rPr>
              <a:t>•  </a:t>
            </a:r>
            <a:r>
              <a:rPr sz="1200" b="0">
                <a:solidFill>
                  <a:srgbClr val="4B4B4B"/>
                </a:solidFill>
                <a:latin typeface="Arial"/>
              </a:rPr>
              <a:t>Production Reconciliation Handler (4)</a:t>
            </a:r>
          </a:p>
          <a:p>
            <a:pPr>
              <a:spcAft>
                <a:spcPts val="300"/>
              </a:spcAft>
            </a:pPr>
            <a:r>
              <a:rPr sz="1200" b="0">
                <a:solidFill>
                  <a:srgbClr val="004EA8"/>
                </a:solidFill>
                <a:latin typeface="Arial"/>
              </a:rPr>
              <a:t>•  </a:t>
            </a:r>
            <a:r>
              <a:rPr sz="1200" b="0">
                <a:solidFill>
                  <a:srgbClr val="4B4B4B"/>
                </a:solidFill>
                <a:latin typeface="Arial"/>
              </a:rPr>
              <a:t>Adjustment Processor (6) and TL</a:t>
            </a:r>
          </a:p>
          <a:p>
            <a:pPr>
              <a:spcAft>
                <a:spcPts val="300"/>
              </a:spcAft>
            </a:pPr>
            <a:r>
              <a:rPr sz="1200" b="0">
                <a:solidFill>
                  <a:srgbClr val="004EA8"/>
                </a:solidFill>
                <a:latin typeface="Arial"/>
              </a:rPr>
              <a:t>•  </a:t>
            </a:r>
            <a:r>
              <a:rPr sz="1200" b="0">
                <a:solidFill>
                  <a:srgbClr val="4B4B4B"/>
                </a:solidFill>
                <a:latin typeface="Arial"/>
              </a:rPr>
              <a:t>Commission Handler and TL / TH</a:t>
            </a:r>
          </a:p>
          <a:p>
            <a:pPr>
              <a:spcAft>
                <a:spcPts val="300"/>
              </a:spcAft>
            </a:pPr>
            <a:r>
              <a:rPr sz="1200" b="0">
                <a:solidFill>
                  <a:srgbClr val="004EA8"/>
                </a:solidFill>
                <a:latin typeface="Arial"/>
              </a:rPr>
              <a:t>•  </a:t>
            </a:r>
            <a:r>
              <a:rPr sz="1200" b="0">
                <a:solidFill>
                  <a:srgbClr val="4B4B4B"/>
                </a:solidFill>
                <a:latin typeface="Arial"/>
              </a:rPr>
              <a:t>Marketing Collection; Comptrollership; Disbursement</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16</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cashiers: 11 head office, 5 branches (annex p.115-120)</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function; batch print of 50 documents &lt; 10 s</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99.9%</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availability; use 07:00-18:30</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1.00</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matching tolerance for insurer feedback (FRS BRD-2)</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2E7D32"/>
                </a:solidFill>
                <a:latin typeface="Arial"/>
              </a:rPr>
              <a:t>Built</a:t>
            </a:r>
          </a:p>
        </p:txBody>
      </p:sp>
      <p:sp>
        <p:nvSpPr>
          <p:cNvPr id="32" name="TextBox 31"/>
          <p:cNvSpPr txBox="1"/>
          <p:nvPr/>
        </p:nvSpPr>
        <p:spPr>
          <a:xfrm>
            <a:off x="9639604" y="1783080"/>
            <a:ext cx="1930298" cy="457200"/>
          </a:xfrm>
          <a:prstGeom prst="rect">
            <a:avLst/>
          </a:prstGeom>
          <a:noFill/>
        </p:spPr>
        <p:txBody>
          <a:bodyPr wrap="square" anchor="ctr" lIns="45720" rIns="45720" tIns="18288" bIns="18288">
            <a:spAutoFit/>
          </a:bodyPr>
          <a:lstStyle/>
          <a:p>
            <a:pPr>
              <a:spcAft>
                <a:spcPts val="400"/>
              </a:spcAft>
            </a:pPr>
            <a:r>
              <a:rPr sz="1200" b="0">
                <a:solidFill>
                  <a:srgbClr val="4B4B4B"/>
                </a:solidFill>
                <a:latin typeface="Arial"/>
              </a:rPr>
              <a:t>Built; FRS v1.0 issued for review</a:t>
            </a:r>
          </a:p>
        </p:txBody>
      </p:sp>
      <p:sp>
        <p:nvSpPr>
          <p:cNvPr id="33" name="TextBox 32"/>
          <p:cNvSpPr txBox="1"/>
          <p:nvPr/>
        </p:nvSpPr>
        <p:spPr>
          <a:xfrm>
            <a:off x="8158276" y="2286000"/>
            <a:ext cx="3393338" cy="25146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BRD-2 p.10-13 (current and envisioned process)</a:t>
            </a:r>
          </a:p>
          <a:p>
            <a:pPr>
              <a:spcAft>
                <a:spcPts val="300"/>
              </a:spcAft>
            </a:pPr>
            <a:r>
              <a:rPr sz="1200" b="0">
                <a:solidFill>
                  <a:srgbClr val="004EA8"/>
                </a:solidFill>
                <a:latin typeface="Arial"/>
              </a:rPr>
              <a:t>•  </a:t>
            </a:r>
            <a:r>
              <a:rPr sz="1200" b="0">
                <a:solidFill>
                  <a:srgbClr val="4B4B4B"/>
                </a:solidFill>
                <a:latin typeface="Arial"/>
              </a:rPr>
              <a:t>CSHID, RMTID, PRCID, ADJID, CMRID, MKTID, DBMID</a:t>
            </a:r>
          </a:p>
          <a:p>
            <a:pPr>
              <a:spcAft>
                <a:spcPts val="300"/>
              </a:spcAft>
            </a:pPr>
            <a:r>
              <a:rPr sz="1200" b="0">
                <a:solidFill>
                  <a:srgbClr val="004EA8"/>
                </a:solidFill>
                <a:latin typeface="Arial"/>
              </a:rPr>
              <a:t>•  </a:t>
            </a:r>
            <a:r>
              <a:rPr sz="1200" b="0">
                <a:solidFill>
                  <a:srgbClr val="4B4B4B"/>
                </a:solidFill>
                <a:latin typeface="Arial"/>
              </a:rPr>
              <a:t>FRS BRD-2 v1.0, sections 1.6 and 2</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Booked invoice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Payment</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Apply</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Unapplied</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Remittance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Disbursement</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Insurer OR</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Reconciliation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brd02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Payment to insurer today (BRD-2 p.11)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receipts</a:t>
            </a:r>
          </a:p>
          <a:p>
            <a:pPr>
              <a:spcAft>
                <a:spcPts val="100"/>
              </a:spcAft>
            </a:pPr>
            <a:r>
              <a:rPr sz="1200" b="0">
                <a:solidFill>
                  <a:srgbClr val="4B4B4B"/>
                </a:solidFill>
                <a:latin typeface="Arial"/>
              </a:rPr>
              <a:t>Payment details are not visible and payment application is fragmented.</a:t>
            </a:r>
          </a:p>
          <a:p>
            <a:pPr>
              <a:spcAft>
                <a:spcPts val="100"/>
              </a:spcAft>
            </a:pPr>
            <a:r>
              <a:rPr sz="1200" b="0">
                <a:solidFill>
                  <a:srgbClr val="0072D8"/>
                </a:solidFill>
                <a:latin typeface="Arial"/>
              </a:rPr>
              <a:t>BRD-2 p.11, item 1; CSHID.001-027</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Remittance extracted by hand</a:t>
            </a:r>
          </a:p>
          <a:p>
            <a:pPr>
              <a:spcAft>
                <a:spcPts val="100"/>
              </a:spcAft>
            </a:pPr>
            <a:r>
              <a:rPr sz="1200" b="0">
                <a:solidFill>
                  <a:srgbClr val="4B4B4B"/>
                </a:solidFill>
                <a:latin typeface="Arial"/>
              </a:rPr>
              <a:t>No batch tracking and no check of what is not for remittance.</a:t>
            </a:r>
          </a:p>
          <a:p>
            <a:pPr>
              <a:spcAft>
                <a:spcPts val="100"/>
              </a:spcAft>
            </a:pPr>
            <a:r>
              <a:rPr sz="1200" b="0">
                <a:solidFill>
                  <a:srgbClr val="0072D8"/>
                </a:solidFill>
                <a:latin typeface="Arial"/>
              </a:rPr>
              <a:t>BRD-2 p.11, item 2; RMTID.001-023</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Insurer reports matched by hand</a:t>
            </a:r>
          </a:p>
          <a:p>
            <a:pPr>
              <a:spcAft>
                <a:spcPts val="100"/>
              </a:spcAft>
            </a:pPr>
            <a:r>
              <a:rPr sz="1200" b="0">
                <a:solidFill>
                  <a:srgbClr val="4B4B4B"/>
                </a:solidFill>
                <a:latin typeface="Arial"/>
              </a:rPr>
              <a:t>Booked accounts are matched manually; unmatched items are checked one by one.</a:t>
            </a:r>
          </a:p>
          <a:p>
            <a:pPr>
              <a:spcAft>
                <a:spcPts val="100"/>
              </a:spcAft>
            </a:pPr>
            <a:r>
              <a:rPr sz="1200" b="0">
                <a:solidFill>
                  <a:srgbClr val="0072D8"/>
                </a:solidFill>
                <a:latin typeface="Arial"/>
              </a:rPr>
              <a:t>BRD-2 p.11, item 3; PRCID.001-039</a:t>
            </a:r>
          </a:p>
        </p:txBody>
      </p:sp>
      <p:sp>
        <p:nvSpPr>
          <p:cNvPr id="15" name="Oval 14"/>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Endorsements computed by hand</a:t>
            </a:r>
          </a:p>
          <a:p>
            <a:pPr>
              <a:spcAft>
                <a:spcPts val="100"/>
              </a:spcAft>
            </a:pPr>
            <a:r>
              <a:rPr sz="1200" b="0">
                <a:solidFill>
                  <a:srgbClr val="4B4B4B"/>
                </a:solidFill>
                <a:latin typeface="Arial"/>
              </a:rPr>
              <a:t>Redundant steps, manual computation and limited traceability.</a:t>
            </a:r>
          </a:p>
          <a:p>
            <a:pPr>
              <a:spcAft>
                <a:spcPts val="100"/>
              </a:spcAft>
            </a:pPr>
            <a:r>
              <a:rPr sz="1200" b="0">
                <a:solidFill>
                  <a:srgbClr val="0072D8"/>
                </a:solidFill>
                <a:latin typeface="Arial"/>
              </a:rPr>
              <a:t>BRD-2 p.11, item 4; ADJID.001-028</a:t>
            </a:r>
          </a:p>
        </p:txBody>
      </p:sp>
      <p:sp>
        <p:nvSpPr>
          <p:cNvPr id="17" name="Oval 16"/>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Reports depend on IT</a:t>
            </a:r>
          </a:p>
          <a:p>
            <a:pPr>
              <a:spcAft>
                <a:spcPts val="100"/>
              </a:spcAft>
            </a:pPr>
            <a:r>
              <a:rPr sz="1200" b="0">
                <a:solidFill>
                  <a:srgbClr val="4B4B4B"/>
                </a:solidFill>
                <a:latin typeface="Arial"/>
              </a:rPr>
              <a:t>Timely, correct and complete reports need the IT Group.</a:t>
            </a:r>
          </a:p>
          <a:p>
            <a:pPr>
              <a:spcAft>
                <a:spcPts val="100"/>
              </a:spcAft>
            </a:pPr>
            <a:r>
              <a:rPr sz="1200" b="0">
                <a:solidFill>
                  <a:srgbClr val="0072D8"/>
                </a:solidFill>
                <a:latin typeface="Arial"/>
              </a:rPr>
              <a:t>BRD-2 p.11, item 5</a:t>
            </a:r>
          </a:p>
        </p:txBody>
      </p:sp>
      <p:sp>
        <p:nvSpPr>
          <p:cNvPr id="19" name="Oval 18"/>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Commission receivables billed by hand</a:t>
            </a:r>
          </a:p>
          <a:p>
            <a:pPr>
              <a:spcAft>
                <a:spcPts val="100"/>
              </a:spcAft>
            </a:pPr>
            <a:r>
              <a:rPr sz="1200" b="0">
                <a:solidFill>
                  <a:srgbClr val="4B4B4B"/>
                </a:solidFill>
                <a:latin typeface="Arial"/>
              </a:rPr>
              <a:t>Direct-payment data are gathered, sanitised and billed to insurers manually.</a:t>
            </a:r>
          </a:p>
          <a:p>
            <a:pPr>
              <a:spcAft>
                <a:spcPts val="100"/>
              </a:spcAft>
            </a:pPr>
            <a:r>
              <a:rPr sz="1200" b="0">
                <a:solidFill>
                  <a:srgbClr val="0072D8"/>
                </a:solidFill>
                <a:latin typeface="Arial"/>
              </a:rPr>
              <a:t>BRD-2 p.11, item 6; CMRID.001-015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brd02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Life of a booked invoice in BIBS: Cashiering, Remittance, Reconciliation, Adjustment, Commission (FRS BRD-2 section 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70078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receipts</a:t>
            </a:r>
          </a:p>
        </p:txBody>
      </p:sp>
      <p:sp>
        <p:nvSpPr>
          <p:cNvPr id="15" name="Right Arrow 14"/>
          <p:cNvSpPr/>
          <p:nvPr/>
        </p:nvSpPr>
        <p:spPr>
          <a:xfrm>
            <a:off x="4736592" y="175564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AR and OR from controlled series; payment matched at acceptance and applied by component</a:t>
            </a:r>
          </a:p>
        </p:txBody>
      </p:sp>
      <p:sp>
        <p:nvSpPr>
          <p:cNvPr id="18" name="TextBox 17"/>
          <p:cNvSpPr txBox="1"/>
          <p:nvPr/>
        </p:nvSpPr>
        <p:spPr>
          <a:xfrm>
            <a:off x="9665208" y="157276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Unapplied money kept in a workbench</a:t>
            </a:r>
          </a:p>
        </p:txBody>
      </p:sp>
      <p:sp>
        <p:nvSpPr>
          <p:cNvPr id="19" name="Oval 18"/>
          <p:cNvSpPr/>
          <p:nvPr/>
        </p:nvSpPr>
        <p:spPr>
          <a:xfrm>
            <a:off x="548640" y="235915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31136"/>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31136"/>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Remittance extracted by hand</a:t>
            </a:r>
          </a:p>
        </p:txBody>
      </p:sp>
      <p:sp>
        <p:nvSpPr>
          <p:cNvPr id="22" name="Right Arrow 21"/>
          <p:cNvSpPr/>
          <p:nvPr/>
        </p:nvSpPr>
        <p:spPr>
          <a:xfrm>
            <a:off x="4736592" y="241401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31136"/>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31136"/>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Scheduled and manual extraction with eligibility checks; batches with approval, DV and insurer OR</a:t>
            </a:r>
          </a:p>
        </p:txBody>
      </p:sp>
      <p:sp>
        <p:nvSpPr>
          <p:cNvPr id="25" name="TextBox 24"/>
          <p:cNvSpPr txBox="1"/>
          <p:nvPr/>
        </p:nvSpPr>
        <p:spPr>
          <a:xfrm>
            <a:off x="9665208" y="2231136"/>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Batch reference per remittance</a:t>
            </a:r>
          </a:p>
        </p:txBody>
      </p:sp>
      <p:sp>
        <p:nvSpPr>
          <p:cNvPr id="26" name="Oval 25"/>
          <p:cNvSpPr/>
          <p:nvPr/>
        </p:nvSpPr>
        <p:spPr>
          <a:xfrm>
            <a:off x="548640" y="301752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89504"/>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89504"/>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 reports matched by hand</a:t>
            </a:r>
          </a:p>
        </p:txBody>
      </p:sp>
      <p:sp>
        <p:nvSpPr>
          <p:cNvPr id="29" name="Right Arrow 28"/>
          <p:cNvSpPr/>
          <p:nvPr/>
        </p:nvSpPr>
        <p:spPr>
          <a:xfrm>
            <a:off x="4736592" y="307238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89504"/>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89504"/>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Register sent to the insurer; feedback uploaded and matched; differences followed to closure</a:t>
            </a:r>
          </a:p>
        </p:txBody>
      </p:sp>
      <p:sp>
        <p:nvSpPr>
          <p:cNvPr id="32" name="TextBox 31"/>
          <p:cNvSpPr txBox="1"/>
          <p:nvPr/>
        </p:nvSpPr>
        <p:spPr>
          <a:xfrm>
            <a:off x="9665208" y="2889504"/>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Tolerance 1.00</a:t>
            </a:r>
          </a:p>
        </p:txBody>
      </p:sp>
      <p:sp>
        <p:nvSpPr>
          <p:cNvPr id="33" name="Oval 32"/>
          <p:cNvSpPr/>
          <p:nvPr/>
        </p:nvSpPr>
        <p:spPr>
          <a:xfrm>
            <a:off x="548640" y="367588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47872"/>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47872"/>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Endorsements computed by hand</a:t>
            </a:r>
          </a:p>
        </p:txBody>
      </p:sp>
      <p:sp>
        <p:nvSpPr>
          <p:cNvPr id="36" name="Right Arrow 35"/>
          <p:cNvSpPr/>
          <p:nvPr/>
        </p:nvSpPr>
        <p:spPr>
          <a:xfrm>
            <a:off x="4736592" y="373075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47872"/>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47872"/>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Endorsement requests recomputed per insurer, approved, posted in batches, linked to the original</a:t>
            </a:r>
          </a:p>
        </p:txBody>
      </p:sp>
      <p:sp>
        <p:nvSpPr>
          <p:cNvPr id="39" name="TextBox 38"/>
          <p:cNvSpPr txBox="1"/>
          <p:nvPr/>
        </p:nvSpPr>
        <p:spPr>
          <a:xfrm>
            <a:off x="9665208" y="3547872"/>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approval</a:t>
            </a:r>
          </a:p>
        </p:txBody>
      </p:sp>
      <p:sp>
        <p:nvSpPr>
          <p:cNvPr id="40" name="Oval 39"/>
          <p:cNvSpPr/>
          <p:nvPr/>
        </p:nvSpPr>
        <p:spPr>
          <a:xfrm>
            <a:off x="548640" y="4334256"/>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206240"/>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206240"/>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depend on IT</a:t>
            </a:r>
          </a:p>
        </p:txBody>
      </p:sp>
      <p:sp>
        <p:nvSpPr>
          <p:cNvPr id="43" name="Right Arrow 42"/>
          <p:cNvSpPr/>
          <p:nvPr/>
        </p:nvSpPr>
        <p:spPr>
          <a:xfrm>
            <a:off x="4736592" y="4389120"/>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206240"/>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206240"/>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run the reports themselves, with view and export rights</a:t>
            </a:r>
          </a:p>
        </p:txBody>
      </p:sp>
      <p:sp>
        <p:nvSpPr>
          <p:cNvPr id="46" name="TextBox 45"/>
          <p:cNvSpPr txBox="1"/>
          <p:nvPr/>
        </p:nvSpPr>
        <p:spPr>
          <a:xfrm>
            <a:off x="9665208" y="4206240"/>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Response &lt; 5 s (annex)</a:t>
            </a:r>
          </a:p>
        </p:txBody>
      </p:sp>
      <p:sp>
        <p:nvSpPr>
          <p:cNvPr id="47" name="Oval 46"/>
          <p:cNvSpPr/>
          <p:nvPr/>
        </p:nvSpPr>
        <p:spPr>
          <a:xfrm>
            <a:off x="548640" y="499262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6460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6460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Commission receivables billed by hand</a:t>
            </a:r>
          </a:p>
        </p:txBody>
      </p:sp>
      <p:sp>
        <p:nvSpPr>
          <p:cNvPr id="50" name="Right Arrow 49"/>
          <p:cNvSpPr/>
          <p:nvPr/>
        </p:nvSpPr>
        <p:spPr>
          <a:xfrm>
            <a:off x="4736592" y="504748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6460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6460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 lists validated and billed per insurer; answers tracked; commission collected with an OR</a:t>
            </a:r>
          </a:p>
        </p:txBody>
      </p:sp>
      <p:sp>
        <p:nvSpPr>
          <p:cNvPr id="53" name="TextBox 52"/>
          <p:cNvSpPr txBox="1"/>
          <p:nvPr/>
        </p:nvSpPr>
        <p:spPr>
          <a:xfrm>
            <a:off x="9665208" y="486460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working days SLA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gaps in the envisioned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Early-remittance incentive in two places</a:t>
                      </a:r>
                    </a:p>
                  </a:txBody>
                  <a:tcPr marL="64008" marR="64008" marT="27432" marB="27432" anchor="ctr">
                    <a:solidFill>
                      <a:srgbClr val="FFFFFF"/>
                    </a:solidFill>
                  </a:tcPr>
                </a:tc>
                <a:tc>
                  <a:txBody>
                    <a:bodyPr wrap="square"/>
                    <a:lstStyle/>
                    <a:p>
                      <a:r>
                        <a:rPr sz="1100" b="0">
                          <a:solidFill>
                            <a:srgbClr val="4B4B4B"/>
                          </a:solidFill>
                          <a:latin typeface="Arial"/>
                        </a:rPr>
                        <a:t>Incentive income computed twice or on the wrong lines</a:t>
                      </a:r>
                    </a:p>
                  </a:txBody>
                  <a:tcPr marL="64008" marR="64008" marT="27432" marB="27432" anchor="ctr">
                    <a:solidFill>
                      <a:srgbClr val="FFFFFF"/>
                    </a:solidFill>
                  </a:tcPr>
                </a:tc>
                <a:tc>
                  <a:txBody>
                    <a:bodyPr wrap="square"/>
                    <a:lstStyle/>
                    <a:p>
                      <a:r>
                        <a:rPr sz="1100" b="0">
                          <a:solidFill>
                            <a:srgbClr val="4B4B4B"/>
                          </a:solidFill>
                          <a:latin typeface="Arial"/>
                        </a:rPr>
                        <a:t>Operations</a:t>
                      </a:r>
                    </a:p>
                  </a:txBody>
                  <a:tcPr marL="64008" marR="64008" marT="27432" marB="27432" anchor="ctr">
                    <a:solidFill>
                      <a:srgbClr val="FFFFFF"/>
                    </a:solidFill>
                  </a:tcPr>
                </a:tc>
                <a:tc>
                  <a:txBody>
                    <a:bodyPr wrap="square"/>
                    <a:lstStyle/>
                    <a:p>
                      <a:r>
                        <a:rPr sz="1100" b="0">
                          <a:solidFill>
                            <a:srgbClr val="4B4B4B"/>
                          </a:solidFill>
                          <a:latin typeface="Arial"/>
                        </a:rPr>
                        <a:t>One programme? Lines, rates and start of the window</a:t>
                      </a:r>
                    </a:p>
                  </a:txBody>
                  <a:tcPr marL="64008" marR="64008" marT="27432" marB="27432" anchor="ctr">
                    <a:solidFill>
                      <a:srgbClr val="FFFFFF"/>
                    </a:solidFill>
                  </a:tcPr>
                </a:tc>
                <a:tc>
                  <a:txBody>
                    <a:bodyPr wrap="square"/>
                    <a:lstStyle/>
                    <a:p>
                      <a:r>
                        <a:rPr sz="1100" b="0">
                          <a:solidFill>
                            <a:srgbClr val="4B4B4B"/>
                          </a:solidFill>
                          <a:latin typeface="Arial"/>
                        </a:rPr>
                        <a:t>DCR-013</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Three minimal-balance rules</a:t>
                      </a:r>
                    </a:p>
                  </a:txBody>
                  <a:tcPr marL="64008" marR="64008" marT="27432" marB="27432" anchor="ctr">
                    <a:solidFill>
                      <a:srgbClr val="E5F5FF"/>
                    </a:solidFill>
                  </a:tcPr>
                </a:tc>
                <a:tc>
                  <a:txBody>
                    <a:bodyPr wrap="square"/>
                    <a:lstStyle/>
                    <a:p>
                      <a:r>
                        <a:rPr sz="1100" b="0">
                          <a:solidFill>
                            <a:srgbClr val="4B4B4B"/>
                          </a:solidFill>
                          <a:latin typeface="Arial"/>
                        </a:rPr>
                        <a:t>Small balances post to different GL accounts</a:t>
                      </a:r>
                    </a:p>
                  </a:txBody>
                  <a:tcPr marL="64008" marR="64008" marT="27432" marB="27432" anchor="ctr">
                    <a:solidFill>
                      <a:srgbClr val="E5F5FF"/>
                    </a:solidFill>
                  </a:tcPr>
                </a:tc>
                <a:tc>
                  <a:txBody>
                    <a:bodyPr wrap="square"/>
                    <a:lstStyle/>
                    <a:p>
                      <a:r>
                        <a:rPr sz="1100" b="0">
                          <a:solidFill>
                            <a:srgbClr val="4B4B4B"/>
                          </a:solidFill>
                          <a:latin typeface="Arial"/>
                        </a:rPr>
                        <a:t>Operations, Comptrollership</a:t>
                      </a:r>
                    </a:p>
                  </a:txBody>
                  <a:tcPr marL="64008" marR="64008" marT="27432" marB="27432" anchor="ctr">
                    <a:solidFill>
                      <a:srgbClr val="E5F5FF"/>
                    </a:solidFill>
                  </a:tcPr>
                </a:tc>
                <a:tc>
                  <a:txBody>
                    <a:bodyPr wrap="square"/>
                    <a:lstStyle/>
                    <a:p>
                      <a:r>
                        <a:rPr sz="1100" b="0">
                          <a:solidFill>
                            <a:srgbClr val="4B4B4B"/>
                          </a:solidFill>
                          <a:latin typeface="Arial"/>
                        </a:rPr>
                        <a:t>One rule at 10.00; GL accounts; who approves write-off</a:t>
                      </a:r>
                    </a:p>
                  </a:txBody>
                  <a:tcPr marL="64008" marR="64008" marT="27432" marB="27432" anchor="ctr">
                    <a:solidFill>
                      <a:srgbClr val="E5F5FF"/>
                    </a:solidFill>
                  </a:tcPr>
                </a:tc>
                <a:tc>
                  <a:txBody>
                    <a:bodyPr wrap="square"/>
                    <a:lstStyle/>
                    <a:p>
                      <a:r>
                        <a:rPr sz="1100" b="0">
                          <a:solidFill>
                            <a:srgbClr val="4B4B4B"/>
                          </a:solidFill>
                          <a:latin typeface="Arial"/>
                        </a:rPr>
                        <a:t>DCR-014</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Paid AR above the DTIP balance</a:t>
                      </a:r>
                    </a:p>
                  </a:txBody>
                  <a:tcPr marL="64008" marR="64008" marT="27432" marB="27432" anchor="ctr">
                    <a:solidFill>
                      <a:srgbClr val="FFFFFF"/>
                    </a:solidFill>
                  </a:tcPr>
                </a:tc>
                <a:tc>
                  <a:txBody>
                    <a:bodyPr wrap="square"/>
                    <a:lstStyle/>
                    <a:p>
                      <a:r>
                        <a:rPr sz="1100" b="0">
                          <a:solidFill>
                            <a:srgbClr val="4B4B4B"/>
                          </a:solidFill>
                          <a:latin typeface="Arial"/>
                        </a:rPr>
                        <a:t>Remittance capped or withheld</a:t>
                      </a:r>
                    </a:p>
                  </a:txBody>
                  <a:tcPr marL="64008" marR="64008" marT="27432" marB="27432" anchor="ctr">
                    <a:solidFill>
                      <a:srgbClr val="FFFFFF"/>
                    </a:solidFill>
                  </a:tcPr>
                </a:tc>
                <a:tc>
                  <a:txBody>
                    <a:bodyPr wrap="square"/>
                    <a:lstStyle/>
                    <a:p>
                      <a:r>
                        <a:rPr sz="1100" b="0">
                          <a:solidFill>
                            <a:srgbClr val="4B4B4B"/>
                          </a:solidFill>
                          <a:latin typeface="Arial"/>
                        </a:rPr>
                        <a:t>Operations</a:t>
                      </a:r>
                    </a:p>
                  </a:txBody>
                  <a:tcPr marL="64008" marR="64008" marT="27432" marB="27432" anchor="ctr">
                    <a:solidFill>
                      <a:srgbClr val="FFFFFF"/>
                    </a:solidFill>
                  </a:tcPr>
                </a:tc>
                <a:tc>
                  <a:txBody>
                    <a:bodyPr wrap="square"/>
                    <a:lstStyle/>
                    <a:p>
                      <a:r>
                        <a:rPr sz="1100" b="0">
                          <a:solidFill>
                            <a:srgbClr val="4B4B4B"/>
                          </a:solidFill>
                          <a:latin typeface="Arial"/>
                        </a:rPr>
                        <a:t>Remit the DTIP balance or exclude the account</a:t>
                      </a:r>
                    </a:p>
                  </a:txBody>
                  <a:tcPr marL="64008" marR="64008" marT="27432" marB="27432" anchor="ctr">
                    <a:solidFill>
                      <a:srgbClr val="FFFFFF"/>
                    </a:solidFill>
                  </a:tcPr>
                </a:tc>
                <a:tc>
                  <a:txBody>
                    <a:bodyPr wrap="square"/>
                    <a:lstStyle/>
                    <a:p>
                      <a:r>
                        <a:rPr sz="1100" b="0">
                          <a:solidFill>
                            <a:srgbClr val="4B4B4B"/>
                          </a:solidFill>
                          <a:latin typeface="Arial"/>
                        </a:rPr>
                        <a:t>DCR-015</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CWT 2307 cash payments without entries</a:t>
                      </a:r>
                    </a:p>
                  </a:txBody>
                  <a:tcPr marL="64008" marR="64008" marT="27432" marB="27432" anchor="ctr">
                    <a:solidFill>
                      <a:srgbClr val="E5F5FF"/>
                    </a:solidFill>
                  </a:tcPr>
                </a:tc>
                <a:tc>
                  <a:txBody>
                    <a:bodyPr wrap="square"/>
                    <a:lstStyle/>
                    <a:p>
                      <a:r>
                        <a:rPr sz="1100" b="0">
                          <a:solidFill>
                            <a:srgbClr val="4B4B4B"/>
                          </a:solidFill>
                          <a:latin typeface="Arial"/>
                        </a:rPr>
                        <a:t>GL entries for CWT unclear</a:t>
                      </a:r>
                    </a:p>
                  </a:txBody>
                  <a:tcPr marL="64008" marR="64008" marT="27432" marB="27432" anchor="ctr">
                    <a:solidFill>
                      <a:srgbClr val="E5F5FF"/>
                    </a:solidFill>
                  </a:tcPr>
                </a:tc>
                <a:tc>
                  <a:txBody>
                    <a:bodyPr wrap="square"/>
                    <a:lstStyle/>
                    <a:p>
                      <a:r>
                        <a:rPr sz="1100" b="0">
                          <a:solidFill>
                            <a:srgbClr val="4B4B4B"/>
                          </a:solidFill>
                          <a:latin typeface="Arial"/>
                        </a:rPr>
                        <a:t>Comptrollership</a:t>
                      </a:r>
                    </a:p>
                  </a:txBody>
                  <a:tcPr marL="64008" marR="64008" marT="27432" marB="27432" anchor="ctr">
                    <a:solidFill>
                      <a:srgbClr val="E5F5FF"/>
                    </a:solidFill>
                  </a:tcPr>
                </a:tc>
                <a:tc>
                  <a:txBody>
                    <a:bodyPr wrap="square"/>
                    <a:lstStyle/>
                    <a:p>
                      <a:r>
                        <a:rPr sz="1100" b="0">
                          <a:solidFill>
                            <a:srgbClr val="4B4B4B"/>
                          </a:solidFill>
                          <a:latin typeface="Arial"/>
                        </a:rPr>
                        <a:t>Give the entries and when Dr DTIP / Cr PR2307 posts</a:t>
                      </a:r>
                    </a:p>
                  </a:txBody>
                  <a:tcPr marL="64008" marR="64008" marT="27432" marB="27432" anchor="ctr">
                    <a:solidFill>
                      <a:srgbClr val="E5F5FF"/>
                    </a:solidFill>
                  </a:tcPr>
                </a:tc>
                <a:tc>
                  <a:txBody>
                    <a:bodyPr wrap="square"/>
                    <a:lstStyle/>
                    <a:p>
                      <a:r>
                        <a:rPr sz="1100" b="0">
                          <a:solidFill>
                            <a:srgbClr val="4B4B4B"/>
                          </a:solidFill>
                          <a:latin typeface="Arial"/>
                        </a:rPr>
                        <a:t>DCR-028</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CLPC payments and endorsements also in BRD-1</a:t>
                      </a:r>
                    </a:p>
                  </a:txBody>
                  <a:tcPr marL="64008" marR="64008" marT="27432" marB="27432" anchor="ctr">
                    <a:solidFill>
                      <a:srgbClr val="FFFFFF"/>
                    </a:solidFill>
                  </a:tcPr>
                </a:tc>
                <a:tc>
                  <a:txBody>
                    <a:bodyPr wrap="square"/>
                    <a:lstStyle/>
                    <a:p>
                      <a:r>
                        <a:rPr sz="1100" b="0">
                          <a:solidFill>
                            <a:srgbClr val="4B4B4B"/>
                          </a:solidFill>
                          <a:latin typeface="Arial"/>
                        </a:rPr>
                        <a:t>Two payment intakes and two endorsement paths</a:t>
                      </a:r>
                    </a:p>
                  </a:txBody>
                  <a:tcPr marL="64008" marR="64008" marT="27432" marB="27432" anchor="ctr">
                    <a:solidFill>
                      <a:srgbClr val="FFFFFF"/>
                    </a:solidFill>
                  </a:tcPr>
                </a:tc>
                <a:tc>
                  <a:txBody>
                    <a:bodyPr wrap="square"/>
                    <a:lstStyle/>
                    <a:p>
                      <a:r>
                        <a:rPr sz="1100" b="0">
                          <a:solidFill>
                            <a:srgbClr val="4B4B4B"/>
                          </a:solidFill>
                          <a:latin typeface="Arial"/>
                        </a:rPr>
                        <a:t>Operations and NB</a:t>
                      </a:r>
                    </a:p>
                  </a:txBody>
                  <a:tcPr marL="64008" marR="64008" marT="27432" marB="27432" anchor="ctr">
                    <a:solidFill>
                      <a:srgbClr val="FFFFFF"/>
                    </a:solidFill>
                  </a:tcPr>
                </a:tc>
                <a:tc>
                  <a:txBody>
                    <a:bodyPr wrap="square"/>
                    <a:lstStyle/>
                    <a:p>
                      <a:r>
                        <a:rPr sz="1100" b="0">
                          <a:solidFill>
                            <a:srgbClr val="4B4B4B"/>
                          </a:solidFill>
                          <a:latin typeface="Arial"/>
                        </a:rPr>
                        <a:t>Confirm Cashiering and Adjustment as owners</a:t>
                      </a:r>
                    </a:p>
                  </a:txBody>
                  <a:tcPr marL="64008" marR="64008" marT="27432" marB="27432" anchor="ctr">
                    <a:solidFill>
                      <a:srgbClr val="FFFFFF"/>
                    </a:solidFill>
                  </a:tcPr>
                </a:tc>
                <a:tc>
                  <a:txBody>
                    <a:bodyPr wrap="square"/>
                    <a:lstStyle/>
                    <a:p>
                      <a:r>
                        <a:rPr sz="1100" b="0">
                          <a:solidFill>
                            <a:srgbClr val="4B4B4B"/>
                          </a:solidFill>
                          <a:latin typeface="Arial"/>
                        </a:rPr>
                        <a:t>DCR-027</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Insurer report pick-up; Collection and Disbursement links</a:t>
                      </a:r>
                    </a:p>
                  </a:txBody>
                  <a:tcPr marL="64008" marR="64008" marT="27432" marB="27432" anchor="ctr">
                    <a:solidFill>
                      <a:srgbClr val="E5F5FF"/>
                    </a:solidFill>
                  </a:tcPr>
                </a:tc>
                <a:tc>
                  <a:txBody>
                    <a:bodyPr wrap="square"/>
                    <a:lstStyle/>
                    <a:p>
                      <a:r>
                        <a:rPr sz="1100" b="0">
                          <a:solidFill>
                            <a:srgbClr val="4B4B4B"/>
                          </a:solidFill>
                          <a:latin typeface="Arial"/>
                        </a:rPr>
                        <a:t>Uploads and in-app queue until BRD-4 / BRD-5 are built</a:t>
                      </a:r>
                    </a:p>
                  </a:txBody>
                  <a:tcPr marL="64008" marR="64008" marT="27432" marB="27432" anchor="ctr">
                    <a:solidFill>
                      <a:srgbClr val="E5F5FF"/>
                    </a:solidFill>
                  </a:tcPr>
                </a:tc>
                <a:tc>
                  <a:txBody>
                    <a:bodyPr wrap="square"/>
                    <a:lstStyle/>
                    <a:p>
                      <a:r>
                        <a:rPr sz="1100" b="0">
                          <a:solidFill>
                            <a:srgbClr val="4B4B4B"/>
                          </a:solidFill>
                          <a:latin typeface="Arial"/>
                        </a:rPr>
                        <a:t>Insurers, BDO IT</a:t>
                      </a:r>
                    </a:p>
                  </a:txBody>
                  <a:tcPr marL="64008" marR="64008" marT="27432" marB="27432" anchor="ctr">
                    <a:solidFill>
                      <a:srgbClr val="E5F5FF"/>
                    </a:solidFill>
                  </a:tcPr>
                </a:tc>
                <a:tc>
                  <a:txBody>
                    <a:bodyPr wrap="square"/>
                    <a:lstStyle/>
                    <a:p>
                      <a:r>
                        <a:rPr sz="1100" b="0">
                          <a:solidFill>
                            <a:srgbClr val="4B4B4B"/>
                          </a:solidFill>
                          <a:latin typeface="Arial"/>
                        </a:rPr>
                        <a:t>Mailbox or SFTP channel per insurer</a:t>
                      </a:r>
                    </a:p>
                  </a:txBody>
                  <a:tcPr marL="64008" marR="64008" marT="27432" marB="27432" anchor="ctr">
                    <a:solidFill>
                      <a:srgbClr val="E5F5FF"/>
                    </a:solidFill>
                  </a:tcPr>
                </a:tc>
                <a:tc>
                  <a:txBody>
                    <a:bodyPr wrap="square"/>
                    <a:lstStyle/>
                    <a:p>
                      <a:r>
                        <a:rPr sz="1100" b="0">
                          <a:solidFill>
                            <a:srgbClr val="4B4B4B"/>
                          </a:solidFill>
                          <a:latin typeface="Arial"/>
                        </a:rPr>
                        <a:t>OQ29, OQ01, OQ02</a:t>
                      </a:r>
                    </a:p>
                  </a:txBody>
                  <a:tcPr marL="64008" marR="64008" marT="27432" marB="27432" anchor="ctr">
                    <a:solidFill>
                      <a:srgbClr val="E5F5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Automated bank and insurer reconciliation</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Bank files uploaded and matched; insurer feedback matched within 1.00; duplicate files refused.</a:t>
            </a:r>
          </a:p>
          <a:p>
            <a:pPr>
              <a:spcAft>
                <a:spcPts val="400"/>
              </a:spcAft>
            </a:pPr>
            <a:r>
              <a:rPr sz="1200" b="1">
                <a:solidFill>
                  <a:srgbClr val="004EA8"/>
                </a:solidFill>
                <a:latin typeface="Arial"/>
              </a:rPr>
              <a:t>BDOI: </a:t>
            </a:r>
            <a:r>
              <a:rPr sz="1200" b="0">
                <a:solidFill>
                  <a:srgbClr val="4B4B4B"/>
                </a:solidFill>
                <a:latin typeface="Arial"/>
              </a:rPr>
              <a:t>Give the bank file layouts and an OR tolerance (OQ03, OQ22).</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Premium remittance discipline</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Only paid, cleared (3 banking days) and eligible premium is batched; holds need a reason.</a:t>
            </a:r>
          </a:p>
          <a:p>
            <a:pPr>
              <a:spcAft>
                <a:spcPts val="400"/>
              </a:spcAft>
            </a:pPr>
            <a:r>
              <a:rPr sz="1200" b="1">
                <a:solidFill>
                  <a:srgbClr val="004EA8"/>
                </a:solidFill>
                <a:latin typeface="Arial"/>
              </a:rPr>
              <a:t>BDOI: </a:t>
            </a:r>
            <a:r>
              <a:rPr sz="1200" b="0">
                <a:solidFill>
                  <a:srgbClr val="4B4B4B"/>
                </a:solidFill>
                <a:latin typeface="Arial"/>
              </a:rPr>
              <a:t>Agree a remittance calendar per insurer and the DTIP rule (DCR-015).</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and segregation of duties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Batch approval, receipt cancellation and endorsements need a TL / TH who is not the maker.</a:t>
            </a:r>
          </a:p>
          <a:p>
            <a:pPr>
              <a:spcAft>
                <a:spcPts val="400"/>
              </a:spcAft>
            </a:pPr>
            <a:r>
              <a:rPr sz="1200" b="1">
                <a:solidFill>
                  <a:srgbClr val="004EA8"/>
                </a:solidFill>
                <a:latin typeface="Arial"/>
              </a:rPr>
              <a:t>BDOI: </a:t>
            </a:r>
            <a:r>
              <a:rPr sz="1200" b="0">
                <a:solidFill>
                  <a:srgbClr val="4B4B4B"/>
                </a:solidFill>
                <a:latin typeface="Arial"/>
              </a:rPr>
              <a:t>Set approver limits per team.</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Unapplied cash under ageing control</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Unapplied workbench with disposition, approval and reversal.</a:t>
            </a:r>
          </a:p>
          <a:p>
            <a:pPr>
              <a:spcAft>
                <a:spcPts val="400"/>
              </a:spcAft>
            </a:pPr>
            <a:r>
              <a:rPr sz="1200" b="1">
                <a:solidFill>
                  <a:srgbClr val="004EA8"/>
                </a:solidFill>
                <a:latin typeface="Arial"/>
              </a:rPr>
              <a:t>BDOI: </a:t>
            </a:r>
            <a:r>
              <a:rPr sz="1200" b="0">
                <a:solidFill>
                  <a:srgbClr val="4B4B4B"/>
                </a:solidFill>
                <a:latin typeface="Arial"/>
              </a:rPr>
              <a:t>One small-balance rule and write-off authority (DCR-014).</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Commission receivable follow-up</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DP billing per insurer with a 10-working-day SLA; incentive scheme engine built.</a:t>
            </a:r>
          </a:p>
          <a:p>
            <a:pPr>
              <a:spcAft>
                <a:spcPts val="400"/>
              </a:spcAft>
            </a:pPr>
            <a:r>
              <a:rPr sz="1200" b="1">
                <a:solidFill>
                  <a:srgbClr val="004EA8"/>
                </a:solidFill>
                <a:latin typeface="Arial"/>
              </a:rPr>
              <a:t>BDOI: </a:t>
            </a:r>
            <a:r>
              <a:rPr sz="1200" b="0">
                <a:solidFill>
                  <a:srgbClr val="4B4B4B"/>
                </a:solidFill>
                <a:latin typeface="Arial"/>
              </a:rPr>
              <a:t>Give incentive targets and amounts so the schemes can go live (OQ39).</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Controlled receipt series</a:t>
            </a:r>
          </a:p>
        </p:txBody>
      </p:sp>
      <p:sp>
        <p:nvSpPr>
          <p:cNvPr id="37" name="Rounded Rectangle 36"/>
          <p:cNvSpPr/>
          <p:nvPr/>
        </p:nvSpPr>
        <p:spPr>
          <a:xfrm>
            <a:off x="8146084"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AR and OR numbered from controlled series per branch; cancellations approved.</a:t>
            </a:r>
          </a:p>
          <a:p>
            <a:pPr>
              <a:spcAft>
                <a:spcPts val="400"/>
              </a:spcAft>
            </a:pPr>
            <a:r>
              <a:rPr sz="1200" b="1">
                <a:solidFill>
                  <a:srgbClr val="004EA8"/>
                </a:solidFill>
                <a:latin typeface="Arial"/>
              </a:rPr>
              <a:t>BDOI: </a:t>
            </a:r>
            <a:r>
              <a:rPr sz="1200" b="0">
                <a:solidFill>
                  <a:srgbClr val="4B4B4B"/>
                </a:solidFill>
                <a:latin typeface="Arial"/>
              </a:rPr>
              <a:t>Confirm OR per batch or per payment for BIR purposes (OQ49).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3. Product Maintenance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BRD-3 | Package products, from the Package Request Form to release and expiry</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Business Services (MBS) and TSU</a:t>
            </a:r>
          </a:p>
          <a:p>
            <a:pPr>
              <a:spcAft>
                <a:spcPts val="300"/>
              </a:spcAft>
            </a:pPr>
            <a:r>
              <a:rPr sz="1200" b="0">
                <a:solidFill>
                  <a:srgbClr val="004EA8"/>
                </a:solidFill>
                <a:latin typeface="Arial"/>
              </a:rPr>
              <a:t>•  </a:t>
            </a:r>
            <a:r>
              <a:rPr sz="1200" b="0">
                <a:solidFill>
                  <a:srgbClr val="4B4B4B"/>
                </a:solidFill>
                <a:latin typeface="Arial"/>
              </a:rPr>
              <a:t>Marketing AO and Marketing TL / TH / UH</a:t>
            </a:r>
          </a:p>
          <a:p>
            <a:pPr>
              <a:spcAft>
                <a:spcPts val="300"/>
              </a:spcAft>
            </a:pPr>
            <a:r>
              <a:rPr sz="1200" b="0">
                <a:solidFill>
                  <a:srgbClr val="004EA8"/>
                </a:solidFill>
                <a:latin typeface="Arial"/>
              </a:rPr>
              <a:t>•  </a:t>
            </a:r>
            <a:r>
              <a:rPr sz="1200" b="0">
                <a:solidFill>
                  <a:srgbClr val="4B4B4B"/>
                </a:solidFill>
                <a:latin typeface="Arial"/>
              </a:rPr>
              <a:t>TSU Officer, TSU Team Lead, TSU Head</a:t>
            </a:r>
          </a:p>
          <a:p>
            <a:pPr>
              <a:spcAft>
                <a:spcPts val="300"/>
              </a:spcAft>
            </a:pPr>
            <a:r>
              <a:rPr sz="1200" b="0">
                <a:solidFill>
                  <a:srgbClr val="004EA8"/>
                </a:solidFill>
                <a:latin typeface="Arial"/>
              </a:rPr>
              <a:t>•  </a:t>
            </a:r>
            <a:r>
              <a:rPr sz="1200" b="0">
                <a:solidFill>
                  <a:srgbClr val="4B4B4B"/>
                </a:solidFill>
                <a:latin typeface="Arial"/>
              </a:rPr>
              <a:t>MBS (package set-up)</a:t>
            </a:r>
          </a:p>
          <a:p>
            <a:pPr>
              <a:spcAft>
                <a:spcPts val="300"/>
              </a:spcAft>
            </a:pPr>
            <a:r>
              <a:rPr sz="1200" b="0">
                <a:solidFill>
                  <a:srgbClr val="004EA8"/>
                </a:solidFill>
                <a:latin typeface="Arial"/>
              </a:rPr>
              <a:t>•  </a:t>
            </a:r>
            <a:r>
              <a:rPr sz="1200" b="0">
                <a:solidFill>
                  <a:srgbClr val="4B4B4B"/>
                </a:solidFill>
                <a:latin typeface="Arial"/>
              </a:rPr>
              <a:t>ManCom (sign-off)</a:t>
            </a:r>
          </a:p>
          <a:p>
            <a:pPr>
              <a:spcAft>
                <a:spcPts val="300"/>
              </a:spcAft>
            </a:pPr>
            <a:r>
              <a:rPr sz="1200" b="0">
                <a:solidFill>
                  <a:srgbClr val="004EA8"/>
                </a:solidFill>
                <a:latin typeface="Arial"/>
              </a:rPr>
              <a:t>•  </a:t>
            </a:r>
            <a:r>
              <a:rPr sz="1200" b="0">
                <a:solidFill>
                  <a:srgbClr val="4B4B4B"/>
                </a:solidFill>
                <a:latin typeface="Arial"/>
              </a:rPr>
              <a:t>Business Administrator (release)</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13</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TSU users, all concurrent; MBS 5 (p.33)</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Marketing users, 145 concurrent (p.33)</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role (p.33)</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99.9%</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availability; use 07:00-18:30 (p.33)</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2E7D32"/>
                </a:solidFill>
                <a:latin typeface="Arial"/>
              </a:rPr>
              <a:t>Built</a:t>
            </a:r>
          </a:p>
        </p:txBody>
      </p:sp>
      <p:sp>
        <p:nvSpPr>
          <p:cNvPr id="32" name="TextBox 31"/>
          <p:cNvSpPr txBox="1"/>
          <p:nvPr/>
        </p:nvSpPr>
        <p:spPr>
          <a:xfrm>
            <a:off x="9639604" y="1783080"/>
            <a:ext cx="1930298" cy="457200"/>
          </a:xfrm>
          <a:prstGeom prst="rect">
            <a:avLst/>
          </a:prstGeom>
          <a:noFill/>
        </p:spPr>
        <p:txBody>
          <a:bodyPr wrap="square" anchor="ctr" lIns="45720" rIns="45720" tIns="18288" bIns="18288">
            <a:spAutoFit/>
          </a:bodyPr>
          <a:lstStyle/>
          <a:p>
            <a:pPr>
              <a:spcAft>
                <a:spcPts val="400"/>
              </a:spcAft>
            </a:pPr>
            <a:r>
              <a:rPr sz="1200" b="0">
                <a:solidFill>
                  <a:srgbClr val="4B4B4B"/>
                </a:solidFill>
                <a:latin typeface="Arial"/>
              </a:rPr>
              <a:t>Built; FRS v1.0 issued for review (reference FRS)</a:t>
            </a:r>
          </a:p>
        </p:txBody>
      </p:sp>
      <p:sp>
        <p:nvSpPr>
          <p:cNvPr id="33" name="TextBox 32"/>
          <p:cNvSpPr txBox="1"/>
          <p:nvPr/>
        </p:nvSpPr>
        <p:spPr>
          <a:xfrm>
            <a:off x="8158276" y="2286000"/>
            <a:ext cx="3393338" cy="25146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BRD-3 p.12-13 (current and envisioned process)</a:t>
            </a:r>
          </a:p>
          <a:p>
            <a:pPr>
              <a:spcAft>
                <a:spcPts val="300"/>
              </a:spcAft>
            </a:pPr>
            <a:r>
              <a:rPr sz="1200" b="0">
                <a:solidFill>
                  <a:srgbClr val="004EA8"/>
                </a:solidFill>
                <a:latin typeface="Arial"/>
              </a:rPr>
              <a:t>•  </a:t>
            </a:r>
            <a:r>
              <a:rPr sz="1200" b="0">
                <a:solidFill>
                  <a:srgbClr val="4B4B4B"/>
                </a:solidFill>
                <a:latin typeface="Arial"/>
              </a:rPr>
              <a:t>BRPM.001-022; workshop addendum PMADD01-06</a:t>
            </a:r>
          </a:p>
          <a:p>
            <a:pPr>
              <a:spcAft>
                <a:spcPts val="300"/>
              </a:spcAft>
            </a:pPr>
            <a:r>
              <a:rPr sz="1200" b="0">
                <a:solidFill>
                  <a:srgbClr val="004EA8"/>
                </a:solidFill>
                <a:latin typeface="Arial"/>
              </a:rPr>
              <a:t>•  </a:t>
            </a:r>
            <a:r>
              <a:rPr sz="1200" b="0">
                <a:solidFill>
                  <a:srgbClr val="4B4B4B"/>
                </a:solidFill>
                <a:latin typeface="Arial"/>
              </a:rPr>
              <a:t>FRS BRD-3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Approval</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TSU review</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Negotiation</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Comparative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ManCom</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Set-up</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Release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pic>
        <p:nvPicPr>
          <p:cNvPr id="9" name="Picture 8" descr="brd03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Package set-up today (BRD-3 p.12-13)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by e-mail</a:t>
            </a:r>
          </a:p>
          <a:p>
            <a:pPr>
              <a:spcAft>
                <a:spcPts val="100"/>
              </a:spcAft>
            </a:pPr>
            <a:r>
              <a:rPr sz="1200" b="0">
                <a:solidFill>
                  <a:srgbClr val="4B4B4B"/>
                </a:solidFill>
                <a:latin typeface="Arial"/>
              </a:rPr>
              <a:t>Marketing requests placements by e-mail using a TSU request form.</a:t>
            </a:r>
          </a:p>
          <a:p>
            <a:pPr>
              <a:spcAft>
                <a:spcPts val="100"/>
              </a:spcAft>
            </a:pPr>
            <a:r>
              <a:rPr sz="1200" b="0">
                <a:solidFill>
                  <a:srgbClr val="0072D8"/>
                </a:solidFill>
                <a:latin typeface="Arial"/>
              </a:rPr>
              <a:t>BRD-3 p.12; BRPM.008</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Quotation slips by e-mail</a:t>
            </a:r>
          </a:p>
          <a:p>
            <a:pPr>
              <a:spcAft>
                <a:spcPts val="100"/>
              </a:spcAft>
            </a:pPr>
            <a:r>
              <a:rPr sz="1200" b="0">
                <a:solidFill>
                  <a:srgbClr val="4B4B4B"/>
                </a:solidFill>
                <a:latin typeface="Arial"/>
              </a:rPr>
              <a:t>TSU prepares and e-mails the slips; no log of what was sent.</a:t>
            </a:r>
          </a:p>
          <a:p>
            <a:pPr>
              <a:spcAft>
                <a:spcPts val="100"/>
              </a:spcAft>
            </a:pPr>
            <a:r>
              <a:rPr sz="1200" b="0">
                <a:solidFill>
                  <a:srgbClr val="0072D8"/>
                </a:solidFill>
                <a:latin typeface="Arial"/>
              </a:rPr>
              <a:t>BRD-3 p.12; BRPM.010</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Insurer replies in mailboxes</a:t>
            </a:r>
          </a:p>
          <a:p>
            <a:pPr>
              <a:spcAft>
                <a:spcPts val="100"/>
              </a:spcAft>
            </a:pPr>
            <a:r>
              <a:rPr sz="1200" b="0">
                <a:solidFill>
                  <a:srgbClr val="4B4B4B"/>
                </a:solidFill>
                <a:latin typeface="Arial"/>
              </a:rPr>
              <a:t>Signed slips and approved terms arrive by e-mail.</a:t>
            </a:r>
          </a:p>
          <a:p>
            <a:pPr>
              <a:spcAft>
                <a:spcPts val="100"/>
              </a:spcAft>
            </a:pPr>
            <a:r>
              <a:rPr sz="1200" b="0">
                <a:solidFill>
                  <a:srgbClr val="0072D8"/>
                </a:solidFill>
                <a:latin typeface="Arial"/>
              </a:rPr>
              <a:t>BRD-3 p.12; BRPM.012</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Comparative in Excel</a:t>
            </a:r>
          </a:p>
          <a:p>
            <a:pPr>
              <a:spcAft>
                <a:spcPts val="100"/>
              </a:spcAft>
            </a:pPr>
            <a:r>
              <a:rPr sz="1200" b="0">
                <a:solidFill>
                  <a:srgbClr val="4B4B4B"/>
                </a:solidFill>
                <a:latin typeface="Arial"/>
              </a:rPr>
              <a:t>Compiled by hand and shared by e-mail.</a:t>
            </a:r>
          </a:p>
          <a:p>
            <a:pPr>
              <a:spcAft>
                <a:spcPts val="100"/>
              </a:spcAft>
            </a:pPr>
            <a:r>
              <a:rPr sz="1200" b="0">
                <a:solidFill>
                  <a:srgbClr val="0072D8"/>
                </a:solidFill>
                <a:latin typeface="Arial"/>
              </a:rPr>
              <a:t>BRD-3 p.12; BRPM.014; PMADD03</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sign-off and advisory</a:t>
            </a:r>
          </a:p>
          <a:p>
            <a:pPr>
              <a:spcAft>
                <a:spcPts val="100"/>
              </a:spcAft>
            </a:pPr>
            <a:r>
              <a:rPr sz="1200" b="0">
                <a:solidFill>
                  <a:srgbClr val="4B4B4B"/>
                </a:solidFill>
                <a:latin typeface="Arial"/>
              </a:rPr>
              <a:t>ManCom sign-off and the advisory are prepared outside a system.</a:t>
            </a:r>
          </a:p>
          <a:p>
            <a:pPr>
              <a:spcAft>
                <a:spcPts val="100"/>
              </a:spcAft>
            </a:pPr>
            <a:r>
              <a:rPr sz="1200" b="0">
                <a:solidFill>
                  <a:srgbClr val="0072D8"/>
                </a:solidFill>
                <a:latin typeface="Arial"/>
              </a:rPr>
              <a:t>BRD-3 p.12-13; BRPM.015, 016</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Documents without a password</a:t>
            </a:r>
          </a:p>
          <a:p>
            <a:pPr>
              <a:spcAft>
                <a:spcPts val="100"/>
              </a:spcAft>
            </a:pPr>
            <a:r>
              <a:rPr sz="1200" b="0">
                <a:solidFill>
                  <a:srgbClr val="4B4B4B"/>
                </a:solidFill>
                <a:latin typeface="Arial"/>
              </a:rPr>
              <a:t>Shared documents have no password protection.</a:t>
            </a:r>
          </a:p>
          <a:p>
            <a:pPr>
              <a:spcAft>
                <a:spcPts val="100"/>
              </a:spcAft>
            </a:pPr>
            <a:r>
              <a:rPr sz="1200" b="0">
                <a:solidFill>
                  <a:srgbClr val="0072D8"/>
                </a:solidFill>
                <a:latin typeface="Arial"/>
              </a:rPr>
              <a:t>BRD-3 p.13</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Expiry in spreadsheets</a:t>
            </a:r>
          </a:p>
          <a:p>
            <a:pPr>
              <a:spcAft>
                <a:spcPts val="100"/>
              </a:spcAft>
            </a:pPr>
            <a:r>
              <a:rPr sz="1200" b="0">
                <a:solidFill>
                  <a:srgbClr val="4B4B4B"/>
                </a:solidFill>
                <a:latin typeface="Arial"/>
              </a:rPr>
              <a:t>Package expiry is monitored in spreadsheets or calendars.</a:t>
            </a:r>
          </a:p>
          <a:p>
            <a:pPr>
              <a:spcAft>
                <a:spcPts val="100"/>
              </a:spcAft>
            </a:pPr>
            <a:r>
              <a:rPr sz="1200" b="0">
                <a:solidFill>
                  <a:srgbClr val="0072D8"/>
                </a:solidFill>
                <a:latin typeface="Arial"/>
              </a:rPr>
              <a:t>BRD-3 p.13; BRPM.017</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History in e-mail threads</a:t>
            </a:r>
          </a:p>
          <a:p>
            <a:pPr>
              <a:spcAft>
                <a:spcPts val="100"/>
              </a:spcAft>
            </a:pPr>
            <a:r>
              <a:rPr sz="1200" b="0">
                <a:solidFill>
                  <a:srgbClr val="4B4B4B"/>
                </a:solidFill>
                <a:latin typeface="Arial"/>
              </a:rPr>
              <a:t>Changes, approvals and documents are tracked in e-mail and files.</a:t>
            </a:r>
          </a:p>
          <a:p>
            <a:pPr>
              <a:spcAft>
                <a:spcPts val="100"/>
              </a:spcAft>
            </a:pPr>
            <a:r>
              <a:rPr sz="1200" b="0">
                <a:solidFill>
                  <a:srgbClr val="0072D8"/>
                </a:solidFill>
                <a:latin typeface="Arial"/>
              </a:rPr>
              <a:t>BRD-3 p.13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pic>
        <p:nvPicPr>
          <p:cNvPr id="9" name="Picture 8" descr="brd03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Package lifecycle in BIBS: workflow PM_PACKAGE_REQUEST (FRS BRD-3 sections 2.2 and 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by e-mail</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Package Request Form logged in BIBS, numbered PKR-yyyy-n and tracked by stage</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Stage and SLA per request</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slips by e-mail</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slips prepared, approved and e-mailed per insurer, protected and logged</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 per slip</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 replies in mailboxes</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TSU keys in each response with its outcome; every change is kept</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Rounds recorded</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Comparative in Excel</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comparative master per package; client views derived from it</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Excel re-compile</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sign-off and advisory</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ManCom signs off in BIBS; the advisory is drafted on release</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Sign-off before release</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Documents without a password</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Documents leave password protected; password in a separate e-mail</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Every document protected</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Expiry in spreadsheets</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Daily job raises expiry alerts and can draft the renewal request</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expiry missed</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History in e-mail threads</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action in the request history and the audit trail</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Full history per package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gaps in the envisioned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criteria without a definition</a:t>
                      </a:r>
                    </a:p>
                  </a:txBody>
                  <a:tcPr marL="64008" marR="64008" marT="27432" marB="27432" anchor="ctr">
                    <a:solidFill>
                      <a:srgbClr val="FFFFFF"/>
                    </a:solidFill>
                  </a:tcPr>
                </a:tc>
                <a:tc>
                  <a:txBody>
                    <a:bodyPr wrap="square"/>
                    <a:lstStyle/>
                    <a:p>
                      <a:r>
                        <a:rPr sz="1100" b="0">
                          <a:solidFill>
                            <a:srgbClr val="4B4B4B"/>
                          </a:solidFill>
                          <a:latin typeface="Arial"/>
                        </a:rPr>
                        <a:t>Incentive income across four BRDs</a:t>
                      </a:r>
                    </a:p>
                  </a:txBody>
                  <a:tcPr marL="64008" marR="64008" marT="27432" marB="27432" anchor="ctr">
                    <a:solidFill>
                      <a:srgbClr val="FFFFFF"/>
                    </a:solidFill>
                  </a:tcPr>
                </a:tc>
                <a:tc>
                  <a:txBody>
                    <a:bodyPr wrap="square"/>
                    <a:lstStyle/>
                    <a:p>
                      <a:r>
                        <a:rPr sz="1100" b="0">
                          <a:solidFill>
                            <a:srgbClr val="4B4B4B"/>
                          </a:solidFill>
                          <a:latin typeface="Arial"/>
                        </a:rPr>
                        <a:t>MBS, Comptrollership</a:t>
                      </a:r>
                    </a:p>
                  </a:txBody>
                  <a:tcPr marL="64008" marR="64008" marT="27432" marB="27432" anchor="ctr">
                    <a:solidFill>
                      <a:srgbClr val="FFFFFF"/>
                    </a:solidFill>
                  </a:tcPr>
                </a:tc>
                <a:tc>
                  <a:txBody>
                    <a:bodyPr wrap="square"/>
                    <a:lstStyle/>
                    <a:p>
                      <a:r>
                        <a:rPr sz="1100" b="0">
                          <a:solidFill>
                            <a:srgbClr val="4B4B4B"/>
                          </a:solidFill>
                          <a:latin typeface="Arial"/>
                        </a:rPr>
                        <a:t>List the programmes (CPC2 and others) with rate, base, payer</a:t>
                      </a:r>
                    </a:p>
                  </a:txBody>
                  <a:tcPr marL="64008" marR="64008" marT="27432" marB="27432" anchor="ctr">
                    <a:solidFill>
                      <a:srgbClr val="FFFFFF"/>
                    </a:solidFill>
                  </a:tcPr>
                </a:tc>
                <a:tc>
                  <a:txBody>
                    <a:bodyPr wrap="square"/>
                    <a:lstStyle/>
                    <a:p>
                      <a:r>
                        <a:rPr sz="1100" b="0">
                          <a:solidFill>
                            <a:srgbClr val="4B4B4B"/>
                          </a:solidFill>
                          <a:latin typeface="Arial"/>
                        </a:rPr>
                        <a:t>DCR-037</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Password convention for documents</a:t>
                      </a:r>
                    </a:p>
                  </a:txBody>
                  <a:tcPr marL="64008" marR="64008" marT="27432" marB="27432" anchor="ctr">
                    <a:solidFill>
                      <a:srgbClr val="E5F5FF"/>
                    </a:solidFill>
                  </a:tcPr>
                </a:tc>
                <a:tc>
                  <a:txBody>
                    <a:bodyPr wrap="square"/>
                    <a:lstStyle/>
                    <a:p>
                      <a:r>
                        <a:rPr sz="1100" b="0">
                          <a:solidFill>
                            <a:srgbClr val="4B4B4B"/>
                          </a:solidFill>
                          <a:latin typeface="Arial"/>
                        </a:rPr>
                        <a:t>Clients and insurers cannot open files without a known rule</a:t>
                      </a:r>
                    </a:p>
                  </a:txBody>
                  <a:tcPr marL="64008" marR="64008" marT="27432" marB="27432" anchor="ctr">
                    <a:solidFill>
                      <a:srgbClr val="E5F5FF"/>
                    </a:solidFill>
                  </a:tcPr>
                </a:tc>
                <a:tc>
                  <a:txBody>
                    <a:bodyPr wrap="square"/>
                    <a:lstStyle/>
                    <a:p>
                      <a:r>
                        <a:rPr sz="1100" b="0">
                          <a:solidFill>
                            <a:srgbClr val="4B4B4B"/>
                          </a:solidFill>
                          <a:latin typeface="Arial"/>
                        </a:rPr>
                        <a:t>MBS, Information Security</a:t>
                      </a:r>
                    </a:p>
                  </a:txBody>
                  <a:tcPr marL="64008" marR="64008" marT="27432" marB="27432" anchor="ctr">
                    <a:solidFill>
                      <a:srgbClr val="E5F5FF"/>
                    </a:solidFill>
                  </a:tcPr>
                </a:tc>
                <a:tc>
                  <a:txBody>
                    <a:bodyPr wrap="square"/>
                    <a:lstStyle/>
                    <a:p>
                      <a:r>
                        <a:rPr sz="1100" b="0">
                          <a:solidFill>
                            <a:srgbClr val="4B4B4B"/>
                          </a:solidFill>
                          <a:latin typeface="Arial"/>
                        </a:rPr>
                        <a:t>Password rule per document type</a:t>
                      </a:r>
                    </a:p>
                  </a:txBody>
                  <a:tcPr marL="64008" marR="64008" marT="27432" marB="27432" anchor="ctr">
                    <a:solidFill>
                      <a:srgbClr val="E5F5FF"/>
                    </a:solidFill>
                  </a:tcPr>
                </a:tc>
                <a:tc>
                  <a:txBody>
                    <a:bodyPr wrap="square"/>
                    <a:lstStyle/>
                    <a:p>
                      <a:r>
                        <a:rPr sz="1100" b="0">
                          <a:solidFill>
                            <a:srgbClr val="4B4B4B"/>
                          </a:solidFill>
                          <a:latin typeface="Arial"/>
                        </a:rPr>
                        <a:t>DCR-153</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Role-to-action matrix; ManCom decision rule</a:t>
                      </a:r>
                    </a:p>
                  </a:txBody>
                  <a:tcPr marL="64008" marR="64008" marT="27432" marB="27432" anchor="ctr">
                    <a:solidFill>
                      <a:srgbClr val="FFFFFF"/>
                    </a:solidFill>
                  </a:tcPr>
                </a:tc>
                <a:tc>
                  <a:txBody>
                    <a:bodyPr wrap="square"/>
                    <a:lstStyle/>
                    <a:p>
                      <a:r>
                        <a:rPr sz="1100" b="0">
                          <a:solidFill>
                            <a:srgbClr val="4B4B4B"/>
                          </a:solidFill>
                          <a:latin typeface="Arial"/>
                        </a:rPr>
                        <a:t>Approval routing and persona tests</a:t>
                      </a:r>
                    </a:p>
                  </a:txBody>
                  <a:tcPr marL="64008" marR="64008" marT="27432" marB="27432" anchor="ctr">
                    <a:solidFill>
                      <a:srgbClr val="FFFFFF"/>
                    </a:solidFill>
                  </a:tcPr>
                </a:tc>
                <a:tc>
                  <a:txBody>
                    <a:bodyPr wrap="square"/>
                    <a:lstStyle/>
                    <a:p>
                      <a:r>
                        <a:rPr sz="1100" b="0">
                          <a:solidFill>
                            <a:srgbClr val="4B4B4B"/>
                          </a:solidFill>
                          <a:latin typeface="Arial"/>
                        </a:rPr>
                        <a:t>MBS and TSU</a:t>
                      </a:r>
                    </a:p>
                  </a:txBody>
                  <a:tcPr marL="64008" marR="64008" marT="27432" marB="27432" anchor="ctr">
                    <a:solidFill>
                      <a:srgbClr val="FFFFFF"/>
                    </a:solidFill>
                  </a:tcPr>
                </a:tc>
                <a:tc>
                  <a:txBody>
                    <a:bodyPr wrap="square"/>
                    <a:lstStyle/>
                    <a:p>
                      <a:r>
                        <a:rPr sz="1100" b="0">
                          <a:solidFill>
                            <a:srgbClr val="4B4B4B"/>
                          </a:solidFill>
                          <a:latin typeface="Arial"/>
                        </a:rPr>
                        <a:t>Approve the matrix; ManCom membership and quorum</a:t>
                      </a:r>
                    </a:p>
                  </a:txBody>
                  <a:tcPr marL="64008" marR="64008" marT="27432" marB="27432" anchor="ctr">
                    <a:solidFill>
                      <a:srgbClr val="FFFFFF"/>
                    </a:solidFill>
                  </a:tcPr>
                </a:tc>
                <a:tc>
                  <a:txBody>
                    <a:bodyPr wrap="square"/>
                    <a:lstStyle/>
                    <a:p>
                      <a:r>
                        <a:rPr sz="1100" b="0">
                          <a:solidFill>
                            <a:srgbClr val="4B4B4B"/>
                          </a:solidFill>
                          <a:latin typeface="Arial"/>
                        </a:rPr>
                        <a:t>DCR-035</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Non-package product maintenance</a:t>
                      </a:r>
                    </a:p>
                  </a:txBody>
                  <a:tcPr marL="64008" marR="64008" marT="27432" marB="27432" anchor="ctr">
                    <a:solidFill>
                      <a:srgbClr val="E5F5FF"/>
                    </a:solidFill>
                  </a:tcPr>
                </a:tc>
                <a:tc>
                  <a:txBody>
                    <a:bodyPr wrap="square"/>
                    <a:lstStyle/>
                    <a:p>
                      <a:r>
                        <a:rPr sz="1100" b="0">
                          <a:solidFill>
                            <a:srgbClr val="4B4B4B"/>
                          </a:solidFill>
                          <a:latin typeface="Arial"/>
                        </a:rPr>
                        <a:t>Scope of the module</a:t>
                      </a:r>
                    </a:p>
                  </a:txBody>
                  <a:tcPr marL="64008" marR="64008" marT="27432" marB="27432" anchor="ctr">
                    <a:solidFill>
                      <a:srgbClr val="E5F5FF"/>
                    </a:solidFill>
                  </a:tcPr>
                </a:tc>
                <a:tc>
                  <a:txBody>
                    <a:bodyPr wrap="square"/>
                    <a:lstStyle/>
                    <a:p>
                      <a:r>
                        <a:rPr sz="1100" b="0">
                          <a:solidFill>
                            <a:srgbClr val="4B4B4B"/>
                          </a:solidFill>
                          <a:latin typeface="Arial"/>
                        </a:rPr>
                        <a:t>MBS</a:t>
                      </a:r>
                    </a:p>
                  </a:txBody>
                  <a:tcPr marL="64008" marR="64008" marT="27432" marB="27432" anchor="ctr">
                    <a:solidFill>
                      <a:srgbClr val="E5F5FF"/>
                    </a:solidFill>
                  </a:tcPr>
                </a:tc>
                <a:tc>
                  <a:txBody>
                    <a:bodyPr wrap="square"/>
                    <a:lstStyle/>
                    <a:p>
                      <a:r>
                        <a:rPr sz="1100" b="0">
                          <a:solidFill>
                            <a:srgbClr val="4B4B4B"/>
                          </a:solidFill>
                          <a:latin typeface="Arial"/>
                        </a:rPr>
                        <a:t>Confirm out of scope for this phase</a:t>
                      </a:r>
                    </a:p>
                  </a:txBody>
                  <a:tcPr marL="64008" marR="64008" marT="27432" marB="27432" anchor="ctr">
                    <a:solidFill>
                      <a:srgbClr val="E5F5FF"/>
                    </a:solidFill>
                  </a:tcPr>
                </a:tc>
                <a:tc>
                  <a:txBody>
                    <a:bodyPr wrap="square"/>
                    <a:lstStyle/>
                    <a:p>
                      <a:r>
                        <a:rPr sz="1100" b="0">
                          <a:solidFill>
                            <a:srgbClr val="4B4B4B"/>
                          </a:solidFill>
                          <a:latin typeface="Arial"/>
                        </a:rPr>
                        <a:t>DCR-036</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BRQID.008 dropped without a revision entry</a:t>
                      </a:r>
                    </a:p>
                  </a:txBody>
                  <a:tcPr marL="64008" marR="64008" marT="27432" marB="27432" anchor="ctr">
                    <a:solidFill>
                      <a:srgbClr val="FFFFFF"/>
                    </a:solidFill>
                  </a:tcPr>
                </a:tc>
                <a:tc>
                  <a:txBody>
                    <a:bodyPr wrap="square"/>
                    <a:lstStyle/>
                    <a:p>
                      <a:r>
                        <a:rPr sz="1100" b="0">
                          <a:solidFill>
                            <a:srgbClr val="4B4B4B"/>
                          </a:solidFill>
                          <a:latin typeface="Arial"/>
                        </a:rPr>
                        <a:t>Renewals repriced without client evidence</a:t>
                      </a:r>
                    </a:p>
                  </a:txBody>
                  <a:tcPr marL="64008" marR="64008" marT="27432" marB="27432" anchor="ctr">
                    <a:solidFill>
                      <a:srgbClr val="FFFFFF"/>
                    </a:solidFill>
                  </a:tcPr>
                </a:tc>
                <a:tc>
                  <a:txBody>
                    <a:bodyPr wrap="square"/>
                    <a:lstStyle/>
                    <a:p>
                      <a:r>
                        <a:rPr sz="1100" b="0">
                          <a:solidFill>
                            <a:srgbClr val="4B4B4B"/>
                          </a:solidFill>
                          <a:latin typeface="Arial"/>
                        </a:rPr>
                        <a:t>MBS</a:t>
                      </a:r>
                    </a:p>
                  </a:txBody>
                  <a:tcPr marL="64008" marR="64008" marT="27432" marB="27432" anchor="ctr">
                    <a:solidFill>
                      <a:srgbClr val="FFFFFF"/>
                    </a:solidFill>
                  </a:tcPr>
                </a:tc>
                <a:tc>
                  <a:txBody>
                    <a:bodyPr wrap="square"/>
                    <a:lstStyle/>
                    <a:p>
                      <a:r>
                        <a:rPr sz="1100" b="0">
                          <a:solidFill>
                            <a:srgbClr val="4B4B4B"/>
                          </a:solidFill>
                          <a:latin typeface="Arial"/>
                        </a:rPr>
                        <a:t>Confirm BRRN.038 now governs</a:t>
                      </a:r>
                    </a:p>
                  </a:txBody>
                  <a:tcPr marL="64008" marR="64008" marT="27432" marB="27432" anchor="ctr">
                    <a:solidFill>
                      <a:srgbClr val="FFFFFF"/>
                    </a:solidFill>
                  </a:tcPr>
                </a:tc>
                <a:tc>
                  <a:txBody>
                    <a:bodyPr wrap="square"/>
                    <a:lstStyle/>
                    <a:p>
                      <a:r>
                        <a:rPr sz="1100" b="0">
                          <a:solidFill>
                            <a:srgbClr val="4B4B4B"/>
                          </a:solidFill>
                          <a:latin typeface="Arial"/>
                        </a:rPr>
                        <a:t>DCR-030</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Product master feed to other BDOI systems</a:t>
                      </a:r>
                    </a:p>
                  </a:txBody>
                  <a:tcPr marL="64008" marR="64008" marT="27432" marB="27432" anchor="ctr">
                    <a:solidFill>
                      <a:srgbClr val="E5F5FF"/>
                    </a:solidFill>
                  </a:tcPr>
                </a:tc>
                <a:tc>
                  <a:txBody>
                    <a:bodyPr wrap="square"/>
                    <a:lstStyle/>
                    <a:p>
                      <a:r>
                        <a:rPr sz="1100" b="0">
                          <a:solidFill>
                            <a:srgbClr val="4B4B4B"/>
                          </a:solidFill>
                          <a:latin typeface="Arial"/>
                        </a:rPr>
                        <a:t>Other systems not updated automatically</a:t>
                      </a:r>
                    </a:p>
                  </a:txBody>
                  <a:tcPr marL="64008" marR="64008" marT="27432" marB="27432" anchor="ctr">
                    <a:solidFill>
                      <a:srgbClr val="E5F5FF"/>
                    </a:solidFill>
                  </a:tcPr>
                </a:tc>
                <a:tc>
                  <a:txBody>
                    <a:bodyPr wrap="square"/>
                    <a:lstStyle/>
                    <a:p>
                      <a:r>
                        <a:rPr sz="1100" b="0">
                          <a:solidFill>
                            <a:srgbClr val="4B4B4B"/>
                          </a:solidFill>
                          <a:latin typeface="Arial"/>
                        </a:rPr>
                        <a:t>BDO IT</a:t>
                      </a:r>
                    </a:p>
                  </a:txBody>
                  <a:tcPr marL="64008" marR="64008" marT="27432" marB="27432" anchor="ctr">
                    <a:solidFill>
                      <a:srgbClr val="E5F5FF"/>
                    </a:solidFill>
                  </a:tcPr>
                </a:tc>
                <a:tc>
                  <a:txBody>
                    <a:bodyPr wrap="square"/>
                    <a:lstStyle/>
                    <a:p>
                      <a:r>
                        <a:rPr sz="1100" b="0">
                          <a:solidFill>
                            <a:srgbClr val="4B4B4B"/>
                          </a:solidFill>
                          <a:latin typeface="Arial"/>
                        </a:rPr>
                        <a:t>Which systems receive product changes</a:t>
                      </a:r>
                    </a:p>
                  </a:txBody>
                  <a:tcPr marL="64008" marR="64008" marT="27432" marB="27432" anchor="ctr">
                    <a:solidFill>
                      <a:srgbClr val="E5F5FF"/>
                    </a:solidFill>
                  </a:tcPr>
                </a:tc>
                <a:tc>
                  <a:txBody>
                    <a:bodyPr wrap="square"/>
                    <a:lstStyle/>
                    <a:p>
                      <a:r>
                        <a:rPr sz="1100" b="0">
                          <a:solidFill>
                            <a:srgbClr val="4B4B4B"/>
                          </a:solidFill>
                          <a:latin typeface="Arial"/>
                        </a:rPr>
                        <a:t>PQ16</a:t>
                      </a:r>
                    </a:p>
                  </a:txBody>
                  <a:tcPr marL="64008" marR="64008" marT="27432" marB="27432" anchor="ctr">
                    <a:solidFill>
                      <a:srgbClr val="E5F5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Configurable rules owned by the business</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Products, package versions, rates and incentive criteria kept as masters, maintained without IT.</a:t>
            </a:r>
          </a:p>
          <a:p>
            <a:pPr>
              <a:spcAft>
                <a:spcPts val="400"/>
              </a:spcAft>
            </a:pPr>
            <a:r>
              <a:rPr sz="1200" b="1">
                <a:solidFill>
                  <a:srgbClr val="004EA8"/>
                </a:solidFill>
                <a:latin typeface="Arial"/>
              </a:rPr>
              <a:t>BDOI: </a:t>
            </a:r>
            <a:r>
              <a:rPr sz="1200" b="0">
                <a:solidFill>
                  <a:srgbClr val="4B4B4B"/>
                </a:solidFill>
                <a:latin typeface="Arial"/>
              </a:rPr>
              <a:t>Name the business owner of each master and its approver.</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product changes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Marketing approval, TSU Head approval, ManCom sign-off and release validation; never the maker.</a:t>
            </a:r>
          </a:p>
          <a:p>
            <a:pPr>
              <a:spcAft>
                <a:spcPts val="400"/>
              </a:spcAft>
            </a:pPr>
            <a:r>
              <a:rPr sz="1200" b="1">
                <a:solidFill>
                  <a:srgbClr val="004EA8"/>
                </a:solidFill>
                <a:latin typeface="Arial"/>
              </a:rPr>
              <a:t>BDOI: </a:t>
            </a:r>
            <a:r>
              <a:rPr sz="1200" b="0">
                <a:solidFill>
                  <a:srgbClr val="4B4B4B"/>
                </a:solidFill>
                <a:latin typeface="Arial"/>
              </a:rPr>
              <a:t>Approve the role-to-action matrix (DCR-035).</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version of the terms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One comparative master per request and versioned packages; old versions locked.</a:t>
            </a:r>
          </a:p>
          <a:p>
            <a:pPr>
              <a:spcAft>
                <a:spcPts val="400"/>
              </a:spcAft>
            </a:pPr>
            <a:r>
              <a:rPr sz="1200" b="1">
                <a:solidFill>
                  <a:srgbClr val="004EA8"/>
                </a:solidFill>
                <a:latin typeface="Arial"/>
              </a:rPr>
              <a:t>BDOI: </a:t>
            </a:r>
            <a:r>
              <a:rPr sz="1200" b="0">
                <a:solidFill>
                  <a:srgbClr val="4B4B4B"/>
                </a:solidFill>
                <a:latin typeface="Arial"/>
              </a:rPr>
              <a:t>Retire Excel comparatives once BIBS is live.</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Slips and advisories password protected, password sent separately,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Expiry and renewal pipeline</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Daily expiry alerts and a renewal request pre-filled from the current version.</a:t>
            </a:r>
          </a:p>
          <a:p>
            <a:pPr>
              <a:spcAft>
                <a:spcPts val="400"/>
              </a:spcAft>
            </a:pPr>
            <a:r>
              <a:rPr sz="1200" b="1">
                <a:solidFill>
                  <a:srgbClr val="004EA8"/>
                </a:solidFill>
                <a:latin typeface="Arial"/>
              </a:rPr>
              <a:t>BDOI: </a:t>
            </a:r>
            <a:r>
              <a:rPr sz="1200" b="0">
                <a:solidFill>
                  <a:srgbClr val="4B4B4B"/>
                </a:solidFill>
                <a:latin typeface="Arial"/>
              </a:rPr>
              <a:t>Set the lead days per package type.</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KPI on package turnaround</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Stage history and SLA per stage (for example 120 hours for negotiation).</a:t>
            </a:r>
          </a:p>
          <a:p>
            <a:pPr>
              <a:spcAft>
                <a:spcPts val="400"/>
              </a:spcAft>
            </a:pPr>
            <a:r>
              <a:rPr sz="1200" b="1">
                <a:solidFill>
                  <a:srgbClr val="004EA8"/>
                </a:solidFill>
                <a:latin typeface="Arial"/>
              </a:rPr>
              <a:t>BDOI: </a:t>
            </a:r>
            <a:r>
              <a:rPr sz="1200" b="0">
                <a:solidFill>
                  <a:srgbClr val="4B4B4B"/>
                </a:solidFill>
                <a:latin typeface="Arial"/>
              </a:rPr>
              <a:t>Adopt turnaround targets per stage and review them monthly.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4. Collections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BRD-4 | Premium receivable follow-up, unapplied payments, escalation and billing statements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Operations - Collections, with Marketing collection staff</a:t>
            </a:r>
          </a:p>
          <a:p>
            <a:pPr>
              <a:spcAft>
                <a:spcPts val="300"/>
              </a:spcAft>
            </a:pPr>
            <a:r>
              <a:rPr sz="1200" b="0">
                <a:solidFill>
                  <a:srgbClr val="004EA8"/>
                </a:solidFill>
                <a:latin typeface="Arial"/>
              </a:rPr>
              <a:t>•  </a:t>
            </a:r>
            <a:r>
              <a:rPr sz="1200" b="0">
                <a:solidFill>
                  <a:srgbClr val="4B4B4B"/>
                </a:solidFill>
                <a:latin typeface="Arial"/>
              </a:rPr>
              <a:t>Collection Handler; Marketing AO and Marketing Handler</a:t>
            </a:r>
          </a:p>
          <a:p>
            <a:pPr>
              <a:spcAft>
                <a:spcPts val="300"/>
              </a:spcAft>
            </a:pPr>
            <a:r>
              <a:rPr sz="1200" b="0">
                <a:solidFill>
                  <a:srgbClr val="004EA8"/>
                </a:solidFill>
                <a:latin typeface="Arial"/>
              </a:rPr>
              <a:t>•  </a:t>
            </a:r>
            <a:r>
              <a:rPr sz="1200" b="0">
                <a:solidFill>
                  <a:srgbClr val="4B4B4B"/>
                </a:solidFill>
                <a:latin typeface="Arial"/>
              </a:rPr>
              <a:t>Team Lead, Unit Head, Section Heads (Corporate, Retail)</a:t>
            </a:r>
          </a:p>
          <a:p>
            <a:pPr>
              <a:spcAft>
                <a:spcPts val="300"/>
              </a:spcAft>
            </a:pPr>
            <a:r>
              <a:rPr sz="1200" b="0">
                <a:solidFill>
                  <a:srgbClr val="004EA8"/>
                </a:solidFill>
                <a:latin typeface="Arial"/>
              </a:rPr>
              <a:t>•  </a:t>
            </a:r>
            <a:r>
              <a:rPr sz="1200" b="0">
                <a:solidFill>
                  <a:srgbClr val="4B4B4B"/>
                </a:solidFill>
                <a:latin typeface="Arial"/>
              </a:rPr>
              <a:t>Unapplied Payment Handler (CQ10)</a:t>
            </a:r>
          </a:p>
          <a:p>
            <a:pPr>
              <a:spcAft>
                <a:spcPts val="300"/>
              </a:spcAft>
            </a:pPr>
            <a:r>
              <a:rPr sz="1200" b="0">
                <a:solidFill>
                  <a:srgbClr val="004EA8"/>
                </a:solidFill>
                <a:latin typeface="Arial"/>
              </a:rPr>
              <a:t>•  </a:t>
            </a:r>
            <a:r>
              <a:rPr sz="1200" b="0">
                <a:solidFill>
                  <a:srgbClr val="4B4B4B"/>
                </a:solidFill>
                <a:latin typeface="Arial"/>
              </a:rPr>
              <a:t>Cashiering and Commission (act on dispositions)</a:t>
            </a:r>
          </a:p>
          <a:p>
            <a:pPr>
              <a:spcAft>
                <a:spcPts val="300"/>
              </a:spcAft>
            </a:pPr>
            <a:r>
              <a:rPr sz="1200" b="0">
                <a:solidFill>
                  <a:srgbClr val="004EA8"/>
                </a:solidFill>
                <a:latin typeface="Arial"/>
              </a:rPr>
              <a:t>•  </a:t>
            </a:r>
            <a:r>
              <a:rPr sz="1200" b="0">
                <a:solidFill>
                  <a:srgbClr val="4B4B4B"/>
                </a:solidFill>
                <a:latin typeface="Arial"/>
              </a:rPr>
              <a:t>App Support and DCO (refresh monitoring)</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130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56 concurrent (NFR, p.51-58)</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1,200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dispositions a day; 1,200 payment file lines a day</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per screen; daily report &lt; 3 min</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RPO 4 h</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and RTO 4 h; use 06:00-22:00 Mon-Fri</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8A5A00"/>
                </a:solidFill>
                <a:latin typeface="Arial"/>
              </a:rPr>
              <a:t>In build</a:t>
            </a:r>
          </a:p>
        </p:txBody>
      </p:sp>
      <p:sp>
        <p:nvSpPr>
          <p:cNvPr id="32" name="TextBox 31"/>
          <p:cNvSpPr txBox="1"/>
          <p:nvPr/>
        </p:nvSpPr>
        <p:spPr>
          <a:xfrm>
            <a:off x="9639604" y="1783080"/>
            <a:ext cx="1930298" cy="457200"/>
          </a:xfrm>
          <a:prstGeom prst="rect">
            <a:avLst/>
          </a:prstGeom>
          <a:noFill/>
        </p:spPr>
        <p:txBody>
          <a:bodyPr wrap="square" anchor="ctr" lIns="45720" rIns="45720" tIns="18288" bIns="18288">
            <a:spAutoFit/>
          </a:bodyPr>
          <a:lstStyle/>
          <a:p>
            <a:pPr>
              <a:spcAft>
                <a:spcPts val="400"/>
              </a:spcAft>
            </a:pPr>
            <a:r>
              <a:rPr sz="1200" b="0">
                <a:solidFill>
                  <a:srgbClr val="4B4B4B"/>
                </a:solidFill>
                <a:latin typeface="Arial"/>
              </a:rPr>
              <a:t>In build (foundation and worklist); FRS to follow</a:t>
            </a:r>
          </a:p>
        </p:txBody>
      </p:sp>
      <p:sp>
        <p:nvSpPr>
          <p:cNvPr id="33" name="TextBox 32"/>
          <p:cNvSpPr txBox="1"/>
          <p:nvPr/>
        </p:nvSpPr>
        <p:spPr>
          <a:xfrm>
            <a:off x="8158276" y="2286000"/>
            <a:ext cx="3393338" cy="25146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CMS BRD p.40-42 (current and target process)</a:t>
            </a:r>
          </a:p>
          <a:p>
            <a:pPr>
              <a:spcAft>
                <a:spcPts val="300"/>
              </a:spcAft>
            </a:pPr>
            <a:r>
              <a:rPr sz="1200" b="0">
                <a:solidFill>
                  <a:srgbClr val="004EA8"/>
                </a:solidFill>
                <a:latin typeface="Arial"/>
              </a:rPr>
              <a:t>•  </a:t>
            </a:r>
            <a:r>
              <a:rPr sz="1200" b="0">
                <a:solidFill>
                  <a:srgbClr val="4B4B4B"/>
                </a:solidFill>
                <a:latin typeface="Arial"/>
              </a:rPr>
              <a:t>BRCLXN.001-060 (signed); 061-064 draft only</a:t>
            </a:r>
          </a:p>
          <a:p>
            <a:pPr>
              <a:spcAft>
                <a:spcPts val="300"/>
              </a:spcAft>
            </a:pPr>
            <a:r>
              <a:rPr sz="1200" b="0">
                <a:solidFill>
                  <a:srgbClr val="004EA8"/>
                </a:solidFill>
                <a:latin typeface="Arial"/>
              </a:rPr>
              <a:t>•  </a:t>
            </a:r>
            <a:r>
              <a:rPr sz="1200" b="0">
                <a:solidFill>
                  <a:srgbClr val="4B4B4B"/>
                </a:solidFill>
                <a:latin typeface="Arial"/>
              </a:rPr>
              <a:t>Requirements baseline BDOI_CLXN_BRD_SPEC.md; design COLLECTIONS_DESIGN.md</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Booking</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Nightly refresh</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Assignment</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Follow-up</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Promise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Escalation</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Disposition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Hand-off</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pic>
        <p:nvPicPr>
          <p:cNvPr id="9" name="Picture 8" descr="brd04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Premium receivable follow-up today (CMS BRD p.40-41)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PR list and diary in two systems</a:t>
            </a:r>
          </a:p>
          <a:p>
            <a:pPr>
              <a:spcAft>
                <a:spcPts val="100"/>
              </a:spcAft>
            </a:pPr>
            <a:r>
              <a:rPr sz="1200" b="0">
                <a:solidFill>
                  <a:srgbClr val="4B4B4B"/>
                </a:solidFill>
                <a:latin typeface="Arial"/>
              </a:rPr>
              <a:t>The handler takes the EBIX list and checks the ISYS Marketing Diary per account.</a:t>
            </a:r>
          </a:p>
          <a:p>
            <a:pPr>
              <a:spcAft>
                <a:spcPts val="100"/>
              </a:spcAft>
            </a:pPr>
            <a:r>
              <a:rPr sz="1200" b="0">
                <a:solidFill>
                  <a:srgbClr val="0072D8"/>
                </a:solidFill>
                <a:latin typeface="Arial"/>
              </a:rPr>
              <a:t>CMS BRD p.40-41, steps 1-2</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Follow-up by hand</a:t>
            </a:r>
          </a:p>
          <a:p>
            <a:pPr>
              <a:spcAft>
                <a:spcPts val="100"/>
              </a:spcAft>
            </a:pPr>
            <a:r>
              <a:rPr sz="1200" b="0">
                <a:solidFill>
                  <a:srgbClr val="4B4B4B"/>
                </a:solidFill>
                <a:latin typeface="Arial"/>
              </a:rPr>
              <a:t>New bookings within 10-15 days, commitment within 60 days, tracked by the handler.</a:t>
            </a:r>
          </a:p>
          <a:p>
            <a:pPr>
              <a:spcAft>
                <a:spcPts val="100"/>
              </a:spcAft>
            </a:pPr>
            <a:r>
              <a:rPr sz="1200" b="0">
                <a:solidFill>
                  <a:srgbClr val="0072D8"/>
                </a:solidFill>
                <a:latin typeface="Arial"/>
              </a:rPr>
              <a:t>CMS BRD p.40-41, steps 3-4</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CTE and escalation by e-mail</a:t>
            </a:r>
          </a:p>
          <a:p>
            <a:pPr>
              <a:spcAft>
                <a:spcPts val="100"/>
              </a:spcAft>
            </a:pPr>
            <a:r>
              <a:rPr sz="1200" b="0">
                <a:solidFill>
                  <a:srgbClr val="4B4B4B"/>
                </a:solidFill>
                <a:latin typeface="Arial"/>
              </a:rPr>
              <a:t>The AO asks the insurer for a credit term extension and escalates to the Unit Head.</a:t>
            </a:r>
          </a:p>
          <a:p>
            <a:pPr>
              <a:spcAft>
                <a:spcPts val="100"/>
              </a:spcAft>
            </a:pPr>
            <a:r>
              <a:rPr sz="1200" b="0">
                <a:solidFill>
                  <a:srgbClr val="0072D8"/>
                </a:solidFill>
                <a:latin typeface="Arial"/>
              </a:rPr>
              <a:t>CMS BRD p.40-41, step 5</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Dispositions kept by hand</a:t>
            </a:r>
          </a:p>
          <a:p>
            <a:pPr>
              <a:spcAft>
                <a:spcPts val="100"/>
              </a:spcAft>
            </a:pPr>
            <a:r>
              <a:rPr sz="1200" b="0">
                <a:solidFill>
                  <a:srgbClr val="4B4B4B"/>
                </a:solidFill>
                <a:latin typeface="Arial"/>
              </a:rPr>
              <a:t>Day-60 disposition, category A / B / C and remarks are updated manually.</a:t>
            </a:r>
          </a:p>
          <a:p>
            <a:pPr>
              <a:spcAft>
                <a:spcPts val="100"/>
              </a:spcAft>
            </a:pPr>
            <a:r>
              <a:rPr sz="1200" b="0">
                <a:solidFill>
                  <a:srgbClr val="0072D8"/>
                </a:solidFill>
                <a:latin typeface="Arial"/>
              </a:rPr>
              <a:t>CMS BRD p.40-41, steps 6-7</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Payment status by channel</a:t>
            </a:r>
          </a:p>
          <a:p>
            <a:pPr>
              <a:spcAft>
                <a:spcPts val="100"/>
              </a:spcAft>
            </a:pPr>
            <a:r>
              <a:rPr sz="1200" b="0">
                <a:solidFill>
                  <a:srgbClr val="4B4B4B"/>
                </a:solidFill>
                <a:latin typeface="Arial"/>
              </a:rPr>
              <a:t>Deposit with Cashiering, bills payment on the Unapplied screen, direct payment with the insurer.</a:t>
            </a:r>
          </a:p>
          <a:p>
            <a:pPr>
              <a:spcAft>
                <a:spcPts val="100"/>
              </a:spcAft>
            </a:pPr>
            <a:r>
              <a:rPr sz="1200" b="0">
                <a:solidFill>
                  <a:srgbClr val="0072D8"/>
                </a:solidFill>
                <a:latin typeface="Arial"/>
              </a:rPr>
              <a:t>CMS BRD p.40-41, step 8</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2307 tagging handed over</a:t>
            </a:r>
          </a:p>
          <a:p>
            <a:pPr>
              <a:spcAft>
                <a:spcPts val="100"/>
              </a:spcAft>
            </a:pPr>
            <a:r>
              <a:rPr sz="1200" b="0">
                <a:solidFill>
                  <a:srgbClr val="4B4B4B"/>
                </a:solidFill>
                <a:latin typeface="Arial"/>
              </a:rPr>
              <a:t>A net-of-CWT payment stays a Marketing action until the BIR 2307 is collected.</a:t>
            </a:r>
          </a:p>
          <a:p>
            <a:pPr>
              <a:spcAft>
                <a:spcPts val="100"/>
              </a:spcAft>
            </a:pPr>
            <a:r>
              <a:rPr sz="1200" b="0">
                <a:solidFill>
                  <a:srgbClr val="0072D8"/>
                </a:solidFill>
                <a:latin typeface="Arial"/>
              </a:rPr>
              <a:t>CMS BRD p.40-41, step 9</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DP report extracted monthly</a:t>
            </a:r>
          </a:p>
          <a:p>
            <a:pPr>
              <a:spcAft>
                <a:spcPts val="100"/>
              </a:spcAft>
            </a:pPr>
            <a:r>
              <a:rPr sz="1200" b="0">
                <a:solidFill>
                  <a:srgbClr val="4B4B4B"/>
                </a:solidFill>
                <a:latin typeface="Arial"/>
              </a:rPr>
              <a:t>Operations extracts the Direct Payment report as the basis for PR reversal.</a:t>
            </a:r>
          </a:p>
          <a:p>
            <a:pPr>
              <a:spcAft>
                <a:spcPts val="100"/>
              </a:spcAft>
            </a:pPr>
            <a:r>
              <a:rPr sz="1200" b="0">
                <a:solidFill>
                  <a:srgbClr val="0072D8"/>
                </a:solidFill>
                <a:latin typeface="Arial"/>
              </a:rPr>
              <a:t>CMS BRD p.40-41, step 10</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Side tasks by e-mail</a:t>
            </a:r>
          </a:p>
          <a:p>
            <a:pPr>
              <a:spcAft>
                <a:spcPts val="100"/>
              </a:spcAft>
            </a:pPr>
            <a:r>
              <a:rPr sz="1200" b="0">
                <a:solidFill>
                  <a:srgbClr val="4B4B4B"/>
                </a:solidFill>
                <a:latin typeface="Arial"/>
              </a:rPr>
              <a:t>Cheque pick-up requests and 2307 certificates received by e-mail.</a:t>
            </a:r>
          </a:p>
          <a:p>
            <a:pPr>
              <a:spcAft>
                <a:spcPts val="100"/>
              </a:spcAft>
            </a:pPr>
            <a:r>
              <a:rPr sz="1200" b="0">
                <a:solidFill>
                  <a:srgbClr val="0072D8"/>
                </a:solidFill>
                <a:latin typeface="Arial"/>
              </a:rPr>
              <a:t>CMS BRD p.40, other tasks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pic>
        <p:nvPicPr>
          <p:cNvPr id="9" name="Picture 8" descr="brd04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Collections in BIBS: worklist, promises, escalation (workflow CLX_ESCALATION) and hand-offs (design COLLECTIONS_DESIGN)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 list and diary in two systems</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worklist read from the invoice ledger, with the Marketing Diary in view on the item</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Refreshed nightly after 22:00</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Follow-up by hand</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Efforts, promises per installment and reminders recorded on the collection item</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History kept per item</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CTE and escalation by e-mail</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Escalation rules by ageing, commitments and broken promises; manual escalation, also in bulk</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TL / UH queue by rule</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Dispositions kept by hand</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 from a list of values with category A / B / C; append-only history</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From / to audit per field</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status by channel</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status, balances and co-insurance shares read from the invoice ledger</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Same-day balance refresh</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2307 tagging handed over</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 2307 for reversal" goes to the Cashiering 2307 intake as an in-app request</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e-mail hand-off</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 report extracted monthly</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DP-for-reversal file on the first working day; the same list goes to Commission</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Ready on working day 1</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Side tasks by e-mail</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Cheque pick-up request placed on the Cashiering queue from the item</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Request tracked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gaps in the envisioned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BRCLXN.061-064 only in the unsigned draft</a:t>
                      </a:r>
                    </a:p>
                  </a:txBody>
                  <a:tcPr marL="64008" marR="64008" marT="27432" marB="27432" anchor="ctr">
                    <a:solidFill>
                      <a:srgbClr val="FFFFFF"/>
                    </a:solidFill>
                  </a:tcPr>
                </a:tc>
                <a:tc>
                  <a:txBody>
                    <a:bodyPr wrap="square"/>
                    <a:lstStyle/>
                    <a:p>
                      <a:r>
                        <a:rPr sz="1100" b="0">
                          <a:solidFill>
                            <a:srgbClr val="4B4B4B"/>
                          </a:solidFill>
                          <a:latin typeface="Arial"/>
                        </a:rPr>
                        <a:t>Commission, incentive and refund items not approved</a:t>
                      </a:r>
                    </a:p>
                  </a:txBody>
                  <a:tcPr marL="64008" marR="64008" marT="27432" marB="27432" anchor="ctr">
                    <a:solidFill>
                      <a:srgbClr val="FFFFFF"/>
                    </a:solidFill>
                  </a:tcPr>
                </a:tc>
                <a:tc>
                  <a:txBody>
                    <a:bodyPr wrap="square"/>
                    <a:lstStyle/>
                    <a:p>
                      <a:r>
                        <a:rPr sz="1100" b="0">
                          <a:solidFill>
                            <a:srgbClr val="4B4B4B"/>
                          </a:solidFill>
                          <a:latin typeface="Arial"/>
                        </a:rPr>
                        <a:t>Head of BDOI Operations</a:t>
                      </a:r>
                    </a:p>
                  </a:txBody>
                  <a:tcPr marL="64008" marR="64008" marT="27432" marB="27432" anchor="ctr">
                    <a:solidFill>
                      <a:srgbClr val="FFFFFF"/>
                    </a:solidFill>
                  </a:tcPr>
                </a:tc>
                <a:tc>
                  <a:txBody>
                    <a:bodyPr wrap="square"/>
                    <a:lstStyle/>
                    <a:p>
                      <a:r>
                        <a:rPr sz="1100" b="0">
                          <a:solidFill>
                            <a:srgbClr val="4B4B4B"/>
                          </a:solidFill>
                          <a:latin typeface="Arial"/>
                        </a:rPr>
                        <a:t>In scope? Owner: Collections or Commission</a:t>
                      </a:r>
                    </a:p>
                  </a:txBody>
                  <a:tcPr marL="64008" marR="64008" marT="27432" marB="27432" anchor="ctr">
                    <a:solidFill>
                      <a:srgbClr val="FFFFFF"/>
                    </a:solidFill>
                  </a:tcPr>
                </a:tc>
                <a:tc>
                  <a:txBody>
                    <a:bodyPr wrap="square"/>
                    <a:lstStyle/>
                    <a:p>
                      <a:r>
                        <a:rPr sz="1100" b="0">
                          <a:solidFill>
                            <a:srgbClr val="4B4B4B"/>
                          </a:solidFill>
                          <a:latin typeface="Arial"/>
                        </a:rPr>
                        <a:t>DCR-039, CQ01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List at invoice or cover level</a:t>
                      </a:r>
                    </a:p>
                  </a:txBody>
                  <a:tcPr marL="64008" marR="64008" marT="27432" marB="27432" anchor="ctr">
                    <a:solidFill>
                      <a:srgbClr val="E5F5FF"/>
                    </a:solidFill>
                  </a:tcPr>
                </a:tc>
                <a:tc>
                  <a:txBody>
                    <a:bodyPr wrap="square"/>
                    <a:lstStyle/>
                    <a:p>
                      <a:r>
                        <a:rPr sz="1100" b="0">
                          <a:solidFill>
                            <a:srgbClr val="4B4B4B"/>
                          </a:solidFill>
                          <a:latin typeface="Arial"/>
                        </a:rPr>
                        <a:t>Grain of the list and of the threshold rule</a:t>
                      </a:r>
                    </a:p>
                  </a:txBody>
                  <a:tcPr marL="64008" marR="64008" marT="27432" marB="27432" anchor="ctr">
                    <a:solidFill>
                      <a:srgbClr val="E5F5FF"/>
                    </a:solidFill>
                  </a:tcPr>
                </a:tc>
                <a:tc>
                  <a:txBody>
                    <a:bodyPr wrap="square"/>
                    <a:lstStyle/>
                    <a:p>
                      <a:r>
                        <a:rPr sz="1100" b="0">
                          <a:solidFill>
                            <a:srgbClr val="4B4B4B"/>
                          </a:solidFill>
                          <a:latin typeface="Arial"/>
                        </a:rPr>
                        <a:t>Head of BDOI Operations</a:t>
                      </a:r>
                    </a:p>
                  </a:txBody>
                  <a:tcPr marL="64008" marR="64008" marT="27432" marB="27432" anchor="ctr">
                    <a:solidFill>
                      <a:srgbClr val="E5F5FF"/>
                    </a:solidFill>
                  </a:tcPr>
                </a:tc>
                <a:tc>
                  <a:txBody>
                    <a:bodyPr wrap="square"/>
                    <a:lstStyle/>
                    <a:p>
                      <a:r>
                        <a:rPr sz="1100" b="0">
                          <a:solidFill>
                            <a:srgbClr val="4B4B4B"/>
                          </a:solidFill>
                          <a:latin typeface="Arial"/>
                        </a:rPr>
                        <a:t>Confirm invoice level; threshold per invoice, ARN or client</a:t>
                      </a:r>
                    </a:p>
                  </a:txBody>
                  <a:tcPr marL="64008" marR="64008" marT="27432" marB="27432" anchor="ctr">
                    <a:solidFill>
                      <a:srgbClr val="E5F5FF"/>
                    </a:solidFill>
                  </a:tcPr>
                </a:tc>
                <a:tc>
                  <a:txBody>
                    <a:bodyPr wrap="square"/>
                    <a:lstStyle/>
                    <a:p>
                      <a:r>
                        <a:rPr sz="1100" b="0">
                          <a:solidFill>
                            <a:srgbClr val="4B4B4B"/>
                          </a:solidFill>
                          <a:latin typeface="Arial"/>
                        </a:rPr>
                        <a:t>DCR-041, CQ02</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session per device</a:t>
                      </a:r>
                    </a:p>
                  </a:txBody>
                  <a:tcPr marL="64008" marR="64008" marT="27432" marB="27432" anchor="ctr">
                    <a:solidFill>
                      <a:srgbClr val="FFFFFF"/>
                    </a:solidFill>
                  </a:tcPr>
                </a:tc>
                <a:tc>
                  <a:txBody>
                    <a:bodyPr wrap="square"/>
                    <a:lstStyle/>
                    <a:p>
                      <a:r>
                        <a:rPr sz="1100" b="0">
                          <a:solidFill>
                            <a:srgbClr val="4B4B4B"/>
                          </a:solidFill>
                          <a:latin typeface="Arial"/>
                        </a:rPr>
                        <a:t>Session control for every user</a:t>
                      </a:r>
                    </a:p>
                  </a:txBody>
                  <a:tcPr marL="64008" marR="64008" marT="27432" marB="27432" anchor="ctr">
                    <a:solidFill>
                      <a:srgbClr val="FFFFFF"/>
                    </a:solidFill>
                  </a:tcPr>
                </a:tc>
                <a:tc>
                  <a:txBody>
                    <a:bodyPr wrap="square"/>
                    <a:lstStyle/>
                    <a:p>
                      <a:r>
                        <a:rPr sz="1100" b="0">
                          <a:solidFill>
                            <a:srgbClr val="4B4B4B"/>
                          </a:solidFill>
                          <a:latin typeface="Arial"/>
                        </a:rPr>
                        <a:t>Operations with BDO ITIO</a:t>
                      </a:r>
                    </a:p>
                  </a:txBody>
                  <a:tcPr marL="64008" marR="64008" marT="27432" marB="27432" anchor="ctr">
                    <a:solidFill>
                      <a:srgbClr val="FFFFFF"/>
                    </a:solidFill>
                  </a:tcPr>
                </a:tc>
                <a:tc>
                  <a:txBody>
                    <a:bodyPr wrap="square"/>
                    <a:lstStyle/>
                    <a:p>
                      <a:r>
                        <a:rPr sz="1100" b="0">
                          <a:solidFill>
                            <a:srgbClr val="4B4B4B"/>
                          </a:solidFill>
                          <a:latin typeface="Arial"/>
                        </a:rPr>
                        <a:t>For all users, Collections only, or no one</a:t>
                      </a:r>
                    </a:p>
                  </a:txBody>
                  <a:tcPr marL="64008" marR="64008" marT="27432" marB="27432" anchor="ctr">
                    <a:solidFill>
                      <a:srgbClr val="FFFFFF"/>
                    </a:solidFill>
                  </a:tcPr>
                </a:tc>
                <a:tc>
                  <a:txBody>
                    <a:bodyPr wrap="square"/>
                    <a:lstStyle/>
                    <a:p>
                      <a:r>
                        <a:rPr sz="1100" b="0">
                          <a:solidFill>
                            <a:srgbClr val="4B4B4B"/>
                          </a:solidFill>
                          <a:latin typeface="Arial"/>
                        </a:rPr>
                        <a:t>DCR-044, 141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Open EBIX PRs and history at go-live</a:t>
                      </a:r>
                    </a:p>
                  </a:txBody>
                  <a:tcPr marL="64008" marR="64008" marT="27432" marB="27432" anchor="ctr">
                    <a:solidFill>
                      <a:srgbClr val="E5F5FF"/>
                    </a:solidFill>
                  </a:tcPr>
                </a:tc>
                <a:tc>
                  <a:txBody>
                    <a:bodyPr wrap="square"/>
                    <a:lstStyle/>
                    <a:p>
                      <a:r>
                        <a:rPr sz="1100" b="0">
                          <a:solidFill>
                            <a:srgbClr val="4B4B4B"/>
                          </a:solidFill>
                          <a:latin typeface="Arial"/>
                        </a:rPr>
                        <a:t>Worklist incomplete at cut-over</a:t>
                      </a:r>
                    </a:p>
                  </a:txBody>
                  <a:tcPr marL="64008" marR="64008" marT="27432" marB="27432" anchor="ctr">
                    <a:solidFill>
                      <a:srgbClr val="E5F5FF"/>
                    </a:solidFill>
                  </a:tcPr>
                </a:tc>
                <a:tc>
                  <a:txBody>
                    <a:bodyPr wrap="square"/>
                    <a:lstStyle/>
                    <a:p>
                      <a:r>
                        <a:rPr sz="1100" b="0">
                          <a:solidFill>
                            <a:srgbClr val="4B4B4B"/>
                          </a:solidFill>
                          <a:latin typeface="Arial"/>
                        </a:rPr>
                        <a:t>Operations, BDO IT</a:t>
                      </a:r>
                    </a:p>
                  </a:txBody>
                  <a:tcPr marL="64008" marR="64008" marT="27432" marB="27432" anchor="ctr">
                    <a:solidFill>
                      <a:srgbClr val="E5F5FF"/>
                    </a:solidFill>
                  </a:tcPr>
                </a:tc>
                <a:tc>
                  <a:txBody>
                    <a:bodyPr wrap="square"/>
                    <a:lstStyle/>
                    <a:p>
                      <a:r>
                        <a:rPr sz="1100" b="0">
                          <a:solidFill>
                            <a:srgbClr val="4B4B4B"/>
                          </a:solidFill>
                          <a:latin typeface="Arial"/>
                        </a:rPr>
                        <a:t>Migration scope, cut-off and format</a:t>
                      </a:r>
                    </a:p>
                  </a:txBody>
                  <a:tcPr marL="64008" marR="64008" marT="27432" marB="27432" anchor="ctr">
                    <a:solidFill>
                      <a:srgbClr val="E5F5FF"/>
                    </a:solidFill>
                  </a:tcPr>
                </a:tc>
                <a:tc>
                  <a:txBody>
                    <a:bodyPr wrap="square"/>
                    <a:lstStyle/>
                    <a:p>
                      <a:r>
                        <a:rPr sz="1100" b="0">
                          <a:solidFill>
                            <a:srgbClr val="4B4B4B"/>
                          </a:solidFill>
                          <a:latin typeface="Arial"/>
                        </a:rPr>
                        <a:t>DCR-157, CQ07</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Minimal balance threshold value</a:t>
                      </a:r>
                    </a:p>
                  </a:txBody>
                  <a:tcPr marL="64008" marR="64008" marT="27432" marB="27432" anchor="ctr">
                    <a:solidFill>
                      <a:srgbClr val="FFFFFF"/>
                    </a:solidFill>
                  </a:tcPr>
                </a:tc>
                <a:tc>
                  <a:txBody>
                    <a:bodyPr wrap="square"/>
                    <a:lstStyle/>
                    <a:p>
                      <a:r>
                        <a:rPr sz="1100" b="0">
                          <a:solidFill>
                            <a:srgbClr val="4B4B4B"/>
                          </a:solidFill>
                          <a:latin typeface="Arial"/>
                        </a:rPr>
                        <a:t>Which invoices enter the list</a:t>
                      </a:r>
                    </a:p>
                  </a:txBody>
                  <a:tcPr marL="64008" marR="64008" marT="27432" marB="27432" anchor="ctr">
                    <a:solidFill>
                      <a:srgbClr val="FFFFFF"/>
                    </a:solidFill>
                  </a:tcPr>
                </a:tc>
                <a:tc>
                  <a:txBody>
                    <a:bodyPr wrap="square"/>
                    <a:lstStyle/>
                    <a:p>
                      <a:r>
                        <a:rPr sz="1100" b="0">
                          <a:solidFill>
                            <a:srgbClr val="4B4B4B"/>
                          </a:solidFill>
                          <a:latin typeface="Arial"/>
                        </a:rPr>
                        <a:t>Operations - Collections</a:t>
                      </a:r>
                    </a:p>
                  </a:txBody>
                  <a:tcPr marL="64008" marR="64008" marT="27432" marB="27432" anchor="ctr">
                    <a:solidFill>
                      <a:srgbClr val="FFFFFF"/>
                    </a:solidFill>
                  </a:tcPr>
                </a:tc>
                <a:tc>
                  <a:txBody>
                    <a:bodyPr wrap="square"/>
                    <a:lstStyle/>
                    <a:p>
                      <a:r>
                        <a:rPr sz="1100" b="0">
                          <a:solidFill>
                            <a:srgbClr val="4B4B4B"/>
                          </a:solidFill>
                          <a:latin typeface="Arial"/>
                        </a:rPr>
                        <a:t>Value, currency, net of PR2307?</a:t>
                      </a:r>
                    </a:p>
                  </a:txBody>
                  <a:tcPr marL="64008" marR="64008" marT="27432" marB="27432" anchor="ctr">
                    <a:solidFill>
                      <a:srgbClr val="FFFFFF"/>
                    </a:solidFill>
                  </a:tcPr>
                </a:tc>
                <a:tc>
                  <a:txBody>
                    <a:bodyPr wrap="square"/>
                    <a:lstStyle/>
                    <a:p>
                      <a:r>
                        <a:rPr sz="1100" b="0">
                          <a:solidFill>
                            <a:srgbClr val="4B4B4B"/>
                          </a:solidFill>
                          <a:latin typeface="Arial"/>
                        </a:rPr>
                        <a:t>CQ03</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Escalation defaults and promise rules</a:t>
                      </a:r>
                    </a:p>
                  </a:txBody>
                  <a:tcPr marL="64008" marR="64008" marT="27432" marB="27432" anchor="ctr">
                    <a:solidFill>
                      <a:srgbClr val="E5F5FF"/>
                    </a:solidFill>
                  </a:tcPr>
                </a:tc>
                <a:tc>
                  <a:txBody>
                    <a:bodyPr wrap="square"/>
                    <a:lstStyle/>
                    <a:p>
                      <a:r>
                        <a:rPr sz="1100" b="0">
                          <a:solidFill>
                            <a:srgbClr val="4B4B4B"/>
                          </a:solidFill>
                          <a:latin typeface="Arial"/>
                        </a:rPr>
                        <a:t>Escalation and broken-promise tests</a:t>
                      </a:r>
                    </a:p>
                  </a:txBody>
                  <a:tcPr marL="64008" marR="64008" marT="27432" marB="27432" anchor="ctr">
                    <a:solidFill>
                      <a:srgbClr val="E5F5FF"/>
                    </a:solidFill>
                  </a:tcPr>
                </a:tc>
                <a:tc>
                  <a:txBody>
                    <a:bodyPr wrap="square"/>
                    <a:lstStyle/>
                    <a:p>
                      <a:r>
                        <a:rPr sz="1100" b="0">
                          <a:solidFill>
                            <a:srgbClr val="4B4B4B"/>
                          </a:solidFill>
                          <a:latin typeface="Arial"/>
                        </a:rPr>
                        <a:t>Operations - Collections</a:t>
                      </a:r>
                    </a:p>
                  </a:txBody>
                  <a:tcPr marL="64008" marR="64008" marT="27432" marB="27432" anchor="ctr">
                    <a:solidFill>
                      <a:srgbClr val="E5F5FF"/>
                    </a:solidFill>
                  </a:tcPr>
                </a:tc>
                <a:tc>
                  <a:txBody>
                    <a:bodyPr wrap="square"/>
                    <a:lstStyle/>
                    <a:p>
                      <a:r>
                        <a:rPr sz="1100" b="0">
                          <a:solidFill>
                            <a:srgbClr val="4B4B4B"/>
                          </a:solidFill>
                          <a:latin typeface="Arial"/>
                        </a:rPr>
                        <a:t>Days (45 / 60), levels, grace days</a:t>
                      </a:r>
                    </a:p>
                  </a:txBody>
                  <a:tcPr marL="64008" marR="64008" marT="27432" marB="27432" anchor="ctr">
                    <a:solidFill>
                      <a:srgbClr val="E5F5FF"/>
                    </a:solidFill>
                  </a:tcPr>
                </a:tc>
                <a:tc>
                  <a:txBody>
                    <a:bodyPr wrap="square"/>
                    <a:lstStyle/>
                    <a:p>
                      <a:r>
                        <a:rPr sz="1100" b="0">
                          <a:solidFill>
                            <a:srgbClr val="4B4B4B"/>
                          </a:solidFill>
                          <a:latin typeface="Arial"/>
                        </a:rPr>
                        <a:t>CQ14, CQ16</a:t>
                      </a:r>
                    </a:p>
                  </a:txBody>
                  <a:tcPr marL="64008" marR="64008" marT="27432" marB="27432" anchor="ctr">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Ageing control with escalation by rule</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Rules by ageing, commitments and broken promises; TL / UH queue; manual escalation in bulk.</a:t>
            </a:r>
          </a:p>
          <a:p>
            <a:pPr>
              <a:spcAft>
                <a:spcPts val="400"/>
              </a:spcAft>
            </a:pPr>
            <a:r>
              <a:rPr sz="1200" b="1">
                <a:solidFill>
                  <a:srgbClr val="004EA8"/>
                </a:solidFill>
                <a:latin typeface="Arial"/>
              </a:rPr>
              <a:t>BDOI: </a:t>
            </a:r>
            <a:r>
              <a:rPr sz="1200" b="0">
                <a:solidFill>
                  <a:srgbClr val="4B4B4B"/>
                </a:solidFill>
                <a:latin typeface="Arial"/>
              </a:rPr>
              <a:t>Set the default days and levels (CQ14).</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Promise-to-pay per installment</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Promises recorded per installment, marked kept or broken from the ledger.</a:t>
            </a:r>
          </a:p>
          <a:p>
            <a:pPr>
              <a:spcAft>
                <a:spcPts val="400"/>
              </a:spcAft>
            </a:pPr>
            <a:r>
              <a:rPr sz="1200" b="1">
                <a:solidFill>
                  <a:srgbClr val="004EA8"/>
                </a:solidFill>
                <a:latin typeface="Arial"/>
              </a:rPr>
              <a:t>BDOI: </a:t>
            </a:r>
            <a:r>
              <a:rPr sz="1200" b="0">
                <a:solidFill>
                  <a:srgbClr val="4B4B4B"/>
                </a:solidFill>
                <a:latin typeface="Arial"/>
              </a:rPr>
              <a:t>Define when a promise is kept and the grace days (CQ16).</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Single view of the receivable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Invoice 360: policy, invoice, co-insurance shares, payments and history on one screen.</a:t>
            </a:r>
          </a:p>
          <a:p>
            <a:pPr>
              <a:spcAft>
                <a:spcPts val="400"/>
              </a:spcAft>
            </a:pPr>
            <a:r>
              <a:rPr sz="1200" b="1">
                <a:solidFill>
                  <a:srgbClr val="004EA8"/>
                </a:solidFill>
                <a:latin typeface="Arial"/>
              </a:rPr>
              <a:t>BDOI: </a:t>
            </a:r>
            <a:r>
              <a:rPr sz="1200" b="0">
                <a:solidFill>
                  <a:srgbClr val="4B4B4B"/>
                </a:solidFill>
                <a:latin typeface="Arial"/>
              </a:rPr>
              <a:t>Retire the separate EBIX and Excel lists after migration.</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Collections monitors; finance posts</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Collections posts no money; Cashiering and Commission act on its requests.</a:t>
            </a:r>
          </a:p>
          <a:p>
            <a:pPr>
              <a:spcAft>
                <a:spcPts val="400"/>
              </a:spcAft>
            </a:pPr>
            <a:r>
              <a:rPr sz="1200" b="1">
                <a:solidFill>
                  <a:srgbClr val="004EA8"/>
                </a:solidFill>
                <a:latin typeface="Arial"/>
              </a:rPr>
              <a:t>BDOI: </a:t>
            </a:r>
            <a:r>
              <a:rPr sz="1200" b="0">
                <a:solidFill>
                  <a:srgbClr val="4B4B4B"/>
                </a:solidFill>
                <a:latin typeface="Arial"/>
              </a:rPr>
              <a:t>Keep this split in the role matrix (DCR-121).</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Credit term discipline</a:t>
            </a:r>
          </a:p>
        </p:txBody>
      </p:sp>
      <p:sp>
        <p:nvSpPr>
          <p:cNvPr id="32" name="Rounded Rectangle 31"/>
          <p:cNvSpPr/>
          <p:nvPr/>
        </p:nvSpPr>
        <p:spPr>
          <a:xfrm>
            <a:off x="4393082"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Commitment dates and CTE requests can be recorded on the item.</a:t>
            </a:r>
          </a:p>
          <a:p>
            <a:pPr>
              <a:spcAft>
                <a:spcPts val="400"/>
              </a:spcAft>
            </a:pPr>
            <a:r>
              <a:rPr sz="1200" b="1">
                <a:solidFill>
                  <a:srgbClr val="004EA8"/>
                </a:solidFill>
                <a:latin typeface="Arial"/>
              </a:rPr>
              <a:t>BDOI: </a:t>
            </a:r>
            <a:r>
              <a:rPr sz="1200" b="0">
                <a:solidFill>
                  <a:srgbClr val="4B4B4B"/>
                </a:solidFill>
                <a:latin typeface="Arial"/>
              </a:rPr>
              <a:t>Publish credit terms per segment and track CTEs in BIBS (CQ20).</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Collection KPIs</a:t>
            </a:r>
          </a:p>
        </p:txBody>
      </p:sp>
      <p:sp>
        <p:nvSpPr>
          <p:cNvPr id="37" name="Rounded Rectangle 36"/>
          <p:cNvSpPr/>
          <p:nvPr/>
        </p:nvSpPr>
        <p:spPr>
          <a:xfrm>
            <a:off x="8146084"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Outstanding PR, escalation and broken-promise reports; Collections home.</a:t>
            </a:r>
          </a:p>
          <a:p>
            <a:pPr>
              <a:spcAft>
                <a:spcPts val="400"/>
              </a:spcAft>
            </a:pPr>
            <a:r>
              <a:rPr sz="1200" b="1">
                <a:solidFill>
                  <a:srgbClr val="004EA8"/>
                </a:solidFill>
                <a:latin typeface="Arial"/>
              </a:rPr>
              <a:t>BDOI: </a:t>
            </a:r>
            <a:r>
              <a:rPr sz="1200" b="0">
                <a:solidFill>
                  <a:srgbClr val="4B4B4B"/>
                </a:solidFill>
                <a:latin typeface="Arial"/>
              </a:rPr>
              <a:t>Define the dashboard per role and the collection targets (CQ21).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5. Accounting and Disbursement</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BRD-5 | Accounting (FRBS), Disbursement, ACSL, Marketing refund and cash-advance requests, financial reports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and Disbursement: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Comptrollership: FRBS (GL team), Disbursement, ACSL</a:t>
            </a:r>
          </a:p>
          <a:p>
            <a:pPr>
              <a:spcAft>
                <a:spcPts val="300"/>
              </a:spcAft>
            </a:pPr>
            <a:r>
              <a:rPr sz="1200" b="0">
                <a:solidFill>
                  <a:srgbClr val="004EA8"/>
                </a:solidFill>
                <a:latin typeface="Arial"/>
              </a:rPr>
              <a:t>•  </a:t>
            </a:r>
            <a:r>
              <a:rPr sz="1200" b="0">
                <a:solidFill>
                  <a:srgbClr val="4B4B4B"/>
                </a:solidFill>
                <a:latin typeface="Arial"/>
              </a:rPr>
              <a:t>FRBS officer, TL, TH (Accounting, 5 users)</a:t>
            </a:r>
          </a:p>
          <a:p>
            <a:pPr>
              <a:spcAft>
                <a:spcPts val="300"/>
              </a:spcAft>
            </a:pPr>
            <a:r>
              <a:rPr sz="1200" b="0">
                <a:solidFill>
                  <a:srgbClr val="004EA8"/>
                </a:solidFill>
                <a:latin typeface="Arial"/>
              </a:rPr>
              <a:t>•  </a:t>
            </a:r>
            <a:r>
              <a:rPr sz="1200" b="0">
                <a:solidFill>
                  <a:srgbClr val="4B4B4B"/>
                </a:solidFill>
                <a:latin typeface="Arial"/>
              </a:rPr>
              <a:t>Disbursement processor, verifier and approvers (8 users)</a:t>
            </a:r>
          </a:p>
          <a:p>
            <a:pPr>
              <a:spcAft>
                <a:spcPts val="300"/>
              </a:spcAft>
            </a:pPr>
            <a:r>
              <a:rPr sz="1200" b="0">
                <a:solidFill>
                  <a:srgbClr val="004EA8"/>
                </a:solidFill>
                <a:latin typeface="Arial"/>
              </a:rPr>
              <a:t>•  </a:t>
            </a:r>
            <a:r>
              <a:rPr sz="1200" b="0">
                <a:solidFill>
                  <a:srgbClr val="4B4B4B"/>
                </a:solidFill>
                <a:latin typeface="Arial"/>
              </a:rPr>
              <a:t>ACSL officer and approver (6 users)</a:t>
            </a:r>
          </a:p>
          <a:p>
            <a:pPr>
              <a:spcAft>
                <a:spcPts val="300"/>
              </a:spcAft>
            </a:pPr>
            <a:r>
              <a:rPr sz="1200" b="0">
                <a:solidFill>
                  <a:srgbClr val="004EA8"/>
                </a:solidFill>
                <a:latin typeface="Arial"/>
              </a:rPr>
              <a:t>•  </a:t>
            </a:r>
            <a:r>
              <a:rPr sz="1200" b="0">
                <a:solidFill>
                  <a:srgbClr val="4B4B4B"/>
                </a:solidFill>
                <a:latin typeface="Arial"/>
              </a:rPr>
              <a:t>Marketing AO and employees (refund and cash-advance requests); HR approver</a:t>
            </a:r>
          </a:p>
          <a:p>
            <a:pPr>
              <a:spcAft>
                <a:spcPts val="300"/>
              </a:spcAft>
            </a:pPr>
            <a:r>
              <a:rPr sz="1200" b="0">
                <a:solidFill>
                  <a:srgbClr val="004EA8"/>
                </a:solidFill>
                <a:latin typeface="Arial"/>
              </a:rPr>
              <a:t>•  </a:t>
            </a:r>
            <a:r>
              <a:rPr sz="1200" b="0">
                <a:solidFill>
                  <a:srgbClr val="4B4B4B"/>
                </a:solidFill>
                <a:latin typeface="Arial"/>
              </a:rPr>
              <a:t>Business and System Administrator</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19</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Comptrollership users: FRBS 5, Disbursement 8, ACSL 6 (p.133-137)</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198</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remittance DVs a year (+20%); 246 refunds; 293 supplier payments</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5-10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screen load; reports 10-20 s first load</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15 Apr</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year-end close deadline (FRBS 2.7.0, p.59)</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8A5A00"/>
                </a:solidFill>
                <a:latin typeface="Arial"/>
              </a:rPr>
              <a:t>In build</a:t>
            </a:r>
          </a:p>
        </p:txBody>
      </p:sp>
      <p:sp>
        <p:nvSpPr>
          <p:cNvPr id="32" name="TextBox 31"/>
          <p:cNvSpPr txBox="1"/>
          <p:nvPr/>
        </p:nvSpPr>
        <p:spPr>
          <a:xfrm>
            <a:off x="9639604" y="1783080"/>
            <a:ext cx="1930298" cy="457200"/>
          </a:xfrm>
          <a:prstGeom prst="rect">
            <a:avLst/>
          </a:prstGeom>
          <a:noFill/>
        </p:spPr>
        <p:txBody>
          <a:bodyPr wrap="square" anchor="ctr" lIns="45720" rIns="45720" tIns="18288" bIns="18288">
            <a:spAutoFit/>
          </a:bodyPr>
          <a:lstStyle/>
          <a:p>
            <a:pPr>
              <a:spcAft>
                <a:spcPts val="400"/>
              </a:spcAft>
            </a:pPr>
            <a:r>
              <a:rPr sz="1200" b="0">
                <a:solidFill>
                  <a:srgbClr val="4B4B4B"/>
                </a:solidFill>
                <a:latin typeface="Arial"/>
              </a:rPr>
              <a:t>GL platform built; Disbursement, ACSL, FRBS reports in build</a:t>
            </a:r>
          </a:p>
        </p:txBody>
      </p:sp>
      <p:sp>
        <p:nvSpPr>
          <p:cNvPr id="33" name="TextBox 32"/>
          <p:cNvSpPr txBox="1"/>
          <p:nvPr/>
        </p:nvSpPr>
        <p:spPr>
          <a:xfrm>
            <a:off x="8158276" y="2286000"/>
            <a:ext cx="3393338" cy="25146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BRD-5 p.44-45 (current process), p.46-48 (envisioned)</a:t>
            </a:r>
          </a:p>
          <a:p>
            <a:pPr>
              <a:spcAft>
                <a:spcPts val="300"/>
              </a:spcAft>
            </a:pPr>
            <a:r>
              <a:rPr sz="1200" b="0">
                <a:solidFill>
                  <a:srgbClr val="004EA8"/>
                </a:solidFill>
                <a:latin typeface="Arial"/>
              </a:rPr>
              <a:t>•  </a:t>
            </a:r>
            <a:r>
              <a:rPr sz="1200" b="0">
                <a:solidFill>
                  <a:srgbClr val="4B4B4B"/>
                </a:solidFill>
                <a:latin typeface="Arial"/>
              </a:rPr>
              <a:t>FRBS, DIS, MKT, ACSL, BASAU requirements; Addenda 1 and 2</a:t>
            </a:r>
          </a:p>
          <a:p>
            <a:pPr>
              <a:spcAft>
                <a:spcPts val="300"/>
              </a:spcAft>
            </a:pPr>
            <a:r>
              <a:rPr sz="1200" b="0">
                <a:solidFill>
                  <a:srgbClr val="004EA8"/>
                </a:solidFill>
                <a:latin typeface="Arial"/>
              </a:rPr>
              <a:t>•  </a:t>
            </a:r>
            <a:r>
              <a:rPr sz="1200" b="0">
                <a:solidFill>
                  <a:srgbClr val="4B4B4B"/>
                </a:solidFill>
                <a:latin typeface="Arial"/>
              </a:rPr>
              <a:t>Requirements baseline BDOI_ACCT_BRD_SPEC.md; design ACCOUNTING_DISBURSEMENT_DESIGN.md</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Voucher</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Approval</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Payment</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Status and CWT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Posting</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Reconciliation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Close and report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and Disbursement: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pic>
        <p:nvPicPr>
          <p:cNvPr id="9" name="Picture 8" descr="brd05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Disbursement, accounting and ACSL today (BRD-5 p.44-45)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and Disbursement: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Marketing requests by e-mail and paper</a:t>
            </a:r>
          </a:p>
          <a:p>
            <a:pPr>
              <a:spcAft>
                <a:spcPts val="100"/>
              </a:spcAft>
            </a:pPr>
            <a:r>
              <a:rPr sz="1200" b="0">
                <a:solidFill>
                  <a:srgbClr val="4B4B4B"/>
                </a:solidFill>
                <a:latin typeface="Arial"/>
              </a:rPr>
              <a:t>Review and approval outside the system; signed paper handed to Disbursement.</a:t>
            </a:r>
          </a:p>
          <a:p>
            <a:pPr>
              <a:spcAft>
                <a:spcPts val="100"/>
              </a:spcAft>
            </a:pPr>
            <a:r>
              <a:rPr sz="1200" b="0">
                <a:solidFill>
                  <a:srgbClr val="0072D8"/>
                </a:solidFill>
                <a:latin typeface="Arial"/>
              </a:rPr>
              <a:t>BRD-5 p.45, B.2 a-c</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received by hand</a:t>
            </a:r>
          </a:p>
          <a:p>
            <a:pPr>
              <a:spcAft>
                <a:spcPts val="100"/>
              </a:spcAft>
            </a:pPr>
            <a:r>
              <a:rPr sz="1200" b="0">
                <a:solidFill>
                  <a:srgbClr val="4B4B4B"/>
                </a:solidFill>
                <a:latin typeface="Arial"/>
              </a:rPr>
              <a:t>Some disbursement requests still arrive as paper or e-mail.</a:t>
            </a:r>
          </a:p>
          <a:p>
            <a:pPr>
              <a:spcAft>
                <a:spcPts val="100"/>
              </a:spcAft>
            </a:pPr>
            <a:r>
              <a:rPr sz="1200" b="0">
                <a:solidFill>
                  <a:srgbClr val="0072D8"/>
                </a:solidFill>
                <a:latin typeface="Arial"/>
              </a:rPr>
              <a:t>BRD-5 p.45, B a</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processing and CWT tagging</a:t>
            </a:r>
          </a:p>
          <a:p>
            <a:pPr>
              <a:spcAft>
                <a:spcPts val="100"/>
              </a:spcAft>
            </a:pPr>
            <a:r>
              <a:rPr sz="1200" b="0">
                <a:solidFill>
                  <a:srgbClr val="4B4B4B"/>
                </a:solidFill>
                <a:latin typeface="Arial"/>
              </a:rPr>
              <a:t>Communication and approval run outside the system; payees only for CTA and check.</a:t>
            </a:r>
          </a:p>
          <a:p>
            <a:pPr>
              <a:spcAft>
                <a:spcPts val="100"/>
              </a:spcAft>
            </a:pPr>
            <a:r>
              <a:rPr sz="1200" b="0">
                <a:solidFill>
                  <a:srgbClr val="0072D8"/>
                </a:solidFill>
                <a:latin typeface="Arial"/>
              </a:rPr>
              <a:t>BRD-5 p.45, B c-e</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Payment methods not all integrated</a:t>
            </a:r>
          </a:p>
          <a:p>
            <a:pPr>
              <a:spcAft>
                <a:spcPts val="100"/>
              </a:spcAft>
            </a:pPr>
            <a:r>
              <a:rPr sz="1200" b="0">
                <a:solidFill>
                  <a:srgbClr val="4B4B4B"/>
                </a:solidFill>
                <a:latin typeface="Arial"/>
              </a:rPr>
              <a:t>Not every mode of payment is in the system; most output reports are manual.</a:t>
            </a:r>
          </a:p>
          <a:p>
            <a:pPr>
              <a:spcAft>
                <a:spcPts val="100"/>
              </a:spcAft>
            </a:pPr>
            <a:r>
              <a:rPr sz="1200" b="0">
                <a:solidFill>
                  <a:srgbClr val="0072D8"/>
                </a:solidFill>
                <a:latin typeface="Arial"/>
              </a:rPr>
              <a:t>BRD-5 p.45, B b, f</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Unbalanced entries not prevented</a:t>
            </a:r>
          </a:p>
          <a:p>
            <a:pPr>
              <a:spcAft>
                <a:spcPts val="100"/>
              </a:spcAft>
            </a:pPr>
            <a:r>
              <a:rPr sz="1200" b="0">
                <a:solidFill>
                  <a:srgbClr val="4B4B4B"/>
                </a:solidFill>
                <a:latin typeface="Arial"/>
              </a:rPr>
              <a:t>Some accounting entries are keyed by hand.</a:t>
            </a:r>
          </a:p>
          <a:p>
            <a:pPr>
              <a:spcAft>
                <a:spcPts val="100"/>
              </a:spcAft>
            </a:pPr>
            <a:r>
              <a:rPr sz="1200" b="0">
                <a:solidFill>
                  <a:srgbClr val="0072D8"/>
                </a:solidFill>
                <a:latin typeface="Arial"/>
              </a:rPr>
              <a:t>BRD-5 p.44, A d-e</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Corrections by another unit</a:t>
            </a:r>
          </a:p>
          <a:p>
            <a:pPr>
              <a:spcAft>
                <a:spcPts val="100"/>
              </a:spcAft>
            </a:pPr>
            <a:r>
              <a:rPr sz="1200" b="0">
                <a:solidFill>
                  <a:srgbClr val="4B4B4B"/>
                </a:solidFill>
                <a:latin typeface="Arial"/>
              </a:rPr>
              <a:t>Correction and reversal entries are processed manually and posted by a separate unit.</a:t>
            </a:r>
          </a:p>
          <a:p>
            <a:pPr>
              <a:spcAft>
                <a:spcPts val="100"/>
              </a:spcAft>
            </a:pPr>
            <a:r>
              <a:rPr sz="1200" b="0">
                <a:solidFill>
                  <a:srgbClr val="0072D8"/>
                </a:solidFill>
                <a:latin typeface="Arial"/>
              </a:rPr>
              <a:t>BRD-5 p.45, C b-c</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Cancellations get a new invoice number</a:t>
            </a:r>
          </a:p>
          <a:p>
            <a:pPr>
              <a:spcAft>
                <a:spcPts val="100"/>
              </a:spcAft>
            </a:pPr>
            <a:r>
              <a:rPr sz="1200" b="0">
                <a:solidFill>
                  <a:srgbClr val="4B4B4B"/>
                </a:solidFill>
                <a:latin typeface="Arial"/>
              </a:rPr>
              <a:t>Related transactions cannot be followed under one number; reports lack source references.</a:t>
            </a:r>
          </a:p>
          <a:p>
            <a:pPr>
              <a:spcAft>
                <a:spcPts val="100"/>
              </a:spcAft>
            </a:pPr>
            <a:r>
              <a:rPr sz="1200" b="0">
                <a:solidFill>
                  <a:srgbClr val="0072D8"/>
                </a:solidFill>
                <a:latin typeface="Arial"/>
              </a:rPr>
              <a:t>BRD-5 p.45, C d-e</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IT needed for input and closing</a:t>
            </a:r>
          </a:p>
          <a:p>
            <a:pPr>
              <a:spcAft>
                <a:spcPts val="100"/>
              </a:spcAft>
            </a:pPr>
            <a:r>
              <a:rPr sz="1200" b="0">
                <a:solidFill>
                  <a:srgbClr val="4B4B4B"/>
                </a:solidFill>
                <a:latin typeface="Arial"/>
              </a:rPr>
              <a:t>Input reports and the closing of the broking books depend on IT support.</a:t>
            </a:r>
          </a:p>
          <a:p>
            <a:pPr>
              <a:spcAft>
                <a:spcPts val="100"/>
              </a:spcAft>
            </a:pPr>
            <a:r>
              <a:rPr sz="1200" b="0">
                <a:solidFill>
                  <a:srgbClr val="0072D8"/>
                </a:solidFill>
                <a:latin typeface="Arial"/>
              </a:rPr>
              <a:t>BRD-5 p.44, A a; p.45, C a</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Reconciliation and reports by hand</a:t>
            </a:r>
          </a:p>
          <a:p>
            <a:pPr>
              <a:spcAft>
                <a:spcPts val="100"/>
              </a:spcAft>
            </a:pPr>
            <a:r>
              <a:rPr sz="1200" b="0">
                <a:solidFill>
                  <a:srgbClr val="4B4B4B"/>
                </a:solidFill>
                <a:latin typeface="Arial"/>
              </a:rPr>
              <a:t>Output reports are generated and reconciliations performed manually.</a:t>
            </a:r>
          </a:p>
          <a:p>
            <a:pPr>
              <a:spcAft>
                <a:spcPts val="100"/>
              </a:spcAft>
            </a:pPr>
            <a:r>
              <a:rPr sz="1200" b="0">
                <a:solidFill>
                  <a:srgbClr val="0072D8"/>
                </a:solidFill>
                <a:latin typeface="Arial"/>
              </a:rPr>
              <a:t>BRD-5 p.44, A b-c</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and Disbursement: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pic>
        <p:nvPicPr>
          <p:cNvPr id="9" name="Picture 8" descr="brd05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Disbursement, accounting and ACSL in BIBS (design ACCOUNTING_DISBURSEMENT_DESIGN; BRD-5 p.46-48)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and Disbursement: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Marketing requests by e-mail and paper</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RRF and RFP in BIBS with documents; Marketing (and HR) approval routes them to Disbursement</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paper hand-over</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received by hand</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from other modules, uploads and encoding in one intake</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request queue</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processing and CWT tagging</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DV and proforma entry created by BIBS; approval in the workflow; payees for every mode</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Verifier plus two approvers</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methods not all integrated</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Seven payment modes with instrument life cycles; end-of-day files and forms</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Statuses tagged by bank file</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Unbalanced entries not prevented</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Validator refuses unbalanced entries and flags negative balances; accruals reverse automatically</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Debit = credit enforced</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Corrections by another unit</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ACSL corrections post on approval to the sub-ledger and the invoice ledger</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Posting on approval</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Cancellations get a new invoice number</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related transaction carries one root invoice number; source references in reports</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invoice family</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IT needed for input and closing</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run input reports; broking books close by a scheduled job</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IT request</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Reconciliation and reports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Bank file matched on check number and amount; reports on demand</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Reports 10-20 s (p.133-137)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and Disbursement: gaps in the envisioned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invoice number or a root number</a:t>
                      </a:r>
                    </a:p>
                  </a:txBody>
                  <a:tcPr marL="64008" marR="64008" marT="27432" marB="27432" anchor="ctr">
                    <a:solidFill>
                      <a:srgbClr val="FFFFFF"/>
                    </a:solidFill>
                  </a:tcPr>
                </a:tc>
                <a:tc>
                  <a:txBody>
                    <a:bodyPr wrap="square"/>
                    <a:lstStyle/>
                    <a:p>
                      <a:r>
                        <a:rPr sz="1100" b="0">
                          <a:solidFill>
                            <a:srgbClr val="4B4B4B"/>
                          </a:solidFill>
                          <a:latin typeface="Arial"/>
                        </a:rPr>
                        <a:t>BIR invoice uniqueness against one reference per policy</a:t>
                      </a:r>
                    </a:p>
                  </a:txBody>
                  <a:tcPr marL="64008" marR="64008" marT="27432" marB="27432" anchor="ctr">
                    <a:solidFill>
                      <a:srgbClr val="FFFFFF"/>
                    </a:solidFill>
                  </a:tcPr>
                </a:tc>
                <a:tc>
                  <a:txBody>
                    <a:bodyPr wrap="square"/>
                    <a:lstStyle/>
                    <a:p>
                      <a:r>
                        <a:rPr sz="1100" b="0">
                          <a:solidFill>
                            <a:srgbClr val="4B4B4B"/>
                          </a:solidFill>
                          <a:latin typeface="Arial"/>
                        </a:rPr>
                        <a:t>Comptrollership (ACSL)</a:t>
                      </a:r>
                    </a:p>
                  </a:txBody>
                  <a:tcPr marL="64008" marR="64008" marT="27432" marB="27432" anchor="ctr">
                    <a:solidFill>
                      <a:srgbClr val="FFFFFF"/>
                    </a:solidFill>
                  </a:tcPr>
                </a:tc>
                <a:tc>
                  <a:txBody>
                    <a:bodyPr wrap="square"/>
                    <a:lstStyle/>
                    <a:p>
                      <a:r>
                        <a:rPr sz="1100" b="0">
                          <a:solidFill>
                            <a:srgbClr val="4B4B4B"/>
                          </a:solidFill>
                          <a:latin typeface="Arial"/>
                        </a:rPr>
                        <a:t>Accept a root invoice number linking related documents</a:t>
                      </a:r>
                    </a:p>
                  </a:txBody>
                  <a:tcPr marL="64008" marR="64008" marT="27432" marB="27432" anchor="ctr">
                    <a:solidFill>
                      <a:srgbClr val="FFFFFF"/>
                    </a:solidFill>
                  </a:tcPr>
                </a:tc>
                <a:tc>
                  <a:txBody>
                    <a:bodyPr wrap="square"/>
                    <a:lstStyle/>
                    <a:p>
                      <a:r>
                        <a:rPr sz="1100" b="0">
                          <a:solidFill>
                            <a:srgbClr val="4B4B4B"/>
                          </a:solidFill>
                          <a:latin typeface="Arial"/>
                        </a:rPr>
                        <a:t>DCR-058, AQ29</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(CPC2 and early incentive)</a:t>
                      </a:r>
                    </a:p>
                  </a:txBody>
                  <a:tcPr marL="64008" marR="64008" marT="27432" marB="27432" anchor="ctr">
                    <a:solidFill>
                      <a:srgbClr val="E5F5FF"/>
                    </a:solidFill>
                  </a:tcPr>
                </a:tc>
                <a:tc>
                  <a:txBody>
                    <a:bodyPr wrap="square"/>
                    <a:lstStyle/>
                    <a:p>
                      <a:r>
                        <a:rPr sz="1100" b="0">
                          <a:solidFill>
                            <a:srgbClr val="4B4B4B"/>
                          </a:solidFill>
                          <a:latin typeface="Arial"/>
                        </a:rPr>
                        <a:t>Incentive income and service invoices</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Rates, base, payer, service invoice per programme</a:t>
                      </a:r>
                    </a:p>
                  </a:txBody>
                  <a:tcPr marL="64008" marR="64008" marT="27432" marB="27432" anchor="ctr">
                    <a:solidFill>
                      <a:srgbClr val="E5F5FF"/>
                    </a:solidFill>
                  </a:tcPr>
                </a:tc>
                <a:tc>
                  <a:txBody>
                    <a:bodyPr wrap="square"/>
                    <a:lstStyle/>
                    <a:p>
                      <a:r>
                        <a:rPr sz="1100" b="0">
                          <a:solidFill>
                            <a:srgbClr val="4B4B4B"/>
                          </a:solidFill>
                          <a:latin typeface="Arial"/>
                        </a:rPr>
                        <a:t>DCR-037, AQ24</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Payee master and open items at go-live</a:t>
                      </a:r>
                    </a:p>
                  </a:txBody>
                  <a:tcPr marL="64008" marR="64008" marT="27432" marB="27432" anchor="ctr">
                    <a:solidFill>
                      <a:srgbClr val="FFFFFF"/>
                    </a:solidFill>
                  </a:tcPr>
                </a:tc>
                <a:tc>
                  <a:txBody>
                    <a:bodyPr wrap="square"/>
                    <a:lstStyle/>
                    <a:p>
                      <a:r>
                        <a:rPr sz="1100" b="0">
                          <a:solidFill>
                            <a:srgbClr val="4B4B4B"/>
                          </a:solidFill>
                          <a:latin typeface="Arial"/>
                        </a:rPr>
                        <a:t>Disbursement cannot start without payees</a:t>
                      </a:r>
                    </a:p>
                  </a:txBody>
                  <a:tcPr marL="64008" marR="64008" marT="27432" marB="27432" anchor="ctr">
                    <a:solidFill>
                      <a:srgbClr val="FFFFFF"/>
                    </a:solidFill>
                  </a:tcPr>
                </a:tc>
                <a:tc>
                  <a:txBody>
                    <a:bodyPr wrap="square"/>
                    <a:lstStyle/>
                    <a:p>
                      <a:r>
                        <a:rPr sz="1100" b="0">
                          <a:solidFill>
                            <a:srgbClr val="4B4B4B"/>
                          </a:solidFill>
                          <a:latin typeface="Arial"/>
                        </a:rPr>
                        <a:t>Comptrollership</a:t>
                      </a:r>
                    </a:p>
                  </a:txBody>
                  <a:tcPr marL="64008" marR="64008" marT="27432" marB="27432" anchor="ctr">
                    <a:solidFill>
                      <a:srgbClr val="FFFFFF"/>
                    </a:solidFill>
                  </a:tcPr>
                </a:tc>
                <a:tc>
                  <a:txBody>
                    <a:bodyPr wrap="square"/>
                    <a:lstStyle/>
                    <a:p>
                      <a:r>
                        <a:rPr sz="1100" b="0">
                          <a:solidFill>
                            <a:srgbClr val="4B4B4B"/>
                          </a:solidFill>
                          <a:latin typeface="Arial"/>
                        </a:rPr>
                        <a:t>Migration file, cut-off and reconciliation</a:t>
                      </a:r>
                    </a:p>
                  </a:txBody>
                  <a:tcPr marL="64008" marR="64008" marT="27432" marB="27432" anchor="ctr">
                    <a:solidFill>
                      <a:srgbClr val="FFFFFF"/>
                    </a:solidFill>
                  </a:tcPr>
                </a:tc>
                <a:tc>
                  <a:txBody>
                    <a:bodyPr wrap="square"/>
                    <a:lstStyle/>
                    <a:p>
                      <a:r>
                        <a:rPr sz="1100" b="0">
                          <a:solidFill>
                            <a:srgbClr val="4B4B4B"/>
                          </a:solidFill>
                          <a:latin typeface="Arial"/>
                        </a:rPr>
                        <a:t>DCR-157, AQ11</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GL month-end closing rule</a:t>
                      </a:r>
                    </a:p>
                  </a:txBody>
                  <a:tcPr marL="64008" marR="64008" marT="27432" marB="27432" anchor="ctr">
                    <a:solidFill>
                      <a:srgbClr val="E5F5FF"/>
                    </a:solidFill>
                  </a:tcPr>
                </a:tc>
                <a:tc>
                  <a:txBody>
                    <a:bodyPr wrap="square"/>
                    <a:lstStyle/>
                    <a:p>
                      <a:r>
                        <a:rPr sz="1100" b="0">
                          <a:solidFill>
                            <a:srgbClr val="4B4B4B"/>
                          </a:solidFill>
                          <a:latin typeface="Arial"/>
                        </a:rPr>
                        <a:t>Close date, reopening, period controls</a:t>
                      </a:r>
                    </a:p>
                  </a:txBody>
                  <a:tcPr marL="64008" marR="64008" marT="27432" marB="27432" anchor="ctr">
                    <a:solidFill>
                      <a:srgbClr val="E5F5FF"/>
                    </a:solidFill>
                  </a:tcPr>
                </a:tc>
                <a:tc>
                  <a:txBody>
                    <a:bodyPr wrap="square"/>
                    <a:lstStyle/>
                    <a:p>
                      <a:r>
                        <a:rPr sz="1100" b="0">
                          <a:solidFill>
                            <a:srgbClr val="4B4B4B"/>
                          </a:solidFill>
                          <a:latin typeface="Arial"/>
                        </a:rPr>
                        <a:t>FRBS</a:t>
                      </a:r>
                    </a:p>
                  </a:txBody>
                  <a:tcPr marL="64008" marR="64008" marT="27432" marB="27432" anchor="ctr">
                    <a:solidFill>
                      <a:srgbClr val="E5F5FF"/>
                    </a:solidFill>
                  </a:tcPr>
                </a:tc>
                <a:tc>
                  <a:txBody>
                    <a:bodyPr wrap="square"/>
                    <a:lstStyle/>
                    <a:p>
                      <a:r>
                        <a:rPr sz="1100" b="0">
                          <a:solidFill>
                            <a:srgbClr val="4B4B4B"/>
                          </a:solidFill>
                          <a:latin typeface="Arial"/>
                        </a:rPr>
                        <a:t>2nd banking day or a preferred date; can a month reopen?</a:t>
                      </a:r>
                    </a:p>
                  </a:txBody>
                  <a:tcPr marL="64008" marR="64008" marT="27432" marB="27432" anchor="ctr">
                    <a:solidFill>
                      <a:srgbClr val="E5F5FF"/>
                    </a:solidFill>
                  </a:tcPr>
                </a:tc>
                <a:tc>
                  <a:txBody>
                    <a:bodyPr wrap="square"/>
                    <a:lstStyle/>
                    <a:p>
                      <a:r>
                        <a:rPr sz="1100" b="0">
                          <a:solidFill>
                            <a:srgbClr val="4B4B4B"/>
                          </a:solidFill>
                          <a:latin typeface="Arial"/>
                        </a:rPr>
                        <a:t>DCR-054, AQ04</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RRF and RFP mandatory fields</a:t>
                      </a:r>
                    </a:p>
                  </a:txBody>
                  <a:tcPr marL="64008" marR="64008" marT="27432" marB="27432" anchor="ctr">
                    <a:solidFill>
                      <a:srgbClr val="FFFFFF"/>
                    </a:solidFill>
                  </a:tcPr>
                </a:tc>
                <a:tc>
                  <a:txBody>
                    <a:bodyPr wrap="square"/>
                    <a:lstStyle/>
                    <a:p>
                      <a:r>
                        <a:rPr sz="1100" b="0">
                          <a:solidFill>
                            <a:srgbClr val="4B4B4B"/>
                          </a:solidFill>
                          <a:latin typeface="Arial"/>
                        </a:rPr>
                        <a:t>Marketing request screens and tests</a:t>
                      </a:r>
                    </a:p>
                  </a:txBody>
                  <a:tcPr marL="64008" marR="64008" marT="27432" marB="27432" anchor="ctr">
                    <a:solidFill>
                      <a:srgbClr val="FFFFFF"/>
                    </a:solidFill>
                  </a:tcPr>
                </a:tc>
                <a:tc>
                  <a:txBody>
                    <a:bodyPr wrap="square"/>
                    <a:lstStyle/>
                    <a:p>
                      <a:r>
                        <a:rPr sz="1100" b="0">
                          <a:solidFill>
                            <a:srgbClr val="4B4B4B"/>
                          </a:solidFill>
                          <a:latin typeface="Arial"/>
                        </a:rPr>
                        <a:t>Comptrollership, Marketing</a:t>
                      </a:r>
                    </a:p>
                  </a:txBody>
                  <a:tcPr marL="64008" marR="64008" marT="27432" marB="27432" anchor="ctr">
                    <a:solidFill>
                      <a:srgbClr val="FFFFFF"/>
                    </a:solidFill>
                  </a:tcPr>
                </a:tc>
                <a:tc>
                  <a:txBody>
                    <a:bodyPr wrap="square"/>
                    <a:lstStyle/>
                    <a:p>
                      <a:r>
                        <a:rPr sz="1100" b="0">
                          <a:solidFill>
                            <a:srgbClr val="4B4B4B"/>
                          </a:solidFill>
                          <a:latin typeface="Arial"/>
                        </a:rPr>
                        <a:t>Mandatory fields and approval chain per segment</a:t>
                      </a:r>
                    </a:p>
                  </a:txBody>
                  <a:tcPr marL="64008" marR="64008" marT="27432" marB="27432" anchor="ctr">
                    <a:solidFill>
                      <a:srgbClr val="FFFFFF"/>
                    </a:solidFill>
                  </a:tcPr>
                </a:tc>
                <a:tc>
                  <a:txBody>
                    <a:bodyPr wrap="square"/>
                    <a:lstStyle/>
                    <a:p>
                      <a:r>
                        <a:rPr sz="1100" b="0">
                          <a:solidFill>
                            <a:srgbClr val="4B4B4B"/>
                          </a:solidFill>
                          <a:latin typeface="Arial"/>
                        </a:rPr>
                        <a:t>DCR-052, AQ18</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BDO Business Online Banking and DCTF channel</a:t>
                      </a:r>
                    </a:p>
                  </a:txBody>
                  <a:tcPr marL="64008" marR="64008" marT="27432" marB="27432" anchor="ctr">
                    <a:solidFill>
                      <a:srgbClr val="E5F5FF"/>
                    </a:solidFill>
                  </a:tcPr>
                </a:tc>
                <a:tc>
                  <a:txBody>
                    <a:bodyPr wrap="square"/>
                    <a:lstStyle/>
                    <a:p>
                      <a:r>
                        <a:rPr sz="1100" b="0">
                          <a:solidFill>
                            <a:srgbClr val="4B4B4B"/>
                          </a:solidFill>
                          <a:latin typeface="Arial"/>
                        </a:rPr>
                        <a:t>Funding approvals confirmed by hand or file</a:t>
                      </a:r>
                    </a:p>
                  </a:txBody>
                  <a:tcPr marL="64008" marR="64008" marT="27432" marB="27432" anchor="ctr">
                    <a:solidFill>
                      <a:srgbClr val="E5F5FF"/>
                    </a:solidFill>
                  </a:tcPr>
                </a:tc>
                <a:tc>
                  <a:txBody>
                    <a:bodyPr wrap="square"/>
                    <a:lstStyle/>
                    <a:p>
                      <a:r>
                        <a:rPr sz="1100" b="0">
                          <a:solidFill>
                            <a:srgbClr val="4B4B4B"/>
                          </a:solidFill>
                          <a:latin typeface="Arial"/>
                        </a:rPr>
                        <a:t>BDO IT</a:t>
                      </a:r>
                    </a:p>
                  </a:txBody>
                  <a:tcPr marL="64008" marR="64008" marT="27432" marB="27432" anchor="ctr">
                    <a:solidFill>
                      <a:srgbClr val="E5F5FF"/>
                    </a:solidFill>
                  </a:tcPr>
                </a:tc>
                <a:tc>
                  <a:txBody>
                    <a:bodyPr wrap="square"/>
                    <a:lstStyle/>
                    <a:p>
                      <a:r>
                        <a:rPr sz="1100" b="0">
                          <a:solidFill>
                            <a:srgbClr val="4B4B4B"/>
                          </a:solidFill>
                          <a:latin typeface="Arial"/>
                        </a:rPr>
                        <a:t>Channel per payment mode; DCTF specification</a:t>
                      </a:r>
                    </a:p>
                  </a:txBody>
                  <a:tcPr marL="64008" marR="64008" marT="27432" marB="27432" anchor="ctr">
                    <a:solidFill>
                      <a:srgbClr val="E5F5FF"/>
                    </a:solidFill>
                  </a:tcPr>
                </a:tc>
                <a:tc>
                  <a:txBody>
                    <a:bodyPr wrap="square"/>
                    <a:lstStyle/>
                    <a:p>
                      <a:r>
                        <a:rPr sz="1100" b="0">
                          <a:solidFill>
                            <a:srgbClr val="4B4B4B"/>
                          </a:solidFill>
                          <a:latin typeface="Arial"/>
                        </a:rPr>
                        <a:t>AQ09, AQ10</a:t>
                      </a:r>
                    </a:p>
                  </a:txBody>
                  <a:tcPr marL="64008" marR="64008" marT="27432" marB="27432" anchor="ctr">
                    <a:solidFill>
                      <a:srgbClr val="E5F5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and Disbursement: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and dual approval on payments</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DV verifier and approvers; account funding with a verifier and two approvers; maker cannot approve.</a:t>
            </a:r>
          </a:p>
          <a:p>
            <a:pPr>
              <a:spcAft>
                <a:spcPts val="400"/>
              </a:spcAft>
            </a:pPr>
            <a:r>
              <a:rPr sz="1200" b="1">
                <a:solidFill>
                  <a:srgbClr val="004EA8"/>
                </a:solidFill>
                <a:latin typeface="Arial"/>
              </a:rPr>
              <a:t>BDOI: </a:t>
            </a:r>
            <a:r>
              <a:rPr sz="1200" b="0">
                <a:solidFill>
                  <a:srgbClr val="4B4B4B"/>
                </a:solidFill>
                <a:latin typeface="Arial"/>
              </a:rPr>
              <a:t>Confirm the approvers, their order and limits (AQ10, AQ28).</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Balanced posting and a closed period</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Unbalanced entries refused; posting only to open periods; scheduled close with a checklist.</a:t>
            </a:r>
          </a:p>
          <a:p>
            <a:pPr>
              <a:spcAft>
                <a:spcPts val="400"/>
              </a:spcAft>
            </a:pPr>
            <a:r>
              <a:rPr sz="1200" b="1">
                <a:solidFill>
                  <a:srgbClr val="004EA8"/>
                </a:solidFill>
                <a:latin typeface="Arial"/>
              </a:rPr>
              <a:t>BDOI: </a:t>
            </a:r>
            <a:r>
              <a:rPr sz="1200" b="0">
                <a:solidFill>
                  <a:srgbClr val="4B4B4B"/>
                </a:solidFill>
                <a:latin typeface="Arial"/>
              </a:rPr>
              <a:t>Agree the close calendar and reopen rule (AQ04).</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Automated bank reconciliation</a:t>
            </a:r>
          </a:p>
        </p:txBody>
      </p:sp>
      <p:sp>
        <p:nvSpPr>
          <p:cNvPr id="22" name="Rounded Rectangle 21"/>
          <p:cNvSpPr/>
          <p:nvPr/>
        </p:nvSpPr>
        <p:spPr>
          <a:xfrm>
            <a:off x="8146084"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Bank file import and matching on check number and amount.</a:t>
            </a:r>
          </a:p>
          <a:p>
            <a:pPr>
              <a:spcAft>
                <a:spcPts val="400"/>
              </a:spcAft>
            </a:pPr>
            <a:r>
              <a:rPr sz="1200" b="1">
                <a:solidFill>
                  <a:srgbClr val="004EA8"/>
                </a:solidFill>
                <a:latin typeface="Arial"/>
              </a:rPr>
              <a:t>BDOI: </a:t>
            </a:r>
            <a:r>
              <a:rPr sz="1200" b="0">
                <a:solidFill>
                  <a:srgbClr val="4B4B4B"/>
                </a:solidFill>
                <a:latin typeface="Arial"/>
              </a:rPr>
              <a:t>Give the bank file layouts per bank (AQ08).</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Sub-ledger reconciled to the GL</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GL-SL reconciliation per GL code; insurer SOA reconciled per invoice.</a:t>
            </a:r>
          </a:p>
          <a:p>
            <a:pPr>
              <a:spcAft>
                <a:spcPts val="400"/>
              </a:spcAft>
            </a:pPr>
            <a:r>
              <a:rPr sz="1200" b="1">
                <a:solidFill>
                  <a:srgbClr val="004EA8"/>
                </a:solidFill>
                <a:latin typeface="Arial"/>
              </a:rPr>
              <a:t>BDOI: </a:t>
            </a:r>
            <a:r>
              <a:rPr sz="1200" b="0">
                <a:solidFill>
                  <a:srgbClr val="4B4B4B"/>
                </a:solidFill>
                <a:latin typeface="Arial"/>
              </a:rPr>
              <a:t>Ask insurers to show the BDOI invoice number on their SOA (AQ21).</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BIR withholding and certificates from the system</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CWT tagging and BIR 2307 generated; BIR returns from the tax module.</a:t>
            </a:r>
          </a:p>
          <a:p>
            <a:pPr>
              <a:spcAft>
                <a:spcPts val="400"/>
              </a:spcAft>
            </a:pPr>
            <a:r>
              <a:rPr sz="1200" b="1">
                <a:solidFill>
                  <a:srgbClr val="004EA8"/>
                </a:solidFill>
                <a:latin typeface="Arial"/>
              </a:rPr>
              <a:t>BDOI: </a:t>
            </a:r>
            <a:r>
              <a:rPr sz="1200" b="0">
                <a:solidFill>
                  <a:srgbClr val="4B4B4B"/>
                </a:solidFill>
                <a:latin typeface="Arial"/>
              </a:rPr>
              <a:t>Confirm the BIR forms and books still required (AQ07).</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invoice family for audit</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Root invoice number carried by booking, ledger and every downstream document.</a:t>
            </a:r>
          </a:p>
          <a:p>
            <a:pPr>
              <a:spcAft>
                <a:spcPts val="400"/>
              </a:spcAft>
            </a:pPr>
            <a:r>
              <a:rPr sz="1200" b="1">
                <a:solidFill>
                  <a:srgbClr val="004EA8"/>
                </a:solidFill>
                <a:latin typeface="Arial"/>
              </a:rPr>
              <a:t>BDOI: </a:t>
            </a:r>
            <a:r>
              <a:rPr sz="1200" b="0">
                <a:solidFill>
                  <a:srgbClr val="4B4B4B"/>
                </a:solidFill>
                <a:latin typeface="Arial"/>
              </a:rPr>
              <a:t>Accept the root-number model (DCR-058).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6. Summary</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Maturity, decisions and roadmap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from today to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ectangle 8"/>
          <p:cNvSpPr/>
          <p:nvPr/>
        </p:nvSpPr>
        <p:spPr>
          <a:xfrm>
            <a:off x="2679192"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97480"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1  </a:t>
            </a:r>
            <a:r>
              <a:rPr sz="1100" b="0">
                <a:solidFill>
                  <a:srgbClr val="2E2E2E"/>
                </a:solidFill>
                <a:latin typeface="Arial"/>
              </a:rPr>
              <a:t>Manual: paper, e-mail</a:t>
            </a:r>
          </a:p>
        </p:txBody>
      </p:sp>
      <p:sp>
        <p:nvSpPr>
          <p:cNvPr id="11" name="Rectangle 10"/>
          <p:cNvSpPr/>
          <p:nvPr/>
        </p:nvSpPr>
        <p:spPr>
          <a:xfrm>
            <a:off x="4477451"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5739"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2  </a:t>
            </a:r>
            <a:r>
              <a:rPr sz="1100" b="0">
                <a:solidFill>
                  <a:srgbClr val="2E2E2E"/>
                </a:solidFill>
                <a:latin typeface="Arial"/>
              </a:rPr>
              <a:t>Tool-assisted: spreadsheets, separate systems</a:t>
            </a:r>
          </a:p>
        </p:txBody>
      </p:sp>
      <p:sp>
        <p:nvSpPr>
          <p:cNvPr id="13" name="Rectangle 12"/>
          <p:cNvSpPr/>
          <p:nvPr/>
        </p:nvSpPr>
        <p:spPr>
          <a:xfrm>
            <a:off x="6275710"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3998"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3  </a:t>
            </a:r>
            <a:r>
              <a:rPr sz="1100" b="0">
                <a:solidFill>
                  <a:srgbClr val="2E2E2E"/>
                </a:solidFill>
                <a:latin typeface="Arial"/>
              </a:rPr>
              <a:t>One workflow in one system</a:t>
            </a:r>
          </a:p>
        </p:txBody>
      </p:sp>
      <p:sp>
        <p:nvSpPr>
          <p:cNvPr id="15" name="Rectangle 14"/>
          <p:cNvSpPr/>
          <p:nvPr/>
        </p:nvSpPr>
        <p:spPr>
          <a:xfrm>
            <a:off x="8073969"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257"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4  </a:t>
            </a:r>
            <a:r>
              <a:rPr sz="1100" b="0">
                <a:solidFill>
                  <a:srgbClr val="2E2E2E"/>
                </a:solidFill>
                <a:latin typeface="Arial"/>
              </a:rPr>
              <a:t>Automated, with exception queues</a:t>
            </a:r>
          </a:p>
        </p:txBody>
      </p:sp>
      <p:sp>
        <p:nvSpPr>
          <p:cNvPr id="17" name="Rectangle 16"/>
          <p:cNvSpPr/>
          <p:nvPr/>
        </p:nvSpPr>
        <p:spPr>
          <a:xfrm>
            <a:off x="9872228"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90516"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5  </a:t>
            </a:r>
            <a:r>
              <a:rPr sz="1100" b="0">
                <a:solidFill>
                  <a:srgbClr val="2E2E2E"/>
                </a:solidFill>
                <a:latin typeface="Arial"/>
              </a:rPr>
              <a:t>Integrated and measured</a:t>
            </a:r>
          </a:p>
        </p:txBody>
      </p:sp>
      <p:sp>
        <p:nvSpPr>
          <p:cNvPr id="19" name="Rectangle 18"/>
          <p:cNvSpPr/>
          <p:nvPr/>
        </p:nvSpPr>
        <p:spPr>
          <a:xfrm>
            <a:off x="548640" y="1938528"/>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1938528"/>
            <a:ext cx="2103120" cy="483325"/>
          </a:xfrm>
          <a:prstGeom prst="rect">
            <a:avLst/>
          </a:prstGeom>
          <a:noFill/>
        </p:spPr>
        <p:txBody>
          <a:bodyPr wrap="square" anchor="ctr" lIns="45720" rIns="45720">
            <a:spAutoFit/>
          </a:bodyPr>
          <a:lstStyle/>
          <a:p>
            <a:r>
              <a:rPr sz="1300" b="1" i="0">
                <a:solidFill>
                  <a:srgbClr val="004EA8"/>
                </a:solidFill>
                <a:latin typeface="Arial"/>
              </a:rPr>
              <a:t>Automation</a:t>
            </a:r>
          </a:p>
        </p:txBody>
      </p:sp>
      <p:sp>
        <p:nvSpPr>
          <p:cNvPr id="21" name="Rectangle 20"/>
          <p:cNvSpPr/>
          <p:nvPr/>
        </p:nvSpPr>
        <p:spPr>
          <a:xfrm>
            <a:off x="3550889" y="2161140"/>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13729" y="2043030"/>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3" name="Oval 22"/>
          <p:cNvSpPr/>
          <p:nvPr/>
        </p:nvSpPr>
        <p:spPr>
          <a:xfrm>
            <a:off x="8808506" y="2043030"/>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4" name="Oval 23"/>
          <p:cNvSpPr/>
          <p:nvPr/>
        </p:nvSpPr>
        <p:spPr>
          <a:xfrm>
            <a:off x="10606765" y="2043030"/>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5" name="TextBox 24"/>
          <p:cNvSpPr txBox="1"/>
          <p:nvPr/>
        </p:nvSpPr>
        <p:spPr>
          <a:xfrm>
            <a:off x="594360" y="2421853"/>
            <a:ext cx="2103120" cy="483325"/>
          </a:xfrm>
          <a:prstGeom prst="rect">
            <a:avLst/>
          </a:prstGeom>
          <a:noFill/>
        </p:spPr>
        <p:txBody>
          <a:bodyPr wrap="square" anchor="ctr" lIns="45720" rIns="45720">
            <a:spAutoFit/>
          </a:bodyPr>
          <a:lstStyle/>
          <a:p>
            <a:r>
              <a:rPr sz="1300" b="1" i="0">
                <a:solidFill>
                  <a:srgbClr val="004EA8"/>
                </a:solidFill>
                <a:latin typeface="Arial"/>
              </a:rPr>
              <a:t>Controls</a:t>
            </a:r>
          </a:p>
        </p:txBody>
      </p:sp>
      <p:sp>
        <p:nvSpPr>
          <p:cNvPr id="26" name="Rectangle 25"/>
          <p:cNvSpPr/>
          <p:nvPr/>
        </p:nvSpPr>
        <p:spPr>
          <a:xfrm>
            <a:off x="5349148" y="2644466"/>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1988" y="2526356"/>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8" name="Oval 27"/>
          <p:cNvSpPr/>
          <p:nvPr/>
        </p:nvSpPr>
        <p:spPr>
          <a:xfrm>
            <a:off x="8808506" y="2526356"/>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9" name="Oval 28"/>
          <p:cNvSpPr/>
          <p:nvPr/>
        </p:nvSpPr>
        <p:spPr>
          <a:xfrm>
            <a:off x="10606765" y="2526356"/>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0" name="Rectangle 29"/>
          <p:cNvSpPr/>
          <p:nvPr/>
        </p:nvSpPr>
        <p:spPr>
          <a:xfrm>
            <a:off x="548640" y="2905179"/>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905179"/>
            <a:ext cx="2103120" cy="483325"/>
          </a:xfrm>
          <a:prstGeom prst="rect">
            <a:avLst/>
          </a:prstGeom>
          <a:noFill/>
        </p:spPr>
        <p:txBody>
          <a:bodyPr wrap="square" anchor="ctr" lIns="45720" rIns="45720">
            <a:spAutoFit/>
          </a:bodyPr>
          <a:lstStyle/>
          <a:p>
            <a:r>
              <a:rPr sz="1300" b="1" i="0">
                <a:solidFill>
                  <a:srgbClr val="004EA8"/>
                </a:solidFill>
                <a:latin typeface="Arial"/>
              </a:rPr>
              <a:t>Data</a:t>
            </a:r>
          </a:p>
        </p:txBody>
      </p:sp>
      <p:sp>
        <p:nvSpPr>
          <p:cNvPr id="32" name="Rectangle 31"/>
          <p:cNvSpPr/>
          <p:nvPr/>
        </p:nvSpPr>
        <p:spPr>
          <a:xfrm>
            <a:off x="3550889" y="3127792"/>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413729" y="3009682"/>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4" name="Oval 33"/>
          <p:cNvSpPr/>
          <p:nvPr/>
        </p:nvSpPr>
        <p:spPr>
          <a:xfrm>
            <a:off x="8808506" y="3009682"/>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5" name="Oval 34"/>
          <p:cNvSpPr/>
          <p:nvPr/>
        </p:nvSpPr>
        <p:spPr>
          <a:xfrm>
            <a:off x="10606765" y="3009682"/>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6" name="TextBox 35"/>
          <p:cNvSpPr txBox="1"/>
          <p:nvPr/>
        </p:nvSpPr>
        <p:spPr>
          <a:xfrm>
            <a:off x="594360" y="3388505"/>
            <a:ext cx="2103120" cy="483325"/>
          </a:xfrm>
          <a:prstGeom prst="rect">
            <a:avLst/>
          </a:prstGeom>
          <a:noFill/>
        </p:spPr>
        <p:txBody>
          <a:bodyPr wrap="square" anchor="ctr" lIns="45720" rIns="45720">
            <a:spAutoFit/>
          </a:bodyPr>
          <a:lstStyle/>
          <a:p>
            <a:r>
              <a:rPr sz="1300" b="1" i="0">
                <a:solidFill>
                  <a:srgbClr val="004EA8"/>
                </a:solidFill>
                <a:latin typeface="Arial"/>
              </a:rPr>
              <a:t>Integration</a:t>
            </a:r>
          </a:p>
        </p:txBody>
      </p:sp>
      <p:sp>
        <p:nvSpPr>
          <p:cNvPr id="37" name="Rectangle 36"/>
          <p:cNvSpPr/>
          <p:nvPr/>
        </p:nvSpPr>
        <p:spPr>
          <a:xfrm>
            <a:off x="5349148" y="3611118"/>
            <a:ext cx="1798259"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11988" y="3493008"/>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9" name="Oval 38"/>
          <p:cNvSpPr/>
          <p:nvPr/>
        </p:nvSpPr>
        <p:spPr>
          <a:xfrm>
            <a:off x="7010247" y="3493008"/>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0" name="Oval 39"/>
          <p:cNvSpPr/>
          <p:nvPr/>
        </p:nvSpPr>
        <p:spPr>
          <a:xfrm>
            <a:off x="10606765" y="3493008"/>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1" name="Rectangle 40"/>
          <p:cNvSpPr/>
          <p:nvPr/>
        </p:nvSpPr>
        <p:spPr>
          <a:xfrm>
            <a:off x="548640" y="3871830"/>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871830"/>
            <a:ext cx="2103120" cy="483325"/>
          </a:xfrm>
          <a:prstGeom prst="rect">
            <a:avLst/>
          </a:prstGeom>
          <a:noFill/>
        </p:spPr>
        <p:txBody>
          <a:bodyPr wrap="square" anchor="ctr" lIns="45720" rIns="45720">
            <a:spAutoFit/>
          </a:bodyPr>
          <a:lstStyle/>
          <a:p>
            <a:r>
              <a:rPr sz="1300" b="1" i="0">
                <a:solidFill>
                  <a:srgbClr val="004EA8"/>
                </a:solidFill>
                <a:latin typeface="Arial"/>
              </a:rPr>
              <a:t>Customer service</a:t>
            </a:r>
          </a:p>
        </p:txBody>
      </p:sp>
      <p:sp>
        <p:nvSpPr>
          <p:cNvPr id="43" name="Rectangle 42"/>
          <p:cNvSpPr/>
          <p:nvPr/>
        </p:nvSpPr>
        <p:spPr>
          <a:xfrm>
            <a:off x="5349148" y="4094443"/>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211988" y="3976333"/>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5" name="Oval 44"/>
          <p:cNvSpPr/>
          <p:nvPr/>
        </p:nvSpPr>
        <p:spPr>
          <a:xfrm>
            <a:off x="8808506" y="3976333"/>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6" name="Oval 45"/>
          <p:cNvSpPr/>
          <p:nvPr/>
        </p:nvSpPr>
        <p:spPr>
          <a:xfrm>
            <a:off x="10606765" y="3976333"/>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7" name="TextBox 46"/>
          <p:cNvSpPr txBox="1"/>
          <p:nvPr/>
        </p:nvSpPr>
        <p:spPr>
          <a:xfrm>
            <a:off x="594360" y="4355156"/>
            <a:ext cx="2103120" cy="483325"/>
          </a:xfrm>
          <a:prstGeom prst="rect">
            <a:avLst/>
          </a:prstGeom>
          <a:noFill/>
        </p:spPr>
        <p:txBody>
          <a:bodyPr wrap="square" anchor="ctr" lIns="45720" rIns="45720">
            <a:spAutoFit/>
          </a:bodyPr>
          <a:lstStyle/>
          <a:p>
            <a:r>
              <a:rPr sz="1300" b="1" i="0">
                <a:solidFill>
                  <a:srgbClr val="004EA8"/>
                </a:solidFill>
                <a:latin typeface="Arial"/>
              </a:rPr>
              <a:t>Compliance</a:t>
            </a:r>
          </a:p>
        </p:txBody>
      </p:sp>
      <p:sp>
        <p:nvSpPr>
          <p:cNvPr id="48" name="Rectangle 47"/>
          <p:cNvSpPr/>
          <p:nvPr/>
        </p:nvSpPr>
        <p:spPr>
          <a:xfrm>
            <a:off x="3550889" y="4577769"/>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413729" y="4459659"/>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0" name="Oval 49"/>
          <p:cNvSpPr/>
          <p:nvPr/>
        </p:nvSpPr>
        <p:spPr>
          <a:xfrm>
            <a:off x="8808506" y="4459659"/>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1" name="Oval 50"/>
          <p:cNvSpPr/>
          <p:nvPr/>
        </p:nvSpPr>
        <p:spPr>
          <a:xfrm>
            <a:off x="10606765" y="4459659"/>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2" name="Rectangle 51"/>
          <p:cNvSpPr/>
          <p:nvPr/>
        </p:nvSpPr>
        <p:spPr>
          <a:xfrm>
            <a:off x="548640" y="4838482"/>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838482"/>
            <a:ext cx="2103120" cy="483325"/>
          </a:xfrm>
          <a:prstGeom prst="rect">
            <a:avLst/>
          </a:prstGeom>
          <a:noFill/>
        </p:spPr>
        <p:txBody>
          <a:bodyPr wrap="square" anchor="ctr" lIns="45720" rIns="45720">
            <a:spAutoFit/>
          </a:bodyPr>
          <a:lstStyle/>
          <a:p>
            <a:r>
              <a:rPr sz="1300" b="1" i="0">
                <a:solidFill>
                  <a:srgbClr val="004EA8"/>
                </a:solidFill>
                <a:latin typeface="Arial"/>
              </a:rPr>
              <a:t>Reporting</a:t>
            </a:r>
          </a:p>
        </p:txBody>
      </p:sp>
      <p:sp>
        <p:nvSpPr>
          <p:cNvPr id="54" name="Rectangle 53"/>
          <p:cNvSpPr/>
          <p:nvPr/>
        </p:nvSpPr>
        <p:spPr>
          <a:xfrm>
            <a:off x="3550889" y="5061095"/>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413729" y="4942985"/>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6" name="Oval 55"/>
          <p:cNvSpPr/>
          <p:nvPr/>
        </p:nvSpPr>
        <p:spPr>
          <a:xfrm>
            <a:off x="8808506" y="4942985"/>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7" name="Oval 56"/>
          <p:cNvSpPr/>
          <p:nvPr/>
        </p:nvSpPr>
        <p:spPr>
          <a:xfrm>
            <a:off x="10606765" y="4942985"/>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8" name="Oval 57"/>
          <p:cNvSpPr/>
          <p:nvPr/>
        </p:nvSpPr>
        <p:spPr>
          <a:xfrm>
            <a:off x="548640" y="5431536"/>
            <a:ext cx="237744" cy="237744"/>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59" name="TextBox 58"/>
          <p:cNvSpPr txBox="1"/>
          <p:nvPr/>
        </p:nvSpPr>
        <p:spPr>
          <a:xfrm>
            <a:off x="822960" y="5404104"/>
            <a:ext cx="2011680" cy="292608"/>
          </a:xfrm>
          <a:prstGeom prst="rect">
            <a:avLst/>
          </a:prstGeom>
          <a:noFill/>
        </p:spPr>
        <p:txBody>
          <a:bodyPr wrap="square" anchor="t" lIns="45720" rIns="45720">
            <a:spAutoFit/>
          </a:bodyPr>
          <a:lstStyle/>
          <a:p>
            <a:r>
              <a:rPr sz="1200" b="0" i="0">
                <a:solidFill>
                  <a:srgbClr val="4B4B4B"/>
                </a:solidFill>
                <a:latin typeface="Arial"/>
              </a:rPr>
              <a:t>Today</a:t>
            </a:r>
          </a:p>
        </p:txBody>
      </p:sp>
      <p:sp>
        <p:nvSpPr>
          <p:cNvPr id="60" name="Oval 59"/>
          <p:cNvSpPr/>
          <p:nvPr/>
        </p:nvSpPr>
        <p:spPr>
          <a:xfrm>
            <a:off x="2651760" y="5431536"/>
            <a:ext cx="237744" cy="237744"/>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1" name="TextBox 60"/>
          <p:cNvSpPr txBox="1"/>
          <p:nvPr/>
        </p:nvSpPr>
        <p:spPr>
          <a:xfrm>
            <a:off x="2926080" y="5404104"/>
            <a:ext cx="2011680" cy="292608"/>
          </a:xfrm>
          <a:prstGeom prst="rect">
            <a:avLst/>
          </a:prstGeom>
          <a:noFill/>
        </p:spPr>
        <p:txBody>
          <a:bodyPr wrap="square" anchor="t" lIns="45720" rIns="45720">
            <a:spAutoFit/>
          </a:bodyPr>
          <a:lstStyle/>
          <a:p>
            <a:r>
              <a:rPr sz="1200" b="0" i="0">
                <a:solidFill>
                  <a:srgbClr val="4B4B4B"/>
                </a:solidFill>
                <a:latin typeface="Arial"/>
              </a:rPr>
              <a:t>BIBS envisioned</a:t>
            </a:r>
          </a:p>
        </p:txBody>
      </p:sp>
      <p:sp>
        <p:nvSpPr>
          <p:cNvPr id="62" name="Oval 61"/>
          <p:cNvSpPr/>
          <p:nvPr/>
        </p:nvSpPr>
        <p:spPr>
          <a:xfrm>
            <a:off x="4754880" y="5431536"/>
            <a:ext cx="237744" cy="23774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3" name="TextBox 62"/>
          <p:cNvSpPr txBox="1"/>
          <p:nvPr/>
        </p:nvSpPr>
        <p:spPr>
          <a:xfrm>
            <a:off x="5029200" y="5404104"/>
            <a:ext cx="2011680" cy="292608"/>
          </a:xfrm>
          <a:prstGeom prst="rect">
            <a:avLst/>
          </a:prstGeom>
          <a:noFill/>
        </p:spPr>
        <p:txBody>
          <a:bodyPr wrap="square" anchor="t" lIns="45720" rIns="45720">
            <a:spAutoFit/>
          </a:bodyPr>
          <a:lstStyle/>
          <a:p>
            <a:r>
              <a:rPr sz="1200" b="0" i="0">
                <a:solidFill>
                  <a:srgbClr val="4B4B4B"/>
                </a:solidFill>
                <a:latin typeface="Arial"/>
              </a:rPr>
              <a:t>Best practice</a:t>
            </a:r>
          </a:p>
        </p:txBody>
      </p:sp>
      <p:sp>
        <p:nvSpPr>
          <p:cNvPr id="64" name="TextBox 63"/>
          <p:cNvSpPr txBox="1"/>
          <p:nvPr/>
        </p:nvSpPr>
        <p:spPr>
          <a:xfrm>
            <a:off x="6949440" y="5385816"/>
            <a:ext cx="4693615" cy="457200"/>
          </a:xfrm>
          <a:prstGeom prst="rect">
            <a:avLst/>
          </a:prstGeom>
          <a:noFill/>
        </p:spPr>
        <p:txBody>
          <a:bodyPr wrap="square" anchor="t" lIns="45720" rIns="45720" tIns="18288" bIns="18288">
            <a:spAutoFit/>
          </a:bodyPr>
          <a:lstStyle/>
          <a:p>
            <a:pPr>
              <a:spcAft>
                <a:spcPts val="400"/>
              </a:spcAft>
            </a:pPr>
            <a:r>
              <a:rPr sz="1100" b="0">
                <a:solidFill>
                  <a:srgbClr val="656565"/>
                </a:solidFill>
                <a:latin typeface="Arial"/>
              </a:rPr>
              <a:t>Scale: project team assessment from the BRD current-process sections and the BIBS designs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decisions for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 for every user</a:t>
                      </a:r>
                    </a:p>
                  </a:txBody>
                  <a:tcPr marL="64008" marR="64008" marT="27432" marB="27432" anchor="ctr">
                    <a:solidFill>
                      <a:srgbClr val="FFFFFF"/>
                    </a:solidFill>
                  </a:tcPr>
                </a:tc>
                <a:tc>
                  <a:txBody>
                    <a:bodyPr wrap="square"/>
                    <a:lstStyle/>
                    <a:p>
                      <a:r>
                        <a:rPr sz="1100" b="0">
                          <a:solidFill>
                            <a:srgbClr val="4B4B4B"/>
                          </a:solidFill>
                          <a:latin typeface="Arial"/>
                        </a:rPr>
                        <a:t>Identity source for all BIBS users</a:t>
                      </a:r>
                    </a:p>
                  </a:txBody>
                  <a:tcPr marL="64008" marR="64008" marT="27432" marB="27432" anchor="ctr">
                    <a:solidFill>
                      <a:srgbClr val="FFFFFF"/>
                    </a:solidFill>
                  </a:tcPr>
                </a:tc>
                <a:tc>
                  <a:txBody>
                    <a:bodyPr wrap="square"/>
                    <a:lstStyle/>
                    <a:p>
                      <a:r>
                        <a:rPr sz="1100" b="0">
                          <a:solidFill>
                            <a:srgbClr val="4B4B4B"/>
                          </a:solidFill>
                          <a:latin typeface="Arial"/>
                        </a:rPr>
                        <a:t>UAM owner with BDO ITIO</a:t>
                      </a:r>
                    </a:p>
                  </a:txBody>
                  <a:tcPr marL="64008" marR="64008" marT="27432" marB="27432" anchor="ctr">
                    <a:solidFill>
                      <a:srgbClr val="FFFFFF"/>
                    </a:solidFill>
                  </a:tcPr>
                </a:tc>
                <a:tc>
                  <a:txBody>
                    <a:bodyPr wrap="square"/>
                    <a:lstStyle/>
                    <a:p>
                      <a:r>
                        <a:rPr sz="1100" b="0">
                          <a:solidFill>
                            <a:srgbClr val="4B4B4B"/>
                          </a:solidFill>
                          <a:latin typeface="Arial"/>
                        </a:rPr>
                        <a:t>Provide the EUA interface; are contact centre agents in the directory?</a:t>
                      </a:r>
                    </a:p>
                  </a:txBody>
                  <a:tcPr marL="64008" marR="64008" marT="27432" marB="27432" anchor="ctr">
                    <a:solidFill>
                      <a:srgbClr val="FFFFFF"/>
                    </a:solidFill>
                  </a:tcPr>
                </a:tc>
                <a:tc>
                  <a:txBody>
                    <a:bodyPr wrap="square"/>
                    <a:lstStyle/>
                    <a:p>
                      <a:r>
                        <a:rPr sz="1100" b="0">
                          <a:solidFill>
                            <a:srgbClr val="4B4B4B"/>
                          </a:solidFill>
                          <a:latin typeface="Arial"/>
                        </a:rPr>
                        <a:t>DCR-143</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BIBS-wide user access matrix</a:t>
                      </a:r>
                    </a:p>
                  </a:txBody>
                  <a:tcPr marL="64008" marR="64008" marT="27432" marB="27432" anchor="ctr">
                    <a:solidFill>
                      <a:srgbClr val="E5F5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E5F5FF"/>
                    </a:solidFill>
                  </a:tcPr>
                </a:tc>
                <a:tc>
                  <a:txBody>
                    <a:bodyPr wrap="square"/>
                    <a:lstStyle/>
                    <a:p>
                      <a:r>
                        <a:rPr sz="1100" b="0">
                          <a:solidFill>
                            <a:srgbClr val="4B4B4B"/>
                          </a:solidFill>
                          <a:latin typeface="Arial"/>
                        </a:rPr>
                        <a:t>Product Owner, all BRD owners</a:t>
                      </a:r>
                    </a:p>
                  </a:txBody>
                  <a:tcPr marL="64008" marR="64008" marT="27432" marB="27432" anchor="ctr">
                    <a:solidFill>
                      <a:srgbClr val="E5F5FF"/>
                    </a:solidFill>
                  </a:tcPr>
                </a:tc>
                <a:tc>
                  <a:txBody>
                    <a:bodyPr wrap="square"/>
                    <a:lstStyle/>
                    <a:p>
                      <a:r>
                        <a:rPr sz="1100" b="0">
                          <a:solidFill>
                            <a:srgbClr val="4B4B4B"/>
                          </a:solidFill>
                          <a:latin typeface="Arial"/>
                        </a:rPr>
                        <a:t>Approve one matrix for all modules</a:t>
                      </a:r>
                    </a:p>
                  </a:txBody>
                  <a:tcPr marL="64008" marR="64008" marT="27432" marB="27432" anchor="ctr">
                    <a:solidFill>
                      <a:srgbClr val="E5F5FF"/>
                    </a:solidFill>
                  </a:tcPr>
                </a:tc>
                <a:tc>
                  <a:txBody>
                    <a:bodyPr wrap="square"/>
                    <a:lstStyle/>
                    <a:p>
                      <a:r>
                        <a:rPr sz="1100" b="0">
                          <a:solidFill>
                            <a:srgbClr val="4B4B4B"/>
                          </a:solidFill>
                          <a:latin typeface="Arial"/>
                        </a:rPr>
                        <a:t>DCR-121</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of submitted policies; one LAMD intake</a:t>
                      </a:r>
                    </a:p>
                  </a:txBody>
                  <a:tcPr marL="64008" marR="64008" marT="27432" marB="27432" anchor="ctr">
                    <a:solidFill>
                      <a:srgbClr val="FFFF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FFFFFF"/>
                    </a:solidFill>
                  </a:tcPr>
                </a:tc>
                <a:tc>
                  <a:txBody>
                    <a:bodyPr wrap="square"/>
                    <a:lstStyle/>
                    <a:p>
                      <a:r>
                        <a:rPr sz="1100" b="0">
                          <a:solidFill>
                            <a:srgbClr val="4B4B4B"/>
                          </a:solidFill>
                          <a:latin typeface="Arial"/>
                        </a:rPr>
                        <a:t>Renewal and Submitted Policies owners</a:t>
                      </a:r>
                    </a:p>
                  </a:txBody>
                  <a:tcPr marL="64008" marR="64008" marT="27432" marB="27432" anchor="ctr">
                    <a:solidFill>
                      <a:srgbClr val="FFFFFF"/>
                    </a:solidFill>
                  </a:tcPr>
                </a:tc>
                <a:tc>
                  <a:txBody>
                    <a:bodyPr wrap="square"/>
                    <a:lstStyle/>
                    <a:p>
                      <a:r>
                        <a:rPr sz="1100" b="0">
                          <a:solidFill>
                            <a:srgbClr val="4B4B4B"/>
                          </a:solidFill>
                          <a:latin typeface="Arial"/>
                        </a:rPr>
                        <a:t>Confirm the hand-off boundary and one LAMD report</a:t>
                      </a:r>
                    </a:p>
                  </a:txBody>
                  <a:tcPr marL="64008" marR="64008" marT="27432" marB="27432" anchor="ctr">
                    <a:solidFill>
                      <a:srgbClr val="FFFFFF"/>
                    </a:solidFill>
                  </a:tcPr>
                </a:tc>
                <a:tc>
                  <a:txBody>
                    <a:bodyPr wrap="square"/>
                    <a:lstStyle/>
                    <a:p>
                      <a:r>
                        <a:rPr sz="1100" b="0">
                          <a:solidFill>
                            <a:srgbClr val="4B4B4B"/>
                          </a:solidFill>
                          <a:latin typeface="Arial"/>
                        </a:rPr>
                        <a:t>DCR-129, 146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in four BRDs</a:t>
                      </a:r>
                    </a:p>
                  </a:txBody>
                  <a:tcPr marL="64008" marR="64008" marT="27432" marB="27432" anchor="ctr">
                    <a:solidFill>
                      <a:srgbClr val="E5F5FF"/>
                    </a:solidFill>
                  </a:tcPr>
                </a:tc>
                <a:tc>
                  <a:txBody>
                    <a:bodyPr wrap="square"/>
                    <a:lstStyle/>
                    <a:p>
                      <a:r>
                        <a:rPr sz="1100" b="0">
                          <a:solidFill>
                            <a:srgbClr val="4B4B4B"/>
                          </a:solidFill>
                          <a:latin typeface="Arial"/>
                        </a:rPr>
                        <a:t>Incentive income computed twice or not at all</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List the programmes with rate, base, payer</a:t>
                      </a:r>
                    </a:p>
                  </a:txBody>
                  <a:tcPr marL="64008" marR="64008" marT="27432" marB="27432" anchor="ctr">
                    <a:solidFill>
                      <a:srgbClr val="E5F5FF"/>
                    </a:solidFill>
                  </a:tcPr>
                </a:tc>
                <a:tc>
                  <a:txBody>
                    <a:bodyPr wrap="square"/>
                    <a:lstStyle/>
                    <a:p>
                      <a:r>
                        <a:rPr sz="1100" b="0">
                          <a:solidFill>
                            <a:srgbClr val="4B4B4B"/>
                          </a:solidFill>
                          <a:latin typeface="Arial"/>
                        </a:rPr>
                        <a:t>DCR-037</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 or warn</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service window, RPO / RTO, maintenance slot</a:t>
                      </a:r>
                    </a:p>
                  </a:txBody>
                  <a:tcPr marL="64008" marR="64008" marT="27432" marB="27432" anchor="ctr">
                    <a:solidFill>
                      <a:srgbClr val="E5F5FF"/>
                    </a:solidFill>
                  </a:tcPr>
                </a:tc>
                <a:tc>
                  <a:txBody>
                    <a:bodyPr wrap="square"/>
                    <a:lstStyle/>
                    <a:p>
                      <a:r>
                        <a:rPr sz="1100" b="0">
                          <a:solidFill>
                            <a:srgbClr val="4B4B4B"/>
                          </a:solidFill>
                          <a:latin typeface="Arial"/>
                        </a:rPr>
                        <a:t>Backup, DR and batch design of the platform</a:t>
                      </a:r>
                    </a:p>
                  </a:txBody>
                  <a:tcPr marL="64008" marR="64008" marT="27432" marB="27432" anchor="ctr">
                    <a:solidFill>
                      <a:srgbClr val="E5F5FF"/>
                    </a:solidFill>
                  </a:tcPr>
                </a:tc>
                <a:tc>
                  <a:txBody>
                    <a:bodyPr wrap="square"/>
                    <a:lstStyle/>
                    <a:p>
                      <a:r>
                        <a:rPr sz="1100" b="0">
                          <a:solidFill>
                            <a:srgbClr val="4B4B4B"/>
                          </a:solidFill>
                          <a:latin typeface="Arial"/>
                        </a:rPr>
                        <a:t>BDO IT with the BRD owners</a:t>
                      </a:r>
                    </a:p>
                  </a:txBody>
                  <a:tcPr marL="64008" marR="64008" marT="27432" marB="27432" anchor="ctr">
                    <a:solidFill>
                      <a:srgbClr val="E5F5FF"/>
                    </a:solidFill>
                  </a:tcPr>
                </a:tc>
                <a:tc>
                  <a:txBody>
                    <a:bodyPr wrap="square"/>
                    <a:lstStyle/>
                    <a:p>
                      <a:r>
                        <a:rPr sz="1100" b="0">
                          <a:solidFill>
                            <a:srgbClr val="4B4B4B"/>
                          </a:solidFill>
                          <a:latin typeface="Arial"/>
                        </a:rPr>
                        <a:t>Agree one BIBS-wide NFR set</a:t>
                      </a:r>
                    </a:p>
                  </a:txBody>
                  <a:tcPr marL="64008" marR="64008" marT="27432" marB="27432" anchor="ctr">
                    <a:solidFill>
                      <a:srgbClr val="E5F5FF"/>
                    </a:solidFill>
                  </a:tcPr>
                </a:tc>
                <a:tc>
                  <a:txBody>
                    <a:bodyPr wrap="square"/>
                    <a:lstStyle/>
                    <a:p>
                      <a:r>
                        <a:rPr sz="1100" b="0">
                          <a:solidFill>
                            <a:srgbClr val="4B4B4B"/>
                          </a:solidFill>
                          <a:latin typeface="Arial"/>
                        </a:rPr>
                        <a:t>DCR-133, 135, 138</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Retention per record type</a:t>
                      </a:r>
                    </a:p>
                  </a:txBody>
                  <a:tcPr marL="64008" marR="64008" marT="27432" marB="27432" anchor="ctr">
                    <a:solidFill>
                      <a:srgbClr val="FFFFFF"/>
                    </a:solidFill>
                  </a:tcPr>
                </a:tc>
                <a:tc>
                  <a:txBody>
                    <a:bodyPr wrap="square"/>
                    <a:lstStyle/>
                    <a:p>
                      <a:r>
                        <a:rPr sz="1100" b="0">
                          <a:solidFill>
                            <a:srgbClr val="4B4B4B"/>
                          </a:solidFill>
                          <a:latin typeface="Arial"/>
                        </a:rPr>
                        <a:t>Legal record keeping; archive design</a:t>
                      </a:r>
                    </a:p>
                  </a:txBody>
                  <a:tcPr marL="64008" marR="64008" marT="27432" marB="27432" anchor="ctr">
                    <a:solidFill>
                      <a:srgbClr val="FFFFFF"/>
                    </a:solidFill>
                  </a:tcPr>
                </a:tc>
                <a:tc>
                  <a:txBody>
                    <a:bodyPr wrap="square"/>
                    <a:lstStyle/>
                    <a:p>
                      <a:r>
                        <a:rPr sz="1100" b="0">
                          <a:solidFill>
                            <a:srgbClr val="4B4B4B"/>
                          </a:solidFill>
                          <a:latin typeface="Arial"/>
                        </a:rPr>
                        <a:t>Compliance, Comptrollership</a:t>
                      </a:r>
                    </a:p>
                  </a:txBody>
                  <a:tcPr marL="64008" marR="64008" marT="27432" marB="27432" anchor="ctr">
                    <a:solidFill>
                      <a:srgbClr val="FFFFFF"/>
                    </a:solidFill>
                  </a:tcPr>
                </a:tc>
                <a:tc>
                  <a:txBody>
                    <a:bodyPr wrap="square"/>
                    <a:lstStyle/>
                    <a:p>
                      <a:r>
                        <a:rPr sz="1100" b="0">
                          <a:solidFill>
                            <a:srgbClr val="4B4B4B"/>
                          </a:solidFill>
                          <a:latin typeface="Arial"/>
                        </a:rPr>
                        <a:t>One schedule; archive or purge at the end</a:t>
                      </a:r>
                    </a:p>
                  </a:txBody>
                  <a:tcPr marL="64008" marR="64008" marT="27432" marB="27432" anchor="ctr">
                    <a:solidFill>
                      <a:srgbClr val="FFFFFF"/>
                    </a:solidFill>
                  </a:tcPr>
                </a:tc>
                <a:tc>
                  <a:txBody>
                    <a:bodyPr wrap="square"/>
                    <a:lstStyle/>
                    <a:p>
                      <a:r>
                        <a:rPr sz="1100" b="0">
                          <a:solidFill>
                            <a:srgbClr val="4B4B4B"/>
                          </a:solidFill>
                          <a:latin typeface="Arial"/>
                        </a:rPr>
                        <a:t>DCR-136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Go-live data migration scope</a:t>
                      </a:r>
                    </a:p>
                  </a:txBody>
                  <a:tcPr marL="64008" marR="64008" marT="27432" marB="27432" anchor="ctr">
                    <a:solidFill>
                      <a:srgbClr val="E5F5FF"/>
                    </a:solidFill>
                  </a:tcPr>
                </a:tc>
                <a:tc>
                  <a:txBody>
                    <a:bodyPr wrap="square"/>
                    <a:lstStyle/>
                    <a:p>
                      <a:r>
                        <a:rPr sz="1100" b="0">
                          <a:solidFill>
                            <a:srgbClr val="4B4B4B"/>
                          </a:solidFill>
                          <a:latin typeface="Arial"/>
                        </a:rPr>
                        <a:t>Open items and history at cut-over</a:t>
                      </a:r>
                    </a:p>
                  </a:txBody>
                  <a:tcPr marL="64008" marR="64008" marT="27432" marB="27432" anchor="ctr">
                    <a:solidFill>
                      <a:srgbClr val="E5F5FF"/>
                    </a:solidFill>
                  </a:tcPr>
                </a:tc>
                <a:tc>
                  <a:txBody>
                    <a:bodyPr wrap="square"/>
                    <a:lstStyle/>
                    <a:p>
                      <a:r>
                        <a:rPr sz="1100" b="0">
                          <a:solidFill>
                            <a:srgbClr val="4B4B4B"/>
                          </a:solidFill>
                          <a:latin typeface="Arial"/>
                        </a:rPr>
                        <a:t>All BRD owners</a:t>
                      </a:r>
                    </a:p>
                  </a:txBody>
                  <a:tcPr marL="64008" marR="64008" marT="27432" marB="27432" anchor="ctr">
                    <a:solidFill>
                      <a:srgbClr val="E5F5FF"/>
                    </a:solidFill>
                  </a:tcPr>
                </a:tc>
                <a:tc>
                  <a:txBody>
                    <a:bodyPr wrap="square"/>
                    <a:lstStyle/>
                    <a:p>
                      <a:r>
                        <a:rPr sz="1100" b="0">
                          <a:solidFill>
                            <a:srgbClr val="4B4B4B"/>
                          </a:solidFill>
                          <a:latin typeface="Arial"/>
                        </a:rPr>
                        <a:t>What is migrated from EBIX, ISYS, QPS, Excel</a:t>
                      </a:r>
                    </a:p>
                  </a:txBody>
                  <a:tcPr marL="64008" marR="64008" marT="27432" marB="27432" anchor="ctr">
                    <a:solidFill>
                      <a:srgbClr val="E5F5FF"/>
                    </a:solidFill>
                  </a:tcPr>
                </a:tc>
                <a:tc>
                  <a:txBody>
                    <a:bodyPr wrap="square"/>
                    <a:lstStyle/>
                    <a:p>
                      <a:r>
                        <a:rPr sz="1100" b="0">
                          <a:solidFill>
                            <a:srgbClr val="4B4B4B"/>
                          </a:solidFill>
                          <a:latin typeface="Arial"/>
                        </a:rPr>
                        <a:t>DCR-157</a:t>
                      </a:r>
                    </a:p>
                  </a:txBody>
                  <a:tcPr marL="64008" marR="64008" marT="27432" marB="27432" anchor="ctr">
                    <a:solidFill>
                      <a:srgbClr val="E5F5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roadmap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548640"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57200"/>
          </a:xfrm>
          <a:prstGeom prst="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80160"/>
            <a:ext cx="3576218" cy="457200"/>
          </a:xfrm>
          <a:prstGeom prst="rect">
            <a:avLst/>
          </a:prstGeom>
          <a:noFill/>
        </p:spPr>
        <p:txBody>
          <a:bodyPr wrap="square" anchor="ctr" lIns="45720" rIns="45720">
            <a:spAutoFit/>
          </a:bodyPr>
          <a:lstStyle/>
          <a:p>
            <a:r>
              <a:rPr sz="1500" b="1" i="0">
                <a:solidFill>
                  <a:srgbClr val="2E7D32"/>
                </a:solidFill>
                <a:latin typeface="Arial"/>
              </a:rPr>
              <a:t>Built</a:t>
            </a:r>
          </a:p>
        </p:txBody>
      </p:sp>
      <p:sp>
        <p:nvSpPr>
          <p:cNvPr id="12" name="TextBox 11"/>
          <p:cNvSpPr txBox="1"/>
          <p:nvPr/>
        </p:nvSpPr>
        <p:spPr>
          <a:xfrm>
            <a:off x="640080"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New Business</a:t>
            </a:r>
          </a:p>
          <a:p>
            <a:pPr>
              <a:spcAft>
                <a:spcPts val="300"/>
              </a:spcAft>
            </a:pPr>
            <a:r>
              <a:rPr sz="1200" b="0">
                <a:solidFill>
                  <a:srgbClr val="004EA8"/>
                </a:solidFill>
                <a:latin typeface="Arial"/>
              </a:rPr>
              <a:t>•  </a:t>
            </a:r>
            <a:r>
              <a:rPr sz="1200" b="0">
                <a:solidFill>
                  <a:srgbClr val="4B4B4B"/>
                </a:solidFill>
                <a:latin typeface="Arial"/>
              </a:rPr>
              <a:t>BRD-2 Operations</a:t>
            </a:r>
          </a:p>
          <a:p>
            <a:pPr>
              <a:spcAft>
                <a:spcPts val="300"/>
              </a:spcAft>
            </a:pPr>
            <a:r>
              <a:rPr sz="1200" b="0">
                <a:solidFill>
                  <a:srgbClr val="004EA8"/>
                </a:solidFill>
                <a:latin typeface="Arial"/>
              </a:rPr>
              <a:t>•  </a:t>
            </a:r>
            <a:r>
              <a:rPr sz="1200" b="0">
                <a:solidFill>
                  <a:srgbClr val="4B4B4B"/>
                </a:solidFill>
                <a:latin typeface="Arial"/>
              </a:rPr>
              <a:t>BRD-3 Product Maintenance</a:t>
            </a:r>
          </a:p>
          <a:p>
            <a:pPr>
              <a:spcAft>
                <a:spcPts val="300"/>
              </a:spcAft>
            </a:pPr>
            <a:r>
              <a:rPr sz="1200" b="0">
                <a:solidFill>
                  <a:srgbClr val="004EA8"/>
                </a:solidFill>
                <a:latin typeface="Arial"/>
              </a:rPr>
              <a:t>•  </a:t>
            </a:r>
            <a:r>
              <a:rPr sz="1200" b="0">
                <a:solidFill>
                  <a:srgbClr val="4B4B4B"/>
                </a:solidFill>
                <a:latin typeface="Arial"/>
              </a:rPr>
              <a:t>BRD-11 baseline: users, roles, access requests, lock-out, session</a:t>
            </a:r>
          </a:p>
          <a:p>
            <a:pPr>
              <a:spcAft>
                <a:spcPts val="300"/>
              </a:spcAft>
            </a:pPr>
            <a:r>
              <a:rPr sz="1200" b="0">
                <a:solidFill>
                  <a:srgbClr val="004EA8"/>
                </a:solidFill>
                <a:latin typeface="Arial"/>
              </a:rPr>
              <a:t>•  </a:t>
            </a:r>
            <a:r>
              <a:rPr sz="1200" b="0">
                <a:solidFill>
                  <a:srgbClr val="4B4B4B"/>
                </a:solidFill>
                <a:latin typeface="Arial"/>
              </a:rPr>
              <a:t>Finance platform for BRD-5: chart, journals, engine, periods, FX, bank reconciliation</a:t>
            </a:r>
          </a:p>
        </p:txBody>
      </p:sp>
      <p:sp>
        <p:nvSpPr>
          <p:cNvPr id="13" name="Right Arrow 12"/>
          <p:cNvSpPr/>
          <p:nvPr/>
        </p:nvSpPr>
        <p:spPr>
          <a:xfrm>
            <a:off x="4106570"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7738"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1280160"/>
            <a:ext cx="3576218" cy="457200"/>
          </a:xfrm>
          <a:prstGeom prst="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9178" y="1280160"/>
            <a:ext cx="3576218" cy="457200"/>
          </a:xfrm>
          <a:prstGeom prst="rect">
            <a:avLst/>
          </a:prstGeom>
          <a:noFill/>
        </p:spPr>
        <p:txBody>
          <a:bodyPr wrap="square" anchor="ctr" lIns="45720" rIns="45720">
            <a:spAutoFit/>
          </a:bodyPr>
          <a:lstStyle/>
          <a:p>
            <a:r>
              <a:rPr sz="1500" b="1" i="0">
                <a:solidFill>
                  <a:srgbClr val="8A5A00"/>
                </a:solidFill>
                <a:latin typeface="Arial"/>
              </a:rPr>
              <a:t>In build</a:t>
            </a:r>
          </a:p>
        </p:txBody>
      </p:sp>
      <p:sp>
        <p:nvSpPr>
          <p:cNvPr id="17" name="TextBox 16"/>
          <p:cNvSpPr txBox="1"/>
          <p:nvPr/>
        </p:nvSpPr>
        <p:spPr>
          <a:xfrm>
            <a:off x="4399178"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BRD-4 Collections (foundation and worklist)</a:t>
            </a:r>
          </a:p>
          <a:p>
            <a:pPr>
              <a:spcAft>
                <a:spcPts val="300"/>
              </a:spcAft>
            </a:pPr>
            <a:r>
              <a:rPr sz="1200" b="0">
                <a:solidFill>
                  <a:srgbClr val="004EA8"/>
                </a:solidFill>
                <a:latin typeface="Arial"/>
              </a:rPr>
              <a:t>•  </a:t>
            </a:r>
            <a:r>
              <a:rPr sz="1200" b="0">
                <a:solidFill>
                  <a:srgbClr val="4B4B4B"/>
                </a:solidFill>
                <a:latin typeface="Arial"/>
              </a:rPr>
              <a:t>BRD-5 Disbursement, ACSL, FRBS reports</a:t>
            </a:r>
          </a:p>
          <a:p>
            <a:pPr>
              <a:spcAft>
                <a:spcPts val="300"/>
              </a:spcAft>
            </a:pPr>
            <a:r>
              <a:rPr sz="1200" b="0">
                <a:solidFill>
                  <a:srgbClr val="004EA8"/>
                </a:solidFill>
                <a:latin typeface="Arial"/>
              </a:rPr>
              <a:t>•  </a:t>
            </a:r>
            <a:r>
              <a:rPr sz="1200" b="0">
                <a:solidFill>
                  <a:srgbClr val="4B4B4B"/>
                </a:solidFill>
                <a:latin typeface="Arial"/>
              </a:rPr>
              <a:t>BRD-5 Refund and cash-advance requests</a:t>
            </a:r>
          </a:p>
          <a:p>
            <a:pPr>
              <a:spcAft>
                <a:spcPts val="300"/>
              </a:spcAft>
            </a:pPr>
            <a:r>
              <a:rPr sz="1200" b="0">
                <a:solidFill>
                  <a:srgbClr val="004EA8"/>
                </a:solidFill>
                <a:latin typeface="Arial"/>
              </a:rPr>
              <a:t>•  </a:t>
            </a:r>
            <a:r>
              <a:rPr sz="1200" b="0">
                <a:solidFill>
                  <a:srgbClr val="4B4B4B"/>
                </a:solidFill>
                <a:latin typeface="Arial"/>
              </a:rPr>
              <a:t>Shared work item BT0: business type New Business / Renewal</a:t>
            </a:r>
          </a:p>
        </p:txBody>
      </p:sp>
      <p:sp>
        <p:nvSpPr>
          <p:cNvPr id="18" name="Right Arrow 17"/>
          <p:cNvSpPr/>
          <p:nvPr/>
        </p:nvSpPr>
        <p:spPr>
          <a:xfrm>
            <a:off x="7865668"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66836"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6836" y="1280160"/>
            <a:ext cx="3576218" cy="457200"/>
          </a:xfrm>
          <a:prstGeom prst="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8276" y="1280160"/>
            <a:ext cx="3576218" cy="457200"/>
          </a:xfrm>
          <a:prstGeom prst="rect">
            <a:avLst/>
          </a:prstGeom>
          <a:noFill/>
        </p:spPr>
        <p:txBody>
          <a:bodyPr wrap="square" anchor="ctr" lIns="45720" rIns="45720">
            <a:spAutoFit/>
          </a:bodyPr>
          <a:lstStyle/>
          <a:p>
            <a:r>
              <a:rPr sz="1500" b="1" i="0">
                <a:solidFill>
                  <a:srgbClr val="004EA8"/>
                </a:solidFill>
                <a:latin typeface="Arial"/>
              </a:rPr>
              <a:t>Designed, next</a:t>
            </a:r>
          </a:p>
        </p:txBody>
      </p:sp>
      <p:sp>
        <p:nvSpPr>
          <p:cNvPr id="22" name="TextBox 21"/>
          <p:cNvSpPr txBox="1"/>
          <p:nvPr/>
        </p:nvSpPr>
        <p:spPr>
          <a:xfrm>
            <a:off x="8158276"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BRD-11 changes and BRD-10 Sanction Screening</a:t>
            </a:r>
          </a:p>
          <a:p>
            <a:pPr>
              <a:spcAft>
                <a:spcPts val="300"/>
              </a:spcAft>
            </a:pPr>
            <a:r>
              <a:rPr sz="1200" b="0">
                <a:solidFill>
                  <a:srgbClr val="004EA8"/>
                </a:solidFill>
                <a:latin typeface="Arial"/>
              </a:rPr>
              <a:t>•  </a:t>
            </a:r>
            <a:r>
              <a:rPr sz="1200" b="0">
                <a:solidFill>
                  <a:srgbClr val="4B4B4B"/>
                </a:solidFill>
                <a:latin typeface="Arial"/>
              </a:rPr>
              <a:t>BRD-7 Claims</a:t>
            </a:r>
          </a:p>
          <a:p>
            <a:pPr>
              <a:spcAft>
                <a:spcPts val="300"/>
              </a:spcAft>
            </a:pPr>
            <a:r>
              <a:rPr sz="1200" b="0">
                <a:solidFill>
                  <a:srgbClr val="004EA8"/>
                </a:solidFill>
                <a:latin typeface="Arial"/>
              </a:rPr>
              <a:t>•  </a:t>
            </a:r>
            <a:r>
              <a:rPr sz="1200" b="0">
                <a:solidFill>
                  <a:srgbClr val="4B4B4B"/>
                </a:solidFill>
                <a:latin typeface="Arial"/>
              </a:rPr>
              <a:t>BRD-8 Employee Benefits and partner portal</a:t>
            </a:r>
          </a:p>
          <a:p>
            <a:pPr>
              <a:spcAft>
                <a:spcPts val="300"/>
              </a:spcAft>
            </a:pPr>
            <a:r>
              <a:rPr sz="1200" b="0">
                <a:solidFill>
                  <a:srgbClr val="004EA8"/>
                </a:solidFill>
                <a:latin typeface="Arial"/>
              </a:rPr>
              <a:t>•  </a:t>
            </a:r>
            <a:r>
              <a:rPr sz="1200" b="0">
                <a:solidFill>
                  <a:srgbClr val="4B4B4B"/>
                </a:solidFill>
                <a:latin typeface="Arial"/>
              </a:rPr>
              <a:t>BRD-9 Customer Servicing Facility</a:t>
            </a:r>
          </a:p>
          <a:p>
            <a:pPr>
              <a:spcAft>
                <a:spcPts val="300"/>
              </a:spcAft>
            </a:pPr>
            <a:r>
              <a:rPr sz="1200" b="0">
                <a:solidFill>
                  <a:srgbClr val="004EA8"/>
                </a:solidFill>
                <a:latin typeface="Arial"/>
              </a:rPr>
              <a:t>•  </a:t>
            </a:r>
            <a:r>
              <a:rPr sz="1200" b="0">
                <a:solidFill>
                  <a:srgbClr val="4B4B4B"/>
                </a:solidFill>
                <a:latin typeface="Arial"/>
              </a:rPr>
              <a:t>BRD-6 Renewal and BRD-12 Submitted Policies</a:t>
            </a:r>
          </a:p>
        </p:txBody>
      </p:sp>
      <p:sp>
        <p:nvSpPr>
          <p:cNvPr id="23" name="Rounded Rectangle 22"/>
          <p:cNvSpPr/>
          <p:nvPr/>
        </p:nvSpPr>
        <p:spPr>
          <a:xfrm>
            <a:off x="548640" y="4279392"/>
            <a:ext cx="11094415" cy="1984248"/>
          </a:xfrm>
          <a:prstGeom prst="roundRect">
            <a:avLst>
              <a:gd name="adj" fmla="val 8000"/>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25112"/>
            <a:ext cx="11094415" cy="320040"/>
          </a:xfrm>
          <a:prstGeom prst="rect">
            <a:avLst/>
          </a:prstGeom>
          <a:noFill/>
        </p:spPr>
        <p:txBody>
          <a:bodyPr wrap="square" anchor="t" lIns="45720" rIns="45720">
            <a:spAutoFit/>
          </a:bodyPr>
          <a:lstStyle/>
          <a:p>
            <a:r>
              <a:rPr sz="1400" b="1" i="0">
                <a:solidFill>
                  <a:srgbClr val="004EA8"/>
                </a:solidFill>
                <a:latin typeface="Arial"/>
              </a:rPr>
              <a:t>What BDOI must decide to move forward</a:t>
            </a:r>
          </a:p>
        </p:txBody>
      </p:sp>
      <p:sp>
        <p:nvSpPr>
          <p:cNvPr id="25" name="TextBox 24"/>
          <p:cNvSpPr txBox="1"/>
          <p:nvPr/>
        </p:nvSpPr>
        <p:spPr>
          <a:xfrm>
            <a:off x="658368"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EUA interface and the BIBS-wide access matrix (DCR-143, 121)</a:t>
            </a:r>
          </a:p>
          <a:p>
            <a:pPr>
              <a:spcAft>
                <a:spcPts val="300"/>
              </a:spcAft>
            </a:pPr>
            <a:r>
              <a:rPr sz="1200" b="0">
                <a:solidFill>
                  <a:srgbClr val="004EA8"/>
                </a:solidFill>
                <a:latin typeface="Arial"/>
              </a:rPr>
              <a:t>•  </a:t>
            </a:r>
            <a:r>
              <a:rPr sz="1200" b="0">
                <a:solidFill>
                  <a:srgbClr val="2E2E2E"/>
                </a:solidFill>
                <a:latin typeface="Arial"/>
              </a:rPr>
              <a:t>Renewal boundary with Submitted Policies; one LAMD intake (DCR-129, 146)</a:t>
            </a:r>
          </a:p>
          <a:p>
            <a:pPr>
              <a:spcAft>
                <a:spcPts val="300"/>
              </a:spcAft>
            </a:pPr>
            <a:r>
              <a:rPr sz="1200" b="0">
                <a:solidFill>
                  <a:srgbClr val="004EA8"/>
                </a:solidFill>
                <a:latin typeface="Arial"/>
              </a:rPr>
              <a:t>•  </a:t>
            </a:r>
            <a:r>
              <a:rPr sz="1200" b="0">
                <a:solidFill>
                  <a:srgbClr val="2E2E2E"/>
                </a:solidFill>
                <a:latin typeface="Arial"/>
              </a:rPr>
              <a:t>Incentive programmes and the Fire premium tax (DCR-037, 005)</a:t>
            </a:r>
          </a:p>
          <a:p>
            <a:pPr>
              <a:spcAft>
                <a:spcPts val="300"/>
              </a:spcAft>
            </a:pPr>
            <a:r>
              <a:rPr sz="1200" b="0">
                <a:solidFill>
                  <a:srgbClr val="004EA8"/>
                </a:solidFill>
                <a:latin typeface="Arial"/>
              </a:rPr>
              <a:t>•  </a:t>
            </a:r>
            <a:r>
              <a:rPr sz="1200" b="0">
                <a:solidFill>
                  <a:srgbClr val="2E2E2E"/>
                </a:solidFill>
                <a:latin typeface="Arial"/>
              </a:rPr>
              <a:t>Sanctions: block or warn (DCR-112)</a:t>
            </a:r>
          </a:p>
        </p:txBody>
      </p:sp>
      <p:sp>
        <p:nvSpPr>
          <p:cNvPr id="26" name="TextBox 25"/>
          <p:cNvSpPr txBox="1"/>
          <p:nvPr/>
        </p:nvSpPr>
        <p:spPr>
          <a:xfrm>
            <a:off x="6205575"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One NFR set: service window, RPO / RTO, retention (DCR-133, 135, 136)</a:t>
            </a:r>
          </a:p>
          <a:p>
            <a:pPr>
              <a:spcAft>
                <a:spcPts val="300"/>
              </a:spcAft>
            </a:pPr>
            <a:r>
              <a:rPr sz="1200" b="0">
                <a:solidFill>
                  <a:srgbClr val="004EA8"/>
                </a:solidFill>
                <a:latin typeface="Arial"/>
              </a:rPr>
              <a:t>•  </a:t>
            </a:r>
            <a:r>
              <a:rPr sz="1200" b="0">
                <a:solidFill>
                  <a:srgbClr val="2E2E2E"/>
                </a:solidFill>
                <a:latin typeface="Arial"/>
              </a:rPr>
              <a:t>Migration scope per legacy source (DCR-157)</a:t>
            </a:r>
          </a:p>
          <a:p>
            <a:pPr>
              <a:spcAft>
                <a:spcPts val="300"/>
              </a:spcAft>
            </a:pPr>
            <a:r>
              <a:rPr sz="1200" b="0">
                <a:solidFill>
                  <a:srgbClr val="004EA8"/>
                </a:solidFill>
                <a:latin typeface="Arial"/>
              </a:rPr>
              <a:t>•  </a:t>
            </a:r>
            <a:r>
              <a:rPr sz="1200" b="0">
                <a:solidFill>
                  <a:srgbClr val="2E2E2E"/>
                </a:solidFill>
                <a:latin typeface="Arial"/>
              </a:rPr>
              <a:t>Partner portal users: provisioning, MFA, hosting (DCR-096)</a:t>
            </a:r>
          </a:p>
          <a:p>
            <a:pPr>
              <a:spcAft>
                <a:spcPts val="300"/>
              </a:spcAft>
            </a:pPr>
            <a:r>
              <a:rPr sz="1200" b="0">
                <a:solidFill>
                  <a:srgbClr val="004EA8"/>
                </a:solidFill>
                <a:latin typeface="Arial"/>
              </a:rPr>
              <a:t>•  </a:t>
            </a:r>
            <a:r>
              <a:rPr sz="1200" b="0">
                <a:solidFill>
                  <a:srgbClr val="2E2E2E"/>
                </a:solidFill>
                <a:latin typeface="Arial"/>
              </a:rPr>
              <a:t>Sign-off of the FRS per BRD (sign-off tracker, item 32)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Department heads review their chapter with the FRS of their BRD and return comments through the sign-off tracker</a:t>
            </a:r>
          </a:p>
          <a:p>
            <a:pPr>
              <a:spcAft>
                <a:spcPts val="600"/>
              </a:spcAft>
            </a:pPr>
            <a:r>
              <a:rPr sz="1600">
                <a:solidFill>
                  <a:srgbClr val="004EA8"/>
                </a:solidFill>
                <a:latin typeface="Arial"/>
              </a:rPr>
              <a:t>•  </a:t>
            </a:r>
            <a:r>
              <a:rPr sz="1600">
                <a:solidFill>
                  <a:srgbClr val="4B4B4B"/>
                </a:solidFill>
                <a:latin typeface="Arial"/>
              </a:rPr>
              <a:t>BDOI answers the High items of the discrepancy register, starting with the eight decisions of this deck</a:t>
            </a:r>
          </a:p>
          <a:p>
            <a:pPr>
              <a:spcAft>
                <a:spcPts val="600"/>
              </a:spcAft>
            </a:pPr>
            <a:r>
              <a:rPr sz="1600">
                <a:solidFill>
                  <a:srgbClr val="004EA8"/>
                </a:solidFill>
                <a:latin typeface="Arial"/>
              </a:rPr>
              <a:t>•  </a:t>
            </a:r>
            <a:r>
              <a:rPr sz="1600">
                <a:solidFill>
                  <a:srgbClr val="4B4B4B"/>
                </a:solidFill>
                <a:latin typeface="Arial"/>
              </a:rPr>
              <a:t>The project team refreshes this deck after the end-to-end build, with screenshots of the BIBS screens</a:t>
            </a:r>
          </a:p>
          <a:p>
            <a:pPr>
              <a:spcAft>
                <a:spcPts val="600"/>
              </a:spcAft>
            </a:pPr>
            <a:r>
              <a:rPr sz="1600">
                <a:solidFill>
                  <a:srgbClr val="004EA8"/>
                </a:solidFill>
                <a:latin typeface="Arial"/>
              </a:rPr>
              <a:t>•  </a:t>
            </a:r>
            <a:r>
              <a:rPr sz="1600">
                <a:solidFill>
                  <a:srgbClr val="4B4B4B"/>
                </a:solidFill>
                <a:latin typeface="Arial"/>
              </a:rPr>
              <a:t>The steering committee confirms the build order of the designed areas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BIBS Business Process Deck</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