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the BDOI steering committee and the department heads. It shows each business area in pictures: how the work runs today, how it runs in BIBS, what is still open, and which practices BDOI should adopt. Every statement cites the BRD (PDF page of the source pack), the FRS or the discrepancy register (DCR numbers). The deck is rebuilt from docs/deliverables/src/decks/.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 gives the enterprise view across all twelve BRDs. Chapters 1 to 12 follow the business order, from New Business to Submitted Policies; each chapter has the same seven slides. The status chip shows whether the area is built, in build or designed in BIBS. The summary repeats the maturity view, the decisions and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Swimlanes: one lane per BDOI role, external party or system. Yellow circles are pain points; the slide after the As-Is diagram explains each one with its BRD page. On the envisioned diagram, light blue boxes are steps a BDOI user takes on a BIBS screen and solid CTA Blue boxes are steps BIBS runs by itself (jobs, checks, matching, postings). Dashed lines are hand-offs by e-mail or file, or parked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holistic chapter looks across the twelve BRDs before going area by area: where the work sits today, what BIBS puts in one platform, how money and data flow from the client to claims, how far each theme moves, and which cross-BRD decisions BDOI must 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business area works in its own mix of systems and files. New Business quotes in QPS and books in EBIX (BRD-1 p.133); Collections uses EBIX, QPS and the ISYS Marketing Diary (BRD-4 p.40-41); Claims reports come from ISYS (BRD-7, Report List); Sanction Screening runs on e-mail advisories, SharePoint and NLDS (BRD-10 p.6-7); Submitted Policies keeps Excel masterlists on a shared drive (BRD-12 p.4-5); the contact centre uses the BDO-Insure Front-End over QPS and EBIX (BRD-9 p.4). Almost every hand-off between areas runs by e-mail and spreadsheet, so the same client, policy and payment are keyed several times. The yellow number on each area is the count of pain points in its chapter.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puts the twelve areas in one application with six navigation groups, following the BDOI navigation of the BDO Insure UX design (frontend/src/navigation/modules.ts; BDO UX guidelines section 3). Every module uses the same shared services: workflow with SLA, documents and templates, notifications, the report centre, the insert-only audit trail and the configuration masters that the business maintains. External parties reach BIBS by e-mail with a send log, by file upload, or through the partner portal for Employee Benefits. The HLS, insurer API, CLPC transfer and BDO directory (EUA) interfaces are parked seams until BDO and the insurers give the specifications. Redis caching, Kafka events and the AWS Singapore hosting are the client technology bill of materials; their conformance is tracked in the bill of materials deliverable (item 4) and the technical architecture (item 12).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follows one policy and its money. Marketing owns the client and the quotation; Processing places, issues and books; Operations receives the cash, remits the premium net of commission to the insurer and collects the commission; Comptrollership accounts for it; Collections follows unpaid premium; Renewal restarts the cycle; Claims serves the client during the cover. In BIBS every stage reads the same client, account (ARN) and invoice ledger, so no stage re-keys the output of the previous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is the project team's reading of the current-process sections of the twelve BRDs, the BIBS designs and the practices named in each chapter. It is a discussion aid for the steering committee, not an audit rating. Integration stays at level 3 in BIBS until the parked interfaces (HLS, insurer APIs, CLPC transfer, BDO directory, mailbox reading, OCR) are specified by BDO and the insurers.</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items are raised against the 12 BRDs and the Report List; 8 are answered by a later signed BDOI document.</a:t>
            </a:r>
          </a:p>
          <a:p>
            <a:r>
              <a:t>High items change what is built, the money, compliance or access; they are resolved before the FRS of the area is signed off.</a:t>
            </a:r>
          </a:p>
          <a:p>
            <a:r>
              <a:t>Items that touch several BRDs, such as the service window, RPO and retention, count under each BRD.</a:t>
            </a:r>
          </a:p>
          <a:p>
            <a:r>
              <a:t>The next slide lists the decisions that unblock the most areas.</a:t>
            </a:r>
          </a:p>
          <a:p>
            <a:r>
              <a:t>Source: docs/deliverables/src/registers/discrepancy_register.yaml. An item that touches several BRDs is counted under each of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items of the discrepancy register and the open cross-BRD questions of BDOI_CROSS_BRD_DECISIONS.md. Each blocks more than one area. The proposals in the register are the project's default until BDOI decides.</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 New Business: Client onboarding to booking (Fire, Motor, Other Lines, Non-Package).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is the spine of BIBS: every other area reads the client, the account (ARN) and the booked invoice that it creates. It is built, and FRS BRD-1 v1.0 describes the delivered screens. The volumes come from the usage tables of the BRD (p.210-212) and the retention values from the workshop addendum (p.82), which prevail over "follow QPS" (assumption A-NB-08).</a:t>
            </a:r>
          </a:p>
          <a:p/>
          <a:p>
            <a:r>
              <a:t>Sources: BRD-1 p.132-134 (current and envisioned process); Other Lines addendum p.47-48; Workshop addendum Apr-2026 p.3-19; BRNB.001-115; FRS BRD-1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most New Business work is manual. Requests arrive by e-mail; HLS requests are keyed in. Quotations are prepared in QPS or Excel; non-package risks go to TSU by e-mail and the comparative is built in Excel. Clients are created without a standard onboarding step. Accounts are tracked in spreadsheets, so duplicates are found late. CBG Fire billing and payment matching are manual. Placement files, hold covers and e-policies go by e-mail without a log. Booking, GL entries and invoices are separate steps, and status reports are compiled by hand (BRD p.133-134; Other Lines addendum p.47). Bulk processing exists for CBG Home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numbered markers on the As-Is swimlane refer to these points. The page numbers are PDF pages of the BRD-1 pack.</a:t>
            </a:r>
          </a:p>
          <a:p>
            <a:r>
              <a:t>1. Requests arrive by e-mail and are keyed in: HLS requests are re-keyed; bulk processing exists for CBG Home only. (BRD-1 p.133; BRNB.023, 041)</a:t>
            </a:r>
          </a:p>
          <a:p>
            <a:r>
              <a:t>2. Quotations prepared in QPS or Excel: Rating and versions live outside one workflow; approvals by e-mail. (BRD-1 p.133; FRS 2.1 row 2)</a:t>
            </a:r>
          </a:p>
          <a:p>
            <a:r>
              <a:t>3. Non-package placement by e-mail: TSU receives risks by e-mail and builds the comparative table in Excel. (Other Lines addendum p.47)</a:t>
            </a:r>
          </a:p>
          <a:p>
            <a:r>
              <a:t>4. No standard client onboarding: Clients are created without a KYC verification step. (Workshop addendum p.3-5; BRNB.090)</a:t>
            </a:r>
          </a:p>
          <a:p>
            <a:r>
              <a:t>5. Accounts in spreadsheets: No single account number; duplicates are found late. (BRD-1 p.133; BRNB.032, 051)</a:t>
            </a:r>
          </a:p>
          <a:p>
            <a:r>
              <a:t>6. CBG Fire billing and payment matching by hand: The CLPC billing file and payment reports are handled manually. (BRD-1 p.133; BRNB.067, 068)</a:t>
            </a:r>
          </a:p>
          <a:p>
            <a:r>
              <a:t>7. Placement, hold cover, e-policy by e-mail: Files leave by e-mail with no send log and no protection rule. (BRD-1 p.133; BRNB.071, 072, 073)</a:t>
            </a:r>
          </a:p>
          <a:p>
            <a:r>
              <a:t>8. Booking in separate steps: Invoice, GL entry and service invoice are separate tasks. (BRD-1 p.133-134; BRNB.027, 100)</a:t>
            </a:r>
          </a:p>
          <a:p>
            <a:r>
              <a:t>9. Status monitoring by hand: Status and reconciliation reports are compiled manually. (BRD-1 p.133)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requests are captured in a request inbox or loaded from a source-system file. Every client starts as a prospect and is confirmed after a second user verifies the KYC documents. Package quotations are rated with the Appendix A formulas, approved and sent protected; non-package risks go through the PRF, with quotation slips to insurers and a comparative compiled by BIBS. One account per accepted risk group carries the ARN. BIBS produces the CLPC billing file and matches payment reports. Processing sends placement slips and hold cover requests with a send log, matches the e-policy and sends it protected. Booking posts the invoice, the GL entry and the service invoice in one transaction; batch booking runs at 20:00. Dashboards read the workflow history. The HLS interface, the mailbox reader and insurer SFTP / API are parked seams (Q11, Q12, Q06).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pairs a pain point with the BIBS behaviour that removes it. The BRD states objectives (batch processing across all segments, one workflow, reports) but no turnaround targets, so the measures are the NFR values and the controls added.</a:t>
            </a:r>
          </a:p>
          <a:p>
            <a:r>
              <a:t>1. Requests arrive by e-mail and are keyed in -&gt; Request inbox; HLS extract and bulk files uploaded with a template and row checks Measure: Up to 5,000 rows a file.</a:t>
            </a:r>
          </a:p>
          <a:p>
            <a:r>
              <a:t>2. Quotations prepared in QPS or Excel -&gt; Quotation rated with the Appendix A formulas, versioned, approved before it is sent Measure: Approval before send.</a:t>
            </a:r>
          </a:p>
          <a:p>
            <a:r>
              <a:t>3. Non-package placement by e-mail -&gt; PRF workflow: TSU slips per insurer, insurer terms keyed once, comparative compiled by BIBS Measure: Comparative not re-keyed.</a:t>
            </a:r>
          </a:p>
          <a:p>
            <a:r>
              <a:t>4. No standard client onboarding -&gt; Prospect, KYC documents, verification by a second user, then confirmed client Measure: Four-eyes KYC.</a:t>
            </a:r>
          </a:p>
          <a:p>
            <a:r>
              <a:t>5. Accounts in spreadsheets -&gt; One ARN per account; workflow stage; duplicate check at creation Measure: Duplicates stopped at entry.</a:t>
            </a:r>
          </a:p>
          <a:p>
            <a:r>
              <a:t>6. CBG Fire billing and payment matching by hand -&gt; CLPC billing file produced and payment report matched in BIBS Measure: Matching automated.</a:t>
            </a:r>
          </a:p>
          <a:p>
            <a:r>
              <a:t>7. Placement, hold cover, e-policy by e-mail -&gt; Slips, hold cover requests and e-policies generated, password protected and logged Measure: Send log per document.</a:t>
            </a:r>
          </a:p>
          <a:p>
            <a:r>
              <a:t>8. Booking in separate steps -&gt; Booking posts invoice, GL entry and service invoice in one transaction; batch at 20:00 Measure: One step instead of three.</a:t>
            </a:r>
          </a:p>
          <a:p>
            <a:r>
              <a:t>9. Status monitoring by hand -&gt; Dashboards and status reports read the workflow history Measure: 10 s response (p.211).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items first. The parked interfaces are built as seams: a port, a staging table or a manual upload, so adding the transport later needs no workflow change (FRS section 7).</a:t>
            </a:r>
          </a:p>
          <a:p>
            <a:r>
              <a:t>DCR-001 (High): Quotation before the client exists. Impact: Walk-in and bank-referred prospects may not be quotable. Owner: Marketing / Product Owner. Decision: May BIBS create a prospect code at quotation (BRNB.029 vs 063)?</a:t>
            </a:r>
          </a:p>
          <a:p>
            <a:r>
              <a:t>DCR-005 (High): Fire premium tax rate and base. Impact: Gross premium on every Fire quotation and invoice. Owner: Comptrollership. Decision: Which taxes, rates and bases apply to Fire?</a:t>
            </a:r>
          </a:p>
          <a:p>
            <a:r>
              <a:t>DCR-006 (High): Motor OD / Theft base 81% or 90% of TSI. Impact: Motor premium differs by 9 points of TSI. Owner: Marketing / TSU. Decision: When each base applies</a:t>
            </a:r>
          </a:p>
          <a:p>
            <a:r>
              <a:t>DCR-027 (High): CLPC payments and endorsements specified twice. Impact: Two payment intakes and two endorsement paths. Owner: NB and Operations. Decision: Confirm Cashiering as the single payment intake and Adjustment for endorsements</a:t>
            </a:r>
          </a:p>
          <a:p>
            <a:r>
              <a:t>DCR-112 (High): Sanctions match blocks or warns. Impact: Business placed with a possible sanctioned party. Owner: Compliance. Decision: Block or warn on quotation to booking</a:t>
            </a:r>
          </a:p>
          <a:p>
            <a:r>
              <a:t>Q11, Q12, Q06, Q24 (Parked): HLS, mailbox, insurer SFTP / API, OCR. Impact: Uploads and manual capture remain. Owner: BDO IT and insurers. Decision: Interface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[Partly in BIBS]. BIBS: Bulk uploads with row checks, batch booking, work queues per stage. BDOI: Give the product matrix and minimum fields per line (Q01, Q02) so clean cases pass untouched.</a:t>
            </a:r>
          </a:p>
          <a:p>
            <a:r>
              <a:t>KYC at onboarding and a single client view [Supported by BIBS]. BIBS: Prospect to confirmed client with four-eyes KYC; one client record for every module. BDOI: Confirm the BDO KYC standard fields, CIF and duplicate keys (Q16, Q17).</a:t>
            </a:r>
          </a:p>
          <a:p>
            <a:r>
              <a:t>Maker-checker on client documents [Supported by BIBS]. BIBS: Approval before a quotation, PRF or slip is sent; maker cannot approve. BDOI: Set the approval chain and limits (Q05).</a:t>
            </a:r>
          </a:p>
          <a:p>
            <a:r>
              <a:t>Protected digital documents [Partly in BIBS]. BIBS: Password-protected PDF and Excel, password sent separately, send log. BDOI: Agree the password convention (DCR-153).</a:t>
            </a:r>
          </a:p>
          <a:p>
            <a:r>
              <a:t>Screening before binding [Partly in BIBS]. BIBS: Screening on client creation and account submission (BRD-10 design). BDOI: Decide block or warn while a match is open (DCR-112).</a:t>
            </a:r>
          </a:p>
          <a:p>
            <a:r>
              <a:t>Production KPIs against target [BDOI to adopt]. BIBS: Dashboard by region, department, team and officer. BDOI: Provide the sales hierarchy and targets (Q41).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repeats the three views the steering committee acts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moves every theme to one workflow in one system or better. Integration is the theme that stays furthest from best practice, because the bank, insurer and directory interfaces are parked until their owners specify them.</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eight decisions as in the holistic chapter; each unblocks more than one area.</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refreshed in phase B (after the end-to-end build) from the running platform. Comments go to the document review and sign-off tracker (deliverable 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BIBS Business Process Deck</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Business processes: As-Is, Envisioned in BIBS, Gaps and Best Practice</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1.0 | 25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Agenda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Rounded Rectangle 8"/>
          <p:cNvSpPr/>
          <p:nvPr/>
        </p:nvSpPr>
        <p:spPr>
          <a:xfrm>
            <a:off x="548640" y="1280160"/>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35024"/>
            <a:ext cx="548640" cy="457200"/>
          </a:xfrm>
          <a:prstGeom prst="rect">
            <a:avLst/>
          </a:prstGeom>
          <a:noFill/>
        </p:spPr>
        <p:txBody>
          <a:bodyPr wrap="square" anchor="t" lIns="45720" rIns="45720">
            <a:spAutoFit/>
          </a:bodyPr>
          <a:lstStyle/>
          <a:p>
            <a:r>
              <a:rPr sz="2200" b="1" i="0">
                <a:solidFill>
                  <a:srgbClr val="FDB913"/>
                </a:solidFill>
                <a:latin typeface="Arial"/>
              </a:rPr>
              <a:t>0</a:t>
            </a:r>
          </a:p>
        </p:txBody>
      </p:sp>
      <p:sp>
        <p:nvSpPr>
          <p:cNvPr id="11" name="TextBox 10"/>
          <p:cNvSpPr txBox="1"/>
          <p:nvPr/>
        </p:nvSpPr>
        <p:spPr>
          <a:xfrm>
            <a:off x="1115568" y="1353312"/>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Holistic view: the enterprise today, in BIBS and at best practice</a:t>
            </a:r>
          </a:p>
        </p:txBody>
      </p:sp>
      <p:sp>
        <p:nvSpPr>
          <p:cNvPr id="12" name="Rounded Rectangle 11"/>
          <p:cNvSpPr/>
          <p:nvPr/>
        </p:nvSpPr>
        <p:spPr>
          <a:xfrm>
            <a:off x="3363391"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54831" y="1335024"/>
            <a:ext cx="548640" cy="457200"/>
          </a:xfrm>
          <a:prstGeom prst="rect">
            <a:avLst/>
          </a:prstGeom>
          <a:noFill/>
        </p:spPr>
        <p:txBody>
          <a:bodyPr wrap="square" anchor="t" lIns="45720" rIns="45720">
            <a:spAutoFit/>
          </a:bodyPr>
          <a:lstStyle/>
          <a:p>
            <a:r>
              <a:rPr sz="2200" b="1" i="0">
                <a:solidFill>
                  <a:srgbClr val="0072D8"/>
                </a:solidFill>
                <a:latin typeface="Arial"/>
              </a:rPr>
              <a:t>1</a:t>
            </a:r>
          </a:p>
        </p:txBody>
      </p:sp>
      <p:sp>
        <p:nvSpPr>
          <p:cNvPr id="14" name="TextBox 13"/>
          <p:cNvSpPr txBox="1"/>
          <p:nvPr/>
        </p:nvSpPr>
        <p:spPr>
          <a:xfrm>
            <a:off x="3930319"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New Business</a:t>
            </a:r>
          </a:p>
        </p:txBody>
      </p:sp>
      <p:sp>
        <p:nvSpPr>
          <p:cNvPr id="15" name="TextBox 14"/>
          <p:cNvSpPr txBox="1"/>
          <p:nvPr/>
        </p:nvSpPr>
        <p:spPr>
          <a:xfrm>
            <a:off x="3473119" y="1975104"/>
            <a:ext cx="1188720" cy="320040"/>
          </a:xfrm>
          <a:prstGeom prst="rect">
            <a:avLst/>
          </a:prstGeom>
          <a:noFill/>
        </p:spPr>
        <p:txBody>
          <a:bodyPr wrap="square" anchor="t" lIns="45720" rIns="45720">
            <a:spAutoFit/>
          </a:bodyPr>
          <a:lstStyle/>
          <a:p>
            <a:r>
              <a:rPr sz="1200" b="0" i="0">
                <a:solidFill>
                  <a:srgbClr val="656565"/>
                </a:solidFill>
                <a:latin typeface="Arial"/>
              </a:rPr>
              <a:t>BRD-1</a:t>
            </a:r>
          </a:p>
        </p:txBody>
      </p:sp>
      <p:sp>
        <p:nvSpPr>
          <p:cNvPr id="16" name="Rounded Rectangle 15"/>
          <p:cNvSpPr/>
          <p:nvPr/>
        </p:nvSpPr>
        <p:spPr>
          <a:xfrm>
            <a:off x="4715103"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17" name="Rounded Rectangle 16"/>
          <p:cNvSpPr/>
          <p:nvPr/>
        </p:nvSpPr>
        <p:spPr>
          <a:xfrm>
            <a:off x="6178143" y="1280160"/>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1335024"/>
            <a:ext cx="548640" cy="457200"/>
          </a:xfrm>
          <a:prstGeom prst="rect">
            <a:avLst/>
          </a:prstGeom>
          <a:noFill/>
        </p:spPr>
        <p:txBody>
          <a:bodyPr wrap="square" anchor="t" lIns="45720" rIns="45720">
            <a:spAutoFit/>
          </a:bodyPr>
          <a:lstStyle/>
          <a:p>
            <a:r>
              <a:rPr sz="2200" b="1" i="0">
                <a:solidFill>
                  <a:srgbClr val="FDB913"/>
                </a:solidFill>
                <a:latin typeface="Arial"/>
              </a:rPr>
              <a:t>2</a:t>
            </a:r>
          </a:p>
        </p:txBody>
      </p:sp>
      <p:sp>
        <p:nvSpPr>
          <p:cNvPr id="19" name="TextBox 18"/>
          <p:cNvSpPr txBox="1"/>
          <p:nvPr/>
        </p:nvSpPr>
        <p:spPr>
          <a:xfrm>
            <a:off x="6745071" y="1353312"/>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Summary: maturity, decisions and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read the process slides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Each business area has seven slides: at a glance, As-Is swimlane, pain points, envisioned swimlane, before and after, gaps, best practice</a:t>
            </a:r>
          </a:p>
          <a:p>
            <a:pPr>
              <a:spcAft>
                <a:spcPts val="600"/>
              </a:spcAft>
            </a:pPr>
            <a:r>
              <a:rPr sz="1600">
                <a:solidFill>
                  <a:srgbClr val="004EA8"/>
                </a:solidFill>
                <a:latin typeface="Arial"/>
              </a:rPr>
              <a:t>•  </a:t>
            </a:r>
            <a:r>
              <a:rPr sz="1600">
                <a:solidFill>
                  <a:srgbClr val="4B4B4B"/>
                </a:solidFill>
                <a:latin typeface="Arial"/>
              </a:rPr>
              <a:t>Lanes are BDOI roles (Header Blue), external parties (grey) and today's systems (light blue)</a:t>
            </a:r>
          </a:p>
          <a:p>
            <a:pPr>
              <a:spcAft>
                <a:spcPts val="600"/>
              </a:spcAft>
            </a:pPr>
            <a:r>
              <a:rPr sz="1600">
                <a:solidFill>
                  <a:srgbClr val="004EA8"/>
                </a:solidFill>
                <a:latin typeface="Arial"/>
              </a:rPr>
              <a:t>•  </a:t>
            </a:r>
            <a:r>
              <a:rPr sz="1600">
                <a:solidFill>
                  <a:srgbClr val="4B4B4B"/>
                </a:solidFill>
                <a:latin typeface="Arial"/>
              </a:rPr>
              <a:t>Yellow numbered circles mark pain points: manual steps, re-keying, hand-offs, weak controls</a:t>
            </a:r>
          </a:p>
          <a:p>
            <a:pPr>
              <a:spcAft>
                <a:spcPts val="600"/>
              </a:spcAft>
            </a:pPr>
            <a:r>
              <a:rPr sz="1600">
                <a:solidFill>
                  <a:srgbClr val="004EA8"/>
                </a:solidFill>
                <a:latin typeface="Arial"/>
              </a:rPr>
              <a:t>•  </a:t>
            </a:r>
            <a:r>
              <a:rPr sz="1600">
                <a:solidFill>
                  <a:srgbClr val="4B4B4B"/>
                </a:solidFill>
                <a:latin typeface="Arial"/>
              </a:rPr>
              <a:t>On the envisioned diagram, solid blue boxes are what BIBS does automatically</a:t>
            </a:r>
          </a:p>
          <a:p>
            <a:pPr>
              <a:spcAft>
                <a:spcPts val="600"/>
              </a:spcAft>
            </a:pPr>
            <a:r>
              <a:rPr sz="1600">
                <a:solidFill>
                  <a:srgbClr val="004EA8"/>
                </a:solidFill>
                <a:latin typeface="Arial"/>
              </a:rPr>
              <a:t>•  </a:t>
            </a:r>
            <a:r>
              <a:rPr sz="1600">
                <a:solidFill>
                  <a:srgbClr val="4B4B4B"/>
                </a:solidFill>
                <a:latin typeface="Arial"/>
              </a:rPr>
              <a:t>Dashed lines are e-mail or file hand-offs, or interfaces that are parked until BDO or the insurers provide them</a:t>
            </a:r>
          </a:p>
          <a:p>
            <a:pPr>
              <a:spcAft>
                <a:spcPts val="600"/>
              </a:spcAft>
            </a:pPr>
            <a:r>
              <a:rPr sz="1600">
                <a:solidFill>
                  <a:srgbClr val="004EA8"/>
                </a:solidFill>
                <a:latin typeface="Arial"/>
              </a:rPr>
              <a:t>•  </a:t>
            </a:r>
            <a:r>
              <a:rPr sz="1600">
                <a:solidFill>
                  <a:srgbClr val="4B4B4B"/>
                </a:solidFill>
                <a:latin typeface="Arial"/>
              </a:rPr>
              <a:t>References: BRD PDF page, BRD requirement ID, FRS section, register item (DCR-nnn), open question (Qnn)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0. Holistic view</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enterprise today, in BIBS and at best practice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Today: twelve areas, seven systems and channels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pic>
        <p:nvPicPr>
          <p:cNvPr id="9" name="Picture 8" descr="holistic_asis_map.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Each line is a system or channel an area depends on today (current-process sections of the 12 BRDs)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Envisioned: BIBS as one platform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pic>
        <p:nvPicPr>
          <p:cNvPr id="9" name="Picture 8" descr="holistic_envisioned_map.png"/>
          <p:cNvPicPr>
            <a:picLocks noChangeAspect="1"/>
          </p:cNvPicPr>
          <p:nvPr/>
        </p:nvPicPr>
        <p:blipFill>
          <a:blip r:embed="rId3"/>
          <a:stretch>
            <a:fillRect/>
          </a:stretch>
        </p:blipFill>
        <p:spPr>
          <a:xfrm>
            <a:off x="590947" y="1243584"/>
            <a:ext cx="1100980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Module map by navigation group (* designed, not yet built); shared services; external parties; hosting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End-to-end value chain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pic>
        <p:nvPicPr>
          <p:cNvPr id="9" name="Picture 8" descr="holistic_value_chain.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From client to claims: the stage, the BDOI owner and the BIBS module (status in brackets)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Best-practice target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Open items per area (discrepancy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280160"/>
          <a:ext cx="7498076" cy="694944"/>
        </p:xfrm>
        <a:graphic>
          <a:graphicData uri="http://schemas.openxmlformats.org/drawingml/2006/table">
            <a:tbl>
              <a:tblPr firstRow="1" bandRow="1">
                <a:tableStyleId>{5C22544A-7EE6-4342-B048-85BDC9FD1C3A}</a:tableStyleId>
              </a:tblPr>
              <a:tblGrid>
                <a:gridCol w="2741233"/>
                <a:gridCol w="967494"/>
                <a:gridCol w="725620"/>
                <a:gridCol w="725620"/>
                <a:gridCol w="725620"/>
                <a:gridCol w="725620"/>
                <a:gridCol w="886869"/>
              </a:tblGrid>
              <a:tr h="365760">
                <a:tc>
                  <a:txBody>
                    <a:bodyPr wrap="square"/>
                    <a:lstStyle/>
                    <a:p>
                      <a:r>
                        <a:rPr sz="1200" b="1">
                          <a:solidFill>
                            <a:srgbClr val="FFFFFF"/>
                          </a:solidFill>
                          <a:latin typeface="Arial"/>
                        </a:rPr>
                        <a:t>Area</a:t>
                      </a:r>
                    </a:p>
                  </a:txBody>
                  <a:tcPr marL="64008" marR="64008" marT="27432" marB="27432" anchor="ctr">
                    <a:solidFill>
                      <a:srgbClr val="004EA8"/>
                    </a:solidFill>
                  </a:tcPr>
                </a:tc>
                <a:tc>
                  <a:txBody>
                    <a:bodyPr wrap="square"/>
                    <a:lstStyle/>
                    <a:p>
                      <a:r>
                        <a:rPr sz="1200" b="1">
                          <a:solidFill>
                            <a:srgbClr val="FFFFFF"/>
                          </a:solidFill>
                          <a:latin typeface="Arial"/>
                        </a:rPr>
                        <a:t>BRD</a:t>
                      </a:r>
                    </a:p>
                  </a:txBody>
                  <a:tcPr marL="64008" marR="64008" marT="27432" marB="27432" anchor="ctr">
                    <a:solidFill>
                      <a:srgbClr val="004EA8"/>
                    </a:solidFill>
                  </a:tcPr>
                </a:tc>
                <a:tc>
                  <a:txBody>
                    <a:bodyPr wrap="square"/>
                    <a:lstStyle/>
                    <a:p>
                      <a:r>
                        <a:rPr sz="1200" b="1">
                          <a:solidFill>
                            <a:srgbClr val="FFFFFF"/>
                          </a:solidFill>
                          <a:latin typeface="Arial"/>
                        </a:rPr>
                        <a:t>High</a:t>
                      </a:r>
                    </a:p>
                  </a:txBody>
                  <a:tcPr marL="64008" marR="64008" marT="27432" marB="27432" anchor="ctr">
                    <a:solidFill>
                      <a:srgbClr val="004EA8"/>
                    </a:solidFill>
                  </a:tcPr>
                </a:tc>
                <a:tc>
                  <a:txBody>
                    <a:bodyPr wrap="square"/>
                    <a:lstStyle/>
                    <a:p>
                      <a:r>
                        <a:rPr sz="1200" b="1">
                          <a:solidFill>
                            <a:srgbClr val="FFFFFF"/>
                          </a:solidFill>
                          <a:latin typeface="Arial"/>
                        </a:rPr>
                        <a:t>Medium</a:t>
                      </a:r>
                    </a:p>
                  </a:txBody>
                  <a:tcPr marL="64008" marR="64008" marT="27432" marB="27432" anchor="ctr">
                    <a:solidFill>
                      <a:srgbClr val="004EA8"/>
                    </a:solidFill>
                  </a:tcPr>
                </a:tc>
                <a:tc>
                  <a:txBody>
                    <a:bodyPr wrap="square"/>
                    <a:lstStyle/>
                    <a:p>
                      <a:r>
                        <a:rPr sz="1200" b="1">
                          <a:solidFill>
                            <a:srgbClr val="FFFFFF"/>
                          </a:solidFill>
                          <a:latin typeface="Arial"/>
                        </a:rPr>
                        <a:t>Low</a:t>
                      </a:r>
                    </a:p>
                  </a:txBody>
                  <a:tcPr marL="64008" marR="64008" marT="27432" marB="27432" anchor="ctr">
                    <a:solidFill>
                      <a:srgbClr val="004EA8"/>
                    </a:solidFill>
                  </a:tcPr>
                </a:tc>
                <a:tc>
                  <a:txBody>
                    <a:bodyPr wrap="square"/>
                    <a:lstStyle/>
                    <a:p>
                      <a:r>
                        <a:rPr sz="1200" b="1">
                          <a:solidFill>
                            <a:srgbClr val="FFFFFF"/>
                          </a:solidFill>
                          <a:latin typeface="Arial"/>
                        </a:rPr>
                        <a:t>Open</a:t>
                      </a:r>
                    </a:p>
                  </a:txBody>
                  <a:tcPr marL="64008" marR="64008" marT="27432" marB="27432" anchor="ctr">
                    <a:solidFill>
                      <a:srgbClr val="004EA8"/>
                    </a:solidFill>
                  </a:tcPr>
                </a:tc>
                <a:tc>
                  <a:txBody>
                    <a:bodyPr wrap="square"/>
                    <a:lstStyle/>
                    <a:p>
                      <a:r>
                        <a:rPr sz="1200" b="1">
                          <a:solidFill>
                            <a:srgbClr val="FFFFFF"/>
                          </a:solidFill>
                          <a:latin typeface="Arial"/>
                        </a:rPr>
                        <a:t>Answered</a:t>
                      </a:r>
                    </a:p>
                  </a:txBody>
                  <a:tcPr marL="64008" marR="64008" marT="27432" marB="27432" anchor="ctr">
                    <a:solidFill>
                      <a:srgbClr val="004EA8"/>
                    </a:solidFill>
                  </a:tcPr>
                </a:tc>
              </a:tr>
              <a:tr h="329184">
                <a:tc>
                  <a:txBody>
                    <a:bodyPr wrap="square"/>
                    <a:lstStyle/>
                    <a:p>
                      <a:r>
                        <a:rPr sz="1200" b="0">
                          <a:solidFill>
                            <a:srgbClr val="4B4B4B"/>
                          </a:solidFill>
                          <a:latin typeface="Arial"/>
                        </a:rPr>
                        <a:t>New Business</a:t>
                      </a:r>
                    </a:p>
                  </a:txBody>
                  <a:tcPr marL="64008" marR="64008" marT="27432" marB="27432" anchor="ctr">
                    <a:solidFill>
                      <a:srgbClr val="FFFFFF"/>
                    </a:solidFill>
                  </a:tcPr>
                </a:tc>
                <a:tc>
                  <a:txBody>
                    <a:bodyPr wrap="square"/>
                    <a:lstStyle/>
                    <a:p>
                      <a:r>
                        <a:rPr sz="1200" b="0">
                          <a:solidFill>
                            <a:srgbClr val="4B4B4B"/>
                          </a:solidFill>
                          <a:latin typeface="Arial"/>
                        </a:rPr>
                        <a:t>BRD-1</a:t>
                      </a:r>
                    </a:p>
                  </a:txBody>
                  <a:tcPr marL="64008" marR="64008" marT="27432" marB="27432" anchor="ctr">
                    <a:solidFill>
                      <a:srgbClr val="FFFFFF"/>
                    </a:solidFill>
                  </a:tcPr>
                </a:tc>
                <a:tc>
                  <a:txBody>
                    <a:bodyPr wrap="square"/>
                    <a:lstStyle/>
                    <a:p>
                      <a:pPr algn="ctr"/>
                      <a:r>
                        <a:rPr sz="1200" b="1">
                          <a:solidFill>
                            <a:srgbClr val="FFFFFF"/>
                          </a:solidFill>
                          <a:latin typeface="Arial"/>
                        </a:rPr>
                        <a:t>11</a:t>
                      </a:r>
                    </a:p>
                  </a:txBody>
                  <a:tcPr marL="64008" marR="64008" marT="27432" marB="27432" anchor="ctr">
                    <a:solidFill>
                      <a:srgbClr val="C62828"/>
                    </a:solidFill>
                  </a:tcPr>
                </a:tc>
                <a:tc>
                  <a:txBody>
                    <a:bodyPr wrap="square"/>
                    <a:lstStyle/>
                    <a:p>
                      <a:pPr algn="ctr"/>
                      <a:r>
                        <a:rPr sz="1200" b="1">
                          <a:solidFill>
                            <a:srgbClr val="8A5A00"/>
                          </a:solidFill>
                          <a:latin typeface="Arial"/>
                        </a:rPr>
                        <a:t>14</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26</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bl>
          </a:graphicData>
        </a:graphic>
      </p:graphicFrame>
      <p:sp>
        <p:nvSpPr>
          <p:cNvPr id="10" name="TextBox 9"/>
          <p:cNvSpPr txBox="1"/>
          <p:nvPr/>
        </p:nvSpPr>
        <p:spPr>
          <a:xfrm>
            <a:off x="8275319" y="1280160"/>
            <a:ext cx="3367736" cy="4846320"/>
          </a:xfrm>
          <a:prstGeom prst="rect">
            <a:avLst/>
          </a:prstGeom>
          <a:noFill/>
        </p:spPr>
        <p:txBody>
          <a:bodyPr wrap="square" anchor="t" lIns="45720" rIns="45720" tIns="18288" bIns="18288">
            <a:spAutoFit/>
          </a:bodyPr>
          <a:lstStyle/>
          <a:p>
            <a:pPr>
              <a:spcAft>
                <a:spcPts val="600"/>
              </a:spcAft>
            </a:pPr>
            <a:r>
              <a:rPr sz="1200" b="0">
                <a:solidFill>
                  <a:srgbClr val="4B4B4B"/>
                </a:solidFill>
                <a:latin typeface="Arial"/>
              </a:rPr>
              <a:t>162 items are raised against the 12 BRDs and the Report List; 8 are answered by a later signed BDOI document.</a:t>
            </a:r>
          </a:p>
          <a:p>
            <a:pPr>
              <a:spcAft>
                <a:spcPts val="600"/>
              </a:spcAft>
            </a:pPr>
            <a:r>
              <a:rPr sz="1200" b="0">
                <a:solidFill>
                  <a:srgbClr val="4B4B4B"/>
                </a:solidFill>
                <a:latin typeface="Arial"/>
              </a:rPr>
              <a:t>High items change what is built, the money, compliance or access; they are resolved before the FRS of the area is signed off.</a:t>
            </a:r>
          </a:p>
          <a:p>
            <a:pPr>
              <a:spcAft>
                <a:spcPts val="600"/>
              </a:spcAft>
            </a:pPr>
            <a:r>
              <a:rPr sz="1200" b="0">
                <a:solidFill>
                  <a:srgbClr val="4B4B4B"/>
                </a:solidFill>
                <a:latin typeface="Arial"/>
              </a:rPr>
              <a:t>Items that touch several BRDs, such as the service window, RPO and retention, count under each BRD.</a:t>
            </a:r>
          </a:p>
          <a:p>
            <a:pPr>
              <a:spcAft>
                <a:spcPts val="600"/>
              </a:spcAft>
            </a:pPr>
            <a:r>
              <a:rPr sz="1200" b="0">
                <a:solidFill>
                  <a:srgbClr val="4B4B4B"/>
                </a:solidFill>
                <a:latin typeface="Arial"/>
              </a:rPr>
              <a:t>The next slide lists the decisions that unblock the most areas.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Cross-BRD gaps: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Roadmap: built, in build, designed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 New Business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 | Client onboarding to booking (Fire, Motor, Other Lines, Non-Package)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TSU and Processing</a:t>
            </a:r>
          </a:p>
          <a:p>
            <a:pPr>
              <a:spcAft>
                <a:spcPts val="300"/>
              </a:spcAft>
            </a:pPr>
            <a:r>
              <a:rPr sz="1200" b="0">
                <a:solidFill>
                  <a:srgbClr val="004EA8"/>
                </a:solidFill>
                <a:latin typeface="Arial"/>
              </a:rPr>
              <a:t>•  </a:t>
            </a:r>
            <a:r>
              <a:rPr sz="1200" b="0">
                <a:solidFill>
                  <a:srgbClr val="4B4B4B"/>
                </a:solidFill>
                <a:latin typeface="Arial"/>
              </a:rPr>
              <a:t>Marketing AO, TL / TH / UH (Retail, Commercial, Corporate, Institutional)</a:t>
            </a:r>
          </a:p>
          <a:p>
            <a:pPr>
              <a:spcAft>
                <a:spcPts val="300"/>
              </a:spcAft>
            </a:pPr>
            <a:r>
              <a:rPr sz="1200" b="0">
                <a:solidFill>
                  <a:srgbClr val="004EA8"/>
                </a:solidFill>
                <a:latin typeface="Arial"/>
              </a:rPr>
              <a:t>•  </a:t>
            </a:r>
            <a:r>
              <a:rPr sz="1200" b="0">
                <a:solidFill>
                  <a:srgbClr val="4B4B4B"/>
                </a:solidFill>
                <a:latin typeface="Arial"/>
              </a:rPr>
              <a:t>TSU (non-package slips, insurer terms)</a:t>
            </a:r>
          </a:p>
          <a:p>
            <a:pPr>
              <a:spcAft>
                <a:spcPts val="300"/>
              </a:spcAft>
            </a:pPr>
            <a:r>
              <a:rPr sz="1200" b="0">
                <a:solidFill>
                  <a:srgbClr val="004EA8"/>
                </a:solidFill>
                <a:latin typeface="Arial"/>
              </a:rPr>
              <a:t>•  </a:t>
            </a:r>
            <a:r>
              <a:rPr sz="1200" b="0">
                <a:solidFill>
                  <a:srgbClr val="4B4B4B"/>
                </a:solidFill>
                <a:latin typeface="Arial"/>
              </a:rPr>
              <a:t>Processing and Processing TL (placement, issuance, booking)</a:t>
            </a:r>
          </a:p>
          <a:p>
            <a:pPr>
              <a:spcAft>
                <a:spcPts val="300"/>
              </a:spcAft>
            </a:pPr>
            <a:r>
              <a:rPr sz="1200" b="0">
                <a:solidFill>
                  <a:srgbClr val="004EA8"/>
                </a:solidFill>
                <a:latin typeface="Arial"/>
              </a:rPr>
              <a:t>•  </a:t>
            </a:r>
            <a:r>
              <a:rPr sz="1200" b="0">
                <a:solidFill>
                  <a:srgbClr val="4B4B4B"/>
                </a:solidFill>
                <a:latin typeface="Arial"/>
              </a:rPr>
              <a:t>Approver, E-policy Sender, Adjustment</a:t>
            </a:r>
          </a:p>
          <a:p>
            <a:pPr>
              <a:spcAft>
                <a:spcPts val="300"/>
              </a:spcAft>
            </a:pPr>
            <a:r>
              <a:rPr sz="1200" b="0">
                <a:solidFill>
                  <a:srgbClr val="004EA8"/>
                </a:solidFill>
                <a:latin typeface="Arial"/>
              </a:rPr>
              <a:t>•  </a:t>
            </a:r>
            <a:r>
              <a:rPr sz="1200" b="0">
                <a:solidFill>
                  <a:srgbClr val="4B4B4B"/>
                </a:solidFill>
                <a:latin typeface="Arial"/>
              </a:rPr>
              <a:t>Comptrollership (service invoice)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named users; 145 concurrent (p.210)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(p.210); 1,300 endorsements (p.211)</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function (p.210-211)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+ 15</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years online + archive; backup every 4 h (p.82)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9639604" y="1783080"/>
            <a:ext cx="1930298" cy="457200"/>
          </a:xfrm>
          <a:prstGeom prst="rect">
            <a:avLst/>
          </a:prstGeom>
          <a:noFill/>
        </p:spPr>
        <p:txBody>
          <a:bodyPr wrap="square" anchor="ctr" lIns="45720" rIns="45720" tIns="18288" bIns="18288">
            <a:spAutoFit/>
          </a:bodyPr>
          <a:lstStyle/>
          <a:p>
            <a:pPr>
              <a:spcAft>
                <a:spcPts val="400"/>
              </a:spcAft>
            </a:pPr>
            <a:r>
              <a:rPr sz="1200" b="0">
                <a:solidFill>
                  <a:srgbClr val="4B4B4B"/>
                </a:solidFill>
                <a:latin typeface="Arial"/>
              </a:rPr>
              <a:t>Built; FRS v1.0 issued for review</a:t>
            </a:r>
          </a:p>
        </p:txBody>
      </p:sp>
      <p:sp>
        <p:nvSpPr>
          <p:cNvPr id="33" name="TextBox 32"/>
          <p:cNvSpPr txBox="1"/>
          <p:nvPr/>
        </p:nvSpPr>
        <p:spPr>
          <a:xfrm>
            <a:off x="8158276" y="2286000"/>
            <a:ext cx="3393338" cy="25146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p.132-134 (current and envisioned process)</a:t>
            </a:r>
          </a:p>
          <a:p>
            <a:pPr>
              <a:spcAft>
                <a:spcPts val="300"/>
              </a:spcAft>
            </a:pPr>
            <a:r>
              <a:rPr sz="1200" b="0">
                <a:solidFill>
                  <a:srgbClr val="004EA8"/>
                </a:solidFill>
                <a:latin typeface="Arial"/>
              </a:rPr>
              <a:t>•  </a:t>
            </a:r>
            <a:r>
              <a:rPr sz="1200" b="0">
                <a:solidFill>
                  <a:srgbClr val="4B4B4B"/>
                </a:solidFill>
                <a:latin typeface="Arial"/>
              </a:rPr>
              <a:t>Other Lines addendum p.47-48; Workshop addendum Apr-2026 p.3-19</a:t>
            </a:r>
          </a:p>
          <a:p>
            <a:pPr>
              <a:spcAft>
                <a:spcPts val="300"/>
              </a:spcAft>
            </a:pPr>
            <a:r>
              <a:rPr sz="1200" b="0">
                <a:solidFill>
                  <a:srgbClr val="004EA8"/>
                </a:solidFill>
                <a:latin typeface="Arial"/>
              </a:rPr>
              <a:t>•  </a:t>
            </a:r>
            <a:r>
              <a:rPr sz="1200" b="0">
                <a:solidFill>
                  <a:srgbClr val="4B4B4B"/>
                </a:solidFill>
                <a:latin typeface="Arial"/>
              </a:rPr>
              <a:t>BRNB.001-115</a:t>
            </a:r>
          </a:p>
          <a:p>
            <a:pPr>
              <a:spcAft>
                <a:spcPts val="300"/>
              </a:spcAft>
            </a:pPr>
            <a:r>
              <a:rPr sz="1200" b="0">
                <a:solidFill>
                  <a:srgbClr val="004EA8"/>
                </a:solidFill>
                <a:latin typeface="Arial"/>
              </a:rPr>
              <a:t>•  </a:t>
            </a:r>
            <a:r>
              <a:rPr sz="1200" b="0">
                <a:solidFill>
                  <a:srgbClr val="4B4B4B"/>
                </a:solidFill>
                <a:latin typeface="Arial"/>
              </a:rPr>
              <a:t>FRS BRD-1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Onboarding</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Quotation / PRF</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Account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Payment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Placement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Issuance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Booking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0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today (BRD-1 p.133-134, p.47)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arrive by e-mail and are keyed in</a:t>
            </a:r>
          </a:p>
          <a:p>
            <a:pPr>
              <a:spcAft>
                <a:spcPts val="100"/>
              </a:spcAft>
            </a:pPr>
            <a:r>
              <a:rPr sz="1200" b="0">
                <a:solidFill>
                  <a:srgbClr val="4B4B4B"/>
                </a:solidFill>
                <a:latin typeface="Arial"/>
              </a:rPr>
              <a:t>HLS requests are re-keyed; bulk processing exists for CBG Home only.</a:t>
            </a:r>
          </a:p>
          <a:p>
            <a:pPr>
              <a:spcAft>
                <a:spcPts val="100"/>
              </a:spcAft>
            </a:pPr>
            <a:r>
              <a:rPr sz="1200" b="0">
                <a:solidFill>
                  <a:srgbClr val="0072D8"/>
                </a:solidFill>
                <a:latin typeface="Arial"/>
              </a:rPr>
              <a:t>BRD-1 p.133; BRNB.023, 041</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Quotations prepared in QPS or Excel</a:t>
            </a:r>
          </a:p>
          <a:p>
            <a:pPr>
              <a:spcAft>
                <a:spcPts val="100"/>
              </a:spcAft>
            </a:pPr>
            <a:r>
              <a:rPr sz="1200" b="0">
                <a:solidFill>
                  <a:srgbClr val="4B4B4B"/>
                </a:solidFill>
                <a:latin typeface="Arial"/>
              </a:rPr>
              <a:t>Rating and versions live outside one workflow; approvals by e-mail.</a:t>
            </a:r>
          </a:p>
          <a:p>
            <a:pPr>
              <a:spcAft>
                <a:spcPts val="100"/>
              </a:spcAft>
            </a:pPr>
            <a:r>
              <a:rPr sz="1200" b="0">
                <a:solidFill>
                  <a:srgbClr val="0072D8"/>
                </a:solidFill>
                <a:latin typeface="Arial"/>
              </a:rPr>
              <a:t>BRD-1 p.133; FRS 2.1 row 2</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Non-package placement by e-mail</a:t>
            </a:r>
          </a:p>
          <a:p>
            <a:pPr>
              <a:spcAft>
                <a:spcPts val="100"/>
              </a:spcAft>
            </a:pPr>
            <a:r>
              <a:rPr sz="1200" b="0">
                <a:solidFill>
                  <a:srgbClr val="4B4B4B"/>
                </a:solidFill>
                <a:latin typeface="Arial"/>
              </a:rPr>
              <a:t>TSU receives risks by e-mail and builds the comparative table in Excel.</a:t>
            </a:r>
          </a:p>
          <a:p>
            <a:pPr>
              <a:spcAft>
                <a:spcPts val="100"/>
              </a:spcAft>
            </a:pPr>
            <a:r>
              <a:rPr sz="1200" b="0">
                <a:solidFill>
                  <a:srgbClr val="0072D8"/>
                </a:solidFill>
                <a:latin typeface="Arial"/>
              </a:rPr>
              <a:t>Other Lines addendum p.47</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standard client onboarding</a:t>
            </a:r>
          </a:p>
          <a:p>
            <a:pPr>
              <a:spcAft>
                <a:spcPts val="100"/>
              </a:spcAft>
            </a:pPr>
            <a:r>
              <a:rPr sz="1200" b="0">
                <a:solidFill>
                  <a:srgbClr val="4B4B4B"/>
                </a:solidFill>
                <a:latin typeface="Arial"/>
              </a:rPr>
              <a:t>Clients are created without a KYC verification step.</a:t>
            </a:r>
          </a:p>
          <a:p>
            <a:pPr>
              <a:spcAft>
                <a:spcPts val="100"/>
              </a:spcAft>
            </a:pPr>
            <a:r>
              <a:rPr sz="1200" b="0">
                <a:solidFill>
                  <a:srgbClr val="0072D8"/>
                </a:solidFill>
                <a:latin typeface="Arial"/>
              </a:rPr>
              <a:t>Workshop addendum p.3-5; BRNB.090</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in spreadsheets</a:t>
            </a:r>
          </a:p>
          <a:p>
            <a:pPr>
              <a:spcAft>
                <a:spcPts val="100"/>
              </a:spcAft>
            </a:pPr>
            <a:r>
              <a:rPr sz="1200" b="0">
                <a:solidFill>
                  <a:srgbClr val="4B4B4B"/>
                </a:solidFill>
                <a:latin typeface="Arial"/>
              </a:rPr>
              <a:t>No single account number; duplicates are found late.</a:t>
            </a:r>
          </a:p>
          <a:p>
            <a:pPr>
              <a:spcAft>
                <a:spcPts val="100"/>
              </a:spcAft>
            </a:pPr>
            <a:r>
              <a:rPr sz="1200" b="0">
                <a:solidFill>
                  <a:srgbClr val="0072D8"/>
                </a:solidFill>
                <a:latin typeface="Arial"/>
              </a:rPr>
              <a:t>BRD-1 p.133; BRNB.032, 051</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CBG Fire billing and payment matching by hand</a:t>
            </a:r>
          </a:p>
          <a:p>
            <a:pPr>
              <a:spcAft>
                <a:spcPts val="100"/>
              </a:spcAft>
            </a:pPr>
            <a:r>
              <a:rPr sz="1200" b="0">
                <a:solidFill>
                  <a:srgbClr val="4B4B4B"/>
                </a:solidFill>
                <a:latin typeface="Arial"/>
              </a:rPr>
              <a:t>The CLPC billing file and payment reports are handled manually.</a:t>
            </a:r>
          </a:p>
          <a:p>
            <a:pPr>
              <a:spcAft>
                <a:spcPts val="100"/>
              </a:spcAft>
            </a:pPr>
            <a:r>
              <a:rPr sz="1200" b="0">
                <a:solidFill>
                  <a:srgbClr val="0072D8"/>
                </a:solidFill>
                <a:latin typeface="Arial"/>
              </a:rPr>
              <a:t>BRD-1 p.133; BRNB.067, 068</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hold cover, e-policy by e-mail</a:t>
            </a:r>
          </a:p>
          <a:p>
            <a:pPr>
              <a:spcAft>
                <a:spcPts val="100"/>
              </a:spcAft>
            </a:pPr>
            <a:r>
              <a:rPr sz="1200" b="0">
                <a:solidFill>
                  <a:srgbClr val="4B4B4B"/>
                </a:solidFill>
                <a:latin typeface="Arial"/>
              </a:rPr>
              <a:t>Files leave by e-mail with no send log and no protection rule.</a:t>
            </a:r>
          </a:p>
          <a:p>
            <a:pPr>
              <a:spcAft>
                <a:spcPts val="100"/>
              </a:spcAft>
            </a:pPr>
            <a:r>
              <a:rPr sz="1200" b="0">
                <a:solidFill>
                  <a:srgbClr val="0072D8"/>
                </a:solidFill>
                <a:latin typeface="Arial"/>
              </a:rPr>
              <a:t>BRD-1 p.133; BRNB.071, 072, 073</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Booking in separate steps</a:t>
            </a:r>
          </a:p>
          <a:p>
            <a:pPr>
              <a:spcAft>
                <a:spcPts val="100"/>
              </a:spcAft>
            </a:pPr>
            <a:r>
              <a:rPr sz="1200" b="0">
                <a:solidFill>
                  <a:srgbClr val="4B4B4B"/>
                </a:solidFill>
                <a:latin typeface="Arial"/>
              </a:rPr>
              <a:t>Invoice, GL entry and service invoice are separate tasks.</a:t>
            </a:r>
          </a:p>
          <a:p>
            <a:pPr>
              <a:spcAft>
                <a:spcPts val="100"/>
              </a:spcAft>
            </a:pPr>
            <a:r>
              <a:rPr sz="1200" b="0">
                <a:solidFill>
                  <a:srgbClr val="0072D8"/>
                </a:solidFill>
                <a:latin typeface="Arial"/>
              </a:rPr>
              <a:t>BRD-1 p.133-134; BRNB.027, 100</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monitoring by hand</a:t>
            </a:r>
          </a:p>
          <a:p>
            <a:pPr>
              <a:spcAft>
                <a:spcPts val="100"/>
              </a:spcAft>
            </a:pPr>
            <a:r>
              <a:rPr sz="1200" b="0">
                <a:solidFill>
                  <a:srgbClr val="4B4B4B"/>
                </a:solidFill>
                <a:latin typeface="Arial"/>
              </a:rPr>
              <a:t>Status and reconciliation reports are compiled manually.</a:t>
            </a:r>
          </a:p>
          <a:p>
            <a:pPr>
              <a:spcAft>
                <a:spcPts val="100"/>
              </a:spcAft>
            </a:pPr>
            <a:r>
              <a:rPr sz="1200" b="0">
                <a:solidFill>
                  <a:srgbClr val="0072D8"/>
                </a:solidFill>
                <a:latin typeface="Arial"/>
              </a:rPr>
              <a:t>BRD-1 p.133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brd0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in BIBS: workflows NB_CLIENT, NB_QUOTATION, NB_PROPOSAL, NB_ACCOUNT (FRS BRD-1 section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arrive by e-mail and are keyed in</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 inbox; HLS extract and bulk files uploaded with a template and row checks</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Up to 5,000 rows a file</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Quotations prepared in QPS or Excel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rated with the Appendix A formulas, versioned, approved before it is sent</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before send</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Non-package placement by e-mail</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PRF workflow: TSU slips per insurer, insurer terms keyed once, comparative compiled by BIBS</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Comparative not re-keyed</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standard client onboarding</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Prospect, KYC documents, verification by a second user, then confirmed client</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KYC</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in spreadsheets</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ARN per account; workflow stage; duplicate check at creation</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Duplicates stopped at entry</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Fire billing and payment matching by hand</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CLPC billing file produced and payment report matched in BIBS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Matching automated</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hold cover, e-policy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Slips, hold cover requests and e-policies generated, password protected and logged</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document</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in separate steps</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posts invoice, GL entry and service invoice in one transaction; batch at 20:00</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step instead of three</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monitoring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Dashboards and status reports read the workflow history</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s response (p.211)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gaps in the envisioned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Quotation before the client exists</a:t>
                      </a:r>
                    </a:p>
                  </a:txBody>
                  <a:tcPr marL="64008" marR="64008" marT="27432" marB="27432" anchor="ctr">
                    <a:solidFill>
                      <a:srgbClr val="FFFFFF"/>
                    </a:solidFill>
                  </a:tcPr>
                </a:tc>
                <a:tc>
                  <a:txBody>
                    <a:bodyPr wrap="square"/>
                    <a:lstStyle/>
                    <a:p>
                      <a:r>
                        <a:rPr sz="1100" b="0">
                          <a:solidFill>
                            <a:srgbClr val="4B4B4B"/>
                          </a:solidFill>
                          <a:latin typeface="Arial"/>
                        </a:rPr>
                        <a:t>Walk-in and bank-referred prospects may not be quotable</a:t>
                      </a:r>
                    </a:p>
                  </a:txBody>
                  <a:tcPr marL="64008" marR="64008" marT="27432" marB="27432" anchor="ctr">
                    <a:solidFill>
                      <a:srgbClr val="FFFFFF"/>
                    </a:solidFill>
                  </a:tcPr>
                </a:tc>
                <a:tc>
                  <a:txBody>
                    <a:bodyPr wrap="square"/>
                    <a:lstStyle/>
                    <a:p>
                      <a:r>
                        <a:rPr sz="1100" b="0">
                          <a:solidFill>
                            <a:srgbClr val="4B4B4B"/>
                          </a:solidFill>
                          <a:latin typeface="Arial"/>
                        </a:rPr>
                        <a:t>Marketing / Product Owner</a:t>
                      </a:r>
                    </a:p>
                  </a:txBody>
                  <a:tcPr marL="64008" marR="64008" marT="27432" marB="27432" anchor="ctr">
                    <a:solidFill>
                      <a:srgbClr val="FFFFFF"/>
                    </a:solidFill>
                  </a:tcPr>
                </a:tc>
                <a:tc>
                  <a:txBody>
                    <a:bodyPr wrap="square"/>
                    <a:lstStyle/>
                    <a:p>
                      <a:r>
                        <a:rPr sz="1100" b="0">
                          <a:solidFill>
                            <a:srgbClr val="4B4B4B"/>
                          </a:solidFill>
                          <a:latin typeface="Arial"/>
                        </a:rPr>
                        <a:t>May BIBS create a prospect code at quotation (BRNB.029 vs 063)?</a:t>
                      </a:r>
                    </a:p>
                  </a:txBody>
                  <a:tcPr marL="64008" marR="64008" marT="27432" marB="27432" anchor="ctr">
                    <a:solidFill>
                      <a:srgbClr val="FFFFFF"/>
                    </a:solidFill>
                  </a:tcPr>
                </a:tc>
                <a:tc>
                  <a:txBody>
                    <a:bodyPr wrap="square"/>
                    <a:lstStyle/>
                    <a:p>
                      <a:r>
                        <a:rPr sz="1100" b="0">
                          <a:solidFill>
                            <a:srgbClr val="4B4B4B"/>
                          </a:solidFill>
                          <a:latin typeface="Arial"/>
                        </a:rPr>
                        <a:t>DCR-001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Fire premium tax rate and base</a:t>
                      </a:r>
                    </a:p>
                  </a:txBody>
                  <a:tcPr marL="64008" marR="64008" marT="27432" marB="27432" anchor="ctr">
                    <a:solidFill>
                      <a:srgbClr val="E5F5FF"/>
                    </a:solidFill>
                  </a:tcPr>
                </a:tc>
                <a:tc>
                  <a:txBody>
                    <a:bodyPr wrap="square"/>
                    <a:lstStyle/>
                    <a:p>
                      <a:r>
                        <a:rPr sz="1100" b="0">
                          <a:solidFill>
                            <a:srgbClr val="4B4B4B"/>
                          </a:solidFill>
                          <a:latin typeface="Arial"/>
                        </a:rPr>
                        <a:t>Gross premium on every Fire quotation and invoice</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Which taxes, rates and bases apply to Fire?</a:t>
                      </a:r>
                    </a:p>
                  </a:txBody>
                  <a:tcPr marL="64008" marR="64008" marT="27432" marB="27432" anchor="ctr">
                    <a:solidFill>
                      <a:srgbClr val="E5F5FF"/>
                    </a:solidFill>
                  </a:tcPr>
                </a:tc>
                <a:tc>
                  <a:txBody>
                    <a:bodyPr wrap="square"/>
                    <a:lstStyle/>
                    <a:p>
                      <a:r>
                        <a:rPr sz="1100" b="0">
                          <a:solidFill>
                            <a:srgbClr val="4B4B4B"/>
                          </a:solidFill>
                          <a:latin typeface="Arial"/>
                        </a:rPr>
                        <a:t>DCR-005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Motor OD / Theft base 81% or 90% of TSI</a:t>
                      </a:r>
                    </a:p>
                  </a:txBody>
                  <a:tcPr marL="64008" marR="64008" marT="27432" marB="27432" anchor="ctr">
                    <a:solidFill>
                      <a:srgbClr val="FFFFFF"/>
                    </a:solidFill>
                  </a:tcPr>
                </a:tc>
                <a:tc>
                  <a:txBody>
                    <a:bodyPr wrap="square"/>
                    <a:lstStyle/>
                    <a:p>
                      <a:r>
                        <a:rPr sz="1100" b="0">
                          <a:solidFill>
                            <a:srgbClr val="4B4B4B"/>
                          </a:solidFill>
                          <a:latin typeface="Arial"/>
                        </a:rPr>
                        <a:t>Motor premium differs by 9 points of TSI</a:t>
                      </a:r>
                    </a:p>
                  </a:txBody>
                  <a:tcPr marL="64008" marR="64008" marT="27432" marB="27432" anchor="ctr">
                    <a:solidFill>
                      <a:srgbClr val="FFFFFF"/>
                    </a:solidFill>
                  </a:tcPr>
                </a:tc>
                <a:tc>
                  <a:txBody>
                    <a:bodyPr wrap="square"/>
                    <a:lstStyle/>
                    <a:p>
                      <a:r>
                        <a:rPr sz="1100" b="0">
                          <a:solidFill>
                            <a:srgbClr val="4B4B4B"/>
                          </a:solidFill>
                          <a:latin typeface="Arial"/>
                        </a:rPr>
                        <a:t>Marketing / TSU</a:t>
                      </a:r>
                    </a:p>
                  </a:txBody>
                  <a:tcPr marL="64008" marR="64008" marT="27432" marB="27432" anchor="ctr">
                    <a:solidFill>
                      <a:srgbClr val="FFFFFF"/>
                    </a:solidFill>
                  </a:tcPr>
                </a:tc>
                <a:tc>
                  <a:txBody>
                    <a:bodyPr wrap="square"/>
                    <a:lstStyle/>
                    <a:p>
                      <a:r>
                        <a:rPr sz="1100" b="0">
                          <a:solidFill>
                            <a:srgbClr val="4B4B4B"/>
                          </a:solidFill>
                          <a:latin typeface="Arial"/>
                        </a:rPr>
                        <a:t>When each base applies</a:t>
                      </a:r>
                    </a:p>
                  </a:txBody>
                  <a:tcPr marL="64008" marR="64008" marT="27432" marB="27432" anchor="ctr">
                    <a:solidFill>
                      <a:srgbClr val="FFFFFF"/>
                    </a:solidFill>
                  </a:tcPr>
                </a:tc>
                <a:tc>
                  <a:txBody>
                    <a:bodyPr wrap="square"/>
                    <a:lstStyle/>
                    <a:p>
                      <a:r>
                        <a:rPr sz="1100" b="0">
                          <a:solidFill>
                            <a:srgbClr val="4B4B4B"/>
                          </a:solidFill>
                          <a:latin typeface="Arial"/>
                        </a:rPr>
                        <a:t>DCR-006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specified twice</a:t>
                      </a:r>
                    </a:p>
                  </a:txBody>
                  <a:tcPr marL="64008" marR="64008" marT="27432" marB="27432" anchor="ctr">
                    <a:solidFill>
                      <a:srgbClr val="E5F5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E5F5FF"/>
                    </a:solidFill>
                  </a:tcPr>
                </a:tc>
                <a:tc>
                  <a:txBody>
                    <a:bodyPr wrap="square"/>
                    <a:lstStyle/>
                    <a:p>
                      <a:r>
                        <a:rPr sz="1100" b="0">
                          <a:solidFill>
                            <a:srgbClr val="4B4B4B"/>
                          </a:solidFill>
                          <a:latin typeface="Arial"/>
                        </a:rPr>
                        <a:t>NB and Operations</a:t>
                      </a:r>
                    </a:p>
                  </a:txBody>
                  <a:tcPr marL="64008" marR="64008" marT="27432" marB="27432" anchor="ctr">
                    <a:solidFill>
                      <a:srgbClr val="E5F5FF"/>
                    </a:solidFill>
                  </a:tcPr>
                </a:tc>
                <a:tc>
                  <a:txBody>
                    <a:bodyPr wrap="square"/>
                    <a:lstStyle/>
                    <a:p>
                      <a:r>
                        <a:rPr sz="1100" b="0">
                          <a:solidFill>
                            <a:srgbClr val="4B4B4B"/>
                          </a:solidFill>
                          <a:latin typeface="Arial"/>
                        </a:rPr>
                        <a:t>Confirm Cashiering as the single payment intake and Adjustment for endorsements</a:t>
                      </a:r>
                    </a:p>
                  </a:txBody>
                  <a:tcPr marL="64008" marR="64008" marT="27432" marB="27432" anchor="ctr">
                    <a:solidFill>
                      <a:srgbClr val="E5F5FF"/>
                    </a:solidFill>
                  </a:tcPr>
                </a:tc>
                <a:tc>
                  <a:txBody>
                    <a:bodyPr wrap="square"/>
                    <a:lstStyle/>
                    <a:p>
                      <a:r>
                        <a:rPr sz="1100" b="0">
                          <a:solidFill>
                            <a:srgbClr val="4B4B4B"/>
                          </a:solidFill>
                          <a:latin typeface="Arial"/>
                        </a:rPr>
                        <a:t>DCR-027</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placed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to booking</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HLS, mailbox, insurer SFTP / API, OCR</a:t>
                      </a:r>
                    </a:p>
                  </a:txBody>
                  <a:tcPr marL="64008" marR="64008" marT="27432" marB="27432" anchor="ctr">
                    <a:solidFill>
                      <a:srgbClr val="E5F5FF"/>
                    </a:solidFill>
                  </a:tcPr>
                </a:tc>
                <a:tc>
                  <a:txBody>
                    <a:bodyPr wrap="square"/>
                    <a:lstStyle/>
                    <a:p>
                      <a:r>
                        <a:rPr sz="1100" b="0">
                          <a:solidFill>
                            <a:srgbClr val="4B4B4B"/>
                          </a:solidFill>
                          <a:latin typeface="Arial"/>
                        </a:rPr>
                        <a:t>Uploads and manual capture remain</a:t>
                      </a:r>
                    </a:p>
                  </a:txBody>
                  <a:tcPr marL="64008" marR="64008" marT="27432" marB="27432" anchor="ctr">
                    <a:solidFill>
                      <a:srgbClr val="E5F5FF"/>
                    </a:solidFill>
                  </a:tcPr>
                </a:tc>
                <a:tc>
                  <a:txBody>
                    <a:bodyPr wrap="square"/>
                    <a:lstStyle/>
                    <a:p>
                      <a:r>
                        <a:rPr sz="1100" b="0">
                          <a:solidFill>
                            <a:srgbClr val="4B4B4B"/>
                          </a:solidFill>
                          <a:latin typeface="Arial"/>
                        </a:rPr>
                        <a:t>BDO IT and insurers</a:t>
                      </a:r>
                    </a:p>
                  </a:txBody>
                  <a:tcPr marL="64008" marR="64008" marT="27432" marB="27432" anchor="ctr">
                    <a:solidFill>
                      <a:srgbClr val="E5F5FF"/>
                    </a:solidFill>
                  </a:tcPr>
                </a:tc>
                <a:tc>
                  <a:txBody>
                    <a:bodyPr wrap="square"/>
                    <a:lstStyle/>
                    <a:p>
                      <a:r>
                        <a:rPr sz="1100" b="0">
                          <a:solidFill>
                            <a:srgbClr val="4B4B4B"/>
                          </a:solidFill>
                          <a:latin typeface="Arial"/>
                        </a:rPr>
                        <a:t>Interface specifications</a:t>
                      </a:r>
                    </a:p>
                  </a:txBody>
                  <a:tcPr marL="64008" marR="64008" marT="27432" marB="27432" anchor="ctr">
                    <a:solidFill>
                      <a:srgbClr val="E5F5FF"/>
                    </a:solidFill>
                  </a:tcPr>
                </a:tc>
                <a:tc>
                  <a:txBody>
                    <a:bodyPr wrap="square"/>
                    <a:lstStyle/>
                    <a:p>
                      <a:r>
                        <a:rPr sz="1100" b="0">
                          <a:solidFill>
                            <a:srgbClr val="4B4B4B"/>
                          </a:solidFill>
                          <a:latin typeface="Arial"/>
                        </a:rPr>
                        <a:t>Q11, Q12, Q06, Q24</a:t>
                      </a:r>
                    </a:p>
                  </a:txBody>
                  <a:tcPr marL="64008" marR="64008" marT="27432" marB="27432" anchor="ctr">
                    <a:solidFill>
                      <a:srgbClr val="E5F5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Bulk uploads with row checks, batch booking, work queues per stage.</a:t>
            </a:r>
          </a:p>
          <a:p>
            <a:pPr>
              <a:spcAft>
                <a:spcPts val="400"/>
              </a:spcAft>
            </a:pPr>
            <a:r>
              <a:rPr sz="1200" b="1">
                <a:solidFill>
                  <a:srgbClr val="004EA8"/>
                </a:solidFill>
                <a:latin typeface="Arial"/>
              </a:rPr>
              <a:t>BDOI: </a:t>
            </a:r>
            <a:r>
              <a:rPr sz="1200" b="0">
                <a:solidFill>
                  <a:srgbClr val="4B4B4B"/>
                </a:solidFill>
                <a:latin typeface="Arial"/>
              </a:rPr>
              <a:t>Give the product matrix and minimum fields per line (Q01, Q02) so clean cases pass untouched.</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KYC at onboarding and a single client view</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Prospect to confirmed client with four-eyes KYC; one client record for every module.</a:t>
            </a:r>
          </a:p>
          <a:p>
            <a:pPr>
              <a:spcAft>
                <a:spcPts val="400"/>
              </a:spcAft>
            </a:pPr>
            <a:r>
              <a:rPr sz="1200" b="1">
                <a:solidFill>
                  <a:srgbClr val="004EA8"/>
                </a:solidFill>
                <a:latin typeface="Arial"/>
              </a:rPr>
              <a:t>BDOI: </a:t>
            </a:r>
            <a:r>
              <a:rPr sz="1200" b="0">
                <a:solidFill>
                  <a:srgbClr val="4B4B4B"/>
                </a:solidFill>
                <a:latin typeface="Arial"/>
              </a:rPr>
              <a:t>Confirm the BDO KYC standard fields, CIF and duplicate keys (Q16, Q17).</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client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before a quotation, PRF or slip is sent; maker cannot approve.</a:t>
            </a:r>
          </a:p>
          <a:p>
            <a:pPr>
              <a:spcAft>
                <a:spcPts val="400"/>
              </a:spcAft>
            </a:pPr>
            <a:r>
              <a:rPr sz="1200" b="1">
                <a:solidFill>
                  <a:srgbClr val="004EA8"/>
                </a:solidFill>
                <a:latin typeface="Arial"/>
              </a:rPr>
              <a:t>BDOI: </a:t>
            </a:r>
            <a:r>
              <a:rPr sz="1200" b="0">
                <a:solidFill>
                  <a:srgbClr val="4B4B4B"/>
                </a:solidFill>
                <a:latin typeface="Arial"/>
              </a:rPr>
              <a:t>Set the approval chain and limits (Q05).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Password-protected PDF and Excel,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before binding</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Screening on client creation and account submission (BRD-10 design).</a:t>
            </a:r>
          </a:p>
          <a:p>
            <a:pPr>
              <a:spcAft>
                <a:spcPts val="400"/>
              </a:spcAft>
            </a:pPr>
            <a:r>
              <a:rPr sz="1200" b="1">
                <a:solidFill>
                  <a:srgbClr val="004EA8"/>
                </a:solidFill>
                <a:latin typeface="Arial"/>
              </a:rPr>
              <a:t>BDOI: </a:t>
            </a:r>
            <a:r>
              <a:rPr sz="1200" b="0">
                <a:solidFill>
                  <a:srgbClr val="4B4B4B"/>
                </a:solidFill>
                <a:latin typeface="Arial"/>
              </a:rPr>
              <a:t>Decide block or warn while a match is open (DCR-112).</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Production KPIs against target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Dashboard by region, department, team and officer.</a:t>
            </a:r>
          </a:p>
          <a:p>
            <a:pPr>
              <a:spcAft>
                <a:spcPts val="400"/>
              </a:spcAft>
            </a:pPr>
            <a:r>
              <a:rPr sz="1200" b="1">
                <a:solidFill>
                  <a:srgbClr val="004EA8"/>
                </a:solidFill>
                <a:latin typeface="Arial"/>
              </a:rPr>
              <a:t>BDOI: </a:t>
            </a:r>
            <a:r>
              <a:rPr sz="1200" b="0">
                <a:solidFill>
                  <a:srgbClr val="4B4B4B"/>
                </a:solidFill>
                <a:latin typeface="Arial"/>
              </a:rPr>
              <a:t>Provide the sales hierarchy and targets (Q41).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2. Summary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Maturity, decisions and roadmap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from today to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roadmap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Department heads review their chapter with the FRS of their BRD and return comments through the sign-off tracker</a:t>
            </a:r>
          </a:p>
          <a:p>
            <a:pPr>
              <a:spcAft>
                <a:spcPts val="600"/>
              </a:spcAft>
            </a:pPr>
            <a:r>
              <a:rPr sz="1600">
                <a:solidFill>
                  <a:srgbClr val="004EA8"/>
                </a:solidFill>
                <a:latin typeface="Arial"/>
              </a:rPr>
              <a:t>•  </a:t>
            </a:r>
            <a:r>
              <a:rPr sz="1600">
                <a:solidFill>
                  <a:srgbClr val="4B4B4B"/>
                </a:solidFill>
                <a:latin typeface="Arial"/>
              </a:rPr>
              <a:t>BDOI answers the High items of the discrepancy register, starting with the eight decisions of this deck</a:t>
            </a:r>
          </a:p>
          <a:p>
            <a:pPr>
              <a:spcAft>
                <a:spcPts val="600"/>
              </a:spcAft>
            </a:pPr>
            <a:r>
              <a:rPr sz="1600">
                <a:solidFill>
                  <a:srgbClr val="004EA8"/>
                </a:solidFill>
                <a:latin typeface="Arial"/>
              </a:rPr>
              <a:t>•  </a:t>
            </a:r>
            <a:r>
              <a:rPr sz="1600">
                <a:solidFill>
                  <a:srgbClr val="4B4B4B"/>
                </a:solidFill>
                <a:latin typeface="Arial"/>
              </a:rPr>
              <a:t>The project team refreshes this deck after the end-to-end build, with screenshots of the BIBS screens</a:t>
            </a:r>
          </a:p>
          <a:p>
            <a:pPr>
              <a:spcAft>
                <a:spcPts val="600"/>
              </a:spcAft>
            </a:pPr>
            <a:r>
              <a:rPr sz="1600">
                <a:solidFill>
                  <a:srgbClr val="004EA8"/>
                </a:solidFill>
                <a:latin typeface="Arial"/>
              </a:rPr>
              <a:t>•  </a:t>
            </a:r>
            <a:r>
              <a:rPr sz="1600">
                <a:solidFill>
                  <a:srgbClr val="4B4B4B"/>
                </a:solidFill>
                <a:latin typeface="Arial"/>
              </a:rPr>
              <a:t>The steering committee confirms the build order of the designed areas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BIBS Business Process Deck</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