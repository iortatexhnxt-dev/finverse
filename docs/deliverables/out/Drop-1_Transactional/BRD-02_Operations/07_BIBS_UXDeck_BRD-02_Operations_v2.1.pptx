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 id="876" r:id="rId628"/>
    <p:sldId id="877" r:id="rId629"/>
    <p:sldId id="878" r:id="rId630"/>
    <p:sldId id="879" r:id="rId631"/>
    <p:sldId id="880" r:id="rId632"/>
    <p:sldId id="881" r:id="rId633"/>
    <p:sldId id="882" r:id="rId634"/>
    <p:sldId id="883" r:id="rId635"/>
    <p:sldId id="884" r:id="rId636"/>
    <p:sldId id="885" r:id="rId637"/>
    <p:sldId id="886" r:id="rId638"/>
    <p:sldId id="887" r:id="rId639"/>
    <p:sldId id="888" r:id="rId640"/>
    <p:sldId id="889" r:id="rId641"/>
    <p:sldId id="890" r:id="rId642"/>
    <p:sldId id="891" r:id="rId643"/>
    <p:sldId id="892" r:id="rId644"/>
    <p:sldId id="893" r:id="rId645"/>
    <p:sldId id="894" r:id="rId646"/>
    <p:sldId id="895" r:id="rId647"/>
    <p:sldId id="896" r:id="rId648"/>
    <p:sldId id="897" r:id="rId649"/>
    <p:sldId id="898" r:id="rId650"/>
    <p:sldId id="899" r:id="rId651"/>
    <p:sldId id="900" r:id="rId652"/>
    <p:sldId id="901" r:id="rId653"/>
    <p:sldId id="902" r:id="rId654"/>
    <p:sldId id="903" r:id="rId655"/>
    <p:sldId id="904" r:id="rId656"/>
    <p:sldId id="905" r:id="rId657"/>
    <p:sldId id="906" r:id="rId658"/>
    <p:sldId id="907" r:id="rId659"/>
    <p:sldId id="908" r:id="rId660"/>
    <p:sldId id="909" r:id="rId661"/>
    <p:sldId id="910" r:id="rId662"/>
    <p:sldId id="911" r:id="rId663"/>
    <p:sldId id="912" r:id="rId664"/>
    <p:sldId id="913" r:id="rId665"/>
    <p:sldId id="914" r:id="rId666"/>
    <p:sldId id="915" r:id="rId667"/>
    <p:sldId id="916" r:id="rId668"/>
    <p:sldId id="917" r:id="rId669"/>
    <p:sldId id="918" r:id="rId670"/>
    <p:sldId id="919" r:id="rId671"/>
    <p:sldId id="920" r:id="rId672"/>
    <p:sldId id="921" r:id="rId6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 Id="rId628" Type="http://schemas.openxmlformats.org/officeDocument/2006/relationships/slide" Target="slides/slide621.xml"/><Relationship Id="rId629" Type="http://schemas.openxmlformats.org/officeDocument/2006/relationships/slide" Target="slides/slide622.xml"/><Relationship Id="rId630" Type="http://schemas.openxmlformats.org/officeDocument/2006/relationships/slide" Target="slides/slide623.xml"/><Relationship Id="rId631" Type="http://schemas.openxmlformats.org/officeDocument/2006/relationships/slide" Target="slides/slide624.xml"/><Relationship Id="rId632" Type="http://schemas.openxmlformats.org/officeDocument/2006/relationships/slide" Target="slides/slide625.xml"/><Relationship Id="rId633" Type="http://schemas.openxmlformats.org/officeDocument/2006/relationships/slide" Target="slides/slide626.xml"/><Relationship Id="rId634" Type="http://schemas.openxmlformats.org/officeDocument/2006/relationships/slide" Target="slides/slide627.xml"/><Relationship Id="rId635" Type="http://schemas.openxmlformats.org/officeDocument/2006/relationships/slide" Target="slides/slide628.xml"/><Relationship Id="rId636" Type="http://schemas.openxmlformats.org/officeDocument/2006/relationships/slide" Target="slides/slide629.xml"/><Relationship Id="rId637" Type="http://schemas.openxmlformats.org/officeDocument/2006/relationships/slide" Target="slides/slide630.xml"/><Relationship Id="rId638" Type="http://schemas.openxmlformats.org/officeDocument/2006/relationships/slide" Target="slides/slide631.xml"/><Relationship Id="rId639" Type="http://schemas.openxmlformats.org/officeDocument/2006/relationships/slide" Target="slides/slide632.xml"/><Relationship Id="rId640" Type="http://schemas.openxmlformats.org/officeDocument/2006/relationships/slide" Target="slides/slide633.xml"/><Relationship Id="rId641" Type="http://schemas.openxmlformats.org/officeDocument/2006/relationships/slide" Target="slides/slide634.xml"/><Relationship Id="rId642" Type="http://schemas.openxmlformats.org/officeDocument/2006/relationships/slide" Target="slides/slide635.xml"/><Relationship Id="rId643" Type="http://schemas.openxmlformats.org/officeDocument/2006/relationships/slide" Target="slides/slide636.xml"/><Relationship Id="rId644" Type="http://schemas.openxmlformats.org/officeDocument/2006/relationships/slide" Target="slides/slide637.xml"/><Relationship Id="rId645" Type="http://schemas.openxmlformats.org/officeDocument/2006/relationships/slide" Target="slides/slide638.xml"/><Relationship Id="rId646" Type="http://schemas.openxmlformats.org/officeDocument/2006/relationships/slide" Target="slides/slide639.xml"/><Relationship Id="rId647" Type="http://schemas.openxmlformats.org/officeDocument/2006/relationships/slide" Target="slides/slide640.xml"/><Relationship Id="rId648" Type="http://schemas.openxmlformats.org/officeDocument/2006/relationships/slide" Target="slides/slide641.xml"/><Relationship Id="rId649" Type="http://schemas.openxmlformats.org/officeDocument/2006/relationships/slide" Target="slides/slide642.xml"/><Relationship Id="rId650" Type="http://schemas.openxmlformats.org/officeDocument/2006/relationships/slide" Target="slides/slide643.xml"/><Relationship Id="rId651" Type="http://schemas.openxmlformats.org/officeDocument/2006/relationships/slide" Target="slides/slide644.xml"/><Relationship Id="rId652" Type="http://schemas.openxmlformats.org/officeDocument/2006/relationships/slide" Target="slides/slide645.xml"/><Relationship Id="rId653" Type="http://schemas.openxmlformats.org/officeDocument/2006/relationships/slide" Target="slides/slide646.xml"/><Relationship Id="rId654" Type="http://schemas.openxmlformats.org/officeDocument/2006/relationships/slide" Target="slides/slide647.xml"/><Relationship Id="rId655" Type="http://schemas.openxmlformats.org/officeDocument/2006/relationships/slide" Target="slides/slide648.xml"/><Relationship Id="rId656" Type="http://schemas.openxmlformats.org/officeDocument/2006/relationships/slide" Target="slides/slide649.xml"/><Relationship Id="rId657" Type="http://schemas.openxmlformats.org/officeDocument/2006/relationships/slide" Target="slides/slide650.xml"/><Relationship Id="rId658" Type="http://schemas.openxmlformats.org/officeDocument/2006/relationships/slide" Target="slides/slide651.xml"/><Relationship Id="rId659" Type="http://schemas.openxmlformats.org/officeDocument/2006/relationships/slide" Target="slides/slide652.xml"/><Relationship Id="rId660" Type="http://schemas.openxmlformats.org/officeDocument/2006/relationships/slide" Target="slides/slide653.xml"/><Relationship Id="rId661" Type="http://schemas.openxmlformats.org/officeDocument/2006/relationships/slide" Target="slides/slide654.xml"/><Relationship Id="rId662" Type="http://schemas.openxmlformats.org/officeDocument/2006/relationships/slide" Target="slides/slide655.xml"/><Relationship Id="rId663" Type="http://schemas.openxmlformats.org/officeDocument/2006/relationships/slide" Target="slides/slide656.xml"/><Relationship Id="rId664" Type="http://schemas.openxmlformats.org/officeDocument/2006/relationships/slide" Target="slides/slide657.xml"/><Relationship Id="rId665" Type="http://schemas.openxmlformats.org/officeDocument/2006/relationships/slide" Target="slides/slide658.xml"/><Relationship Id="rId666" Type="http://schemas.openxmlformats.org/officeDocument/2006/relationships/slide" Target="slides/slide659.xml"/><Relationship Id="rId667" Type="http://schemas.openxmlformats.org/officeDocument/2006/relationships/slide" Target="slides/slide660.xml"/><Relationship Id="rId668" Type="http://schemas.openxmlformats.org/officeDocument/2006/relationships/slide" Target="slides/slide661.xml"/><Relationship Id="rId669" Type="http://schemas.openxmlformats.org/officeDocument/2006/relationships/slide" Target="slides/slide662.xml"/><Relationship Id="rId670" Type="http://schemas.openxmlformats.org/officeDocument/2006/relationships/slide" Target="slides/slide663.xml"/><Relationship Id="rId671" Type="http://schemas.openxmlformats.org/officeDocument/2006/relationships/slide" Target="slides/slide664.xml"/><Relationship Id="rId672" Type="http://schemas.openxmlformats.org/officeDocument/2006/relationships/slide" Target="slides/slide665.xml"/><Relationship Id="rId673" Type="http://schemas.openxmlformats.org/officeDocument/2006/relationships/slide" Target="slides/slide6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1.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7.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0.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8.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6.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6.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7.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8.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3.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4.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9.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0.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5.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1.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6.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7.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8.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3.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4.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0.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1.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2.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7.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4.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5.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9.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0.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1.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6.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7.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2.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3.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7.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8.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3.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4.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5.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6.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7.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2.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3.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7.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9.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0.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1.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2.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3.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4.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5.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9.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0.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1.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2.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4.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5.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6.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7.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8.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9.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0.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1.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2.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3.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4.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7.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8.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0.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2.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3.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4.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5.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BRD-2 Operations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(Operations BRD v1.01 approval sheet p.184-185 of the file Operations_WS Addendum (Prepared by, Reviewed by, Approved by), with the input providers of the original sheet);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NAV-OP-02_menu.png.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menu entries in all; entries of the other BRDs: BRD-1: 17; BRD-3: 6; BRD-4: 10;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menu entries in all; entries of the other BRDs: BRD-1: 17; BRD-3: 6; BRD-4: 10;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NAV-OP-03_menu.png.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NAV-OP-04_menu.png.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NAV-OP-05_menu.png.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NAV-OP-06_menu.png.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18;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NAV-OP-07_menu.png.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19;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NAV-OP-08_menu.png.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menu entries in all; entries of the other BRDs: BRD-1: 14;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NAV-OP-11_menu.png.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BRD-1: 21; BRD-12: 7; BRD-3: 7; BRD-4: 12;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NAV-OP-12_menu.png.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BRD-3: 1; BRD-4: 10; BRD-5: 26;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NAV-OP-13_menu.png.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NAV-OP-13_menu.png.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12; BRD-3: 1; BRD-4: 10; BRD-5: 16;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NAV-OP-14_menu.png.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NAV-OP-14_menu.png.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BRD-4: 10; BRD-5: 16;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NAV-OP-15_menu.png.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NAV-OP-15_menu.png.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BRD-4: 10; BRD-5: 16;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menu entries in all; entries of the other BRDs: BRD-1: 19; BRD-10: 7; BRD-11: 4; BRD-13: 10; BRD-3: 10; BRD-4: 10; BRD-5: 51;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 Menu and landing page: NAV-OP-01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Team Leader / Head. Menu and landing page: NAV-OP-02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Remittance Processor. Menu and landing page: NAV-OP-03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Remittance Team Leader / Head. Menu and landing page: NAV-OP-04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Reconciliation Handler. Menu and landing page: NAV-OP-05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Processor. Menu and landing page: NAV-OP-06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Team Leader. Menu and landing page: NAV-OP-07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Receivables Handler. Menu and landing page: NAV-OP-08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Receivables Team Leader / Head. Menu and landing page: NAV-OP-09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Collection. Menu and landing page: NAV-OP-10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Team Leader / Unit Head (hold approver). Menu and landing page: NAV-OP-11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Menu and landing page: NAV-OP-12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Menu and landing page: NAV-OP-13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Processor (remittance deductions). Menu and landing page: NAV-OP-14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Team Leader (confirms deductions). Menu and landing page: NAV-OP-15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NAV-OP-16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NAV-OP-17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Production Reconciliation: the invoice is on the next production register of the insurer and is matched with the insurer's feedback.; Accounting (BRD-5): the journals of the receipt, the application and the remittance are in General Ledger › Journals; the payment request is paid through the Disbursement module when it replaces the queue.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Processing (books the accounts): Opens the account from Ready to Book, checks the invoice and the journal preview and clicks Book Account</a:t>
            </a:r>
          </a:p>
          <a:p>
            <a:r>
              <a:t>2. Cashier: Searches the ARN on Invoice Search</a:t>
            </a:r>
          </a:p>
          <a:p>
            <a:r>
              <a:t>3. Cashier: Opens Receive Payment, enters the ARN, the payor, the amount paid and the payment date, and checks the preview</a:t>
            </a:r>
          </a:p>
          <a:p>
            <a:r>
              <a:t>4. Cashier: Clicks Issue AR and Apply</a:t>
            </a:r>
          </a:p>
          <a:p>
            <a:r>
              <a:t>5. Remittance Processor: Enters the invoice number on Extraction and clicks Run Extraction, then opens the run</a:t>
            </a:r>
          </a:p>
          <a:p>
            <a:r>
              <a:t>6. Remittance Processor: Opens the batch, checks the totals strip and the account, clicks Preview and Submit and submits the batch</a:t>
            </a:r>
          </a:p>
          <a:p>
            <a:r>
              <a:t>7. Remittance Team Leader / Head: Opens the batch from For Approval and clicks Approve and Push</a:t>
            </a:r>
          </a:p>
          <a:p>
            <a:r>
              <a:t>8. Disbursement: Acknowledges the payment request and assigns the DV number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Remittance Processor: Uploads the insurer's schedule with its OR number and opens the upload run</a:t>
            </a:r>
          </a:p>
          <a:p>
            <a:r>
              <a:t>10. Remittance Processor: Opens Invoice 360 of the invoice, Remittances tab</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SCR-NB-29_wt-a-step-01.png.</a:t>
            </a:r>
          </a:p>
          <a:p>
            <a:r>
              <a:t>Persona does: Opens the account from Ready to Book, checks the invoice and the journal preview and clicks Book Account</a:t>
            </a:r>
          </a:p>
          <a:p>
            <a:r>
              <a:t>System does: Booked</a:t>
            </a:r>
          </a:p>
          <a:p>
            <a:r>
              <a:t>Shown: The Booked Invoice with its invoice number; the invoice is copied into the Operations ledger</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SCR-OP-02_wt-a-step-02.png.</a:t>
            </a:r>
          </a:p>
          <a:p>
            <a:r>
              <a:t>Persona does: Searches the ARN on Invoice Search</a:t>
            </a:r>
          </a:p>
          <a:p>
            <a:r>
              <a:t>System does: In the ledger</a:t>
            </a:r>
          </a:p>
          <a:p>
            <a:r>
              <a:t>Shown: The new invoice with its gross premium, outstanding premium, Unpaid and With Outstanding Balance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SCR-OP-08_wt-a-step-03.png.</a:t>
            </a:r>
          </a:p>
          <a:p>
            <a:r>
              <a:t>Persona does: Opens Receive Payment, enters the ARN, the payor, the amount paid and the payment date, and checks the preview</a:t>
            </a:r>
          </a:p>
          <a:p>
            <a:r>
              <a:t>System does: Preview</a:t>
            </a:r>
          </a:p>
          <a:p>
            <a:r>
              <a:t>Shown: Application Preview: Booked, the invoice with each component and the amount applied to it, Excess to Unapplied 0.00</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SCR-OP-10_wt-a-step-04.png.</a:t>
            </a:r>
          </a:p>
          <a:p>
            <a:r>
              <a:t>Persona does: Clicks Issue AR and Apply</a:t>
            </a:r>
          </a:p>
          <a:p>
            <a:r>
              <a:t>System does: AR issued and applied</a:t>
            </a:r>
          </a:p>
          <a:p>
            <a:r>
              <a:t>Shown: Message: &lt;AR&gt; issued and applied to 1 invoice(s); the receipt opens with its application by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SCR-OP-24_wt-a-step-05.png.</a:t>
            </a:r>
          </a:p>
          <a:p>
            <a:r>
              <a:t>Persona does: Enters the invoice number on Extraction and clicks Run Extraction, then opens the run</a:t>
            </a:r>
          </a:p>
          <a:p>
            <a:r>
              <a:t>System does: Extracted into a batch</a:t>
            </a:r>
          </a:p>
          <a:p>
            <a:r>
              <a:t>Shown: The run tags the invoice Extracted with its paid AR and the batch number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SCR-OP-26_wt-a-step-06.png.</a:t>
            </a:r>
          </a:p>
          <a:p>
            <a:r>
              <a:t>Persona does: Opens the batch, checks the totals strip and the account, clicks Preview and Submit and submits the batch</a:t>
            </a:r>
          </a:p>
          <a:p>
            <a:r>
              <a:t>System does: For approval</a:t>
            </a:r>
          </a:p>
          <a:p>
            <a:r>
              <a:t>Shown: The batch is For Approval; the history shows the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SCR-OP-26_wt-a-step-07.png.</a:t>
            </a:r>
          </a:p>
          <a:p>
            <a:r>
              <a:t>Persona does: Opens the batch from For Approval and clicks Approve and Push</a:t>
            </a:r>
          </a:p>
          <a:p>
            <a:r>
              <a:t>System does: Approved</a:t>
            </a:r>
          </a:p>
          <a:p>
            <a:r>
              <a:t>Shown: The batch is Approved - with Disbursement with its payment request and the commission OR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SCR-OP-36_wt-a-step-08.png.</a:t>
            </a:r>
          </a:p>
          <a:p>
            <a:r>
              <a:t>Persona does: Acknowledges the payment request and assigns the DV number</a:t>
            </a:r>
          </a:p>
          <a:p>
            <a:r>
              <a:t>System does: DV assigned</a:t>
            </a:r>
          </a:p>
          <a:p>
            <a:r>
              <a:t>Shown: The request is on the DV Assigned tab with its DV number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SCR-OP-27_wt-a-step-09.png.</a:t>
            </a:r>
          </a:p>
          <a:p>
            <a:r>
              <a:t>Persona does: Uploads the insurer's schedule with its OR number and opens the upload run</a:t>
            </a:r>
          </a:p>
          <a:p>
            <a:r>
              <a:t>System does: Insurer OR received</a:t>
            </a:r>
          </a:p>
          <a:p>
            <a:r>
              <a:t>Shown: Records Read 1, OR Matches Paid PR 1; the account shows the insurer OR as Matched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SCR-OP-03_wt-a-step-10.png.</a:t>
            </a:r>
          </a:p>
          <a:p>
            <a:r>
              <a:t>Persona does: Opens Invoice 360 of the invoice, Remittances tab</a:t>
            </a:r>
          </a:p>
          <a:p>
            <a:r>
              <a:t>System does: Closed</a:t>
            </a:r>
          </a:p>
          <a:p>
            <a:r>
              <a:t>Shown: Paid and Fully Remitted; the remittance batch of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Remittance: the pending negative adjustment keeps the invoice out of the extraction; the AR Insurer set up for the remitted premium is recovered from the insurer's next batch through a confirmed remittance deduction.; Accounting (BRD-5): the return invoice, the AR Insurer and the re-application journals are posted; the refund is paid through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Collection: Opens New Request, searches the policy number and ticks the invoice</a:t>
            </a:r>
          </a:p>
          <a:p>
            <a:r>
              <a:t>2. Marketing Collection: Chooses Financial – Change of Cover, Flat Cancellation, the reason, the effective date and the description, and clicks Recompute</a:t>
            </a:r>
          </a:p>
          <a:p>
            <a:r>
              <a:t>3. Marketing Collection: Clicks Submit for Validation</a:t>
            </a:r>
          </a:p>
          <a:p>
            <a:r>
              <a:t>4. Adjustment Processor: Opens the request from the workbench and clicks Validate</a:t>
            </a:r>
          </a:p>
          <a:p>
            <a:r>
              <a:t>5. Adjustment Team Leader: Opens the request and clicks Approve</a:t>
            </a:r>
          </a:p>
          <a:p>
            <a:r>
              <a:t>6. Adjustment Processor: Ticks the request on Posting Batches and clicks Post Selected</a:t>
            </a:r>
          </a:p>
          <a:p>
            <a:r>
              <a:t>7. Adjustment Processor: Opens the Policy Transactions tab of the request and the journal of the last transaction</a:t>
            </a:r>
          </a:p>
          <a:p>
            <a:r>
              <a:t>8. Cashier: Opens the unapplied payment left by the re-application, assigns a refund to the client and submits it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Cashiering Team Leader / Head: Opens the unapplied payment and clicks Approve</a:t>
            </a:r>
          </a:p>
          <a:p>
            <a:r>
              <a:t>10. Disbursement: Opens the Disbursement Queue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SCR-OP-38_wt-b-step-01.png.</a:t>
            </a:r>
          </a:p>
          <a:p>
            <a:r>
              <a:t>Persona does: Opens New Request, searches the policy number and ticks the invoice</a:t>
            </a:r>
          </a:p>
          <a:p>
            <a:r>
              <a:t>System does: Policy chosen</a:t>
            </a:r>
          </a:p>
          <a:p>
            <a:r>
              <a:t>Shown: The booked invoice with its policy number, ARN, assured, insurer, payment and lock; the policy details of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SCR-OP-38_wt-b-step-02.png.</a:t>
            </a:r>
          </a:p>
          <a:p>
            <a:r>
              <a:t>Persona does: Chooses Financial – Change of Cover, Flat Cancellation, the reason, the effective date and the description, and clicks Recompute</a:t>
            </a:r>
          </a:p>
          <a:p>
            <a:r>
              <a:t>System does: Recomputed</a:t>
            </a:r>
          </a:p>
          <a:p>
            <a:r>
              <a:t>Shown: Recompute &amp; Submit: the premium and commission change, before and after per component and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SCR-OP-39_wt-b-step-03.png.</a:t>
            </a:r>
          </a:p>
          <a:p>
            <a:r>
              <a:t>Persona does: Clicks Submit for Validation</a:t>
            </a:r>
          </a:p>
          <a:p>
            <a:r>
              <a:t>System does: For validation</a:t>
            </a:r>
          </a:p>
          <a:p>
            <a:r>
              <a:t>Shown: The request opens For Validation with the Policy No., ARN and Invoice chips; the invoice is locked by Adjustment</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SCR-OP-39_wt-b-step-04.png.</a:t>
            </a:r>
          </a:p>
          <a:p>
            <a:r>
              <a:t>Persona does: Opens the request from the workbench and clicks Validate</a:t>
            </a:r>
          </a:p>
          <a:p>
            <a:r>
              <a:t>System does: Validated</a:t>
            </a:r>
          </a:p>
          <a:p>
            <a:r>
              <a:t>Shown: The request is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SCR-OP-39_wt-b-step-05.png.</a:t>
            </a:r>
          </a:p>
          <a:p>
            <a:r>
              <a:t>Persona does: Opens the request and clicks Approve</a:t>
            </a:r>
          </a:p>
          <a:p>
            <a:r>
              <a:t>System does: Approved</a:t>
            </a:r>
          </a:p>
          <a:p>
            <a:r>
              <a:t>Shown: The request is For Posting</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SCR-OP-40_wt-b-step-06.png.</a:t>
            </a:r>
          </a:p>
          <a:p>
            <a:r>
              <a:t>Persona does: Ticks the request on Posting Batches and clicks Post Selected</a:t>
            </a:r>
          </a:p>
          <a:p>
            <a:r>
              <a:t>System does: Posted</a:t>
            </a:r>
          </a:p>
          <a:p>
            <a:r>
              <a:t>Shown: The batch result: the request Posted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SCR-OP-39_wt-b-step-07.png.</a:t>
            </a:r>
          </a:p>
          <a:p>
            <a:r>
              <a:t>Persona does: Opens the Policy Transactions tab of the request and the journal of the last transaction</a:t>
            </a:r>
          </a:p>
          <a:p>
            <a:r>
              <a:t>System does: Policy history</a:t>
            </a:r>
          </a:p>
          <a:p>
            <a:r>
              <a:t>Shown: The original booking, the cancellation with its premium, taxes and commission change and gross premium 0.00 after it, the refund of the excess payment to the client, and the journal lines of the re-applied payment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SCR-OP-39_wt-b-step-07.png.</a:t>
            </a:r>
          </a:p>
          <a:p>
            <a:r>
              <a:t>Persona does: Opens the Policy Transactions tab of the request and the journal of the last transaction</a:t>
            </a:r>
          </a:p>
          <a:p>
            <a:r>
              <a:t>System does: Policy history</a:t>
            </a:r>
          </a:p>
          <a:p>
            <a:r>
              <a:t>Shown: The original booking, the cancellation with its premium, taxes and commission change and gross premium 0.00 after it, the refund of the excess payment to the client, and the journal lines of the re-applied payment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SCR-OP-12_wt-b-step-08.png.</a:t>
            </a:r>
          </a:p>
          <a:p>
            <a:r>
              <a:t>Persona does: Opens the unapplied payment left by the re-application, assigns a refund to the client and submits it</a:t>
            </a:r>
          </a:p>
          <a:p>
            <a:r>
              <a:t>System does: Refund for approval</a:t>
            </a:r>
          </a:p>
          <a:p>
            <a:r>
              <a:t>Shown: The disposition is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SCR-OP-12_wt-b-step-09.png.</a:t>
            </a:r>
          </a:p>
          <a:p>
            <a:r>
              <a:t>Persona does: Opens the unapplied payment and clicks Approve</a:t>
            </a:r>
          </a:p>
          <a:p>
            <a:r>
              <a:t>System does: Refund approved</a:t>
            </a:r>
          </a:p>
          <a:p>
            <a:r>
              <a:t>Shown: The disposition is Completed and the balance 0.00; the refund is sent to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SCR-OP-36_wt-b-step-10.png.</a:t>
            </a:r>
          </a:p>
          <a:p>
            <a:r>
              <a:t>Persona does: Opens the Disbursement Queue</a:t>
            </a:r>
          </a:p>
          <a:p>
            <a:r>
              <a:t>System does: Refund with Disbursement</a:t>
            </a:r>
          </a:p>
          <a:p>
            <a:r>
              <a:t>Shown: The refund request to the client in To Acknowledge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Cashiering: the commission OR requested by the collection is issued from the Head Office series.; New Business: when the unbooked policy is booked, the waiting insurer-only line is matched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Commission Receivables Handler: Opens the billing, clicks Record Answers, marks the account Approved and saves</a:t>
            </a:r>
          </a:p>
          <a:p>
            <a:r>
              <a:t>2. Commission Receivables Handler: Clicks Record Collection with the collection date and the bank account</a:t>
            </a:r>
          </a:p>
          <a:p>
            <a:r>
              <a:t>3. Commission Receivables Handler: Opens Invoice 360 of the direct payment invoice, Movements tab</a:t>
            </a:r>
          </a:p>
          <a:p>
            <a:r>
              <a:t>4. Production Reconciliation Handler: Opens the cycle, the With Discrepancy item, and records the company concerned, the disposition and the feedback</a:t>
            </a:r>
          </a:p>
          <a:p>
            <a:r>
              <a:t>5. Production Reconciliation Handler: Selects the insurer-only item and sets its disposition</a:t>
            </a:r>
          </a:p>
          <a:p>
            <a:r>
              <a:t>6. Production Reconciliation Handler: Opens Unbooked Accounts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SCR-OP-54_wt-c-step-01.png.</a:t>
            </a:r>
          </a:p>
          <a:p>
            <a:r>
              <a:t>Persona does: Opens the billing, clicks Record Answers, marks the account Approved and saves</a:t>
            </a:r>
          </a:p>
          <a:p>
            <a:r>
              <a:t>System does: Insurer approved</a:t>
            </a:r>
          </a:p>
          <a:p>
            <a:r>
              <a:t>Shown: The billing is Approved by Insurer - to Collect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SCR-OP-54_wt-c-step-02.png.</a:t>
            </a:r>
          </a:p>
          <a:p>
            <a:r>
              <a:t>Persona does: Clicks Record Collection with the collection date and the bank account</a:t>
            </a:r>
          </a:p>
          <a:p>
            <a:r>
              <a:t>System does: Collected</a:t>
            </a:r>
          </a:p>
          <a:p>
            <a:r>
              <a:t>Shown: The billing is Closed - PR Reversed with the commission OR</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SCR-OP-03_wt-c-step-03.png.</a:t>
            </a:r>
          </a:p>
          <a:p>
            <a:r>
              <a:t>Persona does: Opens Invoice 360 of the direct payment invoice, Movements tab</a:t>
            </a:r>
          </a:p>
          <a:p>
            <a:r>
              <a:t>System does: PR reversed</a:t>
            </a:r>
          </a:p>
          <a:p>
            <a:r>
              <a:t>Shown: The premium receivable reversal and the commission applied</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SCR-OP-03_wt-c-step-03.png.</a:t>
            </a:r>
          </a:p>
          <a:p>
            <a:r>
              <a:t>Persona does: Opens Invoice 360 of the direct payment invoice, Movements tab</a:t>
            </a:r>
          </a:p>
          <a:p>
            <a:r>
              <a:t>System does: PR reversed</a:t>
            </a:r>
          </a:p>
          <a:p>
            <a:r>
              <a:t>Shown: The premium receivable reversal and the commission applied</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SCR-OP-45_wt-c-step-04.png.</a:t>
            </a:r>
          </a:p>
          <a:p>
            <a:r>
              <a:t>Persona does: Opens the cycle, the With Discrepancy item, and records the company concerned, the disposition and the feedback</a:t>
            </a:r>
          </a:p>
          <a:p>
            <a:r>
              <a:t>System does: Feedback recorded</a:t>
            </a:r>
          </a:p>
          <a:p>
            <a:r>
              <a:t>Shown: The item review with the BDOI and insurer values side by side and the gross premium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SCR-OP-45_wt-c-step-04.png.</a:t>
            </a:r>
          </a:p>
          <a:p>
            <a:r>
              <a:t>Persona does: Opens the cycle, the With Discrepancy item, and records the company concerned, the disposition and the feedback</a:t>
            </a:r>
          </a:p>
          <a:p>
            <a:r>
              <a:t>System does: Feedback recorded</a:t>
            </a:r>
          </a:p>
          <a:p>
            <a:r>
              <a:t>Shown: The item review with the BDOI and insurer values side by side and the gross premium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SCR-OP-45_wt-c-step-05.png.</a:t>
            </a:r>
          </a:p>
          <a:p>
            <a:r>
              <a:t>Persona does: Selects the insurer-only item and sets its disposition</a:t>
            </a:r>
          </a:p>
          <a:p>
            <a:r>
              <a:t>System does: Disposition set</a:t>
            </a:r>
          </a:p>
          <a:p>
            <a:r>
              <a:t>Shown: The item Unmatched No Booking with its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SCR-OP-48_wt-c-step-06.png.</a:t>
            </a:r>
          </a:p>
          <a:p>
            <a:r>
              <a:t>Persona does: Opens Unbooked Accounts</a:t>
            </a:r>
          </a:p>
          <a:p>
            <a:r>
              <a:t>System does: Followed</a:t>
            </a:r>
          </a:p>
          <a:p>
            <a:r>
              <a:t>Shown: The policy the insurer reported, not booked by BDOI, with its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refusal leaves the record unchanged; the right user completes the action.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Team Leader / Unit Head (hold approver): Marketing Collection raises a hold on the invoice with its reason and hold-until date; the Marketing Team Leader opens it and clicks Approve hold</a:t>
            </a:r>
          </a:p>
          <a:p>
            <a:r>
              <a:t>2. Marketing Collection: Searches on New Request the invoice that is in the remittance batch for approval</a:t>
            </a:r>
          </a:p>
          <a:p>
            <a:r>
              <a:t>3. Cashier: Opens a receipt, clicks Cancel Receipt, chooses the reason and submits the cancellation</a:t>
            </a:r>
          </a:p>
          <a:p>
            <a:r>
              <a:t>4. Cashiering Team Leader / Head: Opens the receipt and clicks Approve and Post</a:t>
            </a:r>
          </a:p>
          <a:p>
            <a:r>
              <a:t>5. Remittance Team Leader / Head: Submits the batch in review for approval, then tries to approve it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SCR-OP-29_wt-d-step-01.png.</a:t>
            </a:r>
          </a:p>
          <a:p>
            <a:r>
              <a:t>Persona does: Marketing Collection raises a hold on the invoice with its reason and hold-until date; the Marketing Team Leader opens it and clicks Approve hold</a:t>
            </a:r>
          </a:p>
          <a:p>
            <a:r>
              <a:t>System does: Hold approved</a:t>
            </a:r>
          </a:p>
          <a:p>
            <a:r>
              <a:t>Shown: The hold is On Hold; the invoice is flagged On Hold and stays out of the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SCR-OP-38_wt-d-step-02.png.</a:t>
            </a:r>
          </a:p>
          <a:p>
            <a:r>
              <a:t>Persona does: Searches on New Request the invoice that is in the remittance batch for approval</a:t>
            </a:r>
          </a:p>
          <a:p>
            <a:r>
              <a:t>System does: Refused</a:t>
            </a:r>
          </a:p>
          <a:p>
            <a:r>
              <a:t>Shown: The invoice reads Locked by Remittance and cannot be selected; a request on it is refused with the message Invoice &lt;invoice&gt; is locked by Remittance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SCR-OP-10_wt-d-step-03.png.</a:t>
            </a:r>
          </a:p>
          <a:p>
            <a:r>
              <a:t>Persona does: Opens a receipt, clicks Cancel Receipt, chooses the reason and submits the cancellation</a:t>
            </a:r>
          </a:p>
          <a:p>
            <a:r>
              <a:t>System does: Cancellation requested</a:t>
            </a:r>
          </a:p>
          <a:p>
            <a:r>
              <a:t>Shown: The receipt shows the cancellation For Approval in its workflow header</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SCR-OP-10_wt-d-step-04.png.</a:t>
            </a:r>
          </a:p>
          <a:p>
            <a:r>
              <a:t>Persona does: Opens the receipt and clicks Approve and Post</a:t>
            </a:r>
          </a:p>
          <a:p>
            <a:r>
              <a:t>System does: Cancelled</a:t>
            </a:r>
          </a:p>
          <a:p>
            <a:r>
              <a:t>Shown: The receipt is Cancelled; its unapplied balance is closed</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SCR-OP-26_wt-d-step-05.png.</a:t>
            </a:r>
          </a:p>
          <a:p>
            <a:r>
              <a:t>Persona does: Submits the batch in review for approval, then tries to approve it</a:t>
            </a:r>
          </a:p>
          <a:p>
            <a:r>
              <a:t>System does: Refused</a:t>
            </a:r>
          </a:p>
          <a:p>
            <a:r>
              <a:t>Shown: Message: Batch &lt;batch&gt; must be approved by another user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SCR-OP-01: SCR-OP-01_home.png, SCR-OP-01_home-tl.png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SCR-OP-02: SCR-OP-02_list.png, SCR-OP-02_filters.png, SCR-OP-02_wt-a-step-02.png, SCR-OP-02_empty.png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SCR-OP-02_empty.png; FRS section 13.1.2.</a:t>
            </a:r>
          </a:p>
          <a:p>
            <a:r>
              <a:t>Personas: Cashier.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SCR-OP-03: SCR-OP-03_record.png, SCR-OP-03_transactions.png, SCR-OP-03_remittances.png, SCR-OP-03_movements.png, SCR-OP-03_wt-a-step-10.png, SCR-OP-03_wt-c-step-03.png, SCR-OP-03_auditor.png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SCR-OP-03_transactions.png;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SCR-OP-03_transactions.png;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SCR-OP-03_remittances.png;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SCR-OP-03_movements.png;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SCR-OP-03_movements.png;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SCR-OP-04: SCR-OP-04_extracts.png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SCR-OP-04_extracts.png; FRS section 13.1.4.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SCR-OP-04_extracts.png; FRS section 13.1.4.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SCR-OP-05: SCR-OP-05_list.png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SCR-OP-05_list.png; FRS section 13.1.5.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SCR-OP-05_list.png; FRS section 13.1.5.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SCR-OP-06: SCR-OP-06_list.png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SCR-OP-07: SCR-OP-07_home.png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SCR-OP-07_home.png; FRS section 13.2.1.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SCR-OP-08: SCR-OP-08_preview.png, SCR-OP-08_error.png, SCR-OP-08_wt-a-step-03.png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SCR-OP-09: SCR-OP-09_list.png, SCR-OP-09_actions.png, SCR-OP-09_issue-or.png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SCR-OP-09_actions.png; FRS section 13.2.3.</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SCR-OP-09_issue-or.png;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SCR-OP-10: SCR-OP-10_record.png, SCR-OP-10_cancel.png, SCR-OP-10_approval.png, SCR-OP-10_wt-a-step-04.png, SCR-OP-10_wt-d-step-03.png, SCR-OP-10_wt-d-step-04.png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SCR-OP-10_record.png; FRS section 13.2.4.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SCR-OP-10_cancel.png; FRS section 13.2.4.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SCR-OP-11: SCR-OP-11_list.png, SCR-OP-11_approval.png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SCR-OP-11_list.png; FRS section 13.2.5.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SCR-OP-11_list.png; FRS section 13.2.5.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SCR-OP-11_approval.png; FRS section 13.2.5.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SCR-OP-12: SCR-OP-12_record.png, SCR-OP-12_approval.png, SCR-OP-12_wt-b-step-08.png, SCR-OP-12_wt-b-step-09.png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SCR-OP-12_approval.png; FRS section 13.2.6.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SCR-OP-12_approval.png; FRS section 13.2.6.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SCR-OP-13: SCR-OP-13_list.png, SCR-OP-13_accept.png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SCR-OP-13_list.png;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SCR-OP-13_accept.png;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SCR-OP-13_accept.png;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SCR-OP-14: SCR-OP-14_list.png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SCR-OP-14_list.png; FRS section 13.2.8.</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SCR-OP-15: SCR-OP-15_wizard.png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SCR-OP-15_wizard.png; FRS section 13.2.9.</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SCR-OP-15_wizard.png; FRS section 13.2.9.</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SCR-OP-16: SCR-OP-16_list.png, SCR-OP-16_add.png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SCR-OP-16_list.png; FRS section 13.2.10.</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SCR-OP-16_add.png; FRS section 13.2.10.</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SCR-OP-18: SCR-OP-18_list.png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SCR-OP-19: SCR-OP-19_list.png, SCR-OP-19_tag.png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SCR-OP-19_list.png; FRS section 13.2.12.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SCR-OP-19_tag.png; FRS section 13.2.12.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SCR-OP-19_tag.png; FRS section 13.2.12.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SCR-OP-20: SCR-OP-20_page.png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SCR-OP-21: SCR-OP-21_list.png, SCR-OP-21_new.png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SCR-OP-21_list.png; FRS section 13.2.14.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SCR-OP-21_new.png; FRS section 13.2.14.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SCR-OP-22: SCR-OP-22_layouts.png, SCR-OP-22_minimal.png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SCR-OP-22_layouts.png; FRS section 13.2.15.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SCR-OP-22_layouts.png; FRS section 13.2.15.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SCR-OP-22_minimal.png; FRS section 13.2.15.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SCR-OP-23: SCR-OP-23_home.png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SCR-OP-23_home.png; FRS section 13.3.1.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SCR-OP-24: SCR-OP-24_list.png, SCR-OP-24_tags.png, SCR-OP-24_wt-a-step-05.png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SCR-OP-24_list.png;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SCR-OP-24_list.png;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SCR-OP-24_tags.png;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SCR-OP-25: SCR-OP-25_list.png, SCR-OP-25_approval.png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SCR-OP-25_list.png; FRS section 13.3.3.</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SCR-OP-25_approval.png; FRS section 13.3.3.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SCR-OP-26: SCR-OP-26_review.png, SCR-OP-26_preview.png, SCR-OP-26_closed.png, SCR-OP-26_documents.png, SCR-OP-26_wt-a-step-06.png, SCR-OP-26_wt-a-step-07.png, SCR-OP-26_wt-d-step-05.png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SCR-OP-26_preview.png;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SCR-OP-26_documents.png;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SCR-OP-27: SCR-OP-27_page.png, SCR-OP-27_run.png, SCR-OP-27_wt-a-step-09.png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SCR-OP-27_page.png;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SCR-OP-27_page.png;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SCR-OP-28: SCR-OP-28_list.png, SCR-OP-28_new.png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SCR-OP-28_new.png; FRS section 13.3.6.</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SCR-OP-28_new.png; FRS section 13.3.6.</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SCR-OP-28_list.png; FRS section 13.3.6.</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SCR-OP-29: SCR-OP-29_approval.png, SCR-OP-29_wt-d-step-01.png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SCR-OP-29_approval.png; FRS section 13.3.7.</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SCR-OP-29_approval.png; FRS section 13.3.7.</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SCR-OP-30: SCR-OP-30_list.png, SCR-OP-30_new.png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SCR-OP-30_new.png; FRS section 13.3.8.</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SCR-OP-30_list.png; FRS section 13.3.8.</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SCR-OP-31: SCR-OP-31_record.png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SCR-OP-31_record.png; FRS section 13.3.9.</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SCR-OP-31_record.png; FRS section 13.3.9.</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SCR-OP-32: SCR-OP-32_list.png, SCR-OP-32_batches.png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SCR-OP-32_batches.png;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SCR-OP-33: SCR-OP-33_list.png, SCR-OP-33_new.png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SCR-OP-33_list.png; FRS section 13.3.11.</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SCR-OP-33_new.png; FRS section 13.3.11.</a:t>
            </a:r>
          </a:p>
          <a:p>
            <a:r>
              <a:t>Personas: ACSL Processor (remittance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SCR-OP-33_new.png; FRS section 13.3.11.</a:t>
            </a:r>
          </a:p>
          <a:p>
            <a:r>
              <a:t>Personas: ACSL Processor (remittance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SCR-OP-34: SCR-OP-34_record.png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SCR-OP-35: SCR-OP-35_list.png, SCR-OP-35_new.png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SCR-OP-35_list.png; FRS section 13.3.13.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SCR-OP-35_new.png; FRS section 13.3.13.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SCR-OP-36: SCR-OP-36_list.png, SCR-OP-36_dv.png, SCR-OP-36_wt-a-step-08.png, SCR-OP-36_wt-b-step-10.png, SCR-OP-36_actions.png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SCR-OP-36_list.png; FRS section 13.3.14.</a:t>
            </a:r>
          </a:p>
          <a:p>
            <a:r>
              <a:t>Personas: Disbursement.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SCR-OP-36_actions.png; FRS section 13.3.14.</a:t>
            </a:r>
          </a:p>
          <a:p>
            <a:r>
              <a:t>Personas: Disbursement.</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SCR-OP-36_dv.png; FRS section 13.3.14.</a:t>
            </a:r>
          </a:p>
          <a:p>
            <a:r>
              <a:t>Personas: Disbursement.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SCR-OP-37: SCR-OP-37_list.png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SCR-OP-38: SCR-OP-38_policy.png, SCR-OP-38_request.png, SCR-OP-38_recompute.png, SCR-OP-38_error.png, SCR-OP-38_wt-b-step-01.png, SCR-OP-38_wt-b-step-02.png, SCR-OP-38_wt-d-step-02.png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SCR-OP-38_policy.png;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SCR-OP-38_policy.png;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SCR-OP-38_request.png;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SCR-OP-38_request.png;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SCR-OP-39: SCR-OP-39_approval.png, SCR-OP-39_policy.png, SCR-OP-39_accounting.png, SCR-OP-39_transactions.png, SCR-OP-39_wt-b-step-03.png, SCR-OP-39_wt-b-step-04.png, SCR-OP-39_wt-b-step-05.png, SCR-OP-39_wt-b-step-07.png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SCR-OP-39_policy.png;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SCR-OP-39_transactions.png;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SCR-OP-40: SCR-OP-40_ready.png, SCR-OP-40_posted.png, SCR-OP-40_wt-b-step-06.png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SCR-OP-40_ready.png; FRS section 13.4.4.</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SCR-OP-40_posted.png; FRS section 13.4.4.</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SCR-OP-41: SCR-OP-41_wizard.png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SCR-OP-41_wizard.png; FRS section 13.4.5.</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SCR-OP-41_wizard.png; FRS section 13.4.5.</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SCR-OP-42: SCR-OP-42_page.png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SCR-OP-43: SCR-OP-43_home.png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SCR-OP-43_home.png; FRS section 13.5.1.</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SCR-OP-44: SCR-OP-44_list.png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SCR-OP-44_list.png; FRS section 13.5.2.</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SCR-OP-45: SCR-OP-45_items.png, SCR-OP-45_review.png, SCR-OP-45_incentive.png, SCR-OP-45_wt-c-step-04.png, SCR-OP-45_wt-c-step-05.png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SCR-OP-45_items.png;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SCR-OP-45_items.png;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SCR-OP-45_incentive.png;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SCR-OP-46: SCR-OP-46_list.png, SCR-OP-46_new.png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SCR-OP-46_list.png; FRS section 13.5.4.</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SCR-OP-46_new.png; FRS section 13.5.4.</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SCR-OP-47: SCR-OP-47_list.png, SCR-OP-47_upload.png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SCR-OP-47_list.png; FRS section 13.5.5.</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SCR-OP-47_upload.png; FRS section 13.5.5.</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SCR-OP-48: SCR-OP-48_list.png, SCR-OP-48_wt-c-step-06.png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SCR-OP-48_list.png; FRS section 13.5.6.</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SCR-OP-49: SCR-OP-49_list.png, SCR-OP-49_new.png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SCR-OP-49_list.png; FRS section 13.5.7.</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SCR-OP-49_new.png; FRS section 13.5.7.</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SCR-OP-50: SCR-OP-50_home.png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SCR-OP-50_home.png; FRS section 13.6.1.</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SCR-OP-51: SCR-OP-51_list.png, SCR-OP-51_upload.png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SCR-OP-51_list.png; FRS section 13.6.2.</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SCR-OP-51_upload.png; FRS section 13.6.2.</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SCR-OP-52: SCR-OP-52_list.png, SCR-OP-52_account.png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SCR-OP-52_list.png;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SCR-OP-53: SCR-OP-53_list.png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SCR-OP-53_list.png; FRS section 13.6.4.</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SCR-OP-54: SCR-OP-54_awaiting.png, SCR-OP-54_answers.png, SCR-OP-54_wt-c-step-01.png, SCR-OP-54_wt-c-step-02.png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SCR-OP-54_answers.png;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SCR-OP-55: SCR-OP-55_list.png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SCR-OP-55_list.png; FRS section 13.6.6.</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SCR-OP-56: SCR-OP-56_list.png, SCR-OP-56_new.png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SCR-OP-56_list.png;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SCR-OP-56_new.png;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SCR-OP-56_new.png;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SCR-OP-57: SCR-OP-57_list.png, SCR-OP-57_compute.png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SCR-OP-57_list.png; FRS section 13.6.8.</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SCR-OP-57_compute.png; FRS section 13.6.8.</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SCR-OP-58: SCR-OP-58_list.png, SCR-OP-58_new.png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SCR-OP-58_list.png; FRS section 13.6.9.</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SCR-OP-58_new.png; FRS section 13.6.9.</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SCR-OP-59: SCR-OP-59_record.png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SCR-OP-59_record.png; FRS section 13.6.10.</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SCR-OP-59_record.png; FRS section 13.6.10.</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SCR-OP-60: SCR-OP-60_flag.png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SCR-OP-60_flag.png; FRS section 13.6.11.</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SCR-OP-61: SCR-OP-61_feeds.png, SCR-OP-61_runs.png, SCR-OP-61_replay.png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SCR-OP-61_runs.png;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SCR-OP-61_runs.png;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SCR-OP-61_replay.png;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SCR-OP-62: SCR-OP-62_list.png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SCR-OP-62_list.png; FRS section 13.7.2.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SCR-OP-63: SCR-OP-63_list.png, SCR-OP-63_auditor.png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SCR-OP-64: SCR-OP-64_record.png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Acknowledgement Receipt, AR number from the branch series and date – from the receipt; Received from: Payor, Payor code, Assured, Date, Class, Amount, Mode of payment, Check (bank and number), Status – from the receipt and its payment; Application: one row per invoice with the amount applied, and the amount left unapplied – from the application; Signature line: Cashier</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Title and reference: Official Receipt, OR number from the Head Office series and date – from the receipt; Received from: Payor (insurer or client), Payor code, Assured, Date, Class (service fee, commission, incentive), Amount, Mode of payment, Check, Status – from the receipt; Lines: one row per item (invoice and its commission) with Net, VAT and withholding tax – from the receipt lines; Signature line: Cashier</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Batch: Batch number, Insurer, Remittance type, Currency, Accounts, Processor, Stage – from the batch; Accounts remitted: Invoice Number, Policy Number, Endorsement Number, Name of Assured, Risk Code, Date Last Paid, Date Inception, Date Booked, Date Expiry, Paid AR, Realized Commission, Realized VAT, WTAX, DTIP, Net Due – from the batch lines; Totals: Paid AR, less realized commission, less VAT on commission, add withholding tax on commission, Net due, less incentive with VAT, Amount payable – from the batch; Request to the insurer to return the schedule with its official receipt number and date per account; signature lines Prepared by, Checked by,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Batch: Batch number, Insurer, Remittance type, Currency, Accounts, Processor, Stage – from the batch; Totals: Paid AR, realized commission, VAT, withholding tax, Net due, incentive, Amount payable – from the batch; Request text: amount payable, insurer, batch and approver – from the batch and its approval; Signature lines: Requested by, Approved by, Received by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Letter to the insurer: policy, assured, request number, effective date, invoice and ARN to quote – from the request; Request: Date, Endorsement Request No., Invoice No., Account Reference No., Endorsement Type, Request Type, Reason for Cancellation, Effective Date, Insurer Endorsement Ref., Description, Additional / Other Instructions – from the request; Policy: Assured, Insurer, Co-insurer/s, Policy No., Risk Code, Risk Description, Period of Cover, Marketing AO, Market Segment, Total Sum Insured, Sum Insured Change, Premium Rate (%), Approved by – from the invoice and the request; Collection and remittance: Payment Status, Amount Paid, Remaining AR, Remittance Status – from the Operations ledger</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Statement of the validation: request, invoice, validation date and stage – from the request; Request: the same fields as the endorsement slip – from the request; Validation: Status, Validated by, Validation Date, Approved by, Validation Batch No., Endorsement No., Invoice Booked, Service Invoices, AR Insurer – from the request and its posting; Before and after per premium component and commission (Before, Change, After) – from the recompute</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DO-07_document.png.</a:t>
            </a:r>
          </a:p>
          <a:p>
            <a:r>
              <a:t>Fields: One row per invoice of the booking period: Month of Production, Insurer, Invoice Number, Booking Date, Inception Date, Expiry Date, Policy No., Endorsement No., PN No., Assured Name, Risk Type, Basic Premium, Gross Commission, A/R Client, Gross Premium, Booked VAT, Amount Paid, Date Paid, AR / OR Number, Adjustment Type, Remittance Status, Incentive, Remarks – from the Operations ledger; The image shows a selection of the columns</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DO-08_document.png.</a:t>
            </a:r>
          </a:p>
          <a:p>
            <a:r>
              <a:t>Fields: One row per direct payment account: Billing No., Invoice No., Policy No., Assured Name, Premium, Commission, VAT, Withholding Tax, Net Commission – from the billing; Decision, Reason and Comment columns completed by the insurer (Approved or Rejected) and read back on Insurer Responses</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112.png"/><Relationship Id="rId7"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4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4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4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49.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4.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5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5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58.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5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6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6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6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6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6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7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7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76.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7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7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7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8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8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8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8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8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8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8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8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9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19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19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19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19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199.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0.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0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0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04.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06.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0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08.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0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10.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3.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1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1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16.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1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19.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0.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2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26.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2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28.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0.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1.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6.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39.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0.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3.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4.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6.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4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48.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50.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51.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4.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5.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8.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59.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1.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4.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5.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8.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9.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0.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1.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7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4.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5.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6.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8.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9.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0.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81.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8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4.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5.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6.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8.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9.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1.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9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3.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4.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5.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6.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8.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9.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0.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301.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30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303.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304.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5.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306.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30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8.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9.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10.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11.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1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3.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14.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15.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6.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18.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19.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20.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1.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2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23.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24.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5.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6.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2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28.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29.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30.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31.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3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33.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34.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35.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36.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8.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39.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40.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41.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4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43.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44.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45.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46.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8.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49.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50.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1.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5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53.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4.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55.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56.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5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8.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59.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0.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61.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3.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64.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65.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66.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6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68.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69.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70.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1.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7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73.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4.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75.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76.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8.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79.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0.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81.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8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3.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84.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5.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86.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8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8.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89.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90.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91.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9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3.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94.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5.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6.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9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98.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99.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400.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1.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40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3.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404.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405.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406.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408.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409.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0.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411.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41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3.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414.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15.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6.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1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8.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19.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20.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21.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2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23.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24.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5.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26.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28.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29.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30.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31.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3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33.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34.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35.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6.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3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38.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39.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40.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41.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4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43.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44.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1.png"/><Relationship Id="rId4" Type="http://schemas.openxmlformats.org/officeDocument/2006/relationships/notesSlide" Target="../notesSlides/notesSlide445.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2.png"/><Relationship Id="rId4" Type="http://schemas.openxmlformats.org/officeDocument/2006/relationships/notesSlide" Target="../notesSlides/notesSlide446.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3.png"/><Relationship Id="rId4" Type="http://schemas.openxmlformats.org/officeDocument/2006/relationships/notesSlide" Target="../notesSlides/notesSlide44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4.png"/><Relationship Id="rId4" Type="http://schemas.openxmlformats.org/officeDocument/2006/relationships/notesSlide" Target="../notesSlides/notesSlide448.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9.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0.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1.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3.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4.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5.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6.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8.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BRD-2 Operations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BRD-2 Operations: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08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BRD-2 Operations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63 screens, 189 screen images, 113 screen states, 17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08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358140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426720">
                <a:tc>
                  <a:txBody>
                    <a:bodyPr/>
                    <a:lstStyle/>
                    <a:p>
                      <a:r>
                        <a:rPr sz="1100" b="0">
                          <a:solidFill>
                            <a:srgbClr val="4B4B4B"/>
                          </a:solidFill>
                          <a:latin typeface="Arial"/>
                        </a:rPr>
                        <a:t>v2.1-01</a:t>
                      </a:r>
                    </a:p>
                  </a:txBody>
                  <a:tcPr marL="54864" marR="54864" marT="27432" marB="27432">
                    <a:solidFill>
                      <a:srgbClr val="FFFFFF"/>
                    </a:solidFill>
                  </a:tcPr>
                </a:tc>
                <a:tc>
                  <a:txBody>
                    <a:bodyPr/>
                    <a:lstStyle/>
                    <a:p>
                      <a:r>
                        <a:rPr sz="1100" b="0">
                          <a:solidFill>
                            <a:srgbClr val="4B4B4B"/>
                          </a:solidFill>
                          <a:latin typeface="Arial"/>
                        </a:rPr>
                        <a:t>Check pick-up removed from scope (CSHID.009): the Check Pick-up screen is withdrawn and the Check Pick-ups Due tile of the Cashiering Workbench goes with it (FR-OP-017, CLR-OP-38)</a:t>
                      </a:r>
                    </a:p>
                  </a:txBody>
                  <a:tcPr marL="54864" marR="54864" marT="27432" marB="27432">
                    <a:solidFill>
                      <a:srgbClr val="FFFFFF"/>
                    </a:solidFill>
                  </a:tcPr>
                </a:tc>
                <a:tc>
                  <a:txBody>
                    <a:bodyPr/>
                    <a:lstStyle/>
                    <a:p>
                      <a:r>
                        <a:rPr sz="1100" b="0">
                          <a:solidFill>
                            <a:srgbClr val="4B4B4B"/>
                          </a:solidFill>
                          <a:latin typeface="Arial"/>
                        </a:rPr>
                        <a:t>SCR-OP-07</a:t>
                      </a:r>
                    </a:p>
                  </a:txBody>
                  <a:tcPr marL="54864" marR="54864" marT="27432" marB="27432">
                    <a:solidFill>
                      <a:srgbClr val="FFFFFF"/>
                    </a:solidFill>
                  </a:tcPr>
                </a:tc>
                <a:tc>
                  <a:txBody>
                    <a:bodyPr/>
                    <a:lstStyle/>
                    <a:p>
                      <a:r>
                        <a:rPr sz="1100" b="0">
                          <a:solidFill>
                            <a:srgbClr val="4B4B4B"/>
                          </a:solidFill>
                          <a:latin typeface="Arial"/>
                        </a:rPr>
                        <a:t>1</a:t>
                      </a:r>
                    </a:p>
                  </a:txBody>
                  <a:tcPr marL="54864" marR="54864" marT="27432" marB="27432">
                    <a:solidFill>
                      <a:srgbClr val="FFFFFF"/>
                    </a:solidFill>
                  </a:tcPr>
                </a:tc>
              </a:tr>
              <a:tr h="594360">
                <a:tc>
                  <a:txBody>
                    <a:bodyPr/>
                    <a:lstStyle/>
                    <a:p>
                      <a:r>
                        <a:rPr sz="1100" b="0">
                          <a:solidFill>
                            <a:srgbClr val="4B4B4B"/>
                          </a:solidFill>
                          <a:latin typeface="Arial"/>
                        </a:rPr>
                        <a:t>v2.1-02</a:t>
                      </a:r>
                    </a:p>
                  </a:txBody>
                  <a:tcPr marL="54864" marR="54864" marT="27432" marB="27432">
                    <a:solidFill>
                      <a:srgbClr val="E5F5FF"/>
                    </a:solidFill>
                  </a:tcPr>
                </a:tc>
                <a:tc>
                  <a:txBody>
                    <a:bodyPr/>
                    <a:lstStyle/>
                    <a:p>
                      <a:r>
                        <a:rPr sz="1100" b="0">
                          <a:solidFill>
                            <a:srgbClr val="4B4B4B"/>
                          </a:solidFill>
                          <a:latin typeface="Arial"/>
                        </a:rPr>
                        <a:t>PR 2307 reversal owned by Marketing Collection: Receive, Validate and Post Report and Route to Disbursement move from the Cashier to Marketing Collection, Settle in Cash is withdrawn and Release to Insurer posts nothing (FR-OP-113, 121; CLR-OP-40, 41)</a:t>
                      </a:r>
                    </a:p>
                  </a:txBody>
                  <a:tcPr marL="54864" marR="54864" marT="27432" marB="27432">
                    <a:solidFill>
                      <a:srgbClr val="E5F5FF"/>
                    </a:solidFill>
                  </a:tcPr>
                </a:tc>
                <a:tc>
                  <a:txBody>
                    <a:bodyPr/>
                    <a:lstStyle/>
                    <a:p>
                      <a:r>
                        <a:rPr sz="1100" b="0">
                          <a:solidFill>
                            <a:srgbClr val="4B4B4B"/>
                          </a:solidFill>
                          <a:latin typeface="Arial"/>
                        </a:rPr>
                        <a:t>SCR-OP-19, SCR-OP-36</a:t>
                      </a:r>
                    </a:p>
                  </a:txBody>
                  <a:tcPr marL="54864" marR="54864" marT="27432" marB="27432">
                    <a:solidFill>
                      <a:srgbClr val="E5F5FF"/>
                    </a:solidFill>
                  </a:tcPr>
                </a:tc>
                <a:tc>
                  <a:txBody>
                    <a:bodyPr/>
                    <a:lstStyle/>
                    <a:p>
                      <a:r>
                        <a:rPr sz="1100" b="0">
                          <a:solidFill>
                            <a:srgbClr val="4B4B4B"/>
                          </a:solidFill>
                          <a:latin typeface="Arial"/>
                        </a:rPr>
                        <a:t>7</a:t>
                      </a:r>
                    </a:p>
                  </a:txBody>
                  <a:tcPr marL="54864" marR="54864" marT="27432" marB="27432">
                    <a:solidFill>
                      <a:srgbClr val="E5F5FF"/>
                    </a:solidFill>
                  </a:tcPr>
                </a:tc>
              </a:tr>
              <a:tr h="426720">
                <a:tc>
                  <a:txBody>
                    <a:bodyPr/>
                    <a:lstStyle/>
                    <a:p>
                      <a:r>
                        <a:rPr sz="1100" b="0">
                          <a:solidFill>
                            <a:srgbClr val="4B4B4B"/>
                          </a:solidFill>
                          <a:latin typeface="Arial"/>
                        </a:rPr>
                        <a:t>v2.1-03</a:t>
                      </a:r>
                    </a:p>
                  </a:txBody>
                  <a:tcPr marL="54864" marR="54864" marT="27432" marB="27432">
                    <a:solidFill>
                      <a:srgbClr val="FFFFFF"/>
                    </a:solidFill>
                  </a:tcPr>
                </a:tc>
                <a:tc>
                  <a:txBody>
                    <a:bodyPr/>
                    <a:lstStyle/>
                    <a:p>
                      <a:r>
                        <a:rPr sz="1100" b="0">
                          <a:solidFill>
                            <a:srgbClr val="4B4B4B"/>
                          </a:solidFill>
                          <a:latin typeface="Arial"/>
                        </a:rPr>
                        <a:t>Minimal balances cleared when the payment is processed; the sweep becomes a safety net and minimal excess never reaches Unapplied Payments (FR-OP-023, CLR-OP-39)</a:t>
                      </a:r>
                    </a:p>
                  </a:txBody>
                  <a:tcPr marL="54864" marR="54864" marT="27432" marB="27432">
                    <a:solidFill>
                      <a:srgbClr val="FFFFFF"/>
                    </a:solidFill>
                  </a:tcPr>
                </a:tc>
                <a:tc>
                  <a:txBody>
                    <a:bodyPr/>
                    <a:lstStyle/>
                    <a:p>
                      <a:r>
                        <a:rPr sz="1100" b="0">
                          <a:solidFill>
                            <a:srgbClr val="4B4B4B"/>
                          </a:solidFill>
                          <a:latin typeface="Arial"/>
                        </a:rPr>
                        <a:t>SCR-OP-11, SCR-OP-22</a:t>
                      </a:r>
                    </a:p>
                  </a:txBody>
                  <a:tcPr marL="54864" marR="54864" marT="27432" marB="27432">
                    <a:solidFill>
                      <a:srgbClr val="FFFFFF"/>
                    </a:solidFill>
                  </a:tcPr>
                </a:tc>
                <a:tc>
                  <a:txBody>
                    <a:bodyPr/>
                    <a:lstStyle/>
                    <a:p>
                      <a:r>
                        <a:rPr sz="1100" b="0">
                          <a:solidFill>
                            <a:srgbClr val="4B4B4B"/>
                          </a:solidFill>
                          <a:latin typeface="Arial"/>
                        </a:rPr>
                        <a:t>4</a:t>
                      </a:r>
                    </a:p>
                  </a:txBody>
                  <a:tcPr marL="54864" marR="54864" marT="27432" marB="27432">
                    <a:solidFill>
                      <a:srgbClr val="FFFFFF"/>
                    </a:solidFill>
                  </a:tcPr>
                </a:tc>
              </a:tr>
              <a:tr h="426720">
                <a:tc>
                  <a:txBody>
                    <a:bodyPr/>
                    <a:lstStyle/>
                    <a:p>
                      <a:r>
                        <a:rPr sz="1100" b="0">
                          <a:solidFill>
                            <a:srgbClr val="4B4B4B"/>
                          </a:solidFill>
                          <a:latin typeface="Arial"/>
                        </a:rPr>
                        <a:t>v2.1-04</a:t>
                      </a:r>
                    </a:p>
                  </a:txBody>
                  <a:tcPr marL="54864" marR="54864" marT="27432" marB="27432">
                    <a:solidFill>
                      <a:srgbClr val="E5F5FF"/>
                    </a:solidFill>
                  </a:tcPr>
                </a:tc>
                <a:tc>
                  <a:txBody>
                    <a:bodyPr/>
                    <a:lstStyle/>
                    <a:p>
                      <a:r>
                        <a:rPr sz="1100" b="0">
                          <a:solidFill>
                            <a:srgbClr val="4B4B4B"/>
                          </a:solidFill>
                          <a:latin typeface="Arial"/>
                        </a:rPr>
                        <a:t>Remittance: pending financial endorsements block the extraction, extraction source kept, draft schedule before submission (FR-OP-030 to 034, CLR-OP-44 to 46)</a:t>
                      </a:r>
                    </a:p>
                  </a:txBody>
                  <a:tcPr marL="54864" marR="54864" marT="27432" marB="27432">
                    <a:solidFill>
                      <a:srgbClr val="E5F5FF"/>
                    </a:solidFill>
                  </a:tcPr>
                </a:tc>
                <a:tc>
                  <a:txBody>
                    <a:bodyPr/>
                    <a:lstStyle/>
                    <a:p>
                      <a:r>
                        <a:rPr sz="1100" b="0">
                          <a:solidFill>
                            <a:srgbClr val="4B4B4B"/>
                          </a:solidFill>
                          <a:latin typeface="Arial"/>
                        </a:rPr>
                        <a:t>SCR-OP-24, SCR-OP-26</a:t>
                      </a:r>
                    </a:p>
                  </a:txBody>
                  <a:tcPr marL="54864" marR="54864" marT="27432" marB="27432">
                    <a:solidFill>
                      <a:srgbClr val="E5F5FF"/>
                    </a:solidFill>
                  </a:tcPr>
                </a:tc>
                <a:tc>
                  <a:txBody>
                    <a:bodyPr/>
                    <a:lstStyle/>
                    <a:p>
                      <a:r>
                        <a:rPr sz="1100" b="0">
                          <a:solidFill>
                            <a:srgbClr val="4B4B4B"/>
                          </a:solidFill>
                          <a:latin typeface="Arial"/>
                        </a:rPr>
                        <a:t>10</a:t>
                      </a:r>
                    </a:p>
                  </a:txBody>
                  <a:tcPr marL="54864" marR="54864" marT="27432" marB="27432">
                    <a:solidFill>
                      <a:srgbClr val="E5F5FF"/>
                    </a:solidFill>
                  </a:tcPr>
                </a:tc>
              </a:tr>
              <a:tr h="426720">
                <a:tc>
                  <a:txBody>
                    <a:bodyPr/>
                    <a:lstStyle/>
                    <a:p>
                      <a:r>
                        <a:rPr sz="1100" b="0">
                          <a:solidFill>
                            <a:srgbClr val="4B4B4B"/>
                          </a:solidFill>
                          <a:latin typeface="Arial"/>
                        </a:rPr>
                        <a:t>v2.1-05</a:t>
                      </a:r>
                    </a:p>
                  </a:txBody>
                  <a:tcPr marL="54864" marR="54864" marT="27432" marB="27432">
                    <a:solidFill>
                      <a:srgbClr val="FFFFFF"/>
                    </a:solidFill>
                  </a:tcPr>
                </a:tc>
                <a:tc>
                  <a:txBody>
                    <a:bodyPr/>
                    <a:lstStyle/>
                    <a:p>
                      <a:r>
                        <a:rPr sz="1100" b="0">
                          <a:solidFill>
                            <a:srgbClr val="4B4B4B"/>
                          </a:solidFill>
                          <a:latin typeface="Arial"/>
                        </a:rPr>
                        <a:t>Early remittance incentive moved to Remittance (RMTID.041) and the peso-equivalent tolerance of the reconciliation (FR-OP-038, 075, 078; CLR-OP-47, 49)</a:t>
                      </a:r>
                    </a:p>
                  </a:txBody>
                  <a:tcPr marL="54864" marR="54864" marT="27432" marB="27432">
                    <a:solidFill>
                      <a:srgbClr val="FFFFFF"/>
                    </a:solidFill>
                  </a:tcPr>
                </a:tc>
                <a:tc>
                  <a:txBody>
                    <a:bodyPr/>
                    <a:lstStyle/>
                    <a:p>
                      <a:r>
                        <a:rPr sz="1100" b="0">
                          <a:solidFill>
                            <a:srgbClr val="4B4B4B"/>
                          </a:solidFill>
                          <a:latin typeface="Arial"/>
                        </a:rPr>
                        <a:t>SCR-OP-35, SCR-OP-45</a:t>
                      </a:r>
                    </a:p>
                  </a:txBody>
                  <a:tcPr marL="54864" marR="54864" marT="27432" marB="27432">
                    <a:solidFill>
                      <a:srgbClr val="FFFFFF"/>
                    </a:solidFill>
                  </a:tcPr>
                </a:tc>
                <a:tc>
                  <a:txBody>
                    <a:bodyPr/>
                    <a:lstStyle/>
                    <a:p>
                      <a:r>
                        <a:rPr sz="1100" b="0">
                          <a:solidFill>
                            <a:srgbClr val="4B4B4B"/>
                          </a:solidFill>
                          <a:latin typeface="Arial"/>
                        </a:rPr>
                        <a:t>7</a:t>
                      </a:r>
                    </a:p>
                  </a:txBody>
                  <a:tcPr marL="54864" marR="54864" marT="27432" marB="27432">
                    <a:solidFill>
                      <a:srgbClr val="FFFFFF"/>
                    </a:solidFill>
                  </a:tcPr>
                </a:tc>
              </a:tr>
              <a:tr h="426720">
                <a:tc>
                  <a:txBody>
                    <a:bodyPr/>
                    <a:lstStyle/>
                    <a:p>
                      <a:r>
                        <a:rPr sz="1100" b="0">
                          <a:solidFill>
                            <a:srgbClr val="4B4B4B"/>
                          </a:solidFill>
                          <a:latin typeface="Arial"/>
                        </a:rPr>
                        <a:t>v2.1-06</a:t>
                      </a:r>
                    </a:p>
                  </a:txBody>
                  <a:tcPr marL="54864" marR="54864" marT="27432" marB="27432">
                    <a:solidFill>
                      <a:srgbClr val="E5F5FF"/>
                    </a:solidFill>
                  </a:tcPr>
                </a:tc>
                <a:tc>
                  <a:txBody>
                    <a:bodyPr/>
                    <a:lstStyle/>
                    <a:p>
                      <a:r>
                        <a:rPr sz="1100" b="0">
                          <a:solidFill>
                            <a:srgbClr val="4B4B4B"/>
                          </a:solidFill>
                          <a:latin typeface="Arial"/>
                        </a:rPr>
                        <a:t>Returned endorsement requests go to the Marketing owner of the account, with the return and resubmission history (FR-OP-053, CLR-OP-52)</a:t>
                      </a:r>
                    </a:p>
                  </a:txBody>
                  <a:tcPr marL="54864" marR="54864" marT="27432" marB="27432">
                    <a:solidFill>
                      <a:srgbClr val="E5F5FF"/>
                    </a:solidFill>
                  </a:tcPr>
                </a:tc>
                <a:tc>
                  <a:txBody>
                    <a:bodyPr/>
                    <a:lstStyle/>
                    <a:p>
                      <a:r>
                        <a:rPr sz="1100" b="0">
                          <a:solidFill>
                            <a:srgbClr val="4B4B4B"/>
                          </a:solidFill>
                          <a:latin typeface="Arial"/>
                        </a:rPr>
                        <a:t>SCR-OP-39</a:t>
                      </a:r>
                    </a:p>
                  </a:txBody>
                  <a:tcPr marL="54864" marR="54864" marT="27432" marB="27432">
                    <a:solidFill>
                      <a:srgbClr val="E5F5FF"/>
                    </a:solidFill>
                  </a:tcPr>
                </a:tc>
                <a:tc>
                  <a:txBody>
                    <a:bodyPr/>
                    <a:lstStyle/>
                    <a:p>
                      <a:r>
                        <a:rPr sz="1100" b="0">
                          <a:solidFill>
                            <a:srgbClr val="4B4B4B"/>
                          </a:solidFill>
                          <a:latin typeface="Arial"/>
                        </a:rPr>
                        <a:t>8</a:t>
                      </a:r>
                    </a:p>
                  </a:txBody>
                  <a:tcPr marL="54864" marR="54864" marT="27432" marB="27432">
                    <a:solidFill>
                      <a:srgbClr val="E5F5FF"/>
                    </a:solidFill>
                  </a:tcPr>
                </a:tc>
              </a:tr>
              <a:tr h="594360">
                <a:tc>
                  <a:txBody>
                    <a:bodyPr/>
                    <a:lstStyle/>
                    <a:p>
                      <a:r>
                        <a:rPr sz="1100" b="0">
                          <a:solidFill>
                            <a:srgbClr val="4B4B4B"/>
                          </a:solidFill>
                          <a:latin typeface="Arial"/>
                        </a:rPr>
                        <a:t>v2.1-07</a:t>
                      </a:r>
                    </a:p>
                  </a:txBody>
                  <a:tcPr marL="54864" marR="54864" marT="27432" marB="27432">
                    <a:solidFill>
                      <a:srgbClr val="FFFFFF"/>
                    </a:solidFill>
                  </a:tcPr>
                </a:tc>
                <a:tc>
                  <a:txBody>
                    <a:bodyPr/>
                    <a:lstStyle/>
                    <a:p>
                      <a:r>
                        <a:rPr sz="1100" b="0">
                          <a:solidFill>
                            <a:srgbClr val="4B4B4B"/>
                          </a:solidFill>
                          <a:latin typeface="Arial"/>
                        </a:rPr>
                        <a:t>Commission Receivables: DP entries from the tagging, read-only review, rule-based exclusion, eligibility from the fully paid status, statuses Valid, Invalid and Returned, Statement of Account, SLA incentives and invoice-level ageing (FR-OP-090 to 099, CLR-OP-54 to 62)</a:t>
                      </a:r>
                    </a:p>
                  </a:txBody>
                  <a:tcPr marL="54864" marR="54864" marT="27432" marB="27432">
                    <a:solidFill>
                      <a:srgbClr val="FFFFFF"/>
                    </a:solidFill>
                  </a:tcPr>
                </a:tc>
                <a:tc>
                  <a:txBody>
                    <a:bodyPr/>
                    <a:lstStyle/>
                    <a:p>
                      <a:r>
                        <a:rPr sz="1100" b="0">
                          <a:solidFill>
                            <a:srgbClr val="4B4B4B"/>
                          </a:solidFill>
                          <a:latin typeface="Arial"/>
                        </a:rPr>
                        <a:t>SCR-OP-51, SCR-OP-52, SCR-OP-53, SCR-OP-54, SCR-OP-56, SCR-OP-57, SCR-OP-60</a:t>
                      </a:r>
                    </a:p>
                  </a:txBody>
                  <a:tcPr marL="54864" marR="54864" marT="27432" marB="27432">
                    <a:solidFill>
                      <a:srgbClr val="FFFFFF"/>
                    </a:solidFill>
                  </a:tcPr>
                </a:tc>
                <a:tc>
                  <a:txBody>
                    <a:bodyPr/>
                    <a:lstStyle/>
                    <a:p>
                      <a:r>
                        <a:rPr sz="1100" b="0">
                          <a:solidFill>
                            <a:srgbClr val="4B4B4B"/>
                          </a:solidFill>
                          <a:latin typeface="Arial"/>
                        </a:rPr>
                        <a:t>14</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11480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 (Zean C. Ibay)</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Operations: Financial Transactions and Processing, BU representatives (Shirley Catapang, Perjelyn Joy Gutierrez)</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Cashiering, Remittance, Adjustment, Production Reconciliation and Commission Receivables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Marketing Head Office, Admin and Collections; BBG (Angel Lou R. Kabigting)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Marketing Collection items: holds, special remittances, the PR 2307 reversal, the direct payment tagging and the endorsement activities</a:t>
                      </a:r>
                    </a:p>
                  </a:txBody>
                  <a:tcPr marL="54864" marR="54864" marT="27432" marB="27432">
                    <a:solidFill>
                      <a:srgbClr val="E5F5FF"/>
                    </a:solidFill>
                  </a:tcPr>
                </a:tc>
              </a:tr>
              <a:tr h="22860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Comptrollership (Rodrigo R. Dela Cruz)</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accounting events, including the PR 2307 entry, and the BIR certificates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Collections and Marketing Support (Pia Grace M. Pinili)</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Marketing Collection items of the set, including the PR 2307 reversal and the direct payment tagging</a:t>
                      </a:r>
                    </a:p>
                  </a:txBody>
                  <a:tcPr marL="54864" marR="54864" marT="27432" marB="27432">
                    <a:solidFill>
                      <a:srgbClr val="E5F5FF"/>
                    </a:solidFill>
                  </a:tcPr>
                </a:tc>
              </a:tr>
              <a:tr h="50292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BDOI Information Technology Group (BDOI IT)</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Interfaces and scheduled runs, user access and menus, the Disbursement queue and the uploads that stand in for other systems, and the Technical Specification (a separate document); not the business screens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Program Manager, Enterprise Services Group - Business Project Services (BPS) (Dan Ace Cauton)</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Operations: Financial Transactions and Processing (Jose Melvin M. Jarin)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Operations screens, rules, messages, notifications, documents and accounting events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AVP (Shellah Marie C. Miranda)</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SCR-OP-10, SCR-OP-12, SCR-OP-26, SCR-OP-29, SCR-OP-31, SCR-OP-34, SCR-OP-39, SCR-OP-45, SCR-OP-54, SCR-OP-59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SCR-OP-08, SCR-OP-26, SCR-OP-38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SCR-OP-02, SCR-OP-09, SCR-OP-11, SCR-OP-25, SCR-OP-37, SCR-OP-44, SCR-OP-53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a:p>
            <a:pPr>
              <a:spcAft>
                <a:spcPts val="600"/>
              </a:spcAft>
            </a:pPr>
            <a:r>
              <a:rPr sz="1100">
                <a:solidFill>
                  <a:srgbClr val="004EA8"/>
                </a:solidFill>
                <a:latin typeface="Arial"/>
              </a:rPr>
              <a:t>•  </a:t>
            </a:r>
            <a:r>
              <a:rPr sz="1100">
                <a:solidFill>
                  <a:srgbClr val="4B4B4B"/>
                </a:solidFill>
                <a:latin typeface="Arial"/>
              </a:rPr>
              <a:t>In this set: SCR-OP-09, SCR-OP-14, SCR-OP-17, SCR-OP-19, SCR-OP-32, SCR-OP-36, SCR-OP-46, SCR-OP-61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SCR-OP-10, SCR-OP-26, SCR-OP-39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SCR-OP-02, SCR-OP-25, SCR-OP-36, SCR-OP-37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a:p>
            <a:pPr>
              <a:spcAft>
                <a:spcPts val="600"/>
              </a:spcAft>
            </a:pPr>
            <a:r>
              <a:rPr sz="1100">
                <a:solidFill>
                  <a:srgbClr val="004EA8"/>
                </a:solidFill>
                <a:latin typeface="Arial"/>
              </a:rPr>
              <a:t>•  </a:t>
            </a:r>
            <a:r>
              <a:rPr sz="1100">
                <a:solidFill>
                  <a:srgbClr val="4B4B4B"/>
                </a:solidFill>
                <a:latin typeface="Arial"/>
              </a:rPr>
              <a:t>In this set: SCR-OP-03, SCR-OP-62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SCR-OP-08, SCR-OP-38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SCR-OP-15, SCR-OP-27, SCR-OP-41, SCR-OP-47, SCR-OP-51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SCR-OP-03, SCR-OP-10, SCR-OP-26, SCR-OP-39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7853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On Hold or Pending Negative Adjustment on an invoice)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application of a receipt: Invoice, Component, Amount Applied);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Review in Process, With Outstanding Balance);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31699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r h="396240">
                <a:tc>
                  <a:txBody>
                    <a:bodyPr/>
                    <a:lstStyle/>
                    <a:p>
                      <a:r>
                        <a:rPr sz="1000" b="1">
                          <a:solidFill>
                            <a:srgbClr val="4B4B4B"/>
                          </a:solidFill>
                          <a:latin typeface="Arial"/>
                        </a:rPr>
                        <a:t>Period cell</a:t>
                      </a:r>
                    </a:p>
                  </a:txBody>
                  <a:tcPr marL="54864" marR="54864" marT="27432" marB="27432">
                    <a:solidFill>
                      <a:srgbClr val="E5F5FF"/>
                    </a:solidFill>
                  </a:tcPr>
                </a:tc>
                <a:tc>
                  <a:txBody>
                    <a:bodyPr/>
                    <a:lstStyle/>
                    <a:p>
                      <a:r>
                        <a:rPr sz="1000" b="0">
                          <a:solidFill>
                            <a:srgbClr val="4B4B4B"/>
                          </a:solidFill>
                          <a:latin typeface="Arial"/>
                        </a:rPr>
                        <a:t>A period (period of cover, FFY, production month range, hold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E5F5FF"/>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The page Cashier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Every group of the menu open (part 1 of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Every group of the menu open (part 2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entries of Operations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Receive Payment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Incoming Requests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Pre-booked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Payment Uploads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PDC Warehouse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Check Pick-up</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Batch Print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BIR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to Income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entries of Operations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Commission ORs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 Series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Cashiering Setup</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PR Legacy Reversal</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The page Cashiering Team Leader / Head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1.png"/>
          <p:cNvPicPr>
            <a:picLocks noChangeAspect="1"/>
          </p:cNvPicPr>
          <p:nvPr/>
        </p:nvPicPr>
        <p:blipFill>
          <a:blip r:embed="rId3"/>
          <a:stretch>
            <a:fillRect/>
          </a:stretch>
        </p:blipFill>
        <p:spPr>
          <a:xfrm>
            <a:off x="829665" y="1261872"/>
            <a:ext cx="2461641" cy="4671917"/>
          </a:xfrm>
          <a:prstGeom prst="rect">
            <a:avLst/>
          </a:prstGeom>
          <a:ln w="9525">
            <a:solidFill>
              <a:srgbClr val="C2C2C1"/>
            </a:solidFill>
          </a:ln>
        </p:spPr>
      </p:pic>
      <p:pic>
        <p:nvPicPr>
          <p:cNvPr id="11" name="Picture 10" descr="slice-0001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3.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14.png"/>
          <p:cNvPicPr>
            <a:picLocks noChangeAspect="1"/>
          </p:cNvPicPr>
          <p:nvPr/>
        </p:nvPicPr>
        <p:blipFill>
          <a:blip r:embed="rId6"/>
          <a:stretch>
            <a:fillRect/>
          </a:stretch>
        </p:blipFill>
        <p:spPr>
          <a:xfrm>
            <a:off x="8900388" y="1261872"/>
            <a:ext cx="2461641" cy="469358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Cashiering Team Leader / Head: menu entries of Operations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Receive Payment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Incoming Requests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Pre-booked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Payment Uploads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PDC Warehouse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Check Pick-up</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Batch Print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BIR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to Income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Cashiering Team Leader / Head: menu entries of Operations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Commission ORs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 Series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Cashiering Setup</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PR Legacy Reversal</a:t>
                      </a:r>
                    </a:p>
                  </a:txBody>
                  <a:tcPr marL="54864" marR="54864" marT="27432" marB="27432">
                    <a:solidFill>
                      <a:srgbClr val="E5F5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NAV-OP-03 The page Remittance Processor sees after sign-in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Processor: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7.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8.png"/>
          <p:cNvPicPr>
            <a:picLocks noChangeAspect="1"/>
          </p:cNvPicPr>
          <p:nvPr/>
        </p:nvPicPr>
        <p:blipFill>
          <a:blip r:embed="rId6"/>
          <a:stretch>
            <a:fillRect/>
          </a:stretch>
        </p:blipFill>
        <p:spPr>
          <a:xfrm>
            <a:off x="8900388" y="1261872"/>
            <a:ext cx="2461641" cy="342809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NAV-OP-03 Every group of the menu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Remittance Processor: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Extraction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Batches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Insurer OR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Holds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Special Remittance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DTIP Status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Incentive Rules</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NAV-OP-04 The page Remittance Team Leader / Head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Team Leader / Head: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1.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22.png"/>
          <p:cNvPicPr>
            <a:picLocks noChangeAspect="1"/>
          </p:cNvPicPr>
          <p:nvPr/>
        </p:nvPicPr>
        <p:blipFill>
          <a:blip r:embed="rId6"/>
          <a:stretch>
            <a:fillRect/>
          </a:stretch>
        </p:blipFill>
        <p:spPr>
          <a:xfrm>
            <a:off x="8900388" y="1261872"/>
            <a:ext cx="2461641" cy="377480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NAV-OP-04 Every group of the menu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Remittance Team Leader / Head: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Extraction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Batches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Insurer OR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Holds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Special Remittance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DTIP Status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Incentive Rules</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Production Reconciliation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NAV-OP-05 The page Production Reconciliation Handler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Production Reconciliation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6.png"/>
          <p:cNvPicPr>
            <a:picLocks noChangeAspect="1"/>
          </p:cNvPicPr>
          <p:nvPr/>
        </p:nvPicPr>
        <p:blipFill>
          <a:blip r:embed="rId6"/>
          <a:stretch>
            <a:fillRect/>
          </a:stretch>
        </p:blipFill>
        <p:spPr>
          <a:xfrm>
            <a:off x="8900388" y="1261872"/>
            <a:ext cx="2461641" cy="204992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NAV-OP-05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Production Reconciliation Handler: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Reconciliation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Reconciliation Cycles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Production Extracts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Insurer Feedback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Unbooked 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Extract Schedules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NAV-OP-06 The page Adjustment Processor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Processor: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9.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30.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NAV-OP-06 Every group of the menu open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Adjustment Processor: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Posting Batches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Batch Request Upload</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Minimal Balance File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 Home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Invoice Search</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NAV-OP-07 The page Adjustment Team Leader sees after sign-in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Team Leader: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13885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NAV-OP-07 Every group of the menu open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Adjustment Team Leader: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Posting Batches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Batch Request Upload</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Minimal Balance File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 Home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Invoice Search</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Receivables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NAV-OP-08 The page Commission Receivables Handler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Receivables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8.png"/>
          <p:cNvPicPr>
            <a:picLocks noChangeAspect="1"/>
          </p:cNvPicPr>
          <p:nvPr/>
        </p:nvPicPr>
        <p:blipFill>
          <a:blip r:embed="rId6"/>
          <a:stretch>
            <a:fillRect/>
          </a:stretch>
        </p:blipFill>
        <p:spPr>
          <a:xfrm>
            <a:off x="8900388" y="1261872"/>
            <a:ext cx="2461641" cy="464158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NAV-OP-08 Every group of the menu open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Handler: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Lists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Billings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Insurer Responses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Incentive Schemes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Incentive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PR Legacy Reversal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Estimated Items</a:t>
                      </a:r>
                    </a:p>
                  </a:txBody>
                  <a:tcPr marL="54864" marR="54864" marT="27432" marB="27432">
                    <a:solidFill>
                      <a:srgbClr val="E5F5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The page Commission Receivables Team Leader / Head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Every group of the menu open (part 1 of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3.png"/>
          <p:cNvPicPr>
            <a:picLocks noChangeAspect="1"/>
          </p:cNvPicPr>
          <p:nvPr/>
        </p:nvPicPr>
        <p:blipFill>
          <a:blip r:embed="rId3"/>
          <a:stretch>
            <a:fillRect/>
          </a:stretch>
        </p:blipFill>
        <p:spPr>
          <a:xfrm>
            <a:off x="4865027" y="1261872"/>
            <a:ext cx="2461641" cy="255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Every group of the menu open (part 2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Commission Receivables Team Leader / Head: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Lists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Billings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Insurer Responses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Incentive Schemes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Incentive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PR Legacy Reversal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Estimated Items</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The page Marketing Collection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4.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7.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Every group of the menu open (part 1 of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8.png"/>
          <p:cNvPicPr>
            <a:picLocks noChangeAspect="1"/>
          </p:cNvPicPr>
          <p:nvPr/>
        </p:nvPicPr>
        <p:blipFill>
          <a:blip r:embed="rId3"/>
          <a:stretch>
            <a:fillRect/>
          </a:stretch>
        </p:blipFill>
        <p:spPr>
          <a:xfrm>
            <a:off x="4865027" y="1261872"/>
            <a:ext cx="2461641" cy="2621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Every group of the menu open (part 2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Collection: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Holds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Special Remittance</a:t>
                      </a:r>
                    </a:p>
                  </a:txBody>
                  <a:tcPr marL="54864" marR="54864" marT="27432" marB="27432">
                    <a:solidFill>
                      <a:srgbClr val="E5F5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The page Marketing Team Leader / Unit Head (hold approver) sees after sign-in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Every group of the menu open (part 1 of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5.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56.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Every group of the menu open (part 2 of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Holds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Special Remittance</a:t>
                      </a:r>
                    </a:p>
                  </a:txBody>
                  <a:tcPr marL="54864" marR="54864" marT="27432" marB="27432">
                    <a:solidFill>
                      <a:srgbClr val="E5F5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The page Comptrollership sees after sign-in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8.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5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0.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Every group of the menu open (part 1 of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3.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64.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Every group of the menu open (part 2 of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The page Disbursement sees after sign-in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66.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6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8.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Every group of the menu open (part 1 of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9.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70.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Every group of the menu open (part 2 of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Disbursement Queue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The page ACSL Processor (remittance deductions) sees after sign-in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4.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Every group of the menu open (part 1 of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5.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Every group of the menu open (part 2 of 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Processor (remittance deductions):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The page ACSL Team Leader (confirms deductions) sees after sign-in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4.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Every group of the menu open (part 1 of 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5.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Every group of the menu open (part 2 of 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Team Leader (confirms deductions):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The page System Administrator sees after sign-in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8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1 of 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6.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8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2 of 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1.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92.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3 of 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Interfaces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The page Auditor sees after sign-in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3.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9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5.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9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1 of 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0.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2 of 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02.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10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3 of 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0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07.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108.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4 of 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 of the head office or of a branch who receives the payments of the clients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Receives payments, issues ARs (branch) and ORs (HO), uploads payment files, requests cancellations and reinstatements, assigns dispositions, prints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3, 4; WT-B steps 8; WT-D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SCR-OP-07 Cashiering Workbench</a:t>
            </a:r>
          </a:p>
          <a:p>
            <a:pPr>
              <a:spcAft>
                <a:spcPts val="600"/>
              </a:spcAft>
            </a:pPr>
            <a:r>
              <a:rPr sz="800">
                <a:solidFill>
                  <a:srgbClr val="004EA8"/>
                </a:solidFill>
                <a:latin typeface="Arial"/>
              </a:rPr>
              <a:t>•  </a:t>
            </a:r>
            <a:r>
              <a:rPr sz="800">
                <a:solidFill>
                  <a:srgbClr val="4B4B4B"/>
                </a:solidFill>
                <a:latin typeface="Arial"/>
              </a:rPr>
              <a:t>SCR-OP-08 Receive Payment</a:t>
            </a:r>
          </a:p>
          <a:p>
            <a:pPr>
              <a:spcAft>
                <a:spcPts val="600"/>
              </a:spcAft>
            </a:pPr>
            <a:r>
              <a:rPr sz="800">
                <a:solidFill>
                  <a:srgbClr val="004EA8"/>
                </a:solidFill>
                <a:latin typeface="Arial"/>
              </a:rPr>
              <a:t>•  </a:t>
            </a:r>
            <a:r>
              <a:rPr sz="800">
                <a:solidFill>
                  <a:srgbClr val="4B4B4B"/>
                </a:solidFill>
                <a:latin typeface="Arial"/>
              </a:rPr>
              <a:t>SCR-OP-09 Receipts</a:t>
            </a:r>
          </a:p>
          <a:p>
            <a:pPr>
              <a:spcAft>
                <a:spcPts val="600"/>
              </a:spcAft>
            </a:pPr>
            <a:r>
              <a:rPr sz="800">
                <a:solidFill>
                  <a:srgbClr val="004EA8"/>
                </a:solidFill>
                <a:latin typeface="Arial"/>
              </a:rPr>
              <a:t>•  </a:t>
            </a:r>
            <a:r>
              <a:rPr sz="800">
                <a:solidFill>
                  <a:srgbClr val="4B4B4B"/>
                </a:solidFill>
                <a:latin typeface="Arial"/>
              </a:rPr>
              <a:t>SCR-OP-10 Receipt</a:t>
            </a:r>
          </a:p>
          <a:p>
            <a:pPr>
              <a:spcAft>
                <a:spcPts val="600"/>
              </a:spcAft>
            </a:pPr>
            <a:r>
              <a:rPr sz="800">
                <a:solidFill>
                  <a:srgbClr val="004EA8"/>
                </a:solidFill>
                <a:latin typeface="Arial"/>
              </a:rPr>
              <a:t>•  </a:t>
            </a:r>
            <a:r>
              <a:rPr sz="800">
                <a:solidFill>
                  <a:srgbClr val="4B4B4B"/>
                </a:solidFill>
                <a:latin typeface="Arial"/>
              </a:rPr>
              <a:t>SCR-OP-11 Unapplied Payments</a:t>
            </a:r>
          </a:p>
          <a:p>
            <a:pPr>
              <a:spcAft>
                <a:spcPts val="600"/>
              </a:spcAft>
            </a:pPr>
            <a:r>
              <a:rPr sz="800">
                <a:solidFill>
                  <a:srgbClr val="004EA8"/>
                </a:solidFill>
                <a:latin typeface="Arial"/>
              </a:rPr>
              <a:t>•  </a:t>
            </a:r>
            <a:r>
              <a:rPr sz="800">
                <a:solidFill>
                  <a:srgbClr val="4B4B4B"/>
                </a:solidFill>
                <a:latin typeface="Arial"/>
              </a:rPr>
              <a:t>SCR-OP-12 Unapplied Payment</a:t>
            </a:r>
          </a:p>
          <a:p>
            <a:pPr>
              <a:spcAft>
                <a:spcPts val="600"/>
              </a:spcAft>
            </a:pPr>
            <a:r>
              <a:rPr sz="800">
                <a:solidFill>
                  <a:srgbClr val="004EA8"/>
                </a:solidFill>
                <a:latin typeface="Arial"/>
              </a:rPr>
              <a:t>•  </a:t>
            </a:r>
            <a:r>
              <a:rPr sz="800">
                <a:solidFill>
                  <a:srgbClr val="4B4B4B"/>
                </a:solidFill>
                <a:latin typeface="Arial"/>
              </a:rPr>
              <a:t>SCR-OP-13 Incoming Requests</a:t>
            </a:r>
          </a:p>
          <a:p>
            <a:pPr>
              <a:spcAft>
                <a:spcPts val="600"/>
              </a:spcAft>
            </a:pPr>
            <a:r>
              <a:rPr sz="800">
                <a:solidFill>
                  <a:srgbClr val="004EA8"/>
                </a:solidFill>
                <a:latin typeface="Arial"/>
              </a:rPr>
              <a:t>•  </a:t>
            </a:r>
            <a:r>
              <a:rPr sz="800">
                <a:solidFill>
                  <a:srgbClr val="4B4B4B"/>
                </a:solidFill>
                <a:latin typeface="Arial"/>
              </a:rPr>
              <a:t>SCR-OP-14 Pre-booked Payments</a:t>
            </a:r>
          </a:p>
          <a:p>
            <a:pPr>
              <a:spcAft>
                <a:spcPts val="600"/>
              </a:spcAft>
            </a:pPr>
            <a:r>
              <a:rPr sz="800">
                <a:solidFill>
                  <a:srgbClr val="004EA8"/>
                </a:solidFill>
                <a:latin typeface="Arial"/>
              </a:rPr>
              <a:t>•  </a:t>
            </a:r>
            <a:r>
              <a:rPr sz="800">
                <a:solidFill>
                  <a:srgbClr val="4B4B4B"/>
                </a:solidFill>
                <a:latin typeface="Arial"/>
              </a:rPr>
              <a:t>SCR-OP-15 Payment Uploads</a:t>
            </a:r>
          </a:p>
          <a:p>
            <a:pPr>
              <a:spcAft>
                <a:spcPts val="600"/>
              </a:spcAft>
            </a:pPr>
            <a:r>
              <a:rPr sz="800">
                <a:solidFill>
                  <a:srgbClr val="004EA8"/>
                </a:solidFill>
                <a:latin typeface="Arial"/>
              </a:rPr>
              <a:t>•  </a:t>
            </a:r>
            <a:r>
              <a:rPr sz="800">
                <a:solidFill>
                  <a:srgbClr val="4B4B4B"/>
                </a:solidFill>
                <a:latin typeface="Arial"/>
              </a:rPr>
              <a:t>SCR-OP-16 PDC Warehouse</a:t>
            </a:r>
          </a:p>
          <a:p>
            <a:pPr>
              <a:spcAft>
                <a:spcPts val="600"/>
              </a:spcAft>
            </a:pPr>
            <a:r>
              <a:rPr sz="800">
                <a:solidFill>
                  <a:srgbClr val="004EA8"/>
                </a:solidFill>
                <a:latin typeface="Arial"/>
              </a:rPr>
              <a:t>•  </a:t>
            </a:r>
            <a:r>
              <a:rPr sz="800">
                <a:solidFill>
                  <a:srgbClr val="4B4B4B"/>
                </a:solidFill>
                <a:latin typeface="Arial"/>
              </a:rPr>
              <a:t>SCR-OP-18 Batch Print</a:t>
            </a:r>
          </a:p>
          <a:p>
            <a:pPr>
              <a:spcAft>
                <a:spcPts val="600"/>
              </a:spcAft>
            </a:pPr>
            <a:r>
              <a:rPr sz="800">
                <a:solidFill>
                  <a:srgbClr val="004EA8"/>
                </a:solidFill>
                <a:latin typeface="Arial"/>
              </a:rPr>
              <a:t>•  </a:t>
            </a:r>
            <a:r>
              <a:rPr sz="800">
                <a:solidFill>
                  <a:srgbClr val="4B4B4B"/>
                </a:solidFill>
                <a:latin typeface="Arial"/>
              </a:rPr>
              <a:t>SCR-OP-19 BIR 2307</a:t>
            </a:r>
          </a:p>
          <a:p>
            <a:pPr>
              <a:spcAft>
                <a:spcPts val="600"/>
              </a:spcAft>
            </a:pPr>
            <a:r>
              <a:rPr sz="800">
                <a:solidFill>
                  <a:srgbClr val="004EA8"/>
                </a:solidFill>
                <a:latin typeface="Arial"/>
              </a:rPr>
              <a:t>•  </a:t>
            </a:r>
            <a:r>
              <a:rPr sz="800">
                <a:solidFill>
                  <a:srgbClr val="4B4B4B"/>
                </a:solidFill>
                <a:latin typeface="Arial"/>
              </a:rPr>
              <a:t>SCR-OP-20 Commission ORs</a:t>
            </a:r>
          </a:p>
          <a:p>
            <a:pPr>
              <a:spcAft>
                <a:spcPts val="600"/>
              </a:spcAft>
            </a:pPr>
            <a:r>
              <a:rPr sz="800">
                <a:solidFill>
                  <a:srgbClr val="004EA8"/>
                </a:solidFill>
                <a:latin typeface="Arial"/>
              </a:rPr>
              <a:t>•  </a:t>
            </a:r>
            <a:r>
              <a:rPr sz="800">
                <a:solidFill>
                  <a:srgbClr val="4B4B4B"/>
                </a:solidFill>
                <a:latin typeface="Arial"/>
              </a:rPr>
              <a:t>SCR-OP-21 Receipt Series</a:t>
            </a:r>
          </a:p>
          <a:p>
            <a:pPr>
              <a:spcAft>
                <a:spcPts val="600"/>
              </a:spcAft>
            </a:pPr>
            <a:r>
              <a:rPr sz="800">
                <a:solidFill>
                  <a:srgbClr val="004EA8"/>
                </a:solidFill>
                <a:latin typeface="Arial"/>
              </a:rPr>
              <a:t>•  </a:t>
            </a:r>
            <a:r>
              <a:rPr sz="800">
                <a:solidFill>
                  <a:srgbClr val="4B4B4B"/>
                </a:solidFill>
                <a:latin typeface="Arial"/>
              </a:rPr>
              <a:t>SCR-OP-22 Cashiering Setup</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Cashiering, who approves cancellations, reinstatements and dispositions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cancellations, reinstatements and dispositions; maintains receipt series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9; WT-D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SCR-OP-07 Cashiering Workbench</a:t>
            </a:r>
          </a:p>
          <a:p>
            <a:pPr>
              <a:spcAft>
                <a:spcPts val="600"/>
              </a:spcAft>
            </a:pPr>
            <a:r>
              <a:rPr sz="800">
                <a:solidFill>
                  <a:srgbClr val="004EA8"/>
                </a:solidFill>
                <a:latin typeface="Arial"/>
              </a:rPr>
              <a:t>•  </a:t>
            </a:r>
            <a:r>
              <a:rPr sz="800">
                <a:solidFill>
                  <a:srgbClr val="4B4B4B"/>
                </a:solidFill>
                <a:latin typeface="Arial"/>
              </a:rPr>
              <a:t>SCR-OP-08 Receive Payment</a:t>
            </a:r>
          </a:p>
          <a:p>
            <a:pPr>
              <a:spcAft>
                <a:spcPts val="600"/>
              </a:spcAft>
            </a:pPr>
            <a:r>
              <a:rPr sz="800">
                <a:solidFill>
                  <a:srgbClr val="004EA8"/>
                </a:solidFill>
                <a:latin typeface="Arial"/>
              </a:rPr>
              <a:t>•  </a:t>
            </a:r>
            <a:r>
              <a:rPr sz="800">
                <a:solidFill>
                  <a:srgbClr val="4B4B4B"/>
                </a:solidFill>
                <a:latin typeface="Arial"/>
              </a:rPr>
              <a:t>SCR-OP-09 Receipts</a:t>
            </a:r>
          </a:p>
          <a:p>
            <a:pPr>
              <a:spcAft>
                <a:spcPts val="600"/>
              </a:spcAft>
            </a:pPr>
            <a:r>
              <a:rPr sz="800">
                <a:solidFill>
                  <a:srgbClr val="004EA8"/>
                </a:solidFill>
                <a:latin typeface="Arial"/>
              </a:rPr>
              <a:t>•  </a:t>
            </a:r>
            <a:r>
              <a:rPr sz="800">
                <a:solidFill>
                  <a:srgbClr val="4B4B4B"/>
                </a:solidFill>
                <a:latin typeface="Arial"/>
              </a:rPr>
              <a:t>SCR-OP-10 Receipt</a:t>
            </a:r>
          </a:p>
          <a:p>
            <a:pPr>
              <a:spcAft>
                <a:spcPts val="600"/>
              </a:spcAft>
            </a:pPr>
            <a:r>
              <a:rPr sz="800">
                <a:solidFill>
                  <a:srgbClr val="004EA8"/>
                </a:solidFill>
                <a:latin typeface="Arial"/>
              </a:rPr>
              <a:t>•  </a:t>
            </a:r>
            <a:r>
              <a:rPr sz="800">
                <a:solidFill>
                  <a:srgbClr val="4B4B4B"/>
                </a:solidFill>
                <a:latin typeface="Arial"/>
              </a:rPr>
              <a:t>SCR-OP-11 Unapplied Payments</a:t>
            </a:r>
          </a:p>
          <a:p>
            <a:pPr>
              <a:spcAft>
                <a:spcPts val="600"/>
              </a:spcAft>
            </a:pPr>
            <a:r>
              <a:rPr sz="800">
                <a:solidFill>
                  <a:srgbClr val="004EA8"/>
                </a:solidFill>
                <a:latin typeface="Arial"/>
              </a:rPr>
              <a:t>•  </a:t>
            </a:r>
            <a:r>
              <a:rPr sz="800">
                <a:solidFill>
                  <a:srgbClr val="4B4B4B"/>
                </a:solidFill>
                <a:latin typeface="Arial"/>
              </a:rPr>
              <a:t>SCR-OP-12 Unapplied Payment</a:t>
            </a:r>
          </a:p>
          <a:p>
            <a:pPr>
              <a:spcAft>
                <a:spcPts val="600"/>
              </a:spcAft>
            </a:pPr>
            <a:r>
              <a:rPr sz="800">
                <a:solidFill>
                  <a:srgbClr val="004EA8"/>
                </a:solidFill>
                <a:latin typeface="Arial"/>
              </a:rPr>
              <a:t>•  </a:t>
            </a:r>
            <a:r>
              <a:rPr sz="800">
                <a:solidFill>
                  <a:srgbClr val="4B4B4B"/>
                </a:solidFill>
                <a:latin typeface="Arial"/>
              </a:rPr>
              <a:t>SCR-OP-13 Incoming Requests</a:t>
            </a:r>
          </a:p>
          <a:p>
            <a:pPr>
              <a:spcAft>
                <a:spcPts val="600"/>
              </a:spcAft>
            </a:pPr>
            <a:r>
              <a:rPr sz="800">
                <a:solidFill>
                  <a:srgbClr val="004EA8"/>
                </a:solidFill>
                <a:latin typeface="Arial"/>
              </a:rPr>
              <a:t>•  </a:t>
            </a:r>
            <a:r>
              <a:rPr sz="800">
                <a:solidFill>
                  <a:srgbClr val="4B4B4B"/>
                </a:solidFill>
                <a:latin typeface="Arial"/>
              </a:rPr>
              <a:t>SCR-OP-14 Pre-booked Payments</a:t>
            </a:r>
          </a:p>
          <a:p>
            <a:pPr>
              <a:spcAft>
                <a:spcPts val="600"/>
              </a:spcAft>
            </a:pPr>
            <a:r>
              <a:rPr sz="800">
                <a:solidFill>
                  <a:srgbClr val="004EA8"/>
                </a:solidFill>
                <a:latin typeface="Arial"/>
              </a:rPr>
              <a:t>•  </a:t>
            </a:r>
            <a:r>
              <a:rPr sz="800">
                <a:solidFill>
                  <a:srgbClr val="4B4B4B"/>
                </a:solidFill>
                <a:latin typeface="Arial"/>
              </a:rPr>
              <a:t>SCR-OP-15 Payment Uploads</a:t>
            </a:r>
          </a:p>
          <a:p>
            <a:pPr>
              <a:spcAft>
                <a:spcPts val="600"/>
              </a:spcAft>
            </a:pPr>
            <a:r>
              <a:rPr sz="800">
                <a:solidFill>
                  <a:srgbClr val="004EA8"/>
                </a:solidFill>
                <a:latin typeface="Arial"/>
              </a:rPr>
              <a:t>•  </a:t>
            </a:r>
            <a:r>
              <a:rPr sz="800">
                <a:solidFill>
                  <a:srgbClr val="4B4B4B"/>
                </a:solidFill>
                <a:latin typeface="Arial"/>
              </a:rPr>
              <a:t>SCR-OP-16 PDC Warehouse</a:t>
            </a:r>
          </a:p>
          <a:p>
            <a:pPr>
              <a:spcAft>
                <a:spcPts val="600"/>
              </a:spcAft>
            </a:pPr>
            <a:r>
              <a:rPr sz="800">
                <a:solidFill>
                  <a:srgbClr val="004EA8"/>
                </a:solidFill>
                <a:latin typeface="Arial"/>
              </a:rPr>
              <a:t>•  </a:t>
            </a:r>
            <a:r>
              <a:rPr sz="800">
                <a:solidFill>
                  <a:srgbClr val="4B4B4B"/>
                </a:solidFill>
                <a:latin typeface="Arial"/>
              </a:rPr>
              <a:t>SCR-OP-18 Batch Print</a:t>
            </a:r>
          </a:p>
          <a:p>
            <a:pPr>
              <a:spcAft>
                <a:spcPts val="600"/>
              </a:spcAft>
            </a:pPr>
            <a:r>
              <a:rPr sz="800">
                <a:solidFill>
                  <a:srgbClr val="004EA8"/>
                </a:solidFill>
                <a:latin typeface="Arial"/>
              </a:rPr>
              <a:t>•  </a:t>
            </a:r>
            <a:r>
              <a:rPr sz="800">
                <a:solidFill>
                  <a:srgbClr val="4B4B4B"/>
                </a:solidFill>
                <a:latin typeface="Arial"/>
              </a:rPr>
              <a:t>SCR-OP-19 BIR 2307</a:t>
            </a:r>
          </a:p>
          <a:p>
            <a:pPr>
              <a:spcAft>
                <a:spcPts val="600"/>
              </a:spcAft>
            </a:pPr>
            <a:r>
              <a:rPr sz="800">
                <a:solidFill>
                  <a:srgbClr val="004EA8"/>
                </a:solidFill>
                <a:latin typeface="Arial"/>
              </a:rPr>
              <a:t>•  </a:t>
            </a:r>
            <a:r>
              <a:rPr sz="800">
                <a:solidFill>
                  <a:srgbClr val="4B4B4B"/>
                </a:solidFill>
                <a:latin typeface="Arial"/>
              </a:rPr>
              <a:t>SCR-OP-20 Commission ORs</a:t>
            </a:r>
          </a:p>
          <a:p>
            <a:pPr>
              <a:spcAft>
                <a:spcPts val="600"/>
              </a:spcAft>
            </a:pPr>
            <a:r>
              <a:rPr sz="800">
                <a:solidFill>
                  <a:srgbClr val="004EA8"/>
                </a:solidFill>
                <a:latin typeface="Arial"/>
              </a:rPr>
              <a:t>•  </a:t>
            </a:r>
            <a:r>
              <a:rPr sz="800">
                <a:solidFill>
                  <a:srgbClr val="4B4B4B"/>
                </a:solidFill>
                <a:latin typeface="Arial"/>
              </a:rPr>
              <a:t>SCR-OP-21 Receipt Series</a:t>
            </a:r>
          </a:p>
          <a:p>
            <a:pPr>
              <a:spcAft>
                <a:spcPts val="600"/>
              </a:spcAft>
            </a:pPr>
            <a:r>
              <a:rPr sz="800">
                <a:solidFill>
                  <a:srgbClr val="004EA8"/>
                </a:solidFill>
                <a:latin typeface="Arial"/>
              </a:rPr>
              <a:t>•  </a:t>
            </a:r>
            <a:r>
              <a:rPr sz="800">
                <a:solidFill>
                  <a:srgbClr val="4B4B4B"/>
                </a:solidFill>
                <a:latin typeface="Arial"/>
              </a:rPr>
              <a:t>SCR-OP-22 Cashiering Setup</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Remittance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Remittance processor who extracts the paid premiums into batches per insurer</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Extracts, reviews and excludes, submits batches, uploads insurer ORs; views the payment history of the invoices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5, 6, 9, 10</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SCR-OP-23 Remittance Workbench</a:t>
            </a:r>
          </a:p>
          <a:p>
            <a:pPr>
              <a:spcAft>
                <a:spcPts val="600"/>
              </a:spcAft>
            </a:pPr>
            <a:r>
              <a:rPr sz="800">
                <a:solidFill>
                  <a:srgbClr val="004EA8"/>
                </a:solidFill>
                <a:latin typeface="Arial"/>
              </a:rPr>
              <a:t>•  </a:t>
            </a:r>
            <a:r>
              <a:rPr sz="800">
                <a:solidFill>
                  <a:srgbClr val="4B4B4B"/>
                </a:solidFill>
                <a:latin typeface="Arial"/>
              </a:rPr>
              <a:t>SCR-OP-24 Extraction</a:t>
            </a:r>
          </a:p>
          <a:p>
            <a:pPr>
              <a:spcAft>
                <a:spcPts val="600"/>
              </a:spcAft>
            </a:pPr>
            <a:r>
              <a:rPr sz="800">
                <a:solidFill>
                  <a:srgbClr val="004EA8"/>
                </a:solidFill>
                <a:latin typeface="Arial"/>
              </a:rPr>
              <a:t>•  </a:t>
            </a:r>
            <a:r>
              <a:rPr sz="800">
                <a:solidFill>
                  <a:srgbClr val="4B4B4B"/>
                </a:solidFill>
                <a:latin typeface="Arial"/>
              </a:rPr>
              <a:t>SCR-OP-25 Remittance Batches</a:t>
            </a:r>
          </a:p>
          <a:p>
            <a:pPr>
              <a:spcAft>
                <a:spcPts val="600"/>
              </a:spcAft>
            </a:pPr>
            <a:r>
              <a:rPr sz="800">
                <a:solidFill>
                  <a:srgbClr val="004EA8"/>
                </a:solidFill>
                <a:latin typeface="Arial"/>
              </a:rPr>
              <a:t>•  </a:t>
            </a:r>
            <a:r>
              <a:rPr sz="800">
                <a:solidFill>
                  <a:srgbClr val="4B4B4B"/>
                </a:solidFill>
                <a:latin typeface="Arial"/>
              </a:rPr>
              <a:t>SCR-OP-26 Remittance Batch</a:t>
            </a:r>
          </a:p>
          <a:p>
            <a:pPr>
              <a:spcAft>
                <a:spcPts val="600"/>
              </a:spcAft>
            </a:pPr>
            <a:r>
              <a:rPr sz="800">
                <a:solidFill>
                  <a:srgbClr val="004EA8"/>
                </a:solidFill>
                <a:latin typeface="Arial"/>
              </a:rPr>
              <a:t>•  </a:t>
            </a:r>
            <a:r>
              <a:rPr sz="800">
                <a:solidFill>
                  <a:srgbClr val="4B4B4B"/>
                </a:solidFill>
                <a:latin typeface="Arial"/>
              </a:rPr>
              <a:t>SCR-OP-27 Insurer OR Upload</a:t>
            </a:r>
          </a:p>
          <a:p>
            <a:pPr>
              <a:spcAft>
                <a:spcPts val="600"/>
              </a:spcAft>
            </a:pPr>
            <a:r>
              <a:rPr sz="800">
                <a:solidFill>
                  <a:srgbClr val="004EA8"/>
                </a:solidFill>
                <a:latin typeface="Arial"/>
              </a:rPr>
              <a:t>•  </a:t>
            </a:r>
            <a:r>
              <a:rPr sz="800">
                <a:solidFill>
                  <a:srgbClr val="4B4B4B"/>
                </a:solidFill>
                <a:latin typeface="Arial"/>
              </a:rPr>
              <a:t>SCR-OP-28 Remittance Holds</a:t>
            </a:r>
          </a:p>
          <a:p>
            <a:pPr>
              <a:spcAft>
                <a:spcPts val="600"/>
              </a:spcAft>
            </a:pPr>
            <a:r>
              <a:rPr sz="800">
                <a:solidFill>
                  <a:srgbClr val="004EA8"/>
                </a:solidFill>
                <a:latin typeface="Arial"/>
              </a:rPr>
              <a:t>•  </a:t>
            </a:r>
            <a:r>
              <a:rPr sz="800">
                <a:solidFill>
                  <a:srgbClr val="4B4B4B"/>
                </a:solidFill>
                <a:latin typeface="Arial"/>
              </a:rPr>
              <a:t>SCR-OP-29 Remittance Hold</a:t>
            </a:r>
          </a:p>
          <a:p>
            <a:pPr>
              <a:spcAft>
                <a:spcPts val="600"/>
              </a:spcAft>
            </a:pPr>
            <a:r>
              <a:rPr sz="800">
                <a:solidFill>
                  <a:srgbClr val="004EA8"/>
                </a:solidFill>
                <a:latin typeface="Arial"/>
              </a:rPr>
              <a:t>•  </a:t>
            </a:r>
            <a:r>
              <a:rPr sz="800">
                <a:solidFill>
                  <a:srgbClr val="4B4B4B"/>
                </a:solidFill>
                <a:latin typeface="Arial"/>
              </a:rPr>
              <a:t>SCR-OP-30 Special Remittance</a:t>
            </a:r>
          </a:p>
          <a:p>
            <a:pPr>
              <a:spcAft>
                <a:spcPts val="600"/>
              </a:spcAft>
            </a:pPr>
            <a:r>
              <a:rPr sz="800">
                <a:solidFill>
                  <a:srgbClr val="004EA8"/>
                </a:solidFill>
                <a:latin typeface="Arial"/>
              </a:rPr>
              <a:t>•  </a:t>
            </a:r>
            <a:r>
              <a:rPr sz="800">
                <a:solidFill>
                  <a:srgbClr val="4B4B4B"/>
                </a:solidFill>
                <a:latin typeface="Arial"/>
              </a:rPr>
              <a:t>SCR-OP-31 Special Remittance Request</a:t>
            </a:r>
          </a:p>
          <a:p>
            <a:pPr>
              <a:spcAft>
                <a:spcPts val="600"/>
              </a:spcAft>
            </a:pPr>
            <a:r>
              <a:rPr sz="800">
                <a:solidFill>
                  <a:srgbClr val="004EA8"/>
                </a:solidFill>
                <a:latin typeface="Arial"/>
              </a:rPr>
              <a:t>•  </a:t>
            </a:r>
            <a:r>
              <a:rPr sz="800">
                <a:solidFill>
                  <a:srgbClr val="4B4B4B"/>
                </a:solidFill>
                <a:latin typeface="Arial"/>
              </a:rPr>
              <a:t>SCR-OP-32 DTIP Status</a:t>
            </a:r>
          </a:p>
          <a:p>
            <a:pPr>
              <a:spcAft>
                <a:spcPts val="600"/>
              </a:spcAft>
            </a:pPr>
            <a:r>
              <a:rPr sz="800">
                <a:solidFill>
                  <a:srgbClr val="004EA8"/>
                </a:solidFill>
                <a:latin typeface="Arial"/>
              </a:rPr>
              <a:t>•  </a:t>
            </a:r>
            <a:r>
              <a:rPr sz="800">
                <a:solidFill>
                  <a:srgbClr val="4B4B4B"/>
                </a:solidFill>
                <a:latin typeface="Arial"/>
              </a:rPr>
              <a:t>SCR-OP-33 Remittance Deductions</a:t>
            </a:r>
          </a:p>
          <a:p>
            <a:pPr>
              <a:spcAft>
                <a:spcPts val="600"/>
              </a:spcAft>
            </a:pPr>
            <a:r>
              <a:rPr sz="800">
                <a:solidFill>
                  <a:srgbClr val="004EA8"/>
                </a:solidFill>
                <a:latin typeface="Arial"/>
              </a:rPr>
              <a:t>•  </a:t>
            </a:r>
            <a:r>
              <a:rPr sz="800">
                <a:solidFill>
                  <a:srgbClr val="4B4B4B"/>
                </a:solidFill>
                <a:latin typeface="Arial"/>
              </a:rPr>
              <a:t>SCR-OP-34 Remittance Deduction</a:t>
            </a:r>
          </a:p>
          <a:p>
            <a:pPr>
              <a:spcAft>
                <a:spcPts val="600"/>
              </a:spcAft>
            </a:pPr>
            <a:r>
              <a:rPr sz="800">
                <a:solidFill>
                  <a:srgbClr val="004EA8"/>
                </a:solidFill>
                <a:latin typeface="Arial"/>
              </a:rPr>
              <a:t>•  </a:t>
            </a:r>
            <a:r>
              <a:rPr sz="800">
                <a:solidFill>
                  <a:srgbClr val="4B4B4B"/>
                </a:solidFill>
                <a:latin typeface="Arial"/>
              </a:rPr>
              <a:t>SCR-OP-35 Incentive Rules</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Remittance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Remittance, who approves the batches and the special remittances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batches and special remittances; maintains incentive rules;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7; WT-D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SCR-OP-23 Remittance Workbench</a:t>
            </a:r>
          </a:p>
          <a:p>
            <a:pPr>
              <a:spcAft>
                <a:spcPts val="600"/>
              </a:spcAft>
            </a:pPr>
            <a:r>
              <a:rPr sz="800">
                <a:solidFill>
                  <a:srgbClr val="004EA8"/>
                </a:solidFill>
                <a:latin typeface="Arial"/>
              </a:rPr>
              <a:t>•  </a:t>
            </a:r>
            <a:r>
              <a:rPr sz="800">
                <a:solidFill>
                  <a:srgbClr val="4B4B4B"/>
                </a:solidFill>
                <a:latin typeface="Arial"/>
              </a:rPr>
              <a:t>SCR-OP-24 Extraction</a:t>
            </a:r>
          </a:p>
          <a:p>
            <a:pPr>
              <a:spcAft>
                <a:spcPts val="600"/>
              </a:spcAft>
            </a:pPr>
            <a:r>
              <a:rPr sz="800">
                <a:solidFill>
                  <a:srgbClr val="004EA8"/>
                </a:solidFill>
                <a:latin typeface="Arial"/>
              </a:rPr>
              <a:t>•  </a:t>
            </a:r>
            <a:r>
              <a:rPr sz="800">
                <a:solidFill>
                  <a:srgbClr val="4B4B4B"/>
                </a:solidFill>
                <a:latin typeface="Arial"/>
              </a:rPr>
              <a:t>SCR-OP-25 Remittance Batches</a:t>
            </a:r>
          </a:p>
          <a:p>
            <a:pPr>
              <a:spcAft>
                <a:spcPts val="600"/>
              </a:spcAft>
            </a:pPr>
            <a:r>
              <a:rPr sz="800">
                <a:solidFill>
                  <a:srgbClr val="004EA8"/>
                </a:solidFill>
                <a:latin typeface="Arial"/>
              </a:rPr>
              <a:t>•  </a:t>
            </a:r>
            <a:r>
              <a:rPr sz="800">
                <a:solidFill>
                  <a:srgbClr val="4B4B4B"/>
                </a:solidFill>
                <a:latin typeface="Arial"/>
              </a:rPr>
              <a:t>SCR-OP-26 Remittance Batch</a:t>
            </a:r>
          </a:p>
          <a:p>
            <a:pPr>
              <a:spcAft>
                <a:spcPts val="600"/>
              </a:spcAft>
            </a:pPr>
            <a:r>
              <a:rPr sz="800">
                <a:solidFill>
                  <a:srgbClr val="004EA8"/>
                </a:solidFill>
                <a:latin typeface="Arial"/>
              </a:rPr>
              <a:t>•  </a:t>
            </a:r>
            <a:r>
              <a:rPr sz="800">
                <a:solidFill>
                  <a:srgbClr val="4B4B4B"/>
                </a:solidFill>
                <a:latin typeface="Arial"/>
              </a:rPr>
              <a:t>SCR-OP-27 Insurer OR Upload</a:t>
            </a:r>
          </a:p>
          <a:p>
            <a:pPr>
              <a:spcAft>
                <a:spcPts val="600"/>
              </a:spcAft>
            </a:pPr>
            <a:r>
              <a:rPr sz="800">
                <a:solidFill>
                  <a:srgbClr val="004EA8"/>
                </a:solidFill>
                <a:latin typeface="Arial"/>
              </a:rPr>
              <a:t>•  </a:t>
            </a:r>
            <a:r>
              <a:rPr sz="800">
                <a:solidFill>
                  <a:srgbClr val="4B4B4B"/>
                </a:solidFill>
                <a:latin typeface="Arial"/>
              </a:rPr>
              <a:t>SCR-OP-28 Remittance Holds</a:t>
            </a:r>
          </a:p>
          <a:p>
            <a:pPr>
              <a:spcAft>
                <a:spcPts val="600"/>
              </a:spcAft>
            </a:pPr>
            <a:r>
              <a:rPr sz="800">
                <a:solidFill>
                  <a:srgbClr val="004EA8"/>
                </a:solidFill>
                <a:latin typeface="Arial"/>
              </a:rPr>
              <a:t>•  </a:t>
            </a:r>
            <a:r>
              <a:rPr sz="800">
                <a:solidFill>
                  <a:srgbClr val="4B4B4B"/>
                </a:solidFill>
                <a:latin typeface="Arial"/>
              </a:rPr>
              <a:t>SCR-OP-29 Remittance Hold</a:t>
            </a:r>
          </a:p>
          <a:p>
            <a:pPr>
              <a:spcAft>
                <a:spcPts val="600"/>
              </a:spcAft>
            </a:pPr>
            <a:r>
              <a:rPr sz="800">
                <a:solidFill>
                  <a:srgbClr val="004EA8"/>
                </a:solidFill>
                <a:latin typeface="Arial"/>
              </a:rPr>
              <a:t>•  </a:t>
            </a:r>
            <a:r>
              <a:rPr sz="800">
                <a:solidFill>
                  <a:srgbClr val="4B4B4B"/>
                </a:solidFill>
                <a:latin typeface="Arial"/>
              </a:rPr>
              <a:t>SCR-OP-30 Special Remittance</a:t>
            </a:r>
          </a:p>
          <a:p>
            <a:pPr>
              <a:spcAft>
                <a:spcPts val="600"/>
              </a:spcAft>
            </a:pPr>
            <a:r>
              <a:rPr sz="800">
                <a:solidFill>
                  <a:srgbClr val="004EA8"/>
                </a:solidFill>
                <a:latin typeface="Arial"/>
              </a:rPr>
              <a:t>•  </a:t>
            </a:r>
            <a:r>
              <a:rPr sz="800">
                <a:solidFill>
                  <a:srgbClr val="4B4B4B"/>
                </a:solidFill>
                <a:latin typeface="Arial"/>
              </a:rPr>
              <a:t>SCR-OP-31 Special Remittance Request</a:t>
            </a:r>
          </a:p>
          <a:p>
            <a:pPr>
              <a:spcAft>
                <a:spcPts val="600"/>
              </a:spcAft>
            </a:pPr>
            <a:r>
              <a:rPr sz="800">
                <a:solidFill>
                  <a:srgbClr val="004EA8"/>
                </a:solidFill>
                <a:latin typeface="Arial"/>
              </a:rPr>
              <a:t>•  </a:t>
            </a:r>
            <a:r>
              <a:rPr sz="800">
                <a:solidFill>
                  <a:srgbClr val="4B4B4B"/>
                </a:solidFill>
                <a:latin typeface="Arial"/>
              </a:rPr>
              <a:t>SCR-OP-32 DTIP Status</a:t>
            </a:r>
          </a:p>
          <a:p>
            <a:pPr>
              <a:spcAft>
                <a:spcPts val="600"/>
              </a:spcAft>
            </a:pPr>
            <a:r>
              <a:rPr sz="800">
                <a:solidFill>
                  <a:srgbClr val="004EA8"/>
                </a:solidFill>
                <a:latin typeface="Arial"/>
              </a:rPr>
              <a:t>•  </a:t>
            </a:r>
            <a:r>
              <a:rPr sz="800">
                <a:solidFill>
                  <a:srgbClr val="4B4B4B"/>
                </a:solidFill>
                <a:latin typeface="Arial"/>
              </a:rPr>
              <a:t>SCR-OP-33 Remittance Deductions</a:t>
            </a:r>
          </a:p>
          <a:p>
            <a:pPr>
              <a:spcAft>
                <a:spcPts val="600"/>
              </a:spcAft>
            </a:pPr>
            <a:r>
              <a:rPr sz="800">
                <a:solidFill>
                  <a:srgbClr val="004EA8"/>
                </a:solidFill>
                <a:latin typeface="Arial"/>
              </a:rPr>
              <a:t>•  </a:t>
            </a:r>
            <a:r>
              <a:rPr sz="800">
                <a:solidFill>
                  <a:srgbClr val="4B4B4B"/>
                </a:solidFill>
                <a:latin typeface="Arial"/>
              </a:rPr>
              <a:t>SCR-OP-34 Remittance Deduction</a:t>
            </a:r>
          </a:p>
          <a:p>
            <a:pPr>
              <a:spcAft>
                <a:spcPts val="600"/>
              </a:spcAft>
            </a:pPr>
            <a:r>
              <a:rPr sz="800">
                <a:solidFill>
                  <a:srgbClr val="004EA8"/>
                </a:solidFill>
                <a:latin typeface="Arial"/>
              </a:rPr>
              <a:t>•  </a:t>
            </a:r>
            <a:r>
              <a:rPr sz="800">
                <a:solidFill>
                  <a:srgbClr val="4B4B4B"/>
                </a:solidFill>
                <a:latin typeface="Arial"/>
              </a:rPr>
              <a:t>SCR-OP-35 Incentive Rules</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Production Reconciliation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Production Reconciliation handler who sends the registers and reconciles the insurer's production</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Extracts and sends registers, uploads insurer feedback, reconciles, records annotations, flags estimated items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4, 5,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SCR-OP-43 Reconciliation Workbench</a:t>
            </a:r>
          </a:p>
          <a:p>
            <a:pPr>
              <a:spcAft>
                <a:spcPts val="600"/>
              </a:spcAft>
            </a:pPr>
            <a:r>
              <a:rPr sz="900">
                <a:solidFill>
                  <a:srgbClr val="004EA8"/>
                </a:solidFill>
                <a:latin typeface="Arial"/>
              </a:rPr>
              <a:t>•  </a:t>
            </a:r>
            <a:r>
              <a:rPr sz="900">
                <a:solidFill>
                  <a:srgbClr val="4B4B4B"/>
                </a:solidFill>
                <a:latin typeface="Arial"/>
              </a:rPr>
              <a:t>SCR-OP-44 Reconciliation Cycles</a:t>
            </a:r>
          </a:p>
          <a:p>
            <a:pPr>
              <a:spcAft>
                <a:spcPts val="600"/>
              </a:spcAft>
            </a:pPr>
            <a:r>
              <a:rPr sz="900">
                <a:solidFill>
                  <a:srgbClr val="004EA8"/>
                </a:solidFill>
                <a:latin typeface="Arial"/>
              </a:rPr>
              <a:t>•  </a:t>
            </a:r>
            <a:r>
              <a:rPr sz="900">
                <a:solidFill>
                  <a:srgbClr val="4B4B4B"/>
                </a:solidFill>
                <a:latin typeface="Arial"/>
              </a:rPr>
              <a:t>SCR-OP-45 Reconciliation Cycle</a:t>
            </a:r>
          </a:p>
          <a:p>
            <a:pPr>
              <a:spcAft>
                <a:spcPts val="600"/>
              </a:spcAft>
            </a:pPr>
            <a:r>
              <a:rPr sz="900">
                <a:solidFill>
                  <a:srgbClr val="004EA8"/>
                </a:solidFill>
                <a:latin typeface="Arial"/>
              </a:rPr>
              <a:t>•  </a:t>
            </a:r>
            <a:r>
              <a:rPr sz="900">
                <a:solidFill>
                  <a:srgbClr val="4B4B4B"/>
                </a:solidFill>
                <a:latin typeface="Arial"/>
              </a:rPr>
              <a:t>SCR-OP-46 Production Extracts</a:t>
            </a:r>
          </a:p>
          <a:p>
            <a:pPr>
              <a:spcAft>
                <a:spcPts val="600"/>
              </a:spcAft>
            </a:pPr>
            <a:r>
              <a:rPr sz="900">
                <a:solidFill>
                  <a:srgbClr val="004EA8"/>
                </a:solidFill>
                <a:latin typeface="Arial"/>
              </a:rPr>
              <a:t>•  </a:t>
            </a:r>
            <a:r>
              <a:rPr sz="900">
                <a:solidFill>
                  <a:srgbClr val="4B4B4B"/>
                </a:solidFill>
                <a:latin typeface="Arial"/>
              </a:rPr>
              <a:t>SCR-OP-47 Insurer Feedback</a:t>
            </a:r>
          </a:p>
          <a:p>
            <a:pPr>
              <a:spcAft>
                <a:spcPts val="600"/>
              </a:spcAft>
            </a:pPr>
            <a:r>
              <a:rPr sz="900">
                <a:solidFill>
                  <a:srgbClr val="004EA8"/>
                </a:solidFill>
                <a:latin typeface="Arial"/>
              </a:rPr>
              <a:t>•  </a:t>
            </a:r>
            <a:r>
              <a:rPr sz="900">
                <a:solidFill>
                  <a:srgbClr val="4B4B4B"/>
                </a:solidFill>
                <a:latin typeface="Arial"/>
              </a:rPr>
              <a:t>SCR-OP-48 Unbooked Accounts</a:t>
            </a:r>
          </a:p>
          <a:p>
            <a:pPr>
              <a:spcAft>
                <a:spcPts val="600"/>
              </a:spcAft>
            </a:pPr>
            <a:r>
              <a:rPr sz="900">
                <a:solidFill>
                  <a:srgbClr val="004EA8"/>
                </a:solidFill>
                <a:latin typeface="Arial"/>
              </a:rPr>
              <a:t>•  </a:t>
            </a:r>
            <a:r>
              <a:rPr sz="900">
                <a:solidFill>
                  <a:srgbClr val="4B4B4B"/>
                </a:solidFill>
                <a:latin typeface="Arial"/>
              </a:rPr>
              <a:t>SCR-OP-49 Extract Schedules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Adjustment processor who validates and posts the endorsement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returns and posts endorsement requests; uploads batches and minimal balance files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 6,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SCR-OP-40 Posting Batches</a:t>
            </a:r>
          </a:p>
          <a:p>
            <a:pPr>
              <a:spcAft>
                <a:spcPts val="600"/>
              </a:spcAft>
            </a:pPr>
            <a:r>
              <a:rPr sz="900">
                <a:solidFill>
                  <a:srgbClr val="004EA8"/>
                </a:solidFill>
                <a:latin typeface="Arial"/>
              </a:rPr>
              <a:t>•  </a:t>
            </a:r>
            <a:r>
              <a:rPr sz="900">
                <a:solidFill>
                  <a:srgbClr val="4B4B4B"/>
                </a:solidFill>
                <a:latin typeface="Arial"/>
              </a:rPr>
              <a:t>SCR-OP-41 Batch Request Upload</a:t>
            </a:r>
          </a:p>
          <a:p>
            <a:pPr>
              <a:spcAft>
                <a:spcPts val="600"/>
              </a:spcAft>
            </a:pPr>
            <a:r>
              <a:rPr sz="900">
                <a:solidFill>
                  <a:srgbClr val="004EA8"/>
                </a:solidFill>
                <a:latin typeface="Arial"/>
              </a:rPr>
              <a:t>•  </a:t>
            </a:r>
            <a:r>
              <a:rPr sz="900">
                <a:solidFill>
                  <a:srgbClr val="4B4B4B"/>
                </a:solidFill>
                <a:latin typeface="Arial"/>
              </a:rPr>
              <a:t>SCR-OP-42 Minimal Balance File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of Adjustment, who approves the endorsement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endorsement requests, including extensions of cover with additional premium</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SCR-OP-40 Posting Batches</a:t>
            </a:r>
          </a:p>
          <a:p>
            <a:pPr>
              <a:spcAft>
                <a:spcPts val="600"/>
              </a:spcAft>
            </a:pPr>
            <a:r>
              <a:rPr sz="900">
                <a:solidFill>
                  <a:srgbClr val="004EA8"/>
                </a:solidFill>
                <a:latin typeface="Arial"/>
              </a:rPr>
              <a:t>•  </a:t>
            </a:r>
            <a:r>
              <a:rPr sz="900">
                <a:solidFill>
                  <a:srgbClr val="4B4B4B"/>
                </a:solidFill>
                <a:latin typeface="Arial"/>
              </a:rPr>
              <a:t>SCR-OP-41 Batch Request Upload</a:t>
            </a:r>
          </a:p>
          <a:p>
            <a:pPr>
              <a:spcAft>
                <a:spcPts val="600"/>
              </a:spcAft>
            </a:pPr>
            <a:r>
              <a:rPr sz="900">
                <a:solidFill>
                  <a:srgbClr val="004EA8"/>
                </a:solidFill>
                <a:latin typeface="Arial"/>
              </a:rPr>
              <a:t>•  </a:t>
            </a:r>
            <a:r>
              <a:rPr sz="900">
                <a:solidFill>
                  <a:srgbClr val="4B4B4B"/>
                </a:solidFill>
                <a:latin typeface="Arial"/>
              </a:rPr>
              <a:t>SCR-OP-42 Minimal Balance File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Receivables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Commission Receivables handler who bills the direct payment commissions to the insurers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DP entries from the tagging, read-only review, billing and SOA outputs, answers and account status, ageing, collection; BIR certificate submissions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SCR-OP-51 DP Lists</a:t>
            </a:r>
          </a:p>
          <a:p>
            <a:pPr>
              <a:spcAft>
                <a:spcPts val="600"/>
              </a:spcAft>
            </a:pPr>
            <a:r>
              <a:rPr sz="900">
                <a:solidFill>
                  <a:srgbClr val="004EA8"/>
                </a:solidFill>
                <a:latin typeface="Arial"/>
              </a:rPr>
              <a:t>•  </a:t>
            </a:r>
            <a:r>
              <a:rPr sz="900">
                <a:solidFill>
                  <a:srgbClr val="4B4B4B"/>
                </a:solidFill>
                <a:latin typeface="Arial"/>
              </a:rPr>
              <a:t>SCR-OP-52 DP Accounts</a:t>
            </a:r>
          </a:p>
          <a:p>
            <a:pPr>
              <a:spcAft>
                <a:spcPts val="600"/>
              </a:spcAft>
            </a:pPr>
            <a:r>
              <a:rPr sz="900">
                <a:solidFill>
                  <a:srgbClr val="004EA8"/>
                </a:solidFill>
                <a:latin typeface="Arial"/>
              </a:rPr>
              <a:t>•  </a:t>
            </a:r>
            <a:r>
              <a:rPr sz="900">
                <a:solidFill>
                  <a:srgbClr val="4B4B4B"/>
                </a:solidFill>
                <a:latin typeface="Arial"/>
              </a:rPr>
              <a:t>SCR-OP-53 DP Billings</a:t>
            </a:r>
          </a:p>
          <a:p>
            <a:pPr>
              <a:spcAft>
                <a:spcPts val="600"/>
              </a:spcAft>
            </a:pPr>
            <a:r>
              <a:rPr sz="900">
                <a:solidFill>
                  <a:srgbClr val="004EA8"/>
                </a:solidFill>
                <a:latin typeface="Arial"/>
              </a:rPr>
              <a:t>•  </a:t>
            </a:r>
            <a:r>
              <a:rPr sz="900">
                <a:solidFill>
                  <a:srgbClr val="4B4B4B"/>
                </a:solidFill>
                <a:latin typeface="Arial"/>
              </a:rPr>
              <a:t>SCR-OP-54 DP Billing</a:t>
            </a:r>
          </a:p>
          <a:p>
            <a:pPr>
              <a:spcAft>
                <a:spcPts val="600"/>
              </a:spcAft>
            </a:pPr>
            <a:r>
              <a:rPr sz="900">
                <a:solidFill>
                  <a:srgbClr val="004EA8"/>
                </a:solidFill>
                <a:latin typeface="Arial"/>
              </a:rPr>
              <a:t>•  </a:t>
            </a:r>
            <a:r>
              <a:rPr sz="900">
                <a:solidFill>
                  <a:srgbClr val="4B4B4B"/>
                </a:solidFill>
                <a:latin typeface="Arial"/>
              </a:rPr>
              <a:t>SCR-OP-55 Insurer Responses</a:t>
            </a:r>
          </a:p>
          <a:p>
            <a:pPr>
              <a:spcAft>
                <a:spcPts val="600"/>
              </a:spcAft>
            </a:pPr>
            <a:r>
              <a:rPr sz="900">
                <a:solidFill>
                  <a:srgbClr val="004EA8"/>
                </a:solidFill>
                <a:latin typeface="Arial"/>
              </a:rPr>
              <a:t>•  </a:t>
            </a:r>
            <a:r>
              <a:rPr sz="900">
                <a:solidFill>
                  <a:srgbClr val="4B4B4B"/>
                </a:solidFill>
                <a:latin typeface="Arial"/>
              </a:rPr>
              <a:t>SCR-OP-56 Incentive Schemes</a:t>
            </a:r>
          </a:p>
          <a:p>
            <a:pPr>
              <a:spcAft>
                <a:spcPts val="600"/>
              </a:spcAft>
            </a:pPr>
            <a:r>
              <a:rPr sz="900">
                <a:solidFill>
                  <a:srgbClr val="004EA8"/>
                </a:solidFill>
                <a:latin typeface="Arial"/>
              </a:rPr>
              <a:t>•  </a:t>
            </a:r>
            <a:r>
              <a:rPr sz="900">
                <a:solidFill>
                  <a:srgbClr val="4B4B4B"/>
                </a:solidFill>
                <a:latin typeface="Arial"/>
              </a:rPr>
              <a:t>SCR-OP-57 Incentive Runs</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SCR-OP-60 Estimated Items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Commission Receivables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Commission Receivables, who posts the incentive runs and keeps the schemes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Posts incentive runs; maintains incentive schemes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SCR-OP-51 DP Lists</a:t>
            </a:r>
          </a:p>
          <a:p>
            <a:pPr>
              <a:spcAft>
                <a:spcPts val="600"/>
              </a:spcAft>
            </a:pPr>
            <a:r>
              <a:rPr sz="900">
                <a:solidFill>
                  <a:srgbClr val="004EA8"/>
                </a:solidFill>
                <a:latin typeface="Arial"/>
              </a:rPr>
              <a:t>•  </a:t>
            </a:r>
            <a:r>
              <a:rPr sz="900">
                <a:solidFill>
                  <a:srgbClr val="4B4B4B"/>
                </a:solidFill>
                <a:latin typeface="Arial"/>
              </a:rPr>
              <a:t>SCR-OP-52 DP Accounts</a:t>
            </a:r>
          </a:p>
          <a:p>
            <a:pPr>
              <a:spcAft>
                <a:spcPts val="600"/>
              </a:spcAft>
            </a:pPr>
            <a:r>
              <a:rPr sz="900">
                <a:solidFill>
                  <a:srgbClr val="004EA8"/>
                </a:solidFill>
                <a:latin typeface="Arial"/>
              </a:rPr>
              <a:t>•  </a:t>
            </a:r>
            <a:r>
              <a:rPr sz="900">
                <a:solidFill>
                  <a:srgbClr val="4B4B4B"/>
                </a:solidFill>
                <a:latin typeface="Arial"/>
              </a:rPr>
              <a:t>SCR-OP-53 DP Billings</a:t>
            </a:r>
          </a:p>
          <a:p>
            <a:pPr>
              <a:spcAft>
                <a:spcPts val="600"/>
              </a:spcAft>
            </a:pPr>
            <a:r>
              <a:rPr sz="900">
                <a:solidFill>
                  <a:srgbClr val="004EA8"/>
                </a:solidFill>
                <a:latin typeface="Arial"/>
              </a:rPr>
              <a:t>•  </a:t>
            </a:r>
            <a:r>
              <a:rPr sz="900">
                <a:solidFill>
                  <a:srgbClr val="4B4B4B"/>
                </a:solidFill>
                <a:latin typeface="Arial"/>
              </a:rPr>
              <a:t>SCR-OP-54 DP Billing</a:t>
            </a:r>
          </a:p>
          <a:p>
            <a:pPr>
              <a:spcAft>
                <a:spcPts val="600"/>
              </a:spcAft>
            </a:pPr>
            <a:r>
              <a:rPr sz="900">
                <a:solidFill>
                  <a:srgbClr val="004EA8"/>
                </a:solidFill>
                <a:latin typeface="Arial"/>
              </a:rPr>
              <a:t>•  </a:t>
            </a:r>
            <a:r>
              <a:rPr sz="900">
                <a:solidFill>
                  <a:srgbClr val="4B4B4B"/>
                </a:solidFill>
                <a:latin typeface="Arial"/>
              </a:rPr>
              <a:t>SCR-OP-55 Insurer Responses</a:t>
            </a:r>
          </a:p>
          <a:p>
            <a:pPr>
              <a:spcAft>
                <a:spcPts val="600"/>
              </a:spcAft>
            </a:pPr>
            <a:r>
              <a:rPr sz="900">
                <a:solidFill>
                  <a:srgbClr val="004EA8"/>
                </a:solidFill>
                <a:latin typeface="Arial"/>
              </a:rPr>
              <a:t>•  </a:t>
            </a:r>
            <a:r>
              <a:rPr sz="900">
                <a:solidFill>
                  <a:srgbClr val="4B4B4B"/>
                </a:solidFill>
                <a:latin typeface="Arial"/>
              </a:rPr>
              <a:t>SCR-OP-56 Incentive Schemes</a:t>
            </a:r>
          </a:p>
          <a:p>
            <a:pPr>
              <a:spcAft>
                <a:spcPts val="600"/>
              </a:spcAft>
            </a:pPr>
            <a:r>
              <a:rPr sz="900">
                <a:solidFill>
                  <a:srgbClr val="004EA8"/>
                </a:solidFill>
                <a:latin typeface="Arial"/>
              </a:rPr>
              <a:t>•  </a:t>
            </a:r>
            <a:r>
              <a:rPr sz="900">
                <a:solidFill>
                  <a:srgbClr val="4B4B4B"/>
                </a:solidFill>
                <a:latin typeface="Arial"/>
              </a:rPr>
              <a:t>SCR-OP-57 Incentive Runs</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SCR-OP-60 Estimated Items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Collection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graphicFrame>
        <p:nvGraphicFramePr>
          <p:cNvPr id="9" name="Table 8"/>
          <p:cNvGraphicFramePr>
            <a:graphicFrameLocks noGrp="1"/>
          </p:cNvGraphicFramePr>
          <p:nvPr/>
        </p:nvGraphicFramePr>
        <p:xfrm>
          <a:off x="548640" y="1307592"/>
          <a:ext cx="5410047" cy="2042160"/>
        </p:xfrm>
        <a:graphic>
          <a:graphicData uri="http://schemas.openxmlformats.org/drawingml/2006/table">
            <a:tbl>
              <a:tblPr bandRow="1">
                <a:tableStyleId>{5C22544A-7EE6-4342-B048-85BDC9FD1C3A}</a:tableStyleId>
              </a:tblPr>
              <a:tblGrid>
                <a:gridCol w="1737360"/>
                <a:gridCol w="3672687"/>
              </a:tblGrid>
              <a:tr h="76200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Collection officer of the head office or of a branch who raises holds, special remittances and endorsement requests, and carries the PR 2307 reversal from the tag to the routing to Disbursement</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Hold and special remittance requests; the PR 2307 reversal from tagging to routing to Disbursement; endorsement requests, corrections of returned requests, slips and supporting documents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1, 2, 3; WT-D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SCR-OP-07 Cashiering Workbench</a:t>
            </a:r>
          </a:p>
          <a:p>
            <a:pPr>
              <a:spcAft>
                <a:spcPts val="600"/>
              </a:spcAft>
            </a:pPr>
            <a:r>
              <a:rPr sz="900">
                <a:solidFill>
                  <a:srgbClr val="004EA8"/>
                </a:solidFill>
                <a:latin typeface="Arial"/>
              </a:rPr>
              <a:t>•  </a:t>
            </a:r>
            <a:r>
              <a:rPr sz="900">
                <a:solidFill>
                  <a:srgbClr val="4B4B4B"/>
                </a:solidFill>
                <a:latin typeface="Arial"/>
              </a:rPr>
              <a:t>SCR-OP-19 BIR 2307</a:t>
            </a:r>
          </a:p>
          <a:p>
            <a:pPr>
              <a:spcAft>
                <a:spcPts val="600"/>
              </a:spcAft>
            </a:pPr>
            <a:r>
              <a:rPr sz="900">
                <a:solidFill>
                  <a:srgbClr val="004EA8"/>
                </a:solidFill>
                <a:latin typeface="Arial"/>
              </a:rPr>
              <a:t>•  </a:t>
            </a:r>
            <a:r>
              <a:rPr sz="900">
                <a:solidFill>
                  <a:srgbClr val="4B4B4B"/>
                </a:solidFill>
                <a:latin typeface="Arial"/>
              </a:rPr>
              <a:t>SCR-OP-23 Remittance Workbench</a:t>
            </a:r>
          </a:p>
          <a:p>
            <a:pPr>
              <a:spcAft>
                <a:spcPts val="600"/>
              </a:spcAft>
            </a:pPr>
            <a:r>
              <a:rPr sz="900">
                <a:solidFill>
                  <a:srgbClr val="004EA8"/>
                </a:solidFill>
                <a:latin typeface="Arial"/>
              </a:rPr>
              <a:t>•  </a:t>
            </a:r>
            <a:r>
              <a:rPr sz="900">
                <a:solidFill>
                  <a:srgbClr val="4B4B4B"/>
                </a:solidFill>
                <a:latin typeface="Arial"/>
              </a:rPr>
              <a:t>SCR-OP-28 Remittance Holds</a:t>
            </a:r>
          </a:p>
          <a:p>
            <a:pPr>
              <a:spcAft>
                <a:spcPts val="600"/>
              </a:spcAft>
            </a:pPr>
            <a:r>
              <a:rPr sz="900">
                <a:solidFill>
                  <a:srgbClr val="004EA8"/>
                </a:solidFill>
                <a:latin typeface="Arial"/>
              </a:rPr>
              <a:t>•  </a:t>
            </a:r>
            <a:r>
              <a:rPr sz="900">
                <a:solidFill>
                  <a:srgbClr val="4B4B4B"/>
                </a:solidFill>
                <a:latin typeface="Arial"/>
              </a:rPr>
              <a:t>SCR-OP-29 Remittance Hold</a:t>
            </a:r>
          </a:p>
          <a:p>
            <a:pPr>
              <a:spcAft>
                <a:spcPts val="600"/>
              </a:spcAft>
            </a:pPr>
            <a:r>
              <a:rPr sz="900">
                <a:solidFill>
                  <a:srgbClr val="004EA8"/>
                </a:solidFill>
                <a:latin typeface="Arial"/>
              </a:rPr>
              <a:t>•  </a:t>
            </a:r>
            <a:r>
              <a:rPr sz="900">
                <a:solidFill>
                  <a:srgbClr val="4B4B4B"/>
                </a:solidFill>
                <a:latin typeface="Arial"/>
              </a:rPr>
              <a:t>SCR-OP-30 Special Remittance</a:t>
            </a:r>
          </a:p>
          <a:p>
            <a:pPr>
              <a:spcAft>
                <a:spcPts val="600"/>
              </a:spcAft>
            </a:pPr>
            <a:r>
              <a:rPr sz="900">
                <a:solidFill>
                  <a:srgbClr val="004EA8"/>
                </a:solidFill>
                <a:latin typeface="Arial"/>
              </a:rPr>
              <a:t>•  </a:t>
            </a:r>
            <a:r>
              <a:rPr sz="900">
                <a:solidFill>
                  <a:srgbClr val="4B4B4B"/>
                </a:solidFill>
                <a:latin typeface="Arial"/>
              </a:rPr>
              <a:t>SCR-OP-31 Special Remittance Request</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Marketing Team Leader / Unit Head (hold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leader or unit head, who approves the holds of the Marketing officers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holds; same requests as Marketing Collection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WT-D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SCR-OP-07 Cashiering Workbench</a:t>
            </a:r>
          </a:p>
          <a:p>
            <a:pPr>
              <a:spcAft>
                <a:spcPts val="600"/>
              </a:spcAft>
            </a:pPr>
            <a:r>
              <a:rPr sz="900">
                <a:solidFill>
                  <a:srgbClr val="004EA8"/>
                </a:solidFill>
                <a:latin typeface="Arial"/>
              </a:rPr>
              <a:t>•  </a:t>
            </a:r>
            <a:r>
              <a:rPr sz="900">
                <a:solidFill>
                  <a:srgbClr val="4B4B4B"/>
                </a:solidFill>
                <a:latin typeface="Arial"/>
              </a:rPr>
              <a:t>SCR-OP-19 BIR 2307</a:t>
            </a:r>
          </a:p>
          <a:p>
            <a:pPr>
              <a:spcAft>
                <a:spcPts val="600"/>
              </a:spcAft>
            </a:pPr>
            <a:r>
              <a:rPr sz="900">
                <a:solidFill>
                  <a:srgbClr val="004EA8"/>
                </a:solidFill>
                <a:latin typeface="Arial"/>
              </a:rPr>
              <a:t>•  </a:t>
            </a:r>
            <a:r>
              <a:rPr sz="900">
                <a:solidFill>
                  <a:srgbClr val="4B4B4B"/>
                </a:solidFill>
                <a:latin typeface="Arial"/>
              </a:rPr>
              <a:t>SCR-OP-23 Remittance Workbench</a:t>
            </a:r>
          </a:p>
          <a:p>
            <a:pPr>
              <a:spcAft>
                <a:spcPts val="600"/>
              </a:spcAft>
            </a:pPr>
            <a:r>
              <a:rPr sz="900">
                <a:solidFill>
                  <a:srgbClr val="004EA8"/>
                </a:solidFill>
                <a:latin typeface="Arial"/>
              </a:rPr>
              <a:t>•  </a:t>
            </a:r>
            <a:r>
              <a:rPr sz="900">
                <a:solidFill>
                  <a:srgbClr val="4B4B4B"/>
                </a:solidFill>
                <a:latin typeface="Arial"/>
              </a:rPr>
              <a:t>SCR-OP-28 Remittance Holds</a:t>
            </a:r>
          </a:p>
          <a:p>
            <a:pPr>
              <a:spcAft>
                <a:spcPts val="600"/>
              </a:spcAft>
            </a:pPr>
            <a:r>
              <a:rPr sz="900">
                <a:solidFill>
                  <a:srgbClr val="004EA8"/>
                </a:solidFill>
                <a:latin typeface="Arial"/>
              </a:rPr>
              <a:t>•  </a:t>
            </a:r>
            <a:r>
              <a:rPr sz="900">
                <a:solidFill>
                  <a:srgbClr val="4B4B4B"/>
                </a:solidFill>
                <a:latin typeface="Arial"/>
              </a:rPr>
              <a:t>SCR-OP-29 Remittance Hold</a:t>
            </a:r>
          </a:p>
          <a:p>
            <a:pPr>
              <a:spcAft>
                <a:spcPts val="600"/>
              </a:spcAft>
            </a:pPr>
            <a:r>
              <a:rPr sz="900">
                <a:solidFill>
                  <a:srgbClr val="004EA8"/>
                </a:solidFill>
                <a:latin typeface="Arial"/>
              </a:rPr>
              <a:t>•  </a:t>
            </a:r>
            <a:r>
              <a:rPr sz="900">
                <a:solidFill>
                  <a:srgbClr val="4B4B4B"/>
                </a:solidFill>
                <a:latin typeface="Arial"/>
              </a:rPr>
              <a:t>SCR-OP-30 Special Remittance</a:t>
            </a:r>
          </a:p>
          <a:p>
            <a:pPr>
              <a:spcAft>
                <a:spcPts val="600"/>
              </a:spcAft>
            </a:pPr>
            <a:r>
              <a:rPr sz="900">
                <a:solidFill>
                  <a:srgbClr val="004EA8"/>
                </a:solidFill>
                <a:latin typeface="Arial"/>
              </a:rPr>
              <a:t>•  </a:t>
            </a:r>
            <a:r>
              <a:rPr sz="900">
                <a:solidFill>
                  <a:srgbClr val="4B4B4B"/>
                </a:solidFill>
                <a:latin typeface="Arial"/>
              </a:rPr>
              <a:t>SCR-OP-31 Special Remittance Request</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who acknowledges the BIR certificates and reads the journals and reports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Acknowledges BIR certificates; views journals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SCR-OP-33 Remittance Deductions</a:t>
            </a:r>
          </a:p>
          <a:p>
            <a:pPr>
              <a:spcAft>
                <a:spcPts val="600"/>
              </a:spcAft>
            </a:pPr>
            <a:r>
              <a:rPr sz="900">
                <a:solidFill>
                  <a:srgbClr val="004EA8"/>
                </a:solidFill>
                <a:latin typeface="Arial"/>
              </a:rPr>
              <a:t>•  </a:t>
            </a:r>
            <a:r>
              <a:rPr sz="900">
                <a:solidFill>
                  <a:srgbClr val="4B4B4B"/>
                </a:solidFill>
                <a:latin typeface="Arial"/>
              </a:rPr>
              <a:t>SCR-OP-34 Remittance Deduction</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officer who works the payment requests of the queue until BRD-5 replaces it</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Works the Disbursement queue: acknowledge, DV number, paid, return; receives and releases the BIR 2307 certificates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8; WT-B steps 10</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SCR-OP-19 BIR 2307</a:t>
            </a:r>
          </a:p>
          <a:p>
            <a:pPr>
              <a:spcAft>
                <a:spcPts val="600"/>
              </a:spcAft>
            </a:pPr>
            <a:r>
              <a:rPr sz="1100">
                <a:solidFill>
                  <a:srgbClr val="004EA8"/>
                </a:solidFill>
                <a:latin typeface="Arial"/>
              </a:rPr>
              <a:t>•  </a:t>
            </a:r>
            <a:r>
              <a:rPr sz="1100">
                <a:solidFill>
                  <a:srgbClr val="4B4B4B"/>
                </a:solidFill>
                <a:latin typeface="Arial"/>
              </a:rPr>
              <a:t>SCR-OP-36 Disbursement Queue</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SCR-OP-62 FFY Register</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ACSL Processor (remittance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ACSL processor who records the deductions on the remittances (BRD-5)</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Records the amounts an insurer confirmed in writing (AR insurer refunds, over-remittances) as remittance deductions with the insurer's confirmation and submits them for confirmation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ACSL Team Leader (confirms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team leader who confirms the deductions (BRD-5)</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Confirms or returns the deductions the ACSL processors recorded; a confirmed deduction is taken from the next approved remittance batches of the insurer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 who keeps the feeds and the lists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Interfaces (flow-in feeds), parameters and lists (section 9)</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SCR-OP-61 Interfaces</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Operations and its reports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Operations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SCR-OP-62 FFY Register</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booked invoice from the client's payment to the insurer's official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booked invoice from the client's payment to the insurer's official receipt</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Processing books a Fire account; the invoice reaches the Operations ledger. The cashier receives the client's payment over the counter and applies it by component; Remittance extracts the paid premium into a batch per insurer, submits it and the Remittance Team Leader approves it; Disbursement assigns the DV number; Remittance uploads the insurer's official receipt and the invoice reads Paid and Fully Remitted.</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account ARN-2026-940007 (product PAR01, client CL-2026-000005, insurer Mabuhay General Insurance Corp.), policy issued and ready to book</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Processing (books the accounts), Cashier, Remittance Processor, Remittance Team Leader / Head, Disbursement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5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 (books the accounts)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Remittance Processor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Remittance Team Leader / Head</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Disbursement</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Pre-booking Confirmation</a:t>
            </a:r>
          </a:p>
        </p:txBody>
      </p:sp>
      <p:sp>
        <p:nvSpPr>
          <p:cNvPr id="25" name="Rounded Rectangle 24"/>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Invoice Search</a:t>
            </a:r>
          </a:p>
        </p:txBody>
      </p:sp>
      <p:sp>
        <p:nvSpPr>
          <p:cNvPr id="26" name="Rounded Rectangle 25"/>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Receive Payment</a:t>
            </a:r>
          </a:p>
        </p:txBody>
      </p:sp>
      <p:sp>
        <p:nvSpPr>
          <p:cNvPr id="27" name="Rounded Rectangle 26"/>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Receipt</a:t>
            </a:r>
          </a:p>
        </p:txBody>
      </p:sp>
      <p:sp>
        <p:nvSpPr>
          <p:cNvPr id="28" name="Rounded Rectangle 27"/>
          <p:cNvSpPr/>
          <p:nvPr/>
        </p:nvSpPr>
        <p:spPr>
          <a:xfrm>
            <a:off x="7087968"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Extraction</a:t>
            </a:r>
          </a:p>
        </p:txBody>
      </p:sp>
      <p:sp>
        <p:nvSpPr>
          <p:cNvPr id="29" name="Rounded Rectangle 28"/>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Remittance Batch</a:t>
            </a:r>
          </a:p>
        </p:txBody>
      </p:sp>
      <p:sp>
        <p:nvSpPr>
          <p:cNvPr id="30" name="Rounded Rectangle 29"/>
          <p:cNvSpPr/>
          <p:nvPr/>
        </p:nvSpPr>
        <p:spPr>
          <a:xfrm>
            <a:off x="9415800" y="400507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Remittance Batch</a:t>
            </a:r>
          </a:p>
        </p:txBody>
      </p:sp>
      <p:sp>
        <p:nvSpPr>
          <p:cNvPr id="31" name="Rounded Rectangle 30"/>
          <p:cNvSpPr/>
          <p:nvPr/>
        </p:nvSpPr>
        <p:spPr>
          <a:xfrm>
            <a:off x="9720180"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2" name="Rounded Rectangle 31"/>
          <p:cNvSpPr/>
          <p:nvPr/>
        </p:nvSpPr>
        <p:spPr>
          <a:xfrm>
            <a:off x="10579716"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Disbursement Queue</a:t>
            </a:r>
          </a:p>
        </p:txBody>
      </p:sp>
      <p:cxnSp>
        <p:nvCxnSpPr>
          <p:cNvPr id="33" name="Connector 32"/>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1463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78548"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Remittance Processor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Insurer OR Upload</a:t>
            </a:r>
          </a:p>
        </p:txBody>
      </p:sp>
      <p:sp>
        <p:nvSpPr>
          <p:cNvPr id="13" name="Rounded Rectangle 12"/>
          <p:cNvSpPr/>
          <p:nvPr/>
        </p:nvSpPr>
        <p:spPr>
          <a:xfrm>
            <a:off x="7087971"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Invoice 360</a:t>
            </a:r>
          </a:p>
        </p:txBody>
      </p:sp>
      <p:cxnSp>
        <p:nvCxnSpPr>
          <p:cNvPr id="14" name="Connector 13"/>
          <p:cNvCxnSpPr/>
          <p:nvPr/>
        </p:nvCxnSpPr>
        <p:spPr>
          <a:xfrm>
            <a:off x="68868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10: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(books the accounts): Opens the account from Ready to Book, checks the invoice and the journal preview and clicks Book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Booked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Booked Invoice with its invoice number; the invoice is copied into the Operations ledger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Cashier on Invoice Search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10: Invoice Search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548640" y="1261872"/>
            <a:ext cx="7665414" cy="398290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Searches the ARN on Invoice Search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ledger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invoice with its gross premium, outstanding premium, Unpaid and With Outstanding Balance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on Receive Payment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10: Receive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a-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Receive Payment, enters the ARN, the payor, the amount paid and the payment date, and checks the preview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Application Preview: Booked, the invoice with each component and the amount applied to it, Excess to Unapplied 0.00</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 on Receipt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10: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548640" y="1261872"/>
            <a:ext cx="7665415" cy="400990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Clicks Issue AR and Apply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AR issued and 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&lt;AR&gt; issued and applied to 1 invoice(s); the receipt opens with its application by component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Remittance Processor on Extraction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10: Extraction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5.png"/>
          <p:cNvPicPr>
            <a:picLocks noChangeAspect="1"/>
          </p:cNvPicPr>
          <p:nvPr/>
        </p:nvPicPr>
        <p:blipFill>
          <a:blip r:embed="rId3"/>
          <a:stretch>
            <a:fillRect/>
          </a:stretch>
        </p:blipFill>
        <p:spPr>
          <a:xfrm>
            <a:off x="548640" y="1261872"/>
            <a:ext cx="7665415" cy="371902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SCR-OP-24</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Enters the invoice number on Extraction and clicks Run Extraction, then opens the run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Extracted into a batch</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run tags the invoice Extracted with its paid AR and the batch number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Remittance Processor on Remittance Batch</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10: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Opens the batch, checks the totals strip and the account, clicks Preview and Submit and submits the batch</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is For Approval; the history shows the submission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Remittance Team Leader / Head on Remittance Batch</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10: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Team Leader / Head: Opens the batch from For Approval and clicks Approve and Push</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is Approved - with Disbursement with its payment request and the commission OR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Disbursement on Disbursement Queue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8 of 10: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8.png"/>
          <p:cNvPicPr>
            <a:picLocks noChangeAspect="1"/>
          </p:cNvPicPr>
          <p:nvPr/>
        </p:nvPicPr>
        <p:blipFill>
          <a:blip r:embed="rId3"/>
          <a:stretch>
            <a:fillRect/>
          </a:stretch>
        </p:blipFill>
        <p:spPr>
          <a:xfrm>
            <a:off x="548640" y="1261872"/>
            <a:ext cx="7665415" cy="4167413"/>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Acknowledges the payment request and assigns the DV number</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DV assigned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on the DV Assigned tab with its DV number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Remittance Processor on Insurer OR Upload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9 of 10: Insurer OR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Uploads the insurer's schedule with its OR number and opens the upload run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OR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Records Read 1, OR Matches Paid PR 1; the account shows the insurer OR as Matched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Remittance Processor on Invoice 360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10 of 10: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10.png"/>
          <p:cNvPicPr>
            <a:picLocks noChangeAspect="1"/>
          </p:cNvPicPr>
          <p:nvPr/>
        </p:nvPicPr>
        <p:blipFill>
          <a:blip r:embed="rId3"/>
          <a:stretch>
            <a:fillRect/>
          </a:stretch>
        </p:blipFill>
        <p:spPr>
          <a:xfrm>
            <a:off x="548640" y="1261872"/>
            <a:ext cx="7665415" cy="26162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Opens Invoice 360 of the invoice, Remittances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Closed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Paid and Fully Remitted; the remittance batch of the invoice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Cancellation of a paid and remitted policy, from the request to the refund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Cancellation of a paid and remitted policy, from the request to the refund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Collection asks to cancel the policy of walkthrough A from inception. The request is raised on the policy, recomputed per insurer, validated by Adjustment and approved by the Adjustment Team Leader; posting books the return invoice, sets up the AR Insurer for the premium already remitted and has Cashiering re-apply the payment, whose excess becomes an unapplied payment; the cashier refunds it with the Team Leader's approval and the refund reaches the Disbursement queue.</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invoice of walkthrough A (paid and fully remitted), cancellation reason from the list of values</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Collection, Adjustment Processor, Adjustment Team Leader, Cashier, Cashiering Team Leader / Head, Disbursement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6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Collection</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Adjustment Processor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Adjustment Team Leader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Endorsement Request</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Endorsement Request</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Endorsement Request</a:t>
            </a:r>
          </a:p>
        </p:txBody>
      </p:sp>
      <p:sp>
        <p:nvSpPr>
          <p:cNvPr id="24" name="Rounded Rectangle 23"/>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Endorsement Request</a:t>
            </a:r>
          </a:p>
        </p:txBody>
      </p:sp>
      <p:sp>
        <p:nvSpPr>
          <p:cNvPr id="25" name="Rounded Rectangle 24"/>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Endorsement Request</a:t>
            </a:r>
          </a:p>
        </p:txBody>
      </p:sp>
      <p:sp>
        <p:nvSpPr>
          <p:cNvPr id="26" name="Rounded Rectangle 25"/>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7" name="Rounded Rectangle 26"/>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Posting Batches</a:t>
            </a:r>
          </a:p>
        </p:txBody>
      </p:sp>
      <p:sp>
        <p:nvSpPr>
          <p:cNvPr id="28" name="Rounded Rectangle 27"/>
          <p:cNvSpPr/>
          <p:nvPr/>
        </p:nvSpPr>
        <p:spPr>
          <a:xfrm>
            <a:off x="941580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Endorsement Request</a:t>
            </a:r>
          </a:p>
        </p:txBody>
      </p:sp>
      <p:sp>
        <p:nvSpPr>
          <p:cNvPr id="29" name="Rounded Rectangle 28"/>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Unapplied Payment</a:t>
            </a:r>
          </a:p>
        </p:txBody>
      </p:sp>
      <p:cxnSp>
        <p:nvCxnSpPr>
          <p:cNvPr id="30" name="Connector 29"/>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05071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463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78548"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Cashiering Team Leader /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Disbursement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44544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Unapplied Payment</a:t>
            </a:r>
          </a:p>
        </p:txBody>
      </p:sp>
      <p:sp>
        <p:nvSpPr>
          <p:cNvPr id="16" name="Rounded Rectangle 15"/>
          <p:cNvSpPr/>
          <p:nvPr/>
        </p:nvSpPr>
        <p:spPr>
          <a:xfrm>
            <a:off x="6228435"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17" name="Rounded Rectangle 16"/>
          <p:cNvSpPr/>
          <p:nvPr/>
        </p:nvSpPr>
        <p:spPr>
          <a:xfrm>
            <a:off x="7087971" y="226771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Disbursement Queue</a:t>
            </a:r>
          </a:p>
        </p:txBody>
      </p:sp>
      <p:cxnSp>
        <p:nvCxnSpPr>
          <p:cNvPr id="18" name="Connector 17"/>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10: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b-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Opens New Request, searches the policy number and ticks the invoice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chosen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booked invoice with its policy number, ARN, assured, insurer, payment and lock; the policy details of the invoice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Collection on New Endorsement Request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10: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b-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Chooses Financial – Change of Cover, Flat Cancellation, the reason, the effective date and the description, and clicks Recompute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Recomputed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Recompute &amp; Submit: the premium and commission change, before and after per component and per insurer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Collection on Endorsement Request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Clicks Submit for Validation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validation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opens For Validation with the Policy No., ARN and Invoice chips; the invoice is locked by Adjustment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Adjustment Processor on Endorsement Request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Opens the request from the workbench and clicks Validate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Validated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For Approval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Adjustment Team Leader on Endorsement Request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b-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Team Leader: Opens the request and clicks Approve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For Posting</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Adjustment Processor on Posting Batches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10: Posting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6.png"/>
          <p:cNvPicPr>
            <a:picLocks noChangeAspect="1"/>
          </p:cNvPicPr>
          <p:nvPr/>
        </p:nvPicPr>
        <p:blipFill>
          <a:blip r:embed="rId3"/>
          <a:stretch>
            <a:fillRect/>
          </a:stretch>
        </p:blipFill>
        <p:spPr>
          <a:xfrm>
            <a:off x="548640" y="1261872"/>
            <a:ext cx="7665415" cy="321557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Ticks the request on Posting Batches and clicks Post Selected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result: the request Posted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Adjustment Processor on Endorsement Request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7 of 10: Endorsement Request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09.png"/>
          <p:cNvPicPr>
            <a:picLocks noChangeAspect="1"/>
          </p:cNvPicPr>
          <p:nvPr/>
        </p:nvPicPr>
        <p:blipFill>
          <a:blip r:embed="rId3"/>
          <a:stretch>
            <a:fillRect/>
          </a:stretch>
        </p:blipFill>
        <p:spPr>
          <a:xfrm>
            <a:off x="548640" y="1261872"/>
            <a:ext cx="7665415" cy="4736519"/>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Opens the Policy Transactions tab of the request and the journal of the last transaction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history</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original booking, the cancellation with its premium, taxes and commission change and gross premium 0.00 after it, the refund of the excess payment to the client, and the journal lines of the re-applied payment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Cashier on Unapplied Payment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7 of 10: Endorsement Request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10.png"/>
          <p:cNvPicPr>
            <a:picLocks noChangeAspect="1"/>
          </p:cNvPicPr>
          <p:nvPr/>
        </p:nvPicPr>
        <p:blipFill>
          <a:blip r:embed="rId3"/>
          <a:stretch>
            <a:fillRect/>
          </a:stretch>
        </p:blipFill>
        <p:spPr>
          <a:xfrm>
            <a:off x="548640" y="1261872"/>
            <a:ext cx="7665415" cy="3676409"/>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 (part 2 of 2)</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10: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the unapplied payment left by the re-application, assigns a refund to the client and submits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disposition is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Cashiering Team Leader / Head on Unapplied Payment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10: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Team Leader / Head: Opens the unapplied payment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disposition is Completed and the balance 0.00; the refund is sent to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Disbursement on Disbursement Queue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10: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wt-b-10.png"/>
          <p:cNvPicPr>
            <a:picLocks noChangeAspect="1"/>
          </p:cNvPicPr>
          <p:nvPr/>
        </p:nvPicPr>
        <p:blipFill>
          <a:blip r:embed="rId3"/>
          <a:stretch>
            <a:fillRect/>
          </a:stretch>
        </p:blipFill>
        <p:spPr>
          <a:xfrm>
            <a:off x="548640" y="1261872"/>
            <a:ext cx="7665415" cy="3654288"/>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Opens the Disbursement Queue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with Disbursement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refund request to the client in To Acknowledge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Direct payment commission and the reconciliation of the insurer's production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Direct payment commission and the reconciliation of the insurer's production</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insurer answers the billing of a direct payment account: the Commission Receivables handler records the approval and the collection, which reverses the premium receivable and requests the commission OR. The Production Reconciliation handler then works the insurer's September feedback: a premium difference gets its feedback and disposition, and the policy the insurer reported but BDOI did not book is followed on Unbooked Accounts.</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DP billing CRB-2026-000001 to Mabuhay General Insurance Corp. (account ARN-2026-940003), cycle PRC-INS-MGIC-202609-000001</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Commission Receivables Handler, Production Reconciliation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Commission Receivables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Production Reconciliation Handler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DP Billing</a:t>
            </a:r>
          </a:p>
        </p:txBody>
      </p:sp>
      <p:sp>
        <p:nvSpPr>
          <p:cNvPr id="16" name="Rounded Rectangle 15"/>
          <p:cNvSpPr/>
          <p:nvPr/>
        </p:nvSpPr>
        <p:spPr>
          <a:xfrm>
            <a:off x="3984193"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DP Billing</a:t>
            </a:r>
          </a:p>
        </p:txBody>
      </p:sp>
      <p:sp>
        <p:nvSpPr>
          <p:cNvPr id="17" name="Rounded Rectangle 16"/>
          <p:cNvSpPr/>
          <p:nvPr/>
        </p:nvSpPr>
        <p:spPr>
          <a:xfrm>
            <a:off x="5536082"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Invoice 360</a:t>
            </a:r>
          </a:p>
        </p:txBody>
      </p:sp>
      <p:sp>
        <p:nvSpPr>
          <p:cNvPr id="18" name="Rounded Rectangle 17"/>
          <p:cNvSpPr/>
          <p:nvPr/>
        </p:nvSpPr>
        <p:spPr>
          <a:xfrm>
            <a:off x="7087971"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Reconciliation Cycle</a:t>
            </a:r>
          </a:p>
        </p:txBody>
      </p:sp>
      <p:sp>
        <p:nvSpPr>
          <p:cNvPr id="19" name="Rounded Rectangle 18"/>
          <p:cNvSpPr/>
          <p:nvPr/>
        </p:nvSpPr>
        <p:spPr>
          <a:xfrm>
            <a:off x="8639860"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Reconciliation Cycle</a:t>
            </a:r>
          </a:p>
        </p:txBody>
      </p:sp>
      <p:sp>
        <p:nvSpPr>
          <p:cNvPr id="20" name="Rounded Rectangle 19"/>
          <p:cNvSpPr/>
          <p:nvPr/>
        </p:nvSpPr>
        <p:spPr>
          <a:xfrm>
            <a:off x="10191749"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Unbooked Accounts</a:t>
            </a:r>
          </a:p>
        </p:txBody>
      </p:sp>
      <p:cxnSp>
        <p:nvCxnSpPr>
          <p:cNvPr id="21" name="Connector 20"/>
          <p:cNvCxnSpPr/>
          <p:nvPr/>
        </p:nvCxnSpPr>
        <p:spPr>
          <a:xfrm>
            <a:off x="378302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3491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869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990581"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6: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c-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SCR-OP-54</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Opens the billing, clicks Record Answers, marks the account Approved and saves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approved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billing is Approved by Insurer - to Collect</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Commission Receivables Handler on DP Billing</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6: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c-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SCR-OP-54</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Clicks Record Collection with the collection date and the bank account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Collected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billing is Closed - PR Reversed with the commission OR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Commission Receivables Handler on Invoice 360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6: Invoice 360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1.png"/>
          <p:cNvPicPr>
            <a:picLocks noChangeAspect="1"/>
          </p:cNvPicPr>
          <p:nvPr/>
        </p:nvPicPr>
        <p:blipFill>
          <a:blip r:embed="rId3"/>
          <a:stretch>
            <a:fillRect/>
          </a:stretch>
        </p:blipFill>
        <p:spPr>
          <a:xfrm>
            <a:off x="548640" y="1261872"/>
            <a:ext cx="7665415" cy="470933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SCR-OP-03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Opens Invoice 360 of the direct payment invoice, Movements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 reversed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premium receivable reversal and the commission applied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Production Reconciliation Handler on Reconciliation Cycle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6: Invoice 360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2.png"/>
          <p:cNvPicPr>
            <a:picLocks noChangeAspect="1"/>
          </p:cNvPicPr>
          <p:nvPr/>
        </p:nvPicPr>
        <p:blipFill>
          <a:blip r:embed="rId3"/>
          <a:stretch>
            <a:fillRect/>
          </a:stretch>
        </p:blipFill>
        <p:spPr>
          <a:xfrm>
            <a:off x="548640" y="1261872"/>
            <a:ext cx="7665415" cy="36016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SCR-OP-03 (part 2 of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step 4 of 6: Reconciliation Cycle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13.png"/>
          <p:cNvPicPr>
            <a:picLocks noChangeAspect="1"/>
          </p:cNvPicPr>
          <p:nvPr/>
        </p:nvPicPr>
        <p:blipFill>
          <a:blip r:embed="rId3"/>
          <a:stretch>
            <a:fillRect/>
          </a:stretch>
        </p:blipFill>
        <p:spPr>
          <a:xfrm>
            <a:off x="548640" y="1261872"/>
            <a:ext cx="7665415" cy="457570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Opens the cycle, the With Discrepancy item, and records the company concerned, the disposition and the feedback</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Feedback recorded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item review with the BDOI and insurer values side by side and the gross premium difference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Production Reconciliation Handler on Reconciliation Cycle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step 4 of 6: Reconciliation Cycle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14.png"/>
          <p:cNvPicPr>
            <a:picLocks noChangeAspect="1"/>
          </p:cNvPicPr>
          <p:nvPr/>
        </p:nvPicPr>
        <p:blipFill>
          <a:blip r:embed="rId3"/>
          <a:stretch>
            <a:fillRect/>
          </a:stretch>
        </p:blipFill>
        <p:spPr>
          <a:xfrm>
            <a:off x="548640" y="1261872"/>
            <a:ext cx="7665415" cy="2196498"/>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 (part 2 of 2)</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6: Reconciliation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18535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c-05.png"/>
          <p:cNvPicPr>
            <a:picLocks noChangeAspect="1"/>
          </p:cNvPicPr>
          <p:nvPr/>
        </p:nvPicPr>
        <p:blipFill>
          <a:blip r:embed="rId3"/>
          <a:stretch>
            <a:fillRect/>
          </a:stretch>
        </p:blipFill>
        <p:spPr>
          <a:xfrm>
            <a:off x="548640" y="1261872"/>
            <a:ext cx="7665415" cy="371718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Selects the insurer-only item and sets its disposition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Disposition set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item Unmatched No Booking with its disposition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Production Reconciliation Handler on Unbooked Accounts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6: Unbooked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6.png"/>
          <p:cNvPicPr>
            <a:picLocks noChangeAspect="1"/>
          </p:cNvPicPr>
          <p:nvPr/>
        </p:nvPicPr>
        <p:blipFill>
          <a:blip r:embed="rId3"/>
          <a:stretch>
            <a:fillRect/>
          </a:stretch>
        </p:blipFill>
        <p:spPr>
          <a:xfrm>
            <a:off x="548640" y="1261872"/>
            <a:ext cx="7665415" cy="386574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Opens Unbooked Accounts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Followed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policy the insurer reported, not booked by BDOI, with its disposition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Controls and the messages the user sees</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controls of Operations on screen: a remittance hold raised by Marketing Collection and decided by the Marketing Team Leader, an endorsement refused on an invoice locked by Remittance, a receipt cancellation approved by a second user, and a remittance batch that its submitter cannot approve.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invoice I97000011 with an outstanding balance, invoice BI-HO-2026-000005 in remittance batch RMB-INS-MGIC-2026-000002, receipt AR-HO-000009 (unapplied payment)</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Team Leader / Unit Head (hold approver), Marketing Collection, Cashier, Cashiering Team Leader / Head, Remittance Team Leader /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4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Team Leader / Unit Head (hold 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Collection</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Cashiering Team Leader / Head</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Remittance Team Leader / Head</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Remittance Hold</a:t>
            </a:r>
          </a:p>
        </p:txBody>
      </p:sp>
      <p:sp>
        <p:nvSpPr>
          <p:cNvPr id="25" name="Rounded Rectangle 24"/>
          <p:cNvSpPr/>
          <p:nvPr/>
        </p:nvSpPr>
        <p:spPr>
          <a:xfrm>
            <a:off x="3435035"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Endorsement Request</a:t>
            </a:r>
          </a:p>
        </p:txBody>
      </p:sp>
      <p:sp>
        <p:nvSpPr>
          <p:cNvPr id="27" name="Rounded Rectangle 26"/>
          <p:cNvSpPr/>
          <p:nvPr/>
        </p:nvSpPr>
        <p:spPr>
          <a:xfrm>
            <a:off x="6156838"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Receipt</a:t>
            </a:r>
          </a:p>
        </p:txBody>
      </p:sp>
      <p:sp>
        <p:nvSpPr>
          <p:cNvPr id="28" name="Rounded Rectangle 27"/>
          <p:cNvSpPr/>
          <p:nvPr/>
        </p:nvSpPr>
        <p:spPr>
          <a:xfrm>
            <a:off x="8019105" y="400507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Receipt</a:t>
            </a:r>
          </a:p>
        </p:txBody>
      </p:sp>
      <p:sp>
        <p:nvSpPr>
          <p:cNvPr id="29" name="Rounded Rectangle 28"/>
          <p:cNvSpPr/>
          <p:nvPr/>
        </p:nvSpPr>
        <p:spPr>
          <a:xfrm>
            <a:off x="9021836"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0" name="Rounded Rectangle 29"/>
          <p:cNvSpPr/>
          <p:nvPr/>
        </p:nvSpPr>
        <p:spPr>
          <a:xfrm>
            <a:off x="9881372" y="487375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Remittance Batch</a:t>
            </a:r>
          </a:p>
        </p:txBody>
      </p:sp>
      <p:cxnSp>
        <p:nvCxnSpPr>
          <p:cNvPr id="31" name="Connector 30"/>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5567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17937"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80204"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Remittance Hold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Team Leader / Unit Head (hold approver): Marketing Collection raises a hold on the invoice with its reason and hold-until date; the Marketing Team Leader opens it and clicks Approve hold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Hold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hold is On Hold; the invoice is flagged On Hold and stays out of the extraction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Collection on New Endorsement Request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5: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d-02.png"/>
          <p:cNvPicPr>
            <a:picLocks noChangeAspect="1"/>
          </p:cNvPicPr>
          <p:nvPr/>
        </p:nvPicPr>
        <p:blipFill>
          <a:blip r:embed="rId3"/>
          <a:stretch>
            <a:fillRect/>
          </a:stretch>
        </p:blipFill>
        <p:spPr>
          <a:xfrm>
            <a:off x="638536" y="1261872"/>
            <a:ext cx="7485622"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Searches on New Request the invoice that is in the remittance batch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invoice reads Locked by Remittance and cannot be selected; a request on it is refused with the message Invoice &lt;invoice&gt; is locked by Remittance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on Receipt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3 of 5: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d-03.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a receipt, clicks Cancel Receipt, chooses the reason and submits the cancellation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Cancellation requested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receipt shows the cancellation For Approval in its workflow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Cashiering Team Leader / Head on Receipt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5: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4.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Team Leader / Head: Opens the receipt and clicks Approve and Post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Cancelled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receipt is Cancelled; its unapplied balance is closed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Remittance Team Leader / Head on Remittance Batch</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5 of 5: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09848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d-05.png"/>
          <p:cNvPicPr>
            <a:picLocks noChangeAspect="1"/>
          </p:cNvPicPr>
          <p:nvPr/>
        </p:nvPicPr>
        <p:blipFill>
          <a:blip r:embed="rId3"/>
          <a:stretch>
            <a:fillRect/>
          </a:stretch>
        </p:blipFill>
        <p:spPr>
          <a:xfrm>
            <a:off x="855052" y="1261872"/>
            <a:ext cx="7052591"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Team Leader / Head: Submits the batch in review for approval, then tries to approve it</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Batch &lt;batch&gt; must be approved by another user</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every Operations user: one card per team section the user works in (Cashiering, Remittance, Production Reconciliation, Adjustment, Commission Receivables, Disbursement, Interfaces), each with its live work tiles counted from the invoice ledger, an invoice finder and the links to the applications Operations works with.</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Operations Home</a:t>
                      </a:r>
                    </a:p>
                    <a:p>
                      <a:r>
                        <a:rPr sz="950" b="0">
                          <a:solidFill>
                            <a:srgbClr val="4B4B4B"/>
                          </a:solidFill>
                          <a:latin typeface="Arial"/>
                        </a:rPr>
                        <a:t>The sidebar group Operations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FR-OP-002, 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work waiting for each of the user's teams and opens it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Find an Invoice</a:t>
                      </a:r>
                    </a:p>
                  </a:txBody>
                  <a:tcPr marL="54864" marR="54864" marT="27432" marB="27432">
                    <a:solidFill>
                      <a:srgbClr val="FFFFFF"/>
                    </a:solidFill>
                  </a:tcPr>
                </a:tc>
                <a:tc>
                  <a:txBody>
                    <a:bodyPr/>
                    <a:lstStyle/>
                    <a:p>
                      <a:r>
                        <a:rPr sz="850" b="0">
                          <a:solidFill>
                            <a:srgbClr val="4B4B4B"/>
                          </a:solidFill>
                          <a:latin typeface="Arial"/>
                        </a:rPr>
                        <a:t>Search Invoice No., ARN, policy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ARN, invoice, policy or client, partial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Find an Invoice</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Opens Invoice Search with the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Section card</a:t>
                      </a:r>
                    </a:p>
                  </a:txBody>
                  <a:tcPr marL="54864" marR="54864" marT="27432" marB="27432">
                    <a:solidFill>
                      <a:srgbClr val="FFFFFF"/>
                    </a:solidFill>
                  </a:tcPr>
                </a:tc>
                <a:tc>
                  <a:txBody>
                    <a:bodyPr/>
                    <a:lstStyle/>
                    <a:p>
                      <a:r>
                        <a:rPr sz="850" b="0">
                          <a:solidFill>
                            <a:srgbClr val="4B4B4B"/>
                          </a:solidFill>
                          <a:latin typeface="Arial"/>
                        </a:rPr>
                        <a:t>Cashiering</a:t>
                      </a:r>
                    </a:p>
                  </a:txBody>
                  <a:tcPr marL="54864" marR="54864" marT="27432" marB="27432">
                    <a:solidFill>
                      <a:srgbClr val="FFFFFF"/>
                    </a:solidFill>
                  </a:tcPr>
                </a:tc>
                <a:tc>
                  <a:txBody>
                    <a:bodyPr/>
                    <a:lstStyle/>
                    <a:p>
                      <a:r>
                        <a:rPr sz="850" b="0">
                          <a:solidFill>
                            <a:srgbClr val="4B4B4B"/>
                          </a:solidFill>
                          <a:latin typeface="Arial"/>
                        </a:rPr>
                        <a:t>Card</a:t>
                      </a:r>
                    </a:p>
                  </a:txBody>
                  <a:tcPr marL="54864" marR="54864" marT="27432" marB="27432">
                    <a:solidFill>
                      <a:srgbClr val="FFFFFF"/>
                    </a:solidFill>
                  </a:tcPr>
                </a:tc>
                <a:tc>
                  <a:txBody>
                    <a:bodyPr/>
                    <a:lstStyle/>
                    <a:p>
                      <a:r>
                        <a:rPr sz="850" b="0">
                          <a:solidFill>
                            <a:srgbClr val="4B4B4B"/>
                          </a:solidFill>
                          <a:latin typeface="Arial"/>
                        </a:rPr>
                        <a:t>One card per section the user's roles cover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Section card</a:t>
                      </a:r>
                    </a:p>
                  </a:txBody>
                  <a:tcPr marL="54864" marR="54864" marT="27432" marB="27432">
                    <a:solidFill>
                      <a:srgbClr val="E5F5FF"/>
                    </a:solidFill>
                  </a:tcPr>
                </a:tc>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Opens the section's workbench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Section card</a:t>
                      </a:r>
                    </a:p>
                  </a:txBody>
                  <a:tcPr marL="54864" marR="54864" marT="27432" marB="27432">
                    <a:solidFill>
                      <a:srgbClr val="FFFFFF"/>
                    </a:solidFill>
                  </a:tcPr>
                </a:tc>
                <a:tc>
                  <a:txBody>
                    <a:bodyPr/>
                    <a:lstStyle/>
                    <a:p>
                      <a:r>
                        <a:rPr sz="850" b="0">
                          <a:solidFill>
                            <a:srgbClr val="4B4B4B"/>
                          </a:solidFill>
                          <a:latin typeface="Arial"/>
                        </a:rPr>
                        <a:t>Work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Title Case label and live count; amber or red bar with Needs attention when the queue needs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the list behind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Integrated Applications</a:t>
                      </a:r>
                    </a:p>
                  </a:txBody>
                  <a:tcPr marL="54864" marR="54864" marT="27432" marB="27432">
                    <a:solidFill>
                      <a:srgbClr val="E5F5FF"/>
                    </a:solidFill>
                  </a:tcPr>
                </a:tc>
                <a:tc>
                  <a:txBody>
                    <a:bodyPr/>
                    <a:lstStyle/>
                    <a:p>
                      <a:r>
                        <a:rPr sz="850" b="0">
                          <a:solidFill>
                            <a:srgbClr val="4B4B4B"/>
                          </a:solidFill>
                          <a:latin typeface="Arial"/>
                        </a:rPr>
                        <a:t>Integrated Applications</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Links to the applications Operations works with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Only web addresses are opened</a:t>
                      </a:r>
                    </a:p>
                  </a:txBody>
                  <a:tcPr marL="54864" marR="54864" marT="27432" marB="27432">
                    <a:solidFill>
                      <a:srgbClr val="E5F5FF"/>
                    </a:solidFill>
                  </a:tcPr>
                </a:tc>
                <a:tc>
                  <a:txBody>
                    <a:bodyPr/>
                    <a:lstStyle/>
                    <a:p>
                      <a:r>
                        <a:rPr sz="850" b="0">
                          <a:solidFill>
                            <a:srgbClr val="4B4B4B"/>
                          </a:solidFill>
                          <a:latin typeface="Arial"/>
                        </a:rPr>
                        <a:t>No application links yet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Page</a:t>
                      </a:r>
                    </a:p>
                  </a:txBody>
                  <a:tcPr marL="54864" marR="54864" marT="27432" marB="27432">
                    <a:solidFill>
                      <a:srgbClr val="FFFFFF"/>
                    </a:solidFill>
                  </a:tcPr>
                </a:tc>
                <a:tc>
                  <a:txBody>
                    <a:bodyPr/>
                    <a:lstStyle/>
                    <a:p>
                      <a:r>
                        <a:rPr sz="850" b="0">
                          <a:solidFill>
                            <a:srgbClr val="4B4B4B"/>
                          </a:solidFill>
                          <a:latin typeface="Arial"/>
                        </a:rPr>
                        <a:t>No Operations section is assigned to your role</a:t>
                      </a:r>
                    </a:p>
                  </a:txBody>
                  <a:tcPr marL="54864" marR="54864" marT="27432" marB="27432">
                    <a:solidFill>
                      <a:srgbClr val="FFFFFF"/>
                    </a:solidFill>
                  </a:tcPr>
                </a:tc>
                <a:tc>
                  <a:txBody>
                    <a:bodyPr/>
                    <a:lstStyle/>
                    <a:p>
                      <a:r>
                        <a:rPr sz="850" b="0">
                          <a:solidFill>
                            <a:srgbClr val="4B4B4B"/>
                          </a:solidFill>
                          <a:latin typeface="Arial"/>
                        </a:rPr>
                        <a:t>Empty state</a:t>
                      </a:r>
                    </a:p>
                  </a:txBody>
                  <a:tcPr marL="54864" marR="54864" marT="27432" marB="27432">
                    <a:solidFill>
                      <a:srgbClr val="FFFFFF"/>
                    </a:solidFill>
                  </a:tcPr>
                </a:tc>
                <a:tc>
                  <a:txBody>
                    <a:bodyPr/>
                    <a:lstStyle/>
                    <a:p>
                      <a:r>
                        <a:rPr sz="850" b="0">
                          <a:solidFill>
                            <a:srgbClr val="4B4B4B"/>
                          </a:solidFill>
                          <a:latin typeface="Arial"/>
                        </a:rPr>
                        <a:t>Shown when the role covers no Operations section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Text entered or blank</a:t>
                      </a:r>
                    </a:p>
                  </a:txBody>
                  <a:tcPr marL="54864" marR="54864" marT="27432" marB="27432">
                    <a:solidFill>
                      <a:srgbClr val="FFFFFF"/>
                    </a:solidFill>
                  </a:tcPr>
                </a:tc>
                <a:tc>
                  <a:txBody>
                    <a:bodyPr/>
                    <a:lstStyle/>
                    <a:p>
                      <a:r>
                        <a:rPr sz="850" b="0">
                          <a:solidFill>
                            <a:srgbClr val="4B4B4B"/>
                          </a:solidFill>
                          <a:latin typeface="Arial"/>
                        </a:rPr>
                        <a:t>Opens Invoice Search filtered on the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workbench of the section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 work tile</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screen of the queue, filtered on it (for example Batches for Approval opens Remittance Batches on For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section card is shown only for the teams whose permissions the user holds (FR-OP-003).</a:t>
                      </a:r>
                    </a:p>
                  </a:txBody>
                  <a:tcPr marL="54864" marR="54864" marT="27432" marB="27432">
                    <a:solidFill>
                      <a:srgbClr val="FFFFFF"/>
                    </a:solidFill>
                  </a:tcPr>
                </a:tc>
              </a:tr>
              <a:tr h="243840">
                <a:tc>
                  <a:txBody>
                    <a:bodyPr/>
                    <a:lstStyle/>
                    <a:p>
                      <a:r>
                        <a:rPr sz="1000" b="0">
                          <a:solidFill>
                            <a:srgbClr val="4B4B4B"/>
                          </a:solidFill>
                          <a:latin typeface="Arial"/>
                        </a:rPr>
                        <a:t>Tile counts are read live from the invoice ledger and the Operations records; a tile of a queue that needs action carries Needs attention (FR-OP-003).</a:t>
                      </a:r>
                    </a:p>
                  </a:txBody>
                  <a:tcPr marL="54864" marR="54864" marT="27432" marB="27432">
                    <a:solidFill>
                      <a:srgbClr val="E5F5FF"/>
                    </a:solidFill>
                  </a:tcPr>
                </a:tc>
              </a:tr>
              <a:tr h="243840">
                <a:tc>
                  <a:txBody>
                    <a:bodyPr/>
                    <a:lstStyle/>
                    <a:p>
                      <a:r>
                        <a:rPr sz="1000" b="0">
                          <a:solidFill>
                            <a:srgbClr val="4B4B4B"/>
                          </a:solidFill>
                          <a:latin typeface="Arial"/>
                        </a:rPr>
                        <a:t>The links to the integrated applications are list values maintained by the Business Administrator (FR-OP-003).</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1 of 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2 of 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27162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3 of 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8.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1 of 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2 of 3)</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0.png"/>
          <p:cNvPicPr>
            <a:picLocks noChangeAspect="1"/>
          </p:cNvPicPr>
          <p:nvPr/>
        </p:nvPicPr>
        <p:blipFill>
          <a:blip r:embed="rId3"/>
          <a:stretch>
            <a:fillRect/>
          </a:stretch>
        </p:blipFill>
        <p:spPr>
          <a:xfrm>
            <a:off x="548640" y="1261872"/>
            <a:ext cx="11094415" cy="20228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3 of 3)</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booked invoice, endorsement and return invoice of the Operations ledger with its gross and outstanding premium, payment and remittance status and flags; status tabs, a search box and filters find an invoice and a row opens its Invoice 360.</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a:t>
                      </a:r>
                    </a:p>
                    <a:p>
                      <a:r>
                        <a:rPr sz="950" b="0">
                          <a:solidFill>
                            <a:srgbClr val="4B4B4B"/>
                          </a:solidFill>
                          <a:latin typeface="Arial"/>
                        </a:rPr>
                        <a:t>Operations Home › Find an Invoice</a:t>
                      </a:r>
                    </a:p>
                    <a:p>
                      <a:r>
                        <a:rPr sz="950" b="0">
                          <a:solidFill>
                            <a:srgbClr val="4B4B4B"/>
                          </a:solidFill>
                          <a:latin typeface="Arial"/>
                        </a:rPr>
                        <a:t>Section workbenches › Search Invoices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booked invoice and sees where its money is.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Invoices / Outstanding / Paid, Not Extracted / On Hold / Locked / Direct Payment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tab keeps the text and panel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No., ARN, policy, client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Partial, not case-sensitive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Insurer / Name of Assured / Account Officer</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Booked From / Booked To / Inception From / Inception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number with the ARN as the second line; migrated invoices carry the LEGACY tag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Assured / Client 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Assured name with the client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Booked / Inception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 Officer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Gross Premium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 two decimals; a return invoice in brackets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Remittance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Payment status and remittance status pills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Direct Payment, 2% CWT, Incentive, On Hold, Pending Negative Adjustment, Written Off, Cancelled, Estimated, Locked by &lt;team&gt;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Filters the list on the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Filters / Apply Filters</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filter panel / applies the filters; the button shows the number of filters set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360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search is partial and not case-sensitive on the invoice number, ARN, policy number, client and assured (FR-OP-005).</a:t>
                      </a:r>
                    </a:p>
                  </a:txBody>
                  <a:tcPr marL="54864" marR="54864" marT="27432" marB="27432">
                    <a:solidFill>
                      <a:srgbClr val="FFFFFF"/>
                    </a:solidFill>
                  </a:tcPr>
                </a:tc>
              </a:tr>
              <a:tr h="243840">
                <a:tc>
                  <a:txBody>
                    <a:bodyPr/>
                    <a:lstStyle/>
                    <a:p>
                      <a:r>
                        <a:rPr sz="1000" b="0">
                          <a:solidFill>
                            <a:srgbClr val="4B4B4B"/>
                          </a:solidFill>
                          <a:latin typeface="Arial"/>
                        </a:rPr>
                        <a:t>Payment status is derived from the premium receivable balances: Unpaid, Partially Paid, Paid; Not Applicable for direct payment and return invoices (FR-OP-004).</a:t>
                      </a:r>
                    </a:p>
                  </a:txBody>
                  <a:tcPr marL="54864" marR="54864" marT="27432" marB="27432">
                    <a:solidFill>
                      <a:srgbClr val="E5F5FF"/>
                    </a:solidFill>
                  </a:tcPr>
                </a:tc>
              </a:tr>
              <a:tr h="243840">
                <a:tc>
                  <a:txBody>
                    <a:bodyPr/>
                    <a:lstStyle/>
                    <a:p>
                      <a:r>
                        <a:rPr sz="1000" b="0">
                          <a:solidFill>
                            <a:srgbClr val="4B4B4B"/>
                          </a:solidFill>
                          <a:latin typeface="Arial"/>
                        </a:rPr>
                        <a:t>Every invoice booked in New Business, every endorsement and every return invoice is in the ledger with its components as booked (FR-OP-004).</a:t>
                      </a:r>
                    </a:p>
                  </a:txBody>
                  <a:tcPr marL="54864" marR="54864" marT="27432" marB="27432">
                    <a:solidFill>
                      <a:srgbClr val="FFFF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Searches the ARN on Invoice Search</a:t>
                      </a:r>
                    </a:p>
                  </a:txBody>
                  <a:tcPr marL="54864" marR="54864" marT="27432" marB="27432">
                    <a:solidFill>
                      <a:srgbClr val="FFFFFF"/>
                    </a:solidFill>
                  </a:tcPr>
                </a:tc>
                <a:tc>
                  <a:txBody>
                    <a:bodyPr/>
                    <a:lstStyle/>
                    <a:p>
                      <a:r>
                        <a:rPr sz="900" b="0">
                          <a:solidFill>
                            <a:srgbClr val="4B4B4B"/>
                          </a:solidFill>
                          <a:latin typeface="Arial"/>
                        </a:rPr>
                        <a:t>SCR-OP-02_wt-a-step-02.png</a:t>
                      </a:r>
                    </a:p>
                  </a:txBody>
                  <a:tcPr marL="54864" marR="54864" marT="27432" marB="27432">
                    <a:solidFill>
                      <a:srgbClr val="FFFF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42278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1 of 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5427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2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36581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3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46701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1 of 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5.png"/>
          <p:cNvPicPr>
            <a:picLocks noChangeAspect="1"/>
          </p:cNvPicPr>
          <p:nvPr/>
        </p:nvPicPr>
        <p:blipFill>
          <a:blip r:embed="rId3"/>
          <a:stretch>
            <a:fillRect/>
          </a:stretch>
        </p:blipFill>
        <p:spPr>
          <a:xfrm>
            <a:off x="548640" y="1261872"/>
            <a:ext cx="11094415" cy="45427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2 of 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44152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3 of 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op-02-empty.png"/>
          <p:cNvPicPr>
            <a:picLocks noChangeAspect="1"/>
          </p:cNvPicPr>
          <p:nvPr/>
        </p:nvPicPr>
        <p:blipFill>
          <a:blip r:embed="rId3"/>
          <a:stretch>
            <a:fillRect/>
          </a:stretch>
        </p:blipFill>
        <p:spPr>
          <a:xfrm>
            <a:off x="1023376" y="1261872"/>
            <a:ext cx="1014494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invoice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invoice as Operations sees it: the reference chips (invoice, ARN, policy, endorsement, root invoice), the payment and remittance status and the flags, the account workflow, the premium receivable by component with its balance, every movement, the invoice family, the Policy Transactions with their accounting entries, one tab per Operations team with its records, the history and the documents.</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 › Invoice 360</a:t>
                      </a:r>
                    </a:p>
                    <a:p>
                      <a:r>
                        <a:rPr sz="950" b="0">
                          <a:solidFill>
                            <a:srgbClr val="4B4B4B"/>
                          </a:solidFill>
                          <a:latin typeface="Arial"/>
                        </a:rPr>
                        <a:t>Invoice Search › open a row</a:t>
                      </a:r>
                    </a:p>
                    <a:p>
                      <a:r>
                        <a:rPr sz="950" b="0">
                          <a:solidFill>
                            <a:srgbClr val="4B4B4B"/>
                          </a:solidFill>
                          <a:latin typeface="Arial"/>
                        </a:rPr>
                        <a:t>Receipt, Remittance Batch, Endorsement Request, DTIP Status › invoice number</a:t>
                      </a:r>
                    </a:p>
                    <a:p>
                      <a:r>
                        <a:rPr sz="950" b="0">
                          <a:solidFill>
                            <a:srgbClr val="4B4B4B"/>
                          </a:solidFill>
                          <a:latin typeface="Arial"/>
                        </a:rPr>
                        <a:t>Policy Transactions of any screen › invoice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FR-OP-005, FR-OP-006, FR-OP-007, FR-OP-061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balances, statuses, history and accounting of the invoice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1" cy="45414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 ARN / Policy No. / Endorsement / Root Invoice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Endorsement and root invoice only for an endorsement or return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Payment status and remittance status pills</a:t>
                      </a:r>
                    </a:p>
                  </a:txBody>
                  <a:tcPr marL="54864" marR="54864" marT="27432" marB="27432">
                    <a:solidFill>
                      <a:srgbClr val="E5F5FF"/>
                    </a:solidFill>
                  </a:tcPr>
                </a:tc>
                <a:tc>
                  <a:txBody>
                    <a:bodyPr/>
                    <a:lstStyle/>
                    <a:p>
                      <a:r>
                        <a:rPr sz="850" b="0">
                          <a:solidFill>
                            <a:srgbClr val="4B4B4B"/>
                          </a:solidFill>
                          <a:latin typeface="Arial"/>
                        </a:rPr>
                        <a:t>Status pill</a:t>
                      </a:r>
                    </a:p>
                  </a:txBody>
                  <a:tcPr marL="54864" marR="54864" marT="27432" marB="27432">
                    <a:solidFill>
                      <a:srgbClr val="E5F5FF"/>
                    </a:solidFill>
                  </a:tcPr>
                </a:tc>
                <a:tc>
                  <a:txBody>
                    <a:bodyPr/>
                    <a:lstStyle/>
                    <a:p>
                      <a:r>
                        <a:rPr sz="850" b="0">
                          <a:solidFill>
                            <a:srgbClr val="4B4B4B"/>
                          </a:solidFill>
                          <a:latin typeface="Arial"/>
                        </a:rPr>
                        <a:t>For example Paid and Fully Remitted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Flags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Direct Payment, 2% CWT, Incentive, On Hold, Pending Negative Adjustment, Written Off, Cancelled, Estimated, Locked by &lt;team&gt;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Client / Insurer(s) / Period / Gross / Outstanding Premium / Booked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Insurer shares in %; period dd-MMM-yyyy to dd-MMM-yyyy; booked date, cost center and Account Officer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Account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The stages of the account from Draft to Booked with the history table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Components &amp; Balances / Movements / Invoice Family / Policy Transactions / Receipts / Remittances / Adjustments / Reconciliation / Commission / History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 team tab shows its number of records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Components &amp; Balances</a:t>
                      </a:r>
                    </a:p>
                  </a:txBody>
                  <a:tcPr marL="54864" marR="54864" marT="27432" marB="27432">
                    <a:solidFill>
                      <a:srgbClr val="FFFFFF"/>
                    </a:solidFill>
                  </a:tcPr>
                </a:tc>
                <a:tc>
                  <a:txBody>
                    <a:bodyPr/>
                    <a:lstStyle/>
                    <a:p>
                      <a:r>
                        <a:rPr sz="850" b="0">
                          <a:solidFill>
                            <a:srgbClr val="4B4B4B"/>
                          </a:solidFill>
                          <a:latin typeface="Arial"/>
                        </a:rPr>
                        <a:t>Component / Booked / Applied / Reversed / Remitted / Adjusted / Written Off / Balance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 - DST, PR - Premium Tax / VAT, PR - LGT, PR - Fire Service Tax, PR - Other Charges, PR - Basic Premium, PR - CWT 2307, Due to Insurer (DTIP), Commission Receivable, VAT on Commission, Withholding Tax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Balance = booked + adjusted - applied + reversed - remitted - written off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Components &amp; Balances</a:t>
                      </a:r>
                    </a:p>
                  </a:txBody>
                  <a:tcPr marL="54864" marR="54864" marT="27432" marB="27432">
                    <a:solidFill>
                      <a:srgbClr val="E5F5FF"/>
                    </a:solidFill>
                  </a:tcPr>
                </a:tc>
                <a:tc>
                  <a:txBody>
                    <a:bodyPr/>
                    <a:lstStyle/>
                    <a:p>
                      <a:r>
                        <a:rPr sz="850" b="0">
                          <a:solidFill>
                            <a:srgbClr val="4B4B4B"/>
                          </a:solidFill>
                          <a:latin typeface="Arial"/>
                        </a:rPr>
                        <a:t>Premium Due / Premium Collected / Premium Outstanding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Components &amp; Balances</a:t>
                      </a:r>
                    </a:p>
                  </a:txBody>
                  <a:tcPr marL="54864" marR="54864" marT="27432" marB="27432">
                    <a:solidFill>
                      <a:srgbClr val="FFFFFF"/>
                    </a:solidFill>
                  </a:tcPr>
                </a:tc>
                <a:tc>
                  <a:txBody>
                    <a:bodyPr/>
                    <a:lstStyle/>
                    <a:p>
                      <a:r>
                        <a:rPr sz="850" b="0">
                          <a:solidFill>
                            <a:srgbClr val="4B4B4B"/>
                          </a:solidFill>
                          <a:latin typeface="Arial"/>
                        </a:rPr>
                        <a:t>Insurer Shares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Share %, Lead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1" cy="384045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Movements</a:t>
                      </a:r>
                    </a:p>
                  </a:txBody>
                  <a:tcPr marL="54864" marR="54864" marT="27432" marB="27432">
                    <a:solidFill>
                      <a:srgbClr val="FFFFFF"/>
                    </a:solidFill>
                  </a:tcPr>
                </a:tc>
                <a:tc>
                  <a:txBody>
                    <a:bodyPr/>
                    <a:lstStyle/>
                    <a:p>
                      <a:r>
                        <a:rPr sz="850" b="0">
                          <a:solidFill>
                            <a:srgbClr val="4B4B4B"/>
                          </a:solidFill>
                          <a:latin typeface="Arial"/>
                        </a:rPr>
                        <a:t>Value Date / Movement / Component / Amount / Source / Documents / Posted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 OR, batch and journal numbers in Documents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Invoice Family</a:t>
                      </a:r>
                    </a:p>
                  </a:txBody>
                  <a:tcPr marL="54864" marR="54864" marT="27432" marB="27432">
                    <a:solidFill>
                      <a:srgbClr val="E5F5FF"/>
                    </a:solidFill>
                  </a:tcPr>
                </a:tc>
                <a:tc>
                  <a:txBody>
                    <a:bodyPr/>
                    <a:lstStyle/>
                    <a:p>
                      <a:r>
                        <a:rPr sz="850" b="0">
                          <a:solidFill>
                            <a:srgbClr val="4B4B4B"/>
                          </a:solidFill>
                          <a:latin typeface="Arial"/>
                        </a:rPr>
                        <a:t>Invoice No. / Transaction / Booked / Gross Premium / Outstanding / Payment / Remittance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original booking first, then every endorsement and cancellation; family totals under the table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Policy Transactions</a:t>
                      </a:r>
                    </a:p>
                  </a:txBody>
                  <a:tcPr marL="54864" marR="54864" marT="27432" marB="27432">
                    <a:solidFill>
                      <a:srgbClr val="FFFFFF"/>
                    </a:solidFill>
                  </a:tcPr>
                </a:tc>
                <a:tc>
                  <a:txBody>
                    <a:bodyPr/>
                    <a:lstStyle/>
                    <a:p>
                      <a:r>
                        <a:rPr sz="850" b="0">
                          <a:solidFill>
                            <a:srgbClr val="4B4B4B"/>
                          </a:solidFill>
                          <a:latin typeface="Arial"/>
                        </a:rPr>
                        <a:t>Date / Transaction / Reference / Premium Change / Taxes / Commission / Gross Premium After / Status / Accounting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Amounts in the invoice currency; the reference under the transaction, the commission change under the taxes, the accounting under the status; Not posted for an open request; a row opens its GL journals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Policy Transactions</a:t>
                      </a:r>
                    </a:p>
                  </a:txBody>
                  <a:tcPr marL="54864" marR="54864" marT="27432" marB="27432">
                    <a:solidFill>
                      <a:srgbClr val="E5F5FF"/>
                    </a:solidFill>
                  </a:tcPr>
                </a:tc>
                <a:tc>
                  <a:txBody>
                    <a:bodyPr/>
                    <a:lstStyle/>
                    <a:p>
                      <a:r>
                        <a:rPr sz="850" b="0">
                          <a:solidFill>
                            <a:srgbClr val="4B4B4B"/>
                          </a:solidFill>
                          <a:latin typeface="Arial"/>
                        </a:rPr>
                        <a:t>GL Account / Party / Narration / Debit / Credit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lines of each journal with the totals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Debits equal credits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Team tabs</a:t>
                      </a:r>
                    </a:p>
                  </a:txBody>
                  <a:tcPr marL="54864" marR="54864" marT="27432" marB="27432">
                    <a:solidFill>
                      <a:srgbClr val="FFFFFF"/>
                    </a:solidFill>
                  </a:tcPr>
                </a:tc>
                <a:tc>
                  <a:txBody>
                    <a:bodyPr/>
                    <a:lstStyle/>
                    <a:p>
                      <a:r>
                        <a:rPr sz="850" b="0">
                          <a:solidFill>
                            <a:srgbClr val="4B4B4B"/>
                          </a:solidFill>
                          <a:latin typeface="Arial"/>
                        </a:rPr>
                        <a:t>Record / Reference / Date / Amount / Status / Description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receipts and applications, remittance batches and holds, endorsement requests, reconciliation items or direct payment accounts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&lt;records&gt; for this invoice yet</a:t>
                      </a:r>
                    </a:p>
                  </a:txBody>
                  <a:tcPr marL="54864" marR="54864" marT="27432" marB="27432">
                    <a:solidFill>
                      <a:srgbClr val="FFFFFF"/>
                    </a:solidFill>
                  </a:tcPr>
                </a:tc>
              </a:tr>
              <a:tr h="350518">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When / What / Change / Module / Reason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flag and lock changes, newest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status changes yet</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Documents of the invoice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File type, size and content checks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Booked Invoice</a:t>
                      </a:r>
                    </a:p>
                  </a:txBody>
                  <a:tcPr marL="54864" marR="54864" marT="27432" marB="27432">
                    <a:solidFill>
                      <a:srgbClr val="FFFFFF"/>
                    </a:solidFill>
                  </a:tcPr>
                </a:tc>
                <a:tc>
                  <a:txBody>
                    <a:bodyPr/>
                    <a:lstStyle/>
                    <a:p>
                      <a:r>
                        <a:rPr sz="850" b="0">
                          <a:solidFill>
                            <a:srgbClr val="4B4B4B"/>
                          </a:solidFill>
                          <a:latin typeface="Arial"/>
                        </a:rPr>
                        <a:t>Processing and Adjustment users</a:t>
                      </a:r>
                    </a:p>
                  </a:txBody>
                  <a:tcPr marL="54864" marR="54864" marT="27432" marB="27432">
                    <a:solidFill>
                      <a:srgbClr val="FFFFFF"/>
                    </a:solidFill>
                  </a:tcPr>
                </a:tc>
                <a:tc>
                  <a:txBody>
                    <a:bodyPr/>
                    <a:lstStyle/>
                    <a:p>
                      <a:r>
                        <a:rPr sz="850" b="0">
                          <a:solidFill>
                            <a:srgbClr val="4B4B4B"/>
                          </a:solidFill>
                          <a:latin typeface="Arial"/>
                        </a:rPr>
                        <a:t>The invoice was booked in BIBS</a:t>
                      </a:r>
                    </a:p>
                  </a:txBody>
                  <a:tcPr marL="54864" marR="54864" marT="27432" marB="27432">
                    <a:solidFill>
                      <a:srgbClr val="FFFFFF"/>
                    </a:solidFill>
                  </a:tcPr>
                </a:tc>
                <a:tc>
                  <a:txBody>
                    <a:bodyPr/>
                    <a:lstStyle/>
                    <a:p>
                      <a:r>
                        <a:rPr sz="850" b="0">
                          <a:solidFill>
                            <a:srgbClr val="4B4B4B"/>
                          </a:solidFill>
                          <a:latin typeface="Arial"/>
                        </a:rPr>
                        <a:t>Opens the booked invoice of New Business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reference in a tab</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receipt, batch, request, cycle or billing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Journals button of a Policy Transactions row</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The transaction posted journals</a:t>
                      </a:r>
                    </a:p>
                  </a:txBody>
                  <a:tcPr marL="54864" marR="54864" marT="27432" marB="27432">
                    <a:solidFill>
                      <a:srgbClr val="FFFFFF"/>
                    </a:solidFill>
                  </a:tcPr>
                </a:tc>
                <a:tc>
                  <a:txBody>
                    <a:bodyPr/>
                    <a:lstStyle/>
                    <a:p>
                      <a:r>
                        <a:rPr sz="850" b="0">
                          <a:solidFill>
                            <a:srgbClr val="4B4B4B"/>
                          </a:solidFill>
                          <a:latin typeface="Arial"/>
                        </a:rPr>
                        <a:t>Shows the journal lines under the row; the journal number opens the journal for users who may view journals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team tab lists only the records of that team with their count; an empty tab says so (FR-OP-005).</a:t>
                      </a:r>
                    </a:p>
                  </a:txBody>
                  <a:tcPr marL="54864" marR="54864" marT="27432" marB="27432">
                    <a:solidFill>
                      <a:srgbClr val="FFFFFF"/>
                    </a:solidFill>
                  </a:tcPr>
                </a:tc>
              </a:tr>
              <a:tr h="243840">
                <a:tc>
                  <a:txBody>
                    <a:bodyPr/>
                    <a:lstStyle/>
                    <a:p>
                      <a:r>
                        <a:rPr sz="1000" b="0">
                          <a:solidFill>
                            <a:srgbClr val="4B4B4B"/>
                          </a:solidFill>
                          <a:latin typeface="Arial"/>
                        </a:rPr>
                        <a:t>The hold and remittance statuses are shown with their history and time stamps (FR-OP-005).</a:t>
                      </a:r>
                    </a:p>
                  </a:txBody>
                  <a:tcPr marL="54864" marR="54864" marT="27432" marB="27432">
                    <a:solidFill>
                      <a:srgbClr val="E5F5FF"/>
                    </a:solidFill>
                  </a:tcPr>
                </a:tc>
              </a:tr>
              <a:tr h="396240">
                <a:tc>
                  <a:txBody>
                    <a:bodyPr/>
                    <a:lstStyle/>
                    <a:p>
                      <a:r>
                        <a:rPr sz="1000" b="0">
                          <a:solidFill>
                            <a:srgbClr val="4B4B4B"/>
                          </a:solidFill>
                          <a:latin typeface="Arial"/>
                        </a:rPr>
                        <a:t>Policy Transactions show the original booking, then every endorsement, adjustment, cancellation and refund in date order, with the position after each posted row and its journals; the history reads the invoice ledger and the journals, no second ledger is kept (FR-OP-061).</a:t>
                      </a:r>
                    </a:p>
                  </a:txBody>
                  <a:tcPr marL="54864" marR="54864" marT="27432" marB="27432">
                    <a:solidFill>
                      <a:srgbClr val="FFFFFF"/>
                    </a:solidFill>
                  </a:tcPr>
                </a:tc>
              </a:tr>
              <a:tr h="243840">
                <a:tc>
                  <a:txBody>
                    <a:bodyPr/>
                    <a:lstStyle/>
                    <a:p>
                      <a:r>
                        <a:rPr sz="1000" b="0">
                          <a:solidFill>
                            <a:srgbClr val="4B4B4B"/>
                          </a:solidFill>
                          <a:latin typeface="Arial"/>
                        </a:rPr>
                        <a:t>A co-insured invoice stays one invoice with its insurer shares (FR-OP-007).</a:t>
                      </a:r>
                    </a:p>
                  </a:txBody>
                  <a:tcPr marL="54864" marR="54864" marT="27432" marB="27432">
                    <a:solidFill>
                      <a:srgbClr val="E5F5FF"/>
                    </a:solidFill>
                  </a:tcPr>
                </a:tc>
              </a:tr>
              <a:tr h="243840">
                <a:tc>
                  <a:txBody>
                    <a:bodyPr/>
                    <a:lstStyle/>
                    <a:p>
                      <a:r>
                        <a:rPr sz="1000" b="0">
                          <a:solidFill>
                            <a:srgbClr val="4B4B4B"/>
                          </a:solidFill>
                          <a:latin typeface="Arial"/>
                        </a:rPr>
                        <a:t>While an invoice is locked by a team, the other teams may only apply payments to it (FR-OP-006).</a:t>
                      </a:r>
                    </a:p>
                  </a:txBody>
                  <a:tcPr marL="54864" marR="54864" marT="27432" marB="27432">
                    <a:solidFill>
                      <a:srgbClr val="FFFF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10</a:t>
                      </a:r>
                    </a:p>
                  </a:txBody>
                  <a:tcPr marL="54864" marR="54864" marT="27432" marB="27432">
                    <a:solidFill>
                      <a:srgbClr val="FFFFFF"/>
                    </a:solidFill>
                  </a:tcPr>
                </a:tc>
                <a:tc>
                  <a:txBody>
                    <a:bodyPr/>
                    <a:lstStyle/>
                    <a:p>
                      <a:r>
                        <a:rPr sz="900" b="0">
                          <a:solidFill>
                            <a:srgbClr val="4B4B4B"/>
                          </a:solidFill>
                          <a:latin typeface="Arial"/>
                        </a:rPr>
                        <a:t>Opens Invoice 360 of the invoice, Remittances tab</a:t>
                      </a:r>
                    </a:p>
                  </a:txBody>
                  <a:tcPr marL="54864" marR="54864" marT="27432" marB="27432">
                    <a:solidFill>
                      <a:srgbClr val="FFFFFF"/>
                    </a:solidFill>
                  </a:tcPr>
                </a:tc>
                <a:tc>
                  <a:txBody>
                    <a:bodyPr/>
                    <a:lstStyle/>
                    <a:p>
                      <a:r>
                        <a:rPr sz="900" b="0">
                          <a:solidFill>
                            <a:srgbClr val="4B4B4B"/>
                          </a:solidFill>
                          <a:latin typeface="Arial"/>
                        </a:rPr>
                        <a:t>SCR-OP-03_wt-a-step-10.png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WT-C step 3</a:t>
                      </a:r>
                    </a:p>
                  </a:txBody>
                  <a:tcPr marL="54864" marR="54864" marT="27432" marB="27432">
                    <a:solidFill>
                      <a:srgbClr val="E5F5FF"/>
                    </a:solidFill>
                  </a:tcPr>
                </a:tc>
                <a:tc>
                  <a:txBody>
                    <a:bodyPr/>
                    <a:lstStyle/>
                    <a:p>
                      <a:r>
                        <a:rPr sz="900" b="0">
                          <a:solidFill>
                            <a:srgbClr val="4B4B4B"/>
                          </a:solidFill>
                          <a:latin typeface="Arial"/>
                        </a:rPr>
                        <a:t>Opens Invoice 360 of the direct payment invoice, Movements tab</a:t>
                      </a:r>
                    </a:p>
                  </a:txBody>
                  <a:tcPr marL="54864" marR="54864" marT="27432" marB="27432">
                    <a:solidFill>
                      <a:srgbClr val="E5F5FF"/>
                    </a:solidFill>
                  </a:tcPr>
                </a:tc>
                <a:tc>
                  <a:txBody>
                    <a:bodyPr/>
                    <a:lstStyle/>
                    <a:p>
                      <a:r>
                        <a:rPr sz="900" b="0">
                          <a:solidFill>
                            <a:srgbClr val="4B4B4B"/>
                          </a:solidFill>
                          <a:latin typeface="Arial"/>
                        </a:rPr>
                        <a:t>SCR-OP-03_wt-c-step-03.png</a:t>
                      </a:r>
                    </a:p>
                  </a:txBody>
                  <a:tcPr marL="54864" marR="54864" marT="27432" marB="27432">
                    <a:solidFill>
                      <a:srgbClr val="E5F5FF"/>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1 of 4)</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2 of 4)</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3 of 4)</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0.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4 of 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1.png"/>
          <p:cNvPicPr>
            <a:picLocks noChangeAspect="1"/>
          </p:cNvPicPr>
          <p:nvPr/>
        </p:nvPicPr>
        <p:blipFill>
          <a:blip r:embed="rId3"/>
          <a:stretch>
            <a:fillRect/>
          </a:stretch>
        </p:blipFill>
        <p:spPr>
          <a:xfrm>
            <a:off x="548640" y="1261872"/>
            <a:ext cx="11094415" cy="44948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original booking and the endorsement, with the journal of the booking expanded (part 1 of 2)</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2.png"/>
          <p:cNvPicPr>
            <a:picLocks noChangeAspect="1"/>
          </p:cNvPicPr>
          <p:nvPr/>
        </p:nvPicPr>
        <p:blipFill>
          <a:blip r:embed="rId3"/>
          <a:stretch>
            <a:fillRect/>
          </a:stretch>
        </p:blipFill>
        <p:spPr>
          <a:xfrm>
            <a:off x="548640" y="1261872"/>
            <a:ext cx="11094415" cy="27834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original booking and the endorsement, with the journal of the booking expanded (part 2 of 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03-03-remittances.png"/>
          <p:cNvPicPr>
            <a:picLocks noChangeAspect="1"/>
          </p:cNvPicPr>
          <p:nvPr/>
        </p:nvPicPr>
        <p:blipFill>
          <a:blip r:embed="rId3"/>
          <a:stretch>
            <a:fillRect/>
          </a:stretch>
        </p:blipFill>
        <p:spPr>
          <a:xfrm>
            <a:off x="548640" y="1261872"/>
            <a:ext cx="11094415" cy="38850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Remittances tab: the remittance batches of the invoice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3.png"/>
          <p:cNvPicPr>
            <a:picLocks noChangeAspect="1"/>
          </p:cNvPicPr>
          <p:nvPr/>
        </p:nvPicPr>
        <p:blipFill>
          <a:blip r:embed="rId3"/>
          <a:stretch>
            <a:fillRect/>
          </a:stretch>
        </p:blipFill>
        <p:spPr>
          <a:xfrm>
            <a:off x="548640" y="1261872"/>
            <a:ext cx="11094415" cy="45931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Movements tab: booking, application and remittance movements (part 1 of 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4.png"/>
          <p:cNvPicPr>
            <a:picLocks noChangeAspect="1"/>
          </p:cNvPicPr>
          <p:nvPr/>
        </p:nvPicPr>
        <p:blipFill>
          <a:blip r:embed="rId3"/>
          <a:stretch>
            <a:fillRect/>
          </a:stretch>
        </p:blipFill>
        <p:spPr>
          <a:xfrm>
            <a:off x="548640" y="1261872"/>
            <a:ext cx="11094415" cy="32850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Movements tab: booking, application and remittance movements (part 2 of 2)</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5.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1 of 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6.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2 of 4)</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3 of 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8.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4 of 4)</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Hand-offs and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Work that an Operations team completes by hand when the module that would do it is not active (an official receipt to issue, an unapplied item to set up), and the extract repository: the files Operations produces for the shared folders (remittance extracts, production registers, collection files), kept with their fingerprint.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Hand-offs and Extracts</a:t>
                      </a:r>
                    </a:p>
                    <a:p>
                      <a:r>
                        <a:rPr sz="950" b="0">
                          <a:solidFill>
                            <a:srgbClr val="4B4B4B"/>
                          </a:solidFill>
                          <a:latin typeface="Arial"/>
                        </a:rPr>
                        <a:t>Operations Home › Hand-offs to Complete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FR-OP-130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Work handed over is completed and closed; every extract file can be downloaded again.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Hand-offs / Closed Hand-offs / Extract Repository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Hand-offs</a:t>
                      </a:r>
                    </a:p>
                  </a:txBody>
                  <a:tcPr marL="54864" marR="54864" marT="27432" marB="27432">
                    <a:solidFill>
                      <a:srgbClr val="E5F5FF"/>
                    </a:solidFill>
                  </a:tcPr>
                </a:tc>
                <a:tc>
                  <a:txBody>
                    <a:bodyPr/>
                    <a:lstStyle/>
                    <a:p>
                      <a:r>
                        <a:rPr sz="850" b="0">
                          <a:solidFill>
                            <a:srgbClr val="4B4B4B"/>
                          </a:solidFill>
                          <a:latin typeface="Arial"/>
                        </a:rPr>
                        <a:t>Work / What To Do / From / Amount / Created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Close Hand-off dialog</a:t>
                      </a:r>
                    </a:p>
                  </a:txBody>
                  <a:tcPr marL="54864" marR="54864" marT="27432" marB="27432">
                    <a:solidFill>
                      <a:srgbClr val="FFFFFF"/>
                    </a:solidFill>
                  </a:tcPr>
                </a:tc>
                <a:tc>
                  <a:txBody>
                    <a:bodyPr/>
                    <a:lstStyle/>
                    <a:p>
                      <a:r>
                        <a:rPr sz="850" b="0">
                          <a:solidFill>
                            <a:srgbClr val="4B4B4B"/>
                          </a:solidFill>
                          <a:latin typeface="Arial"/>
                        </a:rPr>
                        <a:t>What Was Done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Say what was done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Extract Repository</a:t>
                      </a:r>
                    </a:p>
                  </a:txBody>
                  <a:tcPr marL="54864" marR="54864" marT="27432" marB="27432">
                    <a:solidFill>
                      <a:srgbClr val="E5F5FF"/>
                    </a:solidFill>
                  </a:tcPr>
                </a:tc>
                <a:tc>
                  <a:txBody>
                    <a:bodyPr/>
                    <a:lstStyle/>
                    <a:p>
                      <a:r>
                        <a:rPr sz="850" b="0">
                          <a:solidFill>
                            <a:srgbClr val="4B4B4B"/>
                          </a:solidFill>
                          <a:latin typeface="Arial"/>
                        </a:rPr>
                        <a:t>Folder / File / From / Size / Stored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Size in KB; stored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 Repository</a:t>
                      </a:r>
                    </a:p>
                  </a:txBody>
                  <a:tcPr marL="54864" marR="54864" marT="27432" marB="27432">
                    <a:solidFill>
                      <a:srgbClr val="FFFFFF"/>
                    </a:solidFill>
                  </a:tcPr>
                </a:tc>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stored file passes its checksum</a:t>
                      </a:r>
                    </a:p>
                  </a:txBody>
                  <a:tcPr marL="54864" marR="54864" marT="27432" marB="27432">
                    <a:solidFill>
                      <a:srgbClr val="FFFFFF"/>
                    </a:solidFill>
                  </a:tcPr>
                </a:tc>
                <a:tc>
                  <a:txBody>
                    <a:bodyPr/>
                    <a:lstStyle/>
                    <a:p>
                      <a:r>
                        <a:rPr sz="850" b="0">
                          <a:solidFill>
                            <a:srgbClr val="4B4B4B"/>
                          </a:solidFill>
                          <a:latin typeface="Arial"/>
                        </a:rPr>
                        <a:t>The stored file failed its checksum verification</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Close Hand-off</a:t>
                      </a:r>
                    </a:p>
                  </a:txBody>
                  <a:tcPr marL="54864" marR="54864" marT="27432" marB="27432">
                    <a:solidFill>
                      <a:srgbClr val="FFFFFF"/>
                    </a:solidFill>
                  </a:tcPr>
                </a:tc>
                <a:tc>
                  <a:txBody>
                    <a:bodyPr/>
                    <a:lstStyle/>
                    <a:p>
                      <a:r>
                        <a:rPr sz="850" b="0">
                          <a:solidFill>
                            <a:srgbClr val="4B4B4B"/>
                          </a:solidFill>
                          <a:latin typeface="Arial"/>
                        </a:rPr>
                        <a:t>Cashier, Cashiering Team Leader, System Administrator</a:t>
                      </a:r>
                    </a:p>
                  </a:txBody>
                  <a:tcPr marL="54864" marR="54864" marT="27432" marB="27432">
                    <a:solidFill>
                      <a:srgbClr val="FFFFFF"/>
                    </a:solidFill>
                  </a:tcPr>
                </a:tc>
                <a:tc>
                  <a:txBody>
                    <a:bodyPr/>
                    <a:lstStyle/>
                    <a:p>
                      <a:r>
                        <a:rPr sz="850" b="0">
                          <a:solidFill>
                            <a:srgbClr val="4B4B4B"/>
                          </a:solidFill>
                          <a:latin typeface="Arial"/>
                        </a:rPr>
                        <a:t>Open hand-off</a:t>
                      </a:r>
                    </a:p>
                  </a:txBody>
                  <a:tcPr marL="54864" marR="54864" marT="27432" marB="27432">
                    <a:solidFill>
                      <a:srgbClr val="FFFFFF"/>
                    </a:solidFill>
                  </a:tcPr>
                </a:tc>
                <a:tc>
                  <a:txBody>
                    <a:bodyPr/>
                    <a:lstStyle/>
                    <a:p>
                      <a:r>
                        <a:rPr sz="850" b="0">
                          <a:solidFill>
                            <a:srgbClr val="4B4B4B"/>
                          </a:solidFill>
                          <a:latin typeface="Arial"/>
                        </a:rPr>
                        <a:t>Asks what was done and closes the hand-off</a:t>
                      </a:r>
                    </a:p>
                  </a:txBody>
                  <a:tcPr marL="54864" marR="54864" marT="27432" marB="27432">
                    <a:solidFill>
                      <a:srgbClr val="FFFFFF"/>
                    </a:solidFill>
                  </a:tcPr>
                </a:tc>
                <a:tc>
                  <a:txBody>
                    <a:bodyPr/>
                    <a:lstStyle/>
                    <a:p>
                      <a:r>
                        <a:rPr sz="850" b="0">
                          <a:solidFill>
                            <a:srgbClr val="4B4B4B"/>
                          </a:solidFill>
                          <a:latin typeface="Arial"/>
                        </a:rPr>
                        <a:t>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stored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hand-off records work a team completes by hand; closing it needs a note of what was done (FR-OP-130).</a:t>
                      </a:r>
                    </a:p>
                  </a:txBody>
                  <a:tcPr marL="54864" marR="54864" marT="27432" marB="27432">
                    <a:solidFill>
                      <a:srgbClr val="FFFFFF"/>
                    </a:solidFill>
                  </a:tcPr>
                </a:tc>
              </a:tr>
              <a:tr h="243840">
                <a:tc>
                  <a:txBody>
                    <a:bodyPr/>
                    <a:lstStyle/>
                    <a:p>
                      <a:r>
                        <a:rPr sz="1000" b="0">
                          <a:solidFill>
                            <a:srgbClr val="4B4B4B"/>
                          </a:solidFill>
                          <a:latin typeface="Arial"/>
                        </a:rPr>
                        <a:t>Files for the shared folders are kept in the extract repository with their fingerprint until the shared drive is specified (FR-OP-130).</a:t>
                      </a:r>
                    </a:p>
                  </a:txBody>
                  <a:tcPr marL="54864" marR="54864" marT="27432" marB="27432">
                    <a:solidFill>
                      <a:srgbClr val="E5F5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SCR-OP-04 Hand-offs and Extracts: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Repository tab with the files produced by Remittance and Production Reconciliation (part 1 of 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SCR-OP-04 Hand-offs and Extracts: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19989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Repository tab with the files produced by Remittance and Production Reconciliation (part 2 of 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Operations report generated on screen or exported, and every file produced by a scheduled report job, with its parameters, the user and time, the number of rows and the file to download again.</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Report Archive</a:t>
                      </a:r>
                    </a:p>
                    <a:p>
                      <a:r>
                        <a:rPr sz="950" b="0">
                          <a:solidFill>
                            <a:srgbClr val="4B4B4B"/>
                          </a:solidFill>
                          <a:latin typeface="Arial"/>
                        </a:rPr>
                        <a:t>Reports › Report Centre › an Operations report (each run is archived)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Operations report run can be traced and its file downloaded again.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Report titles of the catalogue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Report title with its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parameters of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Generated or exported, with the format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Rows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Generated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 and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Download, or Available from &lt;date and time&gt; for a file of a scheduled job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runs of the report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Users who may export Operations reports</a:t>
                      </a:r>
                    </a:p>
                  </a:txBody>
                  <a:tcPr marL="54864" marR="54864" marT="27432" marB="27432">
                    <a:solidFill>
                      <a:srgbClr val="E5F5FF"/>
                    </a:solidFill>
                  </a:tcPr>
                </a:tc>
                <a:tc>
                  <a:txBody>
                    <a:bodyPr/>
                    <a:lstStyle/>
                    <a:p>
                      <a:r>
                        <a:rPr sz="850" b="0">
                          <a:solidFill>
                            <a:srgbClr val="4B4B4B"/>
                          </a:solidFill>
                          <a:latin typeface="Arial"/>
                        </a:rPr>
                        <a:t>The file is available</a:t>
                      </a:r>
                    </a:p>
                  </a:txBody>
                  <a:tcPr marL="54864" marR="54864" marT="27432" marB="27432">
                    <a:solidFill>
                      <a:srgbClr val="E5F5FF"/>
                    </a:solidFill>
                  </a:tcPr>
                </a:tc>
                <a:tc>
                  <a:txBody>
                    <a:bodyPr/>
                    <a:lstStyle/>
                    <a:p>
                      <a:r>
                        <a:rPr sz="850" b="0">
                          <a:solidFill>
                            <a:srgbClr val="4B4B4B"/>
                          </a:solidFill>
                          <a:latin typeface="Arial"/>
                        </a:rPr>
                        <a:t>Downloads the archived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Viewing a report and exporting it are separate permissions; a view-only user sees the list without Download (FR-OP-009).</a:t>
                      </a:r>
                    </a:p>
                  </a:txBody>
                  <a:tcPr marL="54864" marR="54864" marT="27432" marB="27432">
                    <a:solidFill>
                      <a:srgbClr val="FFFFFF"/>
                    </a:solidFill>
                  </a:tcPr>
                </a:tc>
              </a:tr>
              <a:tr h="243840">
                <a:tc>
                  <a:txBody>
                    <a:bodyPr/>
                    <a:lstStyle/>
                    <a:p>
                      <a:r>
                        <a:rPr sz="1000" b="0">
                          <a:solidFill>
                            <a:srgbClr val="4B4B4B"/>
                          </a:solidFill>
                          <a:latin typeface="Arial"/>
                        </a:rPr>
                        <a:t>Every generation and download is archived with its parameters, user and time (FR-OP-009).</a:t>
                      </a:r>
                    </a:p>
                  </a:txBody>
                  <a:tcPr marL="54864" marR="54864" marT="27432" marB="27432">
                    <a:solidFill>
                      <a:srgbClr val="E5F5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1.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Archive with the runs and their parameters (part 1 of 2)</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0551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Archive with the runs and their parameters (part 2 of 2)</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Notification Settings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Each Operations event with its description and whether the user receives it in the notification bell, by e-mail or both; events the user never changed follow their default.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Notification Settings</a:t>
                      </a:r>
                    </a:p>
                    <a:p>
                      <a:r>
                        <a:rPr sz="950" b="0">
                          <a:solidFill>
                            <a:srgbClr val="4B4B4B"/>
                          </a:solidFill>
                          <a:latin typeface="Arial"/>
                        </a:rPr>
                        <a:t>The bell › Notifications page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receives the Operations notices in the channels of the user's choice.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25880"/>
          <a:ext cx="11094411" cy="11048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Event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Event name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Module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Team that raises the event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In-App / E-mail</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Setting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Default or Yours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Tick or untick a channel</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user's choice for the event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user's choice applies to the in-app notice and the e-mail of the event; events not changed follow their default (FR-OP-036).</a:t>
                      </a:r>
                    </a:p>
                  </a:txBody>
                  <a:tcPr marL="54864" marR="54864" marT="27432" marB="27432">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1 of 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2 of 4)</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3 of 4)</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4 of 4)</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Cashiering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v2.1-01</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Cashiering: the work queues of the section counted live (unapplied payments, dispositions and receipt actions for approval, pre-booked payments, post-dated checks, BIR 2307 to validate, invoices with outstanding or partial premium, hand-offs), each opening its list.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Cashiering Workbench</a:t>
                      </a:r>
                    </a:p>
                    <a:p>
                      <a:r>
                        <a:rPr sz="950" b="0">
                          <a:solidFill>
                            <a:srgbClr val="4B4B4B"/>
                          </a:solidFill>
                          <a:latin typeface="Arial"/>
                        </a:rPr>
                        <a:t>Operations Home › Cashiering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cashier sees the work waiting and opens it.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1" cy="14782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257291">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Unapplied Payments, Dispositions for Approval, Pre-booked Payments, Cancellations and Reinstatements for Approval, Post-dated Checks in the Warehouse, Check Pick-ups Due, BIR 2307 to Validate, Invoices with Outstanding Premium, Partially Paid Invoices, Hand-offs to Complete</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Cashiering records and the invoice ledger (FR-OP-003).</a:t>
                      </a:r>
                    </a:p>
                  </a:txBody>
                  <a:tcPr marL="54864" marR="54864" marT="27432" marB="27432">
                    <a:solidFill>
                      <a:srgbClr val="FFFFFF"/>
                    </a:solidFill>
                  </a:tcPr>
                </a:tc>
              </a:tr>
              <a:tr h="396240">
                <a:tc>
                  <a:txBody>
                    <a:bodyPr/>
                    <a:lstStyle/>
                    <a:p>
                      <a:r>
                        <a:rPr sz="1000" b="0">
                          <a:solidFill>
                            <a:srgbClr val="4B4B4B"/>
                          </a:solidFill>
                          <a:latin typeface="Arial"/>
                        </a:rPr>
                        <a:t>The Check Pick-ups Due tile of the screenshot is withdrawn with check pick-up (CSHID.009 removed from scope, FR-OP-017, CLR-OP-38); the BIR 2307 to Validate tile moves to the Marketing Collection work with the PR 2307 reversal (FR-OP-113, CLR-OP-40).</a:t>
                      </a:r>
                    </a:p>
                  </a:txBody>
                  <a:tcPr marL="54864" marR="54864" marT="27432" marB="27432">
                    <a:solidFill>
                      <a:srgbClr val="E5F5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Cashiering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v2.1-01</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07-01-home.png"/>
          <p:cNvPicPr>
            <a:picLocks noChangeAspect="1"/>
          </p:cNvPicPr>
          <p:nvPr/>
        </p:nvPicPr>
        <p:blipFill>
          <a:blip r:embed="rId3"/>
          <a:stretch>
            <a:fillRect/>
          </a:stretch>
        </p:blipFill>
        <p:spPr>
          <a:xfrm>
            <a:off x="1091798" y="1261872"/>
            <a:ext cx="10008099"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Workbench with the work queues of the section</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over-the-counter payment of a walk-in payor: the references typed are matched on ARN, invoice, policy or PN number, the live preview shows how the money is applied component by component, and Issue AR and Apply issues the acknowledgement receipt, applies the payment and leaves any excess in unapplied collections.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Receive Payment</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FR-OP-011, FR-OP-018, FR-OP-019, FR-OP-020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AR is issued and the payment is applied, waiting for booking or kept unapplied.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1" cy="46862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ARN, Invoice, Policy or PN No.</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One or more references separated by commas or lines; applied oldest first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reference</a:t>
                      </a:r>
                    </a:p>
                  </a:txBody>
                  <a:tcPr marL="54864" marR="54864" marT="27432" marB="27432">
                    <a:solidFill>
                      <a:srgbClr val="FFFFFF"/>
                    </a:solidFill>
                  </a:tcPr>
                </a:tc>
                <a:tc>
                  <a:txBody>
                    <a:bodyPr/>
                    <a:lstStyle/>
                    <a:p>
                      <a:r>
                        <a:rPr sz="850" b="0">
                          <a:solidFill>
                            <a:srgbClr val="4B4B4B"/>
                          </a:solidFill>
                          <a:latin typeface="Arial"/>
                        </a:rPr>
                        <a:t>Enter at least one reference, or the payor code for an unmatched payment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Payor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Payor name is required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Payor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Assured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AR Class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Premium payments: Bills Payment, OTC, Trade, CLPC, PDC, Direct Credit; Non-premium payments (insurance payments): Refund, Other expenses, AR Insurance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3 letters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Converted at the BOOK rate of the 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Payment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Cash, Check, Direct Credit, ADA, Credit to Account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Check No. / Bank</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 60 characters; shown for a check</a:t>
                      </a:r>
                    </a:p>
                  </a:txBody>
                  <a:tcPr marL="54864" marR="54864" marT="27432" marB="27432">
                    <a:solidFill>
                      <a:srgbClr val="E5F5FF"/>
                    </a:solidFill>
                  </a:tcPr>
                </a:tc>
                <a:tc>
                  <a:txBody>
                    <a:bodyPr/>
                    <a:lstStyle/>
                    <a:p>
                      <a:r>
                        <a:rPr sz="850" b="0">
                          <a:solidFill>
                            <a:srgbClr val="4B4B4B"/>
                          </a:solidFill>
                          <a:latin typeface="Arial"/>
                        </a:rPr>
                        <a:t>Cond.: check number for a check</a:t>
                      </a:r>
                    </a:p>
                  </a:txBody>
                  <a:tcPr marL="54864" marR="54864" marT="27432" marB="27432">
                    <a:solidFill>
                      <a:srgbClr val="E5F5FF"/>
                    </a:solidFill>
                  </a:tcPr>
                </a:tc>
                <a:tc>
                  <a:txBody>
                    <a:bodyPr/>
                    <a:lstStyle/>
                    <a:p>
                      <a:r>
                        <a:rPr sz="850" b="0">
                          <a:solidFill>
                            <a:srgbClr val="4B4B4B"/>
                          </a:solidFill>
                          <a:latin typeface="Arial"/>
                        </a:rPr>
                        <a:t>Check number for a check payment</a:t>
                      </a:r>
                    </a:p>
                  </a:txBody>
                  <a:tcPr marL="54864" marR="54864" marT="27432" marB="27432">
                    <a:solidFill>
                      <a:srgbClr val="E5F5FF"/>
                    </a:solidFill>
                  </a:tcPr>
                </a:tc>
                <a:tc>
                  <a:txBody>
                    <a:bodyPr/>
                    <a:lstStyle/>
                    <a:p>
                      <a:r>
                        <a:rPr sz="850" b="0">
                          <a:solidFill>
                            <a:srgbClr val="4B4B4B"/>
                          </a:solidFill>
                          <a:latin typeface="Arial"/>
                        </a:rPr>
                        <a:t>Check number is required for a check payment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Application Preview</a:t>
                      </a:r>
                    </a:p>
                  </a:txBody>
                  <a:tcPr marL="54864" marR="54864" marT="27432" marB="27432">
                    <a:solidFill>
                      <a:srgbClr val="FFFFFF"/>
                    </a:solidFill>
                  </a:tcPr>
                </a:tc>
                <a:tc>
                  <a:txBody>
                    <a:bodyPr/>
                    <a:lstStyle/>
                    <a:p>
                      <a:r>
                        <a:rPr sz="850" b="0">
                          <a:solidFill>
                            <a:srgbClr val="4B4B4B"/>
                          </a:solidFill>
                          <a:latin typeface="Arial"/>
                        </a:rPr>
                        <a:t>Match outcome and BOOK rate</a:t>
                      </a:r>
                    </a:p>
                  </a:txBody>
                  <a:tcPr marL="54864" marR="54864" marT="27432" marB="27432">
                    <a:solidFill>
                      <a:srgbClr val="FFFFFF"/>
                    </a:solidFill>
                  </a:tcPr>
                </a:tc>
                <a:tc>
                  <a:txBody>
                    <a:bodyPr/>
                    <a:lstStyle/>
                    <a:p>
                      <a:r>
                        <a:rPr sz="850" b="0">
                          <a:solidFill>
                            <a:srgbClr val="4B4B4B"/>
                          </a:solidFill>
                          <a:latin typeface="Arial"/>
                        </a:rPr>
                        <a:t>Status pill and chip</a:t>
                      </a:r>
                    </a:p>
                  </a:txBody>
                  <a:tcPr marL="54864" marR="54864" marT="27432" marB="27432">
                    <a:solidFill>
                      <a:srgbClr val="FFFFFF"/>
                    </a:solidFill>
                  </a:tcPr>
                </a:tc>
                <a:tc>
                  <a:txBody>
                    <a:bodyPr/>
                    <a:lstStyle/>
                    <a:p>
                      <a:r>
                        <a:rPr sz="850" b="0">
                          <a:solidFill>
                            <a:srgbClr val="4B4B4B"/>
                          </a:solidFill>
                          <a:latin typeface="Arial"/>
                        </a:rPr>
                        <a:t>Booked, Pre-booked, Cancelled or No match; &lt;currency&gt; · BOOK &lt;rate&gt;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an ARN, invoice, policy or PN number to preview the application.</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Application Preview</a:t>
                      </a:r>
                    </a:p>
                  </a:txBody>
                  <a:tcPr marL="54864" marR="54864" marT="27432" marB="27432">
                    <a:solidFill>
                      <a:srgbClr val="E5F5FF"/>
                    </a:solidFill>
                  </a:tcPr>
                </a:tc>
                <a:tc>
                  <a:txBody>
                    <a:bodyPr/>
                    <a:lstStyle/>
                    <a:p>
                      <a:r>
                        <a:rPr sz="850" b="0">
                          <a:solidFill>
                            <a:srgbClr val="4B4B4B"/>
                          </a:solidFill>
                          <a:latin typeface="Arial"/>
                        </a:rPr>
                        <a:t>Component / Balance / Applied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table per invoice: DST, VAT / Premium Tax, LGT, FST, Other Charges, Basic Premium with the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Applied in this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Application Preview</a:t>
                      </a:r>
                    </a:p>
                  </a:txBody>
                  <a:tcPr marL="54864" marR="54864" marT="27432" marB="27432">
                    <a:solidFill>
                      <a:srgbClr val="FFFFFF"/>
                    </a:solidFill>
                  </a:tcPr>
                </a:tc>
                <a:tc>
                  <a:txBody>
                    <a:bodyPr/>
                    <a:lstStyle/>
                    <a:p>
                      <a:r>
                        <a:rPr sz="850" b="0">
                          <a:solidFill>
                            <a:srgbClr val="4B4B4B"/>
                          </a:solidFill>
                          <a:latin typeface="Arial"/>
                        </a:rPr>
                        <a:t>Applied / 2% CWT Withheld / Excess to Unapplied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2% CWT client is applied up to 98% of the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Issue AR and Apply</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The form is complete</a:t>
                      </a:r>
                    </a:p>
                  </a:txBody>
                  <a:tcPr marL="54864" marR="54864" marT="27432" marB="27432">
                    <a:solidFill>
                      <a:srgbClr val="FFFFFF"/>
                    </a:solidFill>
                  </a:tcPr>
                </a:tc>
                <a:tc>
                  <a:txBody>
                    <a:bodyPr/>
                    <a:lstStyle/>
                    <a:p>
                      <a:r>
                        <a:rPr sz="850" b="0">
                          <a:solidFill>
                            <a:srgbClr val="4B4B4B"/>
                          </a:solidFill>
                          <a:latin typeface="Arial"/>
                        </a:rPr>
                        <a:t>Issues the AR from the branch series, applies the payment by component and opens the receipt; an account not yet booked waits in the pre-booked queue, anything else goes to unapplied collections</a:t>
                      </a:r>
                    </a:p>
                  </a:txBody>
                  <a:tcPr marL="54864" marR="54864" marT="27432" marB="27432">
                    <a:solidFill>
                      <a:srgbClr val="FFFFFF"/>
                    </a:solidFill>
                  </a:tcPr>
                </a:tc>
                <a:tc>
                  <a:txBody>
                    <a:bodyPr/>
                    <a:lstStyle/>
                    <a:p>
                      <a:r>
                        <a:rPr sz="850" b="0">
                          <a:solidFill>
                            <a:srgbClr val="4B4B4B"/>
                          </a:solidFill>
                          <a:latin typeface="Arial"/>
                        </a:rPr>
                        <a:t>AR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Clear</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Empties the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payment is matched at acceptance on the ARN, invoice, policy or PN number: a booked invoice is applied at once, an account not yet booked waits in the pre-booked queue, a cancelled or unknown reference becomes an unapplied payment (FR-OP-018).</a:t>
                      </a:r>
                    </a:p>
                  </a:txBody>
                  <a:tcPr marL="54864" marR="54864" marT="27432" marB="27432">
                    <a:solidFill>
                      <a:srgbClr val="FFFFFF"/>
                    </a:solidFill>
                  </a:tcPr>
                </a:tc>
              </a:tr>
              <a:tr h="243840">
                <a:tc>
                  <a:txBody>
                    <a:bodyPr/>
                    <a:lstStyle/>
                    <a:p>
                      <a:r>
                        <a:rPr sz="1000" b="0">
                          <a:solidFill>
                            <a:srgbClr val="4B4B4B"/>
                          </a:solidFill>
                          <a:latin typeface="Arial"/>
                        </a:rPr>
                        <a:t>Payments are applied in the order DST, VAT / premium tax, LGT, fire service tax, other charges, basic premium; the premium due to the insurer is never applied (FR-OP-019).</a:t>
                      </a:r>
                    </a:p>
                  </a:txBody>
                  <a:tcPr marL="54864" marR="54864" marT="27432" marB="27432">
                    <a:solidFill>
                      <a:srgbClr val="E5F5FF"/>
                    </a:solidFill>
                  </a:tcPr>
                </a:tc>
              </a:tr>
              <a:tr h="243840">
                <a:tc>
                  <a:txBody>
                    <a:bodyPr/>
                    <a:lstStyle/>
                    <a:p>
                      <a:r>
                        <a:rPr sz="1000" b="0">
                          <a:solidFill>
                            <a:srgbClr val="4B4B4B"/>
                          </a:solidFill>
                          <a:latin typeface="Arial"/>
                        </a:rPr>
                        <a:t>The payment of a 2% CWT client is applied up to 98% of the premium; the 2% waits for the BIR 2307 and anything above it stays unapplied (FR-OP-019).</a:t>
                      </a:r>
                    </a:p>
                  </a:txBody>
                  <a:tcPr marL="54864" marR="54864" marT="27432" marB="27432">
                    <a:solidFill>
                      <a:srgbClr val="FFFFFF"/>
                    </a:solidFill>
                  </a:tcPr>
                </a:tc>
              </a:tr>
              <a:tr h="243840">
                <a:tc>
                  <a:txBody>
                    <a:bodyPr/>
                    <a:lstStyle/>
                    <a:p>
                      <a:r>
                        <a:rPr sz="1000" b="0">
                          <a:solidFill>
                            <a:srgbClr val="4B4B4B"/>
                          </a:solidFill>
                          <a:latin typeface="Arial"/>
                        </a:rPr>
                        <a:t>The amount is converted at the BOOK rate of the currency and the AR takes the next number of the branch series (FR-OP-010, FR-OP-011).</a:t>
                      </a:r>
                    </a:p>
                  </a:txBody>
                  <a:tcPr marL="54864" marR="54864" marT="27432" marB="27432">
                    <a:solidFill>
                      <a:srgbClr val="E5F5FF"/>
                    </a:solidFill>
                  </a:tcPr>
                </a:tc>
              </a:tr>
              <a:tr h="243840">
                <a:tc>
                  <a:txBody>
                    <a:bodyPr/>
                    <a:lstStyle/>
                    <a:p>
                      <a:r>
                        <a:rPr sz="1000" b="0">
                          <a:solidFill>
                            <a:srgbClr val="4B4B4B"/>
                          </a:solidFill>
                          <a:latin typeface="Arial"/>
                        </a:rPr>
                        <a:t>A non-premium payment of an insurer (refund, other expenses) is received as AR Insurance, apart from premium (FR-OP-020).</a:t>
                      </a:r>
                    </a:p>
                  </a:txBody>
                  <a:tcPr marL="54864" marR="54864" marT="27432" marB="27432">
                    <a:solidFill>
                      <a:srgbClr val="FFFFFF"/>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Receive Payment, enters the ARN, the payor, the amount paid and the payment date, and checks the preview</a:t>
                      </a:r>
                    </a:p>
                  </a:txBody>
                  <a:tcPr marL="54864" marR="54864" marT="27432" marB="27432">
                    <a:solidFill>
                      <a:srgbClr val="FFFFFF"/>
                    </a:solidFill>
                  </a:tcPr>
                </a:tc>
                <a:tc>
                  <a:txBody>
                    <a:bodyPr/>
                    <a:lstStyle/>
                    <a:p>
                      <a:r>
                        <a:rPr sz="900" b="0">
                          <a:solidFill>
                            <a:srgbClr val="4B4B4B"/>
                          </a:solidFill>
                          <a:latin typeface="Arial"/>
                        </a:rPr>
                        <a:t>SCR-OP-08_wt-a-step-03.png</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1 of 3)</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2 of 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9.png"/>
          <p:cNvPicPr>
            <a:picLocks noChangeAspect="1"/>
          </p:cNvPicPr>
          <p:nvPr/>
        </p:nvPicPr>
        <p:blipFill>
          <a:blip r:embed="rId3"/>
          <a:stretch>
            <a:fillRect/>
          </a:stretch>
        </p:blipFill>
        <p:spPr>
          <a:xfrm>
            <a:off x="548640" y="1261872"/>
            <a:ext cx="11094415" cy="8894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3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0.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1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1.png"/>
          <p:cNvPicPr>
            <a:picLocks noChangeAspect="1"/>
          </p:cNvPicPr>
          <p:nvPr/>
        </p:nvPicPr>
        <p:blipFill>
          <a:blip r:embed="rId3"/>
          <a:stretch>
            <a:fillRect/>
          </a:stretch>
        </p:blipFill>
        <p:spPr>
          <a:xfrm>
            <a:off x="548640" y="1261872"/>
            <a:ext cx="11094415" cy="42464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2 of 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2.png"/>
          <p:cNvPicPr>
            <a:picLocks noChangeAspect="1"/>
          </p:cNvPicPr>
          <p:nvPr/>
        </p:nvPicPr>
        <p:blipFill>
          <a:blip r:embed="rId3"/>
          <a:stretch>
            <a:fillRect/>
          </a:stretch>
        </p:blipFill>
        <p:spPr>
          <a:xfrm>
            <a:off x="548640" y="1261872"/>
            <a:ext cx="11094415" cy="24101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3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search over acknowledgement receipts and Head Office official receipts with ten criteria, the open cancellation and reinstatement requests for approval, and the issue of an official receipt for BDOI income (service fee, profit share, commission, incentive, others).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Receipts</a:t>
                      </a:r>
                    </a:p>
                    <a:p>
                      <a:r>
                        <a:rPr sz="950" b="0">
                          <a:solidFill>
                            <a:srgbClr val="4B4B4B"/>
                          </a:solidFill>
                          <a:latin typeface="Arial"/>
                        </a:rPr>
                        <a:t>Cashiering Workbench › Cancellations and Reinstatements for Approval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FR-OP-012, FR-OP-013, FR-OP-014, FR-OP-024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Receipts are found and ORs for BDOI income are issued.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1" cy="44271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Receipts / Cancellations and Reinstatements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Receipt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Receipt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Client Code / Invoice No. / Policy No. / Payor Name / Assured Name / Insurer</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Insurers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Amount / Date From / Date To</a:t>
                      </a:r>
                    </a:p>
                  </a:txBody>
                  <a:tcPr marL="54864" marR="54864" marT="27432" marB="27432">
                    <a:solidFill>
                      <a:srgbClr val="E5F5FF"/>
                    </a:solidFill>
                  </a:tcPr>
                </a:tc>
                <a:tc>
                  <a:txBody>
                    <a:bodyPr/>
                    <a:lstStyle/>
                    <a:p>
                      <a:r>
                        <a:rPr sz="850" b="0">
                          <a:solidFill>
                            <a:srgbClr val="4B4B4B"/>
                          </a:solidFill>
                          <a:latin typeface="Arial"/>
                        </a:rPr>
                        <a:t>Number, 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Kind /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AR, OR / All, Issued, Cancelled, Reinstated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Receipt No. / Date / Payor / Assured / Mode / Amount / Applied / Unapplied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Receipt number with its kind and class; payor with the assured or payor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receipts match the search</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Cancellations and Reinstatements</a:t>
                      </a:r>
                    </a:p>
                  </a:txBody>
                  <a:tcPr marL="54864" marR="54864" marT="27432" marB="27432">
                    <a:solidFill>
                      <a:srgbClr val="FFFFFF"/>
                    </a:solidFill>
                  </a:tcPr>
                </a:tc>
                <a:tc>
                  <a:txBody>
                    <a:bodyPr/>
                    <a:lstStyle/>
                    <a:p>
                      <a:r>
                        <a:rPr sz="850" b="0">
                          <a:solidFill>
                            <a:srgbClr val="4B4B4B"/>
                          </a:solidFill>
                          <a:latin typeface="Arial"/>
                        </a:rPr>
                        <a:t>Transaction No. / Reason / Amount / Requested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CAN-yyyy-n or RIN-yyyy-n with the action; requester name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OR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Service fee, profit share, commission, incentive,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OR type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Issue Official Receipt dialog</a:t>
                      </a:r>
                    </a:p>
                  </a:txBody>
                  <a:tcPr marL="54864" marR="54864" marT="27432" marB="27432">
                    <a:solidFill>
                      <a:srgbClr val="FFFFFF"/>
                    </a:solidFill>
                  </a:tcPr>
                </a:tc>
                <a:tc>
                  <a:txBody>
                    <a:bodyPr/>
                    <a:lstStyle/>
                    <a:p>
                      <a:r>
                        <a:rPr sz="850" b="0">
                          <a:solidFill>
                            <a:srgbClr val="4B4B4B"/>
                          </a:solidFill>
                          <a:latin typeface="Arial"/>
                        </a:rPr>
                        <a:t>Payor Name / Payor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 30 characters</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Payor name not blank</a:t>
                      </a:r>
                    </a:p>
                  </a:txBody>
                  <a:tcPr marL="54864" marR="54864" marT="27432" marB="27432">
                    <a:solidFill>
                      <a:srgbClr val="FFFFFF"/>
                    </a:solidFill>
                  </a:tcPr>
                </a:tc>
                <a:tc>
                  <a:txBody>
                    <a:bodyPr/>
                    <a:lstStyle/>
                    <a:p>
                      <a:r>
                        <a:rPr sz="850" b="0">
                          <a:solidFill>
                            <a:srgbClr val="4B4B4B"/>
                          </a:solidFill>
                          <a:latin typeface="Arial"/>
                        </a:rPr>
                        <a:t>Payor name is required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Currency / Mode of Payment / Check No.</a:t>
                      </a:r>
                    </a:p>
                  </a:txBody>
                  <a:tcPr marL="54864" marR="54864" marT="27432" marB="27432">
                    <a:solidFill>
                      <a:srgbClr val="E5F5FF"/>
                    </a:solidFill>
                  </a:tcPr>
                </a:tc>
                <a:tc>
                  <a:txBody>
                    <a:bodyPr/>
                    <a:lstStyle/>
                    <a:p>
                      <a:r>
                        <a:rPr sz="850" b="0">
                          <a:solidFill>
                            <a:srgbClr val="4B4B4B"/>
                          </a:solidFill>
                          <a:latin typeface="Arial"/>
                        </a:rPr>
                        <a:t>Text, Drop-down</a:t>
                      </a:r>
                    </a:p>
                  </a:txBody>
                  <a:tcPr marL="54864" marR="54864" marT="27432" marB="27432">
                    <a:solidFill>
                      <a:srgbClr val="E5F5FF"/>
                    </a:solidFill>
                  </a:tcPr>
                </a:tc>
                <a:tc>
                  <a:txBody>
                    <a:bodyPr/>
                    <a:lstStyle/>
                    <a:p>
                      <a:r>
                        <a:rPr sz="850" b="0">
                          <a:solidFill>
                            <a:srgbClr val="4B4B4B"/>
                          </a:solidFill>
                          <a:latin typeface="Arial"/>
                        </a:rPr>
                        <a:t>Cash, Check, Direct Credit, Credit to Account, Non Cash</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Issue Official Receipt dialog</a:t>
                      </a:r>
                    </a:p>
                  </a:txBody>
                  <a:tcPr marL="54864" marR="54864" marT="27432" marB="27432">
                    <a:solidFill>
                      <a:srgbClr val="FFFFFF"/>
                    </a:solidFill>
                  </a:tcPr>
                </a:tc>
                <a:tc>
                  <a:txBody>
                    <a:bodyPr/>
                    <a:lstStyle/>
                    <a:p>
                      <a:r>
                        <a:rPr sz="850" b="0">
                          <a:solidFill>
                            <a:srgbClr val="4B4B4B"/>
                          </a:solidFill>
                          <a:latin typeface="Arial"/>
                        </a:rPr>
                        <a:t>Gross Amount / VAT / Withholding Tax</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Gross above zero; VAT and withholding tax not negative</a:t>
                      </a:r>
                    </a:p>
                  </a:txBody>
                  <a:tcPr marL="54864" marR="54864" marT="27432" marB="27432">
                    <a:solidFill>
                      <a:srgbClr val="FFFFFF"/>
                    </a:solidFill>
                  </a:tcPr>
                </a:tc>
                <a:tc>
                  <a:txBody>
                    <a:bodyPr/>
                    <a:lstStyle/>
                    <a:p>
                      <a:r>
                        <a:rPr sz="850" b="0">
                          <a:solidFill>
                            <a:srgbClr val="4B4B4B"/>
                          </a:solidFill>
                          <a:latin typeface="Arial"/>
                        </a:rPr>
                        <a:t>Enter the gross amount / VAT and withholding tax cannot be negative</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2307 Certificate Ref. / 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Issue Official Receipt / Issue OR</a:t>
                      </a:r>
                    </a:p>
                  </a:txBody>
                  <a:tcPr marL="54864" marR="54864" marT="27432" marB="27432">
                    <a:solidFill>
                      <a:srgbClr val="FFFFFF"/>
                    </a:solidFill>
                  </a:tcPr>
                </a:tc>
                <a:tc>
                  <a:txBody>
                    <a:bodyPr/>
                    <a:lstStyle/>
                    <a:p>
                      <a:r>
                        <a:rPr sz="850" b="0">
                          <a:solidFill>
                            <a:srgbClr val="4B4B4B"/>
                          </a:solidFill>
                          <a:latin typeface="Arial"/>
                        </a:rPr>
                        <a:t>Cashier (Head Office)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Issues the OR from the Head Office series with its VAT and withholding tax lines and opens it</a:t>
                      </a:r>
                    </a:p>
                  </a:txBody>
                  <a:tcPr marL="54864" marR="54864" marT="27432" marB="27432">
                    <a:solidFill>
                      <a:srgbClr val="FFFFFF"/>
                    </a:solidFill>
                  </a:tcPr>
                </a:tc>
                <a:tc>
                  <a:txBody>
                    <a:bodyPr/>
                    <a:lstStyle/>
                    <a:p>
                      <a:r>
                        <a:rPr sz="850" b="0">
                          <a:solidFill>
                            <a:srgbClr val="4B4B4B"/>
                          </a:solidFill>
                          <a:latin typeface="Arial"/>
                        </a:rPr>
                        <a:t>OR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Search / Filters</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Filters the receipts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Receipt</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receipt of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Request for approval</a:t>
                      </a:r>
                    </a:p>
                  </a:txBody>
                  <a:tcPr marL="54864" marR="54864" marT="27432" marB="27432">
                    <a:solidFill>
                      <a:srgbClr val="E5F5FF"/>
                    </a:solidFill>
                  </a:tcPr>
                </a:tc>
                <a:tc>
                  <a:txBody>
                    <a:bodyPr/>
                    <a:lstStyle/>
                    <a:p>
                      <a:r>
                        <a:rPr sz="850" b="0">
                          <a:solidFill>
                            <a:srgbClr val="4B4B4B"/>
                          </a:solidFill>
                          <a:latin typeface="Arial"/>
                        </a:rPr>
                        <a:t>Asks for confirmation and applies the cancellation or reinstatement to the receipt with its postings</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Resubmit</a:t>
                      </a:r>
                    </a:p>
                  </a:txBody>
                  <a:tcPr marL="54864" marR="54864" marT="27432" marB="27432">
                    <a:solidFill>
                      <a:srgbClr val="FFFFFF"/>
                    </a:solidFill>
                  </a:tcPr>
                </a:tc>
                <a:tc>
                  <a:txBody>
                    <a:bodyPr/>
                    <a:lstStyle/>
                    <a:p>
                      <a:r>
                        <a:rPr sz="850" b="0">
                          <a:solidFill>
                            <a:srgbClr val="4B4B4B"/>
                          </a:solidFill>
                          <a:latin typeface="Arial"/>
                        </a:rPr>
                        <a:t>Cashier who requested it</a:t>
                      </a:r>
                    </a:p>
                  </a:txBody>
                  <a:tcPr marL="54864" marR="54864" marT="27432" marB="27432">
                    <a:solidFill>
                      <a:srgbClr val="FFFFFF"/>
                    </a:solidFill>
                  </a:tcPr>
                </a:tc>
                <a:tc>
                  <a:txBody>
                    <a:bodyPr/>
                    <a:lstStyle/>
                    <a:p>
                      <a:r>
                        <a:rPr sz="850" b="0">
                          <a:solidFill>
                            <a:srgbClr val="4B4B4B"/>
                          </a:solidFill>
                          <a:latin typeface="Arial"/>
                        </a:rPr>
                        <a:t>Request returned to Requested</a:t>
                      </a:r>
                    </a:p>
                  </a:txBody>
                  <a:tcPr marL="54864" marR="54864" marT="27432" marB="27432">
                    <a:solidFill>
                      <a:srgbClr val="FFFFFF"/>
                    </a:solidFill>
                  </a:tcPr>
                </a:tc>
                <a:tc>
                  <a:txBody>
                    <a:bodyPr/>
                    <a:lstStyle/>
                    <a:p>
                      <a:r>
                        <a:rPr sz="850" b="0">
                          <a:solidFill>
                            <a:srgbClr val="4B4B4B"/>
                          </a:solidFill>
                          <a:latin typeface="Arial"/>
                        </a:rPr>
                        <a:t>Sends the request for approval again</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OR is issued only from a Head Office series; an AR from the series of the receiving branch (FR-OP-010, FR-OP-012).</a:t>
                      </a:r>
                    </a:p>
                  </a:txBody>
                  <a:tcPr marL="54864" marR="54864" marT="27432" marB="27432">
                    <a:solidFill>
                      <a:srgbClr val="FFFFFF"/>
                    </a:solidFill>
                  </a:tcPr>
                </a:tc>
              </a:tr>
              <a:tr h="243840">
                <a:tc>
                  <a:txBody>
                    <a:bodyPr/>
                    <a:lstStyle/>
                    <a:p>
                      <a:r>
                        <a:rPr sz="1000" b="0">
                          <a:solidFill>
                            <a:srgbClr val="4B4B4B"/>
                          </a:solidFill>
                          <a:latin typeface="Arial"/>
                        </a:rPr>
                        <a:t>The receipt search has ten criteria and every search is logged (FR-OP-024).</a:t>
                      </a:r>
                    </a:p>
                  </a:txBody>
                  <a:tcPr marL="54864" marR="54864" marT="27432" marB="27432">
                    <a:solidFill>
                      <a:srgbClr val="E5F5FF"/>
                    </a:solidFill>
                  </a:tcPr>
                </a:tc>
              </a:tr>
              <a:tr h="243840">
                <a:tc>
                  <a:txBody>
                    <a:bodyPr/>
                    <a:lstStyle/>
                    <a:p>
                      <a:r>
                        <a:rPr sz="1000" b="0">
                          <a:solidFill>
                            <a:srgbClr val="4B4B4B"/>
                          </a:solidFill>
                          <a:latin typeface="Arial"/>
                        </a:rPr>
                        <a:t>A cancellation or reinstatement is approved by a Cashiering Team Leader other than its requester (FR-OP-013, FR-OP-014).</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1 of 3)</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4.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2 of 3)</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30987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3 of 3)</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09-02-actions.png"/>
          <p:cNvPicPr>
            <a:picLocks noChangeAspect="1"/>
          </p:cNvPicPr>
          <p:nvPr/>
        </p:nvPicPr>
        <p:blipFill>
          <a:blip r:embed="rId3"/>
          <a:stretch>
            <a:fillRect/>
          </a:stretch>
        </p:blipFill>
        <p:spPr>
          <a:xfrm>
            <a:off x="548640" y="1261872"/>
            <a:ext cx="11094415" cy="40265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Cancellations and Reinstatements tab of the Cashiering Team Leader</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09-03-issue_or.png"/>
          <p:cNvPicPr>
            <a:picLocks noChangeAspect="1"/>
          </p:cNvPicPr>
          <p:nvPr/>
        </p:nvPicPr>
        <p:blipFill>
          <a:blip r:embed="rId3"/>
          <a:stretch>
            <a:fillRect/>
          </a:stretch>
        </p:blipFill>
        <p:spPr>
          <a:xfrm>
            <a:off x="1894889" y="1261872"/>
            <a:ext cx="840191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Issue Official Receipt dialog for a service fee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AR or OR: payor, number, status and flags, the amounts applied and unapplied with the BOOK rate, the workflow of an open cancellation or reinstatement, and the tabs Applications, Lines, Journal and History. Print produces the receipt PDF; Cancel Receipt and Reinstate go to the Cashiering Team Leader.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Receipts › Receipt</a:t>
                      </a:r>
                    </a:p>
                    <a:p>
                      <a:r>
                        <a:rPr sz="950" b="0">
                          <a:solidFill>
                            <a:srgbClr val="4B4B4B"/>
                          </a:solidFill>
                          <a:latin typeface="Arial"/>
                        </a:rPr>
                        <a:t>Receipts › open a row</a:t>
                      </a:r>
                    </a:p>
                    <a:p>
                      <a:r>
                        <a:rPr sz="950" b="0">
                          <a:solidFill>
                            <a:srgbClr val="4B4B4B"/>
                          </a:solidFill>
                          <a:latin typeface="Arial"/>
                        </a:rPr>
                        <a:t>Receive Payment (after Issue AR and Apply)</a:t>
                      </a:r>
                    </a:p>
                    <a:p>
                      <a:r>
                        <a:rPr sz="950" b="0">
                          <a:solidFill>
                            <a:srgbClr val="4B4B4B"/>
                          </a:solidFill>
                          <a:latin typeface="Arial"/>
                        </a:rPr>
                        <a:t>Unapplied Payment › Open Receipt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FR-OP-011, FR-OP-012, FR-OP-013, FR-OP-014, FR-OP-024, FR-OP-025, FR-OP-027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receipt, its applications and its postings are visible; cancellations and reinstatements are approved by a second user.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Receipt No. chip and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AR or OR number; Issued, Cancelled, Reinstated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Flags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With Unapplied, Printed &lt;n&gt;x, Reinstated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Receipt Date / Payor / Amount / Applied / Unapplied / Mode / Currency / BOOK Rate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Amounts with two decimals; mode with the check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Receipt action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Requested, For approval, Posted with the history table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Applications / Lines / Journal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Applications</a:t>
                      </a:r>
                    </a:p>
                  </a:txBody>
                  <a:tcPr marL="54864" marR="54864" marT="27432" marB="27432">
                    <a:solidFill>
                      <a:srgbClr val="E5F5FF"/>
                    </a:solidFill>
                  </a:tcPr>
                </a:tc>
                <a:tc>
                  <a:txBody>
                    <a:bodyPr/>
                    <a:lstStyle/>
                    <a:p>
                      <a:r>
                        <a:rPr sz="850" b="0">
                          <a:solidFill>
                            <a:srgbClr val="4B4B4B"/>
                          </a:solidFill>
                          <a:latin typeface="Arial"/>
                        </a:rPr>
                        <a:t>Invoice / Reference / By Component / Applied / Commission Realized / Value Date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with its ARN; the amount by component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Nothing applied from this receipt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Invoice / Item / Insurer / Gross / VAT / WTAX / Net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OR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Journal</a:t>
                      </a:r>
                    </a:p>
                  </a:txBody>
                  <a:tcPr marL="54864" marR="54864" marT="27432" marB="27432">
                    <a:solidFill>
                      <a:srgbClr val="E5F5FF"/>
                    </a:solidFill>
                  </a:tcPr>
                </a:tc>
                <a:tc>
                  <a:txBody>
                    <a:bodyPr/>
                    <a:lstStyle/>
                    <a:p>
                      <a:r>
                        <a:rPr sz="850" b="0">
                          <a:solidFill>
                            <a:srgbClr val="4B4B4B"/>
                          </a:solidFill>
                          <a:latin typeface="Arial"/>
                        </a:rPr>
                        <a:t>Journal Batch / Posting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Receipt, each application and each action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journal posted yet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Transaction No. / Action / Reason / Amount / Requested / Approved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Names and times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cancellation or reinstatement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Cancel Receipt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a reason</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Cancel Receipt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Mandatory for the reason Others</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Reinstate dialog</a:t>
                      </a:r>
                    </a:p>
                  </a:txBody>
                  <a:tcPr marL="54864" marR="54864" marT="27432" marB="27432">
                    <a:solidFill>
                      <a:srgbClr val="E5F5FF"/>
                    </a:solidFill>
                  </a:tcPr>
                </a:tc>
                <a:tc>
                  <a:txBody>
                    <a:bodyPr/>
                    <a:lstStyle/>
                    <a:p>
                      <a:r>
                        <a:rPr sz="850" b="0">
                          <a:solidFill>
                            <a:srgbClr val="4B4B4B"/>
                          </a:solidFill>
                          <a:latin typeface="Arial"/>
                        </a:rPr>
                        <a:t>Full / Partial</a:t>
                      </a:r>
                    </a:p>
                  </a:txBody>
                  <a:tcPr marL="54864" marR="54864" marT="27432" marB="27432">
                    <a:solidFill>
                      <a:srgbClr val="E5F5FF"/>
                    </a:solidFill>
                  </a:tcPr>
                </a:tc>
                <a:tc>
                  <a:txBody>
                    <a:bodyPr/>
                    <a:lstStyle/>
                    <a:p>
                      <a:r>
                        <a:rPr sz="850" b="0">
                          <a:solidFill>
                            <a:srgbClr val="4B4B4B"/>
                          </a:solidFill>
                          <a:latin typeface="Arial"/>
                        </a:rPr>
                        <a:t>Radio</a:t>
                      </a:r>
                    </a:p>
                  </a:txBody>
                  <a:tcPr marL="54864" marR="54864" marT="27432" marB="27432">
                    <a:solidFill>
                      <a:srgbClr val="E5F5FF"/>
                    </a:solidFill>
                  </a:tcPr>
                </a:tc>
                <a:tc>
                  <a:txBody>
                    <a:bodyPr/>
                    <a:lstStyle/>
                    <a:p>
                      <a:r>
                        <a:rPr sz="850" b="0">
                          <a:solidFill>
                            <a:srgbClr val="4B4B4B"/>
                          </a:solidFill>
                          <a:latin typeface="Arial"/>
                        </a:rPr>
                        <a:t>Full = the receipt amount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Reinstate dialog</a:t>
                      </a:r>
                    </a:p>
                  </a:txBody>
                  <a:tcPr marL="54864" marR="54864" marT="27432" marB="27432">
                    <a:solidFill>
                      <a:srgbClr val="FFFFFF"/>
                    </a:solidFill>
                  </a:tcPr>
                </a:tc>
                <a:tc>
                  <a:txBody>
                    <a:bodyPr/>
                    <a:lstStyle/>
                    <a:p>
                      <a:r>
                        <a:rPr sz="850" b="0">
                          <a:solidFill>
                            <a:srgbClr val="4B4B4B"/>
                          </a:solidFill>
                          <a:latin typeface="Arial"/>
                        </a:rPr>
                        <a:t>Reason Group / 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Premium or Direct Payment; the reasons of the group</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Reinstate dialog</a:t>
                      </a:r>
                    </a:p>
                  </a:txBody>
                  <a:tcPr marL="54864" marR="54864" marT="27432" marB="27432">
                    <a:solidFill>
                      <a:srgbClr val="FFFFFF"/>
                    </a:solidFill>
                  </a:tcPr>
                </a:tc>
                <a:tc>
                  <a:txBody>
                    <a:bodyPr/>
                    <a:lstStyle/>
                    <a:p>
                      <a:r>
                        <a:rPr sz="850" b="0">
                          <a:solidFill>
                            <a:srgbClr val="4B4B4B"/>
                          </a:solidFill>
                          <a:latin typeface="Arial"/>
                        </a:rPr>
                        <a:t>Amount to Reinstate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Above zero, at most the receipt amount</a:t>
                      </a:r>
                    </a:p>
                  </a:txBody>
                  <a:tcPr marL="54864" marR="54864" marT="27432" marB="27432">
                    <a:solidFill>
                      <a:srgbClr val="FFFFFF"/>
                    </a:solidFill>
                  </a:tcPr>
                </a:tc>
                <a:tc>
                  <a:txBody>
                    <a:bodyPr/>
                    <a:lstStyle/>
                    <a:p>
                      <a:r>
                        <a:rPr sz="850" b="0">
                          <a:solidFill>
                            <a:srgbClr val="4B4B4B"/>
                          </a:solidFill>
                          <a:latin typeface="Arial"/>
                        </a:rPr>
                        <a:t>Cond.: partial</a:t>
                      </a:r>
                    </a:p>
                  </a:txBody>
                  <a:tcPr marL="54864" marR="54864" marT="27432" marB="27432">
                    <a:solidFill>
                      <a:srgbClr val="FFFFFF"/>
                    </a:solidFill>
                  </a:tcPr>
                </a:tc>
                <a:tc>
                  <a:txBody>
                    <a:bodyPr/>
                    <a:lstStyle/>
                    <a:p>
                      <a:r>
                        <a:rPr sz="850" b="0">
                          <a:solidFill>
                            <a:srgbClr val="4B4B4B"/>
                          </a:solidFill>
                          <a:latin typeface="Arial"/>
                        </a:rPr>
                        <a:t>Within the receipt amount</a:t>
                      </a:r>
                    </a:p>
                  </a:txBody>
                  <a:tcPr marL="54864" marR="54864" marT="27432" marB="27432">
                    <a:solidFill>
                      <a:srgbClr val="FFFFFF"/>
                    </a:solidFill>
                  </a:tcPr>
                </a:tc>
                <a:tc>
                  <a:txBody>
                    <a:bodyPr/>
                    <a:lstStyle/>
                    <a:p>
                      <a:r>
                        <a:rPr sz="850" b="0">
                          <a:solidFill>
                            <a:srgbClr val="4B4B4B"/>
                          </a:solidFill>
                          <a:latin typeface="Arial"/>
                        </a:rPr>
                        <a:t>Enter an amount above zero and at most &lt;amount&gt;</a:t>
                      </a:r>
                    </a:p>
                  </a:txBody>
                  <a:tcPr marL="54864" marR="54864" marT="27432" marB="27432">
                    <a:solidFill>
                      <a:srgbClr val="FFFFFF"/>
                    </a:solidFill>
                  </a:tcPr>
                </a:tc>
              </a:tr>
              <a:tr h="480057">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Reinstate dialog</a:t>
                      </a:r>
                    </a:p>
                  </a:txBody>
                  <a:tcPr marL="54864" marR="54864" marT="27432" marB="27432">
                    <a:solidFill>
                      <a:srgbClr val="E5F5FF"/>
                    </a:solidFill>
                  </a:tcPr>
                </a:tc>
                <a:tc>
                  <a:txBody>
                    <a:bodyPr/>
                    <a:lstStyle/>
                    <a:p>
                      <a:r>
                        <a:rPr sz="850" b="0">
                          <a:solidFill>
                            <a:srgbClr val="4B4B4B"/>
                          </a:solidFill>
                          <a:latin typeface="Arial"/>
                        </a:rPr>
                        <a:t>Invoice No. / AR / OR No. / Assured / Payor / Account Officer / Unit Head / Team Leader / 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 the Account Officer, Unit Head and Team Leader for the premium group</a:t>
                      </a:r>
                    </a:p>
                  </a:txBody>
                  <a:tcPr marL="54864" marR="54864" marT="27432" marB="27432">
                    <a:solidFill>
                      <a:srgbClr val="E5F5FF"/>
                    </a:solidFill>
                  </a:tcPr>
                </a:tc>
                <a:tc>
                  <a:txBody>
                    <a:bodyPr/>
                    <a:lstStyle/>
                    <a:p>
                      <a:r>
                        <a:rPr sz="850" b="0">
                          <a:solidFill>
                            <a:srgbClr val="4B4B4B"/>
                          </a:solidFill>
                          <a:latin typeface="Arial"/>
                        </a:rPr>
                        <a:t>Y (Remarks N)</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&lt;field&gt; is required</a:t>
                      </a:r>
                    </a:p>
                  </a:txBody>
                  <a:tcPr marL="54864" marR="54864" marT="27432" marB="27432">
                    <a:solidFill>
                      <a:srgbClr val="E5F5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Print (PDF)</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receipt PDF; the print count is kept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Cancel Receipt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Issued and no request open</a:t>
                      </a:r>
                    </a:p>
                  </a:txBody>
                  <a:tcPr marL="54864" marR="54864" marT="27432" marB="27432">
                    <a:solidFill>
                      <a:srgbClr val="E5F5FF"/>
                    </a:solidFill>
                  </a:tcPr>
                </a:tc>
                <a:tc>
                  <a:txBody>
                    <a:bodyPr/>
                    <a:lstStyle/>
                    <a:p>
                      <a:r>
                        <a:rPr sz="850" b="0">
                          <a:solidFill>
                            <a:srgbClr val="4B4B4B"/>
                          </a:solidFill>
                          <a:latin typeface="Arial"/>
                        </a:rPr>
                        <a:t>Asks for the reason and submits the cancellation for approval</a:t>
                      </a:r>
                    </a:p>
                  </a:txBody>
                  <a:tcPr marL="54864" marR="54864" marT="27432" marB="27432">
                    <a:solidFill>
                      <a:srgbClr val="E5F5FF"/>
                    </a:solidFill>
                  </a:tcPr>
                </a:tc>
                <a:tc>
                  <a:txBody>
                    <a:bodyPr/>
                    <a:lstStyle/>
                    <a:p>
                      <a:r>
                        <a:rPr sz="850" b="0">
                          <a:solidFill>
                            <a:srgbClr val="4B4B4B"/>
                          </a:solidFill>
                          <a:latin typeface="Arial"/>
                        </a:rPr>
                        <a:t>Cancellation for approval</a:t>
                      </a:r>
                    </a:p>
                  </a:txBody>
                  <a:tcPr marL="54864" marR="54864" marT="27432" marB="27432">
                    <a:solidFill>
                      <a:srgbClr val="E5F5FF"/>
                    </a:solidFill>
                  </a:tcPr>
                </a:tc>
                <a:tc>
                  <a:txBody>
                    <a:bodyPr/>
                    <a:lstStyle/>
                    <a:p>
                      <a:r>
                        <a:rPr sz="850" b="0">
                          <a:solidFill>
                            <a:srgbClr val="4B4B4B"/>
                          </a:solidFill>
                          <a:latin typeface="Arial"/>
                        </a:rPr>
                        <a:t>Cashiering approval request (NT-07)</a:t>
                      </a:r>
                    </a:p>
                  </a:txBody>
                  <a:tcPr marL="54864" marR="54864" marT="27432" marB="27432">
                    <a:solidFill>
                      <a:srgbClr val="E5F5FF"/>
                    </a:solidFill>
                  </a:tcPr>
                </a:tc>
              </a:tr>
              <a:tr h="350518">
                <a:tc>
                  <a:txBody>
                    <a:bodyPr/>
                    <a:lstStyle/>
                    <a:p>
                      <a:r>
                        <a:rPr sz="850" b="0">
                          <a:solidFill>
                            <a:srgbClr val="4B4B4B"/>
                          </a:solidFill>
                          <a:latin typeface="Arial"/>
                        </a:rPr>
                        <a:t>Reinstate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Cancelled and no request open</a:t>
                      </a:r>
                    </a:p>
                  </a:txBody>
                  <a:tcPr marL="54864" marR="54864" marT="27432" marB="27432">
                    <a:solidFill>
                      <a:srgbClr val="FFFFFF"/>
                    </a:solidFill>
                  </a:tcPr>
                </a:tc>
                <a:tc>
                  <a:txBody>
                    <a:bodyPr/>
                    <a:lstStyle/>
                    <a:p>
                      <a:r>
                        <a:rPr sz="850" b="0">
                          <a:solidFill>
                            <a:srgbClr val="4B4B4B"/>
                          </a:solidFill>
                          <a:latin typeface="Arial"/>
                        </a:rPr>
                        <a:t>Opens the reinstatement dialog and submits it for approval</a:t>
                      </a:r>
                    </a:p>
                  </a:txBody>
                  <a:tcPr marL="54864" marR="54864" marT="27432" marB="27432">
                    <a:solidFill>
                      <a:srgbClr val="FFFFFF"/>
                    </a:solidFill>
                  </a:tcPr>
                </a:tc>
                <a:tc>
                  <a:txBody>
                    <a:bodyPr/>
                    <a:lstStyle/>
                    <a:p>
                      <a:r>
                        <a:rPr sz="850" b="0">
                          <a:solidFill>
                            <a:srgbClr val="4B4B4B"/>
                          </a:solidFill>
                          <a:latin typeface="Arial"/>
                        </a:rPr>
                        <a:t>Reinstatement 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r h="480057">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Cashiering Team Leader other than the requester</a:t>
                      </a:r>
                    </a:p>
                  </a:txBody>
                  <a:tcPr marL="54864" marR="54864" marT="27432" marB="27432">
                    <a:solidFill>
                      <a:srgbClr val="E5F5FF"/>
                    </a:solidFill>
                  </a:tcPr>
                </a:tc>
                <a:tc>
                  <a:txBody>
                    <a:bodyPr/>
                    <a:lstStyle/>
                    <a:p>
                      <a:r>
                        <a:rPr sz="850" b="0">
                          <a:solidFill>
                            <a:srgbClr val="4B4B4B"/>
                          </a:solidFill>
                          <a:latin typeface="Arial"/>
                        </a:rPr>
                        <a:t>Request for approval</a:t>
                      </a:r>
                    </a:p>
                  </a:txBody>
                  <a:tcPr marL="54864" marR="54864" marT="27432" marB="27432">
                    <a:solidFill>
                      <a:srgbClr val="E5F5FF"/>
                    </a:solidFill>
                  </a:tcPr>
                </a:tc>
                <a:tc>
                  <a:txBody>
                    <a:bodyPr/>
                    <a:lstStyle/>
                    <a:p>
                      <a:r>
                        <a:rPr sz="850" b="0">
                          <a:solidFill>
                            <a:srgbClr val="4B4B4B"/>
                          </a:solidFill>
                          <a:latin typeface="Arial"/>
                        </a:rPr>
                        <a:t>Posts the cancellation (reverses every application and the receipt) or the reinstatement (restores the receipt and applies the amount)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Request for approval</a:t>
                      </a:r>
                    </a:p>
                  </a:txBody>
                  <a:tcPr marL="54864" marR="54864" marT="27432" marB="27432">
                    <a:solidFill>
                      <a:srgbClr val="FFFFFF"/>
                    </a:solidFill>
                  </a:tcPr>
                </a:tc>
                <a:tc>
                  <a:txBody>
                    <a:bodyPr/>
                    <a:lstStyle/>
                    <a:p>
                      <a:r>
                        <a:rPr sz="850" b="0">
                          <a:solidFill>
                            <a:srgbClr val="4B4B4B"/>
                          </a:solidFill>
                          <a:latin typeface="Arial"/>
                        </a:rPr>
                        <a:t>Asks for the reason and returns the request</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cancellation reverses every active application, reverses the receipt entry and closes the unapplied balance of the receipt (FR-OP-013, FR-OP-027).</a:t>
                      </a:r>
                    </a:p>
                  </a:txBody>
                  <a:tcPr marL="54864" marR="54864" marT="27432" marB="27432">
                    <a:solidFill>
                      <a:srgbClr val="FFFFFF"/>
                    </a:solidFill>
                  </a:tcPr>
                </a:tc>
              </a:tr>
              <a:tr h="396240">
                <a:tc>
                  <a:txBody>
                    <a:bodyPr/>
                    <a:lstStyle/>
                    <a:p>
                      <a:r>
                        <a:rPr sz="1000" b="0">
                          <a:solidFill>
                            <a:srgbClr val="4B4B4B"/>
                          </a:solidFill>
                          <a:latin typeface="Arial"/>
                        </a:rPr>
                        <a:t>A reinstatement restores the receipt for the full or partial amount, applies it to the invoice encoded and leaves the rest unapplied; a bounced check needs no encoded fields (FR-OP-014).</a:t>
                      </a:r>
                    </a:p>
                  </a:txBody>
                  <a:tcPr marL="54864" marR="54864" marT="27432" marB="27432">
                    <a:solidFill>
                      <a:srgbClr val="E5F5FF"/>
                    </a:solidFill>
                  </a:tcPr>
                </a:tc>
              </a:tr>
              <a:tr h="243840">
                <a:tc>
                  <a:txBody>
                    <a:bodyPr/>
                    <a:lstStyle/>
                    <a:p>
                      <a:r>
                        <a:rPr sz="1000" b="0">
                          <a:solidFill>
                            <a:srgbClr val="4B4B4B"/>
                          </a:solidFill>
                          <a:latin typeface="Arial"/>
                        </a:rPr>
                        <a:t>The requester never approves the own request (FR-OP-013, FR-OP-014).</a:t>
                      </a:r>
                    </a:p>
                  </a:txBody>
                  <a:tcPr marL="54864" marR="54864" marT="27432" marB="27432">
                    <a:solidFill>
                      <a:srgbClr val="FFFFFF"/>
                    </a:solidFill>
                  </a:tcPr>
                </a:tc>
              </a:tr>
              <a:tr h="243840">
                <a:tc>
                  <a:txBody>
                    <a:bodyPr/>
                    <a:lstStyle/>
                    <a:p>
                      <a:r>
                        <a:rPr sz="1000" b="0">
                          <a:solidFill>
                            <a:srgbClr val="4B4B4B"/>
                          </a:solidFill>
                          <a:latin typeface="Arial"/>
                        </a:rPr>
                        <a:t>Every action on a receipt records the receipt number, the user and the time in the audit trail (FR-OP-024).</a:t>
                      </a:r>
                    </a:p>
                  </a:txBody>
                  <a:tcPr marL="54864" marR="54864" marT="27432" marB="27432">
                    <a:solidFill>
                      <a:srgbClr val="E5F5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Clicks Issue AR and Apply</a:t>
                      </a:r>
                    </a:p>
                  </a:txBody>
                  <a:tcPr marL="54864" marR="54864" marT="27432" marB="27432">
                    <a:solidFill>
                      <a:srgbClr val="FFFFFF"/>
                    </a:solidFill>
                  </a:tcPr>
                </a:tc>
                <a:tc>
                  <a:txBody>
                    <a:bodyPr/>
                    <a:lstStyle/>
                    <a:p>
                      <a:r>
                        <a:rPr sz="900" b="0">
                          <a:solidFill>
                            <a:srgbClr val="4B4B4B"/>
                          </a:solidFill>
                          <a:latin typeface="Arial"/>
                        </a:rPr>
                        <a:t>SCR-OP-10_wt-a-step-04.png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Opens the receipt and clicks Approve and Post</a:t>
                      </a:r>
                    </a:p>
                  </a:txBody>
                  <a:tcPr marL="54864" marR="54864" marT="27432" marB="27432">
                    <a:solidFill>
                      <a:srgbClr val="E5F5FF"/>
                    </a:solidFill>
                  </a:tcPr>
                </a:tc>
                <a:tc>
                  <a:txBody>
                    <a:bodyPr/>
                    <a:lstStyle/>
                    <a:p>
                      <a:r>
                        <a:rPr sz="900" b="0">
                          <a:solidFill>
                            <a:srgbClr val="4B4B4B"/>
                          </a:solidFill>
                          <a:latin typeface="Arial"/>
                        </a:rPr>
                        <a:t>SCR-OP-10_wt-d-step-04.png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Opens a receipt, clicks Cancel Receipt, chooses the reason and submits the cancellation</a:t>
                      </a:r>
                    </a:p>
                  </a:txBody>
                  <a:tcPr marL="54864" marR="54864" marT="27432" marB="27432">
                    <a:solidFill>
                      <a:srgbClr val="FFFFFF"/>
                    </a:solidFill>
                  </a:tcPr>
                </a:tc>
                <a:tc>
                  <a:txBody>
                    <a:bodyPr/>
                    <a:lstStyle/>
                    <a:p>
                      <a:r>
                        <a:rPr sz="900" b="0">
                          <a:solidFill>
                            <a:srgbClr val="4B4B4B"/>
                          </a:solidFill>
                          <a:latin typeface="Arial"/>
                        </a:rPr>
                        <a:t>SCR-OP-10_wt-d-step-03.png</a:t>
                      </a:r>
                    </a:p>
                  </a:txBody>
                  <a:tcPr marL="54864" marR="54864" marT="27432" marB="27432">
                    <a:solidFill>
                      <a:srgbClr val="FFFF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0-01-record.png"/>
          <p:cNvPicPr>
            <a:picLocks noChangeAspect="1"/>
          </p:cNvPicPr>
          <p:nvPr/>
        </p:nvPicPr>
        <p:blipFill>
          <a:blip r:embed="rId3"/>
          <a:stretch>
            <a:fillRect/>
          </a:stretch>
        </p:blipFill>
        <p:spPr>
          <a:xfrm>
            <a:off x="1163669" y="1261872"/>
            <a:ext cx="986435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its applications by component</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op-10-02-cancel.png"/>
          <p:cNvPicPr>
            <a:picLocks noChangeAspect="1"/>
          </p:cNvPicPr>
          <p:nvPr/>
        </p:nvPicPr>
        <p:blipFill>
          <a:blip r:embed="rId3"/>
          <a:stretch>
            <a:fillRect/>
          </a:stretch>
        </p:blipFill>
        <p:spPr>
          <a:xfrm>
            <a:off x="548640" y="1261872"/>
            <a:ext cx="11094415" cy="46762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Receipt dialog with the reason</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6.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1 of 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2 of 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8.png"/>
          <p:cNvPicPr>
            <a:picLocks noChangeAspect="1"/>
          </p:cNvPicPr>
          <p:nvPr/>
        </p:nvPicPr>
        <p:blipFill>
          <a:blip r:embed="rId3"/>
          <a:stretch>
            <a:fillRect/>
          </a:stretch>
        </p:blipFill>
        <p:spPr>
          <a:xfrm>
            <a:off x="548640" y="1261872"/>
            <a:ext cx="11094415" cy="4638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3 of 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graphicFrame>
        <p:nvGraphicFramePr>
          <p:cNvPr id="10" name="Table 9"/>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Payments not applied to an invoice (no match, excess, cancelled reference, adjustment, cancellation, remittance return, re-application, pre-booked and others) by stage: the cashier assigns a disposition, submits it and a second user approves it; selected items are submitted or approved in one 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Payments</a:t>
                      </a:r>
                    </a:p>
                    <a:p>
                      <a:r>
                        <a:rPr sz="950" b="0">
                          <a:solidFill>
                            <a:srgbClr val="4B4B4B"/>
                          </a:solidFill>
                          <a:latin typeface="Arial"/>
                        </a:rPr>
                        <a:t>Cashiering Workbench › Unapplied Payments and Dispositions for Approval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Unapplied money is followed by stage until it is applied, refunded, reclassed or transferred.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graphicFrame>
        <p:nvGraphicFramePr>
          <p:cNvPr id="9" name="Table 8"/>
          <p:cNvGraphicFramePr>
            <a:graphicFrameLocks noGrp="1"/>
          </p:cNvGraphicFramePr>
          <p:nvPr/>
        </p:nvGraphicFramePr>
        <p:xfrm>
          <a:off x="548640" y="1325880"/>
          <a:ext cx="11094411" cy="206500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Unapplied / Monitoring / For Approval / For Reversal / Done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Reference or Payor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 Monitoring and For Approval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Reference / Payor / Client / Unit / Amount / Balance / Disposition / Received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UNP-yyyy-n with why it is unapplied; the unit by name; the disposition in words with its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Bulk Action Results dialog</a:t>
                      </a:r>
                    </a:p>
                  </a:txBody>
                  <a:tcPr marL="54864" marR="54864" marT="27432" marB="27432">
                    <a:solidFill>
                      <a:srgbClr val="E5F5FF"/>
                    </a:solidFill>
                  </a:tcPr>
                </a:tc>
                <a:tc>
                  <a:txBody>
                    <a:bodyPr/>
                    <a:lstStyle/>
                    <a:p>
                      <a:r>
                        <a:rPr sz="850" b="0">
                          <a:solidFill>
                            <a:srgbClr val="4B4B4B"/>
                          </a:solidFill>
                          <a:latin typeface="Arial"/>
                        </a:rPr>
                        <a:t>Outcome per item</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Done, or the message of the item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Selected</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Monitoring, rows selected</a:t>
                      </a:r>
                    </a:p>
                  </a:txBody>
                  <a:tcPr marL="54864" marR="54864" marT="27432" marB="27432">
                    <a:solidFill>
                      <a:srgbClr val="FFFFFF"/>
                    </a:solidFill>
                  </a:tcPr>
                </a:tc>
                <a:tc>
                  <a:txBody>
                    <a:bodyPr/>
                    <a:lstStyle/>
                    <a:p>
                      <a:r>
                        <a:rPr sz="850" b="0">
                          <a:solidFill>
                            <a:srgbClr val="4B4B4B"/>
                          </a:solidFill>
                          <a:latin typeface="Arial"/>
                        </a:rPr>
                        <a:t>Submits the disposition of each selected item on its own and lists the outcome of each</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r h="350518">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For Approval, rows selected</a:t>
                      </a:r>
                    </a:p>
                  </a:txBody>
                  <a:tcPr marL="54864" marR="54864" marT="27432" marB="27432">
                    <a:solidFill>
                      <a:srgbClr val="E5F5FF"/>
                    </a:solidFill>
                  </a:tcPr>
                </a:tc>
                <a:tc>
                  <a:txBody>
                    <a:bodyPr/>
                    <a:lstStyle/>
                    <a:p>
                      <a:r>
                        <a:rPr sz="850" b="0">
                          <a:solidFill>
                            <a:srgbClr val="4B4B4B"/>
                          </a:solidFill>
                          <a:latin typeface="Arial"/>
                        </a:rPr>
                        <a:t>Approves each selected disposition on its own (never one's own) and lists the outcome of each</a:t>
                      </a:r>
                    </a:p>
                  </a:txBody>
                  <a:tcPr marL="54864" marR="54864" marT="27432" marB="27432">
                    <a:solidFill>
                      <a:srgbClr val="E5F5FF"/>
                    </a:solidFill>
                  </a:tcPr>
                </a:tc>
                <a:tc>
                  <a:txBody>
                    <a:bodyPr/>
                    <a:lstStyle/>
                    <a:p>
                      <a:r>
                        <a:rPr sz="850" b="0">
                          <a:solidFill>
                            <a:srgbClr val="4B4B4B"/>
                          </a:solidFill>
                          <a:latin typeface="Arial"/>
                        </a:rPr>
                        <a:t>In process or Completed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unapplied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unapplied balance keeps its origin until it is disposed of (FR-OP-022).</a:t>
                      </a:r>
                    </a:p>
                  </a:txBody>
                  <a:tcPr marL="54864" marR="54864" marT="27432" marB="27432">
                    <a:solidFill>
                      <a:srgbClr val="FFFFFF"/>
                    </a:solidFill>
                  </a:tcPr>
                </a:tc>
              </a:tr>
              <a:tr h="243840">
                <a:tc>
                  <a:txBody>
                    <a:bodyPr/>
                    <a:lstStyle/>
                    <a:p>
                      <a:r>
                        <a:rPr sz="1000" b="0">
                          <a:solidFill>
                            <a:srgbClr val="4B4B4B"/>
                          </a:solidFill>
                          <a:latin typeface="Arial"/>
                        </a:rPr>
                        <a:t>Bulk submit and approve process each item on its own, so one failure does not stop the others (FR-OP-022).</a:t>
                      </a:r>
                    </a:p>
                  </a:txBody>
                  <a:tcPr marL="54864" marR="54864" marT="27432" marB="27432">
                    <a:solidFill>
                      <a:srgbClr val="E5F5FF"/>
                    </a:solidFill>
                  </a:tcPr>
                </a:tc>
              </a:tr>
              <a:tr h="243840">
                <a:tc>
                  <a:txBody>
                    <a:bodyPr/>
                    <a:lstStyle/>
                    <a:p>
                      <a:r>
                        <a:rPr sz="1000" b="0">
                          <a:solidFill>
                            <a:srgbClr val="4B4B4B"/>
                          </a:solidFill>
                          <a:latin typeface="Arial"/>
                        </a:rPr>
                        <a:t>The approver is never the requester of the disposition (FR-OP-022).</a:t>
                      </a:r>
                    </a:p>
                  </a:txBody>
                  <a:tcPr marL="54864" marR="54864"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5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Unapplied tab (part 1 of 2)</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0.png"/>
          <p:cNvPicPr>
            <a:picLocks noChangeAspect="1"/>
          </p:cNvPicPr>
          <p:nvPr/>
        </p:nvPicPr>
        <p:blipFill>
          <a:blip r:embed="rId3"/>
          <a:stretch>
            <a:fillRect/>
          </a:stretch>
        </p:blipFill>
        <p:spPr>
          <a:xfrm>
            <a:off x="548640" y="1261872"/>
            <a:ext cx="11094415" cy="247711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Unapplied tab (part 2 of 2)</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cr-op-11-02-approval.png"/>
          <p:cNvPicPr>
            <a:picLocks noChangeAspect="1"/>
          </p:cNvPicPr>
          <p:nvPr/>
        </p:nvPicPr>
        <p:blipFill>
          <a:blip r:embed="rId3"/>
          <a:stretch>
            <a:fillRect/>
          </a:stretch>
        </p:blipFill>
        <p:spPr>
          <a:xfrm>
            <a:off x="687927" y="1261872"/>
            <a:ext cx="10815840"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tab of the Cashiering Team Leader with Approve Selected</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unapplied payment with its amount and balance, payor, client and unit and its source, the disposition workflow, the disposition form (apply to an invoice, apply to its DST, refund, reclass to another client, transfer to another unit, others) and the disposition history.</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Payments › Unapplied Payment</a:t>
                      </a:r>
                    </a:p>
                    <a:p>
                      <a:r>
                        <a:rPr sz="950" b="0">
                          <a:solidFill>
                            <a:srgbClr val="4B4B4B"/>
                          </a:solidFill>
                          <a:latin typeface="Arial"/>
                        </a:rPr>
                        <a:t>Unapplied Payments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 FR-OP-023, FR-OP-120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unapplied money is applied, refunded, reclassed or transferred, with a second user's approval where the type needs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Reference chip, origin tag and stage pill</a:t>
                      </a:r>
                    </a:p>
                  </a:txBody>
                  <a:tcPr marL="54864" marR="54864" marT="27432" marB="27432">
                    <a:solidFill>
                      <a:srgbClr val="FFFFFF"/>
                    </a:solidFill>
                  </a:tcPr>
                </a:tc>
                <a:tc>
                  <a:txBody>
                    <a:bodyPr/>
                    <a:lstStyle/>
                    <a:p>
                      <a:r>
                        <a:rPr sz="850" b="0">
                          <a:solidFill>
                            <a:srgbClr val="4B4B4B"/>
                          </a:solidFill>
                          <a:latin typeface="Arial"/>
                        </a:rPr>
                        <a:t>Reference chip, tag, status pill</a:t>
                      </a:r>
                    </a:p>
                  </a:txBody>
                  <a:tcPr marL="54864" marR="54864" marT="27432" marB="27432">
                    <a:solidFill>
                      <a:srgbClr val="FFFFFF"/>
                    </a:solidFill>
                  </a:tcPr>
                </a:tc>
                <a:tc>
                  <a:txBody>
                    <a:bodyPr/>
                    <a:lstStyle/>
                    <a:p>
                      <a:r>
                        <a:rPr sz="850" b="0">
                          <a:solidFill>
                            <a:srgbClr val="4B4B4B"/>
                          </a:solidFill>
                          <a:latin typeface="Arial"/>
                        </a:rPr>
                        <a:t>UNP-yyyy-n; No Match, Excess, Cancelled Reference and the other origins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Amount / Balance / Payor / Marketing Unit / Source / Received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with two decimals; the unit by name; the source by its module and document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Disposition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Unapplied, Monitoring, For approval, In process, Completed; For reversal and Closed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Assign Disposition</a:t>
                      </a:r>
                    </a:p>
                  </a:txBody>
                  <a:tcPr marL="54864" marR="54864" marT="27432" marB="27432">
                    <a:solidFill>
                      <a:srgbClr val="E5F5FF"/>
                    </a:solidFill>
                  </a:tcPr>
                </a:tc>
                <a:tc>
                  <a:txBody>
                    <a:bodyPr/>
                    <a:lstStyle/>
                    <a:p>
                      <a:r>
                        <a:rPr sz="850" b="0">
                          <a:solidFill>
                            <a:srgbClr val="4B4B4B"/>
                          </a:solidFill>
                          <a:latin typeface="Arial"/>
                        </a:rPr>
                        <a:t>Disposition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disposition types with their description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disposition type</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Assign Disposition</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Above zero, at most the balance; a reclass or transfer moves the whole balance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the balance</a:t>
                      </a:r>
                    </a:p>
                  </a:txBody>
                  <a:tcPr marL="54864" marR="54864" marT="27432" marB="27432">
                    <a:solidFill>
                      <a:srgbClr val="FFFFFF"/>
                    </a:solidFill>
                  </a:tcPr>
                </a:tc>
                <a:tc>
                  <a:txBody>
                    <a:bodyPr/>
                    <a:lstStyle/>
                    <a:p>
                      <a:r>
                        <a:rPr sz="850" b="0">
                          <a:solidFill>
                            <a:srgbClr val="4B4B4B"/>
                          </a:solidFill>
                          <a:latin typeface="Arial"/>
                        </a:rPr>
                        <a:t>Enter an amount above zero and at most &lt;balance&gt; / A reclass or transfer moves the whole balance</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Assign Disposition</a:t>
                      </a:r>
                    </a:p>
                  </a:txBody>
                  <a:tcPr marL="54864" marR="54864" marT="27432" marB="27432">
                    <a:solidFill>
                      <a:srgbClr val="E5F5FF"/>
                    </a:solidFill>
                  </a:tcPr>
                </a:tc>
                <a:tc>
                  <a:txBody>
                    <a:bodyPr/>
                    <a:lstStyle/>
                    <a:p>
                      <a:r>
                        <a:rPr sz="850" b="0">
                          <a:solidFill>
                            <a:srgbClr val="4B4B4B"/>
                          </a:solidFill>
                          <a:latin typeface="Arial"/>
                        </a:rPr>
                        <a:t>Apply to Invoice No. / Reclass to Client Code / Transfer to Marketing Unit / Refund Payee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Shown for the type: apply, reclass, transfer, refund</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Required for this disposition type</a:t>
                      </a:r>
                    </a:p>
                  </a:txBody>
                  <a:tcPr marL="54864" marR="54864" marT="27432" marB="27432">
                    <a:solidFill>
                      <a:srgbClr val="E5F5FF"/>
                    </a:solidFill>
                  </a:tcPr>
                </a:tc>
                <a:tc>
                  <a:txBody>
                    <a:bodyPr/>
                    <a:lstStyle/>
                    <a:p>
                      <a:r>
                        <a:rPr sz="850" b="0">
                          <a:solidFill>
                            <a:srgbClr val="4B4B4B"/>
                          </a:solidFill>
                          <a:latin typeface="Arial"/>
                        </a:rPr>
                        <a:t>Required for this disposition type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Disposition</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Disposition History</a:t>
                      </a:r>
                    </a:p>
                  </a:txBody>
                  <a:tcPr marL="54864" marR="54864" marT="27432" marB="27432">
                    <a:solidFill>
                      <a:srgbClr val="E5F5FF"/>
                    </a:solidFill>
                  </a:tcPr>
                </a:tc>
                <a:tc>
                  <a:txBody>
                    <a:bodyPr/>
                    <a:lstStyle/>
                    <a:p>
                      <a:r>
                        <a:rPr sz="850" b="0">
                          <a:solidFill>
                            <a:srgbClr val="4B4B4B"/>
                          </a:solidFill>
                          <a:latin typeface="Arial"/>
                        </a:rPr>
                        <a:t>Disposition / Amount / Target / Requested / Approved / Document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Payment request or journal in Document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disposition yet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Mark for Reversal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2" cy="263650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Disposition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Unapplied or Monitoring</a:t>
                      </a:r>
                    </a:p>
                  </a:txBody>
                  <a:tcPr marL="54864" marR="54864" marT="27432" marB="27432">
                    <a:solidFill>
                      <a:srgbClr val="FFFFFF"/>
                    </a:solidFill>
                  </a:tcPr>
                </a:tc>
                <a:tc>
                  <a:txBody>
                    <a:bodyPr/>
                    <a:lstStyle/>
                    <a:p>
                      <a:r>
                        <a:rPr sz="850" b="0">
                          <a:solidFill>
                            <a:srgbClr val="4B4B4B"/>
                          </a:solidFill>
                          <a:latin typeface="Arial"/>
                        </a:rPr>
                        <a:t>Assigns or updates the disposition</a:t>
                      </a:r>
                    </a:p>
                  </a:txBody>
                  <a:tcPr marL="54864" marR="54864" marT="27432" marB="27432">
                    <a:solidFill>
                      <a:srgbClr val="FFFFFF"/>
                    </a:solidFill>
                  </a:tcPr>
                </a:tc>
                <a:tc>
                  <a:txBody>
                    <a:bodyPr/>
                    <a:lstStyle/>
                    <a:p>
                      <a:r>
                        <a:rPr sz="850" b="0">
                          <a:solidFill>
                            <a:srgbClr val="4B4B4B"/>
                          </a:solidFill>
                          <a:latin typeface="Arial"/>
                        </a:rPr>
                        <a:t>Monitoring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Monitoring, the type needs approval</a:t>
                      </a:r>
                    </a:p>
                  </a:txBody>
                  <a:tcPr marL="54864" marR="54864" marT="27432" marB="27432">
                    <a:solidFill>
                      <a:srgbClr val="E5F5FF"/>
                    </a:solidFill>
                  </a:tcPr>
                </a:tc>
                <a:tc>
                  <a:txBody>
                    <a:bodyPr/>
                    <a:lstStyle/>
                    <a:p>
                      <a:r>
                        <a:rPr sz="850" b="0">
                          <a:solidFill>
                            <a:srgbClr val="4B4B4B"/>
                          </a:solidFill>
                          <a:latin typeface="Arial"/>
                        </a:rPr>
                        <a:t>Sends the disposition to a second user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Cashiering approval request (NT-07)</a:t>
                      </a:r>
                    </a:p>
                  </a:txBody>
                  <a:tcPr marL="54864" marR="54864" marT="27432" marB="27432">
                    <a:solidFill>
                      <a:srgbClr val="E5F5FF"/>
                    </a:solidFill>
                  </a:tcPr>
                </a:tc>
              </a:tr>
              <a:tr h="350518">
                <a:tc>
                  <a:txBody>
                    <a:bodyPr/>
                    <a:lstStyle/>
                    <a:p>
                      <a:r>
                        <a:rPr sz="850" b="0">
                          <a:solidFill>
                            <a:srgbClr val="4B4B4B"/>
                          </a:solidFill>
                          <a:latin typeface="Arial"/>
                        </a:rPr>
                        <a:t>Process Disposition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Monitoring, the type needs no approval</a:t>
                      </a:r>
                    </a:p>
                  </a:txBody>
                  <a:tcPr marL="54864" marR="54864" marT="27432" marB="27432">
                    <a:solidFill>
                      <a:srgbClr val="FFFFFF"/>
                    </a:solidFill>
                  </a:tcPr>
                </a:tc>
                <a:tc>
                  <a:txBody>
                    <a:bodyPr/>
                    <a:lstStyle/>
                    <a:p>
                      <a:r>
                        <a:rPr sz="850" b="0">
                          <a:solidFill>
                            <a:srgbClr val="4B4B4B"/>
                          </a:solidFill>
                          <a:latin typeface="Arial"/>
                        </a:rPr>
                        <a:t>Processes the disposition at once</a:t>
                      </a:r>
                    </a:p>
                  </a:txBody>
                  <a:tcPr marL="54864" marR="54864" marT="27432" marB="27432">
                    <a:solidFill>
                      <a:srgbClr val="FFFFFF"/>
                    </a:solidFill>
                  </a:tcPr>
                </a:tc>
                <a:tc>
                  <a:txBody>
                    <a:bodyPr/>
                    <a:lstStyle/>
                    <a:p>
                      <a:r>
                        <a:rPr sz="850" b="0">
                          <a:solidFill>
                            <a:srgbClr val="4B4B4B"/>
                          </a:solidFill>
                          <a:latin typeface="Arial"/>
                        </a:rPr>
                        <a:t>In process or Completed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Leader other than the requester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Approves and processes it: an application posts at once, a refund is sent to the Disbursement queue, a reclass or transfer moves the balance</a:t>
                      </a:r>
                    </a:p>
                  </a:txBody>
                  <a:tcPr marL="54864" marR="54864" marT="27432" marB="27432">
                    <a:solidFill>
                      <a:srgbClr val="E5F5FF"/>
                    </a:solidFill>
                  </a:tcPr>
                </a:tc>
                <a:tc>
                  <a:txBody>
                    <a:bodyPr/>
                    <a:lstStyle/>
                    <a:p>
                      <a:r>
                        <a:rPr sz="850" b="0">
                          <a:solidFill>
                            <a:srgbClr val="4B4B4B"/>
                          </a:solidFill>
                          <a:latin typeface="Arial"/>
                        </a:rPr>
                        <a:t>In process or Completed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Return to Cashier</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Returns the disposition with a reason</a:t>
                      </a:r>
                    </a:p>
                  </a:txBody>
                  <a:tcPr marL="54864" marR="54864" marT="27432" marB="27432">
                    <a:solidFill>
                      <a:srgbClr val="FFFFFF"/>
                    </a:solidFill>
                  </a:tcPr>
                </a:tc>
                <a:tc>
                  <a:txBody>
                    <a:bodyPr/>
                    <a:lstStyle/>
                    <a:p>
                      <a:r>
                        <a:rPr sz="850" b="0">
                          <a:solidFill>
                            <a:srgbClr val="4B4B4B"/>
                          </a:solidFill>
                          <a:latin typeface="Arial"/>
                        </a:rPr>
                        <a:t>Monitoring</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220979">
                <a:tc>
                  <a:txBody>
                    <a:bodyPr/>
                    <a:lstStyle/>
                    <a:p>
                      <a:r>
                        <a:rPr sz="850" b="0">
                          <a:solidFill>
                            <a:srgbClr val="4B4B4B"/>
                          </a:solidFill>
                          <a:latin typeface="Arial"/>
                        </a:rPr>
                        <a:t>Withdraw Disposition</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Takes the disposition back</a:t>
                      </a:r>
                    </a:p>
                  </a:txBody>
                  <a:tcPr marL="54864" marR="54864" marT="27432" marB="27432">
                    <a:solidFill>
                      <a:srgbClr val="E5F5FF"/>
                    </a:solidFill>
                  </a:tcPr>
                </a:tc>
                <a:tc>
                  <a:txBody>
                    <a:bodyPr/>
                    <a:lstStyle/>
                    <a:p>
                      <a:r>
                        <a:rPr sz="850" b="0">
                          <a:solidFill>
                            <a:srgbClr val="4B4B4B"/>
                          </a:solidFill>
                          <a:latin typeface="Arial"/>
                        </a:rPr>
                        <a:t>Monitoring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Mark for Reversal / Approve Reversal</a:t>
                      </a:r>
                    </a:p>
                  </a:txBody>
                  <a:tcPr marL="54864" marR="54864" marT="27432" marB="27432">
                    <a:solidFill>
                      <a:srgbClr val="FFFFFF"/>
                    </a:solidFill>
                  </a:tcPr>
                </a:tc>
                <a:tc>
                  <a:txBody>
                    <a:bodyPr/>
                    <a:lstStyle/>
                    <a:p>
                      <a:r>
                        <a:rPr sz="850" b="0">
                          <a:solidFill>
                            <a:srgbClr val="4B4B4B"/>
                          </a:solidFill>
                          <a:latin typeface="Arial"/>
                        </a:rPr>
                        <a:t>Cashier / Cashiering Team Leader</a:t>
                      </a:r>
                    </a:p>
                  </a:txBody>
                  <a:tcPr marL="54864" marR="54864" marT="27432" marB="27432">
                    <a:solidFill>
                      <a:srgbClr val="FFFFFF"/>
                    </a:solidFill>
                  </a:tcPr>
                </a:tc>
                <a:tc>
                  <a:txBody>
                    <a:bodyPr/>
                    <a:lstStyle/>
                    <a:p>
                      <a:r>
                        <a:rPr sz="850" b="0">
                          <a:solidFill>
                            <a:srgbClr val="4B4B4B"/>
                          </a:solidFill>
                          <a:latin typeface="Arial"/>
                        </a:rPr>
                        <a:t>Completed / For reversal</a:t>
                      </a:r>
                    </a:p>
                  </a:txBody>
                  <a:tcPr marL="54864" marR="54864" marT="27432" marB="27432">
                    <a:solidFill>
                      <a:srgbClr val="FFFFFF"/>
                    </a:solidFill>
                  </a:tcPr>
                </a:tc>
                <a:tc>
                  <a:txBody>
                    <a:bodyPr/>
                    <a:lstStyle/>
                    <a:p>
                      <a:r>
                        <a:rPr sz="850" b="0">
                          <a:solidFill>
                            <a:srgbClr val="4B4B4B"/>
                          </a:solidFill>
                          <a:latin typeface="Arial"/>
                        </a:rPr>
                        <a:t>Reverses a completed disposition on approval; a refund only after Disbursement returned it</a:t>
                      </a:r>
                    </a:p>
                  </a:txBody>
                  <a:tcPr marL="54864" marR="54864" marT="27432" marB="27432">
                    <a:solidFill>
                      <a:srgbClr val="FFFFFF"/>
                    </a:solidFill>
                  </a:tcPr>
                </a:tc>
                <a:tc>
                  <a:txBody>
                    <a:bodyPr/>
                    <a:lstStyle/>
                    <a:p>
                      <a:r>
                        <a:rPr sz="850" b="0">
                          <a:solidFill>
                            <a:srgbClr val="4B4B4B"/>
                          </a:solidFill>
                          <a:latin typeface="Arial"/>
                        </a:rPr>
                        <a:t>For reversal / Unapplied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220979">
                <a:tc>
                  <a:txBody>
                    <a:bodyPr/>
                    <a:lstStyle/>
                    <a:p>
                      <a:r>
                        <a:rPr sz="850" b="0">
                          <a:solidFill>
                            <a:srgbClr val="4B4B4B"/>
                          </a:solidFill>
                          <a:latin typeface="Arial"/>
                        </a:rPr>
                        <a:t>Open Receipt</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The item came from a receipt</a:t>
                      </a:r>
                    </a:p>
                  </a:txBody>
                  <a:tcPr marL="54864" marR="54864" marT="27432" marB="27432">
                    <a:solidFill>
                      <a:srgbClr val="E5F5FF"/>
                    </a:solidFill>
                  </a:tcPr>
                </a:tc>
                <a:tc>
                  <a:txBody>
                    <a:bodyPr/>
                    <a:lstStyle/>
                    <a:p>
                      <a:r>
                        <a:rPr sz="850" b="0">
                          <a:solidFill>
                            <a:srgbClr val="4B4B4B"/>
                          </a:solidFill>
                          <a:latin typeface="Arial"/>
                        </a:rPr>
                        <a:t>Opens the receipt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disposition type decides the fields to fill and whether a second user approves it (FR-OP-022).</a:t>
                      </a:r>
                    </a:p>
                  </a:txBody>
                  <a:tcPr marL="54864" marR="54864" marT="27432" marB="27432">
                    <a:solidFill>
                      <a:srgbClr val="FFFFFF"/>
                    </a:solidFill>
                  </a:tcPr>
                </a:tc>
              </a:tr>
              <a:tr h="243840">
                <a:tc>
                  <a:txBody>
                    <a:bodyPr/>
                    <a:lstStyle/>
                    <a:p>
                      <a:r>
                        <a:rPr sz="1000" b="0">
                          <a:solidFill>
                            <a:srgbClr val="4B4B4B"/>
                          </a:solidFill>
                          <a:latin typeface="Arial"/>
                        </a:rPr>
                        <a:t>A refund goes to the Disbursement queue and is completed when Disbursement pays it (FR-OP-022, FR-OP-120).</a:t>
                      </a:r>
                    </a:p>
                  </a:txBody>
                  <a:tcPr marL="54864" marR="54864" marT="27432" marB="27432">
                    <a:solidFill>
                      <a:srgbClr val="E5F5FF"/>
                    </a:solidFill>
                  </a:tcPr>
                </a:tc>
              </a:tr>
              <a:tr h="243840">
                <a:tc>
                  <a:txBody>
                    <a:bodyPr/>
                    <a:lstStyle/>
                    <a:p>
                      <a:r>
                        <a:rPr sz="1000" b="0">
                          <a:solidFill>
                            <a:srgbClr val="4B4B4B"/>
                          </a:solidFill>
                          <a:latin typeface="Arial"/>
                        </a:rPr>
                        <a:t>A balance left after a partial disposition returns to the Unapplied tab (FR-OP-022).</a:t>
                      </a:r>
                    </a:p>
                  </a:txBody>
                  <a:tcPr marL="54864" marR="54864" marT="27432" marB="27432">
                    <a:solidFill>
                      <a:srgbClr val="FFFFFF"/>
                    </a:solidFill>
                  </a:tcPr>
                </a:tc>
              </a:tr>
              <a:tr h="243840">
                <a:tc>
                  <a:txBody>
                    <a:bodyPr/>
                    <a:lstStyle/>
                    <a:p>
                      <a:r>
                        <a:rPr sz="1000" b="0">
                          <a:solidFill>
                            <a:srgbClr val="4B4B4B"/>
                          </a:solidFill>
                          <a:latin typeface="Arial"/>
                        </a:rPr>
                        <a:t>Minimal excess amounts within the threshold (default PHP 10.00) never reach this list: they are moved to AP overages when the payment is processed (FR-OP-023).</a:t>
                      </a:r>
                    </a:p>
                  </a:txBody>
                  <a:tcPr marL="54864" marR="54864" marT="27432" marB="27432">
                    <a:solidFill>
                      <a:srgbClr val="E5F5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Opens the unapplied payment and clicks Approve</a:t>
                      </a:r>
                    </a:p>
                  </a:txBody>
                  <a:tcPr marL="54864" marR="54864" marT="27432" marB="27432">
                    <a:solidFill>
                      <a:srgbClr val="FFFFFF"/>
                    </a:solidFill>
                  </a:tcPr>
                </a:tc>
                <a:tc>
                  <a:txBody>
                    <a:bodyPr/>
                    <a:lstStyle/>
                    <a:p>
                      <a:r>
                        <a:rPr sz="900" b="0">
                          <a:solidFill>
                            <a:srgbClr val="4B4B4B"/>
                          </a:solidFill>
                          <a:latin typeface="Arial"/>
                        </a:rPr>
                        <a:t>SCR-OP-12_wt-b-step-09.png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the unapplied payment left by the re-application, assigns a refund to the client and submits it</a:t>
                      </a:r>
                    </a:p>
                  </a:txBody>
                  <a:tcPr marL="54864" marR="54864" marT="27432" marB="27432">
                    <a:solidFill>
                      <a:srgbClr val="E5F5FF"/>
                    </a:solidFill>
                  </a:tcPr>
                </a:tc>
                <a:tc>
                  <a:txBody>
                    <a:bodyPr/>
                    <a:lstStyle/>
                    <a:p>
                      <a:r>
                        <a:rPr sz="900" b="0">
                          <a:solidFill>
                            <a:srgbClr val="4B4B4B"/>
                          </a:solidFill>
                          <a:latin typeface="Arial"/>
                        </a:rPr>
                        <a:t>SCR-OP-12_wt-b-step-08.png</a:t>
                      </a:r>
                    </a:p>
                  </a:txBody>
                  <a:tcPr marL="54864" marR="54864" marT="27432" marB="27432">
                    <a:solidFill>
                      <a:srgbClr val="E5F5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1.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1 of 3)</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2.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2 of 3)</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3.png"/>
          <p:cNvPicPr>
            <a:picLocks noChangeAspect="1"/>
          </p:cNvPicPr>
          <p:nvPr/>
        </p:nvPicPr>
        <p:blipFill>
          <a:blip r:embed="rId3"/>
          <a:stretch>
            <a:fillRect/>
          </a:stretch>
        </p:blipFill>
        <p:spPr>
          <a:xfrm>
            <a:off x="548640" y="1261872"/>
            <a:ext cx="11094415" cy="38734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3 of 3)</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SCR-OP-12 Unapplied Payment: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4.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a refund for approval: workflow header, Approve and the disposition history (part 1 of 2)</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SCR-OP-12 Unapplied Payment: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5.png"/>
          <p:cNvPicPr>
            <a:picLocks noChangeAspect="1"/>
          </p:cNvPicPr>
          <p:nvPr/>
        </p:nvPicPr>
        <p:blipFill>
          <a:blip r:embed="rId3"/>
          <a:stretch>
            <a:fillRect/>
          </a:stretch>
        </p:blipFill>
        <p:spPr>
          <a:xfrm>
            <a:off x="548640" y="1261872"/>
            <a:ext cx="11094415" cy="41938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a refund for approval: workflow header, Approve and the disposition history (part 2 of 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Incoming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the other modules ask of Cashiering: collector requests on unapplied payments from Collections (apply, refund, reclass, transfer), refund validations from Payment Requests and payment reversals from ACSL, each queue with its open and decided items.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Incoming Requests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 FR-OP-130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Requests of Collections, Payment Requests and ACSL are decided by Cashiering and answered.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Collector Requests / Refund Validations / Payment Reversals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open items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To Do / Decided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Collector Requests</a:t>
                      </a:r>
                    </a:p>
                  </a:txBody>
                  <a:tcPr marL="54864" marR="54864" marT="27432" marB="27432">
                    <a:solidFill>
                      <a:srgbClr val="FFFFFF"/>
                    </a:solidFill>
                  </a:tcPr>
                </a:tc>
                <a:tc>
                  <a:txBody>
                    <a:bodyPr/>
                    <a:lstStyle/>
                    <a:p>
                      <a:r>
                        <a:rPr sz="850" b="0">
                          <a:solidFill>
                            <a:srgbClr val="4B4B4B"/>
                          </a:solidFill>
                          <a:latin typeface="Arial"/>
                        </a:rPr>
                        <a:t>Request No. / Collector Asks / Payor / Unapplied / Amount / Requested By / Remarks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CRQ-yyyy-n with the unapplied reference; Whole balance when no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Refund Validations</a:t>
                      </a:r>
                    </a:p>
                  </a:txBody>
                  <a:tcPr marL="54864" marR="54864" marT="27432" marB="27432">
                    <a:solidFill>
                      <a:srgbClr val="E5F5FF"/>
                    </a:solidFill>
                  </a:tcPr>
                </a:tc>
                <a:tc>
                  <a:txBody>
                    <a:bodyPr/>
                    <a:lstStyle/>
                    <a:p>
                      <a:r>
                        <a:rPr sz="850" b="0">
                          <a:solidFill>
                            <a:srgbClr val="4B4B4B"/>
                          </a:solidFill>
                          <a:latin typeface="Arial"/>
                        </a:rPr>
                        <a:t>Validation No. / Cancelled Invoice / AR of the Payment / Refund / Requested By / New AR / Remarks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Reversals</a:t>
                      </a:r>
                    </a:p>
                  </a:txBody>
                  <a:tcPr marL="54864" marR="54864" marT="27432" marB="27432">
                    <a:solidFill>
                      <a:srgbClr val="FFFFFF"/>
                    </a:solidFill>
                  </a:tcPr>
                </a:tc>
                <a:tc>
                  <a:txBody>
                    <a:bodyPr/>
                    <a:lstStyle/>
                    <a:p>
                      <a:r>
                        <a:rPr sz="850" b="0">
                          <a:solidFill>
                            <a:srgbClr val="4B4B4B"/>
                          </a:solidFill>
                          <a:latin typeface="Arial"/>
                        </a:rPr>
                        <a:t>Reversal No. / Invoice No. / Receipt / Amount / Value Date / Reason / Requested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Whole application when no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Accept Request dialog</a:t>
                      </a:r>
                    </a:p>
                  </a:txBody>
                  <a:tcPr marL="54864" marR="54864" marT="27432" marB="27432">
                    <a:solidFill>
                      <a:srgbClr val="E5F5FF"/>
                    </a:solidFill>
                  </a:tcPr>
                </a:tc>
                <a:tc>
                  <a:txBody>
                    <a:bodyPr/>
                    <a:lstStyle/>
                    <a:p>
                      <a:r>
                        <a:rPr sz="850" b="0">
                          <a:solidFill>
                            <a:srgbClr val="4B4B4B"/>
                          </a:solidFill>
                          <a:latin typeface="Arial"/>
                        </a:rPr>
                        <a:t>Disposition Type / Amount / Client to Reclass To / Marketing Unit / Refund Payee / Remarks</a:t>
                      </a:r>
                    </a:p>
                  </a:txBody>
                  <a:tcPr marL="54864" marR="54864" marT="27432" marB="27432">
                    <a:solidFill>
                      <a:srgbClr val="E5F5FF"/>
                    </a:solidFill>
                  </a:tcPr>
                </a:tc>
                <a:tc>
                  <a:txBody>
                    <a:bodyPr/>
                    <a:lstStyle/>
                    <a:p>
                      <a:r>
                        <a:rPr sz="850" b="0">
                          <a:solidFill>
                            <a:srgbClr val="4B4B4B"/>
                          </a:solidFill>
                          <a:latin typeface="Arial"/>
                        </a:rPr>
                        <a:t>Drop-down, number, text</a:t>
                      </a:r>
                    </a:p>
                  </a:txBody>
                  <a:tcPr marL="54864" marR="54864" marT="27432" marB="27432">
                    <a:solidFill>
                      <a:srgbClr val="E5F5FF"/>
                    </a:solidFill>
                  </a:tcPr>
                </a:tc>
                <a:tc>
                  <a:txBody>
                    <a:bodyPr/>
                    <a:lstStyle/>
                    <a:p>
                      <a:r>
                        <a:rPr sz="850" b="0">
                          <a:solidFill>
                            <a:srgbClr val="4B4B4B"/>
                          </a:solidFill>
                          <a:latin typeface="Arial"/>
                        </a:rPr>
                        <a:t>Amount above zero and at most the unapplied balance</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client to reclass to / Enter the marketing unit to transfer to / Enter an amount above zero and at most the unapplied balance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Accept Request dialog</a:t>
                      </a:r>
                    </a:p>
                  </a:txBody>
                  <a:tcPr marL="54864" marR="54864" marT="27432" marB="27432">
                    <a:solidFill>
                      <a:srgbClr val="FFFFFF"/>
                    </a:solidFill>
                  </a:tcPr>
                </a:tc>
                <a:tc>
                  <a:txBody>
                    <a:bodyPr/>
                    <a:lstStyle/>
                    <a:p>
                      <a:r>
                        <a:rPr sz="850" b="0">
                          <a:solidFill>
                            <a:srgbClr val="4B4B4B"/>
                          </a:solidFill>
                          <a:latin typeface="Arial"/>
                        </a:rPr>
                        <a:t>Submit the disposition now (an application is processed at once)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Confirm Validation dialog</a:t>
                      </a:r>
                    </a:p>
                  </a:txBody>
                  <a:tcPr marL="54864" marR="54864" marT="27432" marB="27432">
                    <a:solidFill>
                      <a:srgbClr val="E5F5FF"/>
                    </a:solidFill>
                  </a:tcPr>
                </a:tc>
                <a:tc>
                  <a:txBody>
                    <a:bodyPr/>
                    <a:lstStyle/>
                    <a:p>
                      <a:r>
                        <a:rPr sz="850" b="0">
                          <a:solidFill>
                            <a:srgbClr val="4B4B4B"/>
                          </a:solidFill>
                          <a:latin typeface="Arial"/>
                        </a:rPr>
                        <a:t>Unapplied Item / New AR No.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unapplied item holding the returned premium</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unapplied item that holds the returned premium</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Accept Request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Collector request queued, row selected</a:t>
                      </a:r>
                    </a:p>
                  </a:txBody>
                  <a:tcPr marL="54864" marR="54864" marT="27432" marB="27432">
                    <a:solidFill>
                      <a:srgbClr val="FFFFFF"/>
                    </a:solidFill>
                  </a:tcPr>
                </a:tc>
                <a:tc>
                  <a:txBody>
                    <a:bodyPr/>
                    <a:lstStyle/>
                    <a:p>
                      <a:r>
                        <a:rPr sz="850" b="0">
                          <a:solidFill>
                            <a:srgbClr val="4B4B4B"/>
                          </a:solidFill>
                          <a:latin typeface="Arial"/>
                        </a:rPr>
                        <a:t>Creates the disposition of the unapplied item and, when ticked, submits it</a:t>
                      </a:r>
                    </a:p>
                  </a:txBody>
                  <a:tcPr marL="54864" marR="54864" marT="27432" marB="27432">
                    <a:solidFill>
                      <a:srgbClr val="FFFFFF"/>
                    </a:solidFill>
                  </a:tcPr>
                </a:tc>
                <a:tc>
                  <a:txBody>
                    <a:bodyPr/>
                    <a:lstStyle/>
                    <a:p>
                      <a:r>
                        <a:rPr sz="850" b="0">
                          <a:solidFill>
                            <a:srgbClr val="4B4B4B"/>
                          </a:solidFill>
                          <a:latin typeface="Arial"/>
                        </a:rPr>
                        <a:t>Accepted</a:t>
                      </a:r>
                    </a:p>
                  </a:txBody>
                  <a:tcPr marL="54864" marR="54864" marT="27432" marB="27432">
                    <a:solidFill>
                      <a:srgbClr val="FFFFFF"/>
                    </a:solidFill>
                  </a:tcPr>
                </a:tc>
                <a:tc>
                  <a:txBody>
                    <a:bodyPr/>
                    <a:lstStyle/>
                    <a:p>
                      <a:r>
                        <a:rPr sz="850" b="0">
                          <a:solidFill>
                            <a:srgbClr val="4B4B4B"/>
                          </a:solidFill>
                          <a:latin typeface="Arial"/>
                        </a:rPr>
                        <a:t>The collector is told the outcome</a:t>
                      </a:r>
                    </a:p>
                  </a:txBody>
                  <a:tcPr marL="54864" marR="54864" marT="27432" marB="27432">
                    <a:solidFill>
                      <a:srgbClr val="FFFFFF"/>
                    </a:solidFill>
                  </a:tcPr>
                </a:tc>
              </a:tr>
              <a:tr h="350518">
                <a:tc>
                  <a:txBody>
                    <a:bodyPr/>
                    <a:lstStyle/>
                    <a:p>
                      <a:r>
                        <a:rPr sz="850" b="0">
                          <a:solidFill>
                            <a:srgbClr val="4B4B4B"/>
                          </a:solidFill>
                          <a:latin typeface="Arial"/>
                        </a:rPr>
                        <a:t>Reject Request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Collector request queued</a:t>
                      </a:r>
                    </a:p>
                  </a:txBody>
                  <a:tcPr marL="54864" marR="54864" marT="27432" marB="27432">
                    <a:solidFill>
                      <a:srgbClr val="E5F5FF"/>
                    </a:solidFill>
                  </a:tcPr>
                </a:tc>
                <a:tc>
                  <a:txBody>
                    <a:bodyPr/>
                    <a:lstStyle/>
                    <a:p>
                      <a:r>
                        <a:rPr sz="850" b="0">
                          <a:solidFill>
                            <a:srgbClr val="4B4B4B"/>
                          </a:solidFill>
                          <a:latin typeface="Arial"/>
                        </a:rPr>
                        <a:t>Rejects the request with a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The collector is told the outcome</a:t>
                      </a:r>
                    </a:p>
                  </a:txBody>
                  <a:tcPr marL="54864" marR="54864" marT="27432" marB="27432">
                    <a:solidFill>
                      <a:srgbClr val="E5F5FF"/>
                    </a:solidFill>
                  </a:tcPr>
                </a:tc>
              </a:tr>
              <a:tr h="350518">
                <a:tc>
                  <a:txBody>
                    <a:bodyPr/>
                    <a:lstStyle/>
                    <a:p>
                      <a:r>
                        <a:rPr sz="850" b="0">
                          <a:solidFill>
                            <a:srgbClr val="4B4B4B"/>
                          </a:solidFill>
                          <a:latin typeface="Arial"/>
                        </a:rPr>
                        <a:t>Confirm Validation / Reject Validation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Refund validation open</a:t>
                      </a:r>
                    </a:p>
                  </a:txBody>
                  <a:tcPr marL="54864" marR="54864" marT="27432" marB="27432">
                    <a:solidFill>
                      <a:srgbClr val="FFFFFF"/>
                    </a:solidFill>
                  </a:tcPr>
                </a:tc>
                <a:tc>
                  <a:txBody>
                    <a:bodyPr/>
                    <a:lstStyle/>
                    <a:p>
                      <a:r>
                        <a:rPr sz="850" b="0">
                          <a:solidFill>
                            <a:srgbClr val="4B4B4B"/>
                          </a:solidFill>
                          <a:latin typeface="Arial"/>
                        </a:rPr>
                        <a:t>Confirms that the premium is back in the unapplied list (with its new AR) or rejects it</a:t>
                      </a:r>
                    </a:p>
                  </a:txBody>
                  <a:tcPr marL="54864" marR="54864" marT="27432" marB="27432">
                    <a:solidFill>
                      <a:srgbClr val="FFFFFF"/>
                    </a:solidFill>
                  </a:tcPr>
                </a:tc>
                <a:tc>
                  <a:txBody>
                    <a:bodyPr/>
                    <a:lstStyle/>
                    <a:p>
                      <a:r>
                        <a:rPr sz="850" b="0">
                          <a:solidFill>
                            <a:srgbClr val="4B4B4B"/>
                          </a:solidFill>
                          <a:latin typeface="Arial"/>
                        </a:rPr>
                        <a:t>Confirmed / Rejected</a:t>
                      </a:r>
                    </a:p>
                  </a:txBody>
                  <a:tcPr marL="54864" marR="54864" marT="27432" marB="27432">
                    <a:solidFill>
                      <a:srgbClr val="FFFFFF"/>
                    </a:solidFill>
                  </a:tcPr>
                </a:tc>
                <a:tc>
                  <a:txBody>
                    <a:bodyPr/>
                    <a:lstStyle/>
                    <a:p>
                      <a:r>
                        <a:rPr sz="850" b="0">
                          <a:solidFill>
                            <a:srgbClr val="4B4B4B"/>
                          </a:solidFill>
                          <a:latin typeface="Arial"/>
                        </a:rPr>
                        <a:t>Payment Requests is told the result</a:t>
                      </a:r>
                    </a:p>
                  </a:txBody>
                  <a:tcPr marL="54864" marR="54864" marT="27432" marB="27432">
                    <a:solidFill>
                      <a:srgbClr val="FFFFFF"/>
                    </a:solidFill>
                  </a:tcPr>
                </a:tc>
              </a:tr>
              <a:tr h="350518">
                <a:tc>
                  <a:txBody>
                    <a:bodyPr/>
                    <a:lstStyle/>
                    <a:p>
                      <a:r>
                        <a:rPr sz="850" b="0">
                          <a:solidFill>
                            <a:srgbClr val="4B4B4B"/>
                          </a:solidFill>
                          <a:latin typeface="Arial"/>
                        </a:rPr>
                        <a:t>Approve Reversal / Reject Reversal</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Payment reversal open</a:t>
                      </a:r>
                    </a:p>
                  </a:txBody>
                  <a:tcPr marL="54864" marR="54864" marT="27432" marB="27432">
                    <a:solidFill>
                      <a:srgbClr val="E5F5FF"/>
                    </a:solidFill>
                  </a:tcPr>
                </a:tc>
                <a:tc>
                  <a:txBody>
                    <a:bodyPr/>
                    <a:lstStyle/>
                    <a:p>
                      <a:r>
                        <a:rPr sz="850" b="0">
                          <a:solidFill>
                            <a:srgbClr val="4B4B4B"/>
                          </a:solidFill>
                          <a:latin typeface="Arial"/>
                        </a:rPr>
                        <a:t>Asks for confirmation and reverses the application as requested, or rejects it with a reason</a:t>
                      </a:r>
                    </a:p>
                  </a:txBody>
                  <a:tcPr marL="54864" marR="54864" marT="27432" marB="27432">
                    <a:solidFill>
                      <a:srgbClr val="E5F5FF"/>
                    </a:solidFill>
                  </a:tcPr>
                </a:tc>
                <a:tc>
                  <a:txBody>
                    <a:bodyPr/>
                    <a:lstStyle/>
                    <a:p>
                      <a:r>
                        <a:rPr sz="850" b="0">
                          <a:solidFill>
                            <a:srgbClr val="4B4B4B"/>
                          </a:solidFill>
                          <a:latin typeface="Arial"/>
                        </a:rPr>
                        <a:t>Approved / Rejected</a:t>
                      </a:r>
                    </a:p>
                  </a:txBody>
                  <a:tcPr marL="54864" marR="54864" marT="27432" marB="27432">
                    <a:solidFill>
                      <a:srgbClr val="E5F5FF"/>
                    </a:solidFill>
                  </a:tcPr>
                </a:tc>
                <a:tc>
                  <a:txBody>
                    <a:bodyPr/>
                    <a:lstStyle/>
                    <a:p>
                      <a:r>
                        <a:rPr sz="850" b="0">
                          <a:solidFill>
                            <a:srgbClr val="4B4B4B"/>
                          </a:solidFill>
                          <a:latin typeface="Arial"/>
                        </a:rPr>
                        <a:t>ACSL is told the result</a:t>
                      </a:r>
                    </a:p>
                  </a:txBody>
                  <a:tcPr marL="54864" marR="54864" marT="27432" marB="27432">
                    <a:solidFill>
                      <a:srgbClr val="E5F5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Collections asks Cashiering to dispose of an unapplied payment; Cashiering decides and the collector sees the outcome (FR-OP-022).</a:t>
                      </a:r>
                    </a:p>
                  </a:txBody>
                  <a:tcPr marL="54864" marR="54864" marT="27432" marB="27432">
                    <a:solidFill>
                      <a:srgbClr val="FFFFFF"/>
                    </a:solidFill>
                  </a:tcPr>
                </a:tc>
              </a:tr>
              <a:tr h="243840">
                <a:tc>
                  <a:txBody>
                    <a:bodyPr/>
                    <a:lstStyle/>
                    <a:p>
                      <a:r>
                        <a:rPr sz="1000" b="0">
                          <a:solidFill>
                            <a:srgbClr val="4B4B4B"/>
                          </a:solidFill>
                          <a:latin typeface="Arial"/>
                        </a:rPr>
                        <a:t>A refund validation confirms that the premium of a cancelled invoice is back in the unapplied list before Payment Requests refunds it (FR-OP-022).</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Incoming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3-01-list.png"/>
          <p:cNvPicPr>
            <a:picLocks noChangeAspect="1"/>
          </p:cNvPicPr>
          <p:nvPr/>
        </p:nvPicPr>
        <p:blipFill>
          <a:blip r:embed="rId3"/>
          <a:stretch>
            <a:fillRect/>
          </a:stretch>
        </p:blipFill>
        <p:spPr>
          <a:xfrm>
            <a:off x="1267687" y="1261872"/>
            <a:ext cx="965632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Incoming Requests: Collector Requests, To Do</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Incoming Requests: Confirmation with reason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66.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Accept Request dialog of a collector request (part 1 of 2)</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Incoming Requests: Confirmation with reason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67.png"/>
          <p:cNvPicPr>
            <a:picLocks noChangeAspect="1"/>
          </p:cNvPicPr>
          <p:nvPr/>
        </p:nvPicPr>
        <p:blipFill>
          <a:blip r:embed="rId3"/>
          <a:stretch>
            <a:fillRect/>
          </a:stretch>
        </p:blipFill>
        <p:spPr>
          <a:xfrm>
            <a:off x="548640" y="1261872"/>
            <a:ext cx="11094415" cy="26771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Accept Request dialog of a collector request (part 2 of 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Pre-booked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Payments received for accounts not yet booked: they wait with their age and re-match attempts and are applied automatically once the account is booked; an ageing item can be re-matched now or released to the unapplied payments.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Pre-booked Payments</a:t>
                      </a:r>
                    </a:p>
                    <a:p>
                      <a:r>
                        <a:rPr sz="950" b="0">
                          <a:solidFill>
                            <a:srgbClr val="4B4B4B"/>
                          </a:solidFill>
                          <a:latin typeface="Arial"/>
                        </a:rPr>
                        <a:t>Cashiering Workbench › Pre-booked Payments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FR-OP-018, FR-OP-132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Payments received before booking are applied as soon as the account is booked.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Waiting for Booking / Applied / Released to Unapplied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 (ARN) / Reference / Amount / Received / Age / Re-match Attempts / Receipt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Age in days, amber after 7 and red after 30 days; Open AR opens the receipt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Release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Matching Now</a:t>
                      </a:r>
                    </a:p>
                  </a:txBody>
                  <a:tcPr marL="54864" marR="54864" marT="27432" marB="27432">
                    <a:solidFill>
                      <a:srgbClr val="FFFFFF"/>
                    </a:solidFill>
                  </a:tcPr>
                </a:tc>
                <a:tc>
                  <a:txBody>
                    <a:bodyPr/>
                    <a:lstStyle/>
                    <a:p>
                      <a:r>
                        <a:rPr sz="850" b="0">
                          <a:solidFill>
                            <a:srgbClr val="4B4B4B"/>
                          </a:solidFill>
                          <a:latin typeface="Arial"/>
                        </a:rPr>
                        <a:t>Cashier with the application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Matches every waiting payment and unapplied item again and applies those whose invoice is now booked</a:t>
                      </a:r>
                    </a:p>
                  </a:txBody>
                  <a:tcPr marL="54864" marR="54864" marT="27432" marB="27432">
                    <a:solidFill>
                      <a:srgbClr val="FFFFFF"/>
                    </a:solidFill>
                  </a:tcPr>
                </a:tc>
                <a:tc>
                  <a:txBody>
                    <a:bodyPr/>
                    <a:lstStyle/>
                    <a:p>
                      <a:r>
                        <a:rPr sz="850" b="0">
                          <a:solidFill>
                            <a:srgbClr val="4B4B4B"/>
                          </a:solidFill>
                          <a:latin typeface="Arial"/>
                        </a:rPr>
                        <a:t>Applied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Receipt</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AR of the payment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Re-match Now</a:t>
                      </a:r>
                    </a:p>
                  </a:txBody>
                  <a:tcPr marL="54864" marR="54864" marT="27432" marB="27432">
                    <a:solidFill>
                      <a:srgbClr val="FFFFFF"/>
                    </a:solidFill>
                  </a:tcPr>
                </a:tc>
                <a:tc>
                  <a:txBody>
                    <a:bodyPr/>
                    <a:lstStyle/>
                    <a:p>
                      <a:r>
                        <a:rPr sz="850" b="0">
                          <a:solidFill>
                            <a:srgbClr val="4B4B4B"/>
                          </a:solidFill>
                          <a:latin typeface="Arial"/>
                        </a:rPr>
                        <a:t>Cashier with the application permission</a:t>
                      </a:r>
                    </a:p>
                  </a:txBody>
                  <a:tcPr marL="54864" marR="54864" marT="27432" marB="27432">
                    <a:solidFill>
                      <a:srgbClr val="FFFFFF"/>
                    </a:solidFill>
                  </a:tcPr>
                </a:tc>
                <a:tc>
                  <a:txBody>
                    <a:bodyPr/>
                    <a:lstStyle/>
                    <a:p>
                      <a:r>
                        <a:rPr sz="850" b="0">
                          <a:solidFill>
                            <a:srgbClr val="4B4B4B"/>
                          </a:solidFill>
                          <a:latin typeface="Arial"/>
                        </a:rPr>
                        <a:t>Waiting for booking</a:t>
                      </a:r>
                    </a:p>
                  </a:txBody>
                  <a:tcPr marL="54864" marR="54864" marT="27432" marB="27432">
                    <a:solidFill>
                      <a:srgbClr val="FFFFFF"/>
                    </a:solidFill>
                  </a:tcPr>
                </a:tc>
                <a:tc>
                  <a:txBody>
                    <a:bodyPr/>
                    <a:lstStyle/>
                    <a:p>
                      <a:r>
                        <a:rPr sz="850" b="0">
                          <a:solidFill>
                            <a:srgbClr val="4B4B4B"/>
                          </a:solidFill>
                          <a:latin typeface="Arial"/>
                        </a:rPr>
                        <a:t>Matches the payment again</a:t>
                      </a:r>
                    </a:p>
                  </a:txBody>
                  <a:tcPr marL="54864" marR="54864" marT="27432" marB="27432">
                    <a:solidFill>
                      <a:srgbClr val="FFFFFF"/>
                    </a:solidFill>
                  </a:tcPr>
                </a:tc>
                <a:tc>
                  <a:txBody>
                    <a:bodyPr/>
                    <a:lstStyle/>
                    <a:p>
                      <a:r>
                        <a:rPr sz="850" b="0">
                          <a:solidFill>
                            <a:srgbClr val="4B4B4B"/>
                          </a:solidFill>
                          <a:latin typeface="Arial"/>
                        </a:rPr>
                        <a:t>Applied or 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Release to Unapplied</a:t>
                      </a:r>
                    </a:p>
                  </a:txBody>
                  <a:tcPr marL="54864" marR="54864" marT="27432" marB="27432">
                    <a:solidFill>
                      <a:srgbClr val="E5F5FF"/>
                    </a:solidFill>
                  </a:tcPr>
                </a:tc>
                <a:tc>
                  <a:txBody>
                    <a:bodyPr/>
                    <a:lstStyle/>
                    <a:p>
                      <a:r>
                        <a:rPr sz="850" b="0">
                          <a:solidFill>
                            <a:srgbClr val="4B4B4B"/>
                          </a:solidFill>
                          <a:latin typeface="Arial"/>
                        </a:rPr>
                        <a:t>Cashier with the application permission</a:t>
                      </a:r>
                    </a:p>
                  </a:txBody>
                  <a:tcPr marL="54864" marR="54864" marT="27432" marB="27432">
                    <a:solidFill>
                      <a:srgbClr val="E5F5FF"/>
                    </a:solidFill>
                  </a:tcPr>
                </a:tc>
                <a:tc>
                  <a:txBody>
                    <a:bodyPr/>
                    <a:lstStyle/>
                    <a:p>
                      <a:r>
                        <a:rPr sz="850" b="0">
                          <a:solidFill>
                            <a:srgbClr val="4B4B4B"/>
                          </a:solidFill>
                          <a:latin typeface="Arial"/>
                        </a:rPr>
                        <a:t>Waiting for booking</a:t>
                      </a:r>
                    </a:p>
                  </a:txBody>
                  <a:tcPr marL="54864" marR="54864" marT="27432" marB="27432">
                    <a:solidFill>
                      <a:srgbClr val="E5F5FF"/>
                    </a:solidFill>
                  </a:tcPr>
                </a:tc>
                <a:tc>
                  <a:txBody>
                    <a:bodyPr/>
                    <a:lstStyle/>
                    <a:p>
                      <a:r>
                        <a:rPr sz="850" b="0">
                          <a:solidFill>
                            <a:srgbClr val="4B4B4B"/>
                          </a:solidFill>
                          <a:latin typeface="Arial"/>
                        </a:rPr>
                        <a:t>Moves the payment to the unapplied payments</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payment for an account not yet booked waits in the queue and opens the New Business payment gate (FR-OP-018, FR-OP-132).</a:t>
                      </a:r>
                    </a:p>
                  </a:txBody>
                  <a:tcPr marL="54864" marR="54864" marT="27432" marB="27432">
                    <a:solidFill>
                      <a:srgbClr val="FFFFFF"/>
                    </a:solidFill>
                  </a:tcPr>
                </a:tc>
              </a:tr>
              <a:tr h="243840">
                <a:tc>
                  <a:txBody>
                    <a:bodyPr/>
                    <a:lstStyle/>
                    <a:p>
                      <a:r>
                        <a:rPr sz="1000" b="0">
                          <a:solidFill>
                            <a:srgbClr val="4B4B4B"/>
                          </a:solidFill>
                          <a:latin typeface="Arial"/>
                        </a:rPr>
                        <a:t>It is applied when the invoice is booked, or by the scheduled re-match every two hours; an ageing item raises an alert (FR-OP-018).</a:t>
                      </a:r>
                    </a:p>
                  </a:txBody>
                  <a:tcPr marL="54864" marR="54864" marT="27432" marB="27432">
                    <a:solidFill>
                      <a:srgbClr val="E5F5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SCR-OP-14 Pre-booked Payments: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14-01-list.png"/>
          <p:cNvPicPr>
            <a:picLocks noChangeAspect="1"/>
          </p:cNvPicPr>
          <p:nvPr/>
        </p:nvPicPr>
        <p:blipFill>
          <a:blip r:embed="rId3"/>
          <a:stretch>
            <a:fillRect/>
          </a:stretch>
        </p:blipFill>
        <p:spPr>
          <a:xfrm>
            <a:off x="548640" y="1261872"/>
            <a:ext cx="11094415" cy="37969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Pre-booked Payments waiting for booking</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 files of the banks and channels (Bills Payment, Trade, CLPC, Direct Credit) and the file of post-dated checks, each in its template: every row is validated first, the valid rows become payments with their AR and are matched at once, and the run summary counts applied, unapplied, pre-booked, excess and failed rows.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Payment Uploads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FR-OP-008, FR-OP-015, FR-OP-016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Bank and channel payments are receipted and applied in bulk.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Bills Payment / Trade / CLPC / Direct Credit / PDC</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One file type per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Template</a:t>
                      </a:r>
                    </a:p>
                  </a:txBody>
                  <a:tcPr marL="54864" marR="54864" marT="27432" marB="27432">
                    <a:solidFill>
                      <a:srgbClr val="E5F5FF"/>
                    </a:solidFill>
                  </a:tcPr>
                </a:tc>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columns of the file type (chapter 18)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Headers 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Drag and drop or Browse; the accepted types and the maximum size are shown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already uploaded is refused</a:t>
                      </a:r>
                    </a:p>
                  </a:txBody>
                  <a:tcPr marL="54864" marR="54864" marT="27432" marB="27432">
                    <a:solidFill>
                      <a:srgbClr val="FFFFFF"/>
                    </a:solidFill>
                  </a:tcPr>
                </a:tc>
                <a:tc>
                  <a:txBody>
                    <a:bodyPr/>
                    <a:lstStyle/>
                    <a:p>
                      <a:r>
                        <a:rPr sz="850" b="0">
                          <a:solidFill>
                            <a:srgbClr val="4B4B4B"/>
                          </a:solidFill>
                          <a:latin typeface="Arial"/>
                        </a:rPr>
                        <a:t>This file was already uploaded</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Run Summary</a:t>
                      </a:r>
                    </a:p>
                  </a:txBody>
                  <a:tcPr marL="54864" marR="54864" marT="27432" marB="27432">
                    <a:solidFill>
                      <a:srgbClr val="E5F5FF"/>
                    </a:solidFill>
                  </a:tcPr>
                </a:tc>
                <a:tc>
                  <a:txBody>
                    <a:bodyPr/>
                    <a:lstStyle/>
                    <a:p>
                      <a:r>
                        <a:rPr sz="850" b="0">
                          <a:solidFill>
                            <a:srgbClr val="4B4B4B"/>
                          </a:solidFill>
                          <a:latin typeface="Arial"/>
                        </a:rPr>
                        <a:t>Applied / Unapplied / Pre-booked / With Excess / Failed Rows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Run Summary</a:t>
                      </a:r>
                    </a:p>
                  </a:txBody>
                  <a:tcPr marL="54864" marR="54864" marT="27432" marB="27432">
                    <a:solidFill>
                      <a:srgbClr val="FFFFFF"/>
                    </a:solidFill>
                  </a:tcPr>
                </a:tc>
                <a:tc>
                  <a:txBody>
                    <a:bodyPr/>
                    <a:lstStyle/>
                    <a:p>
                      <a:r>
                        <a:rPr sz="850" b="0">
                          <a:solidFill>
                            <a:srgbClr val="4B4B4B"/>
                          </a:solidFill>
                          <a:latin typeface="Arial"/>
                        </a:rPr>
                        <a:t>Row / Reference / Payor / Amount / Applied / Unapplied / Outcome / Message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payment of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payment accepted in this run</a:t>
                      </a:r>
                    </a:p>
                  </a:txBody>
                  <a:tcPr marL="54864" marR="54864" marT="27432" marB="27432">
                    <a:solidFill>
                      <a:srgbClr val="FFFF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template of the file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and Validate</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File chosen</a:t>
                      </a:r>
                    </a:p>
                  </a:txBody>
                  <a:tcPr marL="54864" marR="54864" marT="27432" marB="27432">
                    <a:solidFill>
                      <a:srgbClr val="E5F5FF"/>
                    </a:solidFill>
                  </a:tcPr>
                </a:tc>
                <a:tc>
                  <a:txBody>
                    <a:bodyPr/>
                    <a:lstStyle/>
                    <a:p>
                      <a:r>
                        <a:rPr sz="850" b="0">
                          <a:solidFill>
                            <a:srgbClr val="4B4B4B"/>
                          </a:solidFill>
                          <a:latin typeface="Arial"/>
                        </a:rPr>
                        <a:t>Validates every row and shows Rows Read, Valid and Rejected with the rows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Process the valid rows</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Rows validated</a:t>
                      </a:r>
                    </a:p>
                  </a:txBody>
                  <a:tcPr marL="54864" marR="54864" marT="27432" marB="27432">
                    <a:solidFill>
                      <a:srgbClr val="FFFFFF"/>
                    </a:solidFill>
                  </a:tcPr>
                </a:tc>
                <a:tc>
                  <a:txBody>
                    <a:bodyPr/>
                    <a:lstStyle/>
                    <a:p>
                      <a:r>
                        <a:rPr sz="850" b="0">
                          <a:solidFill>
                            <a:srgbClr val="4B4B4B"/>
                          </a:solidFill>
                          <a:latin typeface="Arial"/>
                        </a:rPr>
                        <a:t>Creates the payments with their ARs and matches them</a:t>
                      </a:r>
                    </a:p>
                  </a:txBody>
                  <a:tcPr marL="54864" marR="54864" marT="27432" marB="27432">
                    <a:solidFill>
                      <a:srgbClr val="FFFFFF"/>
                    </a:solidFill>
                  </a:tcPr>
                </a:tc>
                <a:tc>
                  <a:txBody>
                    <a:bodyPr/>
                    <a:lstStyle/>
                    <a:p>
                      <a:r>
                        <a:rPr sz="850" b="0">
                          <a:solidFill>
                            <a:srgbClr val="4B4B4B"/>
                          </a:solidFill>
                          <a:latin typeface="Arial"/>
                        </a:rPr>
                        <a:t>AR issued per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Report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Run done</a:t>
                      </a:r>
                    </a:p>
                  </a:txBody>
                  <a:tcPr marL="54864" marR="54864" marT="27432" marB="27432">
                    <a:solidFill>
                      <a:srgbClr val="E5F5FF"/>
                    </a:solidFill>
                  </a:tcPr>
                </a:tc>
                <a:tc>
                  <a:txBody>
                    <a:bodyPr/>
                    <a:lstStyle/>
                    <a:p>
                      <a:r>
                        <a:rPr sz="850" b="0">
                          <a:solidFill>
                            <a:srgbClr val="4B4B4B"/>
                          </a:solidFill>
                          <a:latin typeface="Arial"/>
                        </a:rPr>
                        <a:t>Downloads the run report with the failed rows and their messages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row is a payment: an AR is issued and the payment is matched at once; the same file cannot be uploaded twice (FR-OP-015, FR-OP-008).</a:t>
                      </a:r>
                    </a:p>
                  </a:txBody>
                  <a:tcPr marL="54864" marR="54864" marT="27432" marB="27432">
                    <a:solidFill>
                      <a:srgbClr val="FFFFFF"/>
                    </a:solidFill>
                  </a:tcPr>
                </a:tc>
              </a:tr>
              <a:tr h="243840">
                <a:tc>
                  <a:txBody>
                    <a:bodyPr/>
                    <a:lstStyle/>
                    <a:p>
                      <a:r>
                        <a:rPr sz="1000" b="0">
                          <a:solidFill>
                            <a:srgbClr val="4B4B4B"/>
                          </a:solidFill>
                          <a:latin typeface="Arial"/>
                        </a:rPr>
                        <a:t>A failed row never stops the run; the failed rows are corrected in the report and uploaded again as a new file (FR-OP-008).</a:t>
                      </a:r>
                    </a:p>
                  </a:txBody>
                  <a:tcPr marL="54864" marR="54864" marT="27432" marB="27432">
                    <a:solidFill>
                      <a:srgbClr val="E5F5FF"/>
                    </a:solidFill>
                  </a:tcPr>
                </a:tc>
              </a:tr>
              <a:tr h="243840">
                <a:tc>
                  <a:txBody>
                    <a:bodyPr/>
                    <a:lstStyle/>
                    <a:p>
                      <a:r>
                        <a:rPr sz="1000" b="0">
                          <a:solidFill>
                            <a:srgbClr val="4B4B4B"/>
                          </a:solidFill>
                          <a:latin typeface="Arial"/>
                        </a:rPr>
                        <a:t>The layout of each bank file is set on Cashiering Setup until BDOI confirms the bank layouts (FR-OP-015).</a:t>
                      </a:r>
                    </a:p>
                  </a:txBody>
                  <a:tcPr marL="54864" marR="54864" marT="27432" marB="27432">
                    <a:solidFill>
                      <a:srgbClr val="FFFF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Uploads, Bills Payment: template and upload steps (part 1 of 2)</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29935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Uploads, Bills Payment: template and upload steps (part 2 of 2)</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Post-dated checks kept in the warehouse with a PDCW- number, grouped by maturity month; the maturity job turns a matured check into a payment with its AR, and before maturity a check can be returned, replaced or pulled out.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PDC Warehouse</a:t>
                      </a:r>
                    </a:p>
                    <a:p>
                      <a:r>
                        <a:rPr sz="950" b="0">
                          <a:solidFill>
                            <a:srgbClr val="4B4B4B"/>
                          </a:solidFill>
                          <a:latin typeface="Arial"/>
                        </a:rPr>
                        <a:t>Cashiering Workbench › Post-dated Checks in the Warehouse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Post-dated checks are kept until maturity and receipted on the day.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25880"/>
          <a:ext cx="11094411" cy="24917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In Warehouse / Applied / Matured (Unapplied)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Maturity month and total</a:t>
                      </a:r>
                    </a:p>
                  </a:txBody>
                  <a:tcPr marL="54864" marR="54864" marT="27432" marB="27432">
                    <a:solidFill>
                      <a:srgbClr val="E5F5FF"/>
                    </a:solidFill>
                  </a:tcPr>
                </a:tc>
                <a:tc>
                  <a:txBody>
                    <a:bodyPr/>
                    <a:lstStyle/>
                    <a:p>
                      <a:r>
                        <a:rPr sz="850" b="0">
                          <a:solidFill>
                            <a:srgbClr val="4B4B4B"/>
                          </a:solidFill>
                          <a:latin typeface="Arial"/>
                        </a:rPr>
                        <a:t>Heading</a:t>
                      </a:r>
                    </a:p>
                  </a:txBody>
                  <a:tcPr marL="54864" marR="54864" marT="27432" marB="27432">
                    <a:solidFill>
                      <a:srgbClr val="E5F5FF"/>
                    </a:solidFill>
                  </a:tcPr>
                </a:tc>
                <a:tc>
                  <a:txBody>
                    <a:bodyPr/>
                    <a:lstStyle/>
                    <a:p>
                      <a:r>
                        <a:rPr sz="850" b="0">
                          <a:solidFill>
                            <a:srgbClr val="4B4B4B"/>
                          </a:solidFill>
                          <a:latin typeface="Arial"/>
                        </a:rPr>
                        <a:t>Month, number of checks and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Warehouse No. / Payor / Reference / Maturity / Amount / AR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PDCW-yyyy-n with the bank and check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Warehouse Post-dated Check dialog</a:t>
                      </a:r>
                    </a:p>
                  </a:txBody>
                  <a:tcPr marL="54864" marR="54864" marT="27432" marB="27432">
                    <a:solidFill>
                      <a:srgbClr val="E5F5FF"/>
                    </a:solidFill>
                  </a:tcPr>
                </a:tc>
                <a:tc>
                  <a:txBody>
                    <a:bodyPr/>
                    <a:lstStyle/>
                    <a:p>
                      <a:r>
                        <a:rPr sz="850" b="0">
                          <a:solidFill>
                            <a:srgbClr val="4B4B4B"/>
                          </a:solidFill>
                          <a:latin typeface="Arial"/>
                        </a:rPr>
                        <a:t>Payor Name / Client Code / ARN, Invoice, Policy or PN No. / Check No. / Bank / Bank Branch / Maturity Date / Amount / Market Segment</a:t>
                      </a:r>
                    </a:p>
                  </a:txBody>
                  <a:tcPr marL="54864" marR="54864" marT="27432" marB="27432">
                    <a:solidFill>
                      <a:srgbClr val="E5F5FF"/>
                    </a:solidFill>
                  </a:tcPr>
                </a:tc>
                <a:tc>
                  <a:txBody>
                    <a:bodyPr/>
                    <a:lstStyle/>
                    <a:p>
                      <a:r>
                        <a:rPr sz="850" b="0">
                          <a:solidFill>
                            <a:srgbClr val="4B4B4B"/>
                          </a:solidFill>
                          <a:latin typeface="Arial"/>
                        </a:rPr>
                        <a:t>Text, date, number</a:t>
                      </a:r>
                    </a:p>
                  </a:txBody>
                  <a:tcPr marL="54864" marR="54864" marT="27432" marB="27432">
                    <a:solidFill>
                      <a:srgbClr val="E5F5FF"/>
                    </a:solidFill>
                  </a:tcPr>
                </a:tc>
                <a:tc>
                  <a:txBody>
                    <a:bodyPr/>
                    <a:lstStyle/>
                    <a:p>
                      <a:r>
                        <a:rPr sz="850" b="0">
                          <a:solidFill>
                            <a:srgbClr val="4B4B4B"/>
                          </a:solidFill>
                          <a:latin typeface="Arial"/>
                        </a:rPr>
                        <a:t>Maturity date dd-MMM-yyyy</a:t>
                      </a:r>
                    </a:p>
                  </a:txBody>
                  <a:tcPr marL="54864" marR="54864" marT="27432" marB="27432">
                    <a:solidFill>
                      <a:srgbClr val="E5F5FF"/>
                    </a:solidFill>
                  </a:tcPr>
                </a:tc>
                <a:tc>
                  <a:txBody>
                    <a:bodyPr/>
                    <a:lstStyle/>
                    <a:p>
                      <a:r>
                        <a:rPr sz="850" b="0">
                          <a:solidFill>
                            <a:srgbClr val="4B4B4B"/>
                          </a:solidFill>
                          <a:latin typeface="Arial"/>
                        </a:rPr>
                        <a:t>Payor, reference, check, bank, maturity date and amount Y</a:t>
                      </a:r>
                    </a:p>
                  </a:txBody>
                  <a:tcPr marL="54864" marR="54864" marT="27432" marB="27432">
                    <a:solidFill>
                      <a:srgbClr val="E5F5FF"/>
                    </a:solidFill>
                  </a:tcPr>
                </a:tc>
                <a:tc>
                  <a:txBody>
                    <a:bodyPr/>
                    <a:lstStyle/>
                    <a:p>
                      <a:r>
                        <a:rPr sz="850" b="0">
                          <a:solidFill>
                            <a:srgbClr val="4B4B4B"/>
                          </a:solidFill>
                          <a:latin typeface="Arial"/>
                        </a:rPr>
                        <a:t>Not blank; amount above zero</a:t>
                      </a:r>
                    </a:p>
                  </a:txBody>
                  <a:tcPr marL="54864" marR="54864" marT="27432" marB="27432">
                    <a:solidFill>
                      <a:srgbClr val="E5F5FF"/>
                    </a:solidFill>
                  </a:tcPr>
                </a:tc>
                <a:tc>
                  <a:txBody>
                    <a:bodyPr/>
                    <a:lstStyle/>
                    <a:p>
                      <a:r>
                        <a:rPr sz="850" b="0">
                          <a:solidFill>
                            <a:srgbClr val="4B4B4B"/>
                          </a:solidFill>
                          <a:latin typeface="Arial"/>
                        </a:rPr>
                        <a:t>&lt;field&gt; is required / Enter an amount above zero</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Release dialog</a:t>
                      </a:r>
                    </a:p>
                  </a:txBody>
                  <a:tcPr marL="54864" marR="54864" marT="27432" marB="27432">
                    <a:solidFill>
                      <a:srgbClr val="FFFFFF"/>
                    </a:solidFill>
                  </a:tcPr>
                </a:tc>
                <a:tc>
                  <a:txBody>
                    <a:bodyPr/>
                    <a:lstStyle/>
                    <a:p>
                      <a:r>
                        <a:rPr sz="850" b="0">
                          <a:solidFill>
                            <a:srgbClr val="4B4B4B"/>
                          </a:solidFill>
                          <a:latin typeface="Arial"/>
                        </a:rPr>
                        <a:t>Outcome / Reason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Returned, Replaced, Pulled out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Reason not blank</a:t>
                      </a:r>
                    </a:p>
                  </a:txBody>
                  <a:tcPr marL="54864" marR="54864" marT="27432" marB="27432">
                    <a:solidFill>
                      <a:srgbClr val="FFFFFF"/>
                    </a:solidFill>
                  </a:tcPr>
                </a:tc>
                <a:tc>
                  <a:txBody>
                    <a:bodyPr/>
                    <a:lstStyle/>
                    <a:p>
                      <a:r>
                        <a:rPr sz="850" b="0">
                          <a:solidFill>
                            <a:srgbClr val="4B4B4B"/>
                          </a:solidFill>
                          <a:latin typeface="Arial"/>
                        </a:rPr>
                        <a:t>Reason is required</a:t>
                      </a:r>
                    </a:p>
                  </a:txBody>
                  <a:tcPr marL="54864" marR="54864" marT="27432" marB="27432">
                    <a:solidFill>
                      <a:srgbClr val="FFFF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Warehouse Check</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Stores the check in the warehouse</a:t>
                      </a:r>
                    </a:p>
                  </a:txBody>
                  <a:tcPr marL="54864" marR="54864" marT="27432" marB="27432">
                    <a:solidFill>
                      <a:srgbClr val="FFFFFF"/>
                    </a:solidFill>
                  </a:tcPr>
                </a:tc>
                <a:tc>
                  <a:txBody>
                    <a:bodyPr/>
                    <a:lstStyle/>
                    <a:p>
                      <a:r>
                        <a:rPr sz="850" b="0">
                          <a:solidFill>
                            <a:srgbClr val="4B4B4B"/>
                          </a:solidFill>
                          <a:latin typeface="Arial"/>
                        </a:rPr>
                        <a:t>Warehoused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Process Maturities Now</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Turns every matured check into a payment with its AR, matched at once</a:t>
                      </a:r>
                    </a:p>
                  </a:txBody>
                  <a:tcPr marL="54864" marR="54864" marT="27432" marB="27432">
                    <a:solidFill>
                      <a:srgbClr val="E5F5FF"/>
                    </a:solidFill>
                  </a:tcPr>
                </a:tc>
                <a:tc>
                  <a:txBody>
                    <a:bodyPr/>
                    <a:lstStyle/>
                    <a:p>
                      <a:r>
                        <a:rPr sz="850" b="0">
                          <a:solidFill>
                            <a:srgbClr val="4B4B4B"/>
                          </a:solidFill>
                          <a:latin typeface="Arial"/>
                        </a:rPr>
                        <a:t>Applied or Matured (unapplied)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Release / Release Check</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Warehoused</a:t>
                      </a:r>
                    </a:p>
                  </a:txBody>
                  <a:tcPr marL="54864" marR="54864" marT="27432" marB="27432">
                    <a:solidFill>
                      <a:srgbClr val="FFFFFF"/>
                    </a:solidFill>
                  </a:tcPr>
                </a:tc>
                <a:tc>
                  <a:txBody>
                    <a:bodyPr/>
                    <a:lstStyle/>
                    <a:p>
                      <a:r>
                        <a:rPr sz="850" b="0">
                          <a:solidFill>
                            <a:srgbClr val="4B4B4B"/>
                          </a:solidFill>
                          <a:latin typeface="Arial"/>
                        </a:rPr>
                        <a:t>Takes the check out before maturity with the outcome and reason</a:t>
                      </a:r>
                    </a:p>
                  </a:txBody>
                  <a:tcPr marL="54864" marR="54864" marT="27432" marB="27432">
                    <a:solidFill>
                      <a:srgbClr val="FFFFFF"/>
                    </a:solidFill>
                  </a:tcPr>
                </a:tc>
                <a:tc>
                  <a:txBody>
                    <a:bodyPr/>
                    <a:lstStyle/>
                    <a:p>
                      <a:r>
                        <a:rPr sz="850" b="0">
                          <a:solidFill>
                            <a:srgbClr val="4B4B4B"/>
                          </a:solidFill>
                          <a:latin typeface="Arial"/>
                        </a:rPr>
                        <a:t>Returned, Replaced or Pulled 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post-dated check waits in the warehouse until its maturity date; the daily maturity job receipts it then (FR-OP-016).</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6-01-list.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PDC Warehouse by maturity month</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16-02-add.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Warehouse Post-dated Check dialog</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Print receipts in one batch: choose them by kind, insurer and date, preview the list, print the selected receipts into one PDF and retry the ones that failed.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Batch Print</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Receipts are printed in one run with a record of what was printed.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Receipts to Print</a:t>
                      </a:r>
                    </a:p>
                  </a:txBody>
                  <a:tcPr marL="54864" marR="54864" marT="27432" marB="27432">
                    <a:solidFill>
                      <a:srgbClr val="FFFFFF"/>
                    </a:solidFill>
                  </a:tcPr>
                </a:tc>
                <a:tc>
                  <a:txBody>
                    <a:bodyPr/>
                    <a:lstStyle/>
                    <a:p>
                      <a:r>
                        <a:rPr sz="850" b="0">
                          <a:solidFill>
                            <a:srgbClr val="4B4B4B"/>
                          </a:solidFill>
                          <a:latin typeface="Arial"/>
                        </a:rPr>
                        <a:t>Kind / Insurer / Date From / Date To</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All, Acknowledgement Receipt, Official Receipt; insurers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Receipts to Print</a:t>
                      </a:r>
                    </a:p>
                  </a:txBody>
                  <a:tcPr marL="54864" marR="54864" marT="27432" marB="27432">
                    <a:solidFill>
                      <a:srgbClr val="E5F5FF"/>
                    </a:solidFill>
                  </a:tcPr>
                </a:tc>
                <a:tc>
                  <a:txBody>
                    <a:bodyPr/>
                    <a:lstStyle/>
                    <a:p>
                      <a:r>
                        <a:rPr sz="850" b="0">
                          <a:solidFill>
                            <a:srgbClr val="4B4B4B"/>
                          </a:solidFill>
                          <a:latin typeface="Arial"/>
                        </a:rPr>
                        <a:t>Receipt No. / Date / Payor / Amount / Printed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Printed &lt;n&gt;x or Not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receipts match the criteria</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Print Batches</a:t>
                      </a:r>
                    </a:p>
                  </a:txBody>
                  <a:tcPr marL="54864" marR="54864" marT="27432" marB="27432">
                    <a:solidFill>
                      <a:srgbClr val="FFFFFF"/>
                    </a:solidFill>
                  </a:tcPr>
                </a:tc>
                <a:tc>
                  <a:txBody>
                    <a:bodyPr/>
                    <a:lstStyle/>
                    <a:p>
                      <a:r>
                        <a:rPr sz="850" b="0">
                          <a:solidFill>
                            <a:srgbClr val="4B4B4B"/>
                          </a:solidFill>
                          <a:latin typeface="Arial"/>
                        </a:rPr>
                        <a:t>Batch No. / Criteria / Progress / Printed / Failed / Created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Progress bar; red when a receipt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print batch yet</a:t>
                      </a:r>
                    </a:p>
                  </a:txBody>
                  <a:tcPr marL="54864" marR="54864" marT="27432" marB="27432">
                    <a:solidFill>
                      <a:srgbClr val="FFFFFF"/>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Preview List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issued receipts of the criteria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 Selected (n)</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Receipts selected</a:t>
                      </a:r>
                    </a:p>
                  </a:txBody>
                  <a:tcPr marL="54864" marR="54864" marT="27432" marB="27432">
                    <a:solidFill>
                      <a:srgbClr val="E5F5FF"/>
                    </a:solidFill>
                  </a:tcPr>
                </a:tc>
                <a:tc>
                  <a:txBody>
                    <a:bodyPr/>
                    <a:lstStyle/>
                    <a:p>
                      <a:r>
                        <a:rPr sz="850" b="0">
                          <a:solidFill>
                            <a:srgbClr val="4B4B4B"/>
                          </a:solidFill>
                          <a:latin typeface="Arial"/>
                        </a:rPr>
                        <a:t>Prints the selected receipts into one PDF and records each</a:t>
                      </a:r>
                    </a:p>
                  </a:txBody>
                  <a:tcPr marL="54864" marR="54864" marT="27432" marB="27432">
                    <a:solidFill>
                      <a:srgbClr val="E5F5FF"/>
                    </a:solidFill>
                  </a:tcPr>
                </a:tc>
                <a:tc>
                  <a:txBody>
                    <a:bodyPr/>
                    <a:lstStyle/>
                    <a:p>
                      <a:r>
                        <a:rPr sz="850" b="0">
                          <a:solidFill>
                            <a:srgbClr val="4B4B4B"/>
                          </a:solidFill>
                          <a:latin typeface="Arial"/>
                        </a:rPr>
                        <a:t>Batch done or with failures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Batch printed</a:t>
                      </a:r>
                    </a:p>
                  </a:txBody>
                  <a:tcPr marL="54864" marR="54864" marT="27432" marB="27432">
                    <a:solidFill>
                      <a:srgbClr val="FFFFFF"/>
                    </a:solidFill>
                  </a:tcPr>
                </a:tc>
                <a:tc>
                  <a:txBody>
                    <a:bodyPr/>
                    <a:lstStyle/>
                    <a:p>
                      <a:r>
                        <a:rPr sz="850" b="0">
                          <a:solidFill>
                            <a:srgbClr val="4B4B4B"/>
                          </a:solidFill>
                          <a:latin typeface="Arial"/>
                        </a:rPr>
                        <a:t>Downloads the merged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Retry Failures</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Batch with failures</a:t>
                      </a:r>
                    </a:p>
                  </a:txBody>
                  <a:tcPr marL="54864" marR="54864" marT="27432" marB="27432">
                    <a:solidFill>
                      <a:srgbClr val="E5F5FF"/>
                    </a:solidFill>
                  </a:tcPr>
                </a:tc>
                <a:tc>
                  <a:txBody>
                    <a:bodyPr/>
                    <a:lstStyle/>
                    <a:p>
                      <a:r>
                        <a:rPr sz="850" b="0">
                          <a:solidFill>
                            <a:srgbClr val="4B4B4B"/>
                          </a:solidFill>
                          <a:latin typeface="Arial"/>
                        </a:rPr>
                        <a:t>Prints the failed receipts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records each receipt printed, so a failure is retried without printing the others again (FR-OP-025).</a:t>
                      </a:r>
                    </a:p>
                  </a:txBody>
                  <a:tcPr marL="54864" marR="54864" marT="27432" marB="27432">
                    <a:solidFill>
                      <a:srgbClr val="FFFF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1 of 3)</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2 of 3)</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3949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3 of 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 2307 reversal of 2% CWT clients: tagged by Marketing Collection with the BIR 2307 certificate, checked against the computed PR 2307 amount, the outstanding premium and any commission receivable, validated per insurer into a report that is posted and routed to Disbursement, and released to the insurer. In v2.1 Marketing Collection performs every step up to the routing; the screenshots show the v2.0 screen, where the Cashier receives, validates and routes (CLR-OP-40).</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Marketing Collection, Marketing Team Leader / Unit Head (hold approver), Disbursement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BIR 2307</a:t>
                      </a:r>
                    </a:p>
                    <a:p>
                      <a:r>
                        <a:rPr sz="950" b="0">
                          <a:solidFill>
                            <a:srgbClr val="4B4B4B"/>
                          </a:solidFill>
                          <a:latin typeface="Arial"/>
                        </a:rPr>
                        <a:t>Cashiering Workbench › BIR 2307 to Validate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FR-OP-113, FR-OP-121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2% CWT of the premium is reversed by Marketing Collection and the certificates are released to the insurer.</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Tagged by Marketing / Validation / Reports and Routing / Released / Settled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Tags</a:t>
                      </a:r>
                    </a:p>
                  </a:txBody>
                  <a:tcPr marL="54864" marR="54864" marT="27432" marB="27432">
                    <a:solidFill>
                      <a:srgbClr val="E5F5FF"/>
                    </a:solidFill>
                  </a:tcPr>
                </a:tc>
                <a:tc>
                  <a:txBody>
                    <a:bodyPr/>
                    <a:lstStyle/>
                    <a:p>
                      <a:r>
                        <a:rPr sz="850" b="0">
                          <a:solidFill>
                            <a:srgbClr val="4B4B4B"/>
                          </a:solidFill>
                          <a:latin typeface="Arial"/>
                        </a:rPr>
                        <a:t>Reference / Client / Insurer / Path / Amount / Checklist / Tagged /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CWT-yyyy-n with the invoice and ARN; path Certificate or Cash; checklist CWT Copy, Remitted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CWT Copy Received</a:t>
                      </a:r>
                    </a:p>
                  </a:txBody>
                  <a:tcPr marL="54864" marR="54864" marT="27432" marB="27432">
                    <a:solidFill>
                      <a:srgbClr val="FFFFFF"/>
                    </a:solidFill>
                  </a:tcPr>
                </a:tc>
                <a:tc>
                  <a:txBody>
                    <a:bodyPr/>
                    <a:lstStyle/>
                    <a:p>
                      <a:r>
                        <a:rPr sz="850" b="0">
                          <a:solidFill>
                            <a:srgbClr val="4B4B4B"/>
                          </a:solidFill>
                          <a:latin typeface="Arial"/>
                        </a:rPr>
                        <a:t>Row action (Mark / Clear CWT Copy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Reports and Routing</a:t>
                      </a:r>
                    </a:p>
                  </a:txBody>
                  <a:tcPr marL="54864" marR="54864" marT="27432" marB="27432">
                    <a:solidFill>
                      <a:srgbClr val="E5F5FF"/>
                    </a:solidFill>
                  </a:tcPr>
                </a:tc>
                <a:tc>
                  <a:txBody>
                    <a:bodyPr/>
                    <a:lstStyle/>
                    <a:p>
                      <a:r>
                        <a:rPr sz="850" b="0">
                          <a:solidFill>
                            <a:srgbClr val="4B4B4B"/>
                          </a:solidFill>
                          <a:latin typeface="Arial"/>
                        </a:rPr>
                        <a:t>Batch No. / Insurer / Certificates / Total / Disbursement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2307 report yet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Tag BIR 2307 dialog</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Invoice number is required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Tag BIR 2307 dialog</a:t>
                      </a:r>
                    </a:p>
                  </a:txBody>
                  <a:tcPr marL="54864" marR="54864" marT="27432" marB="27432">
                    <a:solidFill>
                      <a:srgbClr val="E5F5FF"/>
                    </a:solidFill>
                  </a:tcPr>
                </a:tc>
                <a:tc>
                  <a:txBody>
                    <a:bodyPr/>
                    <a:lstStyle/>
                    <a:p>
                      <a:r>
                        <a:rPr sz="850" b="0">
                          <a:solidFill>
                            <a:srgbClr val="4B4B4B"/>
                          </a:solidFill>
                          <a:latin typeface="Arial"/>
                        </a:rPr>
                        <a:t>Path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Certificate or Cash</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Tag BIR 2307 dialog</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Blank = the expected 2%</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Above zero when given</a:t>
                      </a:r>
                    </a:p>
                  </a:txBody>
                  <a:tcPr marL="54864" marR="54864" marT="27432" marB="27432">
                    <a:solidFill>
                      <a:srgbClr val="FFFFFF"/>
                    </a:solidFill>
                  </a:tcPr>
                </a:tc>
                <a:tc>
                  <a:txBody>
                    <a:bodyPr/>
                    <a:lstStyle/>
                    <a:p>
                      <a:r>
                        <a:rPr sz="850" b="0">
                          <a:solidFill>
                            <a:srgbClr val="4B4B4B"/>
                          </a:solidFill>
                          <a:latin typeface="Arial"/>
                        </a:rPr>
                        <a:t>Enter an amount above zero, or leave it empty for the expected 2%</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Tag BIR 2307 dialog</a:t>
                      </a:r>
                    </a:p>
                  </a:txBody>
                  <a:tcPr marL="54864" marR="54864" marT="27432" marB="27432">
                    <a:solidFill>
                      <a:srgbClr val="E5F5FF"/>
                    </a:solidFill>
                  </a:tcPr>
                </a:tc>
                <a:tc>
                  <a:txBody>
                    <a:bodyPr/>
                    <a:lstStyle/>
                    <a:p>
                      <a:r>
                        <a:rPr sz="850" b="0">
                          <a:solidFill>
                            <a:srgbClr val="4B4B4B"/>
                          </a:solidFill>
                          <a:latin typeface="Arial"/>
                        </a:rPr>
                        <a:t>Certificate No. / Period From / Period To / Remarks</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Certificate number for the certificate path</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Certificate number for a certificate</a:t>
                      </a:r>
                    </a:p>
                  </a:txBody>
                  <a:tcPr marL="54864" marR="54864" marT="27432" marB="27432">
                    <a:solidFill>
                      <a:srgbClr val="E5F5FF"/>
                    </a:solidFill>
                  </a:tcPr>
                </a:tc>
                <a:tc>
                  <a:txBody>
                    <a:bodyPr/>
                    <a:lstStyle/>
                    <a:p>
                      <a:r>
                        <a:rPr sz="850" b="0">
                          <a:solidFill>
                            <a:srgbClr val="4B4B4B"/>
                          </a:solidFill>
                          <a:latin typeface="Arial"/>
                        </a:rPr>
                        <a:t>Certificate number is required for a certificate</a:t>
                      </a:r>
                    </a:p>
                  </a:txBody>
                  <a:tcPr marL="54864" marR="54864" marT="27432" marB="27432">
                    <a:solidFill>
                      <a:srgbClr val="E5F5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2" cy="254506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Tag 2307</a:t>
                      </a:r>
                    </a:p>
                  </a:txBody>
                  <a:tcPr marL="54864" marR="54864" marT="27432" marB="27432">
                    <a:solidFill>
                      <a:srgbClr val="FFFFFF"/>
                    </a:solidFill>
                  </a:tcPr>
                </a:tc>
                <a:tc>
                  <a:txBody>
                    <a:bodyPr/>
                    <a:lstStyle/>
                    <a:p>
                      <a:r>
                        <a:rPr sz="850" b="0">
                          <a:solidFill>
                            <a:srgbClr val="4B4B4B"/>
                          </a:solidFill>
                          <a:latin typeface="Arial"/>
                        </a:rPr>
                        <a:t>Marketing Collection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Tags the certificate or the cash path of the invoice</a:t>
                      </a:r>
                    </a:p>
                  </a:txBody>
                  <a:tcPr marL="54864" marR="54864" marT="27432" marB="27432">
                    <a:solidFill>
                      <a:srgbClr val="FFFFFF"/>
                    </a:solidFill>
                  </a:tcPr>
                </a:tc>
                <a:tc>
                  <a:txBody>
                    <a:bodyPr/>
                    <a:lstStyle/>
                    <a:p>
                      <a:r>
                        <a:rPr sz="850" b="0">
                          <a:solidFill>
                            <a:srgbClr val="4B4B4B"/>
                          </a:solidFill>
                          <a:latin typeface="Arial"/>
                        </a:rPr>
                        <a:t>Tagged by Marketing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Receive</a:t>
                      </a:r>
                    </a:p>
                  </a:txBody>
                  <a:tcPr marL="54864" marR="54864" marT="27432" marB="27432">
                    <a:solidFill>
                      <a:srgbClr val="E5F5FF"/>
                    </a:solidFill>
                  </a:tcPr>
                </a:tc>
                <a:tc>
                  <a:txBody>
                    <a:bodyPr/>
                    <a:lstStyle/>
                    <a:p>
                      <a:r>
                        <a:rPr sz="850" b="0">
                          <a:solidFill>
                            <a:srgbClr val="4B4B4B"/>
                          </a:solidFill>
                          <a:latin typeface="Arial"/>
                        </a:rPr>
                        <a:t>Marketing Collection (Cashier in v2.0)</a:t>
                      </a:r>
                    </a:p>
                  </a:txBody>
                  <a:tcPr marL="54864" marR="54864" marT="27432" marB="27432">
                    <a:solidFill>
                      <a:srgbClr val="E5F5FF"/>
                    </a:solidFill>
                  </a:tcPr>
                </a:tc>
                <a:tc>
                  <a:txBody>
                    <a:bodyPr/>
                    <a:lstStyle/>
                    <a:p>
                      <a:r>
                        <a:rPr sz="850" b="0">
                          <a:solidFill>
                            <a:srgbClr val="4B4B4B"/>
                          </a:solidFill>
                          <a:latin typeface="Arial"/>
                        </a:rPr>
                        <a:t>Tagged and checked</a:t>
                      </a:r>
                    </a:p>
                  </a:txBody>
                  <a:tcPr marL="54864" marR="54864" marT="27432" marB="27432">
                    <a:solidFill>
                      <a:srgbClr val="E5F5FF"/>
                    </a:solidFill>
                  </a:tcPr>
                </a:tc>
                <a:tc>
                  <a:txBody>
                    <a:bodyPr/>
                    <a:lstStyle/>
                    <a:p>
                      <a:r>
                        <a:rPr sz="850" b="0">
                          <a:solidFill>
                            <a:srgbClr val="4B4B4B"/>
                          </a:solidFill>
                          <a:latin typeface="Arial"/>
                        </a:rPr>
                        <a:t>Takes the tag into validation against the certificates</a:t>
                      </a:r>
                    </a:p>
                  </a:txBody>
                  <a:tcPr marL="54864" marR="54864" marT="27432" marB="27432">
                    <a:solidFill>
                      <a:srgbClr val="E5F5FF"/>
                    </a:solidFill>
                  </a:tcPr>
                </a:tc>
                <a:tc>
                  <a:txBody>
                    <a:bodyPr/>
                    <a:lstStyle/>
                    <a:p>
                      <a:r>
                        <a:rPr sz="850" b="0">
                          <a:solidFill>
                            <a:srgbClr val="4B4B4B"/>
                          </a:solidFill>
                          <a:latin typeface="Arial"/>
                        </a:rPr>
                        <a:t>Validating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Validate and Post Report</a:t>
                      </a:r>
                    </a:p>
                  </a:txBody>
                  <a:tcPr marL="54864" marR="54864" marT="27432" marB="27432">
                    <a:solidFill>
                      <a:srgbClr val="FFFFFF"/>
                    </a:solidFill>
                  </a:tcPr>
                </a:tc>
                <a:tc>
                  <a:txBody>
                    <a:bodyPr/>
                    <a:lstStyle/>
                    <a:p>
                      <a:r>
                        <a:rPr sz="850" b="0">
                          <a:solidFill>
                            <a:srgbClr val="4B4B4B"/>
                          </a:solidFill>
                          <a:latin typeface="Arial"/>
                        </a:rPr>
                        <a:t>Marketing Collection (Cashier in v2.0)</a:t>
                      </a:r>
                    </a:p>
                  </a:txBody>
                  <a:tcPr marL="54864" marR="54864" marT="27432" marB="27432">
                    <a:solidFill>
                      <a:srgbClr val="FFFFFF"/>
                    </a:solidFill>
                  </a:tcPr>
                </a:tc>
                <a:tc>
                  <a:txBody>
                    <a:bodyPr/>
                    <a:lstStyle/>
                    <a:p>
                      <a:r>
                        <a:rPr sz="850" b="0">
                          <a:solidFill>
                            <a:srgbClr val="4B4B4B"/>
                          </a:solidFill>
                          <a:latin typeface="Arial"/>
                        </a:rPr>
                        <a:t>Validated certificates of one insurer selected</a:t>
                      </a:r>
                    </a:p>
                  </a:txBody>
                  <a:tcPr marL="54864" marR="54864" marT="27432" marB="27432">
                    <a:solidFill>
                      <a:srgbClr val="FFFFFF"/>
                    </a:solidFill>
                  </a:tcPr>
                </a:tc>
                <a:tc>
                  <a:txBody>
                    <a:bodyPr/>
                    <a:lstStyle/>
                    <a:p>
                      <a:r>
                        <a:rPr sz="850" b="0">
                          <a:solidFill>
                            <a:srgbClr val="4B4B4B"/>
                          </a:solidFill>
                          <a:latin typeface="Arial"/>
                        </a:rPr>
                        <a:t>Asks for confirmation, generates the BIR 2307 transaction report, posts the reversal and zeroes the premium receivable (proposed entry Dr DTIP / Cr PR, CLR-OP-41)</a:t>
                      </a:r>
                    </a:p>
                  </a:txBody>
                  <a:tcPr marL="54864" marR="54864" marT="27432" marB="27432">
                    <a:solidFill>
                      <a:srgbClr val="FFFFFF"/>
                    </a:solidFill>
                  </a:tcPr>
                </a:tc>
                <a:tc>
                  <a:txBody>
                    <a:bodyPr/>
                    <a:lstStyle/>
                    <a:p>
                      <a:r>
                        <a:rPr sz="850" b="0">
                          <a:solidFill>
                            <a:srgbClr val="4B4B4B"/>
                          </a:solidFill>
                          <a:latin typeface="Arial"/>
                        </a:rPr>
                        <a:t>Report 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Settle in Cash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Withdrawn in v2.1</a:t>
                      </a:r>
                    </a:p>
                  </a:txBody>
                  <a:tcPr marL="54864" marR="54864" marT="27432" marB="27432">
                    <a:solidFill>
                      <a:srgbClr val="E5F5FF"/>
                    </a:solidFill>
                  </a:tcPr>
                </a:tc>
                <a:tc>
                  <a:txBody>
                    <a:bodyPr/>
                    <a:lstStyle/>
                    <a:p>
                      <a:r>
                        <a:rPr sz="850" b="0">
                          <a:solidFill>
                            <a:srgbClr val="4B4B4B"/>
                          </a:solidFill>
                          <a:latin typeface="Arial"/>
                        </a:rPr>
                        <a:t>A 2% paid in cash is received as an ordinary payment (CLR-OP-40)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Route to Disbursement</a:t>
                      </a:r>
                    </a:p>
                  </a:txBody>
                  <a:tcPr marL="54864" marR="54864" marT="27432" marB="27432">
                    <a:solidFill>
                      <a:srgbClr val="FFFFFF"/>
                    </a:solidFill>
                  </a:tcPr>
                </a:tc>
                <a:tc>
                  <a:txBody>
                    <a:bodyPr/>
                    <a:lstStyle/>
                    <a:p>
                      <a:r>
                        <a:rPr sz="850" b="0">
                          <a:solidFill>
                            <a:srgbClr val="4B4B4B"/>
                          </a:solidFill>
                          <a:latin typeface="Arial"/>
                        </a:rPr>
                        <a:t>Marketing Collection (Cashier in v2.0)</a:t>
                      </a:r>
                    </a:p>
                  </a:txBody>
                  <a:tcPr marL="54864" marR="54864" marT="27432" marB="27432">
                    <a:solidFill>
                      <a:srgbClr val="FFFFFF"/>
                    </a:solidFill>
                  </a:tcPr>
                </a:tc>
                <a:tc>
                  <a:txBody>
                    <a:bodyPr/>
                    <a:lstStyle/>
                    <a:p>
                      <a:r>
                        <a:rPr sz="850" b="0">
                          <a:solidFill>
                            <a:srgbClr val="4B4B4B"/>
                          </a:solidFill>
                          <a:latin typeface="Arial"/>
                        </a:rPr>
                        <a:t>Report posted</a:t>
                      </a:r>
                    </a:p>
                  </a:txBody>
                  <a:tcPr marL="54864" marR="54864" marT="27432" marB="27432">
                    <a:solidFill>
                      <a:srgbClr val="FFFFFF"/>
                    </a:solidFill>
                  </a:tcPr>
                </a:tc>
                <a:tc>
                  <a:txBody>
                    <a:bodyPr/>
                    <a:lstStyle/>
                    <a:p>
                      <a:r>
                        <a:rPr sz="850" b="0">
                          <a:solidFill>
                            <a:srgbClr val="4B4B4B"/>
                          </a:solidFill>
                          <a:latin typeface="Arial"/>
                        </a:rPr>
                        <a:t>Sends the report and the certificates sorted per insurer to the Disbursement queue</a:t>
                      </a:r>
                    </a:p>
                  </a:txBody>
                  <a:tcPr marL="54864" marR="54864" marT="27432" marB="27432">
                    <a:solidFill>
                      <a:srgbClr val="FFFFFF"/>
                    </a:solidFill>
                  </a:tcPr>
                </a:tc>
                <a:tc>
                  <a:txBody>
                    <a:bodyPr/>
                    <a:lstStyle/>
                    <a:p>
                      <a:r>
                        <a:rPr sz="850" b="0">
                          <a:solidFill>
                            <a:srgbClr val="4B4B4B"/>
                          </a:solidFill>
                          <a:latin typeface="Arial"/>
                        </a:rPr>
                        <a:t>With Disbursement</a:t>
                      </a:r>
                    </a:p>
                  </a:txBody>
                  <a:tcPr marL="54864" marR="54864" marT="27432" marB="27432">
                    <a:solidFill>
                      <a:srgbClr val="FFFFFF"/>
                    </a:solidFill>
                  </a:tcPr>
                </a:tc>
                <a:tc>
                  <a:txBody>
                    <a:bodyPr/>
                    <a:lstStyle/>
                    <a:p>
                      <a:r>
                        <a:rPr sz="850" b="0">
                          <a:solidFill>
                            <a:srgbClr val="4B4B4B"/>
                          </a:solidFill>
                          <a:latin typeface="Arial"/>
                        </a:rPr>
                        <a:t>Disbursement request received (NT-03)</a:t>
                      </a:r>
                    </a:p>
                  </a:txBody>
                  <a:tcPr marL="54864" marR="54864" marT="27432" marB="27432">
                    <a:solidFill>
                      <a:srgbClr val="FFFFFF"/>
                    </a:solidFill>
                  </a:tcPr>
                </a:tc>
              </a:tr>
              <a:tr h="350518">
                <a:tc>
                  <a:txBody>
                    <a:bodyPr/>
                    <a:lstStyle/>
                    <a:p>
                      <a:r>
                        <a:rPr sz="850" b="0">
                          <a:solidFill>
                            <a:srgbClr val="4B4B4B"/>
                          </a:solidFill>
                          <a:latin typeface="Arial"/>
                        </a:rPr>
                        <a:t>Release to Insurer</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Report received and checked</a:t>
                      </a:r>
                    </a:p>
                  </a:txBody>
                  <a:tcPr marL="54864" marR="54864" marT="27432" marB="27432">
                    <a:solidFill>
                      <a:srgbClr val="E5F5FF"/>
                    </a:solidFill>
                  </a:tcPr>
                </a:tc>
                <a:tc>
                  <a:txBody>
                    <a:bodyPr/>
                    <a:lstStyle/>
                    <a:p>
                      <a:r>
                        <a:rPr sz="850" b="0">
                          <a:solidFill>
                            <a:srgbClr val="4B4B4B"/>
                          </a:solidFill>
                          <a:latin typeface="Arial"/>
                        </a:rPr>
                        <a:t>Releases the certificates to the insurer; no accounting entry (CLR-OP-41)</a:t>
                      </a:r>
                    </a:p>
                  </a:txBody>
                  <a:tcPr marL="54864" marR="54864" marT="27432" marB="27432">
                    <a:solidFill>
                      <a:srgbClr val="E5F5FF"/>
                    </a:solidFill>
                  </a:tcPr>
                </a:tc>
                <a:tc>
                  <a:txBody>
                    <a:bodyPr/>
                    <a:lstStyle/>
                    <a:p>
                      <a:r>
                        <a:rPr sz="850" b="0">
                          <a:solidFill>
                            <a:srgbClr val="4B4B4B"/>
                          </a:solidFill>
                          <a:latin typeface="Arial"/>
                        </a:rPr>
                        <a:t>Released to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Marketing / Cancel Tag</a:t>
                      </a:r>
                    </a:p>
                  </a:txBody>
                  <a:tcPr marL="54864" marR="54864" marT="27432" marB="27432">
                    <a:solidFill>
                      <a:srgbClr val="FFFFFF"/>
                    </a:solidFill>
                  </a:tcPr>
                </a:tc>
                <a:tc>
                  <a:txBody>
                    <a:bodyPr/>
                    <a:lstStyle/>
                    <a:p>
                      <a:r>
                        <a:rPr sz="850" b="0">
                          <a:solidFill>
                            <a:srgbClr val="4B4B4B"/>
                          </a:solidFill>
                          <a:latin typeface="Arial"/>
                        </a:rPr>
                        <a:t>Disbursement / Marketing Collection</a:t>
                      </a:r>
                    </a:p>
                  </a:txBody>
                  <a:tcPr marL="54864" marR="54864" marT="27432" marB="27432">
                    <a:solidFill>
                      <a:srgbClr val="FFFFFF"/>
                    </a:solidFill>
                  </a:tcPr>
                </a:tc>
                <a:tc>
                  <a:txBody>
                    <a:bodyPr/>
                    <a:lstStyle/>
                    <a:p>
                      <a:r>
                        <a:rPr sz="850" b="0">
                          <a:solidFill>
                            <a:srgbClr val="4B4B4B"/>
                          </a:solidFill>
                          <a:latin typeface="Arial"/>
                        </a:rPr>
                        <a:t>With Disbursement or tagged</a:t>
                      </a:r>
                    </a:p>
                  </a:txBody>
                  <a:tcPr marL="54864" marR="54864" marT="27432" marB="27432">
                    <a:solidFill>
                      <a:srgbClr val="FFFFFF"/>
                    </a:solidFill>
                  </a:tcPr>
                </a:tc>
                <a:tc>
                  <a:txBody>
                    <a:bodyPr/>
                    <a:lstStyle/>
                    <a:p>
                      <a:r>
                        <a:rPr sz="850" b="0">
                          <a:solidFill>
                            <a:srgbClr val="4B4B4B"/>
                          </a:solidFill>
                          <a:latin typeface="Arial"/>
                        </a:rPr>
                        <a:t>Returns the report for completion or cancels the tag</a:t>
                      </a:r>
                    </a:p>
                  </a:txBody>
                  <a:tcPr marL="54864" marR="54864" marT="27432" marB="27432">
                    <a:solidFill>
                      <a:srgbClr val="FFFFFF"/>
                    </a:solidFill>
                  </a:tcPr>
                </a:tc>
                <a:tc>
                  <a:txBody>
                    <a:bodyPr/>
                    <a:lstStyle/>
                    <a:p>
                      <a:r>
                        <a:rPr sz="850" b="0">
                          <a:solidFill>
                            <a:srgbClr val="4B4B4B"/>
                          </a:solidFill>
                          <a:latin typeface="Arial"/>
                        </a:rPr>
                        <a:t>Validating / Cancelled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At tagging the certificate amount is checked against the computed PR 2307 amount and the outstanding premium receivable, and an outstanding commission receivable flags the tag For Commission Receivable (FR-OP-113).</a:t>
                      </a:r>
                    </a:p>
                  </a:txBody>
                  <a:tcPr marL="54864" marR="54864" marT="27432" marB="27432">
                    <a:solidFill>
                      <a:srgbClr val="FFFFFF"/>
                    </a:solidFill>
                  </a:tcPr>
                </a:tc>
              </a:tr>
              <a:tr h="243840">
                <a:tc>
                  <a:txBody>
                    <a:bodyPr/>
                    <a:lstStyle/>
                    <a:p>
                      <a:r>
                        <a:rPr sz="1000" b="0">
                          <a:solidFill>
                            <a:srgbClr val="4B4B4B"/>
                          </a:solidFill>
                          <a:latin typeface="Arial"/>
                        </a:rPr>
                        <a:t>Posting the report zeroes the premium receivable; the release to the insurer posts nothing (FR-OP-113, FR-OP-121, CLR-OP-41).</a:t>
                      </a:r>
                    </a:p>
                  </a:txBody>
                  <a:tcPr marL="54864" marR="54864" marT="27432" marB="27432">
                    <a:solidFill>
                      <a:srgbClr val="E5F5FF"/>
                    </a:solidFill>
                  </a:tcPr>
                </a:tc>
              </a:tr>
              <a:tr h="243840">
                <a:tc>
                  <a:txBody>
                    <a:bodyPr/>
                    <a:lstStyle/>
                    <a:p>
                      <a:r>
                        <a:rPr sz="1000" b="0">
                          <a:solidFill>
                            <a:srgbClr val="4B4B4B"/>
                          </a:solidFill>
                          <a:latin typeface="Arial"/>
                        </a:rPr>
                        <a:t>A report holds the certificates of one insurer (FR-OP-113).</a:t>
                      </a:r>
                    </a:p>
                  </a:txBody>
                  <a:tcPr marL="54864" marR="54864" marT="27432" marB="27432">
                    <a:solidFill>
                      <a:srgbClr val="FFFFFF"/>
                    </a:solidFill>
                  </a:tcPr>
                </a:tc>
              </a:tr>
              <a:tr h="243840">
                <a:tc>
                  <a:txBody>
                    <a:bodyPr/>
                    <a:lstStyle/>
                    <a:p>
                      <a:r>
                        <a:rPr sz="1000" b="0">
                          <a:solidFill>
                            <a:srgbClr val="4B4B4B"/>
                          </a:solidFill>
                          <a:latin typeface="Arial"/>
                        </a:rPr>
                        <a:t>A payment already remitted goes to Unapplied Payments with the insurer's written confirmation of refund attached (FR-OP-113).</a:t>
                      </a:r>
                    </a:p>
                  </a:txBody>
                  <a:tcPr marL="54864" marR="54864" marT="27432" marB="27432">
                    <a:solidFill>
                      <a:srgbClr val="E5F5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19-01-list.png"/>
          <p:cNvPicPr>
            <a:picLocks noChangeAspect="1"/>
          </p:cNvPicPr>
          <p:nvPr/>
        </p:nvPicPr>
        <p:blipFill>
          <a:blip r:embed="rId3"/>
          <a:stretch>
            <a:fillRect/>
          </a:stretch>
        </p:blipFill>
        <p:spPr>
          <a:xfrm>
            <a:off x="548640" y="1261872"/>
            <a:ext cx="11094415" cy="406476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2307, Tagged by Marketing tab</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73.png"/>
          <p:cNvPicPr>
            <a:picLocks noChangeAspect="1"/>
          </p:cNvPicPr>
          <p:nvPr/>
        </p:nvPicPr>
        <p:blipFill>
          <a:blip r:embed="rId3"/>
          <a:stretch>
            <a:fillRect/>
          </a:stretch>
        </p:blipFill>
        <p:spPr>
          <a:xfrm>
            <a:off x="548640" y="1261872"/>
            <a:ext cx="11094415" cy="370593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 BIR 2307 dialog of Marketing Collection (part 1 of 2)</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74.png"/>
          <p:cNvPicPr>
            <a:picLocks noChangeAspect="1"/>
          </p:cNvPicPr>
          <p:nvPr/>
        </p:nvPicPr>
        <p:blipFill>
          <a:blip r:embed="rId3"/>
          <a:stretch>
            <a:fillRect/>
          </a:stretch>
        </p:blipFill>
        <p:spPr>
          <a:xfrm>
            <a:off x="548640" y="1261872"/>
            <a:ext cx="11094415" cy="319154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 BIR 2307 dialog of Marketing Collection (part 2 of 2)</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commission payments of the insurers uploaded from the payment details, staged until Issue ORs issues one official receipt per payment with its VAT and withholding tax.</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Commission ORs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commission payments are receipted.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 / 2. Upload</a:t>
                      </a:r>
                    </a:p>
                  </a:txBody>
                  <a:tcPr marL="54864" marR="54864" marT="27432" marB="27432">
                    <a:solidFill>
                      <a:srgbClr val="FFFFFF"/>
                    </a:solidFill>
                  </a:tcPr>
                </a:tc>
                <a:tc>
                  <a:txBody>
                    <a:bodyPr/>
                    <a:lstStyle/>
                    <a:p>
                      <a:r>
                        <a:rPr sz="850" b="0">
                          <a:solidFill>
                            <a:srgbClr val="4B4B4B"/>
                          </a:solidFill>
                          <a:latin typeface="Arial"/>
                        </a:rPr>
                        <a:t>Commission Payment Details upload</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columns of chapter 18</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checked first</a:t>
                      </a:r>
                    </a:p>
                  </a:txBody>
                  <a:tcPr marL="54864" marR="54864" marT="27432" marB="27432">
                    <a:solidFill>
                      <a:srgbClr val="FFFFFF"/>
                    </a:solidFill>
                  </a:tcPr>
                </a:tc>
                <a:tc>
                  <a:txBody>
                    <a:bodyPr/>
                    <a:lstStyle/>
                    <a:p>
                      <a:r>
                        <a:rPr sz="850" b="0">
                          <a:solidFill>
                            <a:srgbClr val="4B4B4B"/>
                          </a:solidFill>
                          <a:latin typeface="Arial"/>
                        </a:rPr>
                        <a:t>The basic commission must be above zero</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Staged Commission Payments</a:t>
                      </a:r>
                    </a:p>
                  </a:txBody>
                  <a:tcPr marL="54864" marR="54864" marT="27432" marB="27432">
                    <a:solidFill>
                      <a:srgbClr val="E5F5FF"/>
                    </a:solidFill>
                  </a:tcPr>
                </a:tc>
                <a:tc>
                  <a:txBody>
                    <a:bodyPr/>
                    <a:lstStyle/>
                    <a:p>
                      <a:r>
                        <a:rPr sz="850" b="0">
                          <a:solidFill>
                            <a:srgbClr val="4B4B4B"/>
                          </a:solidFill>
                          <a:latin typeface="Arial"/>
                        </a:rPr>
                        <a:t>Upload / Insurer / Payee / Payment Ref. / Invoice / Gross / VAT / WTAX / Paid / OR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commission payment waiting for an OR</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and stages the commission payments</a:t>
                      </a:r>
                    </a:p>
                  </a:txBody>
                  <a:tcPr marL="54864" marR="54864" marT="27432" marB="27432">
                    <a:solidFill>
                      <a:srgbClr val="FFFFFF"/>
                    </a:solidFill>
                  </a:tcPr>
                </a:tc>
                <a:tc>
                  <a:txBody>
                    <a:bodyPr/>
                    <a:lstStyle/>
                    <a:p>
                      <a:r>
                        <a:rPr sz="850" b="0">
                          <a:solidFill>
                            <a:srgbClr val="4B4B4B"/>
                          </a:solidFill>
                          <a:latin typeface="Arial"/>
                        </a:rPr>
                        <a:t>Staged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Issue ORs</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Staged payments</a:t>
                      </a:r>
                    </a:p>
                  </a:txBody>
                  <a:tcPr marL="54864" marR="54864" marT="27432" marB="27432">
                    <a:solidFill>
                      <a:srgbClr val="E5F5FF"/>
                    </a:solidFill>
                  </a:tcPr>
                </a:tc>
                <a:tc>
                  <a:txBody>
                    <a:bodyPr/>
                    <a:lstStyle/>
                    <a:p>
                      <a:r>
                        <a:rPr sz="850" b="0">
                          <a:solidFill>
                            <a:srgbClr val="4B4B4B"/>
                          </a:solidFill>
                          <a:latin typeface="Arial"/>
                        </a:rPr>
                        <a:t>Issues one OR per staged payment</a:t>
                      </a:r>
                    </a:p>
                  </a:txBody>
                  <a:tcPr marL="54864" marR="54864" marT="27432" marB="27432">
                    <a:solidFill>
                      <a:srgbClr val="E5F5FF"/>
                    </a:solidFill>
                  </a:tcPr>
                </a:tc>
                <a:tc>
                  <a:txBody>
                    <a:bodyPr/>
                    <a:lstStyle/>
                    <a:p>
                      <a:r>
                        <a:rPr sz="850" b="0">
                          <a:solidFill>
                            <a:srgbClr val="4B4B4B"/>
                          </a:solidFill>
                          <a:latin typeface="Arial"/>
                        </a:rPr>
                        <a:t>OR issued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OR is issued per staged commission payment (FR-OP-021).</a:t>
                      </a:r>
                    </a:p>
                  </a:txBody>
                  <a:tcPr marL="54864" marR="54864" marT="27432" marB="27432">
                    <a:solidFill>
                      <a:srgbClr val="FFFF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1 of 3)</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2 of 3)</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69340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3 of 3)</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AR and OR number ranges per branch with their BIR Authority to Print, the next number and the numbers left before the series runs out; a new series is authorised by a second user before it is used.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 Series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 numbers come from authorised series and the team is warned before a series runs out.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Series / Branch / Range / Next No. / Used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Prefix with the kind and ATP; gauge with the numbers left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 series yet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Receipt Series dialog</a:t>
                      </a:r>
                    </a:p>
                  </a:txBody>
                  <a:tcPr marL="54864" marR="54864" marT="27432" marB="27432">
                    <a:solidFill>
                      <a:srgbClr val="FFFFFF"/>
                    </a:solidFill>
                  </a:tcPr>
                </a:tc>
                <a:tc>
                  <a:txBody>
                    <a:bodyPr/>
                    <a:lstStyle/>
                    <a:p>
                      <a:r>
                        <a:rPr sz="850" b="0">
                          <a:solidFill>
                            <a:srgbClr val="4B4B4B"/>
                          </a:solidFill>
                          <a:latin typeface="Arial"/>
                        </a:rPr>
                        <a:t>Kind / Branch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AR or OR; an OR series only for the Head Office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Receipt Series dialog</a:t>
                      </a:r>
                    </a:p>
                  </a:txBody>
                  <a:tcPr marL="54864" marR="54864" marT="27432" marB="27432">
                    <a:solidFill>
                      <a:srgbClr val="E5F5FF"/>
                    </a:solidFill>
                  </a:tcPr>
                </a:tc>
                <a:tc>
                  <a:txBody>
                    <a:bodyPr/>
                    <a:lstStyle/>
                    <a:p>
                      <a:r>
                        <a:rPr sz="850" b="0">
                          <a:solidFill>
                            <a:srgbClr val="4B4B4B"/>
                          </a:solidFill>
                          <a:latin typeface="Arial"/>
                        </a:rPr>
                        <a:t>Prefix</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example AR-HO-</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Prefix is required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Receipt Series dialog</a:t>
                      </a:r>
                    </a:p>
                  </a:txBody>
                  <a:tcPr marL="54864" marR="54864" marT="27432" marB="27432">
                    <a:solidFill>
                      <a:srgbClr val="FFFFFF"/>
                    </a:solidFill>
                  </a:tcPr>
                </a:tc>
                <a:tc>
                  <a:txBody>
                    <a:bodyPr/>
                    <a:lstStyle/>
                    <a:p>
                      <a:r>
                        <a:rPr sz="850" b="0">
                          <a:solidFill>
                            <a:srgbClr val="4B4B4B"/>
                          </a:solidFill>
                          <a:latin typeface="Arial"/>
                        </a:rPr>
                        <a:t>From No. / To No.</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range ends at or after its start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Valid range</a:t>
                      </a:r>
                    </a:p>
                  </a:txBody>
                  <a:tcPr marL="54864" marR="54864" marT="27432" marB="27432">
                    <a:solidFill>
                      <a:srgbClr val="FFFFFF"/>
                    </a:solidFill>
                  </a:tcPr>
                </a:tc>
                <a:tc>
                  <a:txBody>
                    <a:bodyPr/>
                    <a:lstStyle/>
                    <a:p>
                      <a:r>
                        <a:rPr sz="850" b="0">
                          <a:solidFill>
                            <a:srgbClr val="4B4B4B"/>
                          </a:solidFill>
                          <a:latin typeface="Arial"/>
                        </a:rPr>
                        <a:t>The range must end at or after its start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Receipt Series dialog</a:t>
                      </a:r>
                    </a:p>
                  </a:txBody>
                  <a:tcPr marL="54864" marR="54864" marT="27432" marB="27432">
                    <a:solidFill>
                      <a:srgbClr val="E5F5FF"/>
                    </a:solidFill>
                  </a:tcPr>
                </a:tc>
                <a:tc>
                  <a:txBody>
                    <a:bodyPr/>
                    <a:lstStyle/>
                    <a:p>
                      <a:r>
                        <a:rPr sz="850" b="0">
                          <a:solidFill>
                            <a:srgbClr val="4B4B4B"/>
                          </a:solidFill>
                          <a:latin typeface="Arial"/>
                        </a:rPr>
                        <a:t>BIR ATP No. / Warn When Remaining At</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Series / Save Series</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series for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A second user with the authorisation permission</a:t>
                      </a:r>
                    </a:p>
                  </a:txBody>
                  <a:tcPr marL="54864" marR="54864" marT="27432" marB="27432">
                    <a:solidFill>
                      <a:srgbClr val="E5F5FF"/>
                    </a:solidFill>
                  </a:tcPr>
                </a:tc>
                <a:tc>
                  <a:txBody>
                    <a:bodyPr/>
                    <a:lstStyle/>
                    <a:p>
                      <a:r>
                        <a:rPr sz="850" b="0">
                          <a:solidFill>
                            <a:srgbClr val="4B4B4B"/>
                          </a:solidFill>
                          <a:latin typeface="Arial"/>
                        </a:rPr>
                        <a:t>Series pending</a:t>
                      </a:r>
                    </a:p>
                  </a:txBody>
                  <a:tcPr marL="54864" marR="54864" marT="27432" marB="27432">
                    <a:solidFill>
                      <a:srgbClr val="E5F5FF"/>
                    </a:solidFill>
                  </a:tcPr>
                </a:tc>
                <a:tc>
                  <a:txBody>
                    <a:bodyPr/>
                    <a:lstStyle/>
                    <a:p>
                      <a:r>
                        <a:rPr sz="850" b="0">
                          <a:solidFill>
                            <a:srgbClr val="4B4B4B"/>
                          </a:solidFill>
                          <a:latin typeface="Arial"/>
                        </a:rPr>
                        <a:t>Asks for confirmation and activates the series</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Series active</a:t>
                      </a:r>
                    </a:p>
                  </a:txBody>
                  <a:tcPr marL="54864" marR="54864" marT="27432" marB="27432">
                    <a:solidFill>
                      <a:srgbClr val="FFFFFF"/>
                    </a:solidFill>
                  </a:tcPr>
                </a:tc>
                <a:tc>
                  <a:txBody>
                    <a:bodyPr/>
                    <a:lstStyle/>
                    <a:p>
                      <a:r>
                        <a:rPr sz="850" b="0">
                          <a:solidFill>
                            <a:srgbClr val="4B4B4B"/>
                          </a:solidFill>
                          <a:latin typeface="Arial"/>
                        </a:rPr>
                        <a:t>Asks for confirmation; no more receipts are issued from it</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receipt takes the next number of its series; a depleted series refuses the receipt (FR-OP-010).</a:t>
                      </a:r>
                    </a:p>
                  </a:txBody>
                  <a:tcPr marL="54864" marR="54864" marT="27432" marB="27432">
                    <a:solidFill>
                      <a:srgbClr val="FFFFFF"/>
                    </a:solidFill>
                  </a:tcPr>
                </a:tc>
              </a:tr>
              <a:tr h="243840">
                <a:tc>
                  <a:txBody>
                    <a:bodyPr/>
                    <a:lstStyle/>
                    <a:p>
                      <a:r>
                        <a:rPr sz="1000" b="0">
                          <a:solidFill>
                            <a:srgbClr val="4B4B4B"/>
                          </a:solidFill>
                          <a:latin typeface="Arial"/>
                        </a:rPr>
                        <a:t>When the numbers left reach the warning level, the Cashiering team is alerted (FR-OP-010).</a:t>
                      </a:r>
                    </a:p>
                  </a:txBody>
                  <a:tcPr marL="54864" marR="54864" marT="27432" marB="27432">
                    <a:solidFill>
                      <a:srgbClr val="E5F5FF"/>
                    </a:solidFill>
                  </a:tcPr>
                </a:tc>
              </a:tr>
              <a:tr h="243840">
                <a:tc>
                  <a:txBody>
                    <a:bodyPr/>
                    <a:lstStyle/>
                    <a:p>
                      <a:r>
                        <a:rPr sz="1000" b="0">
                          <a:solidFill>
                            <a:srgbClr val="4B4B4B"/>
                          </a:solidFill>
                          <a:latin typeface="Arial"/>
                        </a:rPr>
                        <a:t>ORs are issued only from Head Office series (FR-OP-010).</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1-01-list.png"/>
          <p:cNvPicPr>
            <a:picLocks noChangeAspect="1"/>
          </p:cNvPicPr>
          <p:nvPr/>
        </p:nvPicPr>
        <p:blipFill>
          <a:blip r:embed="rId3"/>
          <a:stretch>
            <a:fillRect/>
          </a:stretch>
        </p:blipFill>
        <p:spPr>
          <a:xfrm>
            <a:off x="1036504" y="1261872"/>
            <a:ext cx="1011868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Series with the numbers left</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21-02-new.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Receipt Series dialog</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graphicFrame>
        <p:nvGraphicFramePr>
          <p:cNvPr id="10" name="Table 9"/>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layouts of the bank and channel payment files and the minimal balance rules (thresholds and exceptions), with the manual run of the safety-net sweep.</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Cashiering Setup</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FR-OP-015, FR-OP-023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File layouts and minimal balance rules are kept by the business.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File Layouts / Minimal Balance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Payment File Layouts</a:t>
                      </a:r>
                    </a:p>
                  </a:txBody>
                  <a:tcPr marL="54864" marR="54864" marT="27432" marB="27432">
                    <a:solidFill>
                      <a:srgbClr val="E5F5FF"/>
                    </a:solidFill>
                  </a:tcPr>
                </a:tc>
                <a:tc>
                  <a:txBody>
                    <a:bodyPr/>
                    <a:lstStyle/>
                    <a:p>
                      <a:r>
                        <a:rPr sz="850" b="0">
                          <a:solidFill>
                            <a:srgbClr val="4B4B4B"/>
                          </a:solidFill>
                          <a:latin typeface="Arial"/>
                        </a:rPr>
                        <a:t>File / Kind / Separator / Last Changed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Automatic, delimited or fixed width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Edit layout dialog</a:t>
                      </a:r>
                    </a:p>
                  </a:txBody>
                  <a:tcPr marL="54864" marR="54864" marT="27432" marB="27432">
                    <a:solidFill>
                      <a:srgbClr val="FFFFFF"/>
                    </a:solidFill>
                  </a:tcPr>
                </a:tc>
                <a:tc>
                  <a:txBody>
                    <a:bodyPr/>
                    <a:lstStyle/>
                    <a:p>
                      <a:r>
                        <a:rPr sz="850" b="0">
                          <a:solidFill>
                            <a:srgbClr val="4B4B4B"/>
                          </a:solidFill>
                          <a:latin typeface="Arial"/>
                        </a:rPr>
                        <a:t>Fields / Separator / Fields (Header:start:length separated by ;, start is 1-based)</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Fields for a fixed-width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Minimal Balance</a:t>
                      </a:r>
                    </a:p>
                  </a:txBody>
                  <a:tcPr marL="54864" marR="54864" marT="27432" marB="27432">
                    <a:solidFill>
                      <a:srgbClr val="E5F5FF"/>
                    </a:solidFill>
                  </a:tcPr>
                </a:tc>
                <a:tc>
                  <a:txBody>
                    <a:bodyPr/>
                    <a:lstStyle/>
                    <a:p>
                      <a:r>
                        <a:rPr sz="850" b="0">
                          <a:solidFill>
                            <a:srgbClr val="4B4B4B"/>
                          </a:solidFill>
                          <a:latin typeface="Arial"/>
                        </a:rPr>
                        <a:t>Balance / Up To / Excludes / Action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For example premium balances up to 10.00, excluding the 2% CWT, the DST and the whole premium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 Layout / Save Layout</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Changes the layout of a payment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Run Sweep Now</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Runs the safety-net sweep now and reports the balances cleared that later events left within the threshold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Premium balances and excess amounts within the threshold (default PHP 10.00) are cleared when the payment is processed, never routed to Unapplied Payments; a balance equal to the 2% CWT, the DST or the whole premium, and an invoice already written off, are skipped (FR-OP-023).</a:t>
                      </a:r>
                    </a:p>
                  </a:txBody>
                  <a:tcPr marL="54864" marR="54864" marT="27432" marB="27432">
                    <a:solidFill>
                      <a:srgbClr val="FFFFFF"/>
                    </a:solidFill>
                  </a:tcPr>
                </a:tc>
              </a:tr>
              <a:tr h="243840">
                <a:tc>
                  <a:txBody>
                    <a:bodyPr/>
                    <a:lstStyle/>
                    <a:p>
                      <a:r>
                        <a:rPr sz="1000" b="0">
                          <a:solidFill>
                            <a:srgbClr val="4B4B4B"/>
                          </a:solidFill>
                          <a:latin typeface="Arial"/>
                        </a:rPr>
                        <a:t>The thresholds are configurable; the daily sweep is only a safety net for balances that later events leave within the threshold (FR-OP-023).</a:t>
                      </a:r>
                    </a:p>
                  </a:txBody>
                  <a:tcPr marL="54864" marR="54864" marT="27432" marB="27432">
                    <a:solidFill>
                      <a:srgbClr val="E5F5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78.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Payment File Layouts tab (part 1 of 2)</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79.png"/>
          <p:cNvPicPr>
            <a:picLocks noChangeAspect="1"/>
          </p:cNvPicPr>
          <p:nvPr/>
        </p:nvPicPr>
        <p:blipFill>
          <a:blip r:embed="rId3"/>
          <a:stretch>
            <a:fillRect/>
          </a:stretch>
        </p:blipFill>
        <p:spPr>
          <a:xfrm>
            <a:off x="548640" y="1261872"/>
            <a:ext cx="11094415" cy="232408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Payment File Layouts tab (part 2 of 2)</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v2.1-03</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22-02-minimal.png"/>
          <p:cNvPicPr>
            <a:picLocks noChangeAspect="1"/>
          </p:cNvPicPr>
          <p:nvPr/>
        </p:nvPicPr>
        <p:blipFill>
          <a:blip r:embed="rId3"/>
          <a:stretch>
            <a:fillRect/>
          </a:stretch>
        </p:blipFill>
        <p:spPr>
          <a:xfrm>
            <a:off x="1181316" y="1261872"/>
            <a:ext cx="9829063"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Minimal Balance tab with the rules</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Remittance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Remittance: paid premium not yet extracted, invoices on hold or locked, batches in review, for approval and awaiting the insurer's OR, holds and special remittances for approval, each opening its list.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Workbench</a:t>
                      </a:r>
                    </a:p>
                    <a:p>
                      <a:r>
                        <a:rPr sz="950" b="0">
                          <a:solidFill>
                            <a:srgbClr val="4B4B4B"/>
                          </a:solidFill>
                          <a:latin typeface="Arial"/>
                        </a:rPr>
                        <a:t>Operations Home › Remittance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Remittance team sees the batches and requests waiting for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25880"/>
          <a:ext cx="11094411" cy="12191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998213">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Paid, Not Yet Extracted; Invoices on Hold; Locked Invoices; Batches in Review; Batches for Approval; Awaiting Insurer OR; Holds for Approval; Active Holds; Special Remittances for Approval</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remittance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Remittance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3-01-home.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Workbench with the work queues</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Extracts the paid and cleared premium due to the insurers into remittance batches per insurer and remittance type, for every insurer, one insurer or one invoice, and lists the runs with what each examined, extracted and left out with the reasons.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Extraction</a:t>
                      </a:r>
                    </a:p>
                    <a:p>
                      <a:r>
                        <a:rPr sz="950" b="0">
                          <a:solidFill>
                            <a:srgbClr val="4B4B4B"/>
                          </a:solidFill>
                          <a:latin typeface="Arial"/>
                        </a:rPr>
                        <a:t>Remittance Workbench › Paid, Not Yet Extracted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FR-OP-030, FR-OP-031, FR-OP-038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premium due to each insurer is grouped into batches with the reasons for every invoice left out.</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Insurers by name; All insurers for every insurer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 Extraction</a:t>
                      </a:r>
                    </a:p>
                  </a:txBody>
                  <a:tcPr marL="54864" marR="54864" marT="27432" marB="27432">
                    <a:solidFill>
                      <a:srgbClr val="E5F5FF"/>
                    </a:solidFill>
                  </a:tcPr>
                </a:tc>
                <a:tc>
                  <a:txBody>
                    <a:bodyPr/>
                    <a:lstStyle/>
                    <a:p>
                      <a:r>
                        <a:rPr sz="850" b="0">
                          <a:solidFill>
                            <a:srgbClr val="4B4B4B"/>
                          </a:solidFill>
                          <a:latin typeface="Arial"/>
                        </a:rPr>
                        <a:t>Remittance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types, With Incentives, Normal - Peso, Normal - Dollar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Manual extraction of one invoice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Extraction Runs</a:t>
                      </a:r>
                    </a:p>
                  </a:txBody>
                  <a:tcPr marL="54864" marR="54864" marT="27432" marB="27432">
                    <a:solidFill>
                      <a:srgbClr val="E5F5FF"/>
                    </a:solidFill>
                  </a:tcPr>
                </a:tc>
                <a:tc>
                  <a:txBody>
                    <a:bodyPr/>
                    <a:lstStyle/>
                    <a:p>
                      <a:r>
                        <a:rPr sz="850" b="0">
                          <a:solidFill>
                            <a:srgbClr val="4B4B4B"/>
                          </a:solidFill>
                          <a:latin typeface="Arial"/>
                        </a:rPr>
                        <a:t>Run No. / Scope / Status / Examined / Extracted / Due, Not Extracted / Not Yet Due / Batches / Started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REX-yyyy-n with the trigger; started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Extraction run dialog</a:t>
                      </a:r>
                    </a:p>
                  </a:txBody>
                  <a:tcPr marL="54864" marR="54864" marT="27432" marB="27432">
                    <a:solidFill>
                      <a:srgbClr val="FFFFFF"/>
                    </a:solidFill>
                  </a:tcPr>
                </a:tc>
                <a:tc>
                  <a:txBody>
                    <a:bodyPr/>
                    <a:lstStyle/>
                    <a:p>
                      <a:r>
                        <a:rPr sz="850" b="0">
                          <a:solidFill>
                            <a:srgbClr val="4B4B4B"/>
                          </a:solidFill>
                          <a:latin typeface="Arial"/>
                        </a:rPr>
                        <a:t>Invoice No. / Insurer / Type / Tag / Reasons / Paid AR / Remitted Now / 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Tag Extracted, Due - Not Extracted, Not Yet Due or Returned with the reasons (on hold, pending negative adjustment, written off, check holding period, paid AR above DTIP, locked by another team)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Only extracted and due invoices are listed; none in this run</a:t>
                      </a:r>
                    </a:p>
                  </a:txBody>
                  <a:tcPr marL="54864" marR="54864" marT="27432" marB="27432">
                    <a:solidFill>
                      <a:srgbClr val="FFFF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Examines the eligible invoices of the scope, tags each and groups the extracted ones into batches per insurer and type, each invoice locked while in its batch</a:t>
                      </a:r>
                    </a:p>
                  </a:txBody>
                  <a:tcPr marL="54864" marR="54864" marT="27432" marB="27432">
                    <a:solidFill>
                      <a:srgbClr val="FFFFFF"/>
                    </a:solidFill>
                  </a:tcPr>
                </a:tc>
                <a:tc>
                  <a:txBody>
                    <a:bodyPr/>
                    <a:lstStyle/>
                    <a:p>
                      <a:r>
                        <a:rPr sz="850" b="0">
                          <a:solidFill>
                            <a:srgbClr val="4B4B4B"/>
                          </a:solidFill>
                          <a:latin typeface="Arial"/>
                        </a:rPr>
                        <a:t>Batch in Review in process</a:t>
                      </a:r>
                    </a:p>
                  </a:txBody>
                  <a:tcPr marL="54864" marR="54864" marT="27432" marB="27432">
                    <a:solidFill>
                      <a:srgbClr val="FFFFFF"/>
                    </a:solidFill>
                  </a:tcPr>
                </a:tc>
                <a:tc>
                  <a:txBody>
                    <a:bodyPr/>
                    <a:lstStyle/>
                    <a:p>
                      <a:r>
                        <a:rPr sz="850" b="0">
                          <a:solidFill>
                            <a:srgbClr val="4B4B4B"/>
                          </a:solidFill>
                          <a:latin typeface="Arial"/>
                        </a:rPr>
                        <a:t>Remittance extraction completed (NT-10)</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invoices of the run with their tag and reasons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graphicFrame>
        <p:nvGraphicFramePr>
          <p:cNvPr id="9" name="Table 8"/>
          <p:cNvGraphicFramePr>
            <a:graphicFrameLocks noGrp="1"/>
          </p:cNvGraphicFramePr>
          <p:nvPr/>
        </p:nvGraphicFramePr>
        <p:xfrm>
          <a:off x="548640" y="1325880"/>
          <a:ext cx="11094415" cy="2164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is examined when its remittance status is Unprocessed, With Outstanding Balance or Partially Remitted; cancelled, direct payment and return invoices are skipped (FR-OP-031).</a:t>
                      </a:r>
                    </a:p>
                  </a:txBody>
                  <a:tcPr marL="54864" marR="54864" marT="27432" marB="27432">
                    <a:solidFill>
                      <a:srgbClr val="FFFFFF"/>
                    </a:solidFill>
                  </a:tcPr>
                </a:tc>
              </a:tr>
              <a:tr h="243840">
                <a:tc>
                  <a:txBody>
                    <a:bodyPr/>
                    <a:lstStyle/>
                    <a:p>
                      <a:r>
                        <a:rPr sz="1000" b="0">
                          <a:solidFill>
                            <a:srgbClr val="4B4B4B"/>
                          </a:solidFill>
                          <a:latin typeface="Arial"/>
                        </a:rPr>
                        <a:t>Only applied and posted payments count as paid AR; the amount to remit is the paid AR less the DTIP already remitted (FR-OP-031).</a:t>
                      </a:r>
                    </a:p>
                  </a:txBody>
                  <a:tcPr marL="54864" marR="54864" marT="27432" marB="27432">
                    <a:solidFill>
                      <a:srgbClr val="E5F5FF"/>
                    </a:solidFill>
                  </a:tcPr>
                </a:tc>
              </a:tr>
              <a:tr h="396240">
                <a:tc>
                  <a:txBody>
                    <a:bodyPr/>
                    <a:lstStyle/>
                    <a:p>
                      <a:r>
                        <a:rPr sz="1000" b="0">
                          <a:solidFill>
                            <a:srgbClr val="4B4B4B"/>
                          </a:solidFill>
                          <a:latin typeface="Arial"/>
                        </a:rPr>
                        <a:t>An invoice on hold, with a pending negative adjustment, written off, locked by another team, with a payment younger than the check holding period, or whose paid AR is above its DTIP balance is not extracted and is tagged with the reason (FR-OP-031).</a:t>
                      </a:r>
                    </a:p>
                  </a:txBody>
                  <a:tcPr marL="54864" marR="54864" marT="27432" marB="27432">
                    <a:solidFill>
                      <a:srgbClr val="FFFFFF"/>
                    </a:solidFill>
                  </a:tcPr>
                </a:tc>
              </a:tr>
              <a:tr h="243840">
                <a:tc>
                  <a:txBody>
                    <a:bodyPr/>
                    <a:lstStyle/>
                    <a:p>
                      <a:r>
                        <a:rPr sz="1000" b="0">
                          <a:solidFill>
                            <a:srgbClr val="4B4B4B"/>
                          </a:solidFill>
                          <a:latin typeface="Arial"/>
                        </a:rPr>
                        <a:t>The scheduled extraction runs every day at noon; each insurer is processed on its own (FR-OP-030).</a:t>
                      </a:r>
                    </a:p>
                  </a:txBody>
                  <a:tcPr marL="54864" marR="54864" marT="27432" marB="27432">
                    <a:solidFill>
                      <a:srgbClr val="E5F5FF"/>
                    </a:solidFill>
                  </a:tcPr>
                </a:tc>
              </a:tr>
              <a:tr h="243840">
                <a:tc>
                  <a:txBody>
                    <a:bodyPr/>
                    <a:lstStyle/>
                    <a:p>
                      <a:r>
                        <a:rPr sz="1000" b="0">
                          <a:solidFill>
                            <a:srgbClr val="4B4B4B"/>
                          </a:solidFill>
                          <a:latin typeface="Arial"/>
                        </a:rPr>
                        <a:t>An invoice covered by an early remittance incentive rule goes to a With Incentives batch (FR-OP-038).</a:t>
                      </a:r>
                    </a:p>
                  </a:txBody>
                  <a:tcPr marL="54864" marR="54864" marT="27432" marB="27432">
                    <a:solidFill>
                      <a:srgbClr val="FFFFFF"/>
                    </a:solidFill>
                  </a:tcPr>
                </a:tc>
              </a:tr>
              <a:tr h="396240">
                <a:tc>
                  <a:txBody>
                    <a:bodyPr/>
                    <a:lstStyle/>
                    <a:p>
                      <a:r>
                        <a:rPr sz="1000" b="0">
                          <a:solidFill>
                            <a:srgbClr val="4B4B4B"/>
                          </a:solidFill>
                          <a:latin typeface="Arial"/>
                        </a:rPr>
                        <a:t>In v2.1 any pending or unresolved financial endorsement also blocks the extraction; an extracted invoice is never taken again by a later run, and it keeps its source (scheduled, manual or special) (FR-OP-030, FR-OP-031).</a:t>
                      </a:r>
                    </a:p>
                  </a:txBody>
                  <a:tcPr marL="54864" marR="54864" marT="27432" marB="27432">
                    <a:solidFill>
                      <a:srgbClr val="E5F5FF"/>
                    </a:solidFill>
                  </a:tcPr>
                </a:tc>
              </a:tr>
            </a:tbl>
          </a:graphicData>
        </a:graphic>
      </p:graphicFrame>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Enters the invoice number on Extraction and clicks Run Extraction, then opens the run</a:t>
                      </a:r>
                    </a:p>
                  </a:txBody>
                  <a:tcPr marL="54864" marR="54864" marT="27432" marB="27432">
                    <a:solidFill>
                      <a:srgbClr val="FFFFFF"/>
                    </a:solidFill>
                  </a:tcPr>
                </a:tc>
                <a:tc>
                  <a:txBody>
                    <a:bodyPr/>
                    <a:lstStyle/>
                    <a:p>
                      <a:r>
                        <a:rPr sz="900" b="0">
                          <a:solidFill>
                            <a:srgbClr val="4B4B4B"/>
                          </a:solidFill>
                          <a:latin typeface="Arial"/>
                        </a:rPr>
                        <a:t>SCR-OP-24_wt-a-step-05.png</a:t>
                      </a:r>
                    </a:p>
                  </a:txBody>
                  <a:tcPr marL="54864" marR="54864" marT="27432" marB="27432">
                    <a:solidFill>
                      <a:srgbClr val="FFFFFF"/>
                    </a:solidFill>
                  </a:tcPr>
                </a:tc>
              </a:tr>
            </a:tbl>
          </a:graphicData>
        </a:graphic>
      </p:graphicFrame>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0.png"/>
          <p:cNvPicPr>
            <a:picLocks noChangeAspect="1"/>
          </p:cNvPicPr>
          <p:nvPr/>
        </p:nvPicPr>
        <p:blipFill>
          <a:blip r:embed="rId3"/>
          <a:stretch>
            <a:fillRect/>
          </a:stretch>
        </p:blipFill>
        <p:spPr>
          <a:xfrm>
            <a:off x="548640" y="1261872"/>
            <a:ext cx="11094415" cy="450471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with the Run Extraction card and the extraction runs (part 1 of 2)</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1.png"/>
          <p:cNvPicPr>
            <a:picLocks noChangeAspect="1"/>
          </p:cNvPicPr>
          <p:nvPr/>
        </p:nvPicPr>
        <p:blipFill>
          <a:blip r:embed="rId3"/>
          <a:stretch>
            <a:fillRect/>
          </a:stretch>
        </p:blipFill>
        <p:spPr>
          <a:xfrm>
            <a:off x="548640" y="1261872"/>
            <a:ext cx="11094415" cy="293619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with the Run Extraction card and the extraction runs (part 2 of 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cr-op-24-02-tags.png"/>
          <p:cNvPicPr>
            <a:picLocks noChangeAspect="1"/>
          </p:cNvPicPr>
          <p:nvPr/>
        </p:nvPicPr>
        <p:blipFill>
          <a:blip r:embed="rId3"/>
          <a:stretch>
            <a:fillRect/>
          </a:stretch>
        </p:blipFill>
        <p:spPr>
          <a:xfrm>
            <a:off x="1214469" y="1261872"/>
            <a:ext cx="976275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run with the tag and reasons of each invoice examined</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Process Remittance: the batches by stage (review, approval, with Disbursement, awaiting the insurer's OR, OR received, returned) with their insurer, type, accounts, paid AR and payable; selected batches are submitted or approved in one 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Batches</a:t>
                      </a:r>
                    </a:p>
                    <a:p>
                      <a:r>
                        <a:rPr sz="950" b="0">
                          <a:solidFill>
                            <a:srgbClr val="4B4B4B"/>
                          </a:solidFill>
                          <a:latin typeface="Arial"/>
                        </a:rPr>
                        <a:t>Remittance Workbench › Batches in Review, Batches for Approval and Awaiting Insurer OR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FR-OP-032, FR-OP-033, FR-OP-035, FR-OP-036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every batch by stage and moves them on in bulk.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Review in Process / For Approval / With Disbursement / Awaiting Insurer OR / OR Received / Returned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Batch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 / Remittance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 All types, With Incentives, Normal - Peso, Normal - Dollar, Special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Review in Process and For Approval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Batch No. / Insurer / Type / Accounts / Paid AR / Payable / Currency / Processor / DV No.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RMB-&lt;insurer&gt;-yyyy-n with the extraction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Selected</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 rows selected</a:t>
                      </a:r>
                    </a:p>
                  </a:txBody>
                  <a:tcPr marL="54864" marR="54864" marT="27432" marB="27432">
                    <a:solidFill>
                      <a:srgbClr val="FFFFFF"/>
                    </a:solidFill>
                  </a:tcPr>
                </a:tc>
                <a:tc>
                  <a:txBody>
                    <a:bodyPr/>
                    <a:lstStyle/>
                    <a:p>
                      <a:r>
                        <a:rPr sz="850" b="0">
                          <a:solidFill>
                            <a:srgbClr val="4B4B4B"/>
                          </a:solidFill>
                          <a:latin typeface="Arial"/>
                        </a:rPr>
                        <a:t>Asks for confirmation and submits each selected batch on its own; a batch that cannot be submitted is reported</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Remittance batch for approval (NT-11)</a:t>
                      </a:r>
                    </a:p>
                  </a:txBody>
                  <a:tcPr marL="54864" marR="54864" marT="27432" marB="27432">
                    <a:solidFill>
                      <a:srgbClr val="FFFFFF"/>
                    </a:solidFill>
                  </a:tcPr>
                </a:tc>
              </a:tr>
              <a:tr h="350518">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Remittance Team Leader</a:t>
                      </a:r>
                    </a:p>
                  </a:txBody>
                  <a:tcPr marL="54864" marR="54864" marT="27432" marB="27432">
                    <a:solidFill>
                      <a:srgbClr val="E5F5FF"/>
                    </a:solidFill>
                  </a:tcPr>
                </a:tc>
                <a:tc>
                  <a:txBody>
                    <a:bodyPr/>
                    <a:lstStyle/>
                    <a:p>
                      <a:r>
                        <a:rPr sz="850" b="0">
                          <a:solidFill>
                            <a:srgbClr val="4B4B4B"/>
                          </a:solidFill>
                          <a:latin typeface="Arial"/>
                        </a:rPr>
                        <a:t>For Approval, rows selected</a:t>
                      </a:r>
                    </a:p>
                  </a:txBody>
                  <a:tcPr marL="54864" marR="54864" marT="27432" marB="27432">
                    <a:solidFill>
                      <a:srgbClr val="E5F5FF"/>
                    </a:solidFill>
                  </a:tcPr>
                </a:tc>
                <a:tc>
                  <a:txBody>
                    <a:bodyPr/>
                    <a:lstStyle/>
                    <a:p>
                      <a:r>
                        <a:rPr sz="850" b="0">
                          <a:solidFill>
                            <a:srgbClr val="4B4B4B"/>
                          </a:solidFill>
                          <a:latin typeface="Arial"/>
                        </a:rPr>
                        <a:t>Asks for confirmation and approves each batch on its own (never one the approver submitted)</a:t>
                      </a:r>
                    </a:p>
                  </a:txBody>
                  <a:tcPr marL="54864" marR="54864" marT="27432" marB="27432">
                    <a:solidFill>
                      <a:srgbClr val="E5F5FF"/>
                    </a:solidFill>
                  </a:tcPr>
                </a:tc>
                <a:tc>
                  <a:txBody>
                    <a:bodyPr/>
                    <a:lstStyle/>
                    <a:p>
                      <a:r>
                        <a:rPr sz="850" b="0">
                          <a:solidFill>
                            <a:srgbClr val="4B4B4B"/>
                          </a:solidFill>
                          <a:latin typeface="Arial"/>
                        </a:rPr>
                        <a:t>Approved - with Disbursement</a:t>
                      </a:r>
                    </a:p>
                  </a:txBody>
                  <a:tcPr marL="54864" marR="54864" marT="27432" marB="27432">
                    <a:solidFill>
                      <a:srgbClr val="E5F5FF"/>
                    </a:solidFill>
                  </a:tcPr>
                </a:tc>
                <a:tc>
                  <a:txBody>
                    <a:bodyPr/>
                    <a:lstStyle/>
                    <a:p>
                      <a:r>
                        <a:rPr sz="850" b="0">
                          <a:solidFill>
                            <a:srgbClr val="4B4B4B"/>
                          </a:solidFill>
                          <a:latin typeface="Arial"/>
                        </a:rPr>
                        <a:t>Remittance batch approved or returned (NT-12)</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remittance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is approved by someone other than its submitter (FR-OP-035).</a:t>
                      </a:r>
                    </a:p>
                  </a:txBody>
                  <a:tcPr marL="54864" marR="54864" marT="27432" marB="27432">
                    <a:solidFill>
                      <a:srgbClr val="FFFFFF"/>
                    </a:solidFill>
                  </a:tcPr>
                </a:tc>
              </a:tr>
              <a:tr h="243840">
                <a:tc>
                  <a:txBody>
                    <a:bodyPr/>
                    <a:lstStyle/>
                    <a:p>
                      <a:r>
                        <a:rPr sz="1000" b="0">
                          <a:solidFill>
                            <a:srgbClr val="4B4B4B"/>
                          </a:solidFill>
                          <a:latin typeface="Arial"/>
                        </a:rPr>
                        <a:t>Bulk submission and approval process each batch on its own (FR-OP-033, FR-OP-035).</a:t>
                      </a:r>
                    </a:p>
                  </a:txBody>
                  <a:tcPr marL="54864" marR="54864" marT="27432" marB="27432">
                    <a:solidFill>
                      <a:srgbClr val="E5F5FF"/>
                    </a:solidFill>
                  </a:tcPr>
                </a:tc>
              </a:tr>
            </a:tbl>
          </a:graphicData>
        </a:graphic>
      </p:graphicFrame>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5-01-list.png"/>
          <p:cNvPicPr>
            <a:picLocks noChangeAspect="1"/>
          </p:cNvPicPr>
          <p:nvPr/>
        </p:nvPicPr>
        <p:blipFill>
          <a:blip r:embed="rId3"/>
          <a:stretch>
            <a:fillRect/>
          </a:stretch>
        </p:blipFill>
        <p:spPr>
          <a:xfrm>
            <a:off x="548640" y="1261872"/>
            <a:ext cx="11094415" cy="40679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Batches, Review in Process tab</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25-02-approval.png"/>
          <p:cNvPicPr>
            <a:picLocks noChangeAspect="1"/>
          </p:cNvPicPr>
          <p:nvPr/>
        </p:nvPicPr>
        <p:blipFill>
          <a:blip r:embed="rId3"/>
          <a:stretch>
            <a:fillRect/>
          </a:stretch>
        </p:blipFill>
        <p:spPr>
          <a:xfrm>
            <a:off x="548640" y="1261872"/>
            <a:ext cx="11094415" cy="40679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Batches, For Approval tab of the Remittance Team Leader</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batch: insurer, type, processor, accounts, Disbursement request and DV, the commission and incentive ORs, the Process Remittance workflow with its history, the read-only totals strip, the accounts with their exclusions and restore, the settlement with the insurer's deductions, and the remittance schedule and payment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Batches › Remittance Batch</a:t>
                      </a:r>
                    </a:p>
                    <a:p>
                      <a:r>
                        <a:rPr sz="950" b="0">
                          <a:solidFill>
                            <a:srgbClr val="4B4B4B"/>
                          </a:solidFill>
                          <a:latin typeface="Arial"/>
                        </a:rPr>
                        <a:t>Remittance Batches › open a row</a:t>
                      </a:r>
                    </a:p>
                    <a:p>
                      <a:r>
                        <a:rPr sz="950" b="0">
                          <a:solidFill>
                            <a:srgbClr val="4B4B4B"/>
                          </a:solidFill>
                          <a:latin typeface="Arial"/>
                        </a:rPr>
                        <a:t>Invoice 360 › Remittances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FR-OP-032, FR-OP-033, FR-OP-034, FR-OP-035, FR-OP-036, FR-OP-038, FR-OP-110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batch is reviewed, approved, paid through Disbursement and closed by the insurer's OR.</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SCR-OP-26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Batch chip, stage pill and type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RMB-&lt;insurer&gt;-yyyy-n; the special remittance request for a special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Insurer / Processor / Accounts / Disbursement / Commission / Incentive OR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Accounts kept of the accounts extracted; payment request, its status and DV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Process Remittance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Review in process, For approval, Approved - with Disbursement, Partially and Fully remitted - awaiting insurer OR, Insurer OR received; Batch on hold and Returned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Totals</a:t>
                      </a:r>
                    </a:p>
                  </a:txBody>
                  <a:tcPr marL="54864" marR="54864" marT="27432" marB="27432">
                    <a:solidFill>
                      <a:srgbClr val="E5F5FF"/>
                    </a:solidFill>
                  </a:tcPr>
                </a:tc>
                <a:tc>
                  <a:txBody>
                    <a:bodyPr/>
                    <a:lstStyle/>
                    <a:p>
                      <a:r>
                        <a:rPr sz="850" b="0">
                          <a:solidFill>
                            <a:srgbClr val="4B4B4B"/>
                          </a:solidFill>
                          <a:latin typeface="Arial"/>
                        </a:rPr>
                        <a:t>Paid AR / Realized Commission / VAT / WTAX / DTIP / Incentive with VAT / CPC2 with VAT / Net Due / Payable / Deductions / Amount Due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of the accounts kept, read only; Deductions and Amount Due when the insurer confirmed deductions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Net due = paid AR + WTAX - commission - VAT; payable = net due - incentive with VAT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Accounts / Settlement / Documents and Receipts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Accounts</a:t>
                      </a:r>
                    </a:p>
                  </a:txBody>
                  <a:tcPr marL="54864" marR="54864" marT="27432" marB="27432">
                    <a:solidFill>
                      <a:srgbClr val="E5F5FF"/>
                    </a:solidFill>
                  </a:tcPr>
                </a:tc>
                <a:tc>
                  <a:txBody>
                    <a:bodyPr/>
                    <a:lstStyle/>
                    <a:p>
                      <a:r>
                        <a:rPr sz="850" b="0">
                          <a:solidFill>
                            <a:srgbClr val="4B4B4B"/>
                          </a:solidFill>
                          <a:latin typeface="Arial"/>
                        </a:rPr>
                        <a:t>Search Invoice No.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Invoice No. / Name of Assured / Last Paid / Paid AR / Commission / VAT / WTAX / Incentive / CPC2 / Net Due / Insurer OR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with the policy number; the insurer OR with Matched or Amount Mismatch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Accounts</a:t>
                      </a:r>
                    </a:p>
                  </a:txBody>
                  <a:tcPr marL="54864" marR="54864" marT="27432" marB="27432">
                    <a:solidFill>
                      <a:srgbClr val="E5F5FF"/>
                    </a:solidFill>
                  </a:tcPr>
                </a:tc>
                <a:tc>
                  <a:txBody>
                    <a:bodyPr/>
                    <a:lstStyle/>
                    <a:p>
                      <a:r>
                        <a:rPr sz="850" b="0">
                          <a:solidFill>
                            <a:srgbClr val="4B4B4B"/>
                          </a:solidFill>
                          <a:latin typeface="Arial"/>
                        </a:rPr>
                        <a:t>Exclusions</a:t>
                      </a:r>
                    </a:p>
                  </a:txBody>
                  <a:tcPr marL="54864" marR="54864" marT="27432" marB="27432">
                    <a:solidFill>
                      <a:srgbClr val="E5F5FF"/>
                    </a:solidFill>
                  </a:tcPr>
                </a:tc>
                <a:tc>
                  <a:txBody>
                    <a:bodyPr/>
                    <a:lstStyle/>
                    <a:p>
                      <a:r>
                        <a:rPr sz="850" b="0">
                          <a:solidFill>
                            <a:srgbClr val="4B4B4B"/>
                          </a:solidFill>
                          <a:latin typeface="Arial"/>
                        </a:rPr>
                        <a:t>Panel</a:t>
                      </a:r>
                    </a:p>
                  </a:txBody>
                  <a:tcPr marL="54864" marR="54864" marT="27432" marB="27432">
                    <a:solidFill>
                      <a:srgbClr val="E5F5FF"/>
                    </a:solidFill>
                  </a:tcPr>
                </a:tc>
                <a:tc>
                  <a:txBody>
                    <a:bodyPr/>
                    <a:lstStyle/>
                    <a:p>
                      <a:r>
                        <a:rPr sz="850" b="0">
                          <a:solidFill>
                            <a:srgbClr val="4B4B4B"/>
                          </a:solidFill>
                          <a:latin typeface="Arial"/>
                        </a:rPr>
                        <a:t>Excluded accounts with the reason and Restore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account is excluded.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Exclude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Settlement</a:t>
                      </a:r>
                    </a:p>
                  </a:txBody>
                  <a:tcPr marL="54864" marR="54864" marT="27432" marB="27432">
                    <a:solidFill>
                      <a:srgbClr val="E5F5FF"/>
                    </a:solidFill>
                  </a:tcPr>
                </a:tc>
                <a:tc>
                  <a:txBody>
                    <a:bodyPr/>
                    <a:lstStyle/>
                    <a:p>
                      <a:r>
                        <a:rPr sz="850" b="0">
                          <a:solidFill>
                            <a:srgbClr val="4B4B4B"/>
                          </a:solidFill>
                          <a:latin typeface="Arial"/>
                        </a:rPr>
                        <a:t>Deduction / Send Cycle / Applied On / Journal / Amount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insurer's confirmed deductions applied to the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deduction applied to this batch</a:t>
                      </a:r>
                    </a:p>
                  </a:txBody>
                  <a:tcPr marL="54864" marR="54864" marT="27432" marB="27432">
                    <a:solidFill>
                      <a:srgbClr val="E5F5FF"/>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SCR-OP-26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 and Receipts</a:t>
                      </a:r>
                    </a:p>
                  </a:txBody>
                  <a:tcPr marL="54864" marR="54864" marT="27432" marB="27432">
                    <a:solidFill>
                      <a:srgbClr val="FFFFFF"/>
                    </a:solidFill>
                  </a:tcPr>
                </a:tc>
                <a:tc>
                  <a:txBody>
                    <a:bodyPr/>
                    <a:lstStyle/>
                    <a:p>
                      <a:r>
                        <a:rPr sz="850" b="0">
                          <a:solidFill>
                            <a:srgbClr val="4B4B4B"/>
                          </a:solidFill>
                          <a:latin typeface="Arial"/>
                        </a:rPr>
                        <a:t>Remittance Schedule (PDF) / Remittance Schedule (Excel) / Payment Request (PDF)</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Generated documents (chapter 17)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Documents and Receipts</a:t>
                      </a:r>
                    </a:p>
                  </a:txBody>
                  <a:tcPr marL="54864" marR="54864" marT="27432" marB="27432">
                    <a:solidFill>
                      <a:srgbClr val="E5F5FF"/>
                    </a:solidFill>
                  </a:tcPr>
                </a:tc>
                <a:tc>
                  <a:txBody>
                    <a:bodyPr/>
                    <a:lstStyle/>
                    <a:p>
                      <a:r>
                        <a:rPr sz="850" b="0">
                          <a:solidFill>
                            <a:srgbClr val="4B4B4B"/>
                          </a:solidFill>
                          <a:latin typeface="Arial"/>
                        </a:rPr>
                        <a:t>Submitted by / Approved by / Payment request / ORs / Schedule sent to insurer / Return reason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Names, amounts, date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Preview Submission / Approve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Kept in the status history and sent with the notification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Send Schedule to Insurer dialog</a:t>
                      </a:r>
                    </a:p>
                  </a:txBody>
                  <a:tcPr marL="54864" marR="54864" marT="27432" marB="27432">
                    <a:solidFill>
                      <a:srgbClr val="E5F5FF"/>
                    </a:solidFill>
                  </a:tcPr>
                </a:tc>
                <a:tc>
                  <a:txBody>
                    <a:bodyPr/>
                    <a:lstStyle/>
                    <a:p>
                      <a:r>
                        <a:rPr sz="850" b="0">
                          <a:solidFill>
                            <a:srgbClr val="4B4B4B"/>
                          </a:solidFill>
                          <a:latin typeface="Arial"/>
                        </a:rPr>
                        <a:t>To / Subject /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E-mail addresses separated by commas</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Valid addresses; subject not blank</a:t>
                      </a:r>
                    </a:p>
                  </a:txBody>
                  <a:tcPr marL="54864" marR="54864" marT="27432" marB="27432">
                    <a:solidFill>
                      <a:srgbClr val="E5F5FF"/>
                    </a:solidFill>
                  </a:tcPr>
                </a:tc>
                <a:tc>
                  <a:txBody>
                    <a:bodyPr/>
                    <a:lstStyle/>
                    <a:p>
                      <a:r>
                        <a:rPr sz="850" b="0">
                          <a:solidFill>
                            <a:srgbClr val="4B4B4B"/>
                          </a:solidFill>
                          <a:latin typeface="Arial"/>
                        </a:rPr>
                        <a:t>Enter valid e-mail addresses separated by commas / Subject is required</a:t>
                      </a:r>
                    </a:p>
                  </a:txBody>
                  <a:tcPr marL="54864" marR="54864" marT="27432" marB="27432">
                    <a:solidFill>
                      <a:srgbClr val="E5F5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25880"/>
          <a:ext cx="11094412" cy="363471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Exclude Selected / Exclude Accounts</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 or on hold, rows selected</a:t>
                      </a:r>
                    </a:p>
                  </a:txBody>
                  <a:tcPr marL="54864" marR="54864" marT="27432" marB="27432">
                    <a:solidFill>
                      <a:srgbClr val="FFFFFF"/>
                    </a:solidFill>
                  </a:tcPr>
                </a:tc>
                <a:tc>
                  <a:txBody>
                    <a:bodyPr/>
                    <a:lstStyle/>
                    <a:p>
                      <a:r>
                        <a:rPr sz="850" b="0">
                          <a:solidFill>
                            <a:srgbClr val="4B4B4B"/>
                          </a:solidFill>
                          <a:latin typeface="Arial"/>
                        </a:rPr>
                        <a:t>Excludes the accounts with the reason; each is unlocked and keeps its amounts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Restore</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Excluded account, batch still editable</a:t>
                      </a:r>
                    </a:p>
                  </a:txBody>
                  <a:tcPr marL="54864" marR="54864" marT="27432" marB="27432">
                    <a:solidFill>
                      <a:srgbClr val="E5F5FF"/>
                    </a:solidFill>
                  </a:tcPr>
                </a:tc>
                <a:tc>
                  <a:txBody>
                    <a:bodyPr/>
                    <a:lstStyle/>
                    <a:p>
                      <a:r>
                        <a:rPr sz="850" b="0">
                          <a:solidFill>
                            <a:srgbClr val="4B4B4B"/>
                          </a:solidFill>
                          <a:latin typeface="Arial"/>
                        </a:rPr>
                        <a:t>Takes the account back into the batch and locks it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Preview and Submit / Submit for Approval</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a:t>
                      </a:r>
                    </a:p>
                  </a:txBody>
                  <a:tcPr marL="54864" marR="54864" marT="27432" marB="27432">
                    <a:solidFill>
                      <a:srgbClr val="FFFFFF"/>
                    </a:solidFill>
                  </a:tcPr>
                </a:tc>
                <a:tc>
                  <a:txBody>
                    <a:bodyPr/>
                    <a:lstStyle/>
                    <a:p>
                      <a:r>
                        <a:rPr sz="850" b="0">
                          <a:solidFill>
                            <a:srgbClr val="4B4B4B"/>
                          </a:solidFill>
                          <a:latin typeface="Arial"/>
                        </a:rPr>
                        <a:t>Shows the accounts kept and excluded, the totals and any problem, and submits the batch</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Remittance batch for approval (NT-11)</a:t>
                      </a:r>
                    </a:p>
                  </a:txBody>
                  <a:tcPr marL="54864" marR="54864" marT="27432" marB="27432">
                    <a:solidFill>
                      <a:srgbClr val="FFFFFF"/>
                    </a:solidFill>
                  </a:tcPr>
                </a:tc>
              </a:tr>
              <a:tr h="350518">
                <a:tc>
                  <a:txBody>
                    <a:bodyPr/>
                    <a:lstStyle/>
                    <a:p>
                      <a:r>
                        <a:rPr sz="850" b="0">
                          <a:solidFill>
                            <a:srgbClr val="4B4B4B"/>
                          </a:solidFill>
                          <a:latin typeface="Arial"/>
                        </a:rPr>
                        <a:t>Hold Batch / Release Batch</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Review in process / On hold</a:t>
                      </a:r>
                    </a:p>
                  </a:txBody>
                  <a:tcPr marL="54864" marR="54864" marT="27432" marB="27432">
                    <a:solidFill>
                      <a:srgbClr val="E5F5FF"/>
                    </a:solidFill>
                  </a:tcPr>
                </a:tc>
                <a:tc>
                  <a:txBody>
                    <a:bodyPr/>
                    <a:lstStyle/>
                    <a:p>
                      <a:r>
                        <a:rPr sz="850" b="0">
                          <a:solidFill>
                            <a:srgbClr val="4B4B4B"/>
                          </a:solidFill>
                          <a:latin typeface="Arial"/>
                        </a:rPr>
                        <a:t>Holds the batch with a reason, or releases it</a:t>
                      </a:r>
                    </a:p>
                  </a:txBody>
                  <a:tcPr marL="54864" marR="54864" marT="27432" marB="27432">
                    <a:solidFill>
                      <a:srgbClr val="E5F5FF"/>
                    </a:solidFill>
                  </a:tcPr>
                </a:tc>
                <a:tc>
                  <a:txBody>
                    <a:bodyPr/>
                    <a:lstStyle/>
                    <a:p>
                      <a:r>
                        <a:rPr sz="850" b="0">
                          <a:solidFill>
                            <a:srgbClr val="4B4B4B"/>
                          </a:solidFill>
                          <a:latin typeface="Arial"/>
                        </a:rPr>
                        <a:t>Batch on hold / Review in process</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Return Batch</a:t>
                      </a:r>
                    </a:p>
                  </a:txBody>
                  <a:tcPr marL="54864" marR="54864" marT="27432" marB="27432">
                    <a:solidFill>
                      <a:srgbClr val="FFFFFF"/>
                    </a:solidFill>
                  </a:tcPr>
                </a:tc>
                <a:tc>
                  <a:txBody>
                    <a:bodyPr/>
                    <a:lstStyle/>
                    <a:p>
                      <a:r>
                        <a:rPr sz="850" b="0">
                          <a:solidFill>
                            <a:srgbClr val="4B4B4B"/>
                          </a:solidFill>
                          <a:latin typeface="Arial"/>
                        </a:rPr>
                        <a:t>Remittance Processor or Team Leader</a:t>
                      </a:r>
                    </a:p>
                  </a:txBody>
                  <a:tcPr marL="54864" marR="54864" marT="27432" marB="27432">
                    <a:solidFill>
                      <a:srgbClr val="FFFFFF"/>
                    </a:solidFill>
                  </a:tcPr>
                </a:tc>
                <a:tc>
                  <a:txBody>
                    <a:bodyPr/>
                    <a:lstStyle/>
                    <a:p>
                      <a:r>
                        <a:rPr sz="850" b="0">
                          <a:solidFill>
                            <a:srgbClr val="4B4B4B"/>
                          </a:solidFill>
                          <a:latin typeface="Arial"/>
                        </a:rPr>
                        <a:t>Review in process, on hold or for approval</a:t>
                      </a:r>
                    </a:p>
                  </a:txBody>
                  <a:tcPr marL="54864" marR="54864" marT="27432" marB="27432">
                    <a:solidFill>
                      <a:srgbClr val="FFFFFF"/>
                    </a:solidFill>
                  </a:tcPr>
                </a:tc>
                <a:tc>
                  <a:txBody>
                    <a:bodyPr/>
                    <a:lstStyle/>
                    <a:p>
                      <a:r>
                        <a:rPr sz="850" b="0">
                          <a:solidFill>
                            <a:srgbClr val="4B4B4B"/>
                          </a:solidFill>
                          <a:latin typeface="Arial"/>
                        </a:rPr>
                        <a:t>Asks for the reason; unlocks the accounts and tags them Returned</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Remittance batch approved or returned (NT-12)</a:t>
                      </a:r>
                    </a:p>
                  </a:txBody>
                  <a:tcPr marL="54864" marR="54864" marT="27432" marB="27432">
                    <a:solidFill>
                      <a:srgbClr val="FFFFFF"/>
                    </a:solidFill>
                  </a:tcPr>
                </a:tc>
              </a:tr>
              <a:tr h="609596">
                <a:tc>
                  <a:txBody>
                    <a:bodyPr/>
                    <a:lstStyle/>
                    <a:p>
                      <a:r>
                        <a:rPr sz="850" b="0">
                          <a:solidFill>
                            <a:srgbClr val="4B4B4B"/>
                          </a:solidFill>
                          <a:latin typeface="Arial"/>
                        </a:rPr>
                        <a:t>Approve and Push</a:t>
                      </a:r>
                    </a:p>
                  </a:txBody>
                  <a:tcPr marL="54864" marR="54864" marT="27432" marB="27432">
                    <a:solidFill>
                      <a:srgbClr val="E5F5FF"/>
                    </a:solidFill>
                  </a:tcPr>
                </a:tc>
                <a:tc>
                  <a:txBody>
                    <a:bodyPr/>
                    <a:lstStyle/>
                    <a:p>
                      <a:r>
                        <a:rPr sz="850" b="0">
                          <a:solidFill>
                            <a:srgbClr val="4B4B4B"/>
                          </a:solidFill>
                          <a:latin typeface="Arial"/>
                        </a:rPr>
                        <a:t>Remittance Team Leader other than the submitter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remittance to the ledger, sends the payment request to Disbursement and requests the commission and incentive ORs from Cashiering</a:t>
                      </a:r>
                    </a:p>
                  </a:txBody>
                  <a:tcPr marL="54864" marR="54864" marT="27432" marB="27432">
                    <a:solidFill>
                      <a:srgbClr val="E5F5FF"/>
                    </a:solidFill>
                  </a:tcPr>
                </a:tc>
                <a:tc>
                  <a:txBody>
                    <a:bodyPr/>
                    <a:lstStyle/>
                    <a:p>
                      <a:r>
                        <a:rPr sz="850" b="0">
                          <a:solidFill>
                            <a:srgbClr val="4B4B4B"/>
                          </a:solidFill>
                          <a:latin typeface="Arial"/>
                        </a:rPr>
                        <a:t>Approved - with Disbursement</a:t>
                      </a:r>
                    </a:p>
                  </a:txBody>
                  <a:tcPr marL="54864" marR="54864" marT="27432" marB="27432">
                    <a:solidFill>
                      <a:srgbClr val="E5F5FF"/>
                    </a:solidFill>
                  </a:tcPr>
                </a:tc>
                <a:tc>
                  <a:txBody>
                    <a:bodyPr/>
                    <a:lstStyle/>
                    <a:p>
                      <a:r>
                        <a:rPr sz="850" b="0">
                          <a:solidFill>
                            <a:srgbClr val="4B4B4B"/>
                          </a:solidFill>
                          <a:latin typeface="Arial"/>
                        </a:rPr>
                        <a:t>Remittance batch approved or returned (NT-12); Disbursement request received (NT-03)</a:t>
                      </a:r>
                    </a:p>
                  </a:txBody>
                  <a:tcPr marL="54864" marR="54864" marT="27432" marB="27432">
                    <a:solidFill>
                      <a:srgbClr val="E5F5FF"/>
                    </a:solidFill>
                  </a:tcPr>
                </a:tc>
              </a:tr>
              <a:tr h="220979">
                <a:tc>
                  <a:txBody>
                    <a:bodyPr/>
                    <a:lstStyle/>
                    <a:p>
                      <a:r>
                        <a:rPr sz="850" b="0">
                          <a:solidFill>
                            <a:srgbClr val="4B4B4B"/>
                          </a:solidFill>
                          <a:latin typeface="Arial"/>
                        </a:rPr>
                        <a:t>Send back to processor</a:t>
                      </a:r>
                    </a:p>
                  </a:txBody>
                  <a:tcPr marL="54864" marR="54864" marT="27432" marB="27432">
                    <a:solidFill>
                      <a:srgbClr val="FFFFFF"/>
                    </a:solidFill>
                  </a:tcPr>
                </a:tc>
                <a:tc>
                  <a:txBody>
                    <a:bodyPr/>
                    <a:lstStyle/>
                    <a:p>
                      <a:r>
                        <a:rPr sz="850" b="0">
                          <a:solidFill>
                            <a:srgbClr val="4B4B4B"/>
                          </a:solidFill>
                          <a:latin typeface="Arial"/>
                        </a:rPr>
                        <a:t>Remittance Team Leader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Sends the batch back with a reason</a:t>
                      </a:r>
                    </a:p>
                  </a:txBody>
                  <a:tcPr marL="54864" marR="54864" marT="27432" marB="27432">
                    <a:solidFill>
                      <a:srgbClr val="FFFFFF"/>
                    </a:solidFill>
                  </a:tcPr>
                </a:tc>
                <a:tc>
                  <a:txBody>
                    <a:bodyPr/>
                    <a:lstStyle/>
                    <a:p>
                      <a:r>
                        <a:rPr sz="850" b="0">
                          <a:solidFill>
                            <a:srgbClr val="4B4B4B"/>
                          </a:solidFill>
                          <a:latin typeface="Arial"/>
                        </a:rPr>
                        <a:t>Review in process</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Send Schedule to Insurer / Send via Email</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Approved or later, schedule not sent yet</a:t>
                      </a:r>
                    </a:p>
                  </a:txBody>
                  <a:tcPr marL="54864" marR="54864" marT="27432" marB="27432">
                    <a:solidFill>
                      <a:srgbClr val="E5F5FF"/>
                    </a:solidFill>
                  </a:tcPr>
                </a:tc>
                <a:tc>
                  <a:txBody>
                    <a:bodyPr/>
                    <a:lstStyle/>
                    <a:p>
                      <a:r>
                        <a:rPr sz="850" b="0">
                          <a:solidFill>
                            <a:srgbClr val="4B4B4B"/>
                          </a:solidFill>
                          <a:latin typeface="Arial"/>
                        </a:rPr>
                        <a:t>E-mails the schedule to the insurer as a password-protected Excel file; the password follows in a separate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Remittance schedule e-mail (NT-24)</a:t>
                      </a:r>
                    </a:p>
                  </a:txBody>
                  <a:tcPr marL="54864" marR="54864" marT="27432" marB="27432">
                    <a:solidFill>
                      <a:srgbClr val="E5F5FF"/>
                    </a:solidFill>
                  </a:tcPr>
                </a:tc>
              </a:tr>
              <a:tr h="480057">
                <a:tc>
                  <a:txBody>
                    <a:bodyPr/>
                    <a:lstStyle/>
                    <a:p>
                      <a:r>
                        <a:rPr sz="850" b="0">
                          <a:solidFill>
                            <a:srgbClr val="4B4B4B"/>
                          </a:solidFill>
                          <a:latin typeface="Arial"/>
                        </a:rPr>
                        <a:t>Remittance Schedule (PDF) / Remittance Schedule (Excel) / Payment Request (PDF)</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document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5" cy="21031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Rows of the extract are excluded and restored with a reason while the batch is in review or on hold; amounts cannot be edited (FR-OP-032).</a:t>
                      </a:r>
                    </a:p>
                  </a:txBody>
                  <a:tcPr marL="54864" marR="54864" marT="27432" marB="27432">
                    <a:solidFill>
                      <a:srgbClr val="FFFFFF"/>
                    </a:solidFill>
                  </a:tcPr>
                </a:tc>
              </a:tr>
              <a:tr h="243840">
                <a:tc>
                  <a:txBody>
                    <a:bodyPr/>
                    <a:lstStyle/>
                    <a:p>
                      <a:r>
                        <a:rPr sz="1000" b="0">
                          <a:solidFill>
                            <a:srgbClr val="4B4B4B"/>
                          </a:solidFill>
                          <a:latin typeface="Arial"/>
                        </a:rPr>
                        <a:t>Submission and approval check again every account kept: still locked by Remittance, not cancelled, on hold, written off or with a pending negative adjustment (FR-OP-033, FR-OP-035).</a:t>
                      </a:r>
                    </a:p>
                  </a:txBody>
                  <a:tcPr marL="54864" marR="54864" marT="27432" marB="27432">
                    <a:solidFill>
                      <a:srgbClr val="E5F5FF"/>
                    </a:solidFill>
                  </a:tcPr>
                </a:tc>
              </a:tr>
              <a:tr h="396240">
                <a:tc>
                  <a:txBody>
                    <a:bodyPr/>
                    <a:lstStyle/>
                    <a:p>
                      <a:r>
                        <a:rPr sz="1000" b="0">
                          <a:solidFill>
                            <a:srgbClr val="4B4B4B"/>
                          </a:solidFill>
                          <a:latin typeface="Arial"/>
                        </a:rPr>
                        <a:t>Approval posts the remittance: DTIP, commission, VAT and withholding tax remitted, the incentive income of a With Incentives batch, and the payment request of the payable to Disbursement (FR-OP-035, FR-OP-038).</a:t>
                      </a:r>
                    </a:p>
                  </a:txBody>
                  <a:tcPr marL="54864" marR="54864" marT="27432" marB="27432">
                    <a:solidFill>
                      <a:srgbClr val="FFFFFF"/>
                    </a:solidFill>
                  </a:tcPr>
                </a:tc>
              </a:tr>
              <a:tr h="243840">
                <a:tc>
                  <a:txBody>
                    <a:bodyPr/>
                    <a:lstStyle/>
                    <a:p>
                      <a:r>
                        <a:rPr sz="1000" b="0">
                          <a:solidFill>
                            <a:srgbClr val="4B4B4B"/>
                          </a:solidFill>
                          <a:latin typeface="Arial"/>
                        </a:rPr>
                        <a:t>The DV number of Disbursement makes each invoice Fully or Partially Remitted and releases its lock (FR-OP-036).</a:t>
                      </a:r>
                    </a:p>
                  </a:txBody>
                  <a:tcPr marL="54864" marR="54864" marT="27432" marB="27432">
                    <a:solidFill>
                      <a:srgbClr val="E5F5FF"/>
                    </a:solidFill>
                  </a:tcPr>
                </a:tc>
              </a:tr>
              <a:tr h="243840">
                <a:tc>
                  <a:txBody>
                    <a:bodyPr/>
                    <a:lstStyle/>
                    <a:p>
                      <a:r>
                        <a:rPr sz="1000" b="0">
                          <a:solidFill>
                            <a:srgbClr val="4B4B4B"/>
                          </a:solidFill>
                          <a:latin typeface="Arial"/>
                        </a:rPr>
                        <a:t>The schedule is sent to the insurer once per batch (FR-OP-110).</a:t>
                      </a:r>
                    </a:p>
                  </a:txBody>
                  <a:tcPr marL="54864" marR="54864" marT="27432" marB="27432">
                    <a:solidFill>
                      <a:srgbClr val="FFFFFF"/>
                    </a:solidFill>
                  </a:tcPr>
                </a:tc>
              </a:tr>
              <a:tr h="243840">
                <a:tc>
                  <a:txBody>
                    <a:bodyPr/>
                    <a:lstStyle/>
                    <a:p>
                      <a:r>
                        <a:rPr sz="1000" b="0">
                          <a:solidFill>
                            <a:srgbClr val="4B4B4B"/>
                          </a:solidFill>
                          <a:latin typeface="Arial"/>
                        </a:rPr>
                        <a:t>In v2.1 the schedule can be saved or exported before submission, marked Draft (FR-OP-034, CLR-OP-45).</a:t>
                      </a:r>
                    </a:p>
                  </a:txBody>
                  <a:tcPr marL="54864" marR="54864" marT="27432" marB="27432">
                    <a:solidFill>
                      <a:srgbClr val="E5F5FF"/>
                    </a:solidFill>
                  </a:tcPr>
                </a:tc>
              </a:tr>
              <a:tr h="243840">
                <a:tc>
                  <a:txBody>
                    <a:bodyPr/>
                    <a:lstStyle/>
                    <a:p>
                      <a:r>
                        <a:rPr sz="1000" b="0">
                          <a:solidFill>
                            <a:srgbClr val="4B4B4B"/>
                          </a:solidFill>
                          <a:latin typeface="Arial"/>
                        </a:rPr>
                        <a:t>Deductions confirmed by the insurer are taken from the amount due of its next batch (FR-OP-035).</a:t>
                      </a:r>
                    </a:p>
                  </a:txBody>
                  <a:tcPr marL="54864" marR="54864" marT="27432" marB="27432">
                    <a:solidFill>
                      <a:srgbClr val="FFFF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Submits the batch in review for approval, then tries to approve it</a:t>
                      </a:r>
                    </a:p>
                  </a:txBody>
                  <a:tcPr marL="54864" marR="54864" marT="27432" marB="27432">
                    <a:solidFill>
                      <a:srgbClr val="FFFFFF"/>
                    </a:solidFill>
                  </a:tcPr>
                </a:tc>
                <a:tc>
                  <a:txBody>
                    <a:bodyPr/>
                    <a:lstStyle/>
                    <a:p>
                      <a:r>
                        <a:rPr sz="900" b="0">
                          <a:solidFill>
                            <a:srgbClr val="4B4B4B"/>
                          </a:solidFill>
                          <a:latin typeface="Arial"/>
                        </a:rPr>
                        <a:t>SCR-OP-26_wt-d-step-05.png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7</a:t>
                      </a:r>
                    </a:p>
                  </a:txBody>
                  <a:tcPr marL="54864" marR="54864" marT="27432" marB="27432">
                    <a:solidFill>
                      <a:srgbClr val="E5F5FF"/>
                    </a:solidFill>
                  </a:tcPr>
                </a:tc>
                <a:tc>
                  <a:txBody>
                    <a:bodyPr/>
                    <a:lstStyle/>
                    <a:p>
                      <a:r>
                        <a:rPr sz="900" b="0">
                          <a:solidFill>
                            <a:srgbClr val="4B4B4B"/>
                          </a:solidFill>
                          <a:latin typeface="Arial"/>
                        </a:rPr>
                        <a:t>Opens the batch from For Approval and clicks Approve and Push</a:t>
                      </a:r>
                    </a:p>
                  </a:txBody>
                  <a:tcPr marL="54864" marR="54864" marT="27432" marB="27432">
                    <a:solidFill>
                      <a:srgbClr val="E5F5FF"/>
                    </a:solidFill>
                  </a:tcPr>
                </a:tc>
                <a:tc>
                  <a:txBody>
                    <a:bodyPr/>
                    <a:lstStyle/>
                    <a:p>
                      <a:r>
                        <a:rPr sz="900" b="0">
                          <a:solidFill>
                            <a:srgbClr val="4B4B4B"/>
                          </a:solidFill>
                          <a:latin typeface="Arial"/>
                        </a:rPr>
                        <a:t>SCR-OP-26_wt-a-step-07.png</a:t>
                      </a:r>
                    </a:p>
                  </a:txBody>
                  <a:tcPr marL="54864" marR="54864" marT="27432" marB="27432">
                    <a:solidFill>
                      <a:srgbClr val="E5F5FF"/>
                    </a:solidFill>
                  </a:tcPr>
                </a:tc>
              </a:tr>
              <a:tr h="36576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6</a:t>
                      </a:r>
                    </a:p>
                  </a:txBody>
                  <a:tcPr marL="54864" marR="54864" marT="27432" marB="27432">
                    <a:solidFill>
                      <a:srgbClr val="FFFFFF"/>
                    </a:solidFill>
                  </a:tcPr>
                </a:tc>
                <a:tc>
                  <a:txBody>
                    <a:bodyPr/>
                    <a:lstStyle/>
                    <a:p>
                      <a:r>
                        <a:rPr sz="900" b="0">
                          <a:solidFill>
                            <a:srgbClr val="4B4B4B"/>
                          </a:solidFill>
                          <a:latin typeface="Arial"/>
                        </a:rPr>
                        <a:t>Opens the batch, checks the totals strip and the account, clicks Preview and Submit and submits the batch</a:t>
                      </a:r>
                    </a:p>
                  </a:txBody>
                  <a:tcPr marL="54864" marR="54864" marT="27432" marB="27432">
                    <a:solidFill>
                      <a:srgbClr val="FFFFFF"/>
                    </a:solidFill>
                  </a:tcPr>
                </a:tc>
                <a:tc>
                  <a:txBody>
                    <a:bodyPr/>
                    <a:lstStyle/>
                    <a:p>
                      <a:r>
                        <a:rPr sz="900" b="0">
                          <a:solidFill>
                            <a:srgbClr val="4B4B4B"/>
                          </a:solidFill>
                          <a:latin typeface="Arial"/>
                        </a:rPr>
                        <a:t>SCR-OP-26_wt-a-step-06.png</a:t>
                      </a:r>
                    </a:p>
                  </a:txBody>
                  <a:tcPr marL="54864" marR="54864" marT="27432" marB="27432">
                    <a:solidFill>
                      <a:srgbClr val="FFFFFF"/>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2.png"/>
          <p:cNvPicPr>
            <a:picLocks noChangeAspect="1"/>
          </p:cNvPicPr>
          <p:nvPr/>
        </p:nvPicPr>
        <p:blipFill>
          <a:blip r:embed="rId3"/>
          <a:stretch>
            <a:fillRect/>
          </a:stretch>
        </p:blipFill>
        <p:spPr>
          <a:xfrm>
            <a:off x="548640" y="1261872"/>
            <a:ext cx="11094415" cy="464391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in review: workflow header, totals strip and the accounts (part 1 of 2)</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3.png"/>
          <p:cNvPicPr>
            <a:picLocks noChangeAspect="1"/>
          </p:cNvPicPr>
          <p:nvPr/>
        </p:nvPicPr>
        <p:blipFill>
          <a:blip r:embed="rId3"/>
          <a:stretch>
            <a:fillRect/>
          </a:stretch>
        </p:blipFill>
        <p:spPr>
          <a:xfrm>
            <a:off x="548640" y="1261872"/>
            <a:ext cx="11094415" cy="409668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in review: workflow header, totals strip and the accounts (part 2 of 2)</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40354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1" name="Picture 10" descr="scr-op-26-02-preview.png"/>
          <p:cNvPicPr>
            <a:picLocks noChangeAspect="1"/>
          </p:cNvPicPr>
          <p:nvPr/>
        </p:nvPicPr>
        <p:blipFill>
          <a:blip r:embed="rId3"/>
          <a:stretch>
            <a:fillRect/>
          </a:stretch>
        </p:blipFill>
        <p:spPr>
          <a:xfrm>
            <a:off x="2024266" y="1261872"/>
            <a:ext cx="8143162"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Preview Submission dialog with the totals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84.png"/>
          <p:cNvPicPr>
            <a:picLocks noChangeAspect="1"/>
          </p:cNvPicPr>
          <p:nvPr/>
        </p:nvPicPr>
        <p:blipFill>
          <a:blip r:embed="rId3"/>
          <a:stretch>
            <a:fillRect/>
          </a:stretch>
        </p:blipFill>
        <p:spPr>
          <a:xfrm>
            <a:off x="548640" y="1261872"/>
            <a:ext cx="11094415" cy="464766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1 of 3)</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85.png"/>
          <p:cNvPicPr>
            <a:picLocks noChangeAspect="1"/>
          </p:cNvPicPr>
          <p:nvPr/>
        </p:nvPicPr>
        <p:blipFill>
          <a:blip r:embed="rId3"/>
          <a:stretch>
            <a:fillRect/>
          </a:stretch>
        </p:blipFill>
        <p:spPr>
          <a:xfrm>
            <a:off x="548640" y="1261872"/>
            <a:ext cx="11094415" cy="410043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2 of 3)</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86.png"/>
          <p:cNvPicPr>
            <a:picLocks noChangeAspect="1"/>
          </p:cNvPicPr>
          <p:nvPr/>
        </p:nvPicPr>
        <p:blipFill>
          <a:blip r:embed="rId3"/>
          <a:stretch>
            <a:fillRect/>
          </a:stretch>
        </p:blipFill>
        <p:spPr>
          <a:xfrm>
            <a:off x="548640" y="1261872"/>
            <a:ext cx="11094415" cy="156671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3 of 3)</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v2.1-04</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87.png"/>
          <p:cNvPicPr>
            <a:picLocks noChangeAspect="1"/>
          </p:cNvPicPr>
          <p:nvPr/>
        </p:nvPicPr>
        <p:blipFill>
          <a:blip r:embed="rId3"/>
          <a:stretch>
            <a:fillRect/>
          </a:stretch>
        </p:blipFill>
        <p:spPr>
          <a:xfrm>
            <a:off x="808054" y="1261872"/>
            <a:ext cx="10575586" cy="473192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Documents and Receipts tab: schedule, payment request and the ORs</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Uploads the remittance schedules returned by the insurers with their official receipts: each row sets the insurer OR on its batch line, compares the OR amount with the paid premium and closes the batch when every line has its OR; the upload history lists each run with its records.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Insurer OR Upload</a:t>
                      </a:r>
                    </a:p>
                    <a:p>
                      <a:r>
                        <a:rPr sz="950" b="0">
                          <a:solidFill>
                            <a:srgbClr val="4B4B4B"/>
                          </a:solidFill>
                          <a:latin typeface="Arial"/>
                        </a:rPr>
                        <a:t>Remittance Workbench › Awaiting Insurer OR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official receipts are recorded against every remitted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Insurer Schedule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Batch number, invoice number, OR number, OR date and OR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Insurer Schedule</a:t>
                      </a:r>
                    </a:p>
                  </a:txBody>
                  <a:tcPr marL="54864" marR="54864" marT="27432" marB="27432">
                    <a:solidFill>
                      <a:srgbClr val="E5F5FF"/>
                    </a:solidFill>
                  </a:tcPr>
                </a:tc>
                <a:tc>
                  <a:txBody>
                    <a:bodyPr/>
                    <a:lstStyle/>
                    <a:p>
                      <a:r>
                        <a:rPr sz="850" b="0">
                          <a:solidFill>
                            <a:srgbClr val="4B4B4B"/>
                          </a:solidFill>
                          <a:latin typeface="Arial"/>
                        </a:rPr>
                        <a:t>Insurer Schedule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Excel template, or a CSV or text file with its columns (Batch No., Invoice No., OR No., OR Date, OR Amount), dates as dd-MMM-yyyy; max 20 MB</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record already received is refused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History</a:t>
                      </a:r>
                    </a:p>
                  </a:txBody>
                  <a:tcPr marL="54864" marR="54864" marT="27432" marB="27432">
                    <a:solidFill>
                      <a:srgbClr val="FFFFFF"/>
                    </a:solidFill>
                  </a:tcPr>
                </a:tc>
                <a:tc>
                  <a:txBody>
                    <a:bodyPr/>
                    <a:lstStyle/>
                    <a:p>
                      <a:r>
                        <a:rPr sz="850" b="0">
                          <a:solidFill>
                            <a:srgbClr val="4B4B4B"/>
                          </a:solidFill>
                          <a:latin typeface="Arial"/>
                        </a:rPr>
                        <a:t>Upload Run / File / Status / Accepted / Failed / 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FIR-yyyy-n; uploaded time and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run dialog</a:t>
                      </a:r>
                    </a:p>
                  </a:txBody>
                  <a:tcPr marL="54864" marR="54864" marT="27432" marB="27432">
                    <a:solidFill>
                      <a:srgbClr val="E5F5FF"/>
                    </a:solidFill>
                  </a:tcPr>
                </a:tc>
                <a:tc>
                  <a:txBody>
                    <a:bodyPr/>
                    <a:lstStyle/>
                    <a:p>
                      <a:r>
                        <a:rPr sz="850" b="0">
                          <a:solidFill>
                            <a:srgbClr val="4B4B4B"/>
                          </a:solidFill>
                          <a:latin typeface="Arial"/>
                        </a:rPr>
                        <a:t>Records Read / OR Matches Paid PR / Amount Mismatch / Refused</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run dialog</a:t>
                      </a:r>
                    </a:p>
                  </a:txBody>
                  <a:tcPr marL="54864" marR="54864" marT="27432" marB="27432">
                    <a:solidFill>
                      <a:srgbClr val="FFFFFF"/>
                    </a:solidFill>
                  </a:tcPr>
                </a:tc>
                <a:tc>
                  <a:txBody>
                    <a:bodyPr/>
                    <a:lstStyle/>
                    <a:p>
                      <a:r>
                        <a:rPr sz="850" b="0">
                          <a:solidFill>
                            <a:srgbClr val="4B4B4B"/>
                          </a:solidFill>
                          <a:latin typeface="Arial"/>
                        </a:rPr>
                        <a:t>Batch No. / Invoice No. / OR No. / OR Date / OR Amount / Paid PR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Matched or Amount Mismatch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was updated by this upload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run dialog</a:t>
                      </a:r>
                    </a:p>
                  </a:txBody>
                  <a:tcPr marL="54864" marR="54864" marT="27432" marB="27432">
                    <a:solidFill>
                      <a:srgbClr val="E5F5FF"/>
                    </a:solidFill>
                  </a:tcPr>
                </a:tc>
                <a:tc>
                  <a:txBody>
                    <a:bodyPr/>
                    <a:lstStyle/>
                    <a:p>
                      <a:r>
                        <a:rPr sz="850" b="0">
                          <a:solidFill>
                            <a:srgbClr val="4B4B4B"/>
                          </a:solidFill>
                          <a:latin typeface="Arial"/>
                        </a:rPr>
                        <a:t>Record / Result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records refused with the reason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Upload File</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Records the insurer ORs on the batch lines</a:t>
                      </a:r>
                    </a:p>
                  </a:txBody>
                  <a:tcPr marL="54864" marR="54864" marT="27432" marB="27432">
                    <a:solidFill>
                      <a:srgbClr val="FFFFFF"/>
                    </a:solidFill>
                  </a:tcPr>
                </a:tc>
                <a:tc>
                  <a:txBody>
                    <a:bodyPr/>
                    <a:lstStyle/>
                    <a:p>
                      <a:r>
                        <a:rPr sz="850" b="0">
                          <a:solidFill>
                            <a:srgbClr val="4B4B4B"/>
                          </a:solidFill>
                          <a:latin typeface="Arial"/>
                        </a:rPr>
                        <a:t>Batch Insurer OR received when every line has its 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records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OR amount is compared exactly with the paid premium of the invoice; a difference is Amount Mismatch and is listed in the exception report (FR-OP-037).</a:t>
                      </a:r>
                    </a:p>
                  </a:txBody>
                  <a:tcPr marL="54864" marR="54864" marT="27432" marB="27432">
                    <a:solidFill>
                      <a:srgbClr val="FFFFFF"/>
                    </a:solidFill>
                  </a:tcPr>
                </a:tc>
              </a:tr>
              <a:tr h="243840">
                <a:tc>
                  <a:txBody>
                    <a:bodyPr/>
                    <a:lstStyle/>
                    <a:p>
                      <a:r>
                        <a:rPr sz="1000" b="0">
                          <a:solidFill>
                            <a:srgbClr val="4B4B4B"/>
                          </a:solidFill>
                          <a:latin typeface="Arial"/>
                        </a:rPr>
                        <a:t>Duplicates and lines excluded from the batch are refused record by record (FR-OP-037).</a:t>
                      </a:r>
                    </a:p>
                  </a:txBody>
                  <a:tcPr marL="54864" marR="54864" marT="27432" marB="27432">
                    <a:solidFill>
                      <a:srgbClr val="E5F5FF"/>
                    </a:solidFill>
                  </a:tcPr>
                </a:tc>
              </a:tr>
            </a:tbl>
          </a:graphicData>
        </a:graphic>
      </p:graphicFrame>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9</a:t>
                      </a:r>
                    </a:p>
                  </a:txBody>
                  <a:tcPr marL="54864" marR="54864" marT="27432" marB="27432">
                    <a:solidFill>
                      <a:srgbClr val="FFFFFF"/>
                    </a:solidFill>
                  </a:tcPr>
                </a:tc>
                <a:tc>
                  <a:txBody>
                    <a:bodyPr/>
                    <a:lstStyle/>
                    <a:p>
                      <a:r>
                        <a:rPr sz="900" b="0">
                          <a:solidFill>
                            <a:srgbClr val="4B4B4B"/>
                          </a:solidFill>
                          <a:latin typeface="Arial"/>
                        </a:rPr>
                        <a:t>Uploads the insurer's schedule with its OR number and opens the upload run</a:t>
                      </a:r>
                    </a:p>
                  </a:txBody>
                  <a:tcPr marL="54864" marR="54864" marT="27432" marB="27432">
                    <a:solidFill>
                      <a:srgbClr val="FFFFFF"/>
                    </a:solidFill>
                  </a:tcPr>
                </a:tc>
                <a:tc>
                  <a:txBody>
                    <a:bodyPr/>
                    <a:lstStyle/>
                    <a:p>
                      <a:r>
                        <a:rPr sz="900" b="0">
                          <a:solidFill>
                            <a:srgbClr val="4B4B4B"/>
                          </a:solidFill>
                          <a:latin typeface="Arial"/>
                        </a:rPr>
                        <a:t>SCR-OP-27_wt-a-step-09.png</a:t>
                      </a:r>
                    </a:p>
                  </a:txBody>
                  <a:tcPr marL="54864" marR="54864" marT="27432" marB="27432">
                    <a:solidFill>
                      <a:srgbClr val="FFFFFF"/>
                    </a:solidFill>
                  </a:tcPr>
                </a:tc>
              </a:tr>
            </a:tbl>
          </a:graphicData>
        </a:graphic>
      </p:graphicFrame>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8.png"/>
          <p:cNvPicPr>
            <a:picLocks noChangeAspect="1"/>
          </p:cNvPicPr>
          <p:nvPr/>
        </p:nvPicPr>
        <p:blipFill>
          <a:blip r:embed="rId3"/>
          <a:stretch>
            <a:fillRect/>
          </a:stretch>
        </p:blipFill>
        <p:spPr>
          <a:xfrm>
            <a:off x="548640" y="1261872"/>
            <a:ext cx="11094415" cy="42943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OR Upload with the upload history (part 1 of 2)</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23527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OR Upload with the upload history (part 2 of 2)</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1 of 3)</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2 of 3)</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2.png"/>
          <p:cNvPicPr>
            <a:picLocks noChangeAspect="1"/>
          </p:cNvPicPr>
          <p:nvPr/>
        </p:nvPicPr>
        <p:blipFill>
          <a:blip r:embed="rId3"/>
          <a:stretch>
            <a:fillRect/>
          </a:stretch>
        </p:blipFill>
        <p:spPr>
          <a:xfrm>
            <a:off x="548640" y="1261872"/>
            <a:ext cx="11094415" cy="18458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3 of 3)</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Hold requests from Marketing that keep an invoice out of remittance until a date: approval, assignment to a processor, extension, cancellation and release; requests from the Collection file are uploaded here.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Holds</a:t>
                      </a:r>
                    </a:p>
                    <a:p>
                      <a:r>
                        <a:rPr sz="950" b="0">
                          <a:solidFill>
                            <a:srgbClr val="4B4B4B"/>
                          </a:solidFill>
                          <a:latin typeface="Arial"/>
                        </a:rPr>
                        <a:t>Remittance Workbench › Holds for Approval and Active Holds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keeps an invoice out of remittance until a date, with approval.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25880"/>
          <a:ext cx="11094411" cy="302512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Approval / Active Holds / Drafts / Released and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Hold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Hold No. / Invoice No. / Name of Assured / Insurer / Reason / Hold Until / Processor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HLD-yyyy-n with the requester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Hold Request dialog</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 one live hold per invoice</a:t>
                      </a:r>
                    </a:p>
                  </a:txBody>
                  <a:tcPr marL="54864" marR="54864" marT="27432" marB="27432">
                    <a:solidFill>
                      <a:srgbClr val="E5F5FF"/>
                    </a:solidFill>
                  </a:tcPr>
                </a:tc>
                <a:tc>
                  <a:txBody>
                    <a:bodyPr/>
                    <a:lstStyle/>
                    <a:p>
                      <a:r>
                        <a:rPr sz="850" b="0">
                          <a:solidFill>
                            <a:srgbClr val="4B4B4B"/>
                          </a:solidFill>
                          <a:latin typeface="Arial"/>
                        </a:rPr>
                        <a:t>Invoice No. is required</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Hold Request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Hold Request dialog</a:t>
                      </a:r>
                    </a:p>
                  </a:txBody>
                  <a:tcPr marL="54864" marR="54864" marT="27432" marB="27432">
                    <a:solidFill>
                      <a:srgbClr val="E5F5FF"/>
                    </a:solidFill>
                  </a:tcPr>
                </a:tc>
                <a:tc>
                  <a:txBody>
                    <a:bodyPr/>
                    <a:lstStyle/>
                    <a:p>
                      <a:r>
                        <a:rPr sz="850" b="0">
                          <a:solidFill>
                            <a:srgbClr val="4B4B4B"/>
                          </a:solidFill>
                          <a:latin typeface="Arial"/>
                        </a:rPr>
                        <a:t>Hold Until</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after today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future date</a:t>
                      </a:r>
                    </a:p>
                  </a:txBody>
                  <a:tcPr marL="54864" marR="54864" marT="27432" marB="27432">
                    <a:solidFill>
                      <a:srgbClr val="E5F5FF"/>
                    </a:solidFill>
                  </a:tcPr>
                </a:tc>
                <a:tc>
                  <a:txBody>
                    <a:bodyPr/>
                    <a:lstStyle/>
                    <a:p>
                      <a:r>
                        <a:rPr sz="850" b="0">
                          <a:solidFill>
                            <a:srgbClr val="4B4B4B"/>
                          </a:solidFill>
                          <a:latin typeface="Arial"/>
                        </a:rPr>
                        <a:t>Hold Until is required / Hold Until must be a future date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Hold Request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Collection Hold File</a:t>
                      </a:r>
                    </a:p>
                  </a:txBody>
                  <a:tcPr marL="54864" marR="54864" marT="27432" marB="27432">
                    <a:solidFill>
                      <a:srgbClr val="E5F5FF"/>
                    </a:solidFill>
                  </a:tcPr>
                </a:tc>
                <a:tc>
                  <a:txBody>
                    <a:bodyPr/>
                    <a:lstStyle/>
                    <a:p>
                      <a:r>
                        <a:rPr sz="850" b="0">
                          <a:solidFill>
                            <a:srgbClr val="4B4B4B"/>
                          </a:solidFill>
                          <a:latin typeface="Arial"/>
                        </a:rPr>
                        <a:t>Hold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Excel template, or a CSV or text file with its columns (Invoice No., Reason Code, Hold Until, Remarks), dates as 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Hold Request</a:t>
                      </a:r>
                    </a:p>
                  </a:txBody>
                  <a:tcPr marL="54864" marR="54864" marT="27432" marB="27432">
                    <a:solidFill>
                      <a:srgbClr val="FFFFFF"/>
                    </a:solidFill>
                  </a:tcPr>
                </a:tc>
                <a:tc>
                  <a:txBody>
                    <a:bodyPr/>
                    <a:lstStyle/>
                    <a:p>
                      <a:r>
                        <a:rPr sz="850" b="0">
                          <a:solidFill>
                            <a:srgbClr val="4B4B4B"/>
                          </a:solidFill>
                          <a:latin typeface="Arial"/>
                        </a:rPr>
                        <a:t>Marketing Collection, Marketing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the hold request in draft and submits it</a:t>
                      </a:r>
                    </a:p>
                  </a:txBody>
                  <a:tcPr marL="54864" marR="54864" marT="27432" marB="27432">
                    <a:solidFill>
                      <a:srgbClr val="FFFFFF"/>
                    </a:solidFill>
                  </a:tcPr>
                </a:tc>
                <a:tc>
                  <a:txBody>
                    <a:bodyPr/>
                    <a:lstStyle/>
                    <a:p>
                      <a:r>
                        <a:rPr sz="850" b="0">
                          <a:solidFill>
                            <a:srgbClr val="4B4B4B"/>
                          </a:solidFill>
                          <a:latin typeface="Arial"/>
                        </a:rPr>
                        <a:t>Hold for approval</a:t>
                      </a:r>
                    </a:p>
                  </a:txBody>
                  <a:tcPr marL="54864" marR="54864" marT="27432" marB="27432">
                    <a:solidFill>
                      <a:srgbClr val="FFFFFF"/>
                    </a:solidFill>
                  </a:tcPr>
                </a:tc>
                <a:tc>
                  <a:txBody>
                    <a:bodyPr/>
                    <a:lstStyle/>
                    <a:p>
                      <a:r>
                        <a:rPr sz="850" b="0">
                          <a:solidFill>
                            <a:srgbClr val="4B4B4B"/>
                          </a:solidFill>
                          <a:latin typeface="Arial"/>
                        </a:rPr>
                        <a:t>Hold for approval notice (NT-14)</a:t>
                      </a:r>
                    </a:p>
                  </a:txBody>
                  <a:tcPr marL="54864" marR="54864" marT="27432" marB="27432">
                    <a:solidFill>
                      <a:srgbClr val="FFFFFF"/>
                    </a:solidFill>
                  </a:tcPr>
                </a:tc>
              </a:tr>
              <a:tr h="350518">
                <a:tc>
                  <a:txBody>
                    <a:bodyPr/>
                    <a:lstStyle/>
                    <a:p>
                      <a:r>
                        <a:rPr sz="850" b="0">
                          <a:solidFill>
                            <a:srgbClr val="4B4B4B"/>
                          </a:solidFill>
                          <a:latin typeface="Arial"/>
                        </a:rPr>
                        <a:t>Upload Hold File</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Creates the hold requests of the Collection file</a:t>
                      </a:r>
                    </a:p>
                  </a:txBody>
                  <a:tcPr marL="54864" marR="54864" marT="27432" marB="27432">
                    <a:solidFill>
                      <a:srgbClr val="E5F5FF"/>
                    </a:solidFill>
                  </a:tcPr>
                </a:tc>
                <a:tc>
                  <a:txBody>
                    <a:bodyPr/>
                    <a:lstStyle/>
                    <a:p>
                      <a:r>
                        <a:rPr sz="850" b="0">
                          <a:solidFill>
                            <a:srgbClr val="4B4B4B"/>
                          </a:solidFill>
                          <a:latin typeface="Arial"/>
                        </a:rPr>
                        <a:t>Hold for approval</a:t>
                      </a:r>
                    </a:p>
                  </a:txBody>
                  <a:tcPr marL="54864" marR="54864" marT="27432" marB="27432">
                    <a:solidFill>
                      <a:srgbClr val="E5F5FF"/>
                    </a:solidFill>
                  </a:tcPr>
                </a:tc>
                <a:tc>
                  <a:txBody>
                    <a:bodyPr/>
                    <a:lstStyle/>
                    <a:p>
                      <a:r>
                        <a:rPr sz="850" b="0">
                          <a:solidFill>
                            <a:srgbClr val="4B4B4B"/>
                          </a:solidFill>
                          <a:latin typeface="Arial"/>
                        </a:rPr>
                        <a:t>Hold for approval notice (NT-14)</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hold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live hold request per invoice (FR-OP-111).</a:t>
                      </a:r>
                    </a:p>
                  </a:txBody>
                  <a:tcPr marL="54864" marR="54864" marT="27432" marB="27432">
                    <a:solidFill>
                      <a:srgbClr val="FFFFFF"/>
                    </a:solidFill>
                  </a:tcPr>
                </a:tc>
              </a:tr>
              <a:tr h="243840">
                <a:tc>
                  <a:txBody>
                    <a:bodyPr/>
                    <a:lstStyle/>
                    <a:p>
                      <a:r>
                        <a:rPr sz="1000" b="0">
                          <a:solidFill>
                            <a:srgbClr val="4B4B4B"/>
                          </a:solidFill>
                          <a:latin typeface="Arial"/>
                        </a:rPr>
                        <a:t>A hold is approved by a Marketing Team Leader other than its requester (FR-OP-111).</a:t>
                      </a:r>
                    </a:p>
                  </a:txBody>
                  <a:tcPr marL="54864" marR="54864" marT="27432" marB="27432">
                    <a:solidFill>
                      <a:srgbClr val="E5F5FF"/>
                    </a:solidFill>
                  </a:tcPr>
                </a:tc>
              </a:tr>
            </a:tbl>
          </a:graphicData>
        </a:graphic>
      </p:graphicFrame>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3.png"/>
          <p:cNvPicPr>
            <a:picLocks noChangeAspect="1"/>
          </p:cNvPicPr>
          <p:nvPr/>
        </p:nvPicPr>
        <p:blipFill>
          <a:blip r:embed="rId3"/>
          <a:stretch>
            <a:fillRect/>
          </a:stretch>
        </p:blipFill>
        <p:spPr>
          <a:xfrm>
            <a:off x="548640" y="1261872"/>
            <a:ext cx="11094415" cy="44541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Hold Request dialog (part 1 of 2)</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4.png"/>
          <p:cNvPicPr>
            <a:picLocks noChangeAspect="1"/>
          </p:cNvPicPr>
          <p:nvPr/>
        </p:nvPicPr>
        <p:blipFill>
          <a:blip r:embed="rId3"/>
          <a:stretch>
            <a:fillRect/>
          </a:stretch>
        </p:blipFill>
        <p:spPr>
          <a:xfrm>
            <a:off x="548640" y="1261872"/>
            <a:ext cx="11094415" cy="26070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Hold Request dialog (part 2 of 2)</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28-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Holds, For Approval tab</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Remittance Hold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hold request: invoice, insurer, hold date, requester and approver, processor, the hold workflow with its history and its actions (approve, reject, extend, cancel, release, assign).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Holds › Remittance Hold</a:t>
                      </a:r>
                    </a:p>
                    <a:p>
                      <a:r>
                        <a:rPr sz="950" b="0">
                          <a:solidFill>
                            <a:srgbClr val="4B4B4B"/>
                          </a:solidFill>
                          <a:latin typeface="Arial"/>
                        </a:rPr>
                        <a:t>Remittance Holds › open a row</a:t>
                      </a:r>
                    </a:p>
                    <a:p>
                      <a:r>
                        <a:rPr sz="950" b="0">
                          <a:solidFill>
                            <a:srgbClr val="4B4B4B"/>
                          </a:solidFill>
                          <a:latin typeface="Arial"/>
                        </a:rPr>
                        <a:t>Invoice 360 › Remittances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hold is decided, extended, cancelled or released with its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Hold chip and stage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HLD-yyyy-n; the Collection File tag for a hold from the Collection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Invoice / Insurer / Hold Until / Requested / Approved By / Processor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Hold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Hold request draft, Hold for approval, On hold, Released; extension and cancellation for approval, Rejected and Cancelled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Extension dialog</a:t>
                      </a:r>
                    </a:p>
                  </a:txBody>
                  <a:tcPr marL="54864" marR="54864" marT="27432" marB="27432">
                    <a:solidFill>
                      <a:srgbClr val="E5F5FF"/>
                    </a:solidFill>
                  </a:tcPr>
                </a:tc>
                <a:tc>
                  <a:txBody>
                    <a:bodyPr/>
                    <a:lstStyle/>
                    <a:p>
                      <a:r>
                        <a:rPr sz="850" b="0">
                          <a:solidFill>
                            <a:srgbClr val="4B4B4B"/>
                          </a:solidFill>
                          <a:latin typeface="Arial"/>
                        </a:rPr>
                        <a:t>New Hold Until / Comment</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After the current hold date</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 later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Assign to Processor dialog</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Remittance processors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Chosen</a:t>
                      </a:r>
                    </a:p>
                  </a:txBody>
                  <a:tcPr marL="54864" marR="54864" marT="27432" marB="27432">
                    <a:solidFill>
                      <a:srgbClr val="FFFFFF"/>
                    </a:solidFill>
                  </a:tcPr>
                </a:tc>
                <a:tc>
                  <a:txBody>
                    <a:bodyPr/>
                    <a:lstStyle/>
                    <a:p>
                      <a:r>
                        <a:rPr sz="850" b="0">
                          <a:solidFill>
                            <a:srgbClr val="4B4B4B"/>
                          </a:solidFill>
                          <a:latin typeface="Arial"/>
                        </a:rPr>
                        <a:t>Select the remittance processor</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Approve hold / Reject hold</a:t>
                      </a:r>
                    </a:p>
                  </a:txBody>
                  <a:tcPr marL="54864" marR="54864" marT="27432" marB="27432">
                    <a:solidFill>
                      <a:srgbClr val="FFFFFF"/>
                    </a:solidFill>
                  </a:tcPr>
                </a:tc>
                <a:tc>
                  <a:txBody>
                    <a:bodyPr/>
                    <a:lstStyle/>
                    <a:p>
                      <a:r>
                        <a:rPr sz="850" b="0">
                          <a:solidFill>
                            <a:srgbClr val="4B4B4B"/>
                          </a:solidFill>
                          <a:latin typeface="Arial"/>
                        </a:rPr>
                        <a:t>Marketing Team Leader other than the requester</a:t>
                      </a:r>
                    </a:p>
                  </a:txBody>
                  <a:tcPr marL="54864" marR="54864" marT="27432" marB="27432">
                    <a:solidFill>
                      <a:srgbClr val="FFFFFF"/>
                    </a:solidFill>
                  </a:tcPr>
                </a:tc>
                <a:tc>
                  <a:txBody>
                    <a:bodyPr/>
                    <a:lstStyle/>
                    <a:p>
                      <a:r>
                        <a:rPr sz="850" b="0">
                          <a:solidFill>
                            <a:srgbClr val="4B4B4B"/>
                          </a:solidFill>
                          <a:latin typeface="Arial"/>
                        </a:rPr>
                        <a:t>Hold for approval</a:t>
                      </a:r>
                    </a:p>
                  </a:txBody>
                  <a:tcPr marL="54864" marR="54864" marT="27432" marB="27432">
                    <a:solidFill>
                      <a:srgbClr val="FFFFFF"/>
                    </a:solidFill>
                  </a:tcPr>
                </a:tc>
                <a:tc>
                  <a:txBody>
                    <a:bodyPr/>
                    <a:lstStyle/>
                    <a:p>
                      <a:r>
                        <a:rPr sz="850" b="0">
                          <a:solidFill>
                            <a:srgbClr val="4B4B4B"/>
                          </a:solidFill>
                          <a:latin typeface="Arial"/>
                        </a:rPr>
                        <a:t>Approves the hold (the invoice is flagged On Hold) or rejects it</a:t>
                      </a:r>
                    </a:p>
                  </a:txBody>
                  <a:tcPr marL="54864" marR="54864" marT="27432" marB="27432">
                    <a:solidFill>
                      <a:srgbClr val="FFFFFF"/>
                    </a:solidFill>
                  </a:tcPr>
                </a:tc>
                <a:tc>
                  <a:txBody>
                    <a:bodyPr/>
                    <a:lstStyle/>
                    <a:p>
                      <a:r>
                        <a:rPr sz="850" b="0">
                          <a:solidFill>
                            <a:srgbClr val="4B4B4B"/>
                          </a:solidFill>
                          <a:latin typeface="Arial"/>
                        </a:rPr>
                        <a:t>On hold / Rejected</a:t>
                      </a:r>
                    </a:p>
                  </a:txBody>
                  <a:tcPr marL="54864" marR="54864" marT="27432" marB="27432">
                    <a:solidFill>
                      <a:srgbClr val="FFFFFF"/>
                    </a:solidFill>
                  </a:tcPr>
                </a:tc>
                <a:tc>
                  <a:txBody>
                    <a:bodyPr/>
                    <a:lstStyle/>
                    <a:p>
                      <a:r>
                        <a:rPr sz="850" b="0">
                          <a:solidFill>
                            <a:srgbClr val="4B4B4B"/>
                          </a:solidFill>
                          <a:latin typeface="Arial"/>
                        </a:rPr>
                        <a:t>Hold decided notice (NT-14)</a:t>
                      </a:r>
                    </a:p>
                  </a:txBody>
                  <a:tcPr marL="54864" marR="54864" marT="27432" marB="27432">
                    <a:solidFill>
                      <a:srgbClr val="FFFFFF"/>
                    </a:solidFill>
                  </a:tcPr>
                </a:tc>
              </a:tr>
              <a:tr h="480057">
                <a:tc>
                  <a:txBody>
                    <a:bodyPr/>
                    <a:lstStyle/>
                    <a:p>
                      <a:r>
                        <a:rPr sz="850" b="0">
                          <a:solidFill>
                            <a:srgbClr val="4B4B4B"/>
                          </a:solidFill>
                          <a:latin typeface="Arial"/>
                        </a:rPr>
                        <a:t>Request extension / Approve extension / Reject extension</a:t>
                      </a:r>
                    </a:p>
                  </a:txBody>
                  <a:tcPr marL="54864" marR="54864" marT="27432" marB="27432">
                    <a:solidFill>
                      <a:srgbClr val="E5F5FF"/>
                    </a:solidFill>
                  </a:tcPr>
                </a:tc>
                <a:tc>
                  <a:txBody>
                    <a:bodyPr/>
                    <a:lstStyle/>
                    <a:p>
                      <a:r>
                        <a:rPr sz="850" b="0">
                          <a:solidFill>
                            <a:srgbClr val="4B4B4B"/>
                          </a:solidFill>
                          <a:latin typeface="Arial"/>
                        </a:rPr>
                        <a:t>Requester / Marketing Team Leader</a:t>
                      </a:r>
                    </a:p>
                  </a:txBody>
                  <a:tcPr marL="54864" marR="54864" marT="27432" marB="27432">
                    <a:solidFill>
                      <a:srgbClr val="E5F5FF"/>
                    </a:solidFill>
                  </a:tcPr>
                </a:tc>
                <a:tc>
                  <a:txBody>
                    <a:bodyPr/>
                    <a:lstStyle/>
                    <a:p>
                      <a:r>
                        <a:rPr sz="850" b="0">
                          <a:solidFill>
                            <a:srgbClr val="4B4B4B"/>
                          </a:solidFill>
                          <a:latin typeface="Arial"/>
                        </a:rPr>
                        <a:t>On hold / Extension for approval</a:t>
                      </a:r>
                    </a:p>
                  </a:txBody>
                  <a:tcPr marL="54864" marR="54864" marT="27432" marB="27432">
                    <a:solidFill>
                      <a:srgbClr val="E5F5FF"/>
                    </a:solidFill>
                  </a:tcPr>
                </a:tc>
                <a:tc>
                  <a:txBody>
                    <a:bodyPr/>
                    <a:lstStyle/>
                    <a:p>
                      <a:r>
                        <a:rPr sz="850" b="0">
                          <a:solidFill>
                            <a:srgbClr val="4B4B4B"/>
                          </a:solidFill>
                          <a:latin typeface="Arial"/>
                        </a:rPr>
                        <a:t>Moves the hold date on approval</a:t>
                      </a:r>
                    </a:p>
                  </a:txBody>
                  <a:tcPr marL="54864" marR="54864" marT="27432" marB="27432">
                    <a:solidFill>
                      <a:srgbClr val="E5F5FF"/>
                    </a:solidFill>
                  </a:tcPr>
                </a:tc>
                <a:tc>
                  <a:txBody>
                    <a:bodyPr/>
                    <a:lstStyle/>
                    <a:p>
                      <a:r>
                        <a:rPr sz="850" b="0">
                          <a:solidFill>
                            <a:srgbClr val="4B4B4B"/>
                          </a:solidFill>
                          <a:latin typeface="Arial"/>
                        </a:rPr>
                        <a:t>Extension for approval / On hold</a:t>
                      </a:r>
                    </a:p>
                  </a:txBody>
                  <a:tcPr marL="54864" marR="54864" marT="27432" marB="27432">
                    <a:solidFill>
                      <a:srgbClr val="E5F5FF"/>
                    </a:solidFill>
                  </a:tcPr>
                </a:tc>
                <a:tc>
                  <a:txBody>
                    <a:bodyPr/>
                    <a:lstStyle/>
                    <a:p>
                      <a:r>
                        <a:rPr sz="850" b="0">
                          <a:solidFill>
                            <a:srgbClr val="4B4B4B"/>
                          </a:solidFill>
                          <a:latin typeface="Arial"/>
                        </a:rPr>
                        <a:t>Hold for approval notice (NT-14)</a:t>
                      </a:r>
                    </a:p>
                  </a:txBody>
                  <a:tcPr marL="54864" marR="54864" marT="27432" marB="27432">
                    <a:solidFill>
                      <a:srgbClr val="E5F5FF"/>
                    </a:solidFill>
                  </a:tcPr>
                </a:tc>
              </a:tr>
              <a:tr h="480057">
                <a:tc>
                  <a:txBody>
                    <a:bodyPr/>
                    <a:lstStyle/>
                    <a:p>
                      <a:r>
                        <a:rPr sz="850" b="0">
                          <a:solidFill>
                            <a:srgbClr val="4B4B4B"/>
                          </a:solidFill>
                          <a:latin typeface="Arial"/>
                        </a:rPr>
                        <a:t>Request cancellation / Approve cancellation / Reject cancellation</a:t>
                      </a:r>
                    </a:p>
                  </a:txBody>
                  <a:tcPr marL="54864" marR="54864" marT="27432" marB="27432">
                    <a:solidFill>
                      <a:srgbClr val="FFFFFF"/>
                    </a:solidFill>
                  </a:tcPr>
                </a:tc>
                <a:tc>
                  <a:txBody>
                    <a:bodyPr/>
                    <a:lstStyle/>
                    <a:p>
                      <a:r>
                        <a:rPr sz="850" b="0">
                          <a:solidFill>
                            <a:srgbClr val="4B4B4B"/>
                          </a:solidFill>
                          <a:latin typeface="Arial"/>
                        </a:rPr>
                        <a:t>Requester / Marketing Team Leader</a:t>
                      </a:r>
                    </a:p>
                  </a:txBody>
                  <a:tcPr marL="54864" marR="54864" marT="27432" marB="27432">
                    <a:solidFill>
                      <a:srgbClr val="FFFFFF"/>
                    </a:solidFill>
                  </a:tcPr>
                </a:tc>
                <a:tc>
                  <a:txBody>
                    <a:bodyPr/>
                    <a:lstStyle/>
                    <a:p>
                      <a:r>
                        <a:rPr sz="850" b="0">
                          <a:solidFill>
                            <a:srgbClr val="4B4B4B"/>
                          </a:solidFill>
                          <a:latin typeface="Arial"/>
                        </a:rPr>
                        <a:t>On hold / Cancellation for approval</a:t>
                      </a:r>
                    </a:p>
                  </a:txBody>
                  <a:tcPr marL="54864" marR="54864" marT="27432" marB="27432">
                    <a:solidFill>
                      <a:srgbClr val="FFFFFF"/>
                    </a:solidFill>
                  </a:tcPr>
                </a:tc>
                <a:tc>
                  <a:txBody>
                    <a:bodyPr/>
                    <a:lstStyle/>
                    <a:p>
                      <a:r>
                        <a:rPr sz="850" b="0">
                          <a:solidFill>
                            <a:srgbClr val="4B4B4B"/>
                          </a:solidFill>
                          <a:latin typeface="Arial"/>
                        </a:rPr>
                        <a:t>Ends the hold on approval</a:t>
                      </a:r>
                    </a:p>
                  </a:txBody>
                  <a:tcPr marL="54864" marR="54864" marT="27432" marB="27432">
                    <a:solidFill>
                      <a:srgbClr val="FFFFFF"/>
                    </a:solidFill>
                  </a:tcPr>
                </a:tc>
                <a:tc>
                  <a:txBody>
                    <a:bodyPr/>
                    <a:lstStyle/>
                    <a:p>
                      <a:r>
                        <a:rPr sz="850" b="0">
                          <a:solidFill>
                            <a:srgbClr val="4B4B4B"/>
                          </a:solidFill>
                          <a:latin typeface="Arial"/>
                        </a:rPr>
                        <a:t>Cancellation for approval / Cancelled</a:t>
                      </a:r>
                    </a:p>
                  </a:txBody>
                  <a:tcPr marL="54864" marR="54864" marT="27432" marB="27432">
                    <a:solidFill>
                      <a:srgbClr val="FFFFFF"/>
                    </a:solidFill>
                  </a:tcPr>
                </a:tc>
                <a:tc>
                  <a:txBody>
                    <a:bodyPr/>
                    <a:lstStyle/>
                    <a:p>
                      <a:r>
                        <a:rPr sz="850" b="0">
                          <a:solidFill>
                            <a:srgbClr val="4B4B4B"/>
                          </a:solidFill>
                          <a:latin typeface="Arial"/>
                        </a:rPr>
                        <a:t>Hold for approval notice (NT-14)</a:t>
                      </a:r>
                    </a:p>
                  </a:txBody>
                  <a:tcPr marL="54864" marR="54864" marT="27432" marB="27432">
                    <a:solidFill>
                      <a:srgbClr val="FFFFFF"/>
                    </a:solidFill>
                  </a:tcPr>
                </a:tc>
              </a:tr>
              <a:tr h="350518">
                <a:tc>
                  <a:txBody>
                    <a:bodyPr/>
                    <a:lstStyle/>
                    <a:p>
                      <a:r>
                        <a:rPr sz="850" b="0">
                          <a:solidFill>
                            <a:srgbClr val="4B4B4B"/>
                          </a:solidFill>
                          <a:latin typeface="Arial"/>
                        </a:rPr>
                        <a:t>Release hold</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On hold</a:t>
                      </a:r>
                    </a:p>
                  </a:txBody>
                  <a:tcPr marL="54864" marR="54864" marT="27432" marB="27432">
                    <a:solidFill>
                      <a:srgbClr val="E5F5FF"/>
                    </a:solidFill>
                  </a:tcPr>
                </a:tc>
                <a:tc>
                  <a:txBody>
                    <a:bodyPr/>
                    <a:lstStyle/>
                    <a:p>
                      <a:r>
                        <a:rPr sz="850" b="0">
                          <a:solidFill>
                            <a:srgbClr val="4B4B4B"/>
                          </a:solidFill>
                          <a:latin typeface="Arial"/>
                        </a:rPr>
                        <a:t>Releases the hold; the invoice is eligible for extraction again</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Assign to Processor</a:t>
                      </a:r>
                    </a:p>
                  </a:txBody>
                  <a:tcPr marL="54864" marR="54864" marT="27432" marB="27432">
                    <a:solidFill>
                      <a:srgbClr val="FFFFFF"/>
                    </a:solidFill>
                  </a:tcPr>
                </a:tc>
                <a:tc>
                  <a:txBody>
                    <a:bodyPr/>
                    <a:lstStyle/>
                    <a:p>
                      <a:r>
                        <a:rPr sz="850" b="0">
                          <a:solidFill>
                            <a:srgbClr val="4B4B4B"/>
                          </a:solidFill>
                          <a:latin typeface="Arial"/>
                        </a:rPr>
                        <a:t>Remittance Processor or Team Leader</a:t>
                      </a:r>
                    </a:p>
                  </a:txBody>
                  <a:tcPr marL="54864" marR="54864" marT="27432" marB="27432">
                    <a:solidFill>
                      <a:srgbClr val="FFFFFF"/>
                    </a:solidFill>
                  </a:tcPr>
                </a:tc>
                <a:tc>
                  <a:txBody>
                    <a:bodyPr/>
                    <a:lstStyle/>
                    <a:p>
                      <a:r>
                        <a:rPr sz="850" b="0">
                          <a:solidFill>
                            <a:srgbClr val="4B4B4B"/>
                          </a:solidFill>
                          <a:latin typeface="Arial"/>
                        </a:rPr>
                        <a:t>On hold</a:t>
                      </a:r>
                    </a:p>
                  </a:txBody>
                  <a:tcPr marL="54864" marR="54864" marT="27432" marB="27432">
                    <a:solidFill>
                      <a:srgbClr val="FFFFFF"/>
                    </a:solidFill>
                  </a:tcPr>
                </a:tc>
                <a:tc>
                  <a:txBody>
                    <a:bodyPr/>
                    <a:lstStyle/>
                    <a:p>
                      <a:r>
                        <a:rPr sz="850" b="0">
                          <a:solidFill>
                            <a:srgbClr val="4B4B4B"/>
                          </a:solidFill>
                          <a:latin typeface="Arial"/>
                        </a:rPr>
                        <a:t>Assigns the hold to a remittance processor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approved hold keeps the invoice out of the extraction until the hold date; the daily expiry job releases the holds whose date has passed and warns the day before (FR-OP-111).</a:t>
                      </a:r>
                    </a:p>
                  </a:txBody>
                  <a:tcPr marL="54864" marR="54864" marT="27432" marB="27432">
                    <a:solidFill>
                      <a:srgbClr val="FFFFFF"/>
                    </a:solidFill>
                  </a:tcPr>
                </a:tc>
              </a:tr>
              <a:tr h="243840">
                <a:tc>
                  <a:txBody>
                    <a:bodyPr/>
                    <a:lstStyle/>
                    <a:p>
                      <a:r>
                        <a:rPr sz="1000" b="0">
                          <a:solidFill>
                            <a:srgbClr val="4B4B4B"/>
                          </a:solidFill>
                          <a:latin typeface="Arial"/>
                        </a:rPr>
                        <a:t>The requester never approves the own hold, extension or cancellation (FR-OP-111).</a:t>
                      </a:r>
                    </a:p>
                  </a:txBody>
                  <a:tcPr marL="54864" marR="54864" marT="27432" marB="27432">
                    <a:solidFill>
                      <a:srgbClr val="E5F5FF"/>
                    </a:solidFill>
                  </a:tcPr>
                </a:tc>
              </a:tr>
            </a:tbl>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Marketing Collection raises a hold on the invoice with its reason and hold-until date; the Marketing Team Leader opens it and clicks Approve hold</a:t>
                      </a:r>
                    </a:p>
                  </a:txBody>
                  <a:tcPr marL="54864" marR="54864" marT="27432" marB="27432">
                    <a:solidFill>
                      <a:srgbClr val="FFFFFF"/>
                    </a:solidFill>
                  </a:tcPr>
                </a:tc>
                <a:tc>
                  <a:txBody>
                    <a:bodyPr/>
                    <a:lstStyle/>
                    <a:p>
                      <a:r>
                        <a:rPr sz="900" b="0">
                          <a:solidFill>
                            <a:srgbClr val="4B4B4B"/>
                          </a:solidFill>
                          <a:latin typeface="Arial"/>
                        </a:rPr>
                        <a:t>SCR-OP-29_wt-d-step-01.png</a:t>
                      </a:r>
                    </a:p>
                  </a:txBody>
                  <a:tcPr marL="54864" marR="54864" marT="27432" marB="27432">
                    <a:solidFill>
                      <a:srgbClr val="FFFFFF"/>
                    </a:solidFill>
                  </a:tcPr>
                </a:tc>
              </a:tr>
            </a:tbl>
          </a:graphicData>
        </a:graphic>
      </p:graphicFrame>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SCR-OP-29 Remittance Hold: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5.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request for approval with the workflow header (part 1 of 2)</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SCR-OP-29 Remittance Hold: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6.png"/>
          <p:cNvPicPr>
            <a:picLocks noChangeAspect="1"/>
          </p:cNvPicPr>
          <p:nvPr/>
        </p:nvPicPr>
        <p:blipFill>
          <a:blip r:embed="rId3"/>
          <a:stretch>
            <a:fillRect/>
          </a:stretch>
        </p:blipFill>
        <p:spPr>
          <a:xfrm>
            <a:off x="548640" y="1261872"/>
            <a:ext cx="11094415" cy="236712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request for approval with the workflow header (part 2 of 2)</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Invoices Marketing asks to remit outside the regular schedule (for example for a claim), from the request to Disbursement: the requests by stage, the new request and the Collection file upload.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Special Remittance</a:t>
                      </a:r>
                    </a:p>
                    <a:p>
                      <a:r>
                        <a:rPr sz="950" b="0">
                          <a:solidFill>
                            <a:srgbClr val="4B4B4B"/>
                          </a:solidFill>
                          <a:latin typeface="Arial"/>
                        </a:rPr>
                        <a:t>Remittance Workbench › Special Remittances for Approval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FR-OP-040, FR-OP-112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asks for an invoice to be remitted ahead of the schedule.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Approval / In Process Remittance / Pushed to Disbursement / Rejected and Returned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 / Invoice No. / Name of Assured / Insurer / Condition / Requestor / Batch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SPR-yyyy-n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Special Remittance dialog</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Paid, cleared and not on hold</a:t>
                      </a:r>
                    </a:p>
                  </a:txBody>
                  <a:tcPr marL="54864" marR="54864" marT="27432" marB="27432">
                    <a:solidFill>
                      <a:srgbClr val="E5F5FF"/>
                    </a:solidFill>
                  </a:tcPr>
                </a:tc>
                <a:tc>
                  <a:txBody>
                    <a:bodyPr/>
                    <a:lstStyle/>
                    <a:p>
                      <a:r>
                        <a:rPr sz="850" b="0">
                          <a:solidFill>
                            <a:srgbClr val="4B4B4B"/>
                          </a:solidFill>
                          <a:latin typeface="Arial"/>
                        </a:rPr>
                        <a:t>Invoice No. is required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Special Remittance dialog</a:t>
                      </a:r>
                    </a:p>
                  </a:txBody>
                  <a:tcPr marL="54864" marR="54864" marT="27432" marB="27432">
                    <a:solidFill>
                      <a:srgbClr val="FFFFFF"/>
                    </a:solidFill>
                  </a:tcPr>
                </a:tc>
                <a:tc>
                  <a:txBody>
                    <a:bodyPr/>
                    <a:lstStyle/>
                    <a:p>
                      <a:r>
                        <a:rPr sz="850" b="0">
                          <a:solidFill>
                            <a:srgbClr val="4B4B4B"/>
                          </a:solidFill>
                          <a:latin typeface="Arial"/>
                        </a:rPr>
                        <a:t>Condition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claims condition needs an open claim awaiting the premium remittance</a:t>
                      </a:r>
                    </a:p>
                  </a:txBody>
                  <a:tcPr marL="54864" marR="54864" marT="27432" marB="27432">
                    <a:solidFill>
                      <a:srgbClr val="FFFFFF"/>
                    </a:solidFill>
                  </a:tcPr>
                </a:tc>
                <a:tc>
                  <a:txBody>
                    <a:bodyPr/>
                    <a:lstStyle/>
                    <a:p>
                      <a:r>
                        <a:rPr sz="850" b="0">
                          <a:solidFill>
                            <a:srgbClr val="4B4B4B"/>
                          </a:solidFill>
                          <a:latin typeface="Arial"/>
                        </a:rPr>
                        <a:t>Select a condition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Special Remittance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Special Remittance</a:t>
                      </a:r>
                    </a:p>
                  </a:txBody>
                  <a:tcPr marL="54864" marR="54864" marT="27432" marB="27432">
                    <a:solidFill>
                      <a:srgbClr val="FFFFFF"/>
                    </a:solidFill>
                  </a:tcPr>
                </a:tc>
                <a:tc>
                  <a:txBody>
                    <a:bodyPr/>
                    <a:lstStyle/>
                    <a:p>
                      <a:r>
                        <a:rPr sz="850" b="0">
                          <a:solidFill>
                            <a:srgbClr val="4B4B4B"/>
                          </a:solidFill>
                          <a:latin typeface="Arial"/>
                        </a:rPr>
                        <a:t>Marketing Collection, Marketing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and validates the request</a:t>
                      </a:r>
                    </a:p>
                  </a:txBody>
                  <a:tcPr marL="54864" marR="54864" marT="27432" marB="27432">
                    <a:solidFill>
                      <a:srgbClr val="FFFFFF"/>
                    </a:solidFill>
                  </a:tcPr>
                </a:tc>
                <a:tc>
                  <a:txBody>
                    <a:bodyPr/>
                    <a:lstStyle/>
                    <a:p>
                      <a:r>
                        <a:rPr sz="850" b="0">
                          <a:solidFill>
                            <a:srgbClr val="4B4B4B"/>
                          </a:solidFill>
                          <a:latin typeface="Arial"/>
                        </a:rPr>
                        <a:t>Special remittance for approval</a:t>
                      </a:r>
                    </a:p>
                  </a:txBody>
                  <a:tcPr marL="54864" marR="54864" marT="27432" marB="27432">
                    <a:solidFill>
                      <a:srgbClr val="FFFFFF"/>
                    </a:solidFill>
                  </a:tcPr>
                </a:tc>
                <a:tc>
                  <a:txBody>
                    <a:bodyPr/>
                    <a:lstStyle/>
                    <a:p>
                      <a:r>
                        <a:rPr sz="850" b="0">
                          <a:solidFill>
                            <a:srgbClr val="4B4B4B"/>
                          </a:solidFill>
                          <a:latin typeface="Arial"/>
                        </a:rPr>
                        <a:t>Special remittance for approval notice (NT-15)</a:t>
                      </a:r>
                    </a:p>
                  </a:txBody>
                  <a:tcPr marL="54864" marR="54864" marT="27432" marB="27432">
                    <a:solidFill>
                      <a:srgbClr val="FFFFFF"/>
                    </a:solidFill>
                  </a:tcPr>
                </a:tc>
              </a:tr>
              <a:tr h="350518">
                <a:tc>
                  <a:txBody>
                    <a:bodyPr/>
                    <a:lstStyle/>
                    <a:p>
                      <a:r>
                        <a:rPr sz="850" b="0">
                          <a:solidFill>
                            <a:srgbClr val="4B4B4B"/>
                          </a:solidFill>
                          <a:latin typeface="Arial"/>
                        </a:rPr>
                        <a:t>Upload File</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Creates the requests of the Collection file</a:t>
                      </a:r>
                    </a:p>
                  </a:txBody>
                  <a:tcPr marL="54864" marR="54864" marT="27432" marB="27432">
                    <a:solidFill>
                      <a:srgbClr val="E5F5FF"/>
                    </a:solidFill>
                  </a:tcPr>
                </a:tc>
                <a:tc>
                  <a:txBody>
                    <a:bodyPr/>
                    <a:lstStyle/>
                    <a:p>
                      <a:r>
                        <a:rPr sz="850" b="0">
                          <a:solidFill>
                            <a:srgbClr val="4B4B4B"/>
                          </a:solidFill>
                          <a:latin typeface="Arial"/>
                        </a:rPr>
                        <a:t>Special remittance for approval</a:t>
                      </a:r>
                    </a:p>
                  </a:txBody>
                  <a:tcPr marL="54864" marR="54864" marT="27432" marB="27432">
                    <a:solidFill>
                      <a:srgbClr val="E5F5FF"/>
                    </a:solidFill>
                  </a:tcPr>
                </a:tc>
                <a:tc>
                  <a:txBody>
                    <a:bodyPr/>
                    <a:lstStyle/>
                    <a:p>
                      <a:r>
                        <a:rPr sz="850" b="0">
                          <a:solidFill>
                            <a:srgbClr val="4B4B4B"/>
                          </a:solidFill>
                          <a:latin typeface="Arial"/>
                        </a:rPr>
                        <a:t>Special remittance for approval notice (NT-15)</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invoice of a special remittance must be paid, cleared and not on hold (FR-OP-112).</a:t>
                      </a:r>
                    </a:p>
                  </a:txBody>
                  <a:tcPr marL="54864" marR="54864" marT="27432" marB="27432">
                    <a:solidFill>
                      <a:srgbClr val="FFFFFF"/>
                    </a:solidFill>
                  </a:tcPr>
                </a:tc>
              </a:tr>
              <a:tr h="243840">
                <a:tc>
                  <a:txBody>
                    <a:bodyPr/>
                    <a:lstStyle/>
                    <a:p>
                      <a:r>
                        <a:rPr sz="1000" b="0">
                          <a:solidFill>
                            <a:srgbClr val="4B4B4B"/>
                          </a:solidFill>
                          <a:latin typeface="Arial"/>
                        </a:rPr>
                        <a:t>A claims condition is confirmed against the open claims awaiting the premium remittance (FR-OP-112).</a:t>
                      </a:r>
                    </a:p>
                  </a:txBody>
                  <a:tcPr marL="54864" marR="54864" marT="27432" marB="27432">
                    <a:solidFill>
                      <a:srgbClr val="E5F5FF"/>
                    </a:solidFill>
                  </a:tcPr>
                </a:tc>
              </a:tr>
            </a:tbl>
          </a:graphicData>
        </a:graphic>
      </p:graphicFrame>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30-02-new.png"/>
          <p:cNvPicPr>
            <a:picLocks noChangeAspect="1"/>
          </p:cNvPicPr>
          <p:nvPr/>
        </p:nvPicPr>
        <p:blipFill>
          <a:blip r:embed="rId3"/>
          <a:stretch>
            <a:fillRect/>
          </a:stretch>
        </p:blipFill>
        <p:spPr>
          <a:xfrm>
            <a:off x="1994547" y="1261872"/>
            <a:ext cx="820260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Special Remittance dialog</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30-01-list.png"/>
          <p:cNvPicPr>
            <a:picLocks noChangeAspect="1"/>
          </p:cNvPicPr>
          <p:nvPr/>
        </p:nvPicPr>
        <p:blipFill>
          <a:blip r:embed="rId3"/>
          <a:stretch>
            <a:fillRect/>
          </a:stretch>
        </p:blipFill>
        <p:spPr>
          <a:xfrm>
            <a:off x="1198836" y="1261872"/>
            <a:ext cx="979402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For Approval tab</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Special Remittance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special remittance request: invoice, insurer and segment, requester and approver, the validation, the special batch created on approval, and the workflow with approve and reject.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Special Remittance › Special Remittance Request</a:t>
                      </a:r>
                    </a:p>
                    <a:p>
                      <a:r>
                        <a:rPr sz="950" b="0">
                          <a:solidFill>
                            <a:srgbClr val="4B4B4B"/>
                          </a:solidFill>
                          <a:latin typeface="Arial"/>
                        </a:rPr>
                        <a:t>Special Remittance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FR-OP-040, FR-OP-112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approved invoice is remitted in its own special batch.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 / Invoice / Insurer / Segment / Requested / Approved By / Validation / Special Batch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SPR-yyyy-n; the special batch once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Special remittance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Requested - validating, Special remittance for approval, In Process Remittance, Pushed to Disbursement; Rejected and Returned by Remittance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bl>
          </a:graphicData>
        </a:graphic>
      </p:graphicFrame>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Approve special remittance</a:t>
                      </a:r>
                    </a:p>
                  </a:txBody>
                  <a:tcPr marL="54864" marR="54864" marT="27432" marB="27432">
                    <a:solidFill>
                      <a:srgbClr val="FFFFFF"/>
                    </a:solidFill>
                  </a:tcPr>
                </a:tc>
                <a:tc>
                  <a:txBody>
                    <a:bodyPr/>
                    <a:lstStyle/>
                    <a:p>
                      <a:r>
                        <a:rPr sz="850" b="0">
                          <a:solidFill>
                            <a:srgbClr val="4B4B4B"/>
                          </a:solidFill>
                          <a:latin typeface="Arial"/>
                        </a:rPr>
                        <a:t>Remittance Team Leader other than the requester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Approves the request and creates its special batch at once, with no processor, so that another approver approves the batch</a:t>
                      </a:r>
                    </a:p>
                  </a:txBody>
                  <a:tcPr marL="54864" marR="54864" marT="27432" marB="27432">
                    <a:solidFill>
                      <a:srgbClr val="FFFFFF"/>
                    </a:solidFill>
                  </a:tcPr>
                </a:tc>
                <a:tc>
                  <a:txBody>
                    <a:bodyPr/>
                    <a:lstStyle/>
                    <a:p>
                      <a:r>
                        <a:rPr sz="850" b="0">
                          <a:solidFill>
                            <a:srgbClr val="4B4B4B"/>
                          </a:solidFill>
                          <a:latin typeface="Arial"/>
                        </a:rPr>
                        <a:t>In Process Remittance</a:t>
                      </a:r>
                    </a:p>
                  </a:txBody>
                  <a:tcPr marL="54864" marR="54864" marT="27432" marB="27432">
                    <a:solidFill>
                      <a:srgbClr val="FFFFFF"/>
                    </a:solidFill>
                  </a:tcPr>
                </a:tc>
                <a:tc>
                  <a:txBody>
                    <a:bodyPr/>
                    <a:lstStyle/>
                    <a:p>
                      <a:r>
                        <a:rPr sz="850" b="0">
                          <a:solidFill>
                            <a:srgbClr val="4B4B4B"/>
                          </a:solidFill>
                          <a:latin typeface="Arial"/>
                        </a:rPr>
                        <a:t>Special remittance decided notice (NT-15)</a:t>
                      </a:r>
                    </a:p>
                  </a:txBody>
                  <a:tcPr marL="54864" marR="54864" marT="27432" marB="27432">
                    <a:solidFill>
                      <a:srgbClr val="FFFFFF"/>
                    </a:solidFill>
                  </a:tcPr>
                </a:tc>
              </a:tr>
              <a:tr h="350518">
                <a:tc>
                  <a:txBody>
                    <a:bodyPr/>
                    <a:lstStyle/>
                    <a:p>
                      <a:r>
                        <a:rPr sz="850" b="0">
                          <a:solidFill>
                            <a:srgbClr val="4B4B4B"/>
                          </a:solidFill>
                          <a:latin typeface="Arial"/>
                        </a:rPr>
                        <a:t>Reject special remittance</a:t>
                      </a:r>
                    </a:p>
                  </a:txBody>
                  <a:tcPr marL="54864" marR="54864" marT="27432" marB="27432">
                    <a:solidFill>
                      <a:srgbClr val="E5F5FF"/>
                    </a:solidFill>
                  </a:tcPr>
                </a:tc>
                <a:tc>
                  <a:txBody>
                    <a:bodyPr/>
                    <a:lstStyle/>
                    <a:p>
                      <a:r>
                        <a:rPr sz="850" b="0">
                          <a:solidFill>
                            <a:srgbClr val="4B4B4B"/>
                          </a:solidFill>
                          <a:latin typeface="Arial"/>
                        </a:rPr>
                        <a:t>Remittance Team Leader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Rejects the request with a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Special remittance decided notice (NT-15)</a:t>
                      </a:r>
                    </a:p>
                  </a:txBody>
                  <a:tcPr marL="54864" marR="54864" marT="27432" marB="27432">
                    <a:solidFill>
                      <a:srgbClr val="E5F5FF"/>
                    </a:solidFill>
                  </a:tcPr>
                </a:tc>
              </a:tr>
            </a:tbl>
          </a:graphicData>
        </a:graphic>
      </p:graphicFrame>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approval creates a Special batch that follows the batch workflow (FR-OP-040).</a:t>
                      </a:r>
                    </a:p>
                  </a:txBody>
                  <a:tcPr marL="54864" marR="54864" marT="27432" marB="27432">
                    <a:solidFill>
                      <a:srgbClr val="FFFFFF"/>
                    </a:solidFill>
                  </a:tcPr>
                </a:tc>
              </a:tr>
              <a:tr h="243840">
                <a:tc>
                  <a:txBody>
                    <a:bodyPr/>
                    <a:lstStyle/>
                    <a:p>
                      <a:r>
                        <a:rPr sz="1000" b="0">
                          <a:solidFill>
                            <a:srgbClr val="4B4B4B"/>
                          </a:solidFill>
                          <a:latin typeface="Arial"/>
                        </a:rPr>
                        <a:t>Every change of status is notified to the requester (FR-OP-040).</a:t>
                      </a:r>
                    </a:p>
                  </a:txBody>
                  <a:tcPr marL="54864" marR="54864" marT="27432" marB="27432">
                    <a:solidFill>
                      <a:srgbClr val="E5F5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SCR-OP-31 Special Remittance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request with its workflow (part 1 of 2)</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SCR-OP-31 Special Remittance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8.png"/>
          <p:cNvPicPr>
            <a:picLocks noChangeAspect="1"/>
          </p:cNvPicPr>
          <p:nvPr/>
        </p:nvPicPr>
        <p:blipFill>
          <a:blip r:embed="rId3"/>
          <a:stretch>
            <a:fillRect/>
          </a:stretch>
        </p:blipFill>
        <p:spPr>
          <a:xfrm>
            <a:off x="548640" y="1261872"/>
            <a:ext cx="11094415" cy="27066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request with its workflow (part 2 of 2)</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is due to the insurers per invoice (paid AR, DTIP, remitted and outstanding DTIP, the last extraction tag, flags and remittance status) and the accounts in remittance batches; an invoice can be queued for the end-of-day extraction.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DTIP Status</a:t>
                      </a:r>
                    </a:p>
                    <a:p>
                      <a:r>
                        <a:rPr sz="950" b="0">
                          <a:solidFill>
                            <a:srgbClr val="4B4B4B"/>
                          </a:solidFill>
                          <a:latin typeface="Arial"/>
                        </a:rPr>
                        <a:t>Remittance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FR-OP-030, FR-OP-039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what is due to each insurer and where each account stands.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DTIP Status / Accounts in Batches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ARN,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 / Remittance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statuses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DTIP Status</a:t>
                      </a:r>
                    </a:p>
                  </a:txBody>
                  <a:tcPr marL="54864" marR="54864" marT="27432" marB="27432">
                    <a:solidFill>
                      <a:srgbClr val="E5F5FF"/>
                    </a:solidFill>
                  </a:tcPr>
                </a:tc>
                <a:tc>
                  <a:txBody>
                    <a:bodyPr/>
                    <a:lstStyle/>
                    <a:p>
                      <a:r>
                        <a:rPr sz="850" b="0">
                          <a:solidFill>
                            <a:srgbClr val="4B4B4B"/>
                          </a:solidFill>
                          <a:latin typeface="Arial"/>
                        </a:rPr>
                        <a:t>Invoice No. / Insurer / Payment / Paid AR / DTIP / Remitted / Outstanding DTIP / Extraction Tag / Flags / Remittance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with the assured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Accounts in Batches</a:t>
                      </a:r>
                    </a:p>
                  </a:txBody>
                  <a:tcPr marL="54864" marR="54864" marT="27432" marB="27432">
                    <a:solidFill>
                      <a:srgbClr val="FFFFFF"/>
                    </a:solidFill>
                  </a:tcPr>
                </a:tc>
                <a:tc>
                  <a:txBody>
                    <a:bodyPr/>
                    <a:lstStyle/>
                    <a:p>
                      <a:r>
                        <a:rPr sz="850" b="0">
                          <a:solidFill>
                            <a:srgbClr val="4B4B4B"/>
                          </a:solidFill>
                          <a:latin typeface="Arial"/>
                        </a:rPr>
                        <a:t>Batch No. / Invoice No. / Endorsement / Policy No. / Name of Assured / Paid AR / Net Due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Queue for End of Day</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Queues the invoice for the evening extraction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search finds an invoice by invoice, ARN, batch, endorsement, policy or assured (FR-OP-039).</a:t>
                      </a:r>
                    </a:p>
                  </a:txBody>
                  <a:tcPr marL="54864" marR="54864" marT="27432" marB="27432">
                    <a:solidFill>
                      <a:srgbClr val="FFFFFF"/>
                    </a:solidFill>
                  </a:tcPr>
                </a:tc>
              </a:tr>
              <a:tr h="243840">
                <a:tc>
                  <a:txBody>
                    <a:bodyPr/>
                    <a:lstStyle/>
                    <a:p>
                      <a:r>
                        <a:rPr sz="1000" b="0">
                          <a:solidFill>
                            <a:srgbClr val="4B4B4B"/>
                          </a:solidFill>
                          <a:latin typeface="Arial"/>
                        </a:rPr>
                        <a:t>A searched invoice can be queued for the evening extraction (FR-OP-030).</a:t>
                      </a:r>
                    </a:p>
                  </a:txBody>
                  <a:tcPr marL="54864" marR="54864" marT="27432" marB="27432">
                    <a:solidFill>
                      <a:srgbClr val="E5F5FF"/>
                    </a:solidFill>
                  </a:tcPr>
                </a:tc>
              </a:tr>
            </a:tbl>
          </a:graphicData>
        </a:graphic>
      </p:graphicFrame>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9.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1 of 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0.png"/>
          <p:cNvPicPr>
            <a:picLocks noChangeAspect="1"/>
          </p:cNvPicPr>
          <p:nvPr/>
        </p:nvPicPr>
        <p:blipFill>
          <a:blip r:embed="rId3"/>
          <a:stretch>
            <a:fillRect/>
          </a:stretch>
        </p:blipFill>
        <p:spPr>
          <a:xfrm>
            <a:off x="548640" y="1261872"/>
            <a:ext cx="11094415" cy="47057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2 of 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1.png"/>
          <p:cNvPicPr>
            <a:picLocks noChangeAspect="1"/>
          </p:cNvPicPr>
          <p:nvPr/>
        </p:nvPicPr>
        <p:blipFill>
          <a:blip r:embed="rId3"/>
          <a:stretch>
            <a:fillRect/>
          </a:stretch>
        </p:blipFill>
        <p:spPr>
          <a:xfrm>
            <a:off x="548640" y="1261872"/>
            <a:ext cx="11094415" cy="25667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3 of 3)</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2-02-batches.png"/>
          <p:cNvPicPr>
            <a:picLocks noChangeAspect="1"/>
          </p:cNvPicPr>
          <p:nvPr/>
        </p:nvPicPr>
        <p:blipFill>
          <a:blip r:embed="rId3"/>
          <a:stretch>
            <a:fillRect/>
          </a:stretch>
        </p:blipFill>
        <p:spPr>
          <a:xfrm>
            <a:off x="1914381" y="1261872"/>
            <a:ext cx="836293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in Batches tab</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Remittance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Amounts the insurer confirmed (an AR Insurer refund, a return premium and the like) to be deducted from its next remittance batches: prepared by ACSL with the insurer's confirmation, confirmed by the ACSL Team Leader, then applied to the insurer's batches until nothing remains.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Comptrollership,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Deductions</a:t>
                      </a:r>
                    </a:p>
                    <a:p>
                      <a:r>
                        <a:rPr sz="950" b="0">
                          <a:solidFill>
                            <a:srgbClr val="4B4B4B"/>
                          </a:solidFill>
                          <a:latin typeface="Arial"/>
                        </a:rPr>
                        <a:t>ACSL (BRD-5) › AR Insurer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Amounts the insurer owes are recovered from its next remittances.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Confirmation / Confirmed / Drafts / Applied and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Deduction No. or Source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Deduction No. / Insurer / Source / Insurer Confirmation / Amount / Remaining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RDN-yyyy-n with the preparer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deductions in this status</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Remittance Deduction dialog</a:t>
                      </a:r>
                    </a:p>
                  </a:txBody>
                  <a:tcPr marL="54864" marR="54864" marT="27432" marB="27432">
                    <a:solidFill>
                      <a:srgbClr val="E5F5FF"/>
                    </a:solidFill>
                  </a:tcPr>
                </a:tc>
                <a:tc>
                  <a:txBody>
                    <a:bodyPr/>
                    <a:lstStyle/>
                    <a:p>
                      <a:r>
                        <a:rPr sz="850" b="0">
                          <a:solidFill>
                            <a:srgbClr val="4B4B4B"/>
                          </a:solidFill>
                          <a:latin typeface="Arial"/>
                        </a:rPr>
                        <a:t>Insurer / Currency</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Chosen</a:t>
                      </a:r>
                    </a:p>
                  </a:txBody>
                  <a:tcPr marL="54864" marR="54864" marT="27432" marB="27432">
                    <a:solidFill>
                      <a:srgbClr val="E5F5FF"/>
                    </a:solidFill>
                  </a:tcPr>
                </a:tc>
                <a:tc>
                  <a:txBody>
                    <a:bodyPr/>
                    <a:lstStyle/>
                    <a:p>
                      <a:r>
                        <a:rPr sz="850" b="0">
                          <a:solidFill>
                            <a:srgbClr val="4B4B4B"/>
                          </a:solidFill>
                          <a:latin typeface="Arial"/>
                        </a:rPr>
                        <a:t>Select the insurer / Choose the currency</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Remittance Deduction dialog</a:t>
                      </a:r>
                    </a:p>
                  </a:txBody>
                  <a:tcPr marL="54864" marR="54864" marT="27432" marB="27432">
                    <a:solidFill>
                      <a:srgbClr val="FFFFFF"/>
                    </a:solidFill>
                  </a:tcPr>
                </a:tc>
                <a:tc>
                  <a:txBody>
                    <a:bodyPr/>
                    <a:lstStyle/>
                    <a:p>
                      <a:r>
                        <a:rPr sz="850" b="0">
                          <a:solidFill>
                            <a:srgbClr val="4B4B4B"/>
                          </a:solidFill>
                          <a:latin typeface="Arial"/>
                        </a:rPr>
                        <a:t>Deduction Source / Source Reference / Invoice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What the deduction settles</a:t>
                      </a:r>
                    </a:p>
                  </a:txBody>
                  <a:tcPr marL="54864" marR="54864" marT="27432" marB="27432">
                    <a:solidFill>
                      <a:srgbClr val="FFFFFF"/>
                    </a:solidFill>
                  </a:tcPr>
                </a:tc>
                <a:tc>
                  <a:txBody>
                    <a:bodyPr/>
                    <a:lstStyle/>
                    <a:p>
                      <a:r>
                        <a:rPr sz="850" b="0">
                          <a:solidFill>
                            <a:srgbClr val="4B4B4B"/>
                          </a:solidFill>
                          <a:latin typeface="Arial"/>
                        </a:rPr>
                        <a:t>Y / Y / N</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Choose what the deduction settles / Source reference is required</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Remittance Deduction dialog</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Positive, at most 2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Positive</a:t>
                      </a:r>
                    </a:p>
                  </a:txBody>
                  <a:tcPr marL="54864" marR="54864" marT="27432" marB="27432">
                    <a:solidFill>
                      <a:srgbClr val="E5F5FF"/>
                    </a:solidFill>
                  </a:tcPr>
                </a:tc>
                <a:tc>
                  <a:txBody>
                    <a:bodyPr/>
                    <a:lstStyle/>
                    <a:p>
                      <a:r>
                        <a:rPr sz="850" b="0">
                          <a:solidFill>
                            <a:srgbClr val="4B4B4B"/>
                          </a:solidFill>
                          <a:latin typeface="Arial"/>
                        </a:rPr>
                        <a:t>Enter a positive amount with at most 2 decimals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Remittance Deduction dialog</a:t>
                      </a:r>
                    </a:p>
                  </a:txBody>
                  <a:tcPr marL="54864" marR="54864" marT="27432" marB="27432">
                    <a:solidFill>
                      <a:srgbClr val="FFFFFF"/>
                    </a:solidFill>
                  </a:tcPr>
                </a:tc>
                <a:tc>
                  <a:txBody>
                    <a:bodyPr/>
                    <a:lstStyle/>
                    <a:p>
                      <a:r>
                        <a:rPr sz="850" b="0">
                          <a:solidFill>
                            <a:srgbClr val="4B4B4B"/>
                          </a:solidFill>
                          <a:latin typeface="Arial"/>
                        </a:rPr>
                        <a:t>Insurer Confirmation Ref. / Confirmation Date / Remarks</a:t>
                      </a:r>
                    </a:p>
                  </a:txBody>
                  <a:tcPr marL="54864" marR="54864" marT="27432" marB="27432">
                    <a:solidFill>
                      <a:srgbClr val="FFFFFF"/>
                    </a:solidFill>
                  </a:tcPr>
                </a:tc>
                <a:tc>
                  <a:txBody>
                    <a:bodyPr/>
                    <a:lstStyle/>
                    <a:p>
                      <a:r>
                        <a:rPr sz="850" b="0">
                          <a:solidFill>
                            <a:srgbClr val="4B4B4B"/>
                          </a:solidFill>
                          <a:latin typeface="Arial"/>
                        </a:rPr>
                        <a:t>Text, date</a:t>
                      </a:r>
                    </a:p>
                  </a:txBody>
                  <a:tcPr marL="54864" marR="54864" marT="27432" marB="27432">
                    <a:solidFill>
                      <a:srgbClr val="FFFFFF"/>
                    </a:solidFill>
                  </a:tcPr>
                </a:tc>
                <a:tc>
                  <a:txBody>
                    <a:bodyPr/>
                    <a:lstStyle/>
                    <a:p>
                      <a:r>
                        <a:rPr sz="850" b="0">
                          <a:solidFill>
                            <a:srgbClr val="4B4B4B"/>
                          </a:solidFill>
                          <a:latin typeface="Arial"/>
                        </a:rPr>
                        <a:t>Confirmation date not in the future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confirmation date cannot be in the future</a:t>
                      </a:r>
                    </a:p>
                  </a:txBody>
                  <a:tcPr marL="54864" marR="54864" marT="27432" marB="27432">
                    <a:solidFill>
                      <a:srgbClr val="FFFFFF"/>
                    </a:solidFill>
                  </a:tcPr>
                </a:tc>
              </a:tr>
            </a:tbl>
          </a:graphicData>
        </a:graphic>
      </p:graphicFrame>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Deduction / Save Deduction</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deduction in draft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deduction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 deduction confirmed by the insurer is taken from its remittance batches (FR-OP-035).</a:t>
                      </a:r>
                    </a:p>
                  </a:txBody>
                  <a:tcPr marL="54864" marR="54864" marT="27432" marB="27432">
                    <a:solidFill>
                      <a:srgbClr val="FFFFFF"/>
                    </a:solidFill>
                  </a:tcPr>
                </a:tc>
              </a:tr>
            </a:tbl>
          </a:graphicData>
        </a:graphic>
      </p:graphicFrame>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Remittance Deductions: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3-01-list.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Deductions, For Confirmation tab</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SCR-OP-33 Remittance Deductions: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2.png"/>
          <p:cNvPicPr>
            <a:picLocks noChangeAspect="1"/>
          </p:cNvPicPr>
          <p:nvPr/>
        </p:nvPicPr>
        <p:blipFill>
          <a:blip r:embed="rId3"/>
          <a:stretch>
            <a:fillRect/>
          </a:stretch>
        </p:blipFill>
        <p:spPr>
          <a:xfrm>
            <a:off x="548640" y="1261872"/>
            <a:ext cx="11094415" cy="41735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Remittance Deduction dialog (part 1 of 2)</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SCR-OP-33 Remittance Deductions: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3.png"/>
          <p:cNvPicPr>
            <a:picLocks noChangeAspect="1"/>
          </p:cNvPicPr>
          <p:nvPr/>
        </p:nvPicPr>
        <p:blipFill>
          <a:blip r:embed="rId3"/>
          <a:stretch>
            <a:fillRect/>
          </a:stretch>
        </p:blipFill>
        <p:spPr>
          <a:xfrm>
            <a:off x="548640" y="1261872"/>
            <a:ext cx="11094415" cy="24667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Remittance Deduction dialog (part 2 of 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Remittance Deduction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deduction: insurer, amount, applied and remaining, the insurer's confirmation, preparer and confirmer, the workflow (draft, for confirmation, confirmed, applied) and the batches that deducted it.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Comptrollership,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Deductions › Remittance Deduction</a:t>
                      </a:r>
                    </a:p>
                    <a:p>
                      <a:r>
                        <a:rPr sz="950" b="0">
                          <a:solidFill>
                            <a:srgbClr val="4B4B4B"/>
                          </a:solidFill>
                          <a:latin typeface="Arial"/>
                        </a:rPr>
                        <a:t>Remittance Deductions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confirmed deduction is recovered from the insurer's batches with its journal.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Deduction / Insurer / Amount / Applied / Remaining / Insurer Confirmation / Prepared / Confirmed By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Applied with its percentage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Deduction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Draft, For confirmation, Confirmed - awaiting the next batch, Applied to a remittance batch; Cancelled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Remittance Batches / Insurer Confirmation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Remittance Batches</a:t>
                      </a:r>
                    </a:p>
                  </a:txBody>
                  <a:tcPr marL="54864" marR="54864" marT="27432" marB="27432">
                    <a:solidFill>
                      <a:srgbClr val="E5F5FF"/>
                    </a:solidFill>
                  </a:tcPr>
                </a:tc>
                <a:tc>
                  <a:txBody>
                    <a:bodyPr/>
                    <a:lstStyle/>
                    <a:p>
                      <a:r>
                        <a:rPr sz="850" b="0">
                          <a:solidFill>
                            <a:srgbClr val="4B4B4B"/>
                          </a:solidFill>
                          <a:latin typeface="Arial"/>
                        </a:rPr>
                        <a:t>Batch / Applied On / Journal / Amount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 yet deducted from a remittance batch</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Insurer Confirmation</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The insurer's confirmation letter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 Deduction</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Changes the deduction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Confirmation</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deduction with the insurer's confirmation to the Team Leader</a:t>
                      </a:r>
                    </a:p>
                  </a:txBody>
                  <a:tcPr marL="54864" marR="54864" marT="27432" marB="27432">
                    <a:solidFill>
                      <a:srgbClr val="E5F5FF"/>
                    </a:solidFill>
                  </a:tcPr>
                </a:tc>
                <a:tc>
                  <a:txBody>
                    <a:bodyPr/>
                    <a:lstStyle/>
                    <a:p>
                      <a:r>
                        <a:rPr sz="850" b="0">
                          <a:solidFill>
                            <a:srgbClr val="4B4B4B"/>
                          </a:solidFill>
                          <a:latin typeface="Arial"/>
                        </a:rPr>
                        <a:t>For confirmation</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Confirm</a:t>
                      </a:r>
                    </a:p>
                  </a:txBody>
                  <a:tcPr marL="54864" marR="54864" marT="27432" marB="27432">
                    <a:solidFill>
                      <a:srgbClr val="FFFFFF"/>
                    </a:solidFill>
                  </a:tcPr>
                </a:tc>
                <a:tc>
                  <a:txBody>
                    <a:bodyPr/>
                    <a:lstStyle/>
                    <a:p>
                      <a:r>
                        <a:rPr sz="850" b="0">
                          <a:solidFill>
                            <a:srgbClr val="4B4B4B"/>
                          </a:solidFill>
                          <a:latin typeface="Arial"/>
                        </a:rPr>
                        <a:t>ACSL Team Leader</a:t>
                      </a:r>
                    </a:p>
                  </a:txBody>
                  <a:tcPr marL="54864" marR="54864" marT="27432" marB="27432">
                    <a:solidFill>
                      <a:srgbClr val="FFFFFF"/>
                    </a:solidFill>
                  </a:tcPr>
                </a:tc>
                <a:tc>
                  <a:txBody>
                    <a:bodyPr/>
                    <a:lstStyle/>
                    <a:p>
                      <a:r>
                        <a:rPr sz="850" b="0">
                          <a:solidFill>
                            <a:srgbClr val="4B4B4B"/>
                          </a:solidFill>
                          <a:latin typeface="Arial"/>
                        </a:rPr>
                        <a:t>For confirmation</a:t>
                      </a:r>
                    </a:p>
                  </a:txBody>
                  <a:tcPr marL="54864" marR="54864" marT="27432" marB="27432">
                    <a:solidFill>
                      <a:srgbClr val="FFFFFF"/>
                    </a:solidFill>
                  </a:tcPr>
                </a:tc>
                <a:tc>
                  <a:txBody>
                    <a:bodyPr/>
                    <a:lstStyle/>
                    <a:p>
                      <a:r>
                        <a:rPr sz="850" b="0">
                          <a:solidFill>
                            <a:srgbClr val="4B4B4B"/>
                          </a:solidFill>
                          <a:latin typeface="Arial"/>
                        </a:rPr>
                        <a:t>Confirms the deduction; the next batches of the insurer deduct it</a:t>
                      </a:r>
                    </a:p>
                  </a:txBody>
                  <a:tcPr marL="54864" marR="54864" marT="27432" marB="27432">
                    <a:solidFill>
                      <a:srgbClr val="FFFFFF"/>
                    </a:solidFill>
                  </a:tcPr>
                </a:tc>
                <a:tc>
                  <a:txBody>
                    <a:bodyPr/>
                    <a:lstStyle/>
                    <a:p>
                      <a:r>
                        <a:rPr sz="850" b="0">
                          <a:solidFill>
                            <a:srgbClr val="4B4B4B"/>
                          </a:solidFill>
                          <a:latin typeface="Arial"/>
                        </a:rPr>
                        <a:t>Confirmed - awaiting the next batch</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Return to processor / Cancel</a:t>
                      </a:r>
                    </a:p>
                  </a:txBody>
                  <a:tcPr marL="54864" marR="54864" marT="27432" marB="27432">
                    <a:solidFill>
                      <a:srgbClr val="E5F5FF"/>
                    </a:solidFill>
                  </a:tcPr>
                </a:tc>
                <a:tc>
                  <a:txBody>
                    <a:bodyPr/>
                    <a:lstStyle/>
                    <a:p>
                      <a:r>
                        <a:rPr sz="850" b="0">
                          <a:solidFill>
                            <a:srgbClr val="4B4B4B"/>
                          </a:solidFill>
                          <a:latin typeface="Arial"/>
                        </a:rPr>
                        <a:t>ACSL Team Leader / ACSL Processor</a:t>
                      </a:r>
                    </a:p>
                  </a:txBody>
                  <a:tcPr marL="54864" marR="54864" marT="27432" marB="27432">
                    <a:solidFill>
                      <a:srgbClr val="E5F5FF"/>
                    </a:solidFill>
                  </a:tcPr>
                </a:tc>
                <a:tc>
                  <a:txBody>
                    <a:bodyPr/>
                    <a:lstStyle/>
                    <a:p>
                      <a:r>
                        <a:rPr sz="850" b="0">
                          <a:solidFill>
                            <a:srgbClr val="4B4B4B"/>
                          </a:solidFill>
                          <a:latin typeface="Arial"/>
                        </a:rPr>
                        <a:t>For confirmation / Draft</a:t>
                      </a:r>
                    </a:p>
                  </a:txBody>
                  <a:tcPr marL="54864" marR="54864" marT="27432" marB="27432">
                    <a:solidFill>
                      <a:srgbClr val="E5F5FF"/>
                    </a:solidFill>
                  </a:tcPr>
                </a:tc>
                <a:tc>
                  <a:txBody>
                    <a:bodyPr/>
                    <a:lstStyle/>
                    <a:p>
                      <a:r>
                        <a:rPr sz="850" b="0">
                          <a:solidFill>
                            <a:srgbClr val="4B4B4B"/>
                          </a:solidFill>
                          <a:latin typeface="Arial"/>
                        </a:rPr>
                        <a:t>Returns the deduction with a reason, or cancels it</a:t>
                      </a:r>
                    </a:p>
                  </a:txBody>
                  <a:tcPr marL="54864" marR="54864" marT="27432" marB="27432">
                    <a:solidFill>
                      <a:srgbClr val="E5F5FF"/>
                    </a:solidFill>
                  </a:tcPr>
                </a:tc>
                <a:tc>
                  <a:txBody>
                    <a:bodyPr/>
                    <a:lstStyle/>
                    <a:p>
                      <a:r>
                        <a:rPr sz="850" b="0">
                          <a:solidFill>
                            <a:srgbClr val="4B4B4B"/>
                          </a:solidFill>
                          <a:latin typeface="Arial"/>
                        </a:rPr>
                        <a:t>Draft / Cancelled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deduction is confirmed by a second user before it is applied (FR-OP-035).</a:t>
                      </a:r>
                    </a:p>
                  </a:txBody>
                  <a:tcPr marL="54864" marR="54864" marT="27432" marB="27432">
                    <a:solidFill>
                      <a:srgbClr val="FFFFFF"/>
                    </a:solidFill>
                  </a:tcPr>
                </a:tc>
              </a:tr>
            </a:tbl>
          </a:graphicData>
        </a:graphic>
      </p:graphicFrame>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1 of 3)</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5.png"/>
          <p:cNvPicPr>
            <a:picLocks noChangeAspect="1"/>
          </p:cNvPicPr>
          <p:nvPr/>
        </p:nvPicPr>
        <p:blipFill>
          <a:blip r:embed="rId3"/>
          <a:stretch>
            <a:fillRect/>
          </a:stretch>
        </p:blipFill>
        <p:spPr>
          <a:xfrm>
            <a:off x="548640" y="1261872"/>
            <a:ext cx="11094415" cy="42464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2 of 3)</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6.png"/>
          <p:cNvPicPr>
            <a:picLocks noChangeAspect="1"/>
          </p:cNvPicPr>
          <p:nvPr/>
        </p:nvPicPr>
        <p:blipFill>
          <a:blip r:embed="rId3"/>
          <a:stretch>
            <a:fillRect/>
          </a:stretch>
        </p:blipFill>
        <p:spPr>
          <a:xfrm>
            <a:off x="548640" y="1261872"/>
            <a:ext cx="11094415" cy="18267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3 of 3)</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early remittance incentives per insurer, product line and segment: the rate of the basic premium, the window in days from inception or booking and the effective period; extraction puts the invoices a rule covers into a With Incentives batch.</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Incentive Rules</a:t>
                      </a:r>
                    </a:p>
                    <a:p>
                      <a:r>
                        <a:rPr sz="950" b="0">
                          <a:solidFill>
                            <a:srgbClr val="4B4B4B"/>
                          </a:solidFill>
                          <a:latin typeface="Arial"/>
                        </a:rPr>
                        <a:t>Remittance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FR-OP-038, FR-OP-078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early remittance incentives agreed with the insurers are applied automatically.</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Product Line / Segment / Rate / Window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Rate in %; window in days from inception or booking; period cell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Insurer / Product Line /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product lines and segments by name; All product lines and All segments</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Insurer chosen</a:t>
                      </a:r>
                    </a:p>
                  </a:txBody>
                  <a:tcPr marL="54864" marR="54864" marT="27432" marB="27432">
                    <a:solidFill>
                      <a:srgbClr val="E5F5FF"/>
                    </a:solidFill>
                  </a:tcPr>
                </a:tc>
                <a:tc>
                  <a:txBody>
                    <a:bodyPr/>
                    <a:lstStyle/>
                    <a:p>
                      <a:r>
                        <a:rPr sz="850" b="0">
                          <a:solidFill>
                            <a:srgbClr val="4B4B4B"/>
                          </a:solidFill>
                          <a:latin typeface="Arial"/>
                        </a:rPr>
                        <a:t>Select the insurer</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Product Line (blank = all) / Segment (blank = all)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Rate (% of basic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Above 0, at most 100</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range</a:t>
                      </a:r>
                    </a:p>
                  </a:txBody>
                  <a:tcPr marL="54864" marR="54864" marT="27432" marB="27432">
                    <a:solidFill>
                      <a:srgbClr val="E5F5FF"/>
                    </a:solidFill>
                  </a:tcPr>
                </a:tc>
                <a:tc>
                  <a:txBody>
                    <a:bodyPr/>
                    <a:lstStyle/>
                    <a:p>
                      <a:r>
                        <a:rPr sz="850" b="0">
                          <a:solidFill>
                            <a:srgbClr val="4B4B4B"/>
                          </a:solidFill>
                          <a:latin typeface="Arial"/>
                        </a:rPr>
                        <a:t>Rate must be above 0 and at most 100</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Window (days) / Window Starts From</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1 to 366 days; Inception date or Booking date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range</a:t>
                      </a:r>
                    </a:p>
                  </a:txBody>
                  <a:tcPr marL="54864" marR="54864" marT="27432" marB="27432">
                    <a:solidFill>
                      <a:srgbClr val="FFFFFF"/>
                    </a:solidFill>
                  </a:tcPr>
                </a:tc>
                <a:tc>
                  <a:txBody>
                    <a:bodyPr/>
                    <a:lstStyle/>
                    <a:p>
                      <a:r>
                        <a:rPr sz="850" b="0">
                          <a:solidFill>
                            <a:srgbClr val="4B4B4B"/>
                          </a:solidFill>
                          <a:latin typeface="Arial"/>
                        </a:rPr>
                        <a:t>Window must be 1 to 366 days</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Effective From / Effective To / Description</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dd-MMM-yyyy; To blank = open</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The rule cannot end before it starts</a:t>
                      </a:r>
                    </a:p>
                  </a:txBody>
                  <a:tcPr marL="54864" marR="54864" marT="27432" marB="27432">
                    <a:solidFill>
                      <a:srgbClr val="E5F5FF"/>
                    </a:solidFill>
                  </a:tcPr>
                </a:tc>
                <a:tc>
                  <a:txBody>
                    <a:bodyPr/>
                    <a:lstStyle/>
                    <a:p>
                      <a:r>
                        <a:rPr sz="850" b="0">
                          <a:solidFill>
                            <a:srgbClr val="4B4B4B"/>
                          </a:solidFill>
                          <a:latin typeface="Arial"/>
                        </a:rPr>
                        <a:t>The rule cannot end before it starts</a:t>
                      </a:r>
                    </a:p>
                  </a:txBody>
                  <a:tcPr marL="54864" marR="54864" marT="27432" marB="27432">
                    <a:solidFill>
                      <a:srgbClr val="E5F5FF"/>
                    </a:solidFill>
                  </a:tcPr>
                </a:tc>
              </a:tr>
            </a:tbl>
          </a:graphicData>
        </a:graphic>
      </p:graphicFrame>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Rule / Save Rule</a:t>
                      </a:r>
                    </a:p>
                  </a:txBody>
                  <a:tcPr marL="54864" marR="54864" marT="27432" marB="27432">
                    <a:solidFill>
                      <a:srgbClr val="FFFFFF"/>
                    </a:solidFill>
                  </a:tcPr>
                </a:tc>
                <a:tc>
                  <a:txBody>
                    <a:bodyPr/>
                    <a:lstStyle/>
                    <a:p>
                      <a:r>
                        <a:rPr sz="850" b="0">
                          <a:solidFill>
                            <a:srgbClr val="4B4B4B"/>
                          </a:solidFill>
                          <a:latin typeface="Arial"/>
                        </a:rPr>
                        <a:t>Remittance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rule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graphicFrame>
        <p:nvGraphicFramePr>
          <p:cNvPr id="9" name="Table 8"/>
          <p:cNvGraphicFramePr>
            <a:graphicFrameLocks noGrp="1"/>
          </p:cNvGraphicFramePr>
          <p:nvPr/>
        </p:nvGraphicFramePr>
        <p:xfrm>
          <a:off x="548640" y="1325880"/>
          <a:ext cx="11094415" cy="12801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whose insurer, product line and segment a rule covers, remitted within the window, goes to a With Incentives batch; the incentive is the rate of the basic premium share and carries VAT (FR-OP-038).</a:t>
                      </a:r>
                    </a:p>
                  </a:txBody>
                  <a:tcPr marL="54864" marR="54864" marT="27432" marB="27432">
                    <a:solidFill>
                      <a:srgbClr val="FFFFFF"/>
                    </a:solidFill>
                  </a:tcPr>
                </a:tc>
              </a:tr>
              <a:tr h="396240">
                <a:tc>
                  <a:txBody>
                    <a:bodyPr/>
                    <a:lstStyle/>
                    <a:p>
                      <a:r>
                        <a:rPr sz="1000" b="0">
                          <a:solidFill>
                            <a:srgbClr val="4B4B4B"/>
                          </a:solidFill>
                          <a:latin typeface="Arial"/>
                        </a:rPr>
                        <a:t>The incentive applies to qualified CLG / CBG motor and fire accounts remitted within the window, as a separate line that never changes the commission or the remitted amounts (RMTID.041, FR-OP-038).</a:t>
                      </a:r>
                    </a:p>
                  </a:txBody>
                  <a:tcPr marL="54864" marR="54864" marT="27432" marB="27432">
                    <a:solidFill>
                      <a:srgbClr val="E5F5FF"/>
                    </a:solidFill>
                  </a:tcPr>
                </a:tc>
              </a:tr>
              <a:tr h="243840">
                <a:tc>
                  <a:txBody>
                    <a:bodyPr/>
                    <a:lstStyle/>
                    <a:p>
                      <a:r>
                        <a:rPr sz="1000" b="0">
                          <a:solidFill>
                            <a:srgbClr val="4B4B4B"/>
                          </a:solidFill>
                          <a:latin typeface="Arial"/>
                        </a:rPr>
                        <a:t>Production Reconciliation checks the early incentive applied by an insurer against the same rules (FR-OP-078).</a:t>
                      </a:r>
                    </a:p>
                  </a:txBody>
                  <a:tcPr marL="54864" marR="54864" marT="27432" marB="27432">
                    <a:solidFill>
                      <a:srgbClr val="FFFFFF"/>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35-01-list.png"/>
          <p:cNvPicPr>
            <a:picLocks noChangeAspect="1"/>
          </p:cNvPicPr>
          <p:nvPr/>
        </p:nvPicPr>
        <p:blipFill>
          <a:blip r:embed="rId3"/>
          <a:stretch>
            <a:fillRect/>
          </a:stretch>
        </p:blipFill>
        <p:spPr>
          <a:xfrm>
            <a:off x="548640" y="1261872"/>
            <a:ext cx="11094415" cy="26301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Rules</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op-35-02-new.png"/>
          <p:cNvPicPr>
            <a:picLocks noChangeAspect="1"/>
          </p:cNvPicPr>
          <p:nvPr/>
        </p:nvPicPr>
        <p:blipFill>
          <a:blip r:embed="rId3"/>
          <a:stretch>
            <a:fillRect/>
          </a:stretch>
        </p:blipFill>
        <p:spPr>
          <a:xfrm>
            <a:off x="2096714" y="1261872"/>
            <a:ext cx="7998266"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rule</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 requests of the Operations teams (remittance to insurers, refunds, BIR 2307 batches, incentive pass-on) until the Disbursement module of BRD-5 takes them over: Disbursement acknowledges a request, assigns the DV number, marks it paid or returns it, and the sending team is told each step.</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Disbursement Queue</a:t>
                      </a:r>
                    </a:p>
                    <a:p>
                      <a:r>
                        <a:rPr sz="950" b="0">
                          <a:solidFill>
                            <a:srgbClr val="4B4B4B"/>
                          </a:solidFill>
                          <a:latin typeface="Arial"/>
                        </a:rPr>
                        <a:t>Operations Home › Disbursement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FR-OP-036, FR-OP-120, FR-OP-121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Operations payment requests are paid and their teams informed at each step.</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Acknowledge / Acknowledged / DV Assigned / Paid / Returned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 No. / Payee / From / Amount / DV No. / Sent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DSQ-yyyy-n with the type; the sending team and its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Assign DV Number dialog</a:t>
                      </a:r>
                    </a:p>
                  </a:txBody>
                  <a:tcPr marL="54864" marR="54864" marT="27432" marB="27432">
                    <a:solidFill>
                      <a:srgbClr val="FFFFFF"/>
                    </a:solidFill>
                  </a:tcPr>
                </a:tc>
                <a:tc>
                  <a:txBody>
                    <a:bodyPr/>
                    <a:lstStyle/>
                    <a:p>
                      <a:r>
                        <a:rPr sz="850" b="0">
                          <a:solidFill>
                            <a:srgbClr val="4B4B4B"/>
                          </a:solidFill>
                          <a:latin typeface="Arial"/>
                        </a:rPr>
                        <a:t>Disbursement Voucher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Disbursement Voucher No. is required</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Return dialog</a:t>
                      </a:r>
                    </a:p>
                  </a:txBody>
                  <a:tcPr marL="54864" marR="54864" marT="27432" marB="27432">
                    <a:solidFill>
                      <a:srgbClr val="E5F5FF"/>
                    </a:solidFill>
                  </a:tcPr>
                </a:tc>
                <a:tc>
                  <a:txBody>
                    <a:bodyPr/>
                    <a:lstStyle/>
                    <a:p>
                      <a:r>
                        <a:rPr sz="850" b="0">
                          <a:solidFill>
                            <a:srgbClr val="4B4B4B"/>
                          </a:solidFill>
                          <a:latin typeface="Arial"/>
                        </a:rPr>
                        <a:t>Reason for Return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Reason for Return is required</a:t>
                      </a:r>
                    </a:p>
                  </a:txBody>
                  <a:tcPr marL="54864" marR="54864" marT="27432" marB="27432">
                    <a:solidFill>
                      <a:srgbClr val="E5F5FF"/>
                    </a:solidFill>
                  </a:tcPr>
                </a:tc>
              </a:tr>
            </a:tbl>
          </a:graphicData>
        </a:graphic>
      </p:graphicFrame>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To acknowledge</a:t>
                      </a:r>
                    </a:p>
                  </a:txBody>
                  <a:tcPr marL="54864" marR="54864" marT="27432" marB="27432">
                    <a:solidFill>
                      <a:srgbClr val="FFFFFF"/>
                    </a:solidFill>
                  </a:tcPr>
                </a:tc>
                <a:tc>
                  <a:txBody>
                    <a:bodyPr/>
                    <a:lstStyle/>
                    <a:p>
                      <a:r>
                        <a:rPr sz="850" b="0">
                          <a:solidFill>
                            <a:srgbClr val="4B4B4B"/>
                          </a:solidFill>
                          <a:latin typeface="Arial"/>
                        </a:rPr>
                        <a:t>Acknowledges the request</a:t>
                      </a:r>
                    </a:p>
                  </a:txBody>
                  <a:tcPr marL="54864" marR="54864" marT="27432" marB="27432">
                    <a:solidFill>
                      <a:srgbClr val="FFFFFF"/>
                    </a:solidFill>
                  </a:tcPr>
                </a:tc>
                <a:tc>
                  <a:txBody>
                    <a:bodyPr/>
                    <a:lstStyle/>
                    <a:p>
                      <a:r>
                        <a:rPr sz="850" b="0">
                          <a:solidFill>
                            <a:srgbClr val="4B4B4B"/>
                          </a:solidFill>
                          <a:latin typeface="Arial"/>
                        </a:rPr>
                        <a:t>Acknowledged</a:t>
                      </a:r>
                    </a:p>
                  </a:txBody>
                  <a:tcPr marL="54864" marR="54864" marT="27432" marB="27432">
                    <a:solidFill>
                      <a:srgbClr val="FFFFFF"/>
                    </a:solidFill>
                  </a:tcPr>
                </a:tc>
                <a:tc>
                  <a:txBody>
                    <a:bodyPr/>
                    <a:lstStyle/>
                    <a:p>
                      <a:r>
                        <a:rPr sz="850" b="0">
                          <a:solidFill>
                            <a:srgbClr val="4B4B4B"/>
                          </a:solidFill>
                          <a:latin typeface="Arial"/>
                        </a:rPr>
                        <a:t>Disbursement status (NT-04)</a:t>
                      </a:r>
                    </a:p>
                  </a:txBody>
                  <a:tcPr marL="54864" marR="54864" marT="27432" marB="27432">
                    <a:solidFill>
                      <a:srgbClr val="FFFFFF"/>
                    </a:solidFill>
                  </a:tcPr>
                </a:tc>
              </a:tr>
              <a:tr h="350518">
                <a:tc>
                  <a:txBody>
                    <a:bodyPr/>
                    <a:lstStyle/>
                    <a:p>
                      <a:r>
                        <a:rPr sz="850" b="0">
                          <a:solidFill>
                            <a:srgbClr val="4B4B4B"/>
                          </a:solidFill>
                          <a:latin typeface="Arial"/>
                        </a:rPr>
                        <a:t>Assign DV / Assign DV Number</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To acknowledge or acknowledged</a:t>
                      </a:r>
                    </a:p>
                  </a:txBody>
                  <a:tcPr marL="54864" marR="54864" marT="27432" marB="27432">
                    <a:solidFill>
                      <a:srgbClr val="E5F5FF"/>
                    </a:solidFill>
                  </a:tcPr>
                </a:tc>
                <a:tc>
                  <a:txBody>
                    <a:bodyPr/>
                    <a:lstStyle/>
                    <a:p>
                      <a:r>
                        <a:rPr sz="850" b="0">
                          <a:solidFill>
                            <a:srgbClr val="4B4B4B"/>
                          </a:solidFill>
                          <a:latin typeface="Arial"/>
                        </a:rPr>
                        <a:t>Records the DV number; a remittance batch becomes fully or partially remitted and its invoices are unlocked</a:t>
                      </a:r>
                    </a:p>
                  </a:txBody>
                  <a:tcPr marL="54864" marR="54864" marT="27432" marB="27432">
                    <a:solidFill>
                      <a:srgbClr val="E5F5FF"/>
                    </a:solidFill>
                  </a:tcPr>
                </a:tc>
                <a:tc>
                  <a:txBody>
                    <a:bodyPr/>
                    <a:lstStyle/>
                    <a:p>
                      <a:r>
                        <a:rPr sz="850" b="0">
                          <a:solidFill>
                            <a:srgbClr val="4B4B4B"/>
                          </a:solidFill>
                          <a:latin typeface="Arial"/>
                        </a:rPr>
                        <a:t>DV assigned</a:t>
                      </a:r>
                    </a:p>
                  </a:txBody>
                  <a:tcPr marL="54864" marR="54864" marT="27432" marB="27432">
                    <a:solidFill>
                      <a:srgbClr val="E5F5FF"/>
                    </a:solidFill>
                  </a:tcPr>
                </a:tc>
                <a:tc>
                  <a:txBody>
                    <a:bodyPr/>
                    <a:lstStyle/>
                    <a:p>
                      <a:r>
                        <a:rPr sz="850" b="0">
                          <a:solidFill>
                            <a:srgbClr val="4B4B4B"/>
                          </a:solidFill>
                          <a:latin typeface="Arial"/>
                        </a:rPr>
                        <a:t>Disbursement status (NT-04)</a:t>
                      </a:r>
                    </a:p>
                  </a:txBody>
                  <a:tcPr marL="54864" marR="54864" marT="27432" marB="27432">
                    <a:solidFill>
                      <a:srgbClr val="E5F5FF"/>
                    </a:solidFill>
                  </a:tcPr>
                </a:tc>
              </a:tr>
              <a:tr h="350518">
                <a:tc>
                  <a:txBody>
                    <a:bodyPr/>
                    <a:lstStyle/>
                    <a:p>
                      <a:r>
                        <a:rPr sz="850" b="0">
                          <a:solidFill>
                            <a:srgbClr val="4B4B4B"/>
                          </a:solidFill>
                          <a:latin typeface="Arial"/>
                        </a:rPr>
                        <a:t>Mark Paid</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DV assigned</a:t>
                      </a:r>
                    </a:p>
                  </a:txBody>
                  <a:tcPr marL="54864" marR="54864" marT="27432" marB="27432">
                    <a:solidFill>
                      <a:srgbClr val="FFFFFF"/>
                    </a:solidFill>
                  </a:tcPr>
                </a:tc>
                <a:tc>
                  <a:txBody>
                    <a:bodyPr/>
                    <a:lstStyle/>
                    <a:p>
                      <a:r>
                        <a:rPr sz="850" b="0">
                          <a:solidFill>
                            <a:srgbClr val="4B4B4B"/>
                          </a:solidFill>
                          <a:latin typeface="Arial"/>
                        </a:rPr>
                        <a:t>Marks the request paid; a refund disposition is completed, a 2307 batch can be released to the insurer</a:t>
                      </a:r>
                    </a:p>
                  </a:txBody>
                  <a:tcPr marL="54864" marR="54864" marT="27432" marB="27432">
                    <a:solidFill>
                      <a:srgbClr val="FFFFFF"/>
                    </a:solidFill>
                  </a:tcPr>
                </a:tc>
                <a:tc>
                  <a:txBody>
                    <a:bodyPr/>
                    <a:lstStyle/>
                    <a:p>
                      <a:r>
                        <a:rPr sz="850" b="0">
                          <a:solidFill>
                            <a:srgbClr val="4B4B4B"/>
                          </a:solidFill>
                          <a:latin typeface="Arial"/>
                        </a:rPr>
                        <a:t>Paid</a:t>
                      </a:r>
                    </a:p>
                  </a:txBody>
                  <a:tcPr marL="54864" marR="54864" marT="27432" marB="27432">
                    <a:solidFill>
                      <a:srgbClr val="FFFFFF"/>
                    </a:solidFill>
                  </a:tcPr>
                </a:tc>
                <a:tc>
                  <a:txBody>
                    <a:bodyPr/>
                    <a:lstStyle/>
                    <a:p>
                      <a:r>
                        <a:rPr sz="850" b="0">
                          <a:solidFill>
                            <a:srgbClr val="4B4B4B"/>
                          </a:solidFill>
                          <a:latin typeface="Arial"/>
                        </a:rPr>
                        <a:t>Disbursement status (NT-04)</a:t>
                      </a:r>
                    </a:p>
                  </a:txBody>
                  <a:tcPr marL="54864" marR="54864" marT="27432" marB="27432">
                    <a:solidFill>
                      <a:srgbClr val="FFFFFF"/>
                    </a:solidFill>
                  </a:tcPr>
                </a:tc>
              </a:tr>
              <a:tr h="350518">
                <a:tc>
                  <a:txBody>
                    <a:bodyPr/>
                    <a:lstStyle/>
                    <a:p>
                      <a:r>
                        <a:rPr sz="850" b="0">
                          <a:solidFill>
                            <a:srgbClr val="4B4B4B"/>
                          </a:solidFill>
                          <a:latin typeface="Arial"/>
                        </a:rPr>
                        <a:t>Return to Sender / Return Request</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Not paid, returned or cancelled</a:t>
                      </a:r>
                    </a:p>
                  </a:txBody>
                  <a:tcPr marL="54864" marR="54864" marT="27432" marB="27432">
                    <a:solidFill>
                      <a:srgbClr val="E5F5FF"/>
                    </a:solidFill>
                  </a:tcPr>
                </a:tc>
                <a:tc>
                  <a:txBody>
                    <a:bodyPr/>
                    <a:lstStyle/>
                    <a:p>
                      <a:r>
                        <a:rPr sz="850" b="0">
                          <a:solidFill>
                            <a:srgbClr val="4B4B4B"/>
                          </a:solidFill>
                          <a:latin typeface="Arial"/>
                        </a:rPr>
                        <a:t>Returns the request to the sending team with the reason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Disbursement status (NT-04)</a:t>
                      </a:r>
                    </a:p>
                  </a:txBody>
                  <a:tcPr marL="54864" marR="54864" marT="27432" marB="27432">
                    <a:solidFill>
                      <a:srgbClr val="E5F5FF"/>
                    </a:solidFill>
                  </a:tcPr>
                </a:tc>
              </a:tr>
            </a:tbl>
          </a:graphicData>
        </a:graphic>
      </p:graphicFrame>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Each status of a payment request is sent back to the team that sent it: Remittance updates the invoices, Cashiering completes the refund or releases the 2307 batch (FR-OP-120, FR-OP-036).</a:t>
                      </a:r>
                    </a:p>
                  </a:txBody>
                  <a:tcPr marL="54864" marR="54864" marT="27432" marB="27432">
                    <a:solidFill>
                      <a:srgbClr val="FFFFFF"/>
                    </a:solidFill>
                  </a:tcPr>
                </a:tc>
              </a:tr>
              <a:tr h="243840">
                <a:tc>
                  <a:txBody>
                    <a:bodyPr/>
                    <a:lstStyle/>
                    <a:p>
                      <a:r>
                        <a:rPr sz="1000" b="0">
                          <a:solidFill>
                            <a:srgbClr val="4B4B4B"/>
                          </a:solidFill>
                          <a:latin typeface="Arial"/>
                        </a:rPr>
                        <a:t>The Disbursement module of BRD-5 takes the same requests when it is delivered (FR-OP-120).</a:t>
                      </a:r>
                    </a:p>
                  </a:txBody>
                  <a:tcPr marL="54864" marR="54864" marT="27432" marB="27432">
                    <a:solidFill>
                      <a:srgbClr val="E5F5FF"/>
                    </a:solidFill>
                  </a:tcPr>
                </a:tc>
              </a:tr>
            </a:tbl>
          </a:graphicData>
        </a:graphic>
      </p:graphicFrame>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10</a:t>
                      </a:r>
                    </a:p>
                  </a:txBody>
                  <a:tcPr marL="54864" marR="54864" marT="27432" marB="27432">
                    <a:solidFill>
                      <a:srgbClr val="FFFFFF"/>
                    </a:solidFill>
                  </a:tcPr>
                </a:tc>
                <a:tc>
                  <a:txBody>
                    <a:bodyPr/>
                    <a:lstStyle/>
                    <a:p>
                      <a:r>
                        <a:rPr sz="900" b="0">
                          <a:solidFill>
                            <a:srgbClr val="4B4B4B"/>
                          </a:solidFill>
                          <a:latin typeface="Arial"/>
                        </a:rPr>
                        <a:t>Opens the Disbursement Queue</a:t>
                      </a:r>
                    </a:p>
                  </a:txBody>
                  <a:tcPr marL="54864" marR="54864" marT="27432" marB="27432">
                    <a:solidFill>
                      <a:srgbClr val="FFFFFF"/>
                    </a:solidFill>
                  </a:tcPr>
                </a:tc>
                <a:tc>
                  <a:txBody>
                    <a:bodyPr/>
                    <a:lstStyle/>
                    <a:p>
                      <a:r>
                        <a:rPr sz="900" b="0">
                          <a:solidFill>
                            <a:srgbClr val="4B4B4B"/>
                          </a:solidFill>
                          <a:latin typeface="Arial"/>
                        </a:rPr>
                        <a:t>SCR-OP-36_wt-b-step-10.png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8</a:t>
                      </a:r>
                    </a:p>
                  </a:txBody>
                  <a:tcPr marL="54864" marR="54864" marT="27432" marB="27432">
                    <a:solidFill>
                      <a:srgbClr val="E5F5FF"/>
                    </a:solidFill>
                  </a:tcPr>
                </a:tc>
                <a:tc>
                  <a:txBody>
                    <a:bodyPr/>
                    <a:lstStyle/>
                    <a:p>
                      <a:r>
                        <a:rPr sz="900" b="0">
                          <a:solidFill>
                            <a:srgbClr val="4B4B4B"/>
                          </a:solidFill>
                          <a:latin typeface="Arial"/>
                        </a:rPr>
                        <a:t>Acknowledges the payment request and assigns the DV number</a:t>
                      </a:r>
                    </a:p>
                  </a:txBody>
                  <a:tcPr marL="54864" marR="54864" marT="27432" marB="27432">
                    <a:solidFill>
                      <a:srgbClr val="E5F5FF"/>
                    </a:solidFill>
                  </a:tcPr>
                </a:tc>
                <a:tc>
                  <a:txBody>
                    <a:bodyPr/>
                    <a:lstStyle/>
                    <a:p>
                      <a:r>
                        <a:rPr sz="900" b="0">
                          <a:solidFill>
                            <a:srgbClr val="4B4B4B"/>
                          </a:solidFill>
                          <a:latin typeface="Arial"/>
                        </a:rPr>
                        <a:t>SCR-OP-36_wt-a-step-08.png</a:t>
                      </a:r>
                    </a:p>
                  </a:txBody>
                  <a:tcPr marL="54864" marR="54864" marT="27432" marB="27432">
                    <a:solidFill>
                      <a:srgbClr val="E5F5FF"/>
                    </a:solidFill>
                  </a:tcPr>
                </a:tc>
              </a:tr>
            </a:tbl>
          </a:graphicData>
        </a:graphic>
      </p:graphicFrame>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36-01-list.png"/>
          <p:cNvPicPr>
            <a:picLocks noChangeAspect="1"/>
          </p:cNvPicPr>
          <p:nvPr/>
        </p:nvPicPr>
        <p:blipFill>
          <a:blip r:embed="rId3"/>
          <a:stretch>
            <a:fillRect/>
          </a:stretch>
        </p:blipFill>
        <p:spPr>
          <a:xfrm>
            <a:off x="1127993" y="1261872"/>
            <a:ext cx="9935708"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Queue, To Acknowledge tab</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ux-scr-op-36-actions.png"/>
          <p:cNvPicPr>
            <a:picLocks noChangeAspect="1"/>
          </p:cNvPicPr>
          <p:nvPr/>
        </p:nvPicPr>
        <p:blipFill>
          <a:blip r:embed="rId3"/>
          <a:stretch>
            <a:fillRect/>
          </a:stretch>
        </p:blipFill>
        <p:spPr>
          <a:xfrm>
            <a:off x="1127993" y="1261872"/>
            <a:ext cx="9935708"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payment request, opened from the more button of its row</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v2.1-02</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op-36-02-dv.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DV Number dialog</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Adjustment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endorsement and cancellation request by stage, with the policy it is against: request number, policy number and ARN, invoice and placement slip, assured, insurer and product names, the endorsement type with the request type, the effective date, the aging in days, the status and the flags; one search box finds a request by request, policy, ARN, invoice or client.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Adjustment Workbench</a:t>
                      </a:r>
                    </a:p>
                    <a:p>
                      <a:r>
                        <a:rPr sz="950" b="0">
                          <a:solidFill>
                            <a:srgbClr val="4B4B4B"/>
                          </a:solidFill>
                          <a:latin typeface="Arial"/>
                        </a:rPr>
                        <a:t>Operations Home › Adjustment › Open (tiles For Validation, For Approval, For Posting, Returned, Payments to Re-apply)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FR-OP-061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finds any request by its policy and sees what waits at each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Draft / For Validation / For Approval / For Posting / Payments to Re-apply / Returned / Posted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policy, ARN, invoice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Also insurer, product, placement slip and insurer endorsement reference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ENR-yyyy-n with the date raised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 / 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insurer policy number as the ledger holds it now, with the ARN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 Placement Slip</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invoice with the placement slip of the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Assured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Assured name with the client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Product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and product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Business label of the endorsement type with the request type (for example Financial – Change of Cover, Flat Cancellation)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Effective / Aging / Status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Aging in days (0 days, 1 day, 12 days); flags Negative Adjustment, Quotation Required, Duplicate Override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Request</a:t>
                      </a:r>
                    </a:p>
                  </a:txBody>
                  <a:tcPr marL="54864" marR="54864" marT="27432" marB="27432">
                    <a:solidFill>
                      <a:srgbClr val="FFFFFF"/>
                    </a:solidFill>
                  </a:tcPr>
                </a:tc>
                <a:tc>
                  <a:txBody>
                    <a:bodyPr/>
                    <a:lstStyle/>
                    <a:p>
                      <a:r>
                        <a:rPr sz="850" b="0">
                          <a:solidFill>
                            <a:srgbClr val="4B4B4B"/>
                          </a:solidFill>
                          <a:latin typeface="Arial"/>
                        </a:rPr>
                        <a:t>Marketing Collection, Marketing Team Leader, Adjustment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Posting Batches</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Posting Batches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Batch Upload</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Batch Request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endorsement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request shows the policy it is against: the chain is request, invoice, account (ARN), placement slip, policy number (FR-OP-061).</a:t>
                      </a:r>
                    </a:p>
                  </a:txBody>
                  <a:tcPr marL="54864" marR="54864" marT="27432" marB="27432">
                    <a:solidFill>
                      <a:srgbClr val="FFFFFF"/>
                    </a:solidFill>
                  </a:tcPr>
                </a:tc>
              </a:tr>
              <a:tr h="243840">
                <a:tc>
                  <a:txBody>
                    <a:bodyPr/>
                    <a:lstStyle/>
                    <a:p>
                      <a:r>
                        <a:rPr sz="1000" b="0">
                          <a:solidFill>
                            <a:srgbClr val="4B4B4B"/>
                          </a:solidFill>
                          <a:latin typeface="Arial"/>
                        </a:rPr>
                        <a:t>Aging runs from submission (or creation) to completion in Philippine days (FR-OP-061).</a:t>
                      </a:r>
                    </a:p>
                  </a:txBody>
                  <a:tcPr marL="54864" marR="54864" marT="27432" marB="27432">
                    <a:solidFill>
                      <a:srgbClr val="E5F5FF"/>
                    </a:solidFill>
                  </a:tcPr>
                </a:tc>
              </a:tr>
              <a:tr h="243840">
                <a:tc>
                  <a:txBody>
                    <a:bodyPr/>
                    <a:lstStyle/>
                    <a:p>
                      <a:r>
                        <a:rPr sz="1000" b="0">
                          <a:solidFill>
                            <a:srgbClr val="4B4B4B"/>
                          </a:solidFill>
                          <a:latin typeface="Arial"/>
                        </a:rPr>
                        <a:t>Endorsement types show their business labels; codes are never shown (FR-OP-050).</a:t>
                      </a:r>
                    </a:p>
                  </a:txBody>
                  <a:tcPr marL="54864" marR="54864" marT="27432" marB="27432">
                    <a:solidFill>
                      <a:srgbClr val="FFFFFF"/>
                    </a:solidFill>
                  </a:tcPr>
                </a:tc>
              </a:tr>
            </a:tbl>
          </a:graphicData>
        </a:graphic>
      </p:graphicFrame>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7.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1 of 3)</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8.png"/>
          <p:cNvPicPr>
            <a:picLocks noChangeAspect="1"/>
          </p:cNvPicPr>
          <p:nvPr/>
        </p:nvPicPr>
        <p:blipFill>
          <a:blip r:embed="rId3"/>
          <a:stretch>
            <a:fillRect/>
          </a:stretch>
        </p:blipFill>
        <p:spPr>
          <a:xfrm>
            <a:off x="548640" y="1261872"/>
            <a:ext cx="11094415" cy="46681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2 of 3)</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9.png"/>
          <p:cNvPicPr>
            <a:picLocks noChangeAspect="1"/>
          </p:cNvPicPr>
          <p:nvPr/>
        </p:nvPicPr>
        <p:blipFill>
          <a:blip r:embed="rId3"/>
          <a:stretch>
            <a:fillRect/>
          </a:stretch>
        </p:blipFill>
        <p:spPr>
          <a:xfrm>
            <a:off x="548640" y="1261872"/>
            <a:ext cx="11094415" cy="2764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3 of 3)</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Raises an endorsement or cancellation in three steps: 1. Policy – choose one or more booked invoices by policy, ARN, invoice or client and see their policy details before anything is saved; 2. Request – the endorsement type, request type and the fields the type needs; 3. Recompute &amp; Submit – the before and after per component and per insurer, the duplicate and over-adjustment justifications, then save or submit. The same screen changes a draft or returned request.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New Request</a:t>
                      </a:r>
                    </a:p>
                    <a:p>
                      <a:r>
                        <a:rPr sz="950" b="0">
                          <a:solidFill>
                            <a:srgbClr val="4B4B4B"/>
                          </a:solidFill>
                          <a:latin typeface="Arial"/>
                        </a:rPr>
                        <a:t>Adjustment Workbench › New Request</a:t>
                      </a:r>
                    </a:p>
                    <a:p>
                      <a:r>
                        <a:rPr sz="950" b="0">
                          <a:solidFill>
                            <a:srgbClr val="4B4B4B"/>
                          </a:solidFill>
                          <a:latin typeface="Arial"/>
                        </a:rPr>
                        <a:t>Endorsement Request › Edit (draft or returned)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FR-OP-051, FR-OP-054, FR-OP-055, FR-OP-058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requests are raised against their policy with their financial effect shown before anything is posted.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4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graphicFrame>
        <p:nvGraphicFramePr>
          <p:cNvPr id="9" name="Table 8"/>
          <p:cNvGraphicFramePr>
            <a:graphicFrameLocks noGrp="1"/>
          </p:cNvGraphicFramePr>
          <p:nvPr/>
        </p:nvGraphicFramePr>
        <p:xfrm>
          <a:off x="548640" y="1325880"/>
          <a:ext cx="11094411" cy="374901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Steps</a:t>
                      </a:r>
                    </a:p>
                  </a:txBody>
                  <a:tcPr marL="54864" marR="54864" marT="27432" marB="27432">
                    <a:solidFill>
                      <a:srgbClr val="FFFFFF"/>
                    </a:solidFill>
                  </a:tcPr>
                </a:tc>
                <a:tc>
                  <a:txBody>
                    <a:bodyPr/>
                    <a:lstStyle/>
                    <a:p>
                      <a:r>
                        <a:rPr sz="850" b="0">
                          <a:solidFill>
                            <a:srgbClr val="4B4B4B"/>
                          </a:solidFill>
                          <a:latin typeface="Arial"/>
                        </a:rPr>
                        <a:t>Policy / Request / Recompute &amp; Submit</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Policy / Booked Invoice</a:t>
                      </a:r>
                    </a:p>
                  </a:txBody>
                  <a:tcPr marL="54864" marR="54864" marT="27432" marB="27432">
                    <a:solidFill>
                      <a:srgbClr val="E5F5FF"/>
                    </a:solidFill>
                  </a:tcPr>
                </a:tc>
                <a:tc>
                  <a:txBody>
                    <a:bodyPr/>
                    <a:lstStyle/>
                    <a:p>
                      <a:r>
                        <a:rPr sz="850" b="0">
                          <a:solidFill>
                            <a:srgbClr val="4B4B4B"/>
                          </a:solidFill>
                          <a:latin typeface="Arial"/>
                        </a:rPr>
                        <a:t>Search policy, ARN, invoice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Policy / Booked Invoice</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Up to 50 invoices; one request is raised per invoice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invoice</a:t>
                      </a:r>
                    </a:p>
                  </a:txBody>
                  <a:tcPr marL="54864" marR="54864" marT="27432" marB="27432">
                    <a:solidFill>
                      <a:srgbClr val="FFFFFF"/>
                    </a:solidFill>
                  </a:tcPr>
                </a:tc>
                <a:tc>
                  <a:txBody>
                    <a:bodyPr/>
                    <a:lstStyle/>
                    <a:p>
                      <a:r>
                        <a:rPr sz="850" b="0">
                          <a:solidFill>
                            <a:srgbClr val="4B4B4B"/>
                          </a:solidFill>
                          <a:latin typeface="Arial"/>
                        </a:rPr>
                        <a:t>Select at least one invoice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Policy / Booked Invoice</a:t>
                      </a:r>
                    </a:p>
                  </a:txBody>
                  <a:tcPr marL="54864" marR="54864" marT="27432" marB="27432">
                    <a:solidFill>
                      <a:srgbClr val="E5F5FF"/>
                    </a:solidFill>
                  </a:tcPr>
                </a:tc>
                <a:tc>
                  <a:txBody>
                    <a:bodyPr/>
                    <a:lstStyle/>
                    <a:p>
                      <a:r>
                        <a:rPr sz="850" b="0">
                          <a:solidFill>
                            <a:srgbClr val="4B4B4B"/>
                          </a:solidFill>
                          <a:latin typeface="Arial"/>
                        </a:rPr>
                        <a:t>Policy No. / ARN / Invoice No. / Assured / Insurer / Booked / Gross Premium / Payment / Lock</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Lock shows the team that holds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Policy Details</a:t>
                      </a:r>
                    </a:p>
                  </a:txBody>
                  <a:tcPr marL="54864" marR="54864" marT="27432" marB="27432">
                    <a:solidFill>
                      <a:srgbClr val="FFFFFF"/>
                    </a:solidFill>
                  </a:tcPr>
                </a:tc>
                <a:tc>
                  <a:txBody>
                    <a:bodyPr/>
                    <a:lstStyle/>
                    <a:p>
                      <a:r>
                        <a:rPr sz="850" b="0">
                          <a:solidFill>
                            <a:srgbClr val="4B4B4B"/>
                          </a:solidFill>
                          <a:latin typeface="Arial"/>
                        </a:rPr>
                        <a:t>Policy No. / ARN / Invoice / Placement Slip / Client / Insurer / Product / Period of Cover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Shown for every chosen invoice and kept on top of the later steps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a booked invoice to see its policy</a:t>
                      </a:r>
                    </a:p>
                  </a:txBody>
                  <a:tcPr marL="54864" marR="54864" marT="27432" marB="27432">
                    <a:solidFill>
                      <a:srgbClr val="FFFFFF"/>
                    </a:solidFill>
                  </a:tcPr>
                </a:tc>
              </a:tr>
              <a:tr h="1386830">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Endorsement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Business labels: Financial – Change of Sum Insured, Change of Insured Items, Change of Commission Rate, Change of Premium Rate, Extension of Cover, Change of Cover, Adjustment in Charges, Minimal Balance; Non-financial – Descriptive Change, Change of Period, Extension of Period, Cover Extension, Assured Information; Internal Adjustment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endorsement type</a:t>
                      </a:r>
                    </a:p>
                  </a:txBody>
                  <a:tcPr marL="54864" marR="54864" marT="27432" marB="27432">
                    <a:solidFill>
                      <a:srgbClr val="E5F5FF"/>
                    </a:solidFill>
                  </a:tcPr>
                </a:tc>
              </a:tr>
            </a:tbl>
          </a:graphicData>
        </a:graphic>
      </p:graphicFrame>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graphicFrame>
        <p:nvGraphicFramePr>
          <p:cNvPr id="9" name="Table 8"/>
          <p:cNvGraphicFramePr>
            <a:graphicFrameLocks noGrp="1"/>
          </p:cNvGraphicFramePr>
          <p:nvPr/>
        </p:nvGraphicFramePr>
        <p:xfrm>
          <a:off x="548640" y="1325880"/>
          <a:ext cx="11094411" cy="46176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257291">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Flat Cancellation; Flat Cancellation - Retain DST; Partial Cancellation; Increase / Decrease in TSI; Increase / Decrease of Premium Rate; VAT / Premium Tax exempt; Increase / Decrease of taxes; Change of Cover; Extension of Cover; Write-off; Decrease / Increase in Commission; Cancellation Reversal</a:t>
                      </a:r>
                    </a:p>
                  </a:txBody>
                  <a:tcPr marL="54864" marR="54864" marT="27432" marB="27432">
                    <a:solidFill>
                      <a:srgbClr val="FFFFFF"/>
                    </a:solidFill>
                  </a:tcPr>
                </a:tc>
                <a:tc>
                  <a:txBody>
                    <a:bodyPr/>
                    <a:lstStyle/>
                    <a:p>
                      <a:r>
                        <a:rPr sz="850" b="0">
                          <a:solidFill>
                            <a:srgbClr val="4B4B4B"/>
                          </a:solidFill>
                          <a:latin typeface="Arial"/>
                        </a:rPr>
                        <a:t>Cond.: a financial endorsement</a:t>
                      </a:r>
                    </a:p>
                  </a:txBody>
                  <a:tcPr marL="54864" marR="54864" marT="27432" marB="27432">
                    <a:solidFill>
                      <a:srgbClr val="FFFFFF"/>
                    </a:solidFill>
                  </a:tcPr>
                </a:tc>
                <a:tc>
                  <a:txBody>
                    <a:bodyPr/>
                    <a:lstStyle/>
                    <a:p>
                      <a:r>
                        <a:rPr sz="850" b="0">
                          <a:solidFill>
                            <a:srgbClr val="4B4B4B"/>
                          </a:solidFill>
                          <a:latin typeface="Arial"/>
                        </a:rPr>
                        <a:t>A non-financial endorsement carries none</a:t>
                      </a:r>
                    </a:p>
                  </a:txBody>
                  <a:tcPr marL="54864" marR="54864" marT="27432" marB="27432">
                    <a:solidFill>
                      <a:srgbClr val="FFFFFF"/>
                    </a:solidFill>
                  </a:tcPr>
                </a:tc>
                <a:tc>
                  <a:txBody>
                    <a:bodyPr/>
                    <a:lstStyle/>
                    <a:p>
                      <a:r>
                        <a:rPr sz="850" b="0">
                          <a:solidFill>
                            <a:srgbClr val="4B4B4B"/>
                          </a:solidFill>
                          <a:latin typeface="Arial"/>
                        </a:rPr>
                        <a:t>A financial endorsement needs its request type</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Reason for Cancellation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a cancellation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reason for cancellation</a:t>
                      </a:r>
                    </a:p>
                  </a:txBody>
                  <a:tcPr marL="54864" marR="54864" marT="27432" marB="27432">
                    <a:solidFill>
                      <a:srgbClr val="E5F5FF"/>
                    </a:solidFill>
                  </a:tcPr>
                </a:tc>
              </a:tr>
              <a:tr h="868674">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Refund / Premium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Short Period</a:t>
                      </a:r>
                    </a:p>
                  </a:txBody>
                  <a:tcPr marL="54864" marR="54864" marT="27432" marB="27432">
                    <a:solidFill>
                      <a:srgbClr val="FFFFFF"/>
                    </a:solidFill>
                  </a:tcPr>
                </a:tc>
                <a:tc>
                  <a:txBody>
                    <a:bodyPr/>
                    <a:lstStyle/>
                    <a:p>
                      <a:r>
                        <a:rPr sz="850" b="0">
                          <a:solidFill>
                            <a:srgbClr val="4B4B4B"/>
                          </a:solidFill>
                          <a:latin typeface="Arial"/>
                        </a:rPr>
                        <a:t>Cond.: cancellation or change of sum insured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Sum Insured Change / Premium 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Increase positive, decrease negative; rate blank = the product rate</a:t>
                      </a:r>
                    </a:p>
                  </a:txBody>
                  <a:tcPr marL="54864" marR="54864" marT="27432" marB="27432">
                    <a:solidFill>
                      <a:srgbClr val="E5F5FF"/>
                    </a:solidFill>
                  </a:tcPr>
                </a:tc>
                <a:tc>
                  <a:txBody>
                    <a:bodyPr/>
                    <a:lstStyle/>
                    <a:p>
                      <a:r>
                        <a:rPr sz="850" b="0">
                          <a:solidFill>
                            <a:srgbClr val="4B4B4B"/>
                          </a:solidFill>
                          <a:latin typeface="Arial"/>
                        </a:rPr>
                        <a:t>Cond.: change of sum insured</a:t>
                      </a:r>
                    </a:p>
                  </a:txBody>
                  <a:tcPr marL="54864" marR="54864" marT="27432" marB="27432">
                    <a:solidFill>
                      <a:srgbClr val="E5F5FF"/>
                    </a:solidFill>
                  </a:tcPr>
                </a:tc>
                <a:tc>
                  <a:txBody>
                    <a:bodyPr/>
                    <a:lstStyle/>
                    <a:p>
                      <a:r>
                        <a:rPr sz="850" b="0">
                          <a:solidFill>
                            <a:srgbClr val="4B4B4B"/>
                          </a:solidFill>
                          <a:latin typeface="Arial"/>
                        </a:rPr>
                        <a:t>Not zero</a:t>
                      </a:r>
                    </a:p>
                  </a:txBody>
                  <a:tcPr marL="54864" marR="54864" marT="27432" marB="27432">
                    <a:solidFill>
                      <a:srgbClr val="E5F5FF"/>
                    </a:solidFill>
                  </a:tcPr>
                </a:tc>
                <a:tc>
                  <a:txBody>
                    <a:bodyPr/>
                    <a:lstStyle/>
                    <a:p>
                      <a:r>
                        <a:rPr sz="850" b="0">
                          <a:solidFill>
                            <a:srgbClr val="4B4B4B"/>
                          </a:solidFill>
                          <a:latin typeface="Arial"/>
                        </a:rPr>
                        <a:t>Enter the increase (positive) or decrease (negative)</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Basic Premium / DST / Premium Tax / VAT / LGT / FST / Other Charges / Commission / VAT on Commission</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changes of a financial request priced by amounts</a:t>
                      </a:r>
                    </a:p>
                  </a:txBody>
                  <a:tcPr marL="54864" marR="54864" marT="27432" marB="27432">
                    <a:solidFill>
                      <a:srgbClr val="FFFFFF"/>
                    </a:solidFill>
                  </a:tcPr>
                </a:tc>
                <a:tc>
                  <a:txBody>
                    <a:bodyPr/>
                    <a:lstStyle/>
                    <a:p>
                      <a:r>
                        <a:rPr sz="850" b="0">
                          <a:solidFill>
                            <a:srgbClr val="4B4B4B"/>
                          </a:solidFill>
                          <a:latin typeface="Arial"/>
                        </a:rPr>
                        <a:t>Cond.: at least one</a:t>
                      </a:r>
                    </a:p>
                  </a:txBody>
                  <a:tcPr marL="54864" marR="54864" marT="27432" marB="27432">
                    <a:solidFill>
                      <a:srgbClr val="FFFFFF"/>
                    </a:solidFill>
                  </a:tcPr>
                </a:tc>
                <a:tc>
                  <a:txBody>
                    <a:bodyPr/>
                    <a:lstStyle/>
                    <a:p>
                      <a:r>
                        <a:rPr sz="850" b="0">
                          <a:solidFill>
                            <a:srgbClr val="4B4B4B"/>
                          </a:solidFill>
                          <a:latin typeface="Arial"/>
                        </a:rPr>
                        <a:t>At least one change</a:t>
                      </a:r>
                    </a:p>
                  </a:txBody>
                  <a:tcPr marL="54864" marR="54864" marT="27432" marB="27432">
                    <a:solidFill>
                      <a:srgbClr val="FFFFFF"/>
                    </a:solidFill>
                  </a:tcPr>
                </a:tc>
                <a:tc>
                  <a:txBody>
                    <a:bodyPr/>
                    <a:lstStyle/>
                    <a:p>
                      <a:r>
                        <a:rPr sz="850" b="0">
                          <a:solidFill>
                            <a:srgbClr val="4B4B4B"/>
                          </a:solidFill>
                          <a:latin typeface="Arial"/>
                        </a:rPr>
                        <a:t>Enter at least one premium, charge or commission change</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Effective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within the cover of the invoice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the cover</a:t>
                      </a:r>
                    </a:p>
                  </a:txBody>
                  <a:tcPr marL="54864" marR="54864" marT="27432" marB="27432">
                    <a:solidFill>
                      <a:srgbClr val="E5F5FF"/>
                    </a:solidFill>
                  </a:tcPr>
                </a:tc>
                <a:tc>
                  <a:txBody>
                    <a:bodyPr/>
                    <a:lstStyle/>
                    <a:p>
                      <a:r>
                        <a:rPr sz="850" b="0">
                          <a:solidFill>
                            <a:srgbClr val="4B4B4B"/>
                          </a:solidFill>
                          <a:latin typeface="Arial"/>
                        </a:rPr>
                        <a:t>Enter the effective date</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Insurer Endorsement Ref.</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Checked for duplicates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New Inception / New Expiry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For a change or extension of period</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The new expiry after the new inception</a:t>
                      </a:r>
                    </a:p>
                  </a:txBody>
                  <a:tcPr marL="54864" marR="54864" marT="27432" marB="27432">
                    <a:solidFill>
                      <a:srgbClr val="FFFFFF"/>
                    </a:solidFill>
                  </a:tcPr>
                </a:tc>
                <a:tc>
                  <a:txBody>
                    <a:bodyPr/>
                    <a:lstStyle/>
                    <a:p>
                      <a:r>
                        <a:rPr sz="850" b="0">
                          <a:solidFill>
                            <a:srgbClr val="4B4B4B"/>
                          </a:solidFill>
                          <a:latin typeface="Arial"/>
                        </a:rPr>
                        <a:t>The new expiry must be after the new inception</a:t>
                      </a:r>
                    </a:p>
                  </a:txBody>
                  <a:tcPr marL="54864" marR="54864" marT="27432" marB="27432">
                    <a:solidFill>
                      <a:srgbClr val="FFFFFF"/>
                    </a:solidFill>
                  </a:tcPr>
                </a:tc>
              </a:tr>
              <a:tr h="350518">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Description / Additional / Other Instructions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Instructions are printed on the endorsement slip</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Description 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Class / Premium Change / Commission Change / VAT on Commission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Recompute &amp; Submit</a:t>
                      </a:r>
                    </a:p>
                  </a:txBody>
                  <a:tcPr marL="54864" marR="54864" marT="27432" marB="27432">
                    <a:solidFill>
                      <a:srgbClr val="E5F5FF"/>
                    </a:solidFill>
                  </a:tcPr>
                </a:tc>
                <a:tc>
                  <a:txBody>
                    <a:bodyPr/>
                    <a:lstStyle/>
                    <a:p>
                      <a:r>
                        <a:rPr sz="850" b="0">
                          <a:solidFill>
                            <a:srgbClr val="4B4B4B"/>
                          </a:solidFill>
                          <a:latin typeface="Arial"/>
                        </a:rPr>
                        <a:t>Before and After</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Component, Before, Change, After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financial effect</a:t>
                      </a:r>
                    </a:p>
                  </a:txBody>
                  <a:tcPr marL="54864" marR="54864" marT="27432" marB="27432">
                    <a:solidFill>
                      <a:srgbClr val="E5F5FF"/>
                    </a:solidFill>
                  </a:tcPr>
                </a:tc>
              </a:tr>
              <a:tr h="480057">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Per Insurer</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Share, Premium / Refund, Commission, VAT; the lead insurer marked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change</a:t>
                      </a:r>
                    </a:p>
                  </a:txBody>
                  <a:tcPr marL="54864" marR="54864" marT="27432" marB="27432">
                    <a:solidFill>
                      <a:srgbClr val="FFFFFF"/>
                    </a:solidFill>
                  </a:tcPr>
                </a:tc>
              </a:tr>
              <a:tr h="609596">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Recompute &amp; Submit</a:t>
                      </a:r>
                    </a:p>
                  </a:txBody>
                  <a:tcPr marL="54864" marR="54864" marT="27432" marB="27432">
                    <a:solidFill>
                      <a:srgbClr val="E5F5FF"/>
                    </a:solidFill>
                  </a:tcPr>
                </a:tc>
                <a:tc>
                  <a:txBody>
                    <a:bodyPr/>
                    <a:lstStyle/>
                    <a:p>
                      <a:r>
                        <a:rPr sz="850" b="0">
                          <a:solidFill>
                            <a:srgbClr val="4B4B4B"/>
                          </a:solidFill>
                          <a:latin typeface="Arial"/>
                        </a:rPr>
                        <a:t>Duplicate justification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Shown when a request has the same invoice, request type, reason and endorsement reference</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Needed to proceed</a:t>
                      </a:r>
                    </a:p>
                  </a:txBody>
                  <a:tcPr marL="54864" marR="54864" marT="27432" marB="27432">
                    <a:solidFill>
                      <a:srgbClr val="E5F5FF"/>
                    </a:solidFill>
                  </a:tcPr>
                </a:tc>
                <a:tc>
                  <a:txBody>
                    <a:bodyPr/>
                    <a:lstStyle/>
                    <a:p>
                      <a:r>
                        <a:rPr sz="850" b="0">
                          <a:solidFill>
                            <a:srgbClr val="4B4B4B"/>
                          </a:solidFill>
                          <a:latin typeface="Arial"/>
                        </a:rPr>
                        <a:t>Possible duplicate of &lt;request&gt; (same invoice, request type, reason and endorsement reference): give the justification to proceed</a:t>
                      </a:r>
                    </a:p>
                  </a:txBody>
                  <a:tcPr marL="54864" marR="54864" marT="27432" marB="27432">
                    <a:solidFill>
                      <a:srgbClr val="E5F5FF"/>
                    </a:solidFill>
                  </a:tcPr>
                </a:tc>
              </a:tr>
              <a:tr h="480057">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Over-adjustment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Shown when the cumulative adjustments exceed the baseline of the original premium</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Needed to submit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Next / Back</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Step complete</a:t>
                      </a:r>
                    </a:p>
                  </a:txBody>
                  <a:tcPr marL="54864" marR="54864" marT="27432" marB="27432">
                    <a:solidFill>
                      <a:srgbClr val="FFFFFF"/>
                    </a:solidFill>
                  </a:tcPr>
                </a:tc>
                <a:tc>
                  <a:txBody>
                    <a:bodyPr/>
                    <a:lstStyle/>
                    <a:p>
                      <a:r>
                        <a:rPr sz="850" b="0">
                          <a:solidFill>
                            <a:srgbClr val="4B4B4B"/>
                          </a:solidFill>
                          <a:latin typeface="Arial"/>
                        </a:rPr>
                        <a:t>Moves between the steps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Recompute</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Request step complete</a:t>
                      </a:r>
                    </a:p>
                  </a:txBody>
                  <a:tcPr marL="54864" marR="54864" marT="27432" marB="27432">
                    <a:solidFill>
                      <a:srgbClr val="E5F5FF"/>
                    </a:solidFill>
                  </a:tcPr>
                </a:tc>
                <a:tc>
                  <a:txBody>
                    <a:bodyPr/>
                    <a:lstStyle/>
                    <a:p>
                      <a:r>
                        <a:rPr sz="850" b="0">
                          <a:solidFill>
                            <a:srgbClr val="4B4B4B"/>
                          </a:solidFill>
                          <a:latin typeface="Arial"/>
                        </a:rPr>
                        <a:t>Computes the before and after per component and per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one request per invoice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 for Validation</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Request complete</a:t>
                      </a:r>
                    </a:p>
                  </a:txBody>
                  <a:tcPr marL="54864" marR="54864" marT="27432" marB="27432">
                    <a:solidFill>
                      <a:srgbClr val="E5F5FF"/>
                    </a:solidFill>
                  </a:tcPr>
                </a:tc>
                <a:tc>
                  <a:txBody>
                    <a:bodyPr/>
                    <a:lstStyle/>
                    <a:p>
                      <a:r>
                        <a:rPr sz="850" b="0">
                          <a:solidFill>
                            <a:srgbClr val="4B4B4B"/>
                          </a:solidFill>
                          <a:latin typeface="Arial"/>
                        </a:rPr>
                        <a:t>Saves and submits one request per invoice; the invoice is locked by Adjustment and a reducing request flags a pending negative adjustment</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Endorsement request status (NT-16); Negative adjustment notice (NT-13)</a:t>
                      </a:r>
                    </a:p>
                  </a:txBody>
                  <a:tcPr marL="54864" marR="54864" marT="27432" marB="27432">
                    <a:solidFill>
                      <a:srgbClr val="E5F5FF"/>
                    </a:solidFill>
                  </a:tcPr>
                </a:tc>
              </a:tr>
            </a:tbl>
          </a:graphicData>
        </a:graphic>
      </p:graphicFrame>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graphicFrame>
        <p:nvGraphicFramePr>
          <p:cNvPr id="9" name="Table 8"/>
          <p:cNvGraphicFramePr>
            <a:graphicFrameLocks noGrp="1"/>
          </p:cNvGraphicFramePr>
          <p:nvPr/>
        </p:nvGraphicFramePr>
        <p:xfrm>
          <a:off x="548640" y="1325880"/>
          <a:ext cx="11094415" cy="23469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request per invoice; the wizard and the upload raise several requests at once (FR-OP-050).</a:t>
                      </a:r>
                    </a:p>
                  </a:txBody>
                  <a:tcPr marL="54864" marR="54864" marT="27432" marB="27432">
                    <a:solidFill>
                      <a:srgbClr val="FFFFFF"/>
                    </a:solidFill>
                  </a:tcPr>
                </a:tc>
              </a:tr>
              <a:tr h="396240">
                <a:tc>
                  <a:txBody>
                    <a:bodyPr/>
                    <a:lstStyle/>
                    <a:p>
                      <a:r>
                        <a:rPr sz="1000" b="0">
                          <a:solidFill>
                            <a:srgbClr val="4B4B4B"/>
                          </a:solidFill>
                          <a:latin typeface="Arial"/>
                        </a:rPr>
                        <a:t>The ARN, invoice, policy, client, insurer, segment, Account Officer, account and product are copied from the ledger and the account, so every request is linked to its policy and placement (FR-OP-050).</a:t>
                      </a:r>
                    </a:p>
                  </a:txBody>
                  <a:tcPr marL="54864" marR="54864" marT="27432" marB="27432">
                    <a:solidFill>
                      <a:srgbClr val="E5F5FF"/>
                    </a:solidFill>
                  </a:tcPr>
                </a:tc>
              </a:tr>
              <a:tr h="243840">
                <a:tc>
                  <a:txBody>
                    <a:bodyPr/>
                    <a:lstStyle/>
                    <a:p>
                      <a:r>
                        <a:rPr sz="1000" b="0">
                          <a:solidFill>
                            <a:srgbClr val="4B4B4B"/>
                          </a:solidFill>
                          <a:latin typeface="Arial"/>
                        </a:rPr>
                        <a:t>The effective date is within the cover of the invoice; a return invoice, a cancelled or written-off invoice and an invoice locked by another team are refused (FR-OP-050).</a:t>
                      </a:r>
                    </a:p>
                  </a:txBody>
                  <a:tcPr marL="54864" marR="54864" marT="27432" marB="27432">
                    <a:solidFill>
                      <a:srgbClr val="FFFFFF"/>
                    </a:solidFill>
                  </a:tcPr>
                </a:tc>
              </a:tr>
              <a:tr h="243840">
                <a:tc>
                  <a:txBody>
                    <a:bodyPr/>
                    <a:lstStyle/>
                    <a:p>
                      <a:r>
                        <a:rPr sz="1000" b="0">
                          <a:solidFill>
                            <a:srgbClr val="4B4B4B"/>
                          </a:solidFill>
                          <a:latin typeface="Arial"/>
                        </a:rPr>
                        <a:t>A cancellation cannot be combined with another open financial request on the same invoice (FR-OP-050).</a:t>
                      </a:r>
                    </a:p>
                  </a:txBody>
                  <a:tcPr marL="54864" marR="54864" marT="27432" marB="27432">
                    <a:solidFill>
                      <a:srgbClr val="E5F5FF"/>
                    </a:solidFill>
                  </a:tcPr>
                </a:tc>
              </a:tr>
              <a:tr h="243840">
                <a:tc>
                  <a:txBody>
                    <a:bodyPr/>
                    <a:lstStyle/>
                    <a:p>
                      <a:r>
                        <a:rPr sz="1000" b="0">
                          <a:solidFill>
                            <a:srgbClr val="4B4B4B"/>
                          </a:solidFill>
                          <a:latin typeface="Arial"/>
                        </a:rPr>
                        <a:t>A possible duplicate needs a justification, which is kept on the request (FR-OP-051).</a:t>
                      </a:r>
                    </a:p>
                  </a:txBody>
                  <a:tcPr marL="54864" marR="54864" marT="27432" marB="27432">
                    <a:solidFill>
                      <a:srgbClr val="FFFFFF"/>
                    </a:solidFill>
                  </a:tcPr>
                </a:tc>
              </a:tr>
              <a:tr h="243840">
                <a:tc>
                  <a:txBody>
                    <a:bodyPr/>
                    <a:lstStyle/>
                    <a:p>
                      <a:r>
                        <a:rPr sz="1000" b="0">
                          <a:solidFill>
                            <a:srgbClr val="4B4B4B"/>
                          </a:solidFill>
                          <a:latin typeface="Arial"/>
                        </a:rPr>
                        <a:t>The recompute is rated once per insurer share and split by the shares of the invoice (FR-OP-054).</a:t>
                      </a:r>
                    </a:p>
                  </a:txBody>
                  <a:tcPr marL="54864" marR="54864" marT="27432" marB="27432">
                    <a:solidFill>
                      <a:srgbClr val="E5F5FF"/>
                    </a:solidFill>
                  </a:tcPr>
                </a:tc>
              </a:tr>
              <a:tr h="243840">
                <a:tc>
                  <a:txBody>
                    <a:bodyPr/>
                    <a:lstStyle/>
                    <a:p>
                      <a:r>
                        <a:rPr sz="1000" b="0">
                          <a:solidFill>
                            <a:srgbClr val="4B4B4B"/>
                          </a:solidFill>
                          <a:latin typeface="Arial"/>
                        </a:rPr>
                        <a:t>Cumulative adjustments above the baseline of the original premium, or below zero, need a justification and raise an alert (FR-OP-058).</a:t>
                      </a:r>
                    </a:p>
                  </a:txBody>
                  <a:tcPr marL="54864" marR="54864" marT="27432" marB="27432">
                    <a:solidFill>
                      <a:srgbClr val="FFFFFF"/>
                    </a:solidFill>
                  </a:tcPr>
                </a:tc>
              </a:tr>
              <a:tr h="243840">
                <a:tc>
                  <a:txBody>
                    <a:bodyPr/>
                    <a:lstStyle/>
                    <a:p>
                      <a:r>
                        <a:rPr sz="1000" b="0">
                          <a:solidFill>
                            <a:srgbClr val="4B4B4B"/>
                          </a:solidFill>
                          <a:latin typeface="Arial"/>
                        </a:rPr>
                        <a:t>A TSI increase above the package limit needs the quotation of Marketing linked before validation (FR-OP-055).</a:t>
                      </a:r>
                    </a:p>
                  </a:txBody>
                  <a:tcPr marL="54864" marR="54864" marT="27432" marB="27432">
                    <a:solidFill>
                      <a:srgbClr val="E5F5FF"/>
                    </a:solidFill>
                  </a:tcPr>
                </a:tc>
              </a:tr>
            </a:tbl>
          </a:graphicData>
        </a:graphic>
      </p:graphicFrame>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Request, searches the policy number and ticks the invoice</a:t>
                      </a:r>
                    </a:p>
                  </a:txBody>
                  <a:tcPr marL="54864" marR="54864" marT="27432" marB="27432">
                    <a:solidFill>
                      <a:srgbClr val="FFFFFF"/>
                    </a:solidFill>
                  </a:tcPr>
                </a:tc>
                <a:tc>
                  <a:txBody>
                    <a:bodyPr/>
                    <a:lstStyle/>
                    <a:p>
                      <a:r>
                        <a:rPr sz="900" b="0">
                          <a:solidFill>
                            <a:srgbClr val="4B4B4B"/>
                          </a:solidFill>
                          <a:latin typeface="Arial"/>
                        </a:rPr>
                        <a:t>SCR-OP-38_wt-b-step-01.png</a:t>
                      </a:r>
                    </a:p>
                  </a:txBody>
                  <a:tcPr marL="54864" marR="54864" marT="27432" marB="27432">
                    <a:solidFill>
                      <a:srgbClr val="FFFFFF"/>
                    </a:solidFill>
                  </a:tcPr>
                </a:tc>
              </a:tr>
              <a:tr h="365760">
                <a:tc>
                  <a:txBody>
                    <a:bodyPr/>
                    <a:lstStyle/>
                    <a:p>
                      <a:r>
                        <a:rPr sz="900" b="0">
                          <a:solidFill>
                            <a:srgbClr val="4B4B4B"/>
                          </a:solidFill>
                          <a:latin typeface="Arial"/>
                        </a:rPr>
                        <a:t>Filled</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Chooses Financial – Change of Cover, Flat Cancellation, the reason, the effective date and the description, and clicks Recompute</a:t>
                      </a:r>
                    </a:p>
                  </a:txBody>
                  <a:tcPr marL="54864" marR="54864" marT="27432" marB="27432">
                    <a:solidFill>
                      <a:srgbClr val="E5F5FF"/>
                    </a:solidFill>
                  </a:tcPr>
                </a:tc>
                <a:tc>
                  <a:txBody>
                    <a:bodyPr/>
                    <a:lstStyle/>
                    <a:p>
                      <a:r>
                        <a:rPr sz="900" b="0">
                          <a:solidFill>
                            <a:srgbClr val="4B4B4B"/>
                          </a:solidFill>
                          <a:latin typeface="Arial"/>
                        </a:rPr>
                        <a:t>SCR-OP-38_wt-b-step-02.png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Searches on New Request the invoice that is in the remittance batch for approval</a:t>
                      </a:r>
                    </a:p>
                  </a:txBody>
                  <a:tcPr marL="54864" marR="54864" marT="27432" marB="27432">
                    <a:solidFill>
                      <a:srgbClr val="FFFFFF"/>
                    </a:solidFill>
                  </a:tcPr>
                </a:tc>
                <a:tc>
                  <a:txBody>
                    <a:bodyPr/>
                    <a:lstStyle/>
                    <a:p>
                      <a:r>
                        <a:rPr sz="900" b="0">
                          <a:solidFill>
                            <a:srgbClr val="4B4B4B"/>
                          </a:solidFill>
                          <a:latin typeface="Arial"/>
                        </a:rPr>
                        <a:t>SCR-OP-38_wt-d-step-02.png</a:t>
                      </a:r>
                    </a:p>
                  </a:txBody>
                  <a:tcPr marL="54864" marR="54864" marT="27432" marB="27432">
                    <a:solidFill>
                      <a:srgbClr val="FFFFFF"/>
                    </a:solidFill>
                  </a:tcPr>
                </a:tc>
              </a:tr>
            </a:tbl>
          </a:graphicData>
        </a:graphic>
      </p:graphicFrame>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0.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1, Policy: the booked invoice chosen and its policy details (part 1 of 2)</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1.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1, Policy: the booked invoice chosen and its policy details (part 2 of 2)</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2.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Request: a flat cancellation with its reason and effective date (part 1 of 2)</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3.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Request: a flat cancellation with its reason and effective date (part 2 of 2)</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1 of 3)</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5.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2 of 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6.png"/>
          <p:cNvPicPr>
            <a:picLocks noChangeAspect="1"/>
          </p:cNvPicPr>
          <p:nvPr/>
        </p:nvPicPr>
        <p:blipFill>
          <a:blip r:embed="rId3"/>
          <a:stretch>
            <a:fillRect/>
          </a:stretch>
        </p:blipFill>
        <p:spPr>
          <a:xfrm>
            <a:off x="548640" y="1261872"/>
            <a:ext cx="11094415" cy="35865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3 of 3)</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17.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1 of 3)</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18.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2 of 3)</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19.png"/>
          <p:cNvPicPr>
            <a:picLocks noChangeAspect="1"/>
          </p:cNvPicPr>
          <p:nvPr/>
        </p:nvPicPr>
        <p:blipFill>
          <a:blip r:embed="rId3"/>
          <a:stretch>
            <a:fillRect/>
          </a:stretch>
        </p:blipFill>
        <p:spPr>
          <a:xfrm>
            <a:off x="548640" y="1261872"/>
            <a:ext cx="11094415" cy="535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3 of 3)</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graphicFrame>
        <p:nvGraphicFramePr>
          <p:cNvPr id="10" name="Table 9"/>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request with the policy it is against (Policy No., ARN and Invoice chips), the key facts, the endorsement workflow with its history and actions, and the tabs Details, Policy, Recompute, Accounting, Policy Transactions, Documents and History; the endorsement slip and the validation slip are produced here.</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Adjustment Workbench › Endorsement Request</a:t>
                      </a:r>
                    </a:p>
                    <a:p>
                      <a:r>
                        <a:rPr sz="950" b="0">
                          <a:solidFill>
                            <a:srgbClr val="4B4B4B"/>
                          </a:solidFill>
                          <a:latin typeface="Arial"/>
                        </a:rPr>
                        <a:t>Adjustment Workbench › open a row</a:t>
                      </a:r>
                    </a:p>
                    <a:p>
                      <a:r>
                        <a:rPr sz="950" b="0">
                          <a:solidFill>
                            <a:srgbClr val="4B4B4B"/>
                          </a:solidFill>
                          <a:latin typeface="Arial"/>
                        </a:rPr>
                        <a:t>Invoice 360 › Adjustments tab; Policy Transactions › request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FR-OP-006, FR-OP-052, FR-OP-053, FR-OP-055, FR-OP-056, FR-OP-057, FR-OP-060, FR-OP-061, FR-OP-114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endorsement is validated, approved, posted with its accounting and visible in the policy history.</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(8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SCR-OP-39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Policy No. / ARN / Invoice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Status pill</a:t>
                      </a:r>
                    </a:p>
                  </a:txBody>
                  <a:tcPr marL="54864" marR="54864" marT="27432" marB="27432">
                    <a:solidFill>
                      <a:srgbClr val="E5F5FF"/>
                    </a:solidFill>
                  </a:tcPr>
                </a:tc>
                <a:tc>
                  <a:txBody>
                    <a:bodyPr/>
                    <a:lstStyle/>
                    <a:p>
                      <a:r>
                        <a:rPr sz="850" b="0">
                          <a:solidFill>
                            <a:srgbClr val="4B4B4B"/>
                          </a:solidFill>
                          <a:latin typeface="Arial"/>
                        </a:rPr>
                        <a:t>Draft, For Validation, For Approval, For Posting, Payments to Re-apply, Posted, Returned,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Policy No. / Invoice / Insurer / Product / Period / Effective / Type / Requested By / Aging / Placement Slip / Batch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Period and effective date on one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Endorsement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Draft request, For validation, For approval, For posting, Posted; Returned to requester and Cancelled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Details / Policy / Recompute / Accounting / Policy Transactions / Documents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Endorsement Type / Request Type / Reason / Effective Date / Refund Basis / Sum Insured Change / Insurer Endorsement Ref. / New Period / Description / Instructions / Duplicate Justification / Baseline Justification / Quotation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Requested By / Submitted / Validated / Approved / Posted / Completed / Aging / Endorsement Slip</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 and time of each step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Policy</a:t>
                      </a:r>
                    </a:p>
                  </a:txBody>
                  <a:tcPr marL="54864" marR="54864" marT="27432" marB="27432">
                    <a:solidFill>
                      <a:srgbClr val="E5F5FF"/>
                    </a:solidFill>
                  </a:tcPr>
                </a:tc>
                <a:tc>
                  <a:txBody>
                    <a:bodyPr/>
                    <a:lstStyle/>
                    <a:p>
                      <a:r>
                        <a:rPr sz="850" b="0">
                          <a:solidFill>
                            <a:srgbClr val="4B4B4B"/>
                          </a:solidFill>
                          <a:latin typeface="Arial"/>
                        </a:rPr>
                        <a:t>ARN / Placement Slip / Client / Insurer / Product / Period of Cover / Gross 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Links to the account and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Recompute</a:t>
                      </a:r>
                    </a:p>
                  </a:txBody>
                  <a:tcPr marL="54864" marR="54864" marT="27432" marB="27432">
                    <a:solidFill>
                      <a:srgbClr val="FFFFFF"/>
                    </a:solidFill>
                  </a:tcPr>
                </a:tc>
                <a:tc>
                  <a:txBody>
                    <a:bodyPr/>
                    <a:lstStyle/>
                    <a:p>
                      <a:r>
                        <a:rPr sz="850" b="0">
                          <a:solidFill>
                            <a:srgbClr val="4B4B4B"/>
                          </a:solidFill>
                          <a:latin typeface="Arial"/>
                        </a:rPr>
                        <a:t>Before and After / Per Insurer</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As on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SCR-OP-39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Accounting</a:t>
                      </a:r>
                    </a:p>
                  </a:txBody>
                  <a:tcPr marL="54864" marR="54864" marT="27432" marB="27432">
                    <a:solidFill>
                      <a:srgbClr val="FFFFFF"/>
                    </a:solidFill>
                  </a:tcPr>
                </a:tc>
                <a:tc>
                  <a:txBody>
                    <a:bodyPr/>
                    <a:lstStyle/>
                    <a:p>
                      <a:r>
                        <a:rPr sz="850" b="0">
                          <a:solidFill>
                            <a:srgbClr val="4B4B4B"/>
                          </a:solidFill>
                          <a:latin typeface="Arial"/>
                        </a:rPr>
                        <a:t>Journal / GL Account / Party / Debit / Credit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Every journal the posting wrote, including the re-application of payments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Nothing posted yet</a:t>
                      </a:r>
                    </a:p>
                  </a:txBody>
                  <a:tcPr marL="54864" marR="54864" marT="27432" marB="27432">
                    <a:solidFill>
                      <a:srgbClr val="FFFFFF"/>
                    </a:solidFill>
                  </a:tcPr>
                </a:tc>
              </a:tr>
              <a:tr h="739135">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Policy Transactions</a:t>
                      </a:r>
                    </a:p>
                  </a:txBody>
                  <a:tcPr marL="54864" marR="54864" marT="27432" marB="27432">
                    <a:solidFill>
                      <a:srgbClr val="E5F5FF"/>
                    </a:solidFill>
                  </a:tcPr>
                </a:tc>
                <a:tc>
                  <a:txBody>
                    <a:bodyPr/>
                    <a:lstStyle/>
                    <a:p>
                      <a:r>
                        <a:rPr sz="850" b="0">
                          <a:solidFill>
                            <a:srgbClr val="4B4B4B"/>
                          </a:solidFill>
                          <a:latin typeface="Arial"/>
                        </a:rPr>
                        <a:t>Date / Transaction / Reference / Premium Change / Taxes / Commission / Gross Premium After / Status / Accounting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 of this request highlighted; the reference under the transaction, the commission change under the taxes, the accounting under the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Supporting Documents of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File type, size and content checks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Link Quotation dialog</a:t>
                      </a:r>
                    </a:p>
                  </a:txBody>
                  <a:tcPr marL="54864" marR="54864" marT="27432" marB="27432">
                    <a:solidFill>
                      <a:srgbClr val="E5F5FF"/>
                    </a:solidFill>
                  </a:tcPr>
                </a:tc>
                <a:tc>
                  <a:txBody>
                    <a:bodyPr/>
                    <a:lstStyle/>
                    <a:p>
                      <a:r>
                        <a:rPr sz="850" b="0">
                          <a:solidFill>
                            <a:srgbClr val="4B4B4B"/>
                          </a:solidFill>
                          <a:latin typeface="Arial"/>
                        </a:rPr>
                        <a:t>Quotation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quotation number</a:t>
                      </a:r>
                    </a:p>
                  </a:txBody>
                  <a:tcPr marL="54864" marR="54864" marT="27432" marB="27432">
                    <a:solidFill>
                      <a:srgbClr val="E5F5FF"/>
                    </a:solidFill>
                  </a:tcPr>
                </a:tc>
              </a:tr>
            </a:tbl>
          </a:graphicData>
        </a:graphic>
      </p:graphicFrame>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graphicFrame>
        <p:nvGraphicFramePr>
          <p:cNvPr id="9" name="Table 8"/>
          <p:cNvGraphicFramePr>
            <a:graphicFrameLocks noGrp="1"/>
          </p:cNvGraphicFramePr>
          <p:nvPr/>
        </p:nvGraphicFramePr>
        <p:xfrm>
          <a:off x="548640" y="1325880"/>
          <a:ext cx="11094412" cy="385569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Opens the request in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Validation / Resubmit</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Draft / Returned</a:t>
                      </a:r>
                    </a:p>
                  </a:txBody>
                  <a:tcPr marL="54864" marR="54864" marT="27432" marB="27432">
                    <a:solidFill>
                      <a:srgbClr val="E5F5FF"/>
                    </a:solidFill>
                  </a:tcPr>
                </a:tc>
                <a:tc>
                  <a:txBody>
                    <a:bodyPr/>
                    <a:lstStyle/>
                    <a:p>
                      <a:r>
                        <a:rPr sz="850" b="0">
                          <a:solidFill>
                            <a:srgbClr val="4B4B4B"/>
                          </a:solidFill>
                          <a:latin typeface="Arial"/>
                        </a:rPr>
                        <a:t>Sends the request to Adjustment</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480057">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For validation</a:t>
                      </a:r>
                    </a:p>
                  </a:txBody>
                  <a:tcPr marL="54864" marR="54864" marT="27432" marB="27432">
                    <a:solidFill>
                      <a:srgbClr val="FFFFFF"/>
                    </a:solidFill>
                  </a:tcPr>
                </a:tc>
                <a:tc>
                  <a:txBody>
                    <a:bodyPr/>
                    <a:lstStyle/>
                    <a:p>
                      <a:r>
                        <a:rPr sz="850" b="0">
                          <a:solidFill>
                            <a:srgbClr val="4B4B4B"/>
                          </a:solidFill>
                          <a:latin typeface="Arial"/>
                        </a:rPr>
                        <a:t>Validates the request: to approval, or straight to posting when it has no financial effect (an extension of cover always needs approval)</a:t>
                      </a:r>
                    </a:p>
                  </a:txBody>
                  <a:tcPr marL="54864" marR="54864" marT="27432" marB="27432">
                    <a:solidFill>
                      <a:srgbClr val="FFFFFF"/>
                    </a:solidFill>
                  </a:tcPr>
                </a:tc>
                <a:tc>
                  <a:txBody>
                    <a:bodyPr/>
                    <a:lstStyle/>
                    <a:p>
                      <a:r>
                        <a:rPr sz="850" b="0">
                          <a:solidFill>
                            <a:srgbClr val="4B4B4B"/>
                          </a:solidFill>
                          <a:latin typeface="Arial"/>
                        </a:rPr>
                        <a:t>For approval or For posting</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480057">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Adjustment Team Leader who did not raise, submit or validate it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Approves the request</a:t>
                      </a:r>
                    </a:p>
                  </a:txBody>
                  <a:tcPr marL="54864" marR="54864" marT="27432" marB="27432">
                    <a:solidFill>
                      <a:srgbClr val="E5F5FF"/>
                    </a:solidFill>
                  </a:tcPr>
                </a:tc>
                <a:tc>
                  <a:txBody>
                    <a:bodyPr/>
                    <a:lstStyle/>
                    <a:p>
                      <a:r>
                        <a:rPr sz="850" b="0">
                          <a:solidFill>
                            <a:srgbClr val="4B4B4B"/>
                          </a:solidFill>
                          <a:latin typeface="Arial"/>
                        </a:rPr>
                        <a:t>For posting</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350518">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Adjustment, Adjustment Team Leader</a:t>
                      </a:r>
                    </a:p>
                  </a:txBody>
                  <a:tcPr marL="54864" marR="54864" marT="27432" marB="27432">
                    <a:solidFill>
                      <a:srgbClr val="FFFFFF"/>
                    </a:solidFill>
                  </a:tcPr>
                </a:tc>
                <a:tc>
                  <a:txBody>
                    <a:bodyPr/>
                    <a:lstStyle/>
                    <a:p>
                      <a:r>
                        <a:rPr sz="850" b="0">
                          <a:solidFill>
                            <a:srgbClr val="4B4B4B"/>
                          </a:solidFill>
                          <a:latin typeface="Arial"/>
                        </a:rPr>
                        <a:t>For validation, approval or posting</a:t>
                      </a:r>
                    </a:p>
                  </a:txBody>
                  <a:tcPr marL="54864" marR="54864" marT="27432" marB="27432">
                    <a:solidFill>
                      <a:srgbClr val="FFFFFF"/>
                    </a:solidFill>
                  </a:tcPr>
                </a:tc>
                <a:tc>
                  <a:txBody>
                    <a:bodyPr/>
                    <a:lstStyle/>
                    <a:p>
                      <a:r>
                        <a:rPr sz="850" b="0">
                          <a:solidFill>
                            <a:srgbClr val="4B4B4B"/>
                          </a:solidFill>
                          <a:latin typeface="Arial"/>
                        </a:rPr>
                        <a:t>Asks for the reason and returns the request</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480057">
                <a:tc>
                  <a:txBody>
                    <a:bodyPr/>
                    <a:lstStyle/>
                    <a:p>
                      <a:r>
                        <a:rPr sz="850" b="0">
                          <a:solidFill>
                            <a:srgbClr val="4B4B4B"/>
                          </a:solidFill>
                          <a:latin typeface="Arial"/>
                        </a:rPr>
                        <a:t>Post</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For posting</a:t>
                      </a:r>
                    </a:p>
                  </a:txBody>
                  <a:tcPr marL="54864" marR="54864" marT="27432" marB="27432">
                    <a:solidFill>
                      <a:srgbClr val="E5F5FF"/>
                    </a:solidFill>
                  </a:tcPr>
                </a:tc>
                <a:tc>
                  <a:txBody>
                    <a:bodyPr/>
                    <a:lstStyle/>
                    <a:p>
                      <a:r>
                        <a:rPr sz="850" b="0">
                          <a:solidFill>
                            <a:srgbClr val="4B4B4B"/>
                          </a:solidFill>
                          <a:latin typeface="Arial"/>
                        </a:rPr>
                        <a:t>Posts the request: the endorsement or return invoice, its journal and service invoice, the AR Insurer after remittance, and the re-application of the payments of a paid invoice</a:t>
                      </a:r>
                    </a:p>
                  </a:txBody>
                  <a:tcPr marL="54864" marR="54864" marT="27432" marB="27432">
                    <a:solidFill>
                      <a:srgbClr val="E5F5FF"/>
                    </a:solidFill>
                  </a:tcPr>
                </a:tc>
                <a:tc>
                  <a:txBody>
                    <a:bodyPr/>
                    <a:lstStyle/>
                    <a:p>
                      <a:r>
                        <a:rPr sz="850" b="0">
                          <a:solidFill>
                            <a:srgbClr val="4B4B4B"/>
                          </a:solidFill>
                          <a:latin typeface="Arial"/>
                        </a:rPr>
                        <a:t>Posted, or Payments to Re-apply</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350518">
                <a:tc>
                  <a:txBody>
                    <a:bodyPr/>
                    <a:lstStyle/>
                    <a:p>
                      <a:r>
                        <a:rPr sz="850" b="0">
                          <a:solidFill>
                            <a:srgbClr val="4B4B4B"/>
                          </a:solidFill>
                          <a:latin typeface="Arial"/>
                        </a:rPr>
                        <a:t>Re-apply Payments</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Payments to re-apply</a:t>
                      </a:r>
                    </a:p>
                  </a:txBody>
                  <a:tcPr marL="54864" marR="54864" marT="27432" marB="27432">
                    <a:solidFill>
                      <a:srgbClr val="FFFFFF"/>
                    </a:solidFill>
                  </a:tcPr>
                </a:tc>
                <a:tc>
                  <a:txBody>
                    <a:bodyPr/>
                    <a:lstStyle/>
                    <a:p>
                      <a:r>
                        <a:rPr sz="850" b="0">
                          <a:solidFill>
                            <a:srgbClr val="4B4B4B"/>
                          </a:solidFill>
                          <a:latin typeface="Arial"/>
                        </a:rPr>
                        <a:t>Re-applies the payments of the invoice through Cashiering</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220979">
                <a:tc>
                  <a:txBody>
                    <a:bodyPr/>
                    <a:lstStyle/>
                    <a:p>
                      <a:r>
                        <a:rPr sz="850" b="0">
                          <a:solidFill>
                            <a:srgbClr val="4B4B4B"/>
                          </a:solidFill>
                          <a:latin typeface="Arial"/>
                        </a:rPr>
                        <a:t>Link Quotation</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Quotation required</a:t>
                      </a:r>
                    </a:p>
                  </a:txBody>
                  <a:tcPr marL="54864" marR="54864" marT="27432" marB="27432">
                    <a:solidFill>
                      <a:srgbClr val="E5F5FF"/>
                    </a:solidFill>
                  </a:tcPr>
                </a:tc>
                <a:tc>
                  <a:txBody>
                    <a:bodyPr/>
                    <a:lstStyle/>
                    <a:p>
                      <a:r>
                        <a:rPr sz="850" b="0">
                          <a:solidFill>
                            <a:srgbClr val="4B4B4B"/>
                          </a:solidFill>
                          <a:latin typeface="Arial"/>
                        </a:rPr>
                        <a:t>Links the quotation prepared by Marketing</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Cancel request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Cancels the request; the invoice is released when no other request is open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350518">
                <a:tc>
                  <a:txBody>
                    <a:bodyPr/>
                    <a:lstStyle/>
                    <a:p>
                      <a:r>
                        <a:rPr sz="850" b="0">
                          <a:solidFill>
                            <a:srgbClr val="4B4B4B"/>
                          </a:solidFill>
                          <a:latin typeface="Arial"/>
                        </a:rPr>
                        <a:t>Endorsement Slip / Validation Slip</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Not internal / validated</a:t>
                      </a:r>
                    </a:p>
                  </a:txBody>
                  <a:tcPr marL="54864" marR="54864" marT="27432" marB="27432">
                    <a:solidFill>
                      <a:srgbClr val="E5F5FF"/>
                    </a:solidFill>
                  </a:tcPr>
                </a:tc>
                <a:tc>
                  <a:txBody>
                    <a:bodyPr/>
                    <a:lstStyle/>
                    <a:p>
                      <a:r>
                        <a:rPr sz="850" b="0">
                          <a:solidFill>
                            <a:srgbClr val="4B4B4B"/>
                          </a:solidFill>
                          <a:latin typeface="Arial"/>
                        </a:rPr>
                        <a:t>Downloads the endorsement slip (numbered ES-yyyy-n once) or the validation slip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graphicFrame>
        <p:nvGraphicFramePr>
          <p:cNvPr id="9" name="Table 8"/>
          <p:cNvGraphicFramePr>
            <a:graphicFrameLocks noGrp="1"/>
          </p:cNvGraphicFramePr>
          <p:nvPr/>
        </p:nvGraphicFramePr>
        <p:xfrm>
          <a:off x="548640" y="1325880"/>
          <a:ext cx="11094415" cy="2255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approved by someone who did not raise, submit or validate it (FR-OP-053).</a:t>
                      </a:r>
                    </a:p>
                  </a:txBody>
                  <a:tcPr marL="54864" marR="54864" marT="27432" marB="27432">
                    <a:solidFill>
                      <a:srgbClr val="FFFFFF"/>
                    </a:solidFill>
                  </a:tcPr>
                </a:tc>
              </a:tr>
              <a:tr h="396240">
                <a:tc>
                  <a:txBody>
                    <a:bodyPr/>
                    <a:lstStyle/>
                    <a:p>
                      <a:r>
                        <a:rPr sz="1000" b="0">
                          <a:solidFill>
                            <a:srgbClr val="4B4B4B"/>
                          </a:solidFill>
                          <a:latin typeface="Arial"/>
                        </a:rPr>
                        <a:t>In v2.1 a returned request goes to the Marketing owner of the account, who corrects and resubmits it; the reason is mandatory and the page shows each return and resubmission (FR-OP-053, CLR-OP-52).</a:t>
                      </a:r>
                    </a:p>
                  </a:txBody>
                  <a:tcPr marL="54864" marR="54864" marT="27432" marB="27432">
                    <a:solidFill>
                      <a:srgbClr val="E5F5FF"/>
                    </a:solidFill>
                  </a:tcPr>
                </a:tc>
              </a:tr>
              <a:tr h="243840">
                <a:tc>
                  <a:txBody>
                    <a:bodyPr/>
                    <a:lstStyle/>
                    <a:p>
                      <a:r>
                        <a:rPr sz="1000" b="0">
                          <a:solidFill>
                            <a:srgbClr val="4B4B4B"/>
                          </a:solidFill>
                          <a:latin typeface="Arial"/>
                        </a:rPr>
                        <a:t>Posting books the endorsement or return invoice through New Business booking; a decrease or cancellation is counted once, on the original invoice (FR-OP-056).</a:t>
                      </a:r>
                    </a:p>
                  </a:txBody>
                  <a:tcPr marL="54864" marR="54864" marT="27432" marB="27432">
                    <a:solidFill>
                      <a:srgbClr val="FFFFFF"/>
                    </a:solidFill>
                  </a:tcPr>
                </a:tc>
              </a:tr>
              <a:tr h="396240">
                <a:tc>
                  <a:txBody>
                    <a:bodyPr/>
                    <a:lstStyle/>
                    <a:p>
                      <a:r>
                        <a:rPr sz="1000" b="0">
                          <a:solidFill>
                            <a:srgbClr val="4B4B4B"/>
                          </a:solidFill>
                          <a:latin typeface="Arial"/>
                        </a:rPr>
                        <a:t>After remittance, the remitted DTIP of a cancelled or reduced invoice is set up as AR Insurer per insurer share, and the pending negative adjustment stays for Remittance (FR-OP-057).</a:t>
                      </a:r>
                    </a:p>
                  </a:txBody>
                  <a:tcPr marL="54864" marR="54864" marT="27432" marB="27432">
                    <a:solidFill>
                      <a:srgbClr val="E5F5FF"/>
                    </a:solidFill>
                  </a:tcPr>
                </a:tc>
              </a:tr>
              <a:tr h="243840">
                <a:tc>
                  <a:txBody>
                    <a:bodyPr/>
                    <a:lstStyle/>
                    <a:p>
                      <a:r>
                        <a:rPr sz="1000" b="0">
                          <a:solidFill>
                            <a:srgbClr val="4B4B4B"/>
                          </a:solidFill>
                          <a:latin typeface="Arial"/>
                        </a:rPr>
                        <a:t>A paid invoice's payments are re-applied by Cashiering; the excess becomes an unapplied payment for refund (FR-OP-057).</a:t>
                      </a:r>
                    </a:p>
                  </a:txBody>
                  <a:tcPr marL="54864" marR="54864" marT="27432" marB="27432">
                    <a:solidFill>
                      <a:srgbClr val="FFFFFF"/>
                    </a:solidFill>
                  </a:tcPr>
                </a:tc>
              </a:tr>
              <a:tr h="243840">
                <a:tc>
                  <a:txBody>
                    <a:bodyPr/>
                    <a:lstStyle/>
                    <a:p>
                      <a:r>
                        <a:rPr sz="1000" b="0">
                          <a:solidFill>
                            <a:srgbClr val="4B4B4B"/>
                          </a:solidFill>
                          <a:latin typeface="Arial"/>
                        </a:rPr>
                        <a:t>Policy Transactions show the original booking and every endorsement, adjustment, cancellation and refund with the position after each and its journals (FR-OP-061).</a:t>
                      </a:r>
                    </a:p>
                  </a:txBody>
                  <a:tcPr marL="54864" marR="54864" marT="27432" marB="27432">
                    <a:solidFill>
                      <a:srgbClr val="E5F5FF"/>
                    </a:solidFill>
                  </a:tcPr>
                </a:tc>
              </a:tr>
              <a:tr h="243840">
                <a:tc>
                  <a:txBody>
                    <a:bodyPr/>
                    <a:lstStyle/>
                    <a:p>
                      <a:r>
                        <a:rPr sz="1000" b="0">
                          <a:solidFill>
                            <a:srgbClr val="4B4B4B"/>
                          </a:solidFill>
                          <a:latin typeface="Arial"/>
                        </a:rPr>
                        <a:t>The invoice is locked by Adjustment while a request is open (FR-OP-006).</a:t>
                      </a:r>
                    </a:p>
                  </a:txBody>
                  <a:tcPr marL="54864" marR="54864" marT="27432" marB="27432">
                    <a:solidFill>
                      <a:srgbClr val="FFFFFF"/>
                    </a:solidFill>
                  </a:tcPr>
                </a:tc>
              </a:tr>
            </a:tbl>
          </a:graphicData>
        </a:graphic>
      </p:graphicFrame>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graphicFrame>
        <p:nvGraphicFramePr>
          <p:cNvPr id="9" name="Table 8"/>
          <p:cNvGraphicFramePr>
            <a:graphicFrameLocks noGrp="1"/>
          </p:cNvGraphicFramePr>
          <p:nvPr/>
        </p:nvGraphicFramePr>
        <p:xfrm>
          <a:off x="548640" y="1325880"/>
          <a:ext cx="11094413" cy="11430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the request and clicks Approve</a:t>
                      </a:r>
                    </a:p>
                  </a:txBody>
                  <a:tcPr marL="54864" marR="54864" marT="27432" marB="27432">
                    <a:solidFill>
                      <a:srgbClr val="FFFFFF"/>
                    </a:solidFill>
                  </a:tcPr>
                </a:tc>
                <a:tc>
                  <a:txBody>
                    <a:bodyPr/>
                    <a:lstStyle/>
                    <a:p>
                      <a:r>
                        <a:rPr sz="900" b="0">
                          <a:solidFill>
                            <a:srgbClr val="4B4B4B"/>
                          </a:solidFill>
                          <a:latin typeface="Arial"/>
                        </a:rPr>
                        <a:t>SCR-OP-39_wt-b-step-05.png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7</a:t>
                      </a:r>
                    </a:p>
                  </a:txBody>
                  <a:tcPr marL="54864" marR="54864" marT="27432" marB="27432">
                    <a:solidFill>
                      <a:srgbClr val="E5F5FF"/>
                    </a:solidFill>
                  </a:tcPr>
                </a:tc>
                <a:tc>
                  <a:txBody>
                    <a:bodyPr/>
                    <a:lstStyle/>
                    <a:p>
                      <a:r>
                        <a:rPr sz="900" b="0">
                          <a:solidFill>
                            <a:srgbClr val="4B4B4B"/>
                          </a:solidFill>
                          <a:latin typeface="Arial"/>
                        </a:rPr>
                        <a:t>Opens the Policy Transactions tab of the request and the journal of the last transaction</a:t>
                      </a:r>
                    </a:p>
                  </a:txBody>
                  <a:tcPr marL="54864" marR="54864" marT="27432" marB="27432">
                    <a:solidFill>
                      <a:srgbClr val="E5F5FF"/>
                    </a:solidFill>
                  </a:tcPr>
                </a:tc>
                <a:tc>
                  <a:txBody>
                    <a:bodyPr/>
                    <a:lstStyle/>
                    <a:p>
                      <a:r>
                        <a:rPr sz="900" b="0">
                          <a:solidFill>
                            <a:srgbClr val="4B4B4B"/>
                          </a:solidFill>
                          <a:latin typeface="Arial"/>
                        </a:rPr>
                        <a:t>SCR-OP-39_wt-b-step-07.png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Clicks Submit for Validation</a:t>
                      </a:r>
                    </a:p>
                  </a:txBody>
                  <a:tcPr marL="54864" marR="54864" marT="27432" marB="27432">
                    <a:solidFill>
                      <a:srgbClr val="FFFFFF"/>
                    </a:solidFill>
                  </a:tcPr>
                </a:tc>
                <a:tc>
                  <a:txBody>
                    <a:bodyPr/>
                    <a:lstStyle/>
                    <a:p>
                      <a:r>
                        <a:rPr sz="900" b="0">
                          <a:solidFill>
                            <a:srgbClr val="4B4B4B"/>
                          </a:solidFill>
                          <a:latin typeface="Arial"/>
                        </a:rPr>
                        <a:t>SCR-OP-39_wt-b-step-03.png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the request from the workbench and clicks Validate</a:t>
                      </a:r>
                    </a:p>
                  </a:txBody>
                  <a:tcPr marL="54864" marR="54864" marT="27432" marB="27432">
                    <a:solidFill>
                      <a:srgbClr val="E5F5FF"/>
                    </a:solidFill>
                  </a:tcPr>
                </a:tc>
                <a:tc>
                  <a:txBody>
                    <a:bodyPr/>
                    <a:lstStyle/>
                    <a:p>
                      <a:r>
                        <a:rPr sz="900" b="0">
                          <a:solidFill>
                            <a:srgbClr val="4B4B4B"/>
                          </a:solidFill>
                          <a:latin typeface="Arial"/>
                        </a:rPr>
                        <a:t>SCR-OP-39_wt-b-step-04.png</a:t>
                      </a:r>
                    </a:p>
                  </a:txBody>
                  <a:tcPr marL="54864" marR="54864" marT="27432" marB="27432">
                    <a:solidFill>
                      <a:srgbClr val="E5F5FF"/>
                    </a:solidFill>
                  </a:tcPr>
                </a:tc>
              </a:tr>
            </a:tbl>
          </a:graphicData>
        </a:graphic>
      </p:graphicFrame>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Endorsement Request: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39-02-policy.png"/>
          <p:cNvPicPr>
            <a:picLocks noChangeAspect="1"/>
          </p:cNvPicPr>
          <p:nvPr/>
        </p:nvPicPr>
        <p:blipFill>
          <a:blip r:embed="rId3"/>
          <a:stretch>
            <a:fillRect/>
          </a:stretch>
        </p:blipFill>
        <p:spPr>
          <a:xfrm>
            <a:off x="1408940" y="1261872"/>
            <a:ext cx="9373814"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tab: the policy and placement with the links to the account and the invoice</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220.png"/>
          <p:cNvPicPr>
            <a:picLocks noChangeAspect="1"/>
          </p:cNvPicPr>
          <p:nvPr/>
        </p:nvPicPr>
        <p:blipFill>
          <a:blip r:embed="rId3"/>
          <a:stretch>
            <a:fillRect/>
          </a:stretch>
        </p:blipFill>
        <p:spPr>
          <a:xfrm>
            <a:off x="548640" y="1261872"/>
            <a:ext cx="11094415" cy="473578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1 of 3)</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221.png"/>
          <p:cNvPicPr>
            <a:picLocks noChangeAspect="1"/>
          </p:cNvPicPr>
          <p:nvPr/>
        </p:nvPicPr>
        <p:blipFill>
          <a:blip r:embed="rId3"/>
          <a:stretch>
            <a:fillRect/>
          </a:stretch>
        </p:blipFill>
        <p:spPr>
          <a:xfrm>
            <a:off x="548640" y="1261872"/>
            <a:ext cx="11094415" cy="473578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2 of 3)</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222.png"/>
          <p:cNvPicPr>
            <a:picLocks noChangeAspect="1"/>
          </p:cNvPicPr>
          <p:nvPr/>
        </p:nvPicPr>
        <p:blipFill>
          <a:blip r:embed="rId3"/>
          <a:stretch>
            <a:fillRect/>
          </a:stretch>
        </p:blipFill>
        <p:spPr>
          <a:xfrm>
            <a:off x="548640" y="1261872"/>
            <a:ext cx="11094415" cy="335389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3 of 3)</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683788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cr-op-39-04-transactions.png"/>
          <p:cNvPicPr>
            <a:picLocks noChangeAspect="1"/>
          </p:cNvPicPr>
          <p:nvPr/>
        </p:nvPicPr>
        <p:blipFill>
          <a:blip r:embed="rId3"/>
          <a:stretch>
            <a:fillRect/>
          </a:stretch>
        </p:blipFill>
        <p:spPr>
          <a:xfrm>
            <a:off x="857734" y="1261872"/>
            <a:ext cx="1047622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booking and the cancellation with their journals</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1 of 3)</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2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2 of 3)</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v2.1-06</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25.png"/>
          <p:cNvPicPr>
            <a:picLocks noChangeAspect="1"/>
          </p:cNvPicPr>
          <p:nvPr/>
        </p:nvPicPr>
        <p:blipFill>
          <a:blip r:embed="rId3"/>
          <a:stretch>
            <a:fillRect/>
          </a:stretch>
        </p:blipFill>
        <p:spPr>
          <a:xfrm>
            <a:off x="548640" y="1261872"/>
            <a:ext cx="11094415" cy="31179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3 of 3)</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requests ready for posting: the selected requests are posted as one batch VB-yyyy-n, each on its own, or returned with a reason; the posted batches list their outcome (posted, payments to re-apply, failed).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Posting Batches</a:t>
                      </a:r>
                    </a:p>
                    <a:p>
                      <a:r>
                        <a:rPr sz="950" b="0">
                          <a:solidFill>
                            <a:srgbClr val="4B4B4B"/>
                          </a:solidFill>
                          <a:latin typeface="Arial"/>
                        </a:rPr>
                        <a:t>Adjustment Workbench › Posting Batches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requests ready for posting are posted together, with the outcome of each.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Ready for Posting / Posted Batches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Ready for Posting</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Ready for Posting</a:t>
                      </a:r>
                    </a:p>
                  </a:txBody>
                  <a:tcPr marL="54864" marR="54864" marT="27432" marB="27432">
                    <a:solidFill>
                      <a:srgbClr val="FFFFFF"/>
                    </a:solidFill>
                  </a:tcPr>
                </a:tc>
                <a:tc>
                  <a:txBody>
                    <a:bodyPr/>
                    <a:lstStyle/>
                    <a:p>
                      <a:r>
                        <a:rPr sz="850" b="0">
                          <a:solidFill>
                            <a:srgbClr val="4B4B4B"/>
                          </a:solidFill>
                          <a:latin typeface="Arial"/>
                        </a:rPr>
                        <a:t>Request No. / Invoice No. / Assured / Type / Effective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With a selection 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Posted Batches</a:t>
                      </a:r>
                    </a:p>
                  </a:txBody>
                  <a:tcPr marL="54864" marR="54864" marT="27432" marB="27432">
                    <a:solidFill>
                      <a:srgbClr val="E5F5FF"/>
                    </a:solidFill>
                  </a:tcPr>
                </a:tc>
                <a:tc>
                  <a:txBody>
                    <a:bodyPr/>
                    <a:lstStyle/>
                    <a:p>
                      <a:r>
                        <a:rPr sz="850" b="0">
                          <a:solidFill>
                            <a:srgbClr val="4B4B4B"/>
                          </a:solidFill>
                          <a:latin typeface="Arial"/>
                        </a:rPr>
                        <a:t>Batch No. / Posted / Posted By / Posted / To Re-apply / Failed / Remarks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VB-yyyy-n with the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 result dialog</a:t>
                      </a:r>
                    </a:p>
                  </a:txBody>
                  <a:tcPr marL="54864" marR="54864" marT="27432" marB="27432">
                    <a:solidFill>
                      <a:srgbClr val="FFFFFF"/>
                    </a:solidFill>
                  </a:tcPr>
                </a:tc>
                <a:tc>
                  <a:txBody>
                    <a:bodyPr/>
                    <a:lstStyle/>
                    <a:p>
                      <a:r>
                        <a:rPr sz="850" b="0">
                          <a:solidFill>
                            <a:srgbClr val="4B4B4B"/>
                          </a:solidFill>
                          <a:latin typeface="Arial"/>
                        </a:rPr>
                        <a:t>Posted / Payments to Re-apply / Failed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 result dialog</a:t>
                      </a:r>
                    </a:p>
                  </a:txBody>
                  <a:tcPr marL="54864" marR="54864" marT="27432" marB="27432">
                    <a:solidFill>
                      <a:srgbClr val="E5F5FF"/>
                    </a:solidFill>
                  </a:tcPr>
                </a:tc>
                <a:tc>
                  <a:txBody>
                    <a:bodyPr/>
                    <a:lstStyle/>
                    <a:p>
                      <a:r>
                        <a:rPr sz="850" b="0">
                          <a:solidFill>
                            <a:srgbClr val="4B4B4B"/>
                          </a:solidFill>
                          <a:latin typeface="Arial"/>
                        </a:rPr>
                        <a:t>Request No. / Invoice No. / Outcome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Posted, Payments to Re-apply or Failed with the message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Return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return reason</a:t>
                      </a:r>
                    </a:p>
                  </a:txBody>
                  <a:tcPr marL="54864" marR="54864" marT="27432" marB="27432">
                    <a:solidFill>
                      <a:srgbClr val="FFFFFF"/>
                    </a:solidFill>
                  </a:tcPr>
                </a:tc>
              </a:tr>
            </a:tbl>
          </a:graphicData>
        </a:graphic>
      </p:graphicFrame>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Post Selected / Post Batch</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Rows selected</a:t>
                      </a:r>
                    </a:p>
                  </a:txBody>
                  <a:tcPr marL="54864" marR="54864" marT="27432" marB="27432">
                    <a:solidFill>
                      <a:srgbClr val="FFFFFF"/>
                    </a:solidFill>
                  </a:tcPr>
                </a:tc>
                <a:tc>
                  <a:txBody>
                    <a:bodyPr/>
                    <a:lstStyle/>
                    <a:p>
                      <a:r>
                        <a:rPr sz="850" b="0">
                          <a:solidFill>
                            <a:srgbClr val="4B4B4B"/>
                          </a:solidFill>
                          <a:latin typeface="Arial"/>
                        </a:rPr>
                        <a:t>Asks for confirmation and posts each request on its own as one batch; a failure does not stop the others</a:t>
                      </a:r>
                    </a:p>
                  </a:txBody>
                  <a:tcPr marL="54864" marR="54864" marT="27432" marB="27432">
                    <a:solidFill>
                      <a:srgbClr val="FFFFFF"/>
                    </a:solidFill>
                  </a:tcPr>
                </a:tc>
                <a:tc>
                  <a:txBody>
                    <a:bodyPr/>
                    <a:lstStyle/>
                    <a:p>
                      <a:r>
                        <a:rPr sz="850" b="0">
                          <a:solidFill>
                            <a:srgbClr val="4B4B4B"/>
                          </a:solidFill>
                          <a:latin typeface="Arial"/>
                        </a:rPr>
                        <a:t>Posted, or Payments to Re-apply</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350518">
                <a:tc>
                  <a:txBody>
                    <a:bodyPr/>
                    <a:lstStyle/>
                    <a:p>
                      <a:r>
                        <a:rPr sz="850" b="0">
                          <a:solidFill>
                            <a:srgbClr val="4B4B4B"/>
                          </a:solidFill>
                          <a:latin typeface="Arial"/>
                        </a:rPr>
                        <a:t>Return Selected</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Asks for the reason and returns the requests to their requesters</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bl>
          </a:graphicData>
        </a:graphic>
      </p:graphicFrame>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request of a batch is posted in its own transaction (FR-OP-056).</a:t>
                      </a:r>
                    </a:p>
                  </a:txBody>
                  <a:tcPr marL="54864" marR="54864" marT="27432" marB="27432">
                    <a:solidFill>
                      <a:srgbClr val="FFFFFF"/>
                    </a:solidFill>
                  </a:tcPr>
                </a:tc>
              </a:tr>
            </a:tbl>
          </a:graphicData>
        </a:graphic>
      </p:graphicFrame>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6</a:t>
                      </a:r>
                    </a:p>
                  </a:txBody>
                  <a:tcPr marL="54864" marR="54864" marT="27432" marB="27432">
                    <a:solidFill>
                      <a:srgbClr val="FFFFFF"/>
                    </a:solidFill>
                  </a:tcPr>
                </a:tc>
                <a:tc>
                  <a:txBody>
                    <a:bodyPr/>
                    <a:lstStyle/>
                    <a:p>
                      <a:r>
                        <a:rPr sz="900" b="0">
                          <a:solidFill>
                            <a:srgbClr val="4B4B4B"/>
                          </a:solidFill>
                          <a:latin typeface="Arial"/>
                        </a:rPr>
                        <a:t>Ticks the request on Posting Batches and clicks Post Selected</a:t>
                      </a:r>
                    </a:p>
                  </a:txBody>
                  <a:tcPr marL="54864" marR="54864" marT="27432" marB="27432">
                    <a:solidFill>
                      <a:srgbClr val="FFFFFF"/>
                    </a:solidFill>
                  </a:tcPr>
                </a:tc>
                <a:tc>
                  <a:txBody>
                    <a:bodyPr/>
                    <a:lstStyle/>
                    <a:p>
                      <a:r>
                        <a:rPr sz="900" b="0">
                          <a:solidFill>
                            <a:srgbClr val="4B4B4B"/>
                          </a:solidFill>
                          <a:latin typeface="Arial"/>
                        </a:rPr>
                        <a:t>SCR-OP-40_wt-b-step-06.png</a:t>
                      </a:r>
                    </a:p>
                  </a:txBody>
                  <a:tcPr marL="54864" marR="54864" marT="27432" marB="27432">
                    <a:solidFill>
                      <a:srgbClr val="FFFFFF"/>
                    </a:solidFill>
                  </a:tcPr>
                </a:tc>
              </a:tr>
            </a:tbl>
          </a:graphicData>
        </a:graphic>
      </p:graphicFrame>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0-01-ready.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Posting Batches, Ready for Posting</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op-40-02-posted.png"/>
          <p:cNvPicPr>
            <a:picLocks noChangeAspect="1"/>
          </p:cNvPicPr>
          <p:nvPr/>
        </p:nvPicPr>
        <p:blipFill>
          <a:blip r:embed="rId3"/>
          <a:stretch>
            <a:fillRect/>
          </a:stretch>
        </p:blipFill>
        <p:spPr>
          <a:xfrm>
            <a:off x="548640" y="1261872"/>
            <a:ext cx="11094415" cy="40743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Posting Batches, Posted Batches with their outcome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Batch Request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Uploads cancellation and adjustment requests for many invoices at once: one request per row on a booked invoice, validated row by row before anything is created.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Batch Request Upload</a:t>
                      </a:r>
                    </a:p>
                    <a:p>
                      <a:r>
                        <a:rPr sz="950" b="0">
                          <a:solidFill>
                            <a:srgbClr val="4B4B4B"/>
                          </a:solidFill>
                          <a:latin typeface="Arial"/>
                        </a:rPr>
                        <a:t>Adjustment Workbench › Batch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FR-OP-056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Many requests are raised in one upload.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The columns of the upload (chapter 18)</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Headers 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XLSX, ODS or CSV</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Every row checked first</a:t>
                      </a:r>
                    </a:p>
                  </a:txBody>
                  <a:tcPr marL="54864" marR="54864" marT="27432" marB="27432">
                    <a:solidFill>
                      <a:srgbClr val="E5F5FF"/>
                    </a:solidFill>
                  </a:tcPr>
                </a:tc>
                <a:tc>
                  <a:txBody>
                    <a:bodyPr/>
                    <a:lstStyle/>
                    <a:p>
                      <a:r>
                        <a:rPr sz="850" b="0">
                          <a:solidFill>
                            <a:srgbClr val="4B4B4B"/>
                          </a:solidFill>
                          <a:latin typeface="Arial"/>
                        </a:rPr>
                        <a:t>Possible duplicate of &lt;request&gt;</a:t>
                      </a:r>
                    </a:p>
                  </a:txBody>
                  <a:tcPr marL="54864" marR="54864" marT="27432" marB="27432">
                    <a:solidFill>
                      <a:srgbClr val="E5F5FF"/>
                    </a:solidFill>
                  </a:tcPr>
                </a:tc>
              </a:tr>
            </a:tbl>
          </a:graphicData>
        </a:graphic>
      </p:graphicFrame>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every row and shows Rows Read, Valid and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Process the valid rows</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Rows validated</a:t>
                      </a:r>
                    </a:p>
                  </a:txBody>
                  <a:tcPr marL="54864" marR="54864" marT="27432" marB="27432">
                    <a:solidFill>
                      <a:srgbClr val="E5F5FF"/>
                    </a:solidFill>
                  </a:tcPr>
                </a:tc>
                <a:tc>
                  <a:txBody>
                    <a:bodyPr/>
                    <a:lstStyle/>
                    <a:p>
                      <a:r>
                        <a:rPr sz="850" b="0">
                          <a:solidFill>
                            <a:srgbClr val="4B4B4B"/>
                          </a:solidFill>
                          <a:latin typeface="Arial"/>
                        </a:rPr>
                        <a:t>Raises one request per valid row</a:t>
                      </a:r>
                    </a:p>
                  </a:txBody>
                  <a:tcPr marL="54864" marR="54864" marT="27432" marB="27432">
                    <a:solidFill>
                      <a:srgbClr val="E5F5FF"/>
                    </a:solidFill>
                  </a:tcPr>
                </a:tc>
                <a:tc>
                  <a:txBody>
                    <a:bodyPr/>
                    <a:lstStyle/>
                    <a:p>
                      <a:r>
                        <a:rPr sz="850" b="0">
                          <a:solidFill>
                            <a:srgbClr val="4B4B4B"/>
                          </a:solidFill>
                          <a:latin typeface="Arial"/>
                        </a:rPr>
                        <a:t>Draft or 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rows follow the rules of a request raised on screen; a possible duplicate needs the justification column (FR-OP-050, FR-OP-051).</a:t>
                      </a:r>
                    </a:p>
                  </a:txBody>
                  <a:tcPr marL="54864" marR="54864" marT="27432" marB="27432">
                    <a:solidFill>
                      <a:srgbClr val="FFFFFF"/>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SCR-OP-41 Batch Request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6.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Request Upload: template and upload steps (part 1 of 2)</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SCR-OP-41 Batch Request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7.png"/>
          <p:cNvPicPr>
            <a:picLocks noChangeAspect="1"/>
          </p:cNvPicPr>
          <p:nvPr/>
        </p:nvPicPr>
        <p:blipFill>
          <a:blip r:embed="rId3"/>
          <a:stretch>
            <a:fillRect/>
          </a:stretch>
        </p:blipFill>
        <p:spPr>
          <a:xfrm>
            <a:off x="548640" y="1261872"/>
            <a:ext cx="11094415" cy="20562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Request Upload: template and upload steps (part 2 of 2)</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Minimal Balance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Writes off or credits premium receivable balances of 10.00 to 100.00 from a file of invoices, and lists the balances processed with their journal.</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Minimal Balance File</a:t>
                      </a:r>
                    </a:p>
                    <a:p>
                      <a:r>
                        <a:rPr sz="950" b="0">
                          <a:solidFill>
                            <a:srgbClr val="4B4B4B"/>
                          </a:solidFill>
                          <a:latin typeface="Arial"/>
                        </a:rPr>
                        <a:t>Adjustment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Small balances are cleared with their accounting entry, once per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graphicFrame>
        <p:nvGraphicFramePr>
          <p:cNvPr id="9" name="Table 8"/>
          <p:cNvGraphicFramePr>
            <a:graphicFrameLocks noGrp="1"/>
          </p:cNvGraphicFramePr>
          <p:nvPr/>
        </p:nvGraphicFramePr>
        <p:xfrm>
          <a:off x="548640" y="1325880"/>
          <a:ext cx="11094411" cy="9220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 / 2. Upload</a:t>
                      </a:r>
                    </a:p>
                  </a:txBody>
                  <a:tcPr marL="54864" marR="54864" marT="27432" marB="27432">
                    <a:solidFill>
                      <a:srgbClr val="FFFFFF"/>
                    </a:solidFill>
                  </a:tcPr>
                </a:tc>
                <a:tc>
                  <a:txBody>
                    <a:bodyPr/>
                    <a:lstStyle/>
                    <a:p>
                      <a:r>
                        <a:rPr sz="850" b="0">
                          <a:solidFill>
                            <a:srgbClr val="4B4B4B"/>
                          </a:solidFill>
                          <a:latin typeface="Arial"/>
                        </a:rPr>
                        <a:t>Minimal balance file</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Invoice No and Balance (chapter 18)</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already uploaded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Balances Written Off or Credited</a:t>
                      </a:r>
                    </a:p>
                  </a:txBody>
                  <a:tcPr marL="54864" marR="54864" marT="27432" marB="27432">
                    <a:solidFill>
                      <a:srgbClr val="E5F5FF"/>
                    </a:solidFill>
                  </a:tcPr>
                </a:tc>
                <a:tc>
                  <a:txBody>
                    <a:bodyPr/>
                    <a:lstStyle/>
                    <a:p>
                      <a:r>
                        <a:rPr sz="850" b="0">
                          <a:solidFill>
                            <a:srgbClr val="4B4B4B"/>
                          </a:solidFill>
                          <a:latin typeface="Arial"/>
                        </a:rPr>
                        <a:t>File / Invoice No. / ARN / Client / Balance / Action / Journal / Processed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Write-off or credit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bl>
          </a:graphicData>
        </a:graphic>
      </p:graphicFrame>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and processes the rows: a debit balance written off, a credit balance credited</a:t>
                      </a:r>
                    </a:p>
                  </a:txBody>
                  <a:tcPr marL="54864" marR="54864" marT="27432" marB="27432">
                    <a:solidFill>
                      <a:srgbClr val="FFFFFF"/>
                    </a:solidFill>
                  </a:tcPr>
                </a:tc>
                <a:tc>
                  <a:txBody>
                    <a:bodyPr/>
                    <a:lstStyle/>
                    <a:p>
                      <a:r>
                        <a:rPr sz="850" b="0">
                          <a:solidFill>
                            <a:srgbClr val="4B4B4B"/>
                          </a:solidFill>
                          <a:latin typeface="Arial"/>
                        </a:rPr>
                        <a:t>Written off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row is processed when the invoice exists, its premium receivable balance equals the file, lies within 10.00-100.00, was not written off and no other team locks it (FR-OP-059).</a:t>
                      </a:r>
                    </a:p>
                  </a:txBody>
                  <a:tcPr marL="54864" marR="54864" marT="27432" marB="27432">
                    <a:solidFill>
                      <a:srgbClr val="FFFFFF"/>
                    </a:solidFill>
                  </a:tcPr>
                </a:tc>
              </a:tr>
              <a:tr h="243840">
                <a:tc>
                  <a:txBody>
                    <a:bodyPr/>
                    <a:lstStyle/>
                    <a:p>
                      <a:r>
                        <a:rPr sz="1000" b="0">
                          <a:solidFill>
                            <a:srgbClr val="4B4B4B"/>
                          </a:solidFill>
                          <a:latin typeface="Arial"/>
                        </a:rPr>
                        <a:t>A written-off invoice is not extracted for remittance and is skipped by the Cashiering sweep (FR-OP-059, FR-OP-023).</a:t>
                      </a:r>
                    </a:p>
                  </a:txBody>
                  <a:tcPr marL="54864" marR="54864" marT="27432" marB="27432">
                    <a:solidFill>
                      <a:srgbClr val="E5F5FF"/>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8.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1 of 3)</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29.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2 of 3)</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0.png"/>
          <p:cNvPicPr>
            <a:picLocks noChangeAspect="1"/>
          </p:cNvPicPr>
          <p:nvPr/>
        </p:nvPicPr>
        <p:blipFill>
          <a:blip r:embed="rId3"/>
          <a:stretch>
            <a:fillRect/>
          </a:stretch>
        </p:blipFill>
        <p:spPr>
          <a:xfrm>
            <a:off x="548640" y="1261872"/>
            <a:ext cx="11094415" cy="69340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3 of 3)</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Reconciliation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Production Reconciliation: accounts booked this month, registers to send, cycles awaiting the insurer's feedback or reconciling, and unbooked insurer production, each opening its list.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Workbench</a:t>
                      </a:r>
                    </a:p>
                    <a:p>
                      <a:r>
                        <a:rPr sz="950" b="0">
                          <a:solidFill>
                            <a:srgbClr val="4B4B4B"/>
                          </a:solidFill>
                          <a:latin typeface="Arial"/>
                        </a:rPr>
                        <a:t>Operations Home › Production Reconciliation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handler sees the registers and cycles waiting.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graphicFrame>
        <p:nvGraphicFramePr>
          <p:cNvPr id="9" name="Table 8"/>
          <p:cNvGraphicFramePr>
            <a:graphicFrameLocks noGrp="1"/>
          </p:cNvGraphicFramePr>
          <p:nvPr/>
        </p:nvGraphicFramePr>
        <p:xfrm>
          <a:off x="548640" y="1325880"/>
          <a:ext cx="11094411" cy="8305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Booked This Month, Registers to Send, Awaiting Insurer Feedback, Cycles Reconciling, Unbooked Insurer Production</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reconciliation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Reconciliation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3-01-home.png"/>
          <p:cNvPicPr>
            <a:picLocks noChangeAspect="1"/>
          </p:cNvPicPr>
          <p:nvPr/>
        </p:nvPicPr>
        <p:blipFill>
          <a:blip r:embed="rId3"/>
          <a:stretch>
            <a:fillRect/>
          </a:stretch>
        </p:blipFill>
        <p:spPr>
          <a:xfrm>
            <a:off x="548640" y="1261872"/>
            <a:ext cx="11094415" cy="38256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Workbench with the work queues</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Reconciliation Cycles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cycle per insurer and production month: the register sent, the insurer's feedback and the matching of both sides, with the counts of BDOI-only and insurer-only items and the share matched.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Cycles</a:t>
                      </a:r>
                    </a:p>
                    <a:p>
                      <a:r>
                        <a:rPr sz="950" b="0">
                          <a:solidFill>
                            <a:srgbClr val="4B4B4B"/>
                          </a:solidFill>
                          <a:latin typeface="Arial"/>
                        </a:rPr>
                        <a:t>Reconciliation Workbench › Awaiting Insurer Feedback and Cycles Reconciling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FR-OP-075, FR-OP-079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handler sees every cycle and its progress.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Extracted / Sent to Insurer / Reconciling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insurers or one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Cycle No. / Insurer / Production Month / Items / BDOI Only / Insurer Only / Matched / Sent / Last Feedback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PRC-&lt;insurer&gt;-yyyyMM-n; matched in %; month as Mmm 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open cycle per insurer and production month (FR-OP-075).</a:t>
                      </a:r>
                    </a:p>
                  </a:txBody>
                  <a:tcPr marL="54864" marR="54864" marT="27432" marB="27432">
                    <a:solidFill>
                      <a:srgbClr val="FFFFFF"/>
                    </a:solidFill>
                  </a:tcPr>
                </a:tc>
              </a:tr>
            </a:tbl>
          </a:graphicData>
        </a:graphic>
      </p:graphicFrame>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Reconciliation Cycles: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4-01-list.png"/>
          <p:cNvPicPr>
            <a:picLocks noChangeAspect="1"/>
          </p:cNvPicPr>
          <p:nvPr/>
        </p:nvPicPr>
        <p:blipFill>
          <a:blip r:embed="rId3"/>
          <a:stretch>
            <a:fillRect/>
          </a:stretch>
        </p:blipFill>
        <p:spPr>
          <a:xfrm>
            <a:off x="548640" y="1261872"/>
            <a:ext cx="11094415" cy="4565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Cycles</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Reconciliation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cycle: the production month, items and share matched, BDOI-only and insurer-only counts, the dates sent and answered, the cycle workflow, the items by bucket with the side-by-side comparison, the feedback and disposition, manual pairing, the registers sent, the early incentive validation and the documents.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Cycles › Reconciliation Cycle</a:t>
                      </a:r>
                    </a:p>
                    <a:p>
                      <a:r>
                        <a:rPr sz="950" b="0">
                          <a:solidFill>
                            <a:srgbClr val="4B4B4B"/>
                          </a:solidFill>
                          <a:latin typeface="Arial"/>
                        </a:rPr>
                        <a:t>Reconciliation Cycles › open a row</a:t>
                      </a:r>
                    </a:p>
                    <a:p>
                      <a:r>
                        <a:rPr sz="950" b="0">
                          <a:solidFill>
                            <a:srgbClr val="4B4B4B"/>
                          </a:solidFill>
                          <a:latin typeface="Arial"/>
                        </a:rPr>
                        <a:t>Invoice 360 › Reconciliation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FR-OP-075, FR-OP-077, FR-OP-078, FR-OP-079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difference between BDOI's and the insurer's production is followed to closure.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SCR-OP-45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graphicFrame>
        <p:nvGraphicFramePr>
          <p:cNvPr id="9" name="Table 8"/>
          <p:cNvGraphicFramePr>
            <a:graphicFrameLocks noGrp="1"/>
          </p:cNvGraphicFramePr>
          <p:nvPr/>
        </p:nvGraphicFramePr>
        <p:xfrm>
          <a:off x="548640" y="1325880"/>
          <a:ext cx="11094411" cy="463293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Cycle chip and stage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PRC-&lt;insurer&gt;-yyyyMM-n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Production Month / Items / Matched / BDOI Only / Insurer Only / Sent to Insurer / Last Feedback</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Matched in % with the number with differences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Reconciliation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Register extracted, Awaiting insurer feedback, Reconciling, 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Items / Registers Sent / Early Incentive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Bucket tabs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All, Matched, With Discrepancy, BDOI Only, Insurer Only with their 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Search Invoice,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Marketing AO / AB / Sales Unit / Market Segment / Product Line</a:t>
                      </a:r>
                    </a:p>
                  </a:txBody>
                  <a:tcPr marL="54864" marR="54864" marT="27432" marB="27432">
                    <a:solidFill>
                      <a:srgbClr val="FFFFFF"/>
                    </a:solidFill>
                  </a:tcPr>
                </a:tc>
                <a:tc>
                  <a:txBody>
                    <a:bodyPr/>
                    <a:lstStyle/>
                    <a:p>
                      <a:r>
                        <a:rPr sz="850" b="0">
                          <a:solidFill>
                            <a:srgbClr val="4B4B4B"/>
                          </a:solidFill>
                          <a:latin typeface="Arial"/>
                        </a:rPr>
                        <a:t>Filter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Invoice / Policy / Assured / AO / Gross Premium (BDOI / Insurer) / Differences / Disposition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Differences name the fields that differ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Item review dialog</a:t>
                      </a:r>
                    </a:p>
                  </a:txBody>
                  <a:tcPr marL="54864" marR="54864" marT="27432" marB="27432">
                    <a:solidFill>
                      <a:srgbClr val="FFFFFF"/>
                    </a:solidFill>
                  </a:tcPr>
                </a:tc>
                <a:tc>
                  <a:txBody>
                    <a:bodyPr/>
                    <a:lstStyle/>
                    <a:p>
                      <a:r>
                        <a:rPr sz="850" b="0">
                          <a:solidFill>
                            <a:srgbClr val="4B4B4B"/>
                          </a:solidFill>
                          <a:latin typeface="Arial"/>
                        </a:rPr>
                        <a:t>Policy No. / Invoice / Reference No. / Assured Name / Period From / Period To / Basic Premium / Gross Premium / Commission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BDOI and insurer side by side; a difference highlighted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Amounts within the tolerance of 1.00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Item review dialog</a:t>
                      </a:r>
                    </a:p>
                  </a:txBody>
                  <a:tcPr marL="54864" marR="54864" marT="27432" marB="27432">
                    <a:solidFill>
                      <a:srgbClr val="E5F5FF"/>
                    </a:solidFill>
                  </a:tcPr>
                </a:tc>
                <a:tc>
                  <a:txBody>
                    <a:bodyPr/>
                    <a:lstStyle/>
                    <a:p>
                      <a:r>
                        <a:rPr sz="850" b="0">
                          <a:solidFill>
                            <a:srgbClr val="4B4B4B"/>
                          </a:solidFill>
                          <a:latin typeface="Arial"/>
                        </a:rPr>
                        <a:t>Company Concerned / Disposition / Instruction / Insurer Feedback / Marketing Feedback</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SCR-OP-45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Set Disposition dialog</a:t>
                      </a:r>
                    </a:p>
                  </a:txBody>
                  <a:tcPr marL="54864" marR="54864" marT="27432" marB="27432">
                    <a:solidFill>
                      <a:srgbClr val="FFFFFF"/>
                    </a:solidFill>
                  </a:tcPr>
                </a:tc>
                <a:tc>
                  <a:txBody>
                    <a:bodyPr/>
                    <a:lstStyle/>
                    <a:p>
                      <a:r>
                        <a:rPr sz="850" b="0">
                          <a:solidFill>
                            <a:srgbClr val="4B4B4B"/>
                          </a:solidFill>
                          <a:latin typeface="Arial"/>
                        </a:rPr>
                        <a:t>Company Concerned / Disposition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For the selected items</a:t>
                      </a:r>
                    </a:p>
                  </a:txBody>
                  <a:tcPr marL="54864" marR="54864" marT="27432" marB="27432">
                    <a:solidFill>
                      <a:srgbClr val="FFFFFF"/>
                    </a:solidFill>
                  </a:tcPr>
                </a:tc>
                <a:tc>
                  <a:txBody>
                    <a:bodyPr/>
                    <a:lstStyle/>
                    <a:p>
                      <a:r>
                        <a:rPr sz="850" b="0">
                          <a:solidFill>
                            <a:srgbClr val="4B4B4B"/>
                          </a:solidFill>
                          <a:latin typeface="Arial"/>
                        </a:rPr>
                        <a:t>Y (disposition)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Disposition is required</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Pair dialog</a:t>
                      </a:r>
                    </a:p>
                  </a:txBody>
                  <a:tcPr marL="54864" marR="54864" marT="27432" marB="27432">
                    <a:solidFill>
                      <a:srgbClr val="E5F5FF"/>
                    </a:solidFill>
                  </a:tcPr>
                </a:tc>
                <a:tc>
                  <a:txBody>
                    <a:bodyPr/>
                    <a:lstStyle/>
                    <a:p>
                      <a:r>
                        <a:rPr sz="850" b="0">
                          <a:solidFill>
                            <a:srgbClr val="4B4B4B"/>
                          </a:solidFill>
                          <a:latin typeface="Arial"/>
                        </a:rPr>
                        <a:t>Insurer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insurer-only lines of the cycle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Registers Sent</a:t>
                      </a:r>
                    </a:p>
                  </a:txBody>
                  <a:tcPr marL="54864" marR="54864" marT="27432" marB="27432">
                    <a:solidFill>
                      <a:srgbClr val="FFFFFF"/>
                    </a:solidFill>
                  </a:tcPr>
                </a:tc>
                <a:tc>
                  <a:txBody>
                    <a:bodyPr/>
                    <a:lstStyle/>
                    <a:p>
                      <a:r>
                        <a:rPr sz="850" b="0">
                          <a:solidFill>
                            <a:srgbClr val="4B4B4B"/>
                          </a:solidFill>
                          <a:latin typeface="Arial"/>
                        </a:rPr>
                        <a:t>Extract No. / Trigger / Booking Period / Accounts / New / Extracted / Sent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cell; sent time and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480057">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Early Incentive</a:t>
                      </a:r>
                    </a:p>
                  </a:txBody>
                  <a:tcPr marL="54864" marR="54864" marT="27432" marB="27432">
                    <a:solidFill>
                      <a:srgbClr val="E5F5FF"/>
                    </a:solidFill>
                  </a:tcPr>
                </a:tc>
                <a:tc>
                  <a:txBody>
                    <a:bodyPr/>
                    <a:lstStyle/>
                    <a:p>
                      <a:r>
                        <a:rPr sz="850" b="0">
                          <a:solidFill>
                            <a:srgbClr val="4B4B4B"/>
                          </a:solidFill>
                          <a:latin typeface="Arial"/>
                        </a:rPr>
                        <a:t>Invoice No. / Assured / Inception / Remitted / Days / Expected / Per Insurer / Outcome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Eligible, Late, No Rule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Close Reconciliation Cycle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Why the cycle is closed with items still open, if any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Matching</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Reconciling</a:t>
                      </a:r>
                    </a:p>
                  </a:txBody>
                  <a:tcPr marL="54864" marR="54864" marT="27432" marB="27432">
                    <a:solidFill>
                      <a:srgbClr val="FFFFFF"/>
                    </a:solidFill>
                  </a:tcPr>
                </a:tc>
                <a:tc>
                  <a:txBody>
                    <a:bodyPr/>
                    <a:lstStyle/>
                    <a:p>
                      <a:r>
                        <a:rPr sz="850" b="0">
                          <a:solidFill>
                            <a:srgbClr val="4B4B4B"/>
                          </a:solidFill>
                          <a:latin typeface="Arial"/>
                        </a:rPr>
                        <a:t>Matches the open items again, including the accounts booked since</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Feedback</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Reconciling</a:t>
                      </a:r>
                    </a:p>
                  </a:txBody>
                  <a:tcPr marL="54864" marR="54864" marT="27432" marB="27432">
                    <a:solidFill>
                      <a:srgbClr val="E5F5FF"/>
                    </a:solidFill>
                  </a:tcPr>
                </a:tc>
                <a:tc>
                  <a:txBody>
                    <a:bodyPr/>
                    <a:lstStyle/>
                    <a:p>
                      <a:r>
                        <a:rPr sz="850" b="0">
                          <a:solidFill>
                            <a:srgbClr val="4B4B4B"/>
                          </a:solidFill>
                          <a:latin typeface="Arial"/>
                        </a:rPr>
                        <a:t>Saves the feedback and disposition of the item</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Set Disposition / Apply to Selected</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Items selected</a:t>
                      </a:r>
                    </a:p>
                  </a:txBody>
                  <a:tcPr marL="54864" marR="54864" marT="27432" marB="27432">
                    <a:solidFill>
                      <a:srgbClr val="FFFFFF"/>
                    </a:solidFill>
                  </a:tcPr>
                </a:tc>
                <a:tc>
                  <a:txBody>
                    <a:bodyPr/>
                    <a:lstStyle/>
                    <a:p>
                      <a:r>
                        <a:rPr sz="850" b="0">
                          <a:solidFill>
                            <a:srgbClr val="4B4B4B"/>
                          </a:solidFill>
                          <a:latin typeface="Arial"/>
                        </a:rPr>
                        <a:t>Sets the company concerned and disposition of the selected items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Pair with Another Item / Pair Items</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BDOI-only item</a:t>
                      </a:r>
                    </a:p>
                  </a:txBody>
                  <a:tcPr marL="54864" marR="54864" marT="27432" marB="27432">
                    <a:solidFill>
                      <a:srgbClr val="E5F5FF"/>
                    </a:solidFill>
                  </a:tcPr>
                </a:tc>
                <a:tc>
                  <a:txBody>
                    <a:bodyPr/>
                    <a:lstStyle/>
                    <a:p>
                      <a:r>
                        <a:rPr sz="850" b="0">
                          <a:solidFill>
                            <a:srgbClr val="4B4B4B"/>
                          </a:solidFill>
                          <a:latin typeface="Arial"/>
                        </a:rPr>
                        <a:t>Pairs it with an insurer-only line</a:t>
                      </a:r>
                    </a:p>
                  </a:txBody>
                  <a:tcPr marL="54864" marR="54864" marT="27432" marB="27432">
                    <a:solidFill>
                      <a:srgbClr val="E5F5FF"/>
                    </a:solidFill>
                  </a:tcPr>
                </a:tc>
                <a:tc>
                  <a:txBody>
                    <a:bodyPr/>
                    <a:lstStyle/>
                    <a:p>
                      <a:r>
                        <a:rPr sz="850" b="0">
                          <a:solidFill>
                            <a:srgbClr val="4B4B4B"/>
                          </a:solidFill>
                          <a:latin typeface="Arial"/>
                        </a:rPr>
                        <a:t>Matched or With Discrepancy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Split Pairing</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Manually paired item</a:t>
                      </a:r>
                    </a:p>
                  </a:txBody>
                  <a:tcPr marL="54864" marR="54864" marT="27432" marB="27432">
                    <a:solidFill>
                      <a:srgbClr val="FFFFFF"/>
                    </a:solidFill>
                  </a:tcPr>
                </a:tc>
                <a:tc>
                  <a:txBody>
                    <a:bodyPr/>
                    <a:lstStyle/>
                    <a:p>
                      <a:r>
                        <a:rPr sz="850" b="0">
                          <a:solidFill>
                            <a:srgbClr val="4B4B4B"/>
                          </a:solidFill>
                          <a:latin typeface="Arial"/>
                        </a:rPr>
                        <a:t>Splits the pair back into its two sides</a:t>
                      </a:r>
                    </a:p>
                  </a:txBody>
                  <a:tcPr marL="54864" marR="54864" marT="27432" marB="27432">
                    <a:solidFill>
                      <a:srgbClr val="FFFFFF"/>
                    </a:solidFill>
                  </a:tcPr>
                </a:tc>
                <a:tc>
                  <a:txBody>
                    <a:bodyPr/>
                    <a:lstStyle/>
                    <a:p>
                      <a:r>
                        <a:rPr sz="850" b="0">
                          <a:solidFill>
                            <a:srgbClr val="4B4B4B"/>
                          </a:solidFill>
                          <a:latin typeface="Arial"/>
                        </a:rPr>
                        <a:t>BDOI Only and Insurer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Close Cycle</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Reconciling</a:t>
                      </a:r>
                    </a:p>
                  </a:txBody>
                  <a:tcPr marL="54864" marR="54864" marT="27432" marB="27432">
                    <a:solidFill>
                      <a:srgbClr val="E5F5FF"/>
                    </a:solidFill>
                  </a:tcPr>
                </a:tc>
                <a:tc>
                  <a:txBody>
                    <a:bodyPr/>
                    <a:lstStyle/>
                    <a:p>
                      <a:r>
                        <a:rPr sz="850" b="0">
                          <a:solidFill>
                            <a:srgbClr val="4B4B4B"/>
                          </a:solidFill>
                          <a:latin typeface="Arial"/>
                        </a:rPr>
                        <a:t>Closes the cycle with a comment; the cycle also closes by itself when every item is matched or for closure</a:t>
                      </a:r>
                    </a:p>
                  </a:txBody>
                  <a:tcPr marL="54864" marR="54864" marT="27432" marB="27432">
                    <a:solidFill>
                      <a:srgbClr val="E5F5FF"/>
                    </a:solidFill>
                  </a:tcPr>
                </a:tc>
                <a:tc>
                  <a:txBody>
                    <a:bodyPr/>
                    <a:lstStyle/>
                    <a:p>
                      <a:r>
                        <a:rPr sz="850" b="0">
                          <a:solidFill>
                            <a:srgbClr val="4B4B4B"/>
                          </a:solidFill>
                          <a:latin typeface="Arial"/>
                        </a:rPr>
                        <a:t>Closed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bl>
          </a:graphicData>
        </a:graphic>
      </p:graphicFrame>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Lines are paired on the match keys in order (by default the invoice number, then the policy number); commission, basic and gross premium match within 1.00 peso equivalent (a foreign currency difference is converted to pesos first); policy, reference and PN numbers and the period must be equal; names are compared ignoring case and spacing (FR-OP-075).</a:t>
                      </a:r>
                    </a:p>
                  </a:txBody>
                  <a:tcPr marL="54864" marR="54864" marT="27432" marB="27432">
                    <a:solidFill>
                      <a:srgbClr val="FFFFFF"/>
                    </a:solidFill>
                  </a:tcPr>
                </a:tc>
              </a:tr>
              <a:tr h="243840">
                <a:tc>
                  <a:txBody>
                    <a:bodyPr/>
                    <a:lstStyle/>
                    <a:p>
                      <a:r>
                        <a:rPr sz="1000" b="0">
                          <a:solidFill>
                            <a:srgbClr val="4B4B4B"/>
                          </a:solidFill>
                          <a:latin typeface="Arial"/>
                        </a:rPr>
                        <a:t>An item with any difference is Matched with Discrepancy and lists the fields that differ (FR-OP-075).</a:t>
                      </a:r>
                    </a:p>
                  </a:txBody>
                  <a:tcPr marL="54864" marR="54864" marT="27432" marB="27432">
                    <a:solidFill>
                      <a:srgbClr val="E5F5FF"/>
                    </a:solidFill>
                  </a:tcPr>
                </a:tc>
              </a:tr>
              <a:tr h="243840">
                <a:tc>
                  <a:txBody>
                    <a:bodyPr/>
                    <a:lstStyle/>
                    <a:p>
                      <a:r>
                        <a:rPr sz="1000" b="0">
                          <a:solidFill>
                            <a:srgbClr val="4B4B4B"/>
                          </a:solidFill>
                          <a:latin typeface="Arial"/>
                        </a:rPr>
                        <a:t>A BDOI-only item can be paired with an insurer-only line, and a wrong pair split (FR-OP-077).</a:t>
                      </a:r>
                    </a:p>
                  </a:txBody>
                  <a:tcPr marL="54864" marR="54864" marT="27432" marB="27432">
                    <a:solidFill>
                      <a:srgbClr val="FFFFFF"/>
                    </a:solidFill>
                  </a:tcPr>
                </a:tc>
              </a:tr>
              <a:tr h="243840">
                <a:tc>
                  <a:txBody>
                    <a:bodyPr/>
                    <a:lstStyle/>
                    <a:p>
                      <a:r>
                        <a:rPr sz="1000" b="0">
                          <a:solidFill>
                            <a:srgbClr val="4B4B4B"/>
                          </a:solidFill>
                          <a:latin typeface="Arial"/>
                        </a:rPr>
                        <a:t>The early incentive applied by the insurer is checked against the rate and window of the Remittance incentive rules (FR-OP-078).</a:t>
                      </a:r>
                    </a:p>
                  </a:txBody>
                  <a:tcPr marL="54864" marR="54864" marT="27432" marB="27432">
                    <a:solidFill>
                      <a:srgbClr val="E5F5FF"/>
                    </a:solidFill>
                  </a:tcPr>
                </a:tc>
              </a:tr>
              <a:tr h="243840">
                <a:tc>
                  <a:txBody>
                    <a:bodyPr/>
                    <a:lstStyle/>
                    <a:p>
                      <a:r>
                        <a:rPr sz="1000" b="0">
                          <a:solidFill>
                            <a:srgbClr val="4B4B4B"/>
                          </a:solidFill>
                          <a:latin typeface="Arial"/>
                        </a:rPr>
                        <a:t>Annotations (company concerned, instruction, feedback) are linked to the item and never change policy, invoice or amount data (FR-OP-077).</a:t>
                      </a:r>
                    </a:p>
                  </a:txBody>
                  <a:tcPr marL="54864" marR="54864" marT="27432" marB="27432">
                    <a:solidFill>
                      <a:srgbClr val="FFFFFF"/>
                    </a:solidFill>
                  </a:tcPr>
                </a:tc>
              </a:tr>
              <a:tr h="243840">
                <a:tc>
                  <a:txBody>
                    <a:bodyPr/>
                    <a:lstStyle/>
                    <a:p>
                      <a:r>
                        <a:rPr sz="1000" b="0">
                          <a:solidFill>
                            <a:srgbClr val="4B4B4B"/>
                          </a:solidFill>
                          <a:latin typeface="Arial"/>
                        </a:rPr>
                        <a:t>The history of the cycle and of each item is kept (FR-OP-079).</a:t>
                      </a:r>
                    </a:p>
                  </a:txBody>
                  <a:tcPr marL="54864" marR="54864" marT="27432" marB="27432">
                    <a:solidFill>
                      <a:srgbClr val="E5F5FF"/>
                    </a:solidFill>
                  </a:tcPr>
                </a:tc>
              </a:tr>
            </a:tbl>
          </a:graphicData>
        </a:graphic>
      </p:graphicFrame>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cycle, the With Discrepancy item, and records the company concerned, the disposition and the feedback</a:t>
                      </a:r>
                    </a:p>
                  </a:txBody>
                  <a:tcPr marL="54864" marR="54864" marT="27432" marB="27432">
                    <a:solidFill>
                      <a:srgbClr val="FFFFFF"/>
                    </a:solidFill>
                  </a:tcPr>
                </a:tc>
                <a:tc>
                  <a:txBody>
                    <a:bodyPr/>
                    <a:lstStyle/>
                    <a:p>
                      <a:r>
                        <a:rPr sz="900" b="0">
                          <a:solidFill>
                            <a:srgbClr val="4B4B4B"/>
                          </a:solidFill>
                          <a:latin typeface="Arial"/>
                        </a:rPr>
                        <a:t>SCR-OP-45_wt-c-step-04.png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5</a:t>
                      </a:r>
                    </a:p>
                  </a:txBody>
                  <a:tcPr marL="54864" marR="54864" marT="27432" marB="27432">
                    <a:solidFill>
                      <a:srgbClr val="E5F5FF"/>
                    </a:solidFill>
                  </a:tcPr>
                </a:tc>
                <a:tc>
                  <a:txBody>
                    <a:bodyPr/>
                    <a:lstStyle/>
                    <a:p>
                      <a:r>
                        <a:rPr sz="900" b="0">
                          <a:solidFill>
                            <a:srgbClr val="4B4B4B"/>
                          </a:solidFill>
                          <a:latin typeface="Arial"/>
                        </a:rPr>
                        <a:t>Selects the insurer-only item and sets its disposition</a:t>
                      </a:r>
                    </a:p>
                  </a:txBody>
                  <a:tcPr marL="54864" marR="54864" marT="27432" marB="27432">
                    <a:solidFill>
                      <a:srgbClr val="E5F5FF"/>
                    </a:solidFill>
                  </a:tcPr>
                </a:tc>
                <a:tc>
                  <a:txBody>
                    <a:bodyPr/>
                    <a:lstStyle/>
                    <a:p>
                      <a:r>
                        <a:rPr sz="900" b="0">
                          <a:solidFill>
                            <a:srgbClr val="4B4B4B"/>
                          </a:solidFill>
                          <a:latin typeface="Arial"/>
                        </a:rPr>
                        <a:t>SCR-OP-45_wt-c-step-05.png</a:t>
                      </a:r>
                    </a:p>
                  </a:txBody>
                  <a:tcPr marL="54864" marR="54864" marT="27432" marB="27432">
                    <a:solidFill>
                      <a:srgbClr val="E5F5FF"/>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1.png"/>
          <p:cNvPicPr>
            <a:picLocks noChangeAspect="1"/>
          </p:cNvPicPr>
          <p:nvPr/>
        </p:nvPicPr>
        <p:blipFill>
          <a:blip r:embed="rId3"/>
          <a:stretch>
            <a:fillRect/>
          </a:stretch>
        </p:blipFill>
        <p:spPr>
          <a:xfrm>
            <a:off x="548640" y="1261872"/>
            <a:ext cx="11094415" cy="459970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 workflow header and the items by bucket (part 1 of 2)</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2.png"/>
          <p:cNvPicPr>
            <a:picLocks noChangeAspect="1"/>
          </p:cNvPicPr>
          <p:nvPr/>
        </p:nvPicPr>
        <p:blipFill>
          <a:blip r:embed="rId3"/>
          <a:stretch>
            <a:fillRect/>
          </a:stretch>
        </p:blipFill>
        <p:spPr>
          <a:xfrm>
            <a:off x="548640" y="1261872"/>
            <a:ext cx="11094415" cy="368665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 workflow header and the items by bucket (part 2 of 2)</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Reconciliation Cycle: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45-03-incentive.png"/>
          <p:cNvPicPr>
            <a:picLocks noChangeAspect="1"/>
          </p:cNvPicPr>
          <p:nvPr/>
        </p:nvPicPr>
        <p:blipFill>
          <a:blip r:embed="rId3"/>
          <a:stretch>
            <a:fillRect/>
          </a:stretch>
        </p:blipFill>
        <p:spPr>
          <a:xfrm>
            <a:off x="1505748" y="1261872"/>
            <a:ext cx="9180198"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Early Incentive tab: the incentive expected per invoice</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33.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1 of 4)</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34.png"/>
          <p:cNvPicPr>
            <a:picLocks noChangeAspect="1"/>
          </p:cNvPicPr>
          <p:nvPr/>
        </p:nvPicPr>
        <p:blipFill>
          <a:blip r:embed="rId3"/>
          <a:stretch>
            <a:fillRect/>
          </a:stretch>
        </p:blipFill>
        <p:spPr>
          <a:xfrm>
            <a:off x="548640" y="1261872"/>
            <a:ext cx="11094415" cy="39748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2 of 4)</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35.png"/>
          <p:cNvPicPr>
            <a:picLocks noChangeAspect="1"/>
          </p:cNvPicPr>
          <p:nvPr/>
        </p:nvPicPr>
        <p:blipFill>
          <a:blip r:embed="rId3"/>
          <a:stretch>
            <a:fillRect/>
          </a:stretch>
        </p:blipFill>
        <p:spPr>
          <a:xfrm>
            <a:off x="548640" y="1261872"/>
            <a:ext cx="11094415" cy="459442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3 of 4)</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v2.1-05</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36.png"/>
          <p:cNvPicPr>
            <a:picLocks noChangeAspect="1"/>
          </p:cNvPicPr>
          <p:nvPr/>
        </p:nvPicPr>
        <p:blipFill>
          <a:blip r:embed="rId3"/>
          <a:stretch>
            <a:fillRect/>
          </a:stretch>
        </p:blipFill>
        <p:spPr>
          <a:xfrm>
            <a:off x="548640" y="1261872"/>
            <a:ext cx="11094415" cy="841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4 of 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registers of booked production extracted for each insurer, by schedule or on request, with their file, and the sending of a register to the insurer with the cover letter.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Production Extracts</a:t>
                      </a:r>
                    </a:p>
                    <a:p>
                      <a:r>
                        <a:rPr sz="950" b="0">
                          <a:solidFill>
                            <a:srgbClr val="4B4B4B"/>
                          </a:solidFill>
                          <a:latin typeface="Arial"/>
                        </a:rPr>
                        <a:t>Reconciliation Workbench › Registers to Send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FR-OP-071, FR-OP-072, FR-OP-073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receives the register of what BDOI booked.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Extract No. / Trigger / Booking Period / Accounts / New / Extracted / 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PRX-yyyy-n with the file name; booking period in the period cell; sent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Production Extract dialog</a:t>
                      </a:r>
                    </a:p>
                  </a:txBody>
                  <a:tcPr marL="54864" marR="54864" marT="27432" marB="27432">
                    <a:solidFill>
                      <a:srgbClr val="FFFFFF"/>
                    </a:solidFill>
                  </a:tcPr>
                </a:tc>
                <a:tc>
                  <a:txBody>
                    <a:bodyPr/>
                    <a:lstStyle/>
                    <a:p>
                      <a:r>
                        <a:rPr sz="850" b="0">
                          <a:solidFill>
                            <a:srgbClr val="4B4B4B"/>
                          </a:solidFill>
                          <a:latin typeface="Arial"/>
                        </a:rPr>
                        <a:t>Insurer / Production Month</a:t>
                      </a:r>
                    </a:p>
                  </a:txBody>
                  <a:tcPr marL="54864" marR="54864" marT="27432" marB="27432">
                    <a:solidFill>
                      <a:srgbClr val="FFFFFF"/>
                    </a:solidFill>
                  </a:tcPr>
                </a:tc>
                <a:tc>
                  <a:txBody>
                    <a:bodyPr/>
                    <a:lstStyle/>
                    <a:p>
                      <a:r>
                        <a:rPr sz="850" b="0">
                          <a:solidFill>
                            <a:srgbClr val="4B4B4B"/>
                          </a:solidFill>
                          <a:latin typeface="Arial"/>
                        </a:rPr>
                        <a:t>Drop-down, month (MMM-yyyy)</a:t>
                      </a:r>
                    </a:p>
                  </a:txBody>
                  <a:tcPr marL="54864" marR="54864" marT="27432" marB="27432">
                    <a:solidFill>
                      <a:srgbClr val="FFFFFF"/>
                    </a:solidFill>
                  </a:tcPr>
                </a:tc>
                <a:tc>
                  <a:txBody>
                    <a:bodyPr/>
                    <a:lstStyle/>
                    <a:p>
                      <a:r>
                        <a:rPr sz="850" b="0">
                          <a:solidFill>
                            <a:srgbClr val="4B4B4B"/>
                          </a:solidFill>
                          <a:latin typeface="Arial"/>
                        </a:rPr>
                        <a:t>Insurers by name; accounts booked in the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Both given</a:t>
                      </a:r>
                    </a:p>
                  </a:txBody>
                  <a:tcPr marL="54864" marR="54864" marT="27432" marB="27432">
                    <a:solidFill>
                      <a:srgbClr val="FFFFFF"/>
                    </a:solidFill>
                  </a:tcPr>
                </a:tc>
                <a:tc>
                  <a:txBody>
                    <a:bodyPr/>
                    <a:lstStyle/>
                    <a:p>
                      <a:r>
                        <a:rPr sz="850" b="0">
                          <a:solidFill>
                            <a:srgbClr val="4B4B4B"/>
                          </a:solidFill>
                          <a:latin typeface="Arial"/>
                        </a:rPr>
                        <a:t>Insurer and production month are required</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 Cc</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E-mail addresses separated by commas</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Enter valid e-mail addresses</a:t>
                      </a:r>
                    </a:p>
                  </a:txBody>
                  <a:tcPr marL="54864" marR="54864" marT="27432" marB="27432">
                    <a:solidFill>
                      <a:srgbClr val="E5F5FF"/>
                    </a:solidFill>
                  </a:tcPr>
                </a:tc>
              </a:tr>
            </a:tbl>
          </a:graphicData>
        </a:graphic>
      </p:graphicFrame>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Extract / Extract Register</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Extracts the register of the insurer and month into its file</a:t>
                      </a:r>
                    </a:p>
                  </a:txBody>
                  <a:tcPr marL="54864" marR="54864" marT="27432" marB="27432">
                    <a:solidFill>
                      <a:srgbClr val="FFFFFF"/>
                    </a:solidFill>
                  </a:tcPr>
                </a:tc>
                <a:tc>
                  <a:txBody>
                    <a:bodyPr/>
                    <a:lstStyle/>
                    <a:p>
                      <a:r>
                        <a:rPr sz="850" b="0">
                          <a:solidFill>
                            <a:srgbClr val="4B4B4B"/>
                          </a:solidFill>
                          <a:latin typeface="Arial"/>
                        </a:rPr>
                        <a:t>Register extracted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register workbook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Send to Insurer / Resend to Insurer</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Extracted / sent</a:t>
                      </a:r>
                    </a:p>
                  </a:txBody>
                  <a:tcPr marL="54864" marR="54864" marT="27432" marB="27432">
                    <a:solidFill>
                      <a:srgbClr val="FFFFFF"/>
                    </a:solidFill>
                  </a:tcPr>
                </a:tc>
                <a:tc>
                  <a:txBody>
                    <a:bodyPr/>
                    <a:lstStyle/>
                    <a:p>
                      <a:r>
                        <a:rPr sz="850" b="0">
                          <a:solidFill>
                            <a:srgbClr val="4B4B4B"/>
                          </a:solidFill>
                          <a:latin typeface="Arial"/>
                        </a:rPr>
                        <a:t>E-mails the register with the cover letter as a password-protected attachment; the password follows in a separate e-mail</a:t>
                      </a:r>
                    </a:p>
                  </a:txBody>
                  <a:tcPr marL="54864" marR="54864" marT="27432" marB="27432">
                    <a:solidFill>
                      <a:srgbClr val="FFFFFF"/>
                    </a:solidFill>
                  </a:tcPr>
                </a:tc>
                <a:tc>
                  <a:txBody>
                    <a:bodyPr/>
                    <a:lstStyle/>
                    <a:p>
                      <a:r>
                        <a:rPr sz="850" b="0">
                          <a:solidFill>
                            <a:srgbClr val="4B4B4B"/>
                          </a:solidFill>
                          <a:latin typeface="Arial"/>
                        </a:rPr>
                        <a:t>Awaiting insurer feedback</a:t>
                      </a:r>
                    </a:p>
                  </a:txBody>
                  <a:tcPr marL="54864" marR="54864" marT="27432" marB="27432">
                    <a:solidFill>
                      <a:srgbClr val="FFFFFF"/>
                    </a:solidFill>
                  </a:tcPr>
                </a:tc>
                <a:tc>
                  <a:txBody>
                    <a:bodyPr/>
                    <a:lstStyle/>
                    <a:p>
                      <a:r>
                        <a:rPr sz="850" b="0">
                          <a:solidFill>
                            <a:srgbClr val="4B4B4B"/>
                          </a:solidFill>
                          <a:latin typeface="Arial"/>
                        </a:rPr>
                        <a:t>Production register e-mail (NT-25)</a:t>
                      </a:r>
                    </a:p>
                  </a:txBody>
                  <a:tcPr marL="54864" marR="54864" marT="27432" marB="27432">
                    <a:solidFill>
                      <a:srgbClr val="FFFFFF"/>
                    </a:solidFill>
                  </a:tcPr>
                </a:tc>
              </a:tr>
            </a:tbl>
          </a:graphicData>
        </a:graphic>
      </p:graphicFrame>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register is a protected workbook: only the Remarks and Incentive columns and 200 blank rows can be edited by the insurer (FR-OP-072).</a:t>
                      </a:r>
                    </a:p>
                  </a:txBody>
                  <a:tcPr marL="54864" marR="54864" marT="27432" marB="27432">
                    <a:solidFill>
                      <a:srgbClr val="FFFFFF"/>
                    </a:solidFill>
                  </a:tcPr>
                </a:tc>
              </a:tr>
              <a:tr h="243840">
                <a:tc>
                  <a:txBody>
                    <a:bodyPr/>
                    <a:lstStyle/>
                    <a:p>
                      <a:r>
                        <a:rPr sz="1000" b="0">
                          <a:solidFill>
                            <a:srgbClr val="4B4B4B"/>
                          </a:solidFill>
                          <a:latin typeface="Arial"/>
                        </a:rPr>
                        <a:t>The file is named &lt;insurer&gt;_PRODREG_&lt;yyyyMM&gt;_&lt;sequence&gt; (FR-OP-072).</a:t>
                      </a:r>
                    </a:p>
                  </a:txBody>
                  <a:tcPr marL="54864" marR="54864" marT="27432" marB="27432">
                    <a:solidFill>
                      <a:srgbClr val="E5F5FF"/>
                    </a:solidFill>
                  </a:tcPr>
                </a:tc>
              </a:tr>
              <a:tr h="243840">
                <a:tc>
                  <a:txBody>
                    <a:bodyPr/>
                    <a:lstStyle/>
                    <a:p>
                      <a:r>
                        <a:rPr sz="1000" b="0">
                          <a:solidFill>
                            <a:srgbClr val="4B4B4B"/>
                          </a:solidFill>
                          <a:latin typeface="Arial"/>
                        </a:rPr>
                        <a:t>The sent time and the recipients are kept on the extract (FR-OP-073).</a:t>
                      </a:r>
                    </a:p>
                  </a:txBody>
                  <a:tcPr marL="54864" marR="54864" marT="27432" marB="27432">
                    <a:solidFill>
                      <a:srgbClr val="FFFFFF"/>
                    </a:solidFill>
                  </a:tcPr>
                </a:tc>
              </a:tr>
            </a:tbl>
          </a:graphicData>
        </a:graphic>
      </p:graphicFrame>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6-01-list.png"/>
          <p:cNvPicPr>
            <a:picLocks noChangeAspect="1"/>
          </p:cNvPicPr>
          <p:nvPr/>
        </p:nvPicPr>
        <p:blipFill>
          <a:blip r:embed="rId3"/>
          <a:stretch>
            <a:fillRect/>
          </a:stretch>
        </p:blipFill>
        <p:spPr>
          <a:xfrm>
            <a:off x="822866" y="1261872"/>
            <a:ext cx="1054596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Production Extracts</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46-02-new.png"/>
          <p:cNvPicPr>
            <a:picLocks noChangeAspect="1"/>
          </p:cNvPicPr>
          <p:nvPr/>
        </p:nvPicPr>
        <p:blipFill>
          <a:blip r:embed="rId3"/>
          <a:stretch>
            <a:fillRect/>
          </a:stretch>
        </p:blipFill>
        <p:spPr>
          <a:xfrm>
            <a:off x="869073" y="1261872"/>
            <a:ext cx="1045354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Production Extract dialog</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registers returned by the insurers, uploaded and matched against BDOI production at once, with every attempt and its row counts.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Insurer Feedback</a:t>
                      </a:r>
                    </a:p>
                    <a:p>
                      <a:r>
                        <a:rPr sz="950" b="0">
                          <a:solidFill>
                            <a:srgbClr val="4B4B4B"/>
                          </a:solidFill>
                          <a:latin typeface="Arial"/>
                        </a:rPr>
                        <a:t>Reconciliation Workbench › Awaiting Insurer Feedback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FR-OP-074, FR-OP-075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answer is matched against BDOI's production.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File / Insurer / Production Month / Rows Read / Accepted / Failed / Message / Uploaded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File with the attempt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Insurer Feedback dialog</a:t>
                      </a:r>
                    </a:p>
                  </a:txBody>
                  <a:tcPr marL="54864" marR="54864" marT="27432" marB="27432">
                    <a:solidFill>
                      <a:srgbClr val="FFFFFF"/>
                    </a:solidFill>
                  </a:tcPr>
                </a:tc>
                <a:tc>
                  <a:txBody>
                    <a:bodyPr/>
                    <a:lstStyle/>
                    <a:p>
                      <a:r>
                        <a:rPr sz="850" b="0">
                          <a:solidFill>
                            <a:srgbClr val="4B4B4B"/>
                          </a:solidFill>
                          <a:latin typeface="Arial"/>
                        </a:rPr>
                        <a:t>Insurer Feedback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register returned by the insurer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with the same content as an earlier one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Feedback / Upload and Match</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Takes in the insurer's rows and matches them with the register</a:t>
                      </a:r>
                    </a:p>
                  </a:txBody>
                  <a:tcPr marL="54864" marR="54864" marT="27432" marB="27432">
                    <a:solidFill>
                      <a:srgbClr val="FFFFFF"/>
                    </a:solidFill>
                  </a:tcPr>
                </a:tc>
                <a:tc>
                  <a:txBody>
                    <a:bodyPr/>
                    <a:lstStyle/>
                    <a:p>
                      <a:r>
                        <a:rPr sz="850" b="0">
                          <a:solidFill>
                            <a:srgbClr val="4B4B4B"/>
                          </a:solidFill>
                          <a:latin typeface="Arial"/>
                        </a:rPr>
                        <a:t>Reconciling</a:t>
                      </a:r>
                    </a:p>
                  </a:txBody>
                  <a:tcPr marL="54864" marR="54864" marT="27432" marB="27432">
                    <a:solidFill>
                      <a:srgbClr val="FFFFFF"/>
                    </a:solidFill>
                  </a:tcPr>
                </a:tc>
                <a:tc>
                  <a:txBody>
                    <a:bodyPr/>
                    <a:lstStyle/>
                    <a:p>
                      <a:r>
                        <a:rPr sz="850" b="0">
                          <a:solidFill>
                            <a:srgbClr val="4B4B4B"/>
                          </a:solidFill>
                          <a:latin typeface="Arial"/>
                        </a:rPr>
                        <a:t>Insurer reconciliation feedback (NT-19)</a:t>
                      </a:r>
                    </a:p>
                  </a:txBody>
                  <a:tcPr marL="54864" marR="54864" marT="27432" marB="27432">
                    <a:solidFill>
                      <a:srgbClr val="FFFFFF"/>
                    </a:solidFill>
                  </a:tcPr>
                </a:tc>
              </a:tr>
            </a:tbl>
          </a:graphicData>
        </a:graphic>
      </p:graphicFrame>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Accounts the insurer reports that were not in the register are separated as insurer-only lines (FR-OP-074).</a:t>
                      </a:r>
                    </a:p>
                  </a:txBody>
                  <a:tcPr marL="54864" marR="54864" marT="27432" marB="27432">
                    <a:solidFill>
                      <a:srgbClr val="FFFFFF"/>
                    </a:solidFill>
                  </a:tcPr>
                </a:tc>
              </a:tr>
              <a:tr h="243840">
                <a:tc>
                  <a:txBody>
                    <a:bodyPr/>
                    <a:lstStyle/>
                    <a:p>
                      <a:r>
                        <a:rPr sz="1000" b="0">
                          <a:solidFill>
                            <a:srgbClr val="4B4B4B"/>
                          </a:solidFill>
                          <a:latin typeface="Arial"/>
                        </a:rPr>
                        <a:t>A file with the same content as an earlier one is blocked (FR-OP-074).</a:t>
                      </a:r>
                    </a:p>
                  </a:txBody>
                  <a:tcPr marL="54864" marR="54864" marT="27432" marB="27432">
                    <a:solidFill>
                      <a:srgbClr val="E5F5FF"/>
                    </a:solidFill>
                  </a:tcPr>
                </a:tc>
              </a:tr>
            </a:tbl>
          </a:graphicData>
        </a:graphic>
      </p:graphicFrame>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7-01-list.png"/>
          <p:cNvPicPr>
            <a:picLocks noChangeAspect="1"/>
          </p:cNvPicPr>
          <p:nvPr/>
        </p:nvPicPr>
        <p:blipFill>
          <a:blip r:embed="rId3"/>
          <a:stretch>
            <a:fillRect/>
          </a:stretch>
        </p:blipFill>
        <p:spPr>
          <a:xfrm>
            <a:off x="1017801" y="1261872"/>
            <a:ext cx="1015609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Feedback uploads</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7-02-upload.png"/>
          <p:cNvPicPr>
            <a:picLocks noChangeAspect="1"/>
          </p:cNvPicPr>
          <p:nvPr/>
        </p:nvPicPr>
        <p:blipFill>
          <a:blip r:embed="rId3"/>
          <a:stretch>
            <a:fillRect/>
          </a:stretch>
        </p:blipFill>
        <p:spPr>
          <a:xfrm>
            <a:off x="548640" y="1261872"/>
            <a:ext cx="11094415" cy="35539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Insurer Feedback dialog</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Unbooked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Accounts the insurers report that BDOI has not booked, followed until they are booked or closed: not booked, pre-booked (an account exists but is not booked yet), booked since, closed.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Unbooked Accounts</a:t>
                      </a:r>
                    </a:p>
                    <a:p>
                      <a:r>
                        <a:rPr sz="950" b="0">
                          <a:solidFill>
                            <a:srgbClr val="4B4B4B"/>
                          </a:solidFill>
                          <a:latin typeface="Arial"/>
                        </a:rPr>
                        <a:t>Reconciliation Workbench › Unbooked Insurer Production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 production missing in BDOI's books is followed to booking or closure.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Not Booked / Pre-booked / Booked Since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Policy, Reference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Policy / Reference / Assured / Period / Gross Premium / Pre-booked ARN / Booked As / Disposition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cell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item with its feedback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insurer-only line is looked up in New Business: with an account not yet booked it is Pre-booked, otherwise Not Booked (FR-OP-076).</a:t>
                      </a:r>
                    </a:p>
                  </a:txBody>
                  <a:tcPr marL="54864" marR="54864" marT="27432" marB="27432">
                    <a:solidFill>
                      <a:srgbClr val="FFFFFF"/>
                    </a:solidFill>
                  </a:tcPr>
                </a:tc>
              </a:tr>
              <a:tr h="243840">
                <a:tc>
                  <a:txBody>
                    <a:bodyPr/>
                    <a:lstStyle/>
                    <a:p>
                      <a:r>
                        <a:rPr sz="1000" b="0">
                          <a:solidFill>
                            <a:srgbClr val="4B4B4B"/>
                          </a:solidFill>
                          <a:latin typeface="Arial"/>
                        </a:rPr>
                        <a:t>Booking a later invoice matches the waiting insurer-only line of the same insurer (FR-OP-075).</a:t>
                      </a:r>
                    </a:p>
                  </a:txBody>
                  <a:tcPr marL="54864" marR="54864" marT="27432" marB="27432">
                    <a:solidFill>
                      <a:srgbClr val="E5F5FF"/>
                    </a:solidFill>
                  </a:tcPr>
                </a:tc>
              </a:tr>
            </a:tbl>
          </a:graphicData>
        </a:graphic>
      </p:graphicFrame>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Opens Unbooked Accounts</a:t>
                      </a:r>
                    </a:p>
                  </a:txBody>
                  <a:tcPr marL="54864" marR="54864" marT="27432" marB="27432">
                    <a:solidFill>
                      <a:srgbClr val="FFFFFF"/>
                    </a:solidFill>
                  </a:tcPr>
                </a:tc>
                <a:tc>
                  <a:txBody>
                    <a:bodyPr/>
                    <a:lstStyle/>
                    <a:p>
                      <a:r>
                        <a:rPr sz="900" b="0">
                          <a:solidFill>
                            <a:srgbClr val="4B4B4B"/>
                          </a:solidFill>
                          <a:latin typeface="Arial"/>
                        </a:rPr>
                        <a:t>SCR-OP-48_wt-c-step-06.png</a:t>
                      </a:r>
                    </a:p>
                  </a:txBody>
                  <a:tcPr marL="54864" marR="54864" marT="27432" marB="27432">
                    <a:solidFill>
                      <a:srgbClr val="FFFFFF"/>
                    </a:solidFill>
                  </a:tcPr>
                </a:tc>
              </a:tr>
            </a:tbl>
          </a:graphicData>
        </a:graphic>
      </p:graphicFrame>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Unbooked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8-01-list.png"/>
          <p:cNvPicPr>
            <a:picLocks noChangeAspect="1"/>
          </p:cNvPicPr>
          <p:nvPr/>
        </p:nvPicPr>
        <p:blipFill>
          <a:blip r:embed="rId3"/>
          <a:stretch>
            <a:fillRect/>
          </a:stretch>
        </p:blipFill>
        <p:spPr>
          <a:xfrm>
            <a:off x="1399739" y="1261872"/>
            <a:ext cx="939221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Unbooked Accounts, Not Booked tab</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When the production register of each insurer is extracted (monthly on a day or weekly on a weekday), whether it is sent automatically and to whom.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Extract Schedules</a:t>
                      </a:r>
                    </a:p>
                    <a:p>
                      <a:r>
                        <a:rPr sz="950" b="0">
                          <a:solidFill>
                            <a:srgbClr val="4B4B4B"/>
                          </a:solidFill>
                          <a:latin typeface="Arial"/>
                        </a:rPr>
                        <a:t>Reconciliation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registers are extracted and sent on the agreed schedule.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Frequency / Next Run / Auto Send / Recipients / Last Run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Next run moved to the next working 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Schedule dialog</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Chosen</a:t>
                      </a:r>
                    </a:p>
                  </a:txBody>
                  <a:tcPr marL="54864" marR="54864" marT="27432" marB="27432">
                    <a:solidFill>
                      <a:srgbClr val="E5F5FF"/>
                    </a:solidFill>
                  </a:tcPr>
                </a:tc>
                <a:tc>
                  <a:txBody>
                    <a:bodyPr/>
                    <a:lstStyle/>
                    <a:p>
                      <a:r>
                        <a:rPr sz="850" b="0">
                          <a:solidFill>
                            <a:srgbClr val="4B4B4B"/>
                          </a:solidFill>
                          <a:latin typeface="Arial"/>
                        </a:rPr>
                        <a:t>Select the insurer</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Schedule dialog</a:t>
                      </a:r>
                    </a:p>
                  </a:txBody>
                  <a:tcPr marL="54864" marR="54864" marT="27432" marB="27432">
                    <a:solidFill>
                      <a:srgbClr val="FFFFFF"/>
                    </a:solidFill>
                  </a:tcPr>
                </a:tc>
                <a:tc>
                  <a:txBody>
                    <a:bodyPr/>
                    <a:lstStyle/>
                    <a:p>
                      <a:r>
                        <a:rPr sz="850" b="0">
                          <a:solidFill>
                            <a:srgbClr val="4B4B4B"/>
                          </a:solidFill>
                          <a:latin typeface="Arial"/>
                        </a:rPr>
                        <a:t>Frequency / Run Day</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Monthly (day 1-28) or Weekly (1 = Monday … 7 = Sunday)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range</a:t>
                      </a:r>
                    </a:p>
                  </a:txBody>
                  <a:tcPr marL="54864" marR="54864" marT="27432" marB="27432">
                    <a:solidFill>
                      <a:srgbClr val="FFFFFF"/>
                    </a:solidFill>
                  </a:tcPr>
                </a:tc>
                <a:tc>
                  <a:txBody>
                    <a:bodyPr/>
                    <a:lstStyle/>
                    <a:p>
                      <a:r>
                        <a:rPr sz="850" b="0">
                          <a:solidFill>
                            <a:srgbClr val="4B4B4B"/>
                          </a:solidFill>
                          <a:latin typeface="Arial"/>
                        </a:rPr>
                        <a:t>Run day is a day of the month from 1 to 28 / Run day is a weekday from 1 (Monday) to 7 (Sunday)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Schedule dialog</a:t>
                      </a:r>
                    </a:p>
                  </a:txBody>
                  <a:tcPr marL="54864" marR="54864" marT="27432" marB="27432">
                    <a:solidFill>
                      <a:srgbClr val="E5F5FF"/>
                    </a:solidFill>
                  </a:tcPr>
                </a:tc>
                <a:tc>
                  <a:txBody>
                    <a:bodyPr/>
                    <a:lstStyle/>
                    <a:p>
                      <a:r>
                        <a:rPr sz="850" b="0">
                          <a:solidFill>
                            <a:srgbClr val="4B4B4B"/>
                          </a:solidFill>
                          <a:latin typeface="Arial"/>
                        </a:rPr>
                        <a:t>Recipients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the insurer's reconciliation contacts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Enter valid e-mail addresses</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Schedule dialog</a:t>
                      </a:r>
                    </a:p>
                  </a:txBody>
                  <a:tcPr marL="54864" marR="54864" marT="27432" marB="27432">
                    <a:solidFill>
                      <a:srgbClr val="FFFFFF"/>
                    </a:solidFill>
                  </a:tcPr>
                </a:tc>
                <a:tc>
                  <a:txBody>
                    <a:bodyPr/>
                    <a:lstStyle/>
                    <a:p>
                      <a:r>
                        <a:rPr sz="850" b="0">
                          <a:solidFill>
                            <a:srgbClr val="4B4B4B"/>
                          </a:solidFill>
                          <a:latin typeface="Arial"/>
                        </a:rPr>
                        <a:t>Send automatically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Schedule / Save Schedule</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schedule of the insurer</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daily production extract job extracts the registers due that day; the next run moves to the next working day on the head office calendar (FR-OP-070).</a:t>
                      </a:r>
                    </a:p>
                  </a:txBody>
                  <a:tcPr marL="54864" marR="54864" marT="27432" marB="27432">
                    <a:solidFill>
                      <a:srgbClr val="FFFFFF"/>
                    </a:solidFill>
                  </a:tcPr>
                </a:tc>
              </a:tr>
            </a:tbl>
          </a:graphicData>
        </a:graphic>
      </p:graphicFrame>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9-01-list.png"/>
          <p:cNvPicPr>
            <a:picLocks noChangeAspect="1"/>
          </p:cNvPicPr>
          <p:nvPr/>
        </p:nvPicPr>
        <p:blipFill>
          <a:blip r:embed="rId3"/>
          <a:stretch>
            <a:fillRect/>
          </a:stretch>
        </p:blipFill>
        <p:spPr>
          <a:xfrm>
            <a:off x="548640" y="1261872"/>
            <a:ext cx="11094415" cy="33665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Schedules</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49-02-new.png"/>
          <p:cNvPicPr>
            <a:picLocks noChangeAspect="1"/>
          </p:cNvPicPr>
          <p:nvPr/>
        </p:nvPicPr>
        <p:blipFill>
          <a:blip r:embed="rId3"/>
          <a:stretch>
            <a:fillRect/>
          </a:stretch>
        </p:blipFill>
        <p:spPr>
          <a:xfrm>
            <a:off x="964539" y="1261872"/>
            <a:ext cx="1026261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Extract Schedule dialog</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Commission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Commission Receivables: direct payment accounts to confirm and to bill, billings awaiting the insurer, overdue feedback, approved billings to collect, BIR certificates to acknowledge and the direct payment commission outstanding.</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Commission Workbench</a:t>
                      </a:r>
                    </a:p>
                    <a:p>
                      <a:r>
                        <a:rPr sz="950" b="0">
                          <a:solidFill>
                            <a:srgbClr val="4B4B4B"/>
                          </a:solidFill>
                          <a:latin typeface="Arial"/>
                        </a:rPr>
                        <a:t>Operations Home › Commission Receivables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the direct payment work waiting.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graphicFrame>
        <p:nvGraphicFramePr>
          <p:cNvPr id="9" name="Table 8"/>
          <p:cNvGraphicFramePr>
            <a:graphicFrameLocks noGrp="1"/>
          </p:cNvGraphicFramePr>
          <p:nvPr/>
        </p:nvGraphicFramePr>
        <p:xfrm>
          <a:off x="548640" y="1325880"/>
          <a:ext cx="11094411" cy="12191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998213">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DP Accounts to Confirm, DP Accounts for Billing, Billings Awaiting Insurer, Insurer Feedback Overdue, Approved Billings to Collect, BIR Certificates to Acknowledge, Direct Payment Commission Outstanding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Commission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commission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Commission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0-01-home.png"/>
          <p:cNvPicPr>
            <a:picLocks noChangeAspect="1"/>
          </p:cNvPicPr>
          <p:nvPr/>
        </p:nvPicPr>
        <p:blipFill>
          <a:blip r:embed="rId3"/>
          <a:stretch>
            <a:fillRect/>
          </a:stretch>
        </p:blipFill>
        <p:spPr>
          <a:xfrm>
            <a:off x="548640" y="1261872"/>
            <a:ext cx="11094415" cy="38256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Workbench with the work queues</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lists of direct payment accounts reported by the branches, Head Office and the collection feed, with what each list held and took in, and the tracker of the branch submissions.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Lists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FR-OP-090, FR-OP-091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Direct payment accounts from every branch are taken in and validated.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Lists Received / Branch Submissions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Lists Received</a:t>
                      </a:r>
                    </a:p>
                  </a:txBody>
                  <a:tcPr marL="54864" marR="54864" marT="27432" marB="27432">
                    <a:solidFill>
                      <a:srgbClr val="E5F5FF"/>
                    </a:solidFill>
                  </a:tcPr>
                </a:tc>
                <a:tc>
                  <a:txBody>
                    <a:bodyPr/>
                    <a:lstStyle/>
                    <a:p>
                      <a:r>
                        <a:rPr sz="850" b="0">
                          <a:solidFill>
                            <a:srgbClr val="4B4B4B"/>
                          </a:solidFill>
                          <a:latin typeface="Arial"/>
                        </a:rPr>
                        <a:t>List No. / Source / Branch / Submitted / Accounts / Valid / Excluded / Taken In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Branch Submissions</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Branch Submissions</a:t>
                      </a:r>
                    </a:p>
                  </a:txBody>
                  <a:tcPr marL="54864" marR="54864" marT="27432" marB="27432">
                    <a:solidFill>
                      <a:srgbClr val="E5F5FF"/>
                    </a:solidFill>
                  </a:tcPr>
                </a:tc>
                <a:tc>
                  <a:txBody>
                    <a:bodyPr/>
                    <a:lstStyle/>
                    <a:p>
                      <a:r>
                        <a:rPr sz="850" b="0">
                          <a:solidFill>
                            <a:srgbClr val="4B4B4B"/>
                          </a:solidFill>
                          <a:latin typeface="Arial"/>
                        </a:rPr>
                        <a:t>Code / Branch / Lists / Last Submission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DP List dialog</a:t>
                      </a:r>
                    </a:p>
                  </a:txBody>
                  <a:tcPr marL="54864" marR="54864" marT="27432" marB="27432">
                    <a:solidFill>
                      <a:srgbClr val="FFFFFF"/>
                    </a:solidFill>
                  </a:tcPr>
                </a:tc>
                <a:tc>
                  <a:txBody>
                    <a:bodyPr/>
                    <a:lstStyle/>
                    <a:p>
                      <a:r>
                        <a:rPr sz="850" b="0">
                          <a:solidFill>
                            <a:srgbClr val="4B4B4B"/>
                          </a:solidFill>
                          <a:latin typeface="Arial"/>
                        </a:rPr>
                        <a:t>DP List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Named &lt;Branch&gt;_DP_&lt;yyyyMMdd&gt;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naming convention; a file with the same content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DP List / Upload and Validate</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Takes in the list and validates every account</a:t>
                      </a:r>
                    </a:p>
                  </a:txBody>
                  <a:tcPr marL="54864" marR="54864" marT="27432" marB="27432">
                    <a:solidFill>
                      <a:srgbClr val="FFFFFF"/>
                    </a:solidFill>
                  </a:tcPr>
                </a:tc>
                <a:tc>
                  <a:txBody>
                    <a:bodyPr/>
                    <a:lstStyle/>
                    <a:p>
                      <a:r>
                        <a:rPr sz="850" b="0">
                          <a:solidFill>
                            <a:srgbClr val="4B4B4B"/>
                          </a:solidFill>
                          <a:latin typeface="Arial"/>
                        </a:rPr>
                        <a:t>DP for confirmation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Pull from Collection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Takes the lists waiting in the collection feed</a:t>
                      </a:r>
                    </a:p>
                  </a:txBody>
                  <a:tcPr marL="54864" marR="54864" marT="27432" marB="27432">
                    <a:solidFill>
                      <a:srgbClr val="E5F5FF"/>
                    </a:solidFill>
                  </a:tcPr>
                </a:tc>
                <a:tc>
                  <a:txBody>
                    <a:bodyPr/>
                    <a:lstStyle/>
                    <a:p>
                      <a:r>
                        <a:rPr sz="850" b="0">
                          <a:solidFill>
                            <a:srgbClr val="4B4B4B"/>
                          </a:solidFill>
                          <a:latin typeface="Arial"/>
                        </a:rPr>
                        <a:t>DP for confirmation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In v2.1 the DP entries come from the DP tagging confirmed by Marketing Collection, with no upload; the list upload shown here stays as a fallback until BDOI withdraws it (FR-OP-090, CLR-OP-54).</a:t>
                      </a:r>
                    </a:p>
                  </a:txBody>
                  <a:tcPr marL="54864" marR="54864" marT="27432" marB="27432">
                    <a:solidFill>
                      <a:srgbClr val="FFFFFF"/>
                    </a:solidFill>
                  </a:tcPr>
                </a:tc>
              </a:tr>
              <a:tr h="243840">
                <a:tc>
                  <a:txBody>
                    <a:bodyPr/>
                    <a:lstStyle/>
                    <a:p>
                      <a:r>
                        <a:rPr sz="1000" b="0">
                          <a:solidFill>
                            <a:srgbClr val="4B4B4B"/>
                          </a:solidFill>
                          <a:latin typeface="Arial"/>
                        </a:rPr>
                        <a:t>A fallback file is named &lt;Branch&gt;_DP_&lt;yyyyMMdd&gt; and a file with the same content as an earlier one is refused (FR-OP-090).</a:t>
                      </a:r>
                    </a:p>
                  </a:txBody>
                  <a:tcPr marL="54864" marR="54864" marT="27432" marB="27432">
                    <a:solidFill>
                      <a:srgbClr val="E5F5FF"/>
                    </a:solidFill>
                  </a:tcPr>
                </a:tc>
              </a:tr>
              <a:tr h="243840">
                <a:tc>
                  <a:txBody>
                    <a:bodyPr/>
                    <a:lstStyle/>
                    <a:p>
                      <a:r>
                        <a:rPr sz="1000" b="0">
                          <a:solidFill>
                            <a:srgbClr val="4B4B4B"/>
                          </a:solidFill>
                          <a:latin typeface="Arial"/>
                        </a:rPr>
                        <a:t>The branch tracker shows which branches had DP entries for the period (FR-OP-090).</a:t>
                      </a:r>
                    </a:p>
                  </a:txBody>
                  <a:tcPr marL="54864" marR="54864" marT="27432" marB="27432">
                    <a:solidFill>
                      <a:srgbClr val="FFFFFF"/>
                    </a:solidFill>
                  </a:tcPr>
                </a:tc>
              </a:tr>
            </a:tbl>
          </a:graphicData>
        </a:graphic>
      </p:graphicFrame>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51-01-list.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Lists, Lists Received</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51-02-upload.png"/>
          <p:cNvPicPr>
            <a:picLocks noChangeAspect="1"/>
          </p:cNvPicPr>
          <p:nvPr/>
        </p:nvPicPr>
        <p:blipFill>
          <a:blip r:embed="rId3"/>
          <a:stretch>
            <a:fillRect/>
          </a:stretch>
        </p:blipFill>
        <p:spPr>
          <a:xfrm>
            <a:off x="548640" y="1261872"/>
            <a:ext cx="11094415" cy="355395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DP List dialog</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direct payment accounts from confirmation to billing, collection and the reversal of the premium receivable: by tag, with the validation of each account against the ledger; the handler confirms that the client paid the insurer, prepares the billing per insurer, excludes an account, and reverses or reinstates the premium receivable.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Accounts</a:t>
                      </a:r>
                    </a:p>
                    <a:p>
                      <a:r>
                        <a:rPr sz="950" b="0">
                          <a:solidFill>
                            <a:srgbClr val="4B4B4B"/>
                          </a:solidFill>
                          <a:latin typeface="Arial"/>
                        </a:rPr>
                        <a:t>Commission Workbench › DP Accounts to Confirm and DP Accounts for Billing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FR-OP-091, FR-OP-092, FR-OP-094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Valid direct payment accounts are confirmed and billed to their insurers.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Confirmation / For Billing / Billed / Approved / Rejected / Collected / PR Reversed / Excluded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Insurer / Assured / Branch / Premium / Net Commission / Validation / Result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Validation Valid, Duplicate, Invalid or Incomplete; the failed rules in Result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Account dialog</a:t>
                      </a:r>
                    </a:p>
                  </a:txBody>
                  <a:tcPr marL="54864" marR="54864" marT="27432" marB="27432">
                    <a:solidFill>
                      <a:srgbClr val="E5F5FF"/>
                    </a:solidFill>
                  </a:tcPr>
                </a:tc>
                <a:tc>
                  <a:txBody>
                    <a:bodyPr/>
                    <a:lstStyle/>
                    <a:p>
                      <a:r>
                        <a:rPr sz="850" b="0">
                          <a:solidFill>
                            <a:srgbClr val="4B4B4B"/>
                          </a:solidFill>
                          <a:latin typeface="Arial"/>
                        </a:rPr>
                        <a:t>Validation rules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Booked, tagged direct payment, not cancelled, insurer and premium as listed, no pending negative adjustment, commission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 dialog</a:t>
                      </a:r>
                    </a:p>
                  </a:txBody>
                  <a:tcPr marL="54864" marR="54864" marT="27432" marB="27432">
                    <a:solidFill>
                      <a:srgbClr val="FFFFFF"/>
                    </a:solidFill>
                  </a:tcPr>
                </a:tc>
                <a:tc>
                  <a:txBody>
                    <a:bodyPr/>
                    <a:lstStyle/>
                    <a:p>
                      <a:r>
                        <a:rPr sz="850" b="0">
                          <a:solidFill>
                            <a:srgbClr val="4B4B4B"/>
                          </a:solidFill>
                          <a:latin typeface="Arial"/>
                        </a:rPr>
                        <a:t>Reinstatement 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Exclude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Confirm Paid to Insurer</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For confirmation, rows selected</a:t>
                      </a:r>
                    </a:p>
                  </a:txBody>
                  <a:tcPr marL="54864" marR="54864" marT="27432" marB="27432">
                    <a:solidFill>
                      <a:srgbClr val="FFFFFF"/>
                    </a:solidFill>
                  </a:tcPr>
                </a:tc>
                <a:tc>
                  <a:txBody>
                    <a:bodyPr/>
                    <a:lstStyle/>
                    <a:p>
                      <a:r>
                        <a:rPr sz="850" b="0">
                          <a:solidFill>
                            <a:srgbClr val="4B4B4B"/>
                          </a:solidFill>
                          <a:latin typeface="Arial"/>
                        </a:rPr>
                        <a:t>Confirms that the client paid the insurer in full</a:t>
                      </a:r>
                    </a:p>
                  </a:txBody>
                  <a:tcPr marL="54864" marR="54864" marT="27432" marB="27432">
                    <a:solidFill>
                      <a:srgbClr val="FFFFFF"/>
                    </a:solidFill>
                  </a:tcPr>
                </a:tc>
                <a:tc>
                  <a:txBody>
                    <a:bodyPr/>
                    <a:lstStyle/>
                    <a:p>
                      <a:r>
                        <a:rPr sz="850" b="0">
                          <a:solidFill>
                            <a:srgbClr val="4B4B4B"/>
                          </a:solidFill>
                          <a:latin typeface="Arial"/>
                        </a:rPr>
                        <a:t>DP for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Prepare Billing</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For billing, rows selected</a:t>
                      </a:r>
                    </a:p>
                  </a:txBody>
                  <a:tcPr marL="54864" marR="54864" marT="27432" marB="27432">
                    <a:solidFill>
                      <a:srgbClr val="E5F5FF"/>
                    </a:solidFill>
                  </a:tcPr>
                </a:tc>
                <a:tc>
                  <a:txBody>
                    <a:bodyPr/>
                    <a:lstStyle/>
                    <a:p>
                      <a:r>
                        <a:rPr sz="850" b="0">
                          <a:solidFill>
                            <a:srgbClr val="4B4B4B"/>
                          </a:solidFill>
                          <a:latin typeface="Arial"/>
                        </a:rPr>
                        <a:t>Prepares one billing per insurer</a:t>
                      </a:r>
                    </a:p>
                  </a:txBody>
                  <a:tcPr marL="54864" marR="54864" marT="27432" marB="27432">
                    <a:solidFill>
                      <a:srgbClr val="E5F5FF"/>
                    </a:solidFill>
                  </a:tcPr>
                </a:tc>
                <a:tc>
                  <a:txBody>
                    <a:bodyPr/>
                    <a:lstStyle/>
                    <a:p>
                      <a:r>
                        <a:rPr sz="850" b="0">
                          <a:solidFill>
                            <a:srgbClr val="4B4B4B"/>
                          </a:solidFill>
                          <a:latin typeface="Arial"/>
                        </a:rPr>
                        <a:t>Billed (billing to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Exclude</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Rows selected</a:t>
                      </a:r>
                    </a:p>
                  </a:txBody>
                  <a:tcPr marL="54864" marR="54864" marT="27432" marB="27432">
                    <a:solidFill>
                      <a:srgbClr val="FFFFFF"/>
                    </a:solidFill>
                  </a:tcPr>
                </a:tc>
                <a:tc>
                  <a:txBody>
                    <a:bodyPr/>
                    <a:lstStyle/>
                    <a:p>
                      <a:r>
                        <a:rPr sz="850" b="0">
                          <a:solidFill>
                            <a:srgbClr val="4B4B4B"/>
                          </a:solidFill>
                          <a:latin typeface="Arial"/>
                        </a:rPr>
                        <a:t>Excludes the accounts with a reason</a:t>
                      </a:r>
                    </a:p>
                  </a:txBody>
                  <a:tcPr marL="54864" marR="54864" marT="27432" marB="27432">
                    <a:solidFill>
                      <a:srgbClr val="FFFFFF"/>
                    </a:solidFill>
                  </a:tcPr>
                </a:tc>
                <a:tc>
                  <a:txBody>
                    <a:bodyPr/>
                    <a:lstStyle/>
                    <a:p>
                      <a:r>
                        <a:rPr sz="850" b="0">
                          <a:solidFill>
                            <a:srgbClr val="4B4B4B"/>
                          </a:solidFill>
                          <a:latin typeface="Arial"/>
                        </a:rPr>
                        <a:t>Excluded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Validate Again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Invalid or incomplete</a:t>
                      </a:r>
                    </a:p>
                  </a:txBody>
                  <a:tcPr marL="54864" marR="54864" marT="27432" marB="27432">
                    <a:solidFill>
                      <a:srgbClr val="E5F5FF"/>
                    </a:solidFill>
                  </a:tcPr>
                </a:tc>
                <a:tc>
                  <a:txBody>
                    <a:bodyPr/>
                    <a:lstStyle/>
                    <a:p>
                      <a:r>
                        <a:rPr sz="850" b="0">
                          <a:solidFill>
                            <a:srgbClr val="4B4B4B"/>
                          </a:solidFill>
                          <a:latin typeface="Arial"/>
                        </a:rPr>
                        <a:t>Runs the validation rules again</a:t>
                      </a:r>
                    </a:p>
                  </a:txBody>
                  <a:tcPr marL="54864" marR="54864" marT="27432" marB="27432">
                    <a:solidFill>
                      <a:srgbClr val="E5F5FF"/>
                    </a:solidFill>
                  </a:tcPr>
                </a:tc>
                <a:tc>
                  <a:txBody>
                    <a:bodyPr/>
                    <a:lstStyle/>
                    <a:p>
                      <a:r>
                        <a:rPr sz="850" b="0">
                          <a:solidFill>
                            <a:srgbClr val="4B4B4B"/>
                          </a:solidFill>
                          <a:latin typeface="Arial"/>
                        </a:rPr>
                        <a:t>Unchanged or valid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Reinstate PR / Reverse PR Again</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PR reversed / reinstated</a:t>
                      </a:r>
                    </a:p>
                  </a:txBody>
                  <a:tcPr marL="54864" marR="54864" marT="27432" marB="27432">
                    <a:solidFill>
                      <a:srgbClr val="FFFFFF"/>
                    </a:solidFill>
                  </a:tcPr>
                </a:tc>
                <a:tc>
                  <a:txBody>
                    <a:bodyPr/>
                    <a:lstStyle/>
                    <a:p>
                      <a:r>
                        <a:rPr sz="850" b="0">
                          <a:solidFill>
                            <a:srgbClr val="4B4B4B"/>
                          </a:solidFill>
                          <a:latin typeface="Arial"/>
                        </a:rPr>
                        <a:t>Reinstates the premium receivable with a reason, or reverses it again</a:t>
                      </a:r>
                    </a:p>
                  </a:txBody>
                  <a:tcPr marL="54864" marR="54864" marT="27432" marB="27432">
                    <a:solidFill>
                      <a:srgbClr val="FFFFFF"/>
                    </a:solidFill>
                  </a:tcPr>
                </a:tc>
                <a:tc>
                  <a:txBody>
                    <a:bodyPr/>
                    <a:lstStyle/>
                    <a:p>
                      <a:r>
                        <a:rPr sz="850" b="0">
                          <a:solidFill>
                            <a:srgbClr val="4B4B4B"/>
                          </a:solidFill>
                          <a:latin typeface="Arial"/>
                        </a:rPr>
                        <a:t>Reinstated / PR reversed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graphicFrame>
        <p:nvGraphicFramePr>
          <p:cNvPr id="9" name="Table 8"/>
          <p:cNvGraphicFramePr>
            <a:graphicFrameLocks noGrp="1"/>
          </p:cNvGraphicFramePr>
          <p:nvPr/>
        </p:nvGraphicFramePr>
        <p:xfrm>
          <a:off x="548640" y="1325880"/>
          <a:ext cx="11094415" cy="15240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In v2.1 the account review is read-only: the checks against the ledger shown here become highlighted inconsistencies and no longer set a result; only the approved exclusion rules (Negative amount, Fully cancelled) exclude an account (FR-OP-091, CLR-OP-55, CLR-OP-56).</a:t>
                      </a:r>
                    </a:p>
                  </a:txBody>
                  <a:tcPr marL="54864" marR="54864" marT="27432" marB="27432">
                    <a:solidFill>
                      <a:srgbClr val="FFFFFF"/>
                    </a:solidFill>
                  </a:tcPr>
                </a:tc>
              </a:tr>
              <a:tr h="396240">
                <a:tc>
                  <a:txBody>
                    <a:bodyPr/>
                    <a:lstStyle/>
                    <a:p>
                      <a:r>
                        <a:rPr sz="1000" b="0">
                          <a:solidFill>
                            <a:srgbClr val="4B4B4B"/>
                          </a:solidFill>
                          <a:latin typeface="Arial"/>
                        </a:rPr>
                        <a:t>In v2.1 an account is eligible for billing when the payment status upstream is Paid; Confirm Paid to Insurer and Exclude are withdrawn, and the statuses are Valid, Invalid and Returned (FR-OP-091, CLR-OP-60, CLR-OP-62).</a:t>
                      </a:r>
                    </a:p>
                  </a:txBody>
                  <a:tcPr marL="54864" marR="54864" marT="27432" marB="27432">
                    <a:solidFill>
                      <a:srgbClr val="E5F5FF"/>
                    </a:solidFill>
                  </a:tcPr>
                </a:tc>
              </a:tr>
              <a:tr h="243840">
                <a:tc>
                  <a:txBody>
                    <a:bodyPr/>
                    <a:lstStyle/>
                    <a:p>
                      <a:r>
                        <a:rPr sz="1000" b="0">
                          <a:solidFill>
                            <a:srgbClr val="4B4B4B"/>
                          </a:solidFill>
                          <a:latin typeface="Arial"/>
                        </a:rPr>
                        <a:t>The same invoice entered twice is highlighted as a duplicate (FR-OP-091).</a:t>
                      </a:r>
                    </a:p>
                  </a:txBody>
                  <a:tcPr marL="54864" marR="54864" marT="27432" marB="27432">
                    <a:solidFill>
                      <a:srgbClr val="FFFFFF"/>
                    </a:solidFill>
                  </a:tcPr>
                </a:tc>
              </a:tr>
              <a:tr h="243840">
                <a:tc>
                  <a:txBody>
                    <a:bodyPr/>
                    <a:lstStyle/>
                    <a:p>
                      <a:r>
                        <a:rPr sz="1000" b="0">
                          <a:solidFill>
                            <a:srgbClr val="4B4B4B"/>
                          </a:solidFill>
                          <a:latin typeface="Arial"/>
                        </a:rPr>
                        <a:t>The commission party of a co-insured direct payment account is the lead insurer (FR-OP-092).</a:t>
                      </a:r>
                    </a:p>
                  </a:txBody>
                  <a:tcPr marL="54864" marR="54864" marT="27432" marB="27432">
                    <a:solidFill>
                      <a:srgbClr val="E5F5FF"/>
                    </a:solidFill>
                  </a:tcPr>
                </a:tc>
              </a:tr>
            </a:tbl>
          </a:graphicData>
        </a:graphic>
      </p:graphicFrame>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52-01-list.png"/>
          <p:cNvPicPr>
            <a:picLocks noChangeAspect="1"/>
          </p:cNvPicPr>
          <p:nvPr/>
        </p:nvPicPr>
        <p:blipFill>
          <a:blip r:embed="rId3"/>
          <a:stretch>
            <a:fillRect/>
          </a:stretch>
        </p:blipFill>
        <p:spPr>
          <a:xfrm>
            <a:off x="1714311" y="1261872"/>
            <a:ext cx="8763072"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Accounts, Billed tab</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7.png"/>
          <p:cNvPicPr>
            <a:picLocks noChangeAspect="1"/>
          </p:cNvPicPr>
          <p:nvPr/>
        </p:nvPicPr>
        <p:blipFill>
          <a:blip r:embed="rId3"/>
          <a:stretch>
            <a:fillRect/>
          </a:stretch>
        </p:blipFill>
        <p:spPr>
          <a:xfrm>
            <a:off x="548640" y="1261872"/>
            <a:ext cx="11094415" cy="453596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1 of 3)</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2 of 3)</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239.png"/>
          <p:cNvPicPr>
            <a:picLocks noChangeAspect="1"/>
          </p:cNvPicPr>
          <p:nvPr/>
        </p:nvPicPr>
        <p:blipFill>
          <a:blip r:embed="rId3"/>
          <a:stretch>
            <a:fillRect/>
          </a:stretch>
        </p:blipFill>
        <p:spPr>
          <a:xfrm>
            <a:off x="548640" y="1261872"/>
            <a:ext cx="11094415" cy="47931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3 of 3)</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DP Billings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commission billed to the insurers on direct payment accounts, by stage from sending to collection, with the answer due date and the handler.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Billings</a:t>
                      </a:r>
                    </a:p>
                    <a:p>
                      <a:r>
                        <a:rPr sz="950" b="0">
                          <a:solidFill>
                            <a:srgbClr val="4B4B4B"/>
                          </a:solidFill>
                          <a:latin typeface="Arial"/>
                        </a:rPr>
                        <a:t>Commission Workbench › Billings Awaiting Insurer and Approved Billings to Collect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FR-OP-092, FR-OP-093, FR-OP-099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follows every billing to its collection.</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Send / Awaiting Insurer / To Collect / Returned to Collection / Closed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insurers or one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Billing No. / Insurer / Accounts / Net Commission / Sent / Answer Due / Handler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CRB-yyyy-n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follow-up date of the insurer's answer is ten working days after sending, on the head office calendar; in v2.1 it is a reminder and the receivables are aged by invoice from the billing or Statement of Account date (FR-OP-092, FR-OP-099, CLR-OP-61).</a:t>
                      </a:r>
                    </a:p>
                  </a:txBody>
                  <a:tcPr marL="54864" marR="54864" marT="27432" marB="27432">
                    <a:solidFill>
                      <a:srgbClr val="FFFFFF"/>
                    </a:solidFill>
                  </a:tcPr>
                </a:tc>
              </a:tr>
            </a:tbl>
          </a:graphicData>
        </a:graphic>
      </p:graphicFrame>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DP Billings: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cr-op-53-01-list.png"/>
          <p:cNvPicPr>
            <a:picLocks noChangeAspect="1"/>
          </p:cNvPicPr>
          <p:nvPr/>
        </p:nvPicPr>
        <p:blipFill>
          <a:blip r:embed="rId3"/>
          <a:stretch>
            <a:fillRect/>
          </a:stretch>
        </p:blipFill>
        <p:spPr>
          <a:xfrm>
            <a:off x="1584807" y="1261872"/>
            <a:ext cx="9022080"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Billings, Awaiting Insurer tab</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billing to an insurer: accounts, net commission with the withholding tax, sent date, answer due (with the Answer Overdue tag), OR and handler, the billing workflow, the accounts with the insurer's answer, and the actions to send, record the answers, collect and cancel.</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Billings › DP Billing</a:t>
                      </a:r>
                    </a:p>
                    <a:p>
                      <a:r>
                        <a:rPr sz="950" b="0">
                          <a:solidFill>
                            <a:srgbClr val="4B4B4B"/>
                          </a:solidFill>
                          <a:latin typeface="Arial"/>
                        </a:rPr>
                        <a:t>DP Billings › open a row</a:t>
                      </a:r>
                    </a:p>
                    <a:p>
                      <a:r>
                        <a:rPr sz="950" b="0">
                          <a:solidFill>
                            <a:srgbClr val="4B4B4B"/>
                          </a:solidFill>
                          <a:latin typeface="Arial"/>
                        </a:rPr>
                        <a:t>Invoice 360 › Commission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FR-OP-092, FR-OP-093, FR-OP-094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pays BDOI's commission on the direct payment accounts and the receivable is cleared.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graphicFrame>
        <p:nvGraphicFramePr>
          <p:cNvPr id="9" name="Table 8"/>
          <p:cNvGraphicFramePr>
            <a:graphicFrameLocks noGrp="1"/>
          </p:cNvGraphicFramePr>
          <p:nvPr/>
        </p:nvGraphicFramePr>
        <p:xfrm>
          <a:off x="548640" y="1325880"/>
          <a:ext cx="11094411" cy="380235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Billing chip, stage pill and Answer Overdue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CRB-yyyy-n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Accounts / Net Commission / Sent / Answer Due / Official Receipt / Handler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Net commission with the withholding tax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DP billing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For billing, Awaiting insurer feedback, Approved by insurer - to collect, Commission collected, Closed - PR reversed; Rejected - returned to Collection and Cancelled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Accounts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Invoice No. / Assured / Premium / Commission / Withholding Tax / Net / Insurer Answer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with the policy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 Cc</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Leave blank to use the insurer's billing contacts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 Insurer Answers dialog</a:t>
                      </a:r>
                    </a:p>
                  </a:txBody>
                  <a:tcPr marL="54864" marR="54864" marT="27432" marB="27432">
                    <a:solidFill>
                      <a:srgbClr val="FFFFFF"/>
                    </a:solidFill>
                  </a:tcPr>
                </a:tc>
                <a:tc>
                  <a:txBody>
                    <a:bodyPr/>
                    <a:lstStyle/>
                    <a:p>
                      <a:r>
                        <a:rPr sz="850" b="0">
                          <a:solidFill>
                            <a:srgbClr val="4B4B4B"/>
                          </a:solidFill>
                          <a:latin typeface="Arial"/>
                        </a:rPr>
                        <a:t>Decision per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No answer yet, Approved, Rejected; a rejection needs its reason</a:t>
                      </a:r>
                    </a:p>
                  </a:txBody>
                  <a:tcPr marL="54864" marR="54864" marT="27432" marB="27432">
                    <a:solidFill>
                      <a:srgbClr val="FFFFFF"/>
                    </a:solidFill>
                  </a:tcPr>
                </a:tc>
                <a:tc>
                  <a:txBody>
                    <a:bodyPr/>
                    <a:lstStyle/>
                    <a:p>
                      <a:r>
                        <a:rPr sz="850" b="0">
                          <a:solidFill>
                            <a:srgbClr val="4B4B4B"/>
                          </a:solidFill>
                          <a:latin typeface="Arial"/>
                        </a:rPr>
                        <a:t>Y for one account at least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Record the insurer decision of at least one account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Collect dialog</a:t>
                      </a:r>
                    </a:p>
                  </a:txBody>
                  <a:tcPr marL="54864" marR="54864" marT="27432" marB="27432">
                    <a:solidFill>
                      <a:srgbClr val="E5F5FF"/>
                    </a:solidFill>
                  </a:tcPr>
                </a:tc>
                <a:tc>
                  <a:txBody>
                    <a:bodyPr/>
                    <a:lstStyle/>
                    <a:p>
                      <a:r>
                        <a:rPr sz="850" b="0">
                          <a:solidFill>
                            <a:srgbClr val="4B4B4B"/>
                          </a:solidFill>
                          <a:latin typeface="Arial"/>
                        </a:rPr>
                        <a:t>Collection Date / Bank Account / BIR Certificate No.</a:t>
                      </a:r>
                    </a:p>
                  </a:txBody>
                  <a:tcPr marL="54864" marR="54864" marT="27432" marB="27432">
                    <a:solidFill>
                      <a:srgbClr val="E5F5FF"/>
                    </a:solidFill>
                  </a:tcPr>
                </a:tc>
                <a:tc>
                  <a:txBody>
                    <a:bodyPr/>
                    <a:lstStyle/>
                    <a:p>
                      <a:r>
                        <a:rPr sz="850" b="0">
                          <a:solidFill>
                            <a:srgbClr val="4B4B4B"/>
                          </a:solidFill>
                          <a:latin typeface="Arial"/>
                        </a:rPr>
                        <a:t>Date, drop-down, text</a:t>
                      </a:r>
                    </a:p>
                  </a:txBody>
                  <a:tcPr marL="54864" marR="54864" marT="27432" marB="27432">
                    <a:solidFill>
                      <a:srgbClr val="E5F5FF"/>
                    </a:solidFill>
                  </a:tcPr>
                </a:tc>
                <a:tc>
                  <a:txBody>
                    <a:bodyPr/>
                    <a:lstStyle/>
                    <a:p>
                      <a:r>
                        <a:rPr sz="850" b="0">
                          <a:solidFill>
                            <a:srgbClr val="4B4B4B"/>
                          </a:solidFill>
                          <a:latin typeface="Arial"/>
                        </a:rPr>
                        <a:t>Certificate of the tax withheld, if received</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Billing</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billing workbook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to Insurer / Send Billing</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For billing</a:t>
                      </a:r>
                    </a:p>
                  </a:txBody>
                  <a:tcPr marL="54864" marR="54864" marT="27432" marB="27432">
                    <a:solidFill>
                      <a:srgbClr val="E5F5FF"/>
                    </a:solidFill>
                  </a:tcPr>
                </a:tc>
                <a:tc>
                  <a:txBody>
                    <a:bodyPr/>
                    <a:lstStyle/>
                    <a:p>
                      <a:r>
                        <a:rPr sz="850" b="0">
                          <a:solidFill>
                            <a:srgbClr val="4B4B4B"/>
                          </a:solidFill>
                          <a:latin typeface="Arial"/>
                        </a:rPr>
                        <a:t>E-mails the billing to the insurer as a password-protected workbook; the password follows in a separate e-mail</a:t>
                      </a:r>
                    </a:p>
                  </a:txBody>
                  <a:tcPr marL="54864" marR="54864" marT="27432" marB="27432">
                    <a:solidFill>
                      <a:srgbClr val="E5F5FF"/>
                    </a:solidFill>
                  </a:tcPr>
                </a:tc>
                <a:tc>
                  <a:txBody>
                    <a:bodyPr/>
                    <a:lstStyle/>
                    <a:p>
                      <a:r>
                        <a:rPr sz="850" b="0">
                          <a:solidFill>
                            <a:srgbClr val="4B4B4B"/>
                          </a:solidFill>
                          <a:latin typeface="Arial"/>
                        </a:rPr>
                        <a:t>Awaiting insurer feedback</a:t>
                      </a:r>
                    </a:p>
                  </a:txBody>
                  <a:tcPr marL="54864" marR="54864" marT="27432" marB="27432">
                    <a:solidFill>
                      <a:srgbClr val="E5F5FF"/>
                    </a:solidFill>
                  </a:tcPr>
                </a:tc>
                <a:tc>
                  <a:txBody>
                    <a:bodyPr/>
                    <a:lstStyle/>
                    <a:p>
                      <a:r>
                        <a:rPr sz="850" b="0">
                          <a:solidFill>
                            <a:srgbClr val="4B4B4B"/>
                          </a:solidFill>
                          <a:latin typeface="Arial"/>
                        </a:rPr>
                        <a:t>DP billing e-mail (NT-26)</a:t>
                      </a:r>
                    </a:p>
                  </a:txBody>
                  <a:tcPr marL="54864" marR="54864" marT="27432" marB="27432">
                    <a:solidFill>
                      <a:srgbClr val="E5F5FF"/>
                    </a:solidFill>
                  </a:tcPr>
                </a:tc>
              </a:tr>
              <a:tr h="609596">
                <a:tc>
                  <a:txBody>
                    <a:bodyPr/>
                    <a:lstStyle/>
                    <a:p>
                      <a:r>
                        <a:rPr sz="850" b="0">
                          <a:solidFill>
                            <a:srgbClr val="4B4B4B"/>
                          </a:solidFill>
                          <a:latin typeface="Arial"/>
                        </a:rPr>
                        <a:t>Record Answers / Approve All / Save Answers</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Awaiting insurer</a:t>
                      </a:r>
                    </a:p>
                  </a:txBody>
                  <a:tcPr marL="54864" marR="54864" marT="27432" marB="27432">
                    <a:solidFill>
                      <a:srgbClr val="FFFFFF"/>
                    </a:solidFill>
                  </a:tcPr>
                </a:tc>
                <a:tc>
                  <a:txBody>
                    <a:bodyPr/>
                    <a:lstStyle/>
                    <a:p>
                      <a:r>
                        <a:rPr sz="850" b="0">
                          <a:solidFill>
                            <a:srgbClr val="4B4B4B"/>
                          </a:solidFill>
                          <a:latin typeface="Arial"/>
                        </a:rPr>
                        <a:t>Records the insurer's decision per account; rejected accounts go back to Collection; a billing whose accounts were all rejected is returned</a:t>
                      </a:r>
                    </a:p>
                  </a:txBody>
                  <a:tcPr marL="54864" marR="54864" marT="27432" marB="27432">
                    <a:solidFill>
                      <a:srgbClr val="FFFFFF"/>
                    </a:solidFill>
                  </a:tcPr>
                </a:tc>
                <a:tc>
                  <a:txBody>
                    <a:bodyPr/>
                    <a:lstStyle/>
                    <a:p>
                      <a:r>
                        <a:rPr sz="850" b="0">
                          <a:solidFill>
                            <a:srgbClr val="4B4B4B"/>
                          </a:solidFill>
                          <a:latin typeface="Arial"/>
                        </a:rPr>
                        <a:t>Approved by insurer - to collect / Rejected - returned to Collection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Record Collection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Approved by insurer</a:t>
                      </a:r>
                    </a:p>
                  </a:txBody>
                  <a:tcPr marL="54864" marR="54864" marT="27432" marB="27432">
                    <a:solidFill>
                      <a:srgbClr val="E5F5FF"/>
                    </a:solidFill>
                  </a:tcPr>
                </a:tc>
                <a:tc>
                  <a:txBody>
                    <a:bodyPr/>
                    <a:lstStyle/>
                    <a:p>
                      <a:r>
                        <a:rPr sz="850" b="0">
                          <a:solidFill>
                            <a:srgbClr val="4B4B4B"/>
                          </a:solidFill>
                          <a:latin typeface="Arial"/>
                        </a:rPr>
                        <a:t>Posts the collection (cash, withholding tax, commission and output VAT), reverses the premium receivable of each approved account and requests the OR from Cashiering</a:t>
                      </a:r>
                    </a:p>
                  </a:txBody>
                  <a:tcPr marL="54864" marR="54864" marT="27432" marB="27432">
                    <a:solidFill>
                      <a:srgbClr val="E5F5FF"/>
                    </a:solidFill>
                  </a:tcPr>
                </a:tc>
                <a:tc>
                  <a:txBody>
                    <a:bodyPr/>
                    <a:lstStyle/>
                    <a:p>
                      <a:r>
                        <a:rPr sz="850" b="0">
                          <a:solidFill>
                            <a:srgbClr val="4B4B4B"/>
                          </a:solidFill>
                          <a:latin typeface="Arial"/>
                        </a:rPr>
                        <a:t>Commission collected, then Closed - PR 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Cancel Billing</a:t>
                      </a:r>
                    </a:p>
                  </a:txBody>
                  <a:tcPr marL="54864" marR="54864" marT="27432" marB="27432">
                    <a:solidFill>
                      <a:srgbClr val="FFFFFF"/>
                    </a:solidFill>
                  </a:tcPr>
                </a:tc>
                <a:tc>
                  <a:txBody>
                    <a:bodyPr/>
                    <a:lstStyle/>
                    <a:p>
                      <a:r>
                        <a:rPr sz="850" b="0">
                          <a:solidFill>
                            <a:srgbClr val="4B4B4B"/>
                          </a:solidFill>
                          <a:latin typeface="Arial"/>
                        </a:rPr>
                        <a:t>Commission Handler or Team Leader</a:t>
                      </a:r>
                    </a:p>
                  </a:txBody>
                  <a:tcPr marL="54864" marR="54864" marT="27432" marB="27432">
                    <a:solidFill>
                      <a:srgbClr val="FFFFFF"/>
                    </a:solidFill>
                  </a:tcPr>
                </a:tc>
                <a:tc>
                  <a:txBody>
                    <a:bodyPr/>
                    <a:lstStyle/>
                    <a:p>
                      <a:r>
                        <a:rPr sz="850" b="0">
                          <a:solidFill>
                            <a:srgbClr val="4B4B4B"/>
                          </a:solidFill>
                          <a:latin typeface="Arial"/>
                        </a:rPr>
                        <a:t>Before sending</a:t>
                      </a:r>
                    </a:p>
                  </a:txBody>
                  <a:tcPr marL="54864" marR="54864" marT="27432" marB="27432">
                    <a:solidFill>
                      <a:srgbClr val="FFFFFF"/>
                    </a:solidFill>
                  </a:tcPr>
                </a:tc>
                <a:tc>
                  <a:txBody>
                    <a:bodyPr/>
                    <a:lstStyle/>
                    <a:p>
                      <a:r>
                        <a:rPr sz="850" b="0">
                          <a:solidFill>
                            <a:srgbClr val="4B4B4B"/>
                          </a:solidFill>
                          <a:latin typeface="Arial"/>
                        </a:rPr>
                        <a:t>Asks for the reason and cancels the billing</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billing holds the Valid accounts of one insurer; a Statement of Account per insurer is produced besides the billing (FR-OP-092, CLR-OP-59).</a:t>
                      </a:r>
                    </a:p>
                  </a:txBody>
                  <a:tcPr marL="54864" marR="54864" marT="27432" marB="27432">
                    <a:solidFill>
                      <a:srgbClr val="FFFFFF"/>
                    </a:solidFill>
                  </a:tcPr>
                </a:tc>
              </a:tr>
              <a:tr h="243840">
                <a:tc>
                  <a:txBody>
                    <a:bodyPr/>
                    <a:lstStyle/>
                    <a:p>
                      <a:r>
                        <a:rPr sz="1000" b="0">
                          <a:solidFill>
                            <a:srgbClr val="4B4B4B"/>
                          </a:solidFill>
                          <a:latin typeface="Arial"/>
                        </a:rPr>
                        <a:t>Answers are entered on screen or uploaded on Insurer Responses; a rejection needs its reason (FR-OP-093).</a:t>
                      </a:r>
                    </a:p>
                  </a:txBody>
                  <a:tcPr marL="54864" marR="54864" marT="27432" marB="27432">
                    <a:solidFill>
                      <a:srgbClr val="E5F5FF"/>
                    </a:solidFill>
                  </a:tcPr>
                </a:tc>
              </a:tr>
              <a:tr h="243840">
                <a:tc>
                  <a:txBody>
                    <a:bodyPr/>
                    <a:lstStyle/>
                    <a:p>
                      <a:r>
                        <a:rPr sz="1000" b="0">
                          <a:solidFill>
                            <a:srgbClr val="4B4B4B"/>
                          </a:solidFill>
                          <a:latin typeface="Arial"/>
                        </a:rPr>
                        <a:t>An overdue answer raises the Direct payment feedback overdue notice (FR-OP-093).</a:t>
                      </a:r>
                    </a:p>
                  </a:txBody>
                  <a:tcPr marL="54864" marR="54864" marT="27432" marB="27432">
                    <a:solidFill>
                      <a:srgbClr val="FFFFFF"/>
                    </a:solidFill>
                  </a:tcPr>
                </a:tc>
              </a:tr>
              <a:tr h="243840">
                <a:tc>
                  <a:txBody>
                    <a:bodyPr/>
                    <a:lstStyle/>
                    <a:p>
                      <a:r>
                        <a:rPr sz="1000" b="0">
                          <a:solidFill>
                            <a:srgbClr val="4B4B4B"/>
                          </a:solidFill>
                          <a:latin typeface="Arial"/>
                        </a:rPr>
                        <a:t>The collection reverses the premium receivable and DTIP of each approved account in the ledger (FR-OP-094).</a:t>
                      </a:r>
                    </a:p>
                  </a:txBody>
                  <a:tcPr marL="54864" marR="54864" marT="27432" marB="27432">
                    <a:solidFill>
                      <a:srgbClr val="E5F5FF"/>
                    </a:solidFill>
                  </a:tcPr>
                </a:tc>
              </a:tr>
            </a:tbl>
          </a:graphicData>
        </a:graphic>
      </p:graphicFrame>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1</a:t>
                      </a:r>
                    </a:p>
                  </a:txBody>
                  <a:tcPr marL="54864" marR="54864" marT="27432" marB="27432">
                    <a:solidFill>
                      <a:srgbClr val="FFFFFF"/>
                    </a:solidFill>
                  </a:tcPr>
                </a:tc>
                <a:tc>
                  <a:txBody>
                    <a:bodyPr/>
                    <a:lstStyle/>
                    <a:p>
                      <a:r>
                        <a:rPr sz="900" b="0">
                          <a:solidFill>
                            <a:srgbClr val="4B4B4B"/>
                          </a:solidFill>
                          <a:latin typeface="Arial"/>
                        </a:rPr>
                        <a:t>Opens the billing, clicks Record Answers, marks the account Approved and saves</a:t>
                      </a:r>
                    </a:p>
                  </a:txBody>
                  <a:tcPr marL="54864" marR="54864" marT="27432" marB="27432">
                    <a:solidFill>
                      <a:srgbClr val="FFFFFF"/>
                    </a:solidFill>
                  </a:tcPr>
                </a:tc>
                <a:tc>
                  <a:txBody>
                    <a:bodyPr/>
                    <a:lstStyle/>
                    <a:p>
                      <a:r>
                        <a:rPr sz="900" b="0">
                          <a:solidFill>
                            <a:srgbClr val="4B4B4B"/>
                          </a:solidFill>
                          <a:latin typeface="Arial"/>
                        </a:rPr>
                        <a:t>SCR-OP-54_wt-c-step-01.png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Clicks Record Collection with the collection date and the bank account</a:t>
                      </a:r>
                    </a:p>
                  </a:txBody>
                  <a:tcPr marL="54864" marR="54864" marT="27432" marB="27432">
                    <a:solidFill>
                      <a:srgbClr val="E5F5FF"/>
                    </a:solidFill>
                  </a:tcPr>
                </a:tc>
                <a:tc>
                  <a:txBody>
                    <a:bodyPr/>
                    <a:lstStyle/>
                    <a:p>
                      <a:r>
                        <a:rPr sz="900" b="0">
                          <a:solidFill>
                            <a:srgbClr val="4B4B4B"/>
                          </a:solidFill>
                          <a:latin typeface="Arial"/>
                        </a:rPr>
                        <a:t>SCR-OP-54_wt-c-step-02.png</a:t>
                      </a:r>
                    </a:p>
                  </a:txBody>
                  <a:tcPr marL="54864" marR="54864" marT="27432" marB="27432">
                    <a:solidFill>
                      <a:srgbClr val="E5F5FF"/>
                    </a:solidFill>
                  </a:tcPr>
                </a:tc>
              </a:tr>
            </a:tbl>
          </a:graphicData>
        </a:graphic>
      </p:graphicFrame>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DP Billing: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op-54-02-answers.png"/>
          <p:cNvPicPr>
            <a:picLocks noChangeAspect="1"/>
          </p:cNvPicPr>
          <p:nvPr/>
        </p:nvPicPr>
        <p:blipFill>
          <a:blip r:embed="rId3"/>
          <a:stretch>
            <a:fillRect/>
          </a:stretch>
        </p:blipFill>
        <p:spPr>
          <a:xfrm>
            <a:off x="548640" y="1261872"/>
            <a:ext cx="11094415" cy="374906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Insurer Answers dialog</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4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1 of 3)</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4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2 of 3)</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09848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242.png"/>
          <p:cNvPicPr>
            <a:picLocks noChangeAspect="1"/>
          </p:cNvPicPr>
          <p:nvPr/>
        </p:nvPicPr>
        <p:blipFill>
          <a:blip r:embed="rId3"/>
          <a:stretch>
            <a:fillRect/>
          </a:stretch>
        </p:blipFill>
        <p:spPr>
          <a:xfrm>
            <a:off x="548640" y="1261872"/>
            <a:ext cx="11094415" cy="48777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3 of 3)</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Insurer Responses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billings waiting for the insurer's answer, and the upload of the answers received from the insurers in a file (billing, invoice, decision, reason, comment).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Insurer Responses</a:t>
                      </a:r>
                    </a:p>
                    <a:p>
                      <a:r>
                        <a:rPr sz="950" b="0">
                          <a:solidFill>
                            <a:srgbClr val="4B4B4B"/>
                          </a:solidFill>
                          <a:latin typeface="Arial"/>
                        </a:rPr>
                        <a:t>Commission Workbench › Insurer Feedback Overdue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 answers received by file are recorded in one step.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Waiting for the Insurer</a:t>
                      </a:r>
                    </a:p>
                  </a:txBody>
                  <a:tcPr marL="54864" marR="54864" marT="27432" marB="27432">
                    <a:solidFill>
                      <a:srgbClr val="FFFFFF"/>
                    </a:solidFill>
                  </a:tcPr>
                </a:tc>
                <a:tc>
                  <a:txBody>
                    <a:bodyPr/>
                    <a:lstStyle/>
                    <a:p>
                      <a:r>
                        <a:rPr sz="850" b="0">
                          <a:solidFill>
                            <a:srgbClr val="4B4B4B"/>
                          </a:solidFill>
                          <a:latin typeface="Arial"/>
                        </a:rPr>
                        <a:t>Billing No. / Insurer / Accounts / Net Commission / Sent / Answer Due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Insurer Answers dialog</a:t>
                      </a:r>
                    </a:p>
                  </a:txBody>
                  <a:tcPr marL="54864" marR="54864" marT="27432" marB="27432">
                    <a:solidFill>
                      <a:srgbClr val="E5F5FF"/>
                    </a:solidFill>
                  </a:tcPr>
                </a:tc>
                <a:tc>
                  <a:txBody>
                    <a:bodyPr/>
                    <a:lstStyle/>
                    <a:p>
                      <a:r>
                        <a:rPr sz="850" b="0">
                          <a:solidFill>
                            <a:srgbClr val="4B4B4B"/>
                          </a:solidFill>
                          <a:latin typeface="Arial"/>
                        </a:rPr>
                        <a:t>Answers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Billing No., Invoice No., Decision, Reason, Comment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graphicFrame>
        <p:nvGraphicFramePr>
          <p:cNvPr id="9" name="Table 8"/>
          <p:cNvGraphicFramePr>
            <a:graphicFrameLocks noGrp="1"/>
          </p:cNvGraphicFramePr>
          <p:nvPr/>
        </p:nvGraphicFramePr>
        <p:xfrm>
          <a:off x="548640" y="1325880"/>
          <a:ext cx="11094412" cy="83057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Upload Answers</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Records the answers of the file on their billings</a:t>
                      </a:r>
                    </a:p>
                  </a:txBody>
                  <a:tcPr marL="54864" marR="54864" marT="27432" marB="27432">
                    <a:solidFill>
                      <a:srgbClr val="FFFFFF"/>
                    </a:solidFill>
                  </a:tcPr>
                </a:tc>
                <a:tc>
                  <a:txBody>
                    <a:bodyPr/>
                    <a:lstStyle/>
                    <a:p>
                      <a:r>
                        <a:rPr sz="850" b="0">
                          <a:solidFill>
                            <a:srgbClr val="4B4B4B"/>
                          </a:solidFill>
                          <a:latin typeface="Arial"/>
                        </a:rPr>
                        <a:t>Approved by insurer - to collect / Rejected - returned to Collection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answers of a file are recorded record by record; a record already received is skipped (FR-OP-093).</a:t>
                      </a:r>
                    </a:p>
                  </a:txBody>
                  <a:tcPr marL="54864" marR="54864" marT="27432" marB="27432">
                    <a:solidFill>
                      <a:srgbClr val="FFFF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Insurer Responses: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55-01-list.png"/>
          <p:cNvPicPr>
            <a:picLocks noChangeAspect="1"/>
          </p:cNvPicPr>
          <p:nvPr/>
        </p:nvPicPr>
        <p:blipFill>
          <a:blip r:embed="rId3"/>
          <a:stretch>
            <a:fillRect/>
          </a:stretch>
        </p:blipFill>
        <p:spPr>
          <a:xfrm>
            <a:off x="548640" y="1261872"/>
            <a:ext cx="11094415" cy="42943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billings waiting for the insurer</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insurer incentive programmes (No Touch, Top Up, Motor Mania, other) with their calculation (production target tiers or a fixed amount per policy), period, beneficiary (BDOI or the branch), insurer, segments, product lines and tiers.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Incentive Schemes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incentive programmes are maintained by the business.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graphicFrame>
        <p:nvGraphicFramePr>
          <p:cNvPr id="9" name="Table 8"/>
          <p:cNvGraphicFramePr>
            <a:graphicFrameLocks noGrp="1"/>
          </p:cNvGraphicFramePr>
          <p:nvPr/>
        </p:nvGraphicFramePr>
        <p:xfrm>
          <a:off x="548640" y="1325880"/>
          <a:ext cx="11094411" cy="367281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Scheme / Type / Insurer / Period / Beneficiary / Tiers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scheme's reference is made from its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The scheme name is required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Scheme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No Touch, Top Up, Motor Mania, Other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Calculation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Production Target Tiers, Fixed Amount per Policy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Period / Beneficiary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Monthly, Quarterly, Semi-annual, Annual, Custom / BDOI, Branch (Passed 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Insurer / Segments / Product Lines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Every insurer, or one by name; blank segments and lines = all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Effective From / Effective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The scheme cannot end before it starts</a:t>
                      </a:r>
                    </a:p>
                  </a:txBody>
                  <a:tcPr marL="54864" marR="54864" marT="27432" marB="27432">
                    <a:solidFill>
                      <a:srgbClr val="FFFFFF"/>
                    </a:solidFill>
                  </a:tcPr>
                </a:tc>
                <a:tc>
                  <a:txBody>
                    <a:bodyPr/>
                    <a:lstStyle/>
                    <a:p>
                      <a:r>
                        <a:rPr sz="850" b="0">
                          <a:solidFill>
                            <a:srgbClr val="4B4B4B"/>
                          </a:solidFill>
                          <a:latin typeface="Arial"/>
                        </a:rPr>
                        <a:t>The scheme ends before it starts</a:t>
                      </a:r>
                    </a:p>
                  </a:txBody>
                  <a:tcPr marL="54864" marR="54864" marT="27432" marB="27432">
                    <a:solidFill>
                      <a:srgbClr val="FFFFFF"/>
                    </a:solidFill>
                  </a:tcPr>
                </a:tc>
              </a:tr>
              <a:tr h="739135">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Production Target / Rate % / Multiplier / Minimum Basic Premium / Amount per Policy</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One row per tier (Add Tier, Remove)</a:t>
                      </a:r>
                    </a:p>
                  </a:txBody>
                  <a:tcPr marL="54864" marR="54864" marT="27432" marB="27432">
                    <a:solidFill>
                      <a:srgbClr val="E5F5FF"/>
                    </a:solidFill>
                  </a:tcPr>
                </a:tc>
                <a:tc>
                  <a:txBody>
                    <a:bodyPr/>
                    <a:lstStyle/>
                    <a:p>
                      <a:r>
                        <a:rPr sz="850" b="0">
                          <a:solidFill>
                            <a:srgbClr val="4B4B4B"/>
                          </a:solidFill>
                          <a:latin typeface="Arial"/>
                        </a:rPr>
                        <a:t>Cond.: an active scheme needs one tier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An active scheme needs at least one tier</a:t>
                      </a:r>
                    </a:p>
                  </a:txBody>
                  <a:tcPr marL="54864" marR="54864" marT="27432" marB="27432">
                    <a:solidFill>
                      <a:srgbClr val="E5F5FF"/>
                    </a:solidFill>
                  </a:tcPr>
                </a:tc>
              </a:tr>
            </a:tbl>
          </a:graphicData>
        </a:graphic>
      </p:graphicFrame>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Scheme / Save Scheme</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scheme</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Tier / Remove</a:t>
                      </a:r>
                    </a:p>
                  </a:txBody>
                  <a:tcPr marL="54864" marR="54864" marT="27432" marB="27432">
                    <a:solidFill>
                      <a:srgbClr val="E5F5FF"/>
                    </a:solidFill>
                  </a:tcPr>
                </a:tc>
                <a:tc>
                  <a:txBody>
                    <a:bodyPr/>
                    <a:lstStyle/>
                    <a:p>
                      <a:r>
                        <a:rPr sz="850" b="0">
                          <a:solidFill>
                            <a:srgbClr val="4B4B4B"/>
                          </a:solidFill>
                          <a:latin typeface="Arial"/>
                        </a:rPr>
                        <a:t>Commission Team Leader</a:t>
                      </a:r>
                    </a:p>
                  </a:txBody>
                  <a:tcPr marL="54864" marR="54864" marT="27432" marB="27432">
                    <a:solidFill>
                      <a:srgbClr val="E5F5FF"/>
                    </a:solidFill>
                  </a:tcPr>
                </a:tc>
                <a:tc>
                  <a:txBody>
                    <a:bodyPr/>
                    <a:lstStyle/>
                    <a:p>
                      <a:r>
                        <a:rPr sz="850" b="0">
                          <a:solidFill>
                            <a:srgbClr val="4B4B4B"/>
                          </a:solidFill>
                          <a:latin typeface="Arial"/>
                        </a:rPr>
                        <a:t>Scheme dialog open</a:t>
                      </a:r>
                    </a:p>
                  </a:txBody>
                  <a:tcPr marL="54864" marR="54864" marT="27432" marB="27432">
                    <a:solidFill>
                      <a:srgbClr val="E5F5FF"/>
                    </a:solidFill>
                  </a:tcPr>
                </a:tc>
                <a:tc>
                  <a:txBody>
                    <a:bodyPr/>
                    <a:lstStyle/>
                    <a:p>
                      <a:r>
                        <a:rPr sz="850" b="0">
                          <a:solidFill>
                            <a:srgbClr val="4B4B4B"/>
                          </a:solidFill>
                          <a:latin typeface="Arial"/>
                        </a:rPr>
                        <a:t>Adds or removes a tier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graphicFrame>
        <p:nvGraphicFramePr>
          <p:cNvPr id="9" name="Table 8"/>
          <p:cNvGraphicFramePr>
            <a:graphicFrameLocks noGrp="1"/>
          </p:cNvGraphicFramePr>
          <p:nvPr/>
        </p:nvGraphicFramePr>
        <p:xfrm>
          <a:off x="548640" y="1325880"/>
          <a:ext cx="11094415" cy="10363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548640">
                <a:tc>
                  <a:txBody>
                    <a:bodyPr/>
                    <a:lstStyle/>
                    <a:p>
                      <a:r>
                        <a:rPr sz="1000" b="0">
                          <a:solidFill>
                            <a:srgbClr val="4B4B4B"/>
                          </a:solidFill>
                          <a:latin typeface="Arial"/>
                        </a:rPr>
                        <a:t>In v2.1 a programme follows the insurer's SLA per invoice: the invoice must meet the criteria (product, period, branch, marketing unit, minimum premium), be fully paid and be paid within the credit term; the incentive is the SLA rate with its multiplier or the fixed amount. Production targets are not used; the tiers of the screenshot are read as SLA rates and amounts (FR-OP-095, CLR-OP-58).</a:t>
                      </a:r>
                    </a:p>
                  </a:txBody>
                  <a:tcPr marL="54864" marR="54864" marT="27432" marB="27432">
                    <a:solidFill>
                      <a:srgbClr val="FFFFFF"/>
                    </a:solidFill>
                  </a:tcPr>
                </a:tc>
              </a:tr>
              <a:tr h="243840">
                <a:tc>
                  <a:txBody>
                    <a:bodyPr/>
                    <a:lstStyle/>
                    <a:p>
                      <a:r>
                        <a:rPr sz="1000" b="0">
                          <a:solidFill>
                            <a:srgbClr val="4B4B4B"/>
                          </a:solidFill>
                          <a:latin typeface="Arial"/>
                        </a:rPr>
                        <a:t>The programmes stay inactive until BDOI gives the SLA parameters (FR-OP-095).</a:t>
                      </a:r>
                    </a:p>
                  </a:txBody>
                  <a:tcPr marL="54864" marR="54864" marT="27432" marB="27432">
                    <a:solidFill>
                      <a:srgbClr val="E5F5FF"/>
                    </a:solidFill>
                  </a:tcPr>
                </a:tc>
              </a:tr>
            </a:tbl>
          </a:graphicData>
        </a:graphic>
      </p:graphicFrame>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56-01-list.png"/>
          <p:cNvPicPr>
            <a:picLocks noChangeAspect="1"/>
          </p:cNvPicPr>
          <p:nvPr/>
        </p:nvPicPr>
        <p:blipFill>
          <a:blip r:embed="rId3"/>
          <a:stretch>
            <a:fillRect/>
          </a:stretch>
        </p:blipFill>
        <p:spPr>
          <a:xfrm>
            <a:off x="548640" y="1261872"/>
            <a:ext cx="11094415" cy="379696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Schemes</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43.png"/>
          <p:cNvPicPr>
            <a:picLocks noChangeAspect="1"/>
          </p:cNvPicPr>
          <p:nvPr/>
        </p:nvPicPr>
        <p:blipFill>
          <a:blip r:embed="rId3"/>
          <a:stretch>
            <a:fillRect/>
          </a:stretch>
        </p:blipFill>
        <p:spPr>
          <a:xfrm>
            <a:off x="548640" y="1261872"/>
            <a:ext cx="11094415" cy="386960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Scheme dialog (part 1 of 2)</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244.png"/>
          <p:cNvPicPr>
            <a:picLocks noChangeAspect="1"/>
          </p:cNvPicPr>
          <p:nvPr/>
        </p:nvPicPr>
        <p:blipFill>
          <a:blip r:embed="rId3"/>
          <a:stretch>
            <a:fillRect/>
          </a:stretch>
        </p:blipFill>
        <p:spPr>
          <a:xfrm>
            <a:off x="548640" y="1261872"/>
            <a:ext cx="11094415" cy="400988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Scheme dialog (part 2 of 2)</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incentive computed on the production of a period for a scheme: the eligible production, the tier applied and the incentive, reviewed invoice by invoice with the exclusions, then posted or cancelled.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Incentive Runs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Incentives are computed, reviewed and posted with the pass-on to the branches.</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 Scheme / Period / Eligible Production / Tier Applied / Incentive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Computed, Posted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Compute Incentive dialog</a:t>
                      </a:r>
                    </a:p>
                  </a:txBody>
                  <a:tcPr marL="54864" marR="54864" marT="27432" marB="27432">
                    <a:solidFill>
                      <a:srgbClr val="E5F5FF"/>
                    </a:solidFill>
                  </a:tcPr>
                </a:tc>
                <a:tc>
                  <a:txBody>
                    <a:bodyPr/>
                    <a:lstStyle/>
                    <a:p>
                      <a:r>
                        <a:rPr sz="850" b="0">
                          <a:solidFill>
                            <a:srgbClr val="4B4B4B"/>
                          </a:solidFill>
                          <a:latin typeface="Arial"/>
                        </a:rPr>
                        <a:t>Scheme / Booked From / Booked To</a:t>
                      </a:r>
                    </a:p>
                  </a:txBody>
                  <a:tcPr marL="54864" marR="54864" marT="27432" marB="27432">
                    <a:solidFill>
                      <a:srgbClr val="E5F5FF"/>
                    </a:solidFill>
                  </a:tcPr>
                </a:tc>
                <a:tc>
                  <a:txBody>
                    <a:bodyPr/>
                    <a:lstStyle/>
                    <a:p>
                      <a:r>
                        <a:rPr sz="850" b="0">
                          <a:solidFill>
                            <a:srgbClr val="4B4B4B"/>
                          </a:solidFill>
                          <a:latin typeface="Arial"/>
                        </a:rPr>
                        <a:t>Drop-down, 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dialog</a:t>
                      </a:r>
                    </a:p>
                  </a:txBody>
                  <a:tcPr marL="54864" marR="54864" marT="27432" marB="27432">
                    <a:solidFill>
                      <a:srgbClr val="FFFFFF"/>
                    </a:solidFill>
                  </a:tcPr>
                </a:tc>
                <a:tc>
                  <a:txBody>
                    <a:bodyPr/>
                    <a:lstStyle/>
                    <a:p>
                      <a:r>
                        <a:rPr sz="850" b="0">
                          <a:solidFill>
                            <a:srgbClr val="4B4B4B"/>
                          </a:solidFill>
                          <a:latin typeface="Arial"/>
                        </a:rPr>
                        <a:t>Invoice No. / Sales Unit / Product Line / Basic Premium / Gross Premium / Excluded By / Incentive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rule that excluded an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Compute Incentive / Compute</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Computes the run of the scheme and period</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Post Incentive</a:t>
                      </a:r>
                    </a:p>
                  </a:txBody>
                  <a:tcPr marL="54864" marR="54864" marT="27432" marB="27432">
                    <a:solidFill>
                      <a:srgbClr val="E5F5FF"/>
                    </a:solidFill>
                  </a:tcPr>
                </a:tc>
                <a:tc>
                  <a:txBody>
                    <a:bodyPr/>
                    <a:lstStyle/>
                    <a:p>
                      <a:r>
                        <a:rPr sz="850" b="0">
                          <a:solidFill>
                            <a:srgbClr val="4B4B4B"/>
                          </a:solidFill>
                          <a:latin typeface="Arial"/>
                        </a:rPr>
                        <a:t>Commission Team Leader</a:t>
                      </a:r>
                    </a:p>
                  </a:txBody>
                  <a:tcPr marL="54864" marR="54864" marT="27432" marB="27432">
                    <a:solidFill>
                      <a:srgbClr val="E5F5FF"/>
                    </a:solidFill>
                  </a:tcPr>
                </a:tc>
                <a:tc>
                  <a:txBody>
                    <a:bodyPr/>
                    <a:lstStyle/>
                    <a:p>
                      <a:r>
                        <a:rPr sz="850" b="0">
                          <a:solidFill>
                            <a:srgbClr val="4B4B4B"/>
                          </a:solidFill>
                          <a:latin typeface="Arial"/>
                        </a:rPr>
                        <a:t>Computed</a:t>
                      </a:r>
                    </a:p>
                  </a:txBody>
                  <a:tcPr marL="54864" marR="54864" marT="27432" marB="27432">
                    <a:solidFill>
                      <a:srgbClr val="E5F5FF"/>
                    </a:solidFill>
                  </a:tcPr>
                </a:tc>
                <a:tc>
                  <a:txBody>
                    <a:bodyPr/>
                    <a:lstStyle/>
                    <a:p>
                      <a:r>
                        <a:rPr sz="850" b="0">
                          <a:solidFill>
                            <a:srgbClr val="4B4B4B"/>
                          </a:solidFill>
                          <a:latin typeface="Arial"/>
                        </a:rPr>
                        <a:t>Posts the incentive per insurer; for a branch scheme also the pass-on per sales unit with its payment request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Disbursement request received (NT-03)</a:t>
                      </a:r>
                    </a:p>
                  </a:txBody>
                  <a:tcPr marL="54864" marR="54864" marT="27432" marB="27432">
                    <a:solidFill>
                      <a:srgbClr val="E5F5FF"/>
                    </a:solidFill>
                  </a:tcPr>
                </a:tc>
              </a:tr>
              <a:tr h="220979">
                <a:tc>
                  <a:txBody>
                    <a:bodyPr/>
                    <a:lstStyle/>
                    <a:p>
                      <a:r>
                        <a:rPr sz="850" b="0">
                          <a:solidFill>
                            <a:srgbClr val="4B4B4B"/>
                          </a:solidFill>
                          <a:latin typeface="Arial"/>
                        </a:rPr>
                        <a:t>Cancel Run</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Cancels the run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Entries with a negative amount and fully cancelled transactions are excluded by the exclusion rules and listed with their rule; they raise an alert (FR-OP-095, CLR-OP-56).</a:t>
                      </a:r>
                    </a:p>
                  </a:txBody>
                  <a:tcPr marL="54864" marR="54864" marT="27432" marB="27432">
                    <a:solidFill>
                      <a:srgbClr val="FFFFFF"/>
                    </a:solidFill>
                  </a:tcPr>
                </a:tc>
              </a:tr>
              <a:tr h="243840">
                <a:tc>
                  <a:txBody>
                    <a:bodyPr/>
                    <a:lstStyle/>
                    <a:p>
                      <a:r>
                        <a:rPr sz="1000" b="0">
                          <a:solidFill>
                            <a:srgbClr val="4B4B4B"/>
                          </a:solidFill>
                          <a:latin typeface="Arial"/>
                        </a:rPr>
                        <a:t>Every computed incentive is listed per invoice for review and audit (FR-OP-095).</a:t>
                      </a:r>
                    </a:p>
                  </a:txBody>
                  <a:tcPr marL="54864" marR="54864" marT="27432" marB="27432">
                    <a:solidFill>
                      <a:srgbClr val="E5F5FF"/>
                    </a:solidFill>
                  </a:tcPr>
                </a:tc>
              </a:tr>
            </a:tbl>
          </a:graphicData>
        </a:graphic>
      </p:graphicFrame>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op-57-01-list.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Runs</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op-57-02-compute.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Compute Incentive dialog</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certificates of tax withheld on commission (BIR 2307) received from the insurers, tagged to the official receipts they cover and submitted to Comptrollership, which acknowledges or rejects them.</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BIR Certificates</a:t>
                      </a:r>
                    </a:p>
                    <a:p>
                      <a:r>
                        <a:rPr sz="950" b="0">
                          <a:solidFill>
                            <a:srgbClr val="4B4B4B"/>
                          </a:solidFill>
                          <a:latin typeface="Arial"/>
                        </a:rPr>
                        <a:t>Commission Workbench › BIR Certificates to Acknowledge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certificates are handed to Comptrollership with the ORs they cover.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Submitted / Rejected / Acknowledged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Submission No. / Insurer / Period / Tax Withheld / ORs / Submitted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Submit BIR Certificate dialog</a:t>
                      </a:r>
                    </a:p>
                  </a:txBody>
                  <a:tcPr marL="54864" marR="54864" marT="27432" marB="27432">
                    <a:solidFill>
                      <a:srgbClr val="FFFFFF"/>
                    </a:solidFill>
                  </a:tcPr>
                </a:tc>
                <a:tc>
                  <a:txBody>
                    <a:bodyPr/>
                    <a:lstStyle/>
                    <a:p>
                      <a:r>
                        <a:rPr sz="850" b="0">
                          <a:solidFill>
                            <a:srgbClr val="4B4B4B"/>
                          </a:solidFill>
                          <a:latin typeface="Arial"/>
                        </a:rPr>
                        <a:t>Insurer / BIR Form / Certificate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Form and number given</a:t>
                      </a:r>
                    </a:p>
                  </a:txBody>
                  <a:tcPr marL="54864" marR="54864" marT="27432" marB="27432">
                    <a:solidFill>
                      <a:srgbClr val="FFFFFF"/>
                    </a:solidFill>
                  </a:tcPr>
                </a:tc>
                <a:tc>
                  <a:txBody>
                    <a:bodyPr/>
                    <a:lstStyle/>
                    <a:p>
                      <a:r>
                        <a:rPr sz="850" b="0">
                          <a:solidFill>
                            <a:srgbClr val="4B4B4B"/>
                          </a:solidFill>
                          <a:latin typeface="Arial"/>
                        </a:rPr>
                        <a:t>Form and certificate number are required</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Submit BIR Certificate dialog</a:t>
                      </a:r>
                    </a:p>
                  </a:txBody>
                  <a:tcPr marL="54864" marR="54864" marT="27432" marB="27432">
                    <a:solidFill>
                      <a:srgbClr val="E5F5FF"/>
                    </a:solidFill>
                  </a:tcPr>
                </a:tc>
                <a:tc>
                  <a:txBody>
                    <a:bodyPr/>
                    <a:lstStyle/>
                    <a:p>
                      <a:r>
                        <a:rPr sz="850" b="0">
                          <a:solidFill>
                            <a:srgbClr val="4B4B4B"/>
                          </a:solidFill>
                          <a:latin typeface="Arial"/>
                        </a:rPr>
                        <a:t>Tax Withheld / Period From / Period To</a:t>
                      </a:r>
                    </a:p>
                  </a:txBody>
                  <a:tcPr marL="54864" marR="54864" marT="27432" marB="27432">
                    <a:solidFill>
                      <a:srgbClr val="E5F5FF"/>
                    </a:solidFill>
                  </a:tcPr>
                </a:tc>
                <a:tc>
                  <a:txBody>
                    <a:bodyPr/>
                    <a:lstStyle/>
                    <a:p>
                      <a:r>
                        <a:rPr sz="850" b="0">
                          <a:solidFill>
                            <a:srgbClr val="4B4B4B"/>
                          </a:solidFill>
                          <a:latin typeface="Arial"/>
                        </a:rPr>
                        <a:t>Number, date</a:t>
                      </a:r>
                    </a:p>
                  </a:txBody>
                  <a:tcPr marL="54864" marR="54864" marT="27432" marB="27432">
                    <a:solidFill>
                      <a:srgbClr val="E5F5FF"/>
                    </a:solidFill>
                  </a:tcPr>
                </a:tc>
                <a:tc>
                  <a:txBody>
                    <a:bodyPr/>
                    <a:lstStyle/>
                    <a:p>
                      <a:r>
                        <a:rPr sz="850" b="0">
                          <a:solidFill>
                            <a:srgbClr val="4B4B4B"/>
                          </a:solidFill>
                          <a:latin typeface="Arial"/>
                        </a:rPr>
                        <a:t>Above zero; the period ends after it starts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tax withheld must be above zero / Enter a period that ends after it starts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Submit BIR Certificate dialog</a:t>
                      </a:r>
                    </a:p>
                  </a:txBody>
                  <a:tcPr marL="54864" marR="54864" marT="27432" marB="27432">
                    <a:solidFill>
                      <a:srgbClr val="FFFFFF"/>
                    </a:solidFill>
                  </a:tcPr>
                </a:tc>
                <a:tc>
                  <a:txBody>
                    <a:bodyPr/>
                    <a:lstStyle/>
                    <a:p>
                      <a:r>
                        <a:rPr sz="850" b="0">
                          <a:solidFill>
                            <a:srgbClr val="4B4B4B"/>
                          </a:solidFill>
                          <a:latin typeface="Arial"/>
                        </a:rPr>
                        <a:t>Official receipts covered</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Add OR, Add ORs of the Insurer, Remove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OR</a:t>
                      </a:r>
                    </a:p>
                  </a:txBody>
                  <a:tcPr marL="54864" marR="54864" marT="27432" marB="27432">
                    <a:solidFill>
                      <a:srgbClr val="FFFFFF"/>
                    </a:solidFill>
                  </a:tcPr>
                </a:tc>
                <a:tc>
                  <a:txBody>
                    <a:bodyPr/>
                    <a:lstStyle/>
                    <a:p>
                      <a:r>
                        <a:rPr sz="850" b="0">
                          <a:solidFill>
                            <a:srgbClr val="4B4B4B"/>
                          </a:solidFill>
                          <a:latin typeface="Arial"/>
                        </a:rPr>
                        <a:t>Tag the certificate to at least one official receipt</a:t>
                      </a:r>
                    </a:p>
                  </a:txBody>
                  <a:tcPr marL="54864" marR="54864" marT="27432" marB="27432">
                    <a:solidFill>
                      <a:srgbClr val="FFFFFF"/>
                    </a:solidFill>
                  </a:tcPr>
                </a:tc>
              </a:tr>
            </a:tbl>
          </a:graphicData>
        </a:graphic>
      </p:graphicFrame>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Certificate / Submit to Comptrollership</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Submits the certificate with its ORs; the scanned certificate is attached on the submission once saved</a:t>
                      </a:r>
                    </a:p>
                  </a:txBody>
                  <a:tcPr marL="54864" marR="54864" marT="27432" marB="27432">
                    <a:solidFill>
                      <a:srgbClr val="FFFFFF"/>
                    </a:solidFill>
                  </a:tcPr>
                </a:tc>
                <a:tc>
                  <a:txBody>
                    <a:bodyPr/>
                    <a:lstStyle/>
                    <a:p>
                      <a:r>
                        <a:rPr sz="850" b="0">
                          <a:solidFill>
                            <a:srgbClr val="4B4B4B"/>
                          </a:solidFill>
                          <a:latin typeface="Arial"/>
                        </a:rPr>
                        <a:t>Submitted to Comptrollership</a:t>
                      </a:r>
                    </a:p>
                  </a:txBody>
                  <a:tcPr marL="54864" marR="54864" marT="27432" marB="27432">
                    <a:solidFill>
                      <a:srgbClr val="FFFFFF"/>
                    </a:solidFill>
                  </a:tcPr>
                </a:tc>
                <a:tc>
                  <a:txBody>
                    <a:bodyPr/>
                    <a:lstStyle/>
                    <a:p>
                      <a:r>
                        <a:rPr sz="850" b="0">
                          <a:solidFill>
                            <a:srgbClr val="4B4B4B"/>
                          </a:solidFill>
                          <a:latin typeface="Arial"/>
                        </a:rPr>
                        <a:t>BIR certificate submitted (NT-21)</a:t>
                      </a:r>
                    </a:p>
                  </a:txBody>
                  <a:tcPr marL="54864" marR="54864" marT="27432" marB="27432">
                    <a:solidFill>
                      <a:srgbClr val="FFFFFF"/>
                    </a:solidFill>
                  </a:tcPr>
                </a:tc>
              </a:tr>
              <a:tr h="350518">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Commission Handler, Comptrollership</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submission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certificate covers at least one OR (FR-OP-096).</a:t>
                      </a:r>
                    </a:p>
                  </a:txBody>
                  <a:tcPr marL="54864" marR="54864" marT="27432" marB="27432">
                    <a:solidFill>
                      <a:srgbClr val="FFFFFF"/>
                    </a:solidFill>
                  </a:tcPr>
                </a:tc>
              </a:tr>
            </a:tbl>
          </a:graphicData>
        </a:graphic>
      </p:graphicFrame>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8-01-list.png"/>
          <p:cNvPicPr>
            <a:picLocks noChangeAspect="1"/>
          </p:cNvPicPr>
          <p:nvPr/>
        </p:nvPicPr>
        <p:blipFill>
          <a:blip r:embed="rId3"/>
          <a:stretch>
            <a:fillRect/>
          </a:stretch>
        </p:blipFill>
        <p:spPr>
          <a:xfrm>
            <a:off x="1145895" y="1261872"/>
            <a:ext cx="989990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Certificates of Comptrollership</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58-02-new.png"/>
          <p:cNvPicPr>
            <a:picLocks noChangeAspect="1"/>
          </p:cNvPicPr>
          <p:nvPr/>
        </p:nvPicPr>
        <p:blipFill>
          <a:blip r:embed="rId3"/>
          <a:stretch>
            <a:fillRect/>
          </a:stretch>
        </p:blipFill>
        <p:spPr>
          <a:xfrm>
            <a:off x="1887022" y="1261872"/>
            <a:ext cx="84176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 BIR Certificate dialog</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certificate submission: the certificate, period, tax withheld, ORs covered, the submission and decision, the workflow with acknowledge, reject and resubmit, the ORs and the scanned copy.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BIR Certificates › BIR Certificate</a:t>
                      </a:r>
                    </a:p>
                    <a:p>
                      <a:r>
                        <a:rPr sz="950" b="0">
                          <a:solidFill>
                            <a:srgbClr val="4B4B4B"/>
                          </a:solidFill>
                          <a:latin typeface="Arial"/>
                        </a:rPr>
                        <a:t>BIR Certificates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Comptrollership confirms the tax withheld against the ORs.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Submission / Certificate / Period / Tax Withheld / ORs Covered / Submitted / Decision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Certificate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Submitted to Comptrollership, Acknowledged; Rejected - to resubmit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Official Receipts / Documents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Official Receipts</a:t>
                      </a:r>
                    </a:p>
                  </a:txBody>
                  <a:tcPr marL="54864" marR="54864" marT="27432" marB="27432">
                    <a:solidFill>
                      <a:srgbClr val="E5F5FF"/>
                    </a:solidFill>
                  </a:tcPr>
                </a:tc>
                <a:tc>
                  <a:txBody>
                    <a:bodyPr/>
                    <a:lstStyle/>
                    <a:p>
                      <a:r>
                        <a:rPr sz="850" b="0">
                          <a:solidFill>
                            <a:srgbClr val="4B4B4B"/>
                          </a:solidFill>
                          <a:latin typeface="Arial"/>
                        </a:rPr>
                        <a:t>OR No. / Commission Amount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Comptrollership</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Acknowledges the certificate</a:t>
                      </a:r>
                    </a:p>
                  </a:txBody>
                  <a:tcPr marL="54864" marR="54864" marT="27432" marB="27432">
                    <a:solidFill>
                      <a:srgbClr val="FFFFFF"/>
                    </a:solidFill>
                  </a:tcPr>
                </a:tc>
                <a:tc>
                  <a:txBody>
                    <a:bodyPr/>
                    <a:lstStyle/>
                    <a:p>
                      <a:r>
                        <a:rPr sz="850" b="0">
                          <a:solidFill>
                            <a:srgbClr val="4B4B4B"/>
                          </a:solidFill>
                          <a:latin typeface="Arial"/>
                        </a:rPr>
                        <a:t>Acknowledged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Comptrollership</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Rejects it with a reason</a:t>
                      </a:r>
                    </a:p>
                  </a:txBody>
                  <a:tcPr marL="54864" marR="54864" marT="27432" marB="27432">
                    <a:solidFill>
                      <a:srgbClr val="E5F5FF"/>
                    </a:solidFill>
                  </a:tcPr>
                </a:tc>
                <a:tc>
                  <a:txBody>
                    <a:bodyPr/>
                    <a:lstStyle/>
                    <a:p>
                      <a:r>
                        <a:rPr sz="850" b="0">
                          <a:solidFill>
                            <a:srgbClr val="4B4B4B"/>
                          </a:solidFill>
                          <a:latin typeface="Arial"/>
                        </a:rPr>
                        <a:t>Rejected - to resubmit</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Correct and Resubmit</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Rejected</a:t>
                      </a:r>
                    </a:p>
                  </a:txBody>
                  <a:tcPr marL="54864" marR="54864" marT="27432" marB="27432">
                    <a:solidFill>
                      <a:srgbClr val="FFFFFF"/>
                    </a:solidFill>
                  </a:tcPr>
                </a:tc>
                <a:tc>
                  <a:txBody>
                    <a:bodyPr/>
                    <a:lstStyle/>
                    <a:p>
                      <a:r>
                        <a:rPr sz="850" b="0">
                          <a:solidFill>
                            <a:srgbClr val="4B4B4B"/>
                          </a:solidFill>
                          <a:latin typeface="Arial"/>
                        </a:rPr>
                        <a:t>Corrects the certificate and submits it again</a:t>
                      </a:r>
                    </a:p>
                  </a:txBody>
                  <a:tcPr marL="54864" marR="54864" marT="27432" marB="27432">
                    <a:solidFill>
                      <a:srgbClr val="FFFFFF"/>
                    </a:solidFill>
                  </a:tcPr>
                </a:tc>
                <a:tc>
                  <a:txBody>
                    <a:bodyPr/>
                    <a:lstStyle/>
                    <a:p>
                      <a:r>
                        <a:rPr sz="850" b="0">
                          <a:solidFill>
                            <a:srgbClr val="4B4B4B"/>
                          </a:solidFill>
                          <a:latin typeface="Arial"/>
                        </a:rPr>
                        <a:t>Submitted to Comptrollership</a:t>
                      </a:r>
                    </a:p>
                  </a:txBody>
                  <a:tcPr marL="54864" marR="54864" marT="27432" marB="27432">
                    <a:solidFill>
                      <a:srgbClr val="FFFFFF"/>
                    </a:solidFill>
                  </a:tcPr>
                </a:tc>
                <a:tc>
                  <a:txBody>
                    <a:bodyPr/>
                    <a:lstStyle/>
                    <a:p>
                      <a:r>
                        <a:rPr sz="850" b="0">
                          <a:solidFill>
                            <a:srgbClr val="4B4B4B"/>
                          </a:solidFill>
                          <a:latin typeface="Arial"/>
                        </a:rPr>
                        <a:t>BIR certificate submitted (NT-21)</a:t>
                      </a:r>
                    </a:p>
                  </a:txBody>
                  <a:tcPr marL="54864" marR="54864" marT="27432" marB="27432">
                    <a:solidFill>
                      <a:srgbClr val="FFFFFF"/>
                    </a:solidFill>
                  </a:tcPr>
                </a:tc>
              </a:tr>
            </a:tbl>
          </a:graphicData>
        </a:graphic>
      </p:graphicFrame>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Comptrollership acknowledges or rejects a certificate (FR-OP-096).</a:t>
                      </a:r>
                    </a:p>
                  </a:txBody>
                  <a:tcPr marL="54864" marR="54864" marT="27432" marB="27432">
                    <a:solidFill>
                      <a:srgbClr val="FFFFFF"/>
                    </a:solidFill>
                  </a:tcPr>
                </a:tc>
              </a:tr>
            </a:tbl>
          </a:graphicData>
        </a:graphic>
      </p:graphicFrame>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5.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 submission for Comptrollership (part 1 of 2)</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6.png"/>
          <p:cNvPicPr>
            <a:picLocks noChangeAspect="1"/>
          </p:cNvPicPr>
          <p:nvPr/>
        </p:nvPicPr>
        <p:blipFill>
          <a:blip r:embed="rId3"/>
          <a:stretch>
            <a:fillRect/>
          </a:stretch>
        </p:blipFill>
        <p:spPr>
          <a:xfrm>
            <a:off x="548640" y="1261872"/>
            <a:ext cx="11094415" cy="427039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 submission for Comptrollership (part 2 of 2)</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Estimated Items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603</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graphicFrame>
        <p:nvGraphicFramePr>
          <p:cNvPr id="10" name="Table 9"/>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Invoices booked on an estimated premium until the final premium is known; the flag shows on the production register and on the yearly production report.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Estimated Items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Estimated premiums are followed until they are final.</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ARN / Insurer / Assured / Booked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Flag dialog</a:t>
                      </a:r>
                    </a:p>
                  </a:txBody>
                  <a:tcPr marL="54864" marR="54864" marT="27432" marB="27432">
                    <a:solidFill>
                      <a:srgbClr val="E5F5FF"/>
                    </a:solidFill>
                  </a:tcPr>
                </a:tc>
                <a:tc>
                  <a:txBody>
                    <a:bodyPr/>
                    <a:lstStyle/>
                    <a:p>
                      <a:r>
                        <a:rPr sz="850" b="0">
                          <a:solidFill>
                            <a:srgbClr val="4B4B4B"/>
                          </a:solidFill>
                          <a:latin typeface="Arial"/>
                        </a:rPr>
                        <a:t>Invoice No. / 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Flag Invoice / Flag Estimated</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Flags the invoice Estimated</a:t>
                      </a:r>
                    </a:p>
                  </a:txBody>
                  <a:tcPr marL="54864" marR="54864" marT="27432" marB="27432">
                    <a:solidFill>
                      <a:srgbClr val="FFFFFF"/>
                    </a:solidFill>
                  </a:tcPr>
                </a:tc>
                <a:tc>
                  <a:txBody>
                    <a:bodyPr/>
                    <a:lstStyle/>
                    <a:p>
                      <a:r>
                        <a:rPr sz="850" b="0">
                          <a:solidFill>
                            <a:srgbClr val="4B4B4B"/>
                          </a:solidFill>
                          <a:latin typeface="Arial"/>
                        </a:rPr>
                        <a:t>Estimated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Clear Estimate</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Flagged</a:t>
                      </a:r>
                    </a:p>
                  </a:txBody>
                  <a:tcPr marL="54864" marR="54864" marT="27432" marB="27432">
                    <a:solidFill>
                      <a:srgbClr val="E5F5FF"/>
                    </a:solidFill>
                  </a:tcPr>
                </a:tc>
                <a:tc>
                  <a:txBody>
                    <a:bodyPr/>
                    <a:lstStyle/>
                    <a:p>
                      <a:r>
                        <a:rPr sz="850" b="0">
                          <a:solidFill>
                            <a:srgbClr val="4B4B4B"/>
                          </a:solidFill>
                          <a:latin typeface="Arial"/>
                        </a:rPr>
                        <a:t>Clears the flag once the final premium is known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Estimated flag is kept on the invoice ledger and shows on the production register and the yearly production report (FR-OP-097).</a:t>
                      </a:r>
                    </a:p>
                  </a:txBody>
                  <a:tcPr marL="54864" marR="54864" marT="27432" marB="27432">
                    <a:solidFill>
                      <a:srgbClr val="FFFFFF"/>
                    </a:solidFill>
                  </a:tcPr>
                </a:tc>
              </a:tr>
              <a:tr h="396240">
                <a:tc>
                  <a:txBody>
                    <a:bodyPr/>
                    <a:lstStyle/>
                    <a:p>
                      <a:r>
                        <a:rPr sz="1000" b="0">
                          <a:solidFill>
                            <a:srgbClr val="4B4B4B"/>
                          </a:solidFill>
                          <a:latin typeface="Arial"/>
                        </a:rPr>
                        <a:t>In v2.1 the estimated items belong to Production Reconciliation (RMTID.037 moved by the Remittance annex); the flag is proposed to be set by the Production Reconciliation Handler (FR-OP-097, CLR-OP-47).</a:t>
                      </a:r>
                    </a:p>
                  </a:txBody>
                  <a:tcPr marL="54864" marR="54864" marT="27432" marB="27432">
                    <a:solidFill>
                      <a:srgbClr val="E5F5FF"/>
                    </a:solidFill>
                  </a:tcPr>
                </a:tc>
              </a:tr>
            </a:tbl>
          </a:graphicData>
        </a:graphic>
      </p:graphicFrame>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Estimated Items: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sp>
        <p:nvSpPr>
          <p:cNvPr id="9" name="Rounded Rectangle 8"/>
          <p:cNvSpPr/>
          <p:nvPr/>
        </p:nvSpPr>
        <p:spPr>
          <a:xfrm>
            <a:off x="8945575" y="896112"/>
            <a:ext cx="2697480"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v2.1-07</a:t>
            </a:r>
          </a:p>
        </p:txBody>
      </p:sp>
      <p:sp>
        <p:nvSpPr>
          <p:cNvPr id="10" name="Rounded Rectangle 9"/>
          <p:cNvSpPr/>
          <p:nvPr/>
        </p:nvSpPr>
        <p:spPr>
          <a:xfrm>
            <a:off x="766541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op-60-01-flag.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Flag Invoice as Estimated dialog</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feeds Operations exchanges with booking, Collection, Disbursement and the insurers, with their direction, transport, owner team, schedule and status; the run log lists every run with its records read, taken in, duplicate and failed; files of a feed without an automatic transport are uploaded here, and the booked invoices can be replayed into the ledger.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Interfaces</a:t>
                      </a:r>
                    </a:p>
                    <a:p>
                      <a:r>
                        <a:rPr sz="950" b="0">
                          <a:solidFill>
                            <a:srgbClr val="4B4B4B"/>
                          </a:solidFill>
                          <a:latin typeface="Arial"/>
                        </a:rPr>
                        <a:t>Operations Home › Interfaces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FR-OP-008, FR-OP-130, FR-OP-131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exchange with the other systems is logged and can be completed by hand.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graphicFrame>
        <p:nvGraphicFramePr>
          <p:cNvPr id="9" name="Table 8"/>
          <p:cNvGraphicFramePr>
            <a:graphicFrameLocks noGrp="1"/>
          </p:cNvGraphicFramePr>
          <p:nvPr/>
        </p:nvGraphicFramePr>
        <p:xfrm>
          <a:off x="548640" y="1325880"/>
          <a:ext cx="11094411" cy="293368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Feeds / Run Log</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Feeds</a:t>
                      </a:r>
                    </a:p>
                  </a:txBody>
                  <a:tcPr marL="54864" marR="54864" marT="27432" marB="27432">
                    <a:solidFill>
                      <a:srgbClr val="E5F5FF"/>
                    </a:solidFill>
                  </a:tcPr>
                </a:tc>
                <a:tc>
                  <a:txBody>
                    <a:bodyPr/>
                    <a:lstStyle/>
                    <a:p>
                      <a:r>
                        <a:rPr sz="850" b="0">
                          <a:solidFill>
                            <a:srgbClr val="4B4B4B"/>
                          </a:solidFill>
                          <a:latin typeface="Arial"/>
                        </a:rPr>
                        <a:t>Feed / Partner / Transport / Owner / Schedule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Partner and direction (inbound, outbound); transport In App or Manual Upload; schedule Manual or the schedule of the feed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Log</a:t>
                      </a:r>
                    </a:p>
                  </a:txBody>
                  <a:tcPr marL="54864" marR="54864" marT="27432" marB="27432">
                    <a:solidFill>
                      <a:srgbClr val="FFFFFF"/>
                    </a:solidFill>
                  </a:tcPr>
                </a:tc>
                <a:tc>
                  <a:txBody>
                    <a:bodyPr/>
                    <a:lstStyle/>
                    <a:p>
                      <a:r>
                        <a:rPr sz="850" b="0">
                          <a:solidFill>
                            <a:srgbClr val="4B4B4B"/>
                          </a:solidFill>
                          <a:latin typeface="Arial"/>
                        </a:rPr>
                        <a:t>Run No. / Feed / Trigger / Started / Read / OK / Duplicate / Failed / File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 per outcome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runs yet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Run dialog</a:t>
                      </a:r>
                    </a:p>
                  </a:txBody>
                  <a:tcPr marL="54864" marR="54864" marT="27432" marB="27432">
                    <a:solidFill>
                      <a:srgbClr val="E5F5FF"/>
                    </a:solidFill>
                  </a:tcPr>
                </a:tc>
                <a:tc>
                  <a:txBody>
                    <a:bodyPr/>
                    <a:lstStyle/>
                    <a:p>
                      <a:r>
                        <a:rPr sz="850" b="0">
                          <a:solidFill>
                            <a:srgbClr val="4B4B4B"/>
                          </a:solidFill>
                          <a:latin typeface="Arial"/>
                        </a:rPr>
                        <a:t>Record / Status / Created / Message /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Each record with its outcome and message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records in this run</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Configure dialog</a:t>
                      </a:r>
                    </a:p>
                  </a:txBody>
                  <a:tcPr marL="54864" marR="54864" marT="27432" marB="27432">
                    <a:solidFill>
                      <a:srgbClr val="FFFFFF"/>
                    </a:solidFill>
                  </a:tcPr>
                </a:tc>
                <a:tc>
                  <a:txBody>
                    <a:bodyPr/>
                    <a:lstStyle/>
                    <a:p>
                      <a:r>
                        <a:rPr sz="850" b="0">
                          <a:solidFill>
                            <a:srgbClr val="4B4B4B"/>
                          </a:solidFill>
                          <a:latin typeface="Arial"/>
                        </a:rPr>
                        <a:t>Runs / Time / Active</a:t>
                      </a:r>
                    </a:p>
                  </a:txBody>
                  <a:tcPr marL="54864" marR="54864" marT="27432" marB="27432">
                    <a:solidFill>
                      <a:srgbClr val="FFFFFF"/>
                    </a:solidFill>
                  </a:tcPr>
                </a:tc>
                <a:tc>
                  <a:txBody>
                    <a:bodyPr/>
                    <a:lstStyle/>
                    <a:p>
                      <a:r>
                        <a:rPr sz="850" b="0">
                          <a:solidFill>
                            <a:srgbClr val="4B4B4B"/>
                          </a:solidFill>
                          <a:latin typeface="Arial"/>
                        </a:rPr>
                        <a:t>Drop-down, time, check box</a:t>
                      </a:r>
                    </a:p>
                  </a:txBody>
                  <a:tcPr marL="54864" marR="54864" marT="27432" marB="27432">
                    <a:solidFill>
                      <a:srgbClr val="FFFFFF"/>
                    </a:solidFill>
                  </a:tcPr>
                </a:tc>
                <a:tc>
                  <a:txBody>
                    <a:bodyPr/>
                    <a:lstStyle/>
                    <a:p>
                      <a:r>
                        <a:rPr sz="850" b="0">
                          <a:solidFill>
                            <a:srgbClr val="4B4B4B"/>
                          </a:solidFill>
                          <a:latin typeface="Arial"/>
                        </a:rPr>
                        <a:t>Manual runs only, Every hour, Every day, Monday to Friday; the time in Philippine time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file of the feed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file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Replay Booked Invoices dialog</a:t>
                      </a:r>
                    </a:p>
                  </a:txBody>
                  <a:tcPr marL="54864" marR="54864" marT="27432" marB="27432">
                    <a:solidFill>
                      <a:srgbClr val="FFFFFF"/>
                    </a:solidFill>
                  </a:tcPr>
                </a:tc>
                <a:tc>
                  <a:txBody>
                    <a:bodyPr/>
                    <a:lstStyle/>
                    <a:p>
                      <a:r>
                        <a:rPr sz="850" b="0">
                          <a:solidFill>
                            <a:srgbClr val="4B4B4B"/>
                          </a:solidFill>
                          <a:latin typeface="Arial"/>
                        </a:rPr>
                        <a:t>Invoice number or ARN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One invoice, one account, or the whole company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Give an invoice number, an ARN or a company to replay</a:t>
                      </a:r>
                    </a:p>
                  </a:txBody>
                  <a:tcPr marL="54864" marR="54864" marT="27432" marB="27432">
                    <a:solidFill>
                      <a:srgbClr val="FFFFFF"/>
                    </a:solidFill>
                  </a:tcPr>
                </a:tc>
              </a:tr>
            </a:tbl>
          </a:graphicData>
        </a:graphic>
      </p:graphicFrame>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610</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Configure / Save Feed</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Changes the schedule and activation of the feed</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File</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Active feed that accepts files</a:t>
                      </a:r>
                    </a:p>
                  </a:txBody>
                  <a:tcPr marL="54864" marR="54864" marT="27432" marB="27432">
                    <a:solidFill>
                      <a:srgbClr val="E5F5FF"/>
                    </a:solidFill>
                  </a:tcPr>
                </a:tc>
                <a:tc>
                  <a:txBody>
                    <a:bodyPr/>
                    <a:lstStyle/>
                    <a:p>
                      <a:r>
                        <a:rPr sz="850" b="0">
                          <a:solidFill>
                            <a:srgbClr val="4B4B4B"/>
                          </a:solidFill>
                          <a:latin typeface="Arial"/>
                        </a:rPr>
                        <a:t>Takes in the records of the file, each once</a:t>
                      </a:r>
                    </a:p>
                  </a:txBody>
                  <a:tcPr marL="54864" marR="54864" marT="27432" marB="27432">
                    <a:solidFill>
                      <a:srgbClr val="E5F5FF"/>
                    </a:solidFill>
                  </a:tcPr>
                </a:tc>
                <a:tc>
                  <a:txBody>
                    <a:bodyPr/>
                    <a:lstStyle/>
                    <a:p>
                      <a:r>
                        <a:rPr sz="850" b="0">
                          <a:solidFill>
                            <a:srgbClr val="4B4B4B"/>
                          </a:solidFill>
                          <a:latin typeface="Arial"/>
                        </a:rPr>
                        <a:t>Run done</a:t>
                      </a:r>
                    </a:p>
                  </a:txBody>
                  <a:tcPr marL="54864" marR="54864" marT="27432" marB="27432">
                    <a:solidFill>
                      <a:srgbClr val="E5F5FF"/>
                    </a:solidFill>
                  </a:tcPr>
                </a:tc>
                <a:tc>
                  <a:txBody>
                    <a:bodyPr/>
                    <a:lstStyle/>
                    <a:p>
                      <a:r>
                        <a:rPr sz="850" b="0">
                          <a:solidFill>
                            <a:srgbClr val="4B4B4B"/>
                          </a:solidFill>
                          <a:latin typeface="Arial"/>
                        </a:rPr>
                        <a:t>Interface run failed (NT-05) when records fail</a:t>
                      </a:r>
                    </a:p>
                  </a:txBody>
                  <a:tcPr marL="54864" marR="54864" marT="27432" marB="27432">
                    <a:solidFill>
                      <a:srgbClr val="E5F5FF"/>
                    </a:solidFill>
                  </a:tcPr>
                </a:tc>
              </a:tr>
              <a:tr h="350518">
                <a:tc>
                  <a:txBody>
                    <a:bodyPr/>
                    <a:lstStyle/>
                    <a:p>
                      <a:r>
                        <a:rPr sz="850" b="0">
                          <a:solidFill>
                            <a:srgbClr val="4B4B4B"/>
                          </a:solidFill>
                          <a:latin typeface="Arial"/>
                        </a:rPr>
                        <a:t>Replay Booked Invoices / Replay Invoices</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Copies into the ledger every booked invoice of the scope missing from it; an invoice already there is not changed</a:t>
                      </a:r>
                    </a:p>
                  </a:txBody>
                  <a:tcPr marL="54864" marR="54864" marT="27432" marB="27432">
                    <a:solidFill>
                      <a:srgbClr val="FFFFFF"/>
                    </a:solidFill>
                  </a:tcPr>
                </a:tc>
                <a:tc>
                  <a:txBody>
                    <a:bodyPr/>
                    <a:lstStyle/>
                    <a:p>
                      <a:r>
                        <a:rPr sz="850" b="0">
                          <a:solidFill>
                            <a:srgbClr val="4B4B4B"/>
                          </a:solidFill>
                          <a:latin typeface="Arial"/>
                        </a:rPr>
                        <a:t>Run done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records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record of a feed is processed on its own and once; a failed record does not stop the run and can be sent again (FR-OP-131, FR-OP-008).</a:t>
                      </a:r>
                    </a:p>
                  </a:txBody>
                  <a:tcPr marL="54864" marR="54864" marT="27432" marB="27432">
                    <a:solidFill>
                      <a:srgbClr val="FFFFFF"/>
                    </a:solidFill>
                  </a:tcPr>
                </a:tc>
              </a:tr>
              <a:tr h="243840">
                <a:tc>
                  <a:txBody>
                    <a:bodyPr/>
                    <a:lstStyle/>
                    <a:p>
                      <a:r>
                        <a:rPr sz="1000" b="0">
                          <a:solidFill>
                            <a:srgbClr val="4B4B4B"/>
                          </a:solidFill>
                          <a:latin typeface="Arial"/>
                        </a:rPr>
                        <a:t>A failed or partial run raises the interface alert (FR-OP-131).</a:t>
                      </a:r>
                    </a:p>
                  </a:txBody>
                  <a:tcPr marL="54864" marR="54864" marT="27432" marB="27432">
                    <a:solidFill>
                      <a:srgbClr val="E5F5FF"/>
                    </a:solidFill>
                  </a:tcPr>
                </a:tc>
              </a:tr>
              <a:tr h="243840">
                <a:tc>
                  <a:txBody>
                    <a:bodyPr/>
                    <a:lstStyle/>
                    <a:p>
                      <a:r>
                        <a:rPr sz="1000" b="0">
                          <a:solidFill>
                            <a:srgbClr val="4B4B4B"/>
                          </a:solidFill>
                          <a:latin typeface="Arial"/>
                        </a:rPr>
                        <a:t>Until the systems of the other BRDs and the insurer channels are connected, their data arrives by upload here (FR-OP-130).</a:t>
                      </a:r>
                    </a:p>
                  </a:txBody>
                  <a:tcPr marL="54864" marR="54864" marT="27432" marB="27432">
                    <a:solidFill>
                      <a:srgbClr val="FFFFFF"/>
                    </a:solidFill>
                  </a:tcPr>
                </a:tc>
              </a:tr>
            </a:tbl>
          </a:graphicData>
        </a:graphic>
      </p:graphicFrame>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7.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1 of 3)</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8.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2 of 3)</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9.png"/>
          <p:cNvPicPr>
            <a:picLocks noChangeAspect="1"/>
          </p:cNvPicPr>
          <p:nvPr/>
        </p:nvPicPr>
        <p:blipFill>
          <a:blip r:embed="rId3"/>
          <a:stretch>
            <a:fillRect/>
          </a:stretch>
        </p:blipFill>
        <p:spPr>
          <a:xfrm>
            <a:off x="548640" y="1261872"/>
            <a:ext cx="11094415" cy="18076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3 of 3)</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Run Log tab (part 1 of 2)</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1.png"/>
          <p:cNvPicPr>
            <a:picLocks noChangeAspect="1"/>
          </p:cNvPicPr>
          <p:nvPr/>
        </p:nvPicPr>
        <p:blipFill>
          <a:blip r:embed="rId3"/>
          <a:stretch>
            <a:fillRect/>
          </a:stretch>
        </p:blipFill>
        <p:spPr>
          <a:xfrm>
            <a:off x="548640" y="1261872"/>
            <a:ext cx="11094415" cy="22188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Run Log tab (part 2 of 2)</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61-03-replay.png"/>
          <p:cNvPicPr>
            <a:picLocks noChangeAspect="1"/>
          </p:cNvPicPr>
          <p:nvPr/>
        </p:nvPicPr>
        <p:blipFill>
          <a:blip r:embed="rId3"/>
          <a:stretch>
            <a:fillRect/>
          </a:stretch>
        </p:blipFill>
        <p:spPr>
          <a:xfrm>
            <a:off x="847793" y="1261872"/>
            <a:ext cx="1049610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Replay Booked Invoices dialog</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FFY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618</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tagged Free First Year (the first-year premium is not paid by the client) with their period of cover in the period cell, gross premium, status and the FFY start and end; Operations reads it to know which invoices carry no client collection in their first year. The register is maintained in New Business (BRD-1, SCR-NB-16).</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FFY Register</a:t>
                      </a:r>
                    </a:p>
                    <a:p>
                      <a:r>
                        <a:rPr sz="950" b="0">
                          <a:solidFill>
                            <a:srgbClr val="4B4B4B"/>
                          </a:solidFill>
                          <a:latin typeface="Arial"/>
                        </a:rPr>
                        <a:t>Client &amp; Policy › Accounts &amp; Placement › FFY Register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Operations sees the free first year accounts and their periods.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619</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 Client / Product /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name with the code; product name with the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is tagged Free First Year.</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Period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of cover in the period cell: the start date, then to the end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Gross Premium / Status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FFY and Direct Payment tags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FFY Period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cell: the FFY start and, under it, to the FFY end,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620</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period is shown in lists on two lines, the start date and to the end date, each date kept whole (screen standards).</a:t>
                      </a:r>
                    </a:p>
                  </a:txBody>
                  <a:tcPr marL="54864" marR="54864" marT="27432" marB="27432">
                    <a:solidFill>
                      <a:srgbClr val="FFFFFF"/>
                    </a:solidFill>
                  </a:tcPr>
                </a:tc>
              </a:tr>
              <a:tr h="243840">
                <a:tc>
                  <a:txBody>
                    <a:bodyPr/>
                    <a:lstStyle/>
                    <a:p>
                      <a:r>
                        <a:rPr sz="1000" b="0">
                          <a:solidFill>
                            <a:srgbClr val="4B4B4B"/>
                          </a:solidFill>
                          <a:latin typeface="Arial"/>
                        </a:rPr>
                        <a:t>The FFY tag is set and cancelled on the account in New Business (FR-OP-004).</a:t>
                      </a:r>
                    </a:p>
                  </a:txBody>
                  <a:tcPr marL="54864" marR="54864" marT="27432" marB="27432">
                    <a:solidFill>
                      <a:srgbClr val="E5F5FF"/>
                    </a:solidFill>
                  </a:tcPr>
                </a:tc>
              </a:tr>
            </a:tbl>
          </a:graphicData>
        </a:graphic>
      </p:graphicFrame>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FFY Register: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62-01-list.png"/>
          <p:cNvPicPr>
            <a:picLocks noChangeAspect="1"/>
          </p:cNvPicPr>
          <p:nvPr/>
        </p:nvPicPr>
        <p:blipFill>
          <a:blip r:embed="rId3"/>
          <a:stretch>
            <a:fillRect/>
          </a:stretch>
        </p:blipFill>
        <p:spPr>
          <a:xfrm>
            <a:off x="605495" y="1261872"/>
            <a:ext cx="1098070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FFY Register as the Operations users see it</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Report Centre (Operations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Operations reports of the Report Centre, by team: Cashiering, Remittance, Adjustment, Production Reconciliation and Commission Receivables, each card with its title, code and a one-line description; a card opens the report.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a:t>
                      </a:r>
                    </a:p>
                    <a:p>
                      <a:r>
                        <a:rPr sz="950" b="0">
                          <a:solidFill>
                            <a:srgbClr val="4B4B4B"/>
                          </a:solidFill>
                          <a:latin typeface="Arial"/>
                        </a:rPr>
                        <a:t>Reports › Report Centre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 FR-OP-028, FR-OP-041, FR-OP-062, FR-OP-080, FR-OP-098, FR-OP-099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Operations report is found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624</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reports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Search by title or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 cards</a:t>
                      </a:r>
                    </a:p>
                  </a:txBody>
                  <a:tcPr marL="54864" marR="54864" marT="27432" marB="27432">
                    <a:solidFill>
                      <a:srgbClr val="E5F5FF"/>
                    </a:solidFill>
                  </a:tcPr>
                </a:tc>
                <a:tc>
                  <a:txBody>
                    <a:bodyPr/>
                    <a:lstStyle/>
                    <a:p>
                      <a:r>
                        <a:rPr sz="850" b="0">
                          <a:solidFill>
                            <a:srgbClr val="4B4B4B"/>
                          </a:solidFill>
                          <a:latin typeface="Arial"/>
                        </a:rPr>
                        <a:t>Operations report cards</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Title, code and description; the Operations group lists the Cashiering (CSH), Remittance (REM), Adjustment (ADJ), Production Reconciliation (PRC) and Commission Receivables (CMR) reports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My report batches</a:t>
                      </a:r>
                    </a:p>
                  </a:txBody>
                  <a:tcPr marL="54864" marR="54864" marT="27432" marB="27432">
                    <a:solidFill>
                      <a:srgbClr val="FFFFFF"/>
                    </a:solidFill>
                  </a:tcPr>
                </a:tc>
                <a:tc>
                  <a:txBody>
                    <a:bodyPr/>
                    <a:lstStyle/>
                    <a:p>
                      <a:r>
                        <a:rPr sz="850" b="0">
                          <a:solidFill>
                            <a:srgbClr val="4B4B4B"/>
                          </a:solidFill>
                          <a:latin typeface="Arial"/>
                        </a:rPr>
                        <a:t>Batch No. / Run At / Output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Reports run in a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report card</a:t>
                      </a:r>
                    </a:p>
                  </a:txBody>
                  <a:tcPr marL="54864" marR="54864" marT="27432" marB="27432">
                    <a:solidFill>
                      <a:srgbClr val="FFFFFF"/>
                    </a:solidFill>
                  </a:tcPr>
                </a:tc>
                <a:tc>
                  <a:txBody>
                    <a:bodyPr/>
                    <a:lstStyle/>
                    <a:p>
                      <a:r>
                        <a:rPr sz="850" b="0">
                          <a:solidFill>
                            <a:srgbClr val="4B4B4B"/>
                          </a:solidFill>
                          <a:latin typeface="Arial"/>
                        </a:rPr>
                        <a:t>Users who may view Operations reports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with its parameters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Report Batch</a:t>
                      </a:r>
                    </a:p>
                  </a:txBody>
                  <a:tcPr marL="54864" marR="54864" marT="27432" marB="27432">
                    <a:solidFill>
                      <a:srgbClr val="E5F5FF"/>
                    </a:solidFill>
                  </a:tcPr>
                </a:tc>
                <a:tc>
                  <a:txBody>
                    <a:bodyPr/>
                    <a:lstStyle/>
                    <a:p>
                      <a:r>
                        <a:rPr sz="850" b="0">
                          <a:solidFill>
                            <a:srgbClr val="4B4B4B"/>
                          </a:solidFill>
                          <a:latin typeface="Arial"/>
                        </a:rPr>
                        <a:t>Users who may view Operations reports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Runs several reports in one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Operations reports are in the category Operations; viewing and exporting are separate permissions (FR-OP-009).</a:t>
                      </a:r>
                    </a:p>
                  </a:txBody>
                  <a:tcPr marL="54864" marR="54864" marT="27432" marB="27432">
                    <a:solidFill>
                      <a:srgbClr val="FFFFFF"/>
                    </a:solidFill>
                  </a:tcPr>
                </a:tc>
              </a:tr>
              <a:tr h="243840">
                <a:tc>
                  <a:txBody>
                    <a:bodyPr/>
                    <a:lstStyle/>
                    <a:p>
                      <a:r>
                        <a:rPr sz="1000" b="0">
                          <a:solidFill>
                            <a:srgbClr val="4B4B4B"/>
                          </a:solidFill>
                          <a:latin typeface="Arial"/>
                        </a:rPr>
                        <a:t>The layouts the BRD does not detail are proposed layouts for BDOI to confirm (FR-OP-028, FR-OP-041, FR-OP-062, FR-OP-080, FR-OP-098).</a:t>
                      </a:r>
                    </a:p>
                  </a:txBody>
                  <a:tcPr marL="54864" marR="54864" marT="27432" marB="27432">
                    <a:solidFill>
                      <a:srgbClr val="E5F5FF"/>
                    </a:solidFill>
                  </a:tcPr>
                </a:tc>
              </a:tr>
            </a:tbl>
          </a:graphicData>
        </a:graphic>
      </p:graphicFrame>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1 of 4)</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2 of 4)</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3 of 4)</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5.png"/>
          <p:cNvPicPr>
            <a:picLocks noChangeAspect="1"/>
          </p:cNvPicPr>
          <p:nvPr/>
        </p:nvPicPr>
        <p:blipFill>
          <a:blip r:embed="rId3"/>
          <a:stretch>
            <a:fillRect/>
          </a:stretch>
        </p:blipFill>
        <p:spPr>
          <a:xfrm>
            <a:off x="548640" y="1261872"/>
            <a:ext cx="11094415" cy="43851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4 of 4)</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6.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1 of 4)</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7.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2 of 4)</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3 of 4)</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59.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4 of 4)</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Operations report: its parameters (with saved variants), run on screen, printed or exported to Excel, PDF, ODS, CSV or XML; each run is archived with its parameters.</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 › Report</a:t>
                      </a:r>
                    </a:p>
                    <a:p>
                      <a:r>
                        <a:rPr sz="950" b="0">
                          <a:solidFill>
                            <a:srgbClr val="4B4B4B"/>
                          </a:solidFill>
                          <a:latin typeface="Arial"/>
                        </a:rPr>
                        <a:t>Report Centre › a report card</a:t>
                      </a:r>
                    </a:p>
                    <a:p>
                      <a:r>
                        <a:rPr sz="950" b="0">
                          <a:solidFill>
                            <a:srgbClr val="4B4B4B"/>
                          </a:solidFill>
                          <a:latin typeface="Arial"/>
                        </a:rPr>
                        <a:t>Report Archive › a run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runs, prints and exports the Operations reports.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636</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Report parameters</a:t>
                      </a:r>
                    </a:p>
                  </a:txBody>
                  <a:tcPr marL="54864" marR="54864" marT="27432" marB="27432">
                    <a:solidFill>
                      <a:srgbClr val="FFFFFF"/>
                    </a:solidFill>
                  </a:tcPr>
                </a:tc>
                <a:tc>
                  <a:txBody>
                    <a:bodyPr/>
                    <a:lstStyle/>
                    <a:p>
                      <a:r>
                        <a:rPr sz="850" b="0">
                          <a:solidFill>
                            <a:srgbClr val="4B4B4B"/>
                          </a:solidFill>
                          <a:latin typeface="Arial"/>
                        </a:rPr>
                        <a:t>Date, drop-down, text</a:t>
                      </a:r>
                    </a:p>
                  </a:txBody>
                  <a:tcPr marL="54864" marR="54864" marT="27432" marB="27432">
                    <a:solidFill>
                      <a:srgbClr val="FFFFFF"/>
                    </a:solidFill>
                  </a:tcPr>
                </a:tc>
                <a:tc>
                  <a:txBody>
                    <a:bodyPr/>
                    <a:lstStyle/>
                    <a:p>
                      <a:r>
                        <a:rPr sz="850" b="0">
                          <a:solidFill>
                            <a:srgbClr val="4B4B4B"/>
                          </a:solidFill>
                          <a:latin typeface="Arial"/>
                        </a:rPr>
                        <a:t>For example Company, From, To, Insurer, Origin</a:t>
                      </a:r>
                    </a:p>
                  </a:txBody>
                  <a:tcPr marL="54864" marR="54864" marT="27432" marB="27432">
                    <a:solidFill>
                      <a:srgbClr val="FFFFFF"/>
                    </a:solidFill>
                  </a:tcPr>
                </a:tc>
                <a:tc>
                  <a:txBody>
                    <a:bodyPr/>
                    <a:lstStyle/>
                    <a:p>
                      <a:r>
                        <a:rPr sz="850" b="0">
                          <a:solidFill>
                            <a:srgbClr val="4B4B4B"/>
                          </a:solidFill>
                          <a:latin typeface="Arial"/>
                        </a:rPr>
                        <a:t>Per report</a:t>
                      </a:r>
                    </a:p>
                  </a:txBody>
                  <a:tcPr marL="54864" marR="54864" marT="27432" marB="27432">
                    <a:solidFill>
                      <a:srgbClr val="FFFFFF"/>
                    </a:solidFill>
                  </a:tcPr>
                </a:tc>
                <a:tc>
                  <a:txBody>
                    <a:bodyPr/>
                    <a:lstStyle/>
                    <a:p>
                      <a:r>
                        <a:rPr sz="850" b="0">
                          <a:solidFill>
                            <a:srgbClr val="4B4B4B"/>
                          </a:solidFill>
                          <a:latin typeface="Arial"/>
                        </a:rPr>
                        <a:t>Mandatory parameters given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Saved Variant / Variant Name</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user's and the shared variants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Print options</a:t>
                      </a:r>
                    </a:p>
                  </a:txBody>
                  <a:tcPr marL="54864" marR="54864" marT="27432" marB="27432">
                    <a:solidFill>
                      <a:srgbClr val="FFFFFF"/>
                    </a:solidFill>
                  </a:tcPr>
                </a:tc>
                <a:tc>
                  <a:txBody>
                    <a:bodyPr/>
                    <a:lstStyle/>
                    <a:p>
                      <a:r>
                        <a:rPr sz="850" b="0">
                          <a:solidFill>
                            <a:srgbClr val="4B4B4B"/>
                          </a:solidFill>
                          <a:latin typeface="Arial"/>
                        </a:rPr>
                        <a:t>Paper / Orientation / Width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Orientation Automatic (by width), Portrait, Landscape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Report table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The columns of the report with its totals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637</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Users who may view the report</a:t>
                      </a:r>
                    </a:p>
                  </a:txBody>
                  <a:tcPr marL="54864" marR="54864" marT="27432" marB="27432">
                    <a:solidFill>
                      <a:srgbClr val="FFFFFF"/>
                    </a:solidFill>
                  </a:tcPr>
                </a:tc>
                <a:tc>
                  <a:txBody>
                    <a:bodyPr/>
                    <a:lstStyle/>
                    <a:p>
                      <a:r>
                        <a:rPr sz="850" b="0">
                          <a:solidFill>
                            <a:srgbClr val="4B4B4B"/>
                          </a:solidFill>
                          <a:latin typeface="Arial"/>
                        </a:rPr>
                        <a:t>Parameters given</a:t>
                      </a:r>
                    </a:p>
                  </a:txBody>
                  <a:tcPr marL="54864" marR="54864" marT="27432" marB="27432">
                    <a:solidFill>
                      <a:srgbClr val="FFFFFF"/>
                    </a:solidFill>
                  </a:tcPr>
                </a:tc>
                <a:tc>
                  <a:txBody>
                    <a:bodyPr/>
                    <a:lstStyle/>
                    <a:p>
                      <a:r>
                        <a:rPr sz="850" b="0">
                          <a:solidFill>
                            <a:srgbClr val="4B4B4B"/>
                          </a:solidFill>
                          <a:latin typeface="Arial"/>
                        </a:rPr>
                        <a:t>Runs the report on screen and archives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Users who may export the report</a:t>
                      </a:r>
                    </a:p>
                  </a:txBody>
                  <a:tcPr marL="54864" marR="54864" marT="27432" marB="27432">
                    <a:solidFill>
                      <a:srgbClr val="E5F5FF"/>
                    </a:solidFill>
                  </a:tcPr>
                </a:tc>
                <a:tc>
                  <a:txBody>
                    <a:bodyPr/>
                    <a:lstStyle/>
                    <a:p>
                      <a:r>
                        <a:rPr sz="850" b="0">
                          <a:solidFill>
                            <a:srgbClr val="4B4B4B"/>
                          </a:solidFill>
                          <a:latin typeface="Arial"/>
                        </a:rPr>
                        <a:t>Parameters given</a:t>
                      </a:r>
                    </a:p>
                  </a:txBody>
                  <a:tcPr marL="54864" marR="54864" marT="27432" marB="27432">
                    <a:solidFill>
                      <a:srgbClr val="E5F5FF"/>
                    </a:solidFill>
                  </a:tcPr>
                </a:tc>
                <a:tc>
                  <a:txBody>
                    <a:bodyPr/>
                    <a:lstStyle/>
                    <a:p>
                      <a:r>
                        <a:rPr sz="850" b="0">
                          <a:solidFill>
                            <a:srgbClr val="4B4B4B"/>
                          </a:solidFill>
                          <a:latin typeface="Arial"/>
                        </a:rPr>
                        <a:t>Produces the printable PDF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 buttons</a:t>
                      </a:r>
                    </a:p>
                  </a:txBody>
                  <a:tcPr marL="54864" marR="54864" marT="27432" marB="27432">
                    <a:solidFill>
                      <a:srgbClr val="FFFFFF"/>
                    </a:solidFill>
                  </a:tcPr>
                </a:tc>
                <a:tc>
                  <a:txBody>
                    <a:bodyPr/>
                    <a:lstStyle/>
                    <a:p>
                      <a:r>
                        <a:rPr sz="850" b="0">
                          <a:solidFill>
                            <a:srgbClr val="4B4B4B"/>
                          </a:solidFill>
                          <a:latin typeface="Arial"/>
                        </a:rPr>
                        <a:t>Users who may export the report</a:t>
                      </a:r>
                    </a:p>
                  </a:txBody>
                  <a:tcPr marL="54864" marR="54864" marT="27432" marB="27432">
                    <a:solidFill>
                      <a:srgbClr val="FFFFFF"/>
                    </a:solidFill>
                  </a:tcPr>
                </a:tc>
                <a:tc>
                  <a:txBody>
                    <a:bodyPr/>
                    <a:lstStyle/>
                    <a:p>
                      <a:r>
                        <a:rPr sz="850" b="0">
                          <a:solidFill>
                            <a:srgbClr val="4B4B4B"/>
                          </a:solidFill>
                          <a:latin typeface="Arial"/>
                        </a:rPr>
                        <a:t>Report run</a:t>
                      </a:r>
                    </a:p>
                  </a:txBody>
                  <a:tcPr marL="54864" marR="54864" marT="27432" marB="27432">
                    <a:solidFill>
                      <a:srgbClr val="FFFFFF"/>
                    </a:solidFill>
                  </a:tcPr>
                </a:tc>
                <a:tc>
                  <a:txBody>
                    <a:bodyPr/>
                    <a:lstStyle/>
                    <a:p>
                      <a:r>
                        <a:rPr sz="850" b="0">
                          <a:solidFill>
                            <a:srgbClr val="4B4B4B"/>
                          </a:solidFill>
                          <a:latin typeface="Arial"/>
                        </a:rPr>
                        <a:t>Downloads the report as Excel, PDF, ODS, CSV or XML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the parameters as a named variant, or deletes one's 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view-only user runs the report on screen; the export and print buttons are not offered (FR-OP-009).</a:t>
                      </a:r>
                    </a:p>
                  </a:txBody>
                  <a:tcPr marL="54864" marR="54864" marT="27432" marB="27432">
                    <a:solidFill>
                      <a:srgbClr val="FFFFFF"/>
                    </a:solidFill>
                  </a:tcPr>
                </a:tc>
              </a:tr>
              <a:tr h="243840">
                <a:tc>
                  <a:txBody>
                    <a:bodyPr/>
                    <a:lstStyle/>
                    <a:p>
                      <a:r>
                        <a:rPr sz="1000" b="0">
                          <a:solidFill>
                            <a:srgbClr val="4B4B4B"/>
                          </a:solidFill>
                          <a:latin typeface="Arial"/>
                        </a:rPr>
                        <a:t>Every run and export is archived with its parameters, user and time (FR-OP-009).</a:t>
                      </a:r>
                    </a:p>
                  </a:txBody>
                  <a:tcPr marL="54864" marR="54864" marT="27432" marB="27432">
                    <a:solidFill>
                      <a:srgbClr val="E5F5FF"/>
                    </a:solidFill>
                  </a:tcPr>
                </a:tc>
              </a:tr>
            </a:tbl>
          </a:graphicData>
        </a:graphic>
      </p:graphicFrame>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1 of 4)</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1.png"/>
          <p:cNvPicPr>
            <a:picLocks noChangeAspect="1"/>
          </p:cNvPicPr>
          <p:nvPr/>
        </p:nvPicPr>
        <p:blipFill>
          <a:blip r:embed="rId3"/>
          <a:stretch>
            <a:fillRect/>
          </a:stretch>
        </p:blipFill>
        <p:spPr>
          <a:xfrm>
            <a:off x="548640" y="1261872"/>
            <a:ext cx="11094415" cy="46493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2 of 4)</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2.png"/>
          <p:cNvPicPr>
            <a:picLocks noChangeAspect="1"/>
          </p:cNvPicPr>
          <p:nvPr/>
        </p:nvPicPr>
        <p:blipFill>
          <a:blip r:embed="rId3"/>
          <a:stretch>
            <a:fillRect/>
          </a:stretch>
        </p:blipFill>
        <p:spPr>
          <a:xfrm>
            <a:off x="548640" y="1261872"/>
            <a:ext cx="11094415" cy="43813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3 of 4)</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3.png"/>
          <p:cNvPicPr>
            <a:picLocks noChangeAspect="1"/>
          </p:cNvPicPr>
          <p:nvPr/>
        </p:nvPicPr>
        <p:blipFill>
          <a:blip r:embed="rId3"/>
          <a:stretch>
            <a:fillRect/>
          </a:stretch>
        </p:blipFill>
        <p:spPr>
          <a:xfrm>
            <a:off x="548640" y="1261872"/>
            <a:ext cx="11094415" cy="6957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4 of 4)</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Acknowledgement receipt (AR)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644</a:t>
            </a:r>
          </a:p>
        </p:txBody>
      </p:sp>
      <p:pic>
        <p:nvPicPr>
          <p:cNvPr id="9" name="Picture 8" descr="doc-a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receipt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receipt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Receipt record › PDF; Batch Print for the receipts of a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Acknowledgement Receipt, AR number from the branch series and date – from the receipt</a:t>
                      </a:r>
                    </a:p>
                    <a:p>
                      <a:r>
                        <a:rPr sz="900" b="0">
                          <a:solidFill>
                            <a:srgbClr val="4B4B4B"/>
                          </a:solidFill>
                          <a:latin typeface="Arial"/>
                        </a:rPr>
                        <a:t>Received from: Payor, Payor code, Assured, Date, Class, Amount, Mode of payment, Check (bank and number), Status – from the receipt and its payment</a:t>
                      </a:r>
                    </a:p>
                    <a:p>
                      <a:r>
                        <a:rPr sz="900" b="0">
                          <a:solidFill>
                            <a:srgbClr val="4B4B4B"/>
                          </a:solidFill>
                          <a:latin typeface="Arial"/>
                        </a:rPr>
                        <a:t>Application: one row per invoice with the amount applied, and the amount left unapplied – from the application</a:t>
                      </a:r>
                    </a:p>
                    <a:p>
                      <a:r>
                        <a:rPr sz="900" b="0">
                          <a:solidFill>
                            <a:srgbClr val="4B4B4B"/>
                          </a:solidFill>
                          <a:latin typeface="Arial"/>
                        </a:rPr>
                        <a:t>Signature line: Cashier</a:t>
                      </a:r>
                    </a:p>
                  </a:txBody>
                  <a:tcPr marL="54864" marR="54864" marT="27432" marB="27432">
                    <a:solidFill>
                      <a:srgbClr val="FFFFFF"/>
                    </a:solidFill>
                  </a:tcPr>
                </a:tc>
              </a:tr>
            </a:tbl>
          </a:graphicData>
        </a:graphic>
      </p:graphicFrame>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DO-02 Official receipt (OR) for service fees and commission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645</a:t>
            </a:r>
          </a:p>
        </p:txBody>
      </p:sp>
      <p:pic>
        <p:nvPicPr>
          <p:cNvPr id="9" name="Picture 8" descr="doc-o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receipt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receipt</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Issue Official Receipt; the commission OR of an approved remittance batch or DP collection</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Official Receipt, OR number from the Head Office series and date – from the receipt</a:t>
                      </a:r>
                    </a:p>
                    <a:p>
                      <a:r>
                        <a:rPr sz="900" b="0">
                          <a:solidFill>
                            <a:srgbClr val="4B4B4B"/>
                          </a:solidFill>
                          <a:latin typeface="Arial"/>
                        </a:rPr>
                        <a:t>Received from: Payor (insurer or client), Payor code, Assured, Date, Class (service fee, commission, incentive), Amount, Mode of payment, Check, Status – from the receipt</a:t>
                      </a:r>
                    </a:p>
                    <a:p>
                      <a:r>
                        <a:rPr sz="900" b="0">
                          <a:solidFill>
                            <a:srgbClr val="4B4B4B"/>
                          </a:solidFill>
                          <a:latin typeface="Arial"/>
                        </a:rPr>
                        <a:t>Lines: one row per item (invoice and its commission) with Net, VAT and withholding tax – from the receipt lines</a:t>
                      </a:r>
                    </a:p>
                    <a:p>
                      <a:r>
                        <a:rPr sz="900" b="0">
                          <a:solidFill>
                            <a:srgbClr val="4B4B4B"/>
                          </a:solidFill>
                          <a:latin typeface="Arial"/>
                        </a:rPr>
                        <a:t>Signature line: Cashier</a:t>
                      </a:r>
                    </a:p>
                  </a:txBody>
                  <a:tcPr marL="54864" marR="54864" marT="27432" marB="27432">
                    <a:solidFill>
                      <a:srgbClr val="FFFFFF"/>
                    </a:solidFill>
                  </a:tcPr>
                </a:tc>
              </a:tr>
            </a:tbl>
          </a:graphicData>
        </a:graphic>
      </p:graphicFrame>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Remittance schedule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646</a:t>
            </a:r>
          </a:p>
        </p:txBody>
      </p:sp>
      <p:pic>
        <p:nvPicPr>
          <p:cNvPr id="9" name="Picture 8" descr="doc-remittance-schedule.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7889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REMITTANCE_SCHEDULE</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per batch; the Excel copy is e-mailed to the insurer password protected</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Remittance Batch › Documents and Receipts; Send Schedule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7373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Batch: Batch number, Insurer, Remittance type, Currency, Accounts, Processor, Stage – from the batch</a:t>
                      </a:r>
                    </a:p>
                    <a:p>
                      <a:r>
                        <a:rPr sz="900" b="0">
                          <a:solidFill>
                            <a:srgbClr val="4B4B4B"/>
                          </a:solidFill>
                          <a:latin typeface="Arial"/>
                        </a:rPr>
                        <a:t>Accounts remitted: Invoice Number, Policy Number, Endorsement Number, Name of Assured, Risk Code, Date Last Paid, Date Inception, Date Booked, Date Expiry, Paid AR, Realized Commission, Realized VAT, WTAX, DTIP, Net Due – from the batch lines</a:t>
                      </a:r>
                    </a:p>
                    <a:p>
                      <a:r>
                        <a:rPr sz="900" b="0">
                          <a:solidFill>
                            <a:srgbClr val="4B4B4B"/>
                          </a:solidFill>
                          <a:latin typeface="Arial"/>
                        </a:rPr>
                        <a:t>Totals: Paid AR, less realized commission, less VAT on commission, add withholding tax on commission, Net due, less incentive with VAT, Amount payable – from the batch</a:t>
                      </a:r>
                    </a:p>
                    <a:p>
                      <a:r>
                        <a:rPr sz="900" b="0">
                          <a:solidFill>
                            <a:srgbClr val="4B4B4B"/>
                          </a:solidFill>
                          <a:latin typeface="Arial"/>
                        </a:rPr>
                        <a:t>Request to the insurer to return the schedule with its official receipt number and date per account; signature lines Prepared by, Checked by, Approved by</a:t>
                      </a:r>
                    </a:p>
                  </a:txBody>
                  <a:tcPr marL="54864" marR="54864" marT="27432" marB="27432">
                    <a:solidFill>
                      <a:srgbClr val="FFFFFF"/>
                    </a:solidFill>
                  </a:tcPr>
                </a:tc>
              </a:tr>
            </a:tbl>
          </a:graphicData>
        </a:graphic>
      </p:graphicFrame>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Payment request of a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647</a:t>
            </a:r>
          </a:p>
        </p:txBody>
      </p:sp>
      <p:pic>
        <p:nvPicPr>
          <p:cNvPr id="9" name="Picture 8" descr="doc-payment-request.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REMITTANCE_PAYMENT_REQUEST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batch</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Remittance Batch › Documents and Receipts, at Approve and Push</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Batch: Batch number, Insurer, Remittance type, Currency, Accounts, Processor, Stage – from the batch</a:t>
                      </a:r>
                    </a:p>
                    <a:p>
                      <a:r>
                        <a:rPr sz="900" b="0">
                          <a:solidFill>
                            <a:srgbClr val="4B4B4B"/>
                          </a:solidFill>
                          <a:latin typeface="Arial"/>
                        </a:rPr>
                        <a:t>Totals: Paid AR, realized commission, VAT, withholding tax, Net due, incentive, Amount payable – from the batch</a:t>
                      </a:r>
                    </a:p>
                    <a:p>
                      <a:r>
                        <a:rPr sz="900" b="0">
                          <a:solidFill>
                            <a:srgbClr val="4B4B4B"/>
                          </a:solidFill>
                          <a:latin typeface="Arial"/>
                        </a:rPr>
                        <a:t>Request text: amount payable, insurer, batch and approver – from the batch and its approval</a:t>
                      </a:r>
                    </a:p>
                    <a:p>
                      <a:r>
                        <a:rPr sz="900" b="0">
                          <a:solidFill>
                            <a:srgbClr val="4B4B4B"/>
                          </a:solidFill>
                          <a:latin typeface="Arial"/>
                        </a:rPr>
                        <a:t>Signature lines: Requested by, Approved by, Received by Disbursement</a:t>
                      </a:r>
                    </a:p>
                  </a:txBody>
                  <a:tcPr marL="54864" marR="54864" marT="27432" marB="27432">
                    <a:solidFill>
                      <a:srgbClr val="FFFFFF"/>
                    </a:solidFill>
                  </a:tcPr>
                </a:tc>
              </a:tr>
            </a:tbl>
          </a:graphicData>
        </a:graphic>
      </p:graphicFrame>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Endorsement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648</a:t>
            </a:r>
          </a:p>
        </p:txBody>
      </p:sp>
      <p:pic>
        <p:nvPicPr>
          <p:cNvPr id="9" name="Picture 8" descr="doc-endorsement-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6517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ENDORSEMENT_SLIP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posted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Endorsement Request › Documents, once the request is posted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7373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Letter to the insurer: policy, assured, request number, effective date, invoice and ARN to quote – from the request</a:t>
                      </a:r>
                    </a:p>
                    <a:p>
                      <a:r>
                        <a:rPr sz="900" b="0">
                          <a:solidFill>
                            <a:srgbClr val="4B4B4B"/>
                          </a:solidFill>
                          <a:latin typeface="Arial"/>
                        </a:rPr>
                        <a:t>Request: Date, Endorsement Request No., Invoice No., Account Reference No., Endorsement Type, Request Type, Reason for Cancellation, Effective Date, Insurer Endorsement Ref., Description, Additional / Other Instructions – from the request</a:t>
                      </a:r>
                    </a:p>
                    <a:p>
                      <a:r>
                        <a:rPr sz="900" b="0">
                          <a:solidFill>
                            <a:srgbClr val="4B4B4B"/>
                          </a:solidFill>
                          <a:latin typeface="Arial"/>
                        </a:rPr>
                        <a:t>Policy: Assured, Insurer, Co-insurer/s, Policy No., Risk Code, Risk Description, Period of Cover, Marketing AO, Market Segment, Total Sum Insured, Sum Insured Change, Premium Rate (%), Approved by – from the invoice and the request</a:t>
                      </a:r>
                    </a:p>
                    <a:p>
                      <a:r>
                        <a:rPr sz="900" b="0">
                          <a:solidFill>
                            <a:srgbClr val="4B4B4B"/>
                          </a:solidFill>
                          <a:latin typeface="Arial"/>
                        </a:rPr>
                        <a:t>Collection and remittance: Payment Status, Amount Paid, Remaining AR, Remittance Status – from the Operations ledger</a:t>
                      </a:r>
                    </a:p>
                  </a:txBody>
                  <a:tcPr marL="54864" marR="54864" marT="27432" marB="27432">
                    <a:solidFill>
                      <a:srgbClr val="FFFFFF"/>
                    </a:solidFill>
                  </a:tcPr>
                </a:tc>
              </a:tr>
            </a:tbl>
          </a:graphicData>
        </a:graphic>
      </p:graphicFrame>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Validation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649</a:t>
            </a:r>
          </a:p>
        </p:txBody>
      </p:sp>
      <p:pic>
        <p:nvPicPr>
          <p:cNvPr id="9" name="Picture 8" descr="doc-valid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VALIDATION_SLIP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Endorsement Request › Documents, once the request is validated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Statement of the validation: request, invoice, validation date and stage – from the request</a:t>
                      </a:r>
                    </a:p>
                    <a:p>
                      <a:r>
                        <a:rPr sz="900" b="0">
                          <a:solidFill>
                            <a:srgbClr val="4B4B4B"/>
                          </a:solidFill>
                          <a:latin typeface="Arial"/>
                        </a:rPr>
                        <a:t>Request: the same fields as the endorsement slip – from the request</a:t>
                      </a:r>
                    </a:p>
                    <a:p>
                      <a:r>
                        <a:rPr sz="900" b="0">
                          <a:solidFill>
                            <a:srgbClr val="4B4B4B"/>
                          </a:solidFill>
                          <a:latin typeface="Arial"/>
                        </a:rPr>
                        <a:t>Validation: Status, Validated by, Validation Date, Approved by, Validation Batch No., Endorsement No., Invoice Booked, Service Invoices, AR Insurer – from the request and its posting</a:t>
                      </a:r>
                    </a:p>
                    <a:p>
                      <a:r>
                        <a:rPr sz="900" b="0">
                          <a:solidFill>
                            <a:srgbClr val="4B4B4B"/>
                          </a:solidFill>
                          <a:latin typeface="Arial"/>
                        </a:rPr>
                        <a:t>Before and after per premium component and commission (Before, Change, After) – from the recompute</a:t>
                      </a:r>
                    </a:p>
                  </a:txBody>
                  <a:tcPr marL="54864" marR="54864" marT="27432" marB="27432">
                    <a:solidFill>
                      <a:srgbClr val="FFFFFF"/>
                    </a:solidFill>
                  </a:tcPr>
                </a:tc>
              </a:tr>
            </a:tbl>
          </a:graphicData>
        </a:graphic>
      </p:graphicFrame>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DO-07 Production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650</a:t>
            </a:r>
          </a:p>
        </p:txBody>
      </p:sp>
      <p:pic>
        <p:nvPicPr>
          <p:cNvPr id="9" name="Picture 8" descr="doc-production-register.png"/>
          <p:cNvPicPr>
            <a:picLocks noChangeAspect="1"/>
          </p:cNvPicPr>
          <p:nvPr/>
        </p:nvPicPr>
        <p:blipFill>
          <a:blip r:embed="rId3"/>
          <a:stretch>
            <a:fillRect/>
          </a:stretch>
        </p:blipFill>
        <p:spPr>
          <a:xfrm>
            <a:off x="548640" y="1261872"/>
            <a:ext cx="5669280" cy="724281"/>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register layout); cover letter from the production register template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one per extract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Production Extracts › Download, Send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invoice of the booking period: Month of Production, Insurer, Invoice Number, Booking Date, Inception Date, Expiry Date, Policy No., Endorsement No., PN No., Assured Name, Risk Type, Basic Premium, Gross Commission, A/R Client, Gross Premium, Booked VAT, Amount Paid, Date Paid, AR / OR Number, Adjustment Type, Remittance Status, Incentive, Remarks – from the Operations ledger</a:t>
                      </a:r>
                    </a:p>
                    <a:p>
                      <a:r>
                        <a:rPr sz="900" b="0">
                          <a:solidFill>
                            <a:srgbClr val="4B4B4B"/>
                          </a:solidFill>
                          <a:latin typeface="Arial"/>
                        </a:rPr>
                        <a:t>The image shows a selection of the columns</a:t>
                      </a:r>
                    </a:p>
                  </a:txBody>
                  <a:tcPr marL="54864" marR="54864" marT="27432" marB="27432">
                    <a:solidFill>
                      <a:srgbClr val="FFFFFF"/>
                    </a:solidFill>
                  </a:tcPr>
                </a:tc>
              </a:tr>
            </a:tbl>
          </a:graphicData>
        </a:graphic>
      </p:graphicFrame>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DO-08 Direct payment commission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651</a:t>
            </a:r>
          </a:p>
        </p:txBody>
      </p:sp>
      <p:pic>
        <p:nvPicPr>
          <p:cNvPr id="9" name="Picture 8" descr="doc-dp-billing.png"/>
          <p:cNvPicPr>
            <a:picLocks noChangeAspect="1"/>
          </p:cNvPicPr>
          <p:nvPr/>
        </p:nvPicPr>
        <p:blipFill>
          <a:blip r:embed="rId3"/>
          <a:stretch>
            <a:fillRect/>
          </a:stretch>
        </p:blipFill>
        <p:spPr>
          <a:xfrm>
            <a:off x="548640" y="1261872"/>
            <a:ext cx="5669280" cy="454451"/>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billing layout)</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one per billing, with a Decision column for the insurer's answer</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DP Billing › Download, Send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direct payment account: Billing No., Invoice No., Policy No., Assured Name, Premium, Commission, VAT, Withholding Tax, Net Commission – from the billing</a:t>
                      </a:r>
                    </a:p>
                    <a:p>
                      <a:r>
                        <a:rPr sz="900" b="0">
                          <a:solidFill>
                            <a:srgbClr val="4B4B4B"/>
                          </a:solidFill>
                          <a:latin typeface="Arial"/>
                        </a:rPr>
                        <a:t>Decision, Reason and Comment columns completed by the insurer (Approved or Rejected) and read back on Insurer Responses</a:t>
                      </a:r>
                    </a:p>
                  </a:txBody>
                  <a:tcPr marL="54864" marR="54864" marT="27432" marB="27432">
                    <a:solidFill>
                      <a:srgbClr val="FFFFFF"/>
                    </a:solidFill>
                  </a:tcPr>
                </a:tc>
              </a:tr>
            </a:tbl>
          </a:graphicData>
        </a:graphic>
      </p:graphicFrame>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652</a:t>
            </a:r>
          </a:p>
        </p:txBody>
      </p:sp>
      <p:graphicFrame>
        <p:nvGraphicFramePr>
          <p:cNvPr id="9" name="Table 8"/>
          <p:cNvGraphicFramePr>
            <a:graphicFrameLocks noGrp="1"/>
          </p:cNvGraphicFramePr>
          <p:nvPr/>
        </p:nvGraphicFramePr>
        <p:xfrm>
          <a:off x="548640" y="1325880"/>
          <a:ext cx="11094413" cy="4892010"/>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Operations record moves to another stage by a workflow action (return, hold, release, send back, acknowledge, reject and the other actions of the workflow header)</a:t>
                      </a:r>
                    </a:p>
                  </a:txBody>
                  <a:tcPr marL="54864" marR="54864" marT="27432" marB="27432">
                    <a:solidFill>
                      <a:srgbClr val="FFFFFF"/>
                    </a:solidFill>
                  </a:tcPr>
                </a:tc>
                <a:tc>
                  <a:txBody>
                    <a:bodyPr/>
                    <a:lstStyle/>
                    <a:p>
                      <a:r>
                        <a:rPr sz="850" b="0">
                          <a:solidFill>
                            <a:srgbClr val="4B4B4B"/>
                          </a:solidFill>
                          <a:latin typeface="Arial"/>
                        </a:rPr>
                        <a:t>The creator of the record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&lt;record description&gt; - &lt;comment&gt;</a:t>
                      </a:r>
                    </a:p>
                  </a:txBody>
                  <a:tcPr marL="54864" marR="54864" marT="27432" marB="27432">
                    <a:solidFill>
                      <a:srgbClr val="FFFFFF"/>
                    </a:solidFill>
                  </a:tcPr>
                </a:tc>
              </a:tr>
              <a:tr h="480057">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Work is handed over to a team because the module that would do it is not active (an official receipt to issue, an unapplied item to set up)</a:t>
                      </a:r>
                    </a:p>
                  </a:txBody>
                  <a:tcPr marL="54864" marR="54864" marT="27432" marB="27432">
                    <a:solidFill>
                      <a:srgbClr val="E5F5FF"/>
                    </a:solidFill>
                  </a:tcPr>
                </a:tc>
                <a:tc>
                  <a:txBody>
                    <a:bodyPr/>
                    <a:lstStyle/>
                    <a:p>
                      <a:r>
                        <a:rPr sz="850" b="0">
                          <a:solidFill>
                            <a:srgbClr val="4B4B4B"/>
                          </a:solidFill>
                          <a:latin typeface="Arial"/>
                        </a:rPr>
                        <a:t>The users holding the permission of the team named in the hand-off</a:t>
                      </a:r>
                    </a:p>
                  </a:txBody>
                  <a:tcPr marL="54864" marR="54864" marT="27432" marB="27432">
                    <a:solidFill>
                      <a:srgbClr val="E5F5FF"/>
                    </a:solidFill>
                  </a:tcPr>
                </a:tc>
                <a:tc>
                  <a:txBody>
                    <a:bodyPr/>
                    <a:lstStyle/>
                    <a:p>
                      <a:r>
                        <a:rPr sz="850" b="0">
                          <a:solidFill>
                            <a:srgbClr val="4B4B4B"/>
                          </a:solidFill>
                          <a:latin typeface="Arial"/>
                        </a:rPr>
                        <a:t>Title: Work handed over: &lt;work&gt;. Text: &lt;what to do&gt;</a:t>
                      </a:r>
                    </a:p>
                  </a:txBody>
                  <a:tcPr marL="54864" marR="54864" marT="27432" marB="27432">
                    <a:solidFill>
                      <a:srgbClr val="E5F5FF"/>
                    </a:solidFill>
                  </a:tcPr>
                </a:tc>
              </a:tr>
              <a:tr h="609596">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Operations team sends a payment request to the Disbursement queue (remittance batch approved, refund approved, BIR 2307 batch routed, incentive pass-on posted)</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Title: Payment request &lt;request no&gt;. Text: &lt;type&gt;, &lt;payee&gt;, &lt;amount&gt;</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Disbursement acknowledges a payment request, assigns its DV number, pays it or returns it; a DV cancelled sends the batch back to review</a:t>
                      </a:r>
                    </a:p>
                  </a:txBody>
                  <a:tcPr marL="54864" marR="54864" marT="27432" marB="27432">
                    <a:solidFill>
                      <a:srgbClr val="E5F5FF"/>
                    </a:solidFill>
                  </a:tcPr>
                </a:tc>
                <a:tc>
                  <a:txBody>
                    <a:bodyPr/>
                    <a:lstStyle/>
                    <a:p>
                      <a:r>
                        <a:rPr sz="850" b="0">
                          <a:solidFill>
                            <a:srgbClr val="4B4B4B"/>
                          </a:solidFill>
                          <a:latin typeface="Arial"/>
                        </a:rPr>
                        <a:t>The user who sent the request and the Remittance Processors of the batch (event Disbursement status)</a:t>
                      </a:r>
                    </a:p>
                  </a:txBody>
                  <a:tcPr marL="54864" marR="54864" marT="27432" marB="27432">
                    <a:solidFill>
                      <a:srgbClr val="E5F5FF"/>
                    </a:solidFill>
                  </a:tcPr>
                </a:tc>
                <a:tc>
                  <a:txBody>
                    <a:bodyPr/>
                    <a:lstStyle/>
                    <a:p>
                      <a:r>
                        <a:rPr sz="850" b="0">
                          <a:solidFill>
                            <a:srgbClr val="4B4B4B"/>
                          </a:solidFill>
                          <a:latin typeface="Arial"/>
                        </a:rPr>
                        <a:t>Title: Payment request &lt;request no&gt; &lt;status&gt;; Payment request of &lt;batch&gt; returned; DV of &lt;batch&gt; cancelled - batch back to review</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 alert</a:t>
                      </a:r>
                    </a:p>
                  </a:txBody>
                  <a:tcPr marL="54864" marR="54864" marT="27432" marB="27432">
                    <a:solidFill>
                      <a:srgbClr val="FFFFFF"/>
                    </a:solidFill>
                  </a:tcPr>
                </a:tc>
                <a:tc>
                  <a:txBody>
                    <a:bodyPr/>
                    <a:lstStyle/>
                    <a:p>
                      <a:r>
                        <a:rPr sz="850" b="0">
                          <a:solidFill>
                            <a:srgbClr val="4B4B4B"/>
                          </a:solidFill>
                          <a:latin typeface="Arial"/>
                        </a:rPr>
                        <a:t>An interface run fails or has failed records</a:t>
                      </a:r>
                    </a:p>
                  </a:txBody>
                  <a:tcPr marL="54864" marR="54864" marT="27432" marB="27432">
                    <a:solidFill>
                      <a:srgbClr val="FFFFFF"/>
                    </a:solidFill>
                  </a:tcPr>
                </a:tc>
                <a:tc>
                  <a:txBody>
                    <a:bodyPr/>
                    <a:lstStyle/>
                    <a:p>
                      <a:r>
                        <a:rPr sz="850" b="0">
                          <a:solidFill>
                            <a:srgbClr val="4B4B4B"/>
                          </a:solidFill>
                          <a:latin typeface="Arial"/>
                        </a:rPr>
                        <a:t>The System Administrator (users who manage the interfaces)</a:t>
                      </a:r>
                    </a:p>
                  </a:txBody>
                  <a:tcPr marL="54864" marR="54864" marT="27432" marB="27432">
                    <a:solidFill>
                      <a:srgbClr val="FFFFFF"/>
                    </a:solidFill>
                  </a:tcPr>
                </a:tc>
                <a:tc>
                  <a:txBody>
                    <a:bodyPr/>
                    <a:lstStyle/>
                    <a:p>
                      <a:r>
                        <a:rPr sz="850" b="0">
                          <a:solidFill>
                            <a:srgbClr val="4B4B4B"/>
                          </a:solidFill>
                          <a:latin typeface="Arial"/>
                        </a:rPr>
                        <a:t>Title: Interface run &lt;status&gt;. Text: &lt;run no&gt; of &lt;feed&gt;: &lt;counts&gt;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receipt series reaches its warning level of numbers left</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&lt;kind&gt; series &lt;prefix&gt; has &lt;n&gt; numbers left</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receipt cancellation or reinstatement, a disposition or a payment reversal waits for approval</a:t>
                      </a:r>
                    </a:p>
                  </a:txBody>
                  <a:tcPr marL="54864" marR="54864" marT="27432" marB="27432">
                    <a:solidFill>
                      <a:srgbClr val="FFFFFF"/>
                    </a:solidFill>
                  </a:tcPr>
                </a:tc>
                <a:tc>
                  <a:txBody>
                    <a:bodyPr/>
                    <a:lstStyle/>
                    <a:p>
                      <a:r>
                        <a:rPr sz="850" b="0">
                          <a:solidFill>
                            <a:srgbClr val="4B4B4B"/>
                          </a:solidFill>
                          <a:latin typeface="Arial"/>
                        </a:rPr>
                        <a:t>Cashiering Team Leaders (event Cashiering approval request)</a:t>
                      </a:r>
                    </a:p>
                  </a:txBody>
                  <a:tcPr marL="54864" marR="54864" marT="27432" marB="27432">
                    <a:solidFill>
                      <a:srgbClr val="FFFFFF"/>
                    </a:solidFill>
                  </a:tcPr>
                </a:tc>
                <a:tc>
                  <a:txBody>
                    <a:bodyPr/>
                    <a:lstStyle/>
                    <a:p>
                      <a:r>
                        <a:rPr sz="850" b="0">
                          <a:solidFill>
                            <a:srgbClr val="4B4B4B"/>
                          </a:solidFill>
                          <a:latin typeface="Arial"/>
                        </a:rPr>
                        <a:t>Title: &lt;transaction no&gt; for approval / &lt;reference&gt; disposition for approval / &lt;request no&gt;: payment reversal for approval. Text: the action, the reason or the type and amount</a:t>
                      </a:r>
                    </a:p>
                  </a:txBody>
                  <a:tcPr marL="54864" marR="54864" marT="27432" marB="27432">
                    <a:solidFill>
                      <a:srgbClr val="FFFFFF"/>
                    </a:solidFill>
                  </a:tcPr>
                </a:tc>
              </a:tr>
              <a:tr h="480057">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Collections asks Cashiering to dispose of an unapplied payment, or Payment Requests asks for a refund validation</a:t>
                      </a:r>
                    </a:p>
                  </a:txBody>
                  <a:tcPr marL="54864" marR="54864" marT="27432" marB="27432">
                    <a:solidFill>
                      <a:srgbClr val="E5F5FF"/>
                    </a:solidFill>
                  </a:tcPr>
                </a:tc>
                <a:tc>
                  <a:txBody>
                    <a:bodyPr/>
                    <a:lstStyle/>
                    <a:p>
                      <a:r>
                        <a:rPr sz="850" b="0">
                          <a:solidFill>
                            <a:srgbClr val="4B4B4B"/>
                          </a:solidFill>
                          <a:latin typeface="Arial"/>
                        </a:rPr>
                        <a:t>Cashiers</a:t>
                      </a:r>
                    </a:p>
                  </a:txBody>
                  <a:tcPr marL="54864" marR="54864" marT="27432" marB="27432">
                    <a:solidFill>
                      <a:srgbClr val="E5F5FF"/>
                    </a:solidFill>
                  </a:tcPr>
                </a:tc>
                <a:tc>
                  <a:txBody>
                    <a:bodyPr/>
                    <a:lstStyle/>
                    <a:p>
                      <a:r>
                        <a:rPr sz="850" b="0">
                          <a:solidFill>
                            <a:srgbClr val="4B4B4B"/>
                          </a:solidFill>
                          <a:latin typeface="Arial"/>
                        </a:rPr>
                        <a:t>Title: &lt;request no&gt;: &lt;action&gt; requested by a collector / &lt;task no&gt;: refund validation requested. Text: the unapplied item and the invoice, or: Confirm that the premium of &lt;invoice&gt; is back in the unapplied list</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pre-booked payment waits for the booking of its account beyond the ageing threshold</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Payment for &lt;ARN&gt; waits for the booking since &lt;date&gt;</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In-app, e-mail, alert</a:t>
                      </a:r>
                    </a:p>
                  </a:txBody>
                  <a:tcPr marL="54864" marR="54864" marT="27432" marB="27432">
                    <a:solidFill>
                      <a:srgbClr val="E5F5FF"/>
                    </a:solidFill>
                  </a:tcPr>
                </a:tc>
                <a:tc>
                  <a:txBody>
                    <a:bodyPr/>
                    <a:lstStyle/>
                    <a:p>
                      <a:r>
                        <a:rPr sz="850" b="0">
                          <a:solidFill>
                            <a:srgbClr val="4B4B4B"/>
                          </a:solidFill>
                          <a:latin typeface="Arial"/>
                        </a:rPr>
                        <a:t>A scheduled or manual remittance extraction finishes or fails; a paid AR above the DTIP balance is found</a:t>
                      </a:r>
                    </a:p>
                  </a:txBody>
                  <a:tcPr marL="54864" marR="54864" marT="27432" marB="27432">
                    <a:solidFill>
                      <a:srgbClr val="E5F5FF"/>
                    </a:solidFill>
                  </a:tcPr>
                </a:tc>
                <a:tc>
                  <a:txBody>
                    <a:bodyPr/>
                    <a:lstStyle/>
                    <a:p>
                      <a:r>
                        <a:rPr sz="850" b="0">
                          <a:solidFill>
                            <a:srgbClr val="4B4B4B"/>
                          </a:solidFill>
                          <a:latin typeface="Arial"/>
                        </a:rPr>
                        <a:t>Remittance Processors (event Remittance extraction completed); the alert to the Remittance Team Leader</a:t>
                      </a:r>
                    </a:p>
                  </a:txBody>
                  <a:tcPr marL="54864" marR="54864" marT="27432" marB="27432">
                    <a:solidFill>
                      <a:srgbClr val="E5F5FF"/>
                    </a:solidFill>
                  </a:tcPr>
                </a:tc>
                <a:tc>
                  <a:txBody>
                    <a:bodyPr/>
                    <a:lstStyle/>
                    <a:p>
                      <a:r>
                        <a:rPr sz="850" b="0">
                          <a:solidFill>
                            <a:srgbClr val="4B4B4B"/>
                          </a:solidFill>
                          <a:latin typeface="Arial"/>
                        </a:rPr>
                        <a:t>Title: Remittance extraction &lt;run no&gt; / Remittance extraction &lt;run no&gt; failed. Text: &lt;summary of the run&gt;; alert: Paid AR of &lt;invoice&gt; is above its DTIP balance</a:t>
                      </a:r>
                    </a:p>
                  </a:txBody>
                  <a:tcPr marL="54864" marR="54864" marT="27432" marB="27432">
                    <a:solidFill>
                      <a:srgbClr val="E5F5FF"/>
                    </a:solidFill>
                  </a:tcPr>
                </a:tc>
              </a:tr>
            </a:tbl>
          </a:graphicData>
        </a:graphic>
      </p:graphicFrame>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653</a:t>
            </a:r>
          </a:p>
        </p:txBody>
      </p:sp>
      <p:graphicFrame>
        <p:nvGraphicFramePr>
          <p:cNvPr id="9" name="Table 8"/>
          <p:cNvGraphicFramePr>
            <a:graphicFrameLocks noGrp="1"/>
          </p:cNvGraphicFramePr>
          <p:nvPr/>
        </p:nvGraphicFramePr>
        <p:xfrm>
          <a:off x="548640" y="1325880"/>
          <a:ext cx="11094413" cy="4853911"/>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remittance batch or a special remittance is submitted for approval</a:t>
                      </a:r>
                    </a:p>
                  </a:txBody>
                  <a:tcPr marL="54864" marR="54864" marT="27432" marB="27432">
                    <a:solidFill>
                      <a:srgbClr val="FFFFFF"/>
                    </a:solidFill>
                  </a:tcPr>
                </a:tc>
                <a:tc>
                  <a:txBody>
                    <a:bodyPr/>
                    <a:lstStyle/>
                    <a:p>
                      <a:r>
                        <a:rPr sz="850" b="0">
                          <a:solidFill>
                            <a:srgbClr val="4B4B4B"/>
                          </a:solidFill>
                          <a:latin typeface="Arial"/>
                        </a:rPr>
                        <a:t>Remittance Team Leaders (event Remittance batch for approval)</a:t>
                      </a:r>
                    </a:p>
                  </a:txBody>
                  <a:tcPr marL="54864" marR="54864" marT="27432" marB="27432">
                    <a:solidFill>
                      <a:srgbClr val="FFFFFF"/>
                    </a:solidFill>
                  </a:tcPr>
                </a:tc>
                <a:tc>
                  <a:txBody>
                    <a:bodyPr/>
                    <a:lstStyle/>
                    <a:p>
                      <a:r>
                        <a:rPr sz="850" b="0">
                          <a:solidFill>
                            <a:srgbClr val="4B4B4B"/>
                          </a:solidFill>
                          <a:latin typeface="Arial"/>
                        </a:rPr>
                        <a:t>Title: Batch &lt;batch no&gt; for approval / Special remittance &lt;request no&gt; for approval</a:t>
                      </a:r>
                    </a:p>
                  </a:txBody>
                  <a:tcPr marL="54864" marR="54864" marT="27432" marB="27432">
                    <a:solidFill>
                      <a:srgbClr val="FFFFFF"/>
                    </a:solidFill>
                  </a:tcPr>
                </a:tc>
              </a:tr>
              <a:tr h="350518">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remittance batch is approved or returned</a:t>
                      </a:r>
                    </a:p>
                  </a:txBody>
                  <a:tcPr marL="54864" marR="54864" marT="27432" marB="27432">
                    <a:solidFill>
                      <a:srgbClr val="E5F5FF"/>
                    </a:solidFill>
                  </a:tcPr>
                </a:tc>
                <a:tc>
                  <a:txBody>
                    <a:bodyPr/>
                    <a:lstStyle/>
                    <a:p>
                      <a:r>
                        <a:rPr sz="850" b="0">
                          <a:solidFill>
                            <a:srgbClr val="4B4B4B"/>
                          </a:solidFill>
                          <a:latin typeface="Arial"/>
                        </a:rPr>
                        <a:t>The processor of the batch (event Remittance batch approved or returned)</a:t>
                      </a:r>
                    </a:p>
                  </a:txBody>
                  <a:tcPr marL="54864" marR="54864" marT="27432" marB="27432">
                    <a:solidFill>
                      <a:srgbClr val="E5F5FF"/>
                    </a:solidFill>
                  </a:tcPr>
                </a:tc>
                <a:tc>
                  <a:txBody>
                    <a:bodyPr/>
                    <a:lstStyle/>
                    <a:p>
                      <a:r>
                        <a:rPr sz="850" b="0">
                          <a:solidFill>
                            <a:srgbClr val="4B4B4B"/>
                          </a:solidFill>
                          <a:latin typeface="Arial"/>
                        </a:rPr>
                        <a:t>Title: Batch &lt;batch no&gt; approved / Batch &lt;batch no&gt; returned</a:t>
                      </a:r>
                    </a:p>
                  </a:txBody>
                  <a:tcPr marL="54864" marR="54864" marT="27432" marB="27432">
                    <a:solidFill>
                      <a:srgbClr val="E5F5FF"/>
                    </a:solidFill>
                  </a:tcPr>
                </a:tc>
              </a:tr>
              <a:tr h="350518">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An endorsement request that reduces an invoice is submitted (pending negative adjustment)</a:t>
                      </a:r>
                    </a:p>
                  </a:txBody>
                  <a:tcPr marL="54864" marR="54864" marT="27432" marB="27432">
                    <a:solidFill>
                      <a:srgbClr val="FFFFFF"/>
                    </a:solidFill>
                  </a:tcPr>
                </a:tc>
                <a:tc>
                  <a:txBody>
                    <a:bodyPr/>
                    <a:lstStyle/>
                    <a:p>
                      <a:r>
                        <a:rPr sz="850" b="0">
                          <a:solidFill>
                            <a:srgbClr val="4B4B4B"/>
                          </a:solidFill>
                          <a:latin typeface="Arial"/>
                        </a:rPr>
                        <a:t>Remittance Processors (event Negative adjustment on a remittance invoice)</a:t>
                      </a:r>
                    </a:p>
                  </a:txBody>
                  <a:tcPr marL="54864" marR="54864" marT="27432" marB="27432">
                    <a:solidFill>
                      <a:srgbClr val="FFFFFF"/>
                    </a:solidFill>
                  </a:tcPr>
                </a:tc>
                <a:tc>
                  <a:txBody>
                    <a:bodyPr/>
                    <a:lstStyle/>
                    <a:p>
                      <a:r>
                        <a:rPr sz="850" b="0">
                          <a:solidFill>
                            <a:srgbClr val="4B4B4B"/>
                          </a:solidFill>
                          <a:latin typeface="Arial"/>
                        </a:rPr>
                        <a:t>Title: Negative adjustment pending on &lt;invoice&gt;. Text: Request &lt;request no&gt; by &lt;user&gt;; invoice is in batch &lt;batch&gt;</a:t>
                      </a:r>
                    </a:p>
                  </a:txBody>
                  <a:tcPr marL="54864" marR="54864" marT="27432" marB="27432">
                    <a:solidFill>
                      <a:srgbClr val="FFFFFF"/>
                    </a:solidFill>
                  </a:tcPr>
                </a:tc>
              </a:tr>
              <a:tr h="609596">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hold, its extension or its cancellation is submitted, decided, assigned, released, or expires the next day</a:t>
                      </a:r>
                    </a:p>
                  </a:txBody>
                  <a:tcPr marL="54864" marR="54864" marT="27432" marB="27432">
                    <a:solidFill>
                      <a:srgbClr val="E5F5FF"/>
                    </a:solidFill>
                  </a:tcPr>
                </a:tc>
                <a:tc>
                  <a:txBody>
                    <a:bodyPr/>
                    <a:lstStyle/>
                    <a:p>
                      <a:r>
                        <a:rPr sz="850" b="0">
                          <a:solidFill>
                            <a:srgbClr val="4B4B4B"/>
                          </a:solidFill>
                          <a:latin typeface="Arial"/>
                        </a:rPr>
                        <a:t>Marketing Team Leaders for approval; the requester and the processor for the decision, release and expiry (event Remittance hold expiring)</a:t>
                      </a:r>
                    </a:p>
                  </a:txBody>
                  <a:tcPr marL="54864" marR="54864" marT="27432" marB="27432">
                    <a:solidFill>
                      <a:srgbClr val="E5F5FF"/>
                    </a:solidFill>
                  </a:tcPr>
                </a:tc>
                <a:tc>
                  <a:txBody>
                    <a:bodyPr/>
                    <a:lstStyle/>
                    <a:p>
                      <a:r>
                        <a:rPr sz="850" b="0">
                          <a:solidFill>
                            <a:srgbClr val="4B4B4B"/>
                          </a:solidFill>
                          <a:latin typeface="Arial"/>
                        </a:rPr>
                        <a:t>Title: Hold &lt;request no&gt; for approval / extension for approval / cancellation for approval / released / assigned to you / expires on &lt;date&gt;</a:t>
                      </a:r>
                    </a:p>
                  </a:txBody>
                  <a:tcPr marL="54864" marR="54864" marT="27432" marB="27432">
                    <a:solidFill>
                      <a:srgbClr val="E5F5FF"/>
                    </a:solidFill>
                  </a:tcPr>
                </a:tc>
              </a:tr>
              <a:tr h="350518">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special remittance is submitted, decided or remitted in its special batch</a:t>
                      </a:r>
                    </a:p>
                  </a:txBody>
                  <a:tcPr marL="54864" marR="54864" marT="27432" marB="27432">
                    <a:solidFill>
                      <a:srgbClr val="FFFFFF"/>
                    </a:solidFill>
                  </a:tcPr>
                </a:tc>
                <a:tc>
                  <a:txBody>
                    <a:bodyPr/>
                    <a:lstStyle/>
                    <a:p>
                      <a:r>
                        <a:rPr sz="850" b="0">
                          <a:solidFill>
                            <a:srgbClr val="4B4B4B"/>
                          </a:solidFill>
                          <a:latin typeface="Arial"/>
                        </a:rPr>
                        <a:t>Remittance Team Leaders for approval; the requester on each change of status</a:t>
                      </a:r>
                    </a:p>
                  </a:txBody>
                  <a:tcPr marL="54864" marR="54864" marT="27432" marB="27432">
                    <a:solidFill>
                      <a:srgbClr val="FFFFFF"/>
                    </a:solidFill>
                  </a:tcPr>
                </a:tc>
                <a:tc>
                  <a:txBody>
                    <a:bodyPr/>
                    <a:lstStyle/>
                    <a:p>
                      <a:r>
                        <a:rPr sz="850" b="0">
                          <a:solidFill>
                            <a:srgbClr val="4B4B4B"/>
                          </a:solidFill>
                          <a:latin typeface="Arial"/>
                        </a:rPr>
                        <a:t>Title: Special remittance &lt;request no&gt; for approval / Special remittance batch &lt;batch no&gt;. Text: &lt;invoice&gt; - &lt;assured&gt; (&lt;condition&gt;)</a:t>
                      </a:r>
                    </a:p>
                  </a:txBody>
                  <a:tcPr marL="54864" marR="54864" marT="27432" marB="27432">
                    <a:solidFill>
                      <a:srgbClr val="FFFFFF"/>
                    </a:solidFill>
                  </a:tcPr>
                </a:tc>
              </a:tr>
              <a:tr h="480057">
                <a:tc>
                  <a:txBody>
                    <a:bodyPr/>
                    <a:lstStyle/>
                    <a:p>
                      <a:r>
                        <a:rPr sz="850" b="0">
                          <a:solidFill>
                            <a:srgbClr val="4B4B4B"/>
                          </a:solidFill>
                          <a:latin typeface="Arial"/>
                        </a:rPr>
                        <a:t>NT-16</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An endorsement request moves to the next stage, is returned, posted or cancelled</a:t>
                      </a:r>
                    </a:p>
                  </a:txBody>
                  <a:tcPr marL="54864" marR="54864" marT="27432" marB="27432">
                    <a:solidFill>
                      <a:srgbClr val="E5F5FF"/>
                    </a:solidFill>
                  </a:tcPr>
                </a:tc>
                <a:tc>
                  <a:txBody>
                    <a:bodyPr/>
                    <a:lstStyle/>
                    <a:p>
                      <a:r>
                        <a:rPr sz="850" b="0">
                          <a:solidFill>
                            <a:srgbClr val="4B4B4B"/>
                          </a:solidFill>
                          <a:latin typeface="Arial"/>
                        </a:rPr>
                        <a:t>The team of the next stage; the requester on return, posting and cancellation (event Endorsement request status)</a:t>
                      </a:r>
                    </a:p>
                  </a:txBody>
                  <a:tcPr marL="54864" marR="54864" marT="27432" marB="27432">
                    <a:solidFill>
                      <a:srgbClr val="E5F5FF"/>
                    </a:solidFill>
                  </a:tcPr>
                </a:tc>
                <a:tc>
                  <a:txBody>
                    <a:bodyPr/>
                    <a:lstStyle/>
                    <a:p>
                      <a:r>
                        <a:rPr sz="850" b="0">
                          <a:solidFill>
                            <a:srgbClr val="4B4B4B"/>
                          </a:solidFill>
                          <a:latin typeface="Arial"/>
                        </a:rPr>
                        <a:t>Title: Endorsement request &lt;request no&gt; &lt;what happened&gt;. Text: &lt;invoice&gt; - &lt;type&gt;: &lt;description&gt;</a:t>
                      </a:r>
                    </a:p>
                  </a:txBody>
                  <a:tcPr marL="54864" marR="54864" marT="27432" marB="27432">
                    <a:solidFill>
                      <a:srgbClr val="E5F5FF"/>
                    </a:solidFill>
                  </a:tcPr>
                </a:tc>
              </a:tr>
              <a:tr h="609596">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request takes the cumulative adjustments of an invoice above the baseline of its original premium; the adjustments of an invoice exceed its original premium or DTIP in the ledger</a:t>
                      </a:r>
                    </a:p>
                  </a:txBody>
                  <a:tcPr marL="54864" marR="54864" marT="27432" marB="27432">
                    <a:solidFill>
                      <a:srgbClr val="FFFFFF"/>
                    </a:solidFill>
                  </a:tcPr>
                </a:tc>
                <a:tc>
                  <a:txBody>
                    <a:bodyPr/>
                    <a:lstStyle/>
                    <a:p>
                      <a:r>
                        <a:rPr sz="850" b="0">
                          <a:solidFill>
                            <a:srgbClr val="4B4B4B"/>
                          </a:solidFill>
                          <a:latin typeface="Arial"/>
                        </a:rPr>
                        <a:t>Adjustment Team Leader</a:t>
                      </a:r>
                    </a:p>
                  </a:txBody>
                  <a:tcPr marL="54864" marR="54864" marT="27432" marB="27432">
                    <a:solidFill>
                      <a:srgbClr val="FFFFFF"/>
                    </a:solidFill>
                  </a:tcPr>
                </a:tc>
                <a:tc>
                  <a:txBody>
                    <a:bodyPr/>
                    <a:lstStyle/>
                    <a:p>
                      <a:r>
                        <a:rPr sz="850" b="0">
                          <a:solidFill>
                            <a:srgbClr val="4B4B4B"/>
                          </a:solidFill>
                          <a:latin typeface="Arial"/>
                        </a:rPr>
                        <a:t>Request &lt;request no&gt; exceeds the adjustment baseline of &lt;percent&gt;% / Adjustments of &lt;invoice&gt; exceed its original premium or DTIP</a:t>
                      </a:r>
                    </a:p>
                  </a:txBody>
                  <a:tcPr marL="54864" marR="54864" marT="27432" marB="27432">
                    <a:solidFill>
                      <a:srgbClr val="FFFFFF"/>
                    </a:solidFill>
                  </a:tcPr>
                </a:tc>
              </a:tr>
              <a:tr h="350518">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endorsement report is produced (18:00 Philippine time) and archived</a:t>
                      </a:r>
                    </a:p>
                  </a:txBody>
                  <a:tcPr marL="54864" marR="54864" marT="27432" marB="27432">
                    <a:solidFill>
                      <a:srgbClr val="E5F5FF"/>
                    </a:solidFill>
                  </a:tcPr>
                </a:tc>
                <a:tc>
                  <a:txBody>
                    <a:bodyPr/>
                    <a:lstStyle/>
                    <a:p>
                      <a:r>
                        <a:rPr sz="850" b="0">
                          <a:solidFill>
                            <a:srgbClr val="4B4B4B"/>
                          </a:solidFill>
                          <a:latin typeface="Arial"/>
                        </a:rPr>
                        <a:t>Adjustment Team Leaders</a:t>
                      </a:r>
                    </a:p>
                  </a:txBody>
                  <a:tcPr marL="54864" marR="54864" marT="27432" marB="27432">
                    <a:solidFill>
                      <a:srgbClr val="E5F5FF"/>
                    </a:solidFill>
                  </a:tcPr>
                </a:tc>
                <a:tc>
                  <a:txBody>
                    <a:bodyPr/>
                    <a:lstStyle/>
                    <a:p>
                      <a:r>
                        <a:rPr sz="850" b="0">
                          <a:solidFill>
                            <a:srgbClr val="4B4B4B"/>
                          </a:solidFill>
                          <a:latin typeface="Arial"/>
                        </a:rPr>
                        <a:t>Title: Daily endorsement report &lt;date&gt;. Text: &lt;company&gt;: &lt;file&gt; archived</a:t>
                      </a:r>
                    </a:p>
                  </a:txBody>
                  <a:tcPr marL="54864" marR="54864" marT="27432" marB="27432">
                    <a:solidFill>
                      <a:srgbClr val="E5F5FF"/>
                    </a:solidFill>
                  </a:tcPr>
                </a:tc>
              </a:tr>
              <a:tr h="350518">
                <a:tc>
                  <a:txBody>
                    <a:bodyPr/>
                    <a:lstStyle/>
                    <a:p>
                      <a:r>
                        <a:rPr sz="850" b="0">
                          <a:solidFill>
                            <a:srgbClr val="4B4B4B"/>
                          </a:solidFill>
                          <a:latin typeface="Arial"/>
                        </a:rPr>
                        <a:t>NT-19</a:t>
                      </a:r>
                    </a:p>
                  </a:txBody>
                  <a:tcPr marL="54864" marR="54864" marT="27432" marB="27432">
                    <a:solidFill>
                      <a:srgbClr val="FFFFFF"/>
                    </a:solidFill>
                  </a:tcPr>
                </a:tc>
                <a:tc>
                  <a:txBody>
                    <a:bodyPr/>
                    <a:lstStyle/>
                    <a:p>
                      <a:r>
                        <a:rPr sz="850" b="0">
                          <a:solidFill>
                            <a:srgbClr val="4B4B4B"/>
                          </a:solidFill>
                          <a:latin typeface="Arial"/>
                        </a:rPr>
                        <a:t>In-app, e-mail, alert</a:t>
                      </a:r>
                    </a:p>
                  </a:txBody>
                  <a:tcPr marL="54864" marR="54864" marT="27432" marB="27432">
                    <a:solidFill>
                      <a:srgbClr val="FFFFFF"/>
                    </a:solidFill>
                  </a:tcPr>
                </a:tc>
                <a:tc>
                  <a:txBody>
                    <a:bodyPr/>
                    <a:lstStyle/>
                    <a:p>
                      <a:r>
                        <a:rPr sz="850" b="0">
                          <a:solidFill>
                            <a:srgbClr val="4B4B4B"/>
                          </a:solidFill>
                          <a:latin typeface="Arial"/>
                        </a:rPr>
                        <a:t>An insurer production feedback is uploaded and matched; a duplicate upload is refused</a:t>
                      </a:r>
                    </a:p>
                  </a:txBody>
                  <a:tcPr marL="54864" marR="54864" marT="27432" marB="27432">
                    <a:solidFill>
                      <a:srgbClr val="FFFFFF"/>
                    </a:solidFill>
                  </a:tcPr>
                </a:tc>
                <a:tc>
                  <a:txBody>
                    <a:bodyPr/>
                    <a:lstStyle/>
                    <a:p>
                      <a:r>
                        <a:rPr sz="850" b="0">
                          <a:solidFill>
                            <a:srgbClr val="4B4B4B"/>
                          </a:solidFill>
                          <a:latin typeface="Arial"/>
                        </a:rPr>
                        <a:t>Production Reconciliation Handlers (event Insurer reconciliation feedback)</a:t>
                      </a:r>
                    </a:p>
                  </a:txBody>
                  <a:tcPr marL="54864" marR="54864" marT="27432" marB="27432">
                    <a:solidFill>
                      <a:srgbClr val="FFFFFF"/>
                    </a:solidFill>
                  </a:tcPr>
                </a:tc>
                <a:tc>
                  <a:txBody>
                    <a:bodyPr/>
                    <a:lstStyle/>
                    <a:p>
                      <a:r>
                        <a:rPr sz="850" b="0">
                          <a:solidFill>
                            <a:srgbClr val="4B4B4B"/>
                          </a:solidFill>
                          <a:latin typeface="Arial"/>
                        </a:rPr>
                        <a:t>Title: Insurer feedback uploaded: &lt;cycle no&gt;. Text: &lt;file&gt;: &lt;message&gt;; alert: Duplicate insurer production upload refused: &lt;file&gt;</a:t>
                      </a:r>
                    </a:p>
                  </a:txBody>
                  <a:tcPr marL="54864" marR="54864" marT="27432" marB="27432">
                    <a:solidFill>
                      <a:srgbClr val="FFFFFF"/>
                    </a:solidFill>
                  </a:tcPr>
                </a:tc>
              </a:tr>
              <a:tr h="480057">
                <a:tc>
                  <a:txBody>
                    <a:bodyPr/>
                    <a:lstStyle/>
                    <a:p>
                      <a:r>
                        <a:rPr sz="850" b="0">
                          <a:solidFill>
                            <a:srgbClr val="4B4B4B"/>
                          </a:solidFill>
                          <a:latin typeface="Arial"/>
                        </a:rPr>
                        <a:t>NT-20</a:t>
                      </a:r>
                    </a:p>
                  </a:txBody>
                  <a:tcPr marL="54864" marR="54864" marT="27432" marB="27432">
                    <a:solidFill>
                      <a:srgbClr val="E5F5FF"/>
                    </a:solidFill>
                  </a:tcPr>
                </a:tc>
                <a:tc>
                  <a:txBody>
                    <a:bodyPr/>
                    <a:lstStyle/>
                    <a:p>
                      <a:r>
                        <a:rPr sz="850" b="0">
                          <a:solidFill>
                            <a:srgbClr val="4B4B4B"/>
                          </a:solidFill>
                          <a:latin typeface="Arial"/>
                        </a:rPr>
                        <a:t>In-app, e-mail, alert</a:t>
                      </a:r>
                    </a:p>
                  </a:txBody>
                  <a:tcPr marL="54864" marR="54864" marT="27432" marB="27432">
                    <a:solidFill>
                      <a:srgbClr val="E5F5FF"/>
                    </a:solidFill>
                  </a:tcPr>
                </a:tc>
                <a:tc>
                  <a:txBody>
                    <a:bodyPr/>
                    <a:lstStyle/>
                    <a:p>
                      <a:r>
                        <a:rPr sz="850" b="0">
                          <a:solidFill>
                            <a:srgbClr val="4B4B4B"/>
                          </a:solidFill>
                          <a:latin typeface="Arial"/>
                        </a:rPr>
                        <a:t>The daily feedback job finds a DP billing whose insurer answer is overdue (ten working days)</a:t>
                      </a:r>
                    </a:p>
                  </a:txBody>
                  <a:tcPr marL="54864" marR="54864" marT="27432" marB="27432">
                    <a:solidFill>
                      <a:srgbClr val="E5F5FF"/>
                    </a:solidFill>
                  </a:tcPr>
                </a:tc>
                <a:tc>
                  <a:txBody>
                    <a:bodyPr/>
                    <a:lstStyle/>
                    <a:p>
                      <a:r>
                        <a:rPr sz="850" b="0">
                          <a:solidFill>
                            <a:srgbClr val="4B4B4B"/>
                          </a:solidFill>
                          <a:latin typeface="Arial"/>
                        </a:rPr>
                        <a:t>The handler of the billing and the Commission Receivables Team Leaders (event Direct payment feedback overdue)</a:t>
                      </a:r>
                    </a:p>
                  </a:txBody>
                  <a:tcPr marL="54864" marR="54864" marT="27432" marB="27432">
                    <a:solidFill>
                      <a:srgbClr val="E5F5FF"/>
                    </a:solidFill>
                  </a:tcPr>
                </a:tc>
                <a:tc>
                  <a:txBody>
                    <a:bodyPr/>
                    <a:lstStyle/>
                    <a:p>
                      <a:r>
                        <a:rPr sz="850" b="0">
                          <a:solidFill>
                            <a:srgbClr val="4B4B4B"/>
                          </a:solidFill>
                          <a:latin typeface="Arial"/>
                        </a:rPr>
                        <a:t>Title: Insurer feedback overdue: &lt;billing no&gt;</a:t>
                      </a:r>
                    </a:p>
                  </a:txBody>
                  <a:tcPr marL="54864" marR="54864" marT="27432" marB="27432">
                    <a:solidFill>
                      <a:srgbClr val="E5F5FF"/>
                    </a:solidFill>
                  </a:tcPr>
                </a:tc>
              </a:tr>
              <a:tr h="350518">
                <a:tc>
                  <a:txBody>
                    <a:bodyPr/>
                    <a:lstStyle/>
                    <a:p>
                      <a:r>
                        <a:rPr sz="850" b="0">
                          <a:solidFill>
                            <a:srgbClr val="4B4B4B"/>
                          </a:solidFill>
                          <a:latin typeface="Arial"/>
                        </a:rPr>
                        <a:t>NT-21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BIR certificate is submitted or resubmitted to Comptrollership</a:t>
                      </a:r>
                    </a:p>
                  </a:txBody>
                  <a:tcPr marL="54864" marR="54864" marT="27432" marB="27432">
                    <a:solidFill>
                      <a:srgbClr val="FFFFFF"/>
                    </a:solidFill>
                  </a:tcPr>
                </a:tc>
                <a:tc>
                  <a:txBody>
                    <a:bodyPr/>
                    <a:lstStyle/>
                    <a:p>
                      <a:r>
                        <a:rPr sz="850" b="0">
                          <a:solidFill>
                            <a:srgbClr val="4B4B4B"/>
                          </a:solidFill>
                          <a:latin typeface="Arial"/>
                        </a:rPr>
                        <a:t>Comptrollership</a:t>
                      </a:r>
                    </a:p>
                  </a:txBody>
                  <a:tcPr marL="54864" marR="54864" marT="27432" marB="27432">
                    <a:solidFill>
                      <a:srgbClr val="FFFFFF"/>
                    </a:solidFill>
                  </a:tcPr>
                </a:tc>
                <a:tc>
                  <a:txBody>
                    <a:bodyPr/>
                    <a:lstStyle/>
                    <a:p>
                      <a:r>
                        <a:rPr sz="850" b="0">
                          <a:solidFill>
                            <a:srgbClr val="4B4B4B"/>
                          </a:solidFill>
                          <a:latin typeface="Arial"/>
                        </a:rPr>
                        <a:t>Title: BIR certificate submitted: &lt;submission no&gt; / BIR certificate resubmitted: &lt;submission no&gt;</a:t>
                      </a:r>
                    </a:p>
                  </a:txBody>
                  <a:tcPr marL="54864" marR="54864" marT="27432" marB="27432">
                    <a:solidFill>
                      <a:srgbClr val="FFFFFF"/>
                    </a:solidFill>
                  </a:tcPr>
                </a:tc>
              </a:tr>
            </a:tbl>
          </a:graphicData>
        </a:graphic>
      </p:graphicFrame>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654</a:t>
            </a:r>
          </a:p>
        </p:txBody>
      </p:sp>
      <p:graphicFrame>
        <p:nvGraphicFramePr>
          <p:cNvPr id="9" name="Table 8"/>
          <p:cNvGraphicFramePr>
            <a:graphicFrameLocks noGrp="1"/>
          </p:cNvGraphicFramePr>
          <p:nvPr/>
        </p:nvGraphicFramePr>
        <p:xfrm>
          <a:off x="548640" y="1325880"/>
          <a:ext cx="11094413" cy="2141207"/>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NT-22</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incentive run excludes invoices (negative amounts, cancelled or written-off bookings)</a:t>
                      </a:r>
                    </a:p>
                  </a:txBody>
                  <a:tcPr marL="54864" marR="54864" marT="27432" marB="27432">
                    <a:solidFill>
                      <a:srgbClr val="FFFFFF"/>
                    </a:solidFill>
                  </a:tcPr>
                </a:tc>
                <a:tc>
                  <a:txBody>
                    <a:bodyPr/>
                    <a:lstStyle/>
                    <a:p>
                      <a:r>
                        <a:rPr sz="850" b="0">
                          <a:solidFill>
                            <a:srgbClr val="4B4B4B"/>
                          </a:solidFill>
                          <a:latin typeface="Arial"/>
                        </a:rPr>
                        <a:t>Commission Receivables Team Leader</a:t>
                      </a:r>
                    </a:p>
                  </a:txBody>
                  <a:tcPr marL="54864" marR="54864" marT="27432" marB="27432">
                    <a:solidFill>
                      <a:srgbClr val="FFFFFF"/>
                    </a:solidFill>
                  </a:tcPr>
                </a:tc>
                <a:tc>
                  <a:txBody>
                    <a:bodyPr/>
                    <a:lstStyle/>
                    <a:p>
                      <a:r>
                        <a:rPr sz="850" b="0">
                          <a:solidFill>
                            <a:srgbClr val="4B4B4B"/>
                          </a:solidFill>
                          <a:latin typeface="Arial"/>
                        </a:rPr>
                        <a:t>&lt;n&gt; invoice(s) excluded from &lt;run no&gt;</a:t>
                      </a:r>
                    </a:p>
                  </a:txBody>
                  <a:tcPr marL="54864" marR="54864" marT="27432" marB="27432">
                    <a:solidFill>
                      <a:srgbClr val="FFFFFF"/>
                    </a:solidFill>
                  </a:tcPr>
                </a:tc>
              </a:tr>
              <a:tr h="350518">
                <a:tc>
                  <a:txBody>
                    <a:bodyPr/>
                    <a:lstStyle/>
                    <a:p>
                      <a:r>
                        <a:rPr sz="850" b="0">
                          <a:solidFill>
                            <a:srgbClr val="4B4B4B"/>
                          </a:solidFill>
                          <a:latin typeface="Arial"/>
                        </a:rPr>
                        <a:t>NT-24</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Schedule to Insurer on an approved remittance batch (once per batch)</a:t>
                      </a:r>
                    </a:p>
                  </a:txBody>
                  <a:tcPr marL="54864" marR="54864" marT="27432" marB="27432">
                    <a:solidFill>
                      <a:srgbClr val="E5F5FF"/>
                    </a:solidFill>
                  </a:tcPr>
                </a:tc>
                <a:tc>
                  <a:txBody>
                    <a:bodyPr/>
                    <a:lstStyle/>
                    <a:p>
                      <a:r>
                        <a:rPr sz="850" b="0">
                          <a:solidFill>
                            <a:srgbClr val="4B4B4B"/>
                          </a:solidFill>
                          <a:latin typeface="Arial"/>
                        </a:rPr>
                        <a:t>The insurer's e-mail addresses (To and Cc of the dialog)</a:t>
                      </a:r>
                    </a:p>
                  </a:txBody>
                  <a:tcPr marL="54864" marR="54864" marT="27432" marB="27432">
                    <a:solidFill>
                      <a:srgbClr val="E5F5FF"/>
                    </a:solidFill>
                  </a:tcPr>
                </a:tc>
                <a:tc>
                  <a:txBody>
                    <a:bodyPr/>
                    <a:lstStyle/>
                    <a:p>
                      <a:r>
                        <a:rPr sz="850" b="0">
                          <a:solidFill>
                            <a:srgbClr val="4B4B4B"/>
                          </a:solidFill>
                          <a:latin typeface="Arial"/>
                        </a:rPr>
                        <a:t>Subject and message of the dialog; attachment: the remittance schedule in Excel, password protected; a second e-mail carries the password</a:t>
                      </a:r>
                    </a:p>
                  </a:txBody>
                  <a:tcPr marL="54864" marR="54864" marT="27432" marB="27432">
                    <a:solidFill>
                      <a:srgbClr val="E5F5FF"/>
                    </a:solidFill>
                  </a:tcPr>
                </a:tc>
              </a:tr>
              <a:tr h="480057">
                <a:tc>
                  <a:txBody>
                    <a:bodyPr/>
                    <a:lstStyle/>
                    <a:p>
                      <a:r>
                        <a:rPr sz="850" b="0">
                          <a:solidFill>
                            <a:srgbClr val="4B4B4B"/>
                          </a:solidFill>
                          <a:latin typeface="Arial"/>
                        </a:rPr>
                        <a:t>NT-25</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to Insurer or Resend of a production register, or the automatic send of a scheduled extract</a:t>
                      </a:r>
                    </a:p>
                  </a:txBody>
                  <a:tcPr marL="54864" marR="54864" marT="27432" marB="27432">
                    <a:solidFill>
                      <a:srgbClr val="FFFFFF"/>
                    </a:solidFill>
                  </a:tcPr>
                </a:tc>
                <a:tc>
                  <a:txBody>
                    <a:bodyPr/>
                    <a:lstStyle/>
                    <a:p>
                      <a:r>
                        <a:rPr sz="850" b="0">
                          <a:solidFill>
                            <a:srgbClr val="4B4B4B"/>
                          </a:solidFill>
                          <a:latin typeface="Arial"/>
                        </a:rPr>
                        <a:t>The insurer's reconciliation contacts or the addresses of the dialog</a:t>
                      </a:r>
                    </a:p>
                  </a:txBody>
                  <a:tcPr marL="54864" marR="54864" marT="27432" marB="27432">
                    <a:solidFill>
                      <a:srgbClr val="FFFFFF"/>
                    </a:solidFill>
                  </a:tcPr>
                </a:tc>
                <a:tc>
                  <a:txBody>
                    <a:bodyPr/>
                    <a:lstStyle/>
                    <a:p>
                      <a:r>
                        <a:rPr sz="850" b="0">
                          <a:solidFill>
                            <a:srgbClr val="4B4B4B"/>
                          </a:solidFill>
                          <a:latin typeface="Arial"/>
                        </a:rPr>
                        <a:t>Cover letter of the production register template (insurer, extract number, booking period, production month, rows); attachment: the register workbook, password protected; a second e-mail carries the password</a:t>
                      </a:r>
                    </a:p>
                  </a:txBody>
                  <a:tcPr marL="54864" marR="54864" marT="27432" marB="27432">
                    <a:solidFill>
                      <a:srgbClr val="FFFFFF"/>
                    </a:solidFill>
                  </a:tcPr>
                </a:tc>
              </a:tr>
              <a:tr h="739135">
                <a:tc>
                  <a:txBody>
                    <a:bodyPr/>
                    <a:lstStyle/>
                    <a:p>
                      <a:r>
                        <a:rPr sz="850" b="0">
                          <a:solidFill>
                            <a:srgbClr val="4B4B4B"/>
                          </a:solidFill>
                          <a:latin typeface="Arial"/>
                        </a:rPr>
                        <a:t>NT-26</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to Insurer of a DP billing</a:t>
                      </a:r>
                    </a:p>
                  </a:txBody>
                  <a:tcPr marL="54864" marR="54864" marT="27432" marB="27432">
                    <a:solidFill>
                      <a:srgbClr val="E5F5FF"/>
                    </a:solidFill>
                  </a:tcPr>
                </a:tc>
                <a:tc>
                  <a:txBody>
                    <a:bodyPr/>
                    <a:lstStyle/>
                    <a:p>
                      <a:r>
                        <a:rPr sz="850" b="0">
                          <a:solidFill>
                            <a:srgbClr val="4B4B4B"/>
                          </a:solidFill>
                          <a:latin typeface="Arial"/>
                        </a:rPr>
                        <a:t>The insurer's billing contacts or the addresses of the dialog</a:t>
                      </a:r>
                    </a:p>
                  </a:txBody>
                  <a:tcPr marL="54864" marR="54864" marT="27432" marB="27432">
                    <a:solidFill>
                      <a:srgbClr val="E5F5FF"/>
                    </a:solidFill>
                  </a:tcPr>
                </a:tc>
                <a:tc>
                  <a:txBody>
                    <a:bodyPr/>
                    <a:lstStyle/>
                    <a:p>
                      <a:r>
                        <a:rPr sz="850" b="0">
                          <a:solidFill>
                            <a:srgbClr val="4B4B4B"/>
                          </a:solidFill>
                          <a:latin typeface="Arial"/>
                        </a:rPr>
                        <a:t>Subject: Direct payment commission billing &lt;billing no&gt;. Text: Dear &lt;insurer&gt;, attached is our billing &lt;billing no&gt; of the commission on &lt;n&gt; direct payment account(s), net commission &lt;amount&gt;. Please confirm each account in the Decision column (APPROVED or REJECTED, with the reason of a rejection) and return the file. The file is password protected; the password is sent in a separate e-mail.</a:t>
                      </a:r>
                    </a:p>
                  </a:txBody>
                  <a:tcPr marL="54864" marR="54864" marT="27432" marB="27432">
                    <a:solidFill>
                      <a:srgbClr val="E5F5FF"/>
                    </a:solidFill>
                  </a:tcPr>
                </a:tc>
              </a:tr>
            </a:tbl>
          </a:graphicData>
        </a:graphic>
      </p:graphicFrame>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655</a:t>
            </a:r>
          </a:p>
        </p:txBody>
      </p:sp>
      <p:graphicFrame>
        <p:nvGraphicFramePr>
          <p:cNvPr id="9" name="Table 8"/>
          <p:cNvGraphicFramePr>
            <a:graphicFrameLocks noGrp="1"/>
          </p:cNvGraphicFramePr>
          <p:nvPr/>
        </p:nvGraphicFramePr>
        <p:xfrm>
          <a:off x="548640" y="1325880"/>
          <a:ext cx="11094413" cy="34747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SCR-OP-04</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Every Operations user</a:t>
                      </a:r>
                    </a:p>
                  </a:txBody>
                  <a:tcPr marL="54864" marR="54864" marT="27432" marB="27432">
                    <a:solidFill>
                      <a:srgbClr val="FFFFFF"/>
                    </a:solidFill>
                  </a:tcPr>
                </a:tc>
                <a:tc>
                  <a:txBody>
                    <a:bodyPr/>
                    <a:lstStyle/>
                    <a:p>
                      <a:r>
                        <a:rPr sz="900" b="0">
                          <a:solidFill>
                            <a:srgbClr val="4B4B4B"/>
                          </a:solidFill>
                          <a:latin typeface="Arial"/>
                        </a:rPr>
                        <a:t>Downloads the stored file</a:t>
                      </a:r>
                    </a:p>
                  </a:txBody>
                  <a:tcPr marL="54864" marR="54864" marT="27432" marB="27432">
                    <a:solidFill>
                      <a:srgbClr val="FFFFFF"/>
                    </a:solidFill>
                  </a:tcPr>
                </a:tc>
              </a:tr>
              <a:tr h="228600">
                <a:tc>
                  <a:txBody>
                    <a:bodyPr/>
                    <a:lstStyle/>
                    <a:p>
                      <a:r>
                        <a:rPr sz="900" b="0">
                          <a:solidFill>
                            <a:srgbClr val="4B4B4B"/>
                          </a:solidFill>
                          <a:latin typeface="Arial"/>
                        </a:rPr>
                        <a:t>SCR-OP-05</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Users who may export Operations reports</a:t>
                      </a:r>
                    </a:p>
                  </a:txBody>
                  <a:tcPr marL="54864" marR="54864" marT="27432" marB="27432">
                    <a:solidFill>
                      <a:srgbClr val="E5F5FF"/>
                    </a:solidFill>
                  </a:tcPr>
                </a:tc>
                <a:tc>
                  <a:txBody>
                    <a:bodyPr/>
                    <a:lstStyle/>
                    <a:p>
                      <a:r>
                        <a:rPr sz="900" b="0">
                          <a:solidFill>
                            <a:srgbClr val="4B4B4B"/>
                          </a:solidFill>
                          <a:latin typeface="Arial"/>
                        </a:rPr>
                        <a:t>Downloads the archived file</a:t>
                      </a:r>
                    </a:p>
                  </a:txBody>
                  <a:tcPr marL="54864" marR="54864" marT="27432" marB="27432">
                    <a:solidFill>
                      <a:srgbClr val="E5F5FF"/>
                    </a:solidFill>
                  </a:tcPr>
                </a:tc>
              </a:tr>
              <a:tr h="228600">
                <a:tc>
                  <a:txBody>
                    <a:bodyPr/>
                    <a:lstStyle/>
                    <a:p>
                      <a:r>
                        <a:rPr sz="900" b="0">
                          <a:solidFill>
                            <a:srgbClr val="4B4B4B"/>
                          </a:solidFill>
                          <a:latin typeface="Arial"/>
                        </a:rPr>
                        <a:t>SCR-OP-10</a:t>
                      </a:r>
                    </a:p>
                  </a:txBody>
                  <a:tcPr marL="54864" marR="54864" marT="27432" marB="27432">
                    <a:solidFill>
                      <a:srgbClr val="FFFFFF"/>
                    </a:solidFill>
                  </a:tcPr>
                </a:tc>
                <a:tc>
                  <a:txBody>
                    <a:bodyPr/>
                    <a:lstStyle/>
                    <a:p>
                      <a:r>
                        <a:rPr sz="900" b="0">
                          <a:solidFill>
                            <a:srgbClr val="4B4B4B"/>
                          </a:solidFill>
                          <a:latin typeface="Arial"/>
                        </a:rPr>
                        <a:t>Print (PDF)</a:t>
                      </a:r>
                    </a:p>
                  </a:txBody>
                  <a:tcPr marL="54864" marR="54864" marT="27432" marB="27432">
                    <a:solidFill>
                      <a:srgbClr val="FFFFFF"/>
                    </a:solidFill>
                  </a:tcPr>
                </a:tc>
                <a:tc>
                  <a:txBody>
                    <a:bodyPr/>
                    <a:lstStyle/>
                    <a:p>
                      <a:r>
                        <a:rPr sz="900" b="0">
                          <a:solidFill>
                            <a:srgbClr val="4B4B4B"/>
                          </a:solidFill>
                          <a:latin typeface="Arial"/>
                        </a:rPr>
                        <a:t>Every Cashiering user</a:t>
                      </a:r>
                    </a:p>
                  </a:txBody>
                  <a:tcPr marL="54864" marR="54864" marT="27432" marB="27432">
                    <a:solidFill>
                      <a:srgbClr val="FFFFFF"/>
                    </a:solidFill>
                  </a:tcPr>
                </a:tc>
                <a:tc>
                  <a:txBody>
                    <a:bodyPr/>
                    <a:lstStyle/>
                    <a:p>
                      <a:r>
                        <a:rPr sz="900" b="0">
                          <a:solidFill>
                            <a:srgbClr val="4B4B4B"/>
                          </a:solidFill>
                          <a:latin typeface="Arial"/>
                        </a:rPr>
                        <a:t>Downloads the receipt PDF; the print count is kept</a:t>
                      </a:r>
                    </a:p>
                  </a:txBody>
                  <a:tcPr marL="54864" marR="54864" marT="27432" marB="27432">
                    <a:solidFill>
                      <a:srgbClr val="FFFFFF"/>
                    </a:solidFill>
                  </a:tcPr>
                </a:tc>
              </a:tr>
              <a:tr h="228600">
                <a:tc>
                  <a:txBody>
                    <a:bodyPr/>
                    <a:lstStyle/>
                    <a:p>
                      <a:r>
                        <a:rPr sz="900" b="0">
                          <a:solidFill>
                            <a:srgbClr val="4B4B4B"/>
                          </a:solidFill>
                          <a:latin typeface="Arial"/>
                        </a:rPr>
                        <a:t>SCR-OP-15</a:t>
                      </a:r>
                    </a:p>
                  </a:txBody>
                  <a:tcPr marL="54864" marR="54864" marT="27432" marB="27432">
                    <a:solidFill>
                      <a:srgbClr val="E5F5FF"/>
                    </a:solidFill>
                  </a:tcPr>
                </a:tc>
                <a:tc>
                  <a:txBody>
                    <a:bodyPr/>
                    <a:lstStyle/>
                    <a:p>
                      <a:r>
                        <a:rPr sz="900" b="0">
                          <a:solidFill>
                            <a:srgbClr val="4B4B4B"/>
                          </a:solidFill>
                          <a:latin typeface="Arial"/>
                        </a:rPr>
                        <a:t>Download Template</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Downloads the template of the file type</a:t>
                      </a:r>
                    </a:p>
                  </a:txBody>
                  <a:tcPr marL="54864" marR="54864" marT="27432" marB="27432">
                    <a:solidFill>
                      <a:srgbClr val="E5F5FF"/>
                    </a:solidFill>
                  </a:tcPr>
                </a:tc>
              </a:tr>
              <a:tr h="228600">
                <a:tc>
                  <a:txBody>
                    <a:bodyPr/>
                    <a:lstStyle/>
                    <a:p>
                      <a:r>
                        <a:rPr sz="900" b="0">
                          <a:solidFill>
                            <a:srgbClr val="4B4B4B"/>
                          </a:solidFill>
                          <a:latin typeface="Arial"/>
                        </a:rPr>
                        <a:t>SCR-OP-15</a:t>
                      </a:r>
                    </a:p>
                  </a:txBody>
                  <a:tcPr marL="54864" marR="54864" marT="27432" marB="27432">
                    <a:solidFill>
                      <a:srgbClr val="FFFFFF"/>
                    </a:solidFill>
                  </a:tcPr>
                </a:tc>
                <a:tc>
                  <a:txBody>
                    <a:bodyPr/>
                    <a:lstStyle/>
                    <a:p>
                      <a:r>
                        <a:rPr sz="900" b="0">
                          <a:solidFill>
                            <a:srgbClr val="4B4B4B"/>
                          </a:solidFill>
                          <a:latin typeface="Arial"/>
                        </a:rPr>
                        <a:t>Download Report</a:t>
                      </a:r>
                    </a:p>
                  </a:txBody>
                  <a:tcPr marL="54864" marR="54864" marT="27432" marB="27432">
                    <a:solidFill>
                      <a:srgbClr val="FFFFFF"/>
                    </a:solidFill>
                  </a:tcPr>
                </a:tc>
                <a:tc>
                  <a:txBody>
                    <a:bodyPr/>
                    <a:lstStyle/>
                    <a:p>
                      <a:r>
                        <a:rPr sz="900" b="0">
                          <a:solidFill>
                            <a:srgbClr val="4B4B4B"/>
                          </a:solidFill>
                          <a:latin typeface="Arial"/>
                        </a:rPr>
                        <a:t>Cashier</a:t>
                      </a:r>
                    </a:p>
                  </a:txBody>
                  <a:tcPr marL="54864" marR="54864" marT="27432" marB="27432">
                    <a:solidFill>
                      <a:srgbClr val="FFFFFF"/>
                    </a:solidFill>
                  </a:tcPr>
                </a:tc>
                <a:tc>
                  <a:txBody>
                    <a:bodyPr/>
                    <a:lstStyle/>
                    <a:p>
                      <a:r>
                        <a:rPr sz="900" b="0">
                          <a:solidFill>
                            <a:srgbClr val="4B4B4B"/>
                          </a:solidFill>
                          <a:latin typeface="Arial"/>
                        </a:rPr>
                        <a:t>Downloads the run report with the failed rows and their messages</a:t>
                      </a:r>
                    </a:p>
                  </a:txBody>
                  <a:tcPr marL="54864" marR="54864" marT="27432" marB="27432">
                    <a:solidFill>
                      <a:srgbClr val="FFFFFF"/>
                    </a:solidFill>
                  </a:tcPr>
                </a:tc>
              </a:tr>
              <a:tr h="228600">
                <a:tc>
                  <a:txBody>
                    <a:bodyPr/>
                    <a:lstStyle/>
                    <a:p>
                      <a:r>
                        <a:rPr sz="900" b="0">
                          <a:solidFill>
                            <a:srgbClr val="4B4B4B"/>
                          </a:solidFill>
                          <a:latin typeface="Arial"/>
                        </a:rPr>
                        <a:t>SCR-OP-18</a:t>
                      </a:r>
                    </a:p>
                  </a:txBody>
                  <a:tcPr marL="54864" marR="54864" marT="27432" marB="27432">
                    <a:solidFill>
                      <a:srgbClr val="E5F5FF"/>
                    </a:solidFill>
                  </a:tcPr>
                </a:tc>
                <a:tc>
                  <a:txBody>
                    <a:bodyPr/>
                    <a:lstStyle/>
                    <a:p>
                      <a:r>
                        <a:rPr sz="900" b="0">
                          <a:solidFill>
                            <a:srgbClr val="4B4B4B"/>
                          </a:solidFill>
                          <a:latin typeface="Arial"/>
                        </a:rPr>
                        <a:t>Print Selected (n)</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Prints the selected receipts into one PDF and records each</a:t>
                      </a:r>
                    </a:p>
                  </a:txBody>
                  <a:tcPr marL="54864" marR="54864" marT="27432" marB="27432">
                    <a:solidFill>
                      <a:srgbClr val="E5F5FF"/>
                    </a:solidFill>
                  </a:tcPr>
                </a:tc>
              </a:tr>
              <a:tr h="228600">
                <a:tc>
                  <a:txBody>
                    <a:bodyPr/>
                    <a:lstStyle/>
                    <a:p>
                      <a:r>
                        <a:rPr sz="900" b="0">
                          <a:solidFill>
                            <a:srgbClr val="4B4B4B"/>
                          </a:solidFill>
                          <a:latin typeface="Arial"/>
                        </a:rPr>
                        <a:t>SCR-OP-18</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Cashier</a:t>
                      </a:r>
                    </a:p>
                  </a:txBody>
                  <a:tcPr marL="54864" marR="54864" marT="27432" marB="27432">
                    <a:solidFill>
                      <a:srgbClr val="FFFFFF"/>
                    </a:solidFill>
                  </a:tcPr>
                </a:tc>
                <a:tc>
                  <a:txBody>
                    <a:bodyPr/>
                    <a:lstStyle/>
                    <a:p>
                      <a:r>
                        <a:rPr sz="900" b="0">
                          <a:solidFill>
                            <a:srgbClr val="4B4B4B"/>
                          </a:solidFill>
                          <a:latin typeface="Arial"/>
                        </a:rPr>
                        <a:t>Downloads the merged PDF</a:t>
                      </a:r>
                    </a:p>
                  </a:txBody>
                  <a:tcPr marL="54864" marR="54864" marT="27432" marB="27432">
                    <a:solidFill>
                      <a:srgbClr val="FFFFFF"/>
                    </a:solidFill>
                  </a:tcPr>
                </a:tc>
              </a:tr>
              <a:tr h="228600">
                <a:tc>
                  <a:txBody>
                    <a:bodyPr/>
                    <a:lstStyle/>
                    <a:p>
                      <a:r>
                        <a:rPr sz="900" b="0">
                          <a:solidFill>
                            <a:srgbClr val="4B4B4B"/>
                          </a:solidFill>
                          <a:latin typeface="Arial"/>
                        </a:rPr>
                        <a:t>SCR-OP-18</a:t>
                      </a:r>
                    </a:p>
                  </a:txBody>
                  <a:tcPr marL="54864" marR="54864" marT="27432" marB="27432">
                    <a:solidFill>
                      <a:srgbClr val="E5F5FF"/>
                    </a:solidFill>
                  </a:tcPr>
                </a:tc>
                <a:tc>
                  <a:txBody>
                    <a:bodyPr/>
                    <a:lstStyle/>
                    <a:p>
                      <a:r>
                        <a:rPr sz="900" b="0">
                          <a:solidFill>
                            <a:srgbClr val="4B4B4B"/>
                          </a:solidFill>
                          <a:latin typeface="Arial"/>
                        </a:rPr>
                        <a:t>Retry Failures</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Prints the failed receipts again</a:t>
                      </a:r>
                    </a:p>
                  </a:txBody>
                  <a:tcPr marL="54864" marR="54864" marT="27432" marB="27432">
                    <a:solidFill>
                      <a:srgbClr val="E5F5FF"/>
                    </a:solidFill>
                  </a:tcPr>
                </a:tc>
              </a:tr>
              <a:tr h="502920">
                <a:tc>
                  <a:txBody>
                    <a:bodyPr/>
                    <a:lstStyle/>
                    <a:p>
                      <a:r>
                        <a:rPr sz="900" b="0">
                          <a:solidFill>
                            <a:srgbClr val="4B4B4B"/>
                          </a:solidFill>
                          <a:latin typeface="Arial"/>
                        </a:rPr>
                        <a:t>SCR-OP-26</a:t>
                      </a:r>
                    </a:p>
                  </a:txBody>
                  <a:tcPr marL="54864" marR="54864" marT="27432" marB="27432">
                    <a:solidFill>
                      <a:srgbClr val="FFFFFF"/>
                    </a:solidFill>
                  </a:tcPr>
                </a:tc>
                <a:tc>
                  <a:txBody>
                    <a:bodyPr/>
                    <a:lstStyle/>
                    <a:p>
                      <a:r>
                        <a:rPr sz="900" b="0">
                          <a:solidFill>
                            <a:srgbClr val="4B4B4B"/>
                          </a:solidFill>
                          <a:latin typeface="Arial"/>
                        </a:rPr>
                        <a:t>Remittance Schedule (PDF) / Remittance Schedule (Excel) / Payment Request (PDF)</a:t>
                      </a:r>
                    </a:p>
                  </a:txBody>
                  <a:tcPr marL="54864" marR="54864" marT="27432" marB="27432">
                    <a:solidFill>
                      <a:srgbClr val="FFFFFF"/>
                    </a:solidFill>
                  </a:tcPr>
                </a:tc>
                <a:tc>
                  <a:txBody>
                    <a:bodyPr/>
                    <a:lstStyle/>
                    <a:p>
                      <a:r>
                        <a:rPr sz="900" b="0">
                          <a:solidFill>
                            <a:srgbClr val="4B4B4B"/>
                          </a:solidFill>
                          <a:latin typeface="Arial"/>
                        </a:rPr>
                        <a:t>Every Remittance user</a:t>
                      </a:r>
                    </a:p>
                  </a:txBody>
                  <a:tcPr marL="54864" marR="54864" marT="27432" marB="27432">
                    <a:solidFill>
                      <a:srgbClr val="FFFFFF"/>
                    </a:solidFill>
                  </a:tcPr>
                </a:tc>
                <a:tc>
                  <a:txBody>
                    <a:bodyPr/>
                    <a:lstStyle/>
                    <a:p>
                      <a:r>
                        <a:rPr sz="900" b="0">
                          <a:solidFill>
                            <a:srgbClr val="4B4B4B"/>
                          </a:solidFill>
                          <a:latin typeface="Arial"/>
                        </a:rPr>
                        <a:t>Downloads the document</a:t>
                      </a:r>
                    </a:p>
                  </a:txBody>
                  <a:tcPr marL="54864" marR="54864" marT="27432" marB="27432">
                    <a:solidFill>
                      <a:srgbClr val="FFFFFF"/>
                    </a:solidFill>
                  </a:tcPr>
                </a:tc>
              </a:tr>
              <a:tr h="228600">
                <a:tc>
                  <a:txBody>
                    <a:bodyPr/>
                    <a:lstStyle/>
                    <a:p>
                      <a:r>
                        <a:rPr sz="900" b="0">
                          <a:solidFill>
                            <a:srgbClr val="4B4B4B"/>
                          </a:solidFill>
                          <a:latin typeface="Arial"/>
                        </a:rPr>
                        <a:t>SCR-OP-39</a:t>
                      </a:r>
                    </a:p>
                  </a:txBody>
                  <a:tcPr marL="54864" marR="54864" marT="27432" marB="27432">
                    <a:solidFill>
                      <a:srgbClr val="E5F5FF"/>
                    </a:solidFill>
                  </a:tcPr>
                </a:tc>
                <a:tc>
                  <a:txBody>
                    <a:bodyPr/>
                    <a:lstStyle/>
                    <a:p>
                      <a:r>
                        <a:rPr sz="900" b="0">
                          <a:solidFill>
                            <a:srgbClr val="4B4B4B"/>
                          </a:solidFill>
                          <a:latin typeface="Arial"/>
                        </a:rPr>
                        <a:t>Endorsement Slip / Validation Slip</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endorsement slip (numbered ES-yyyy-n once) or the validation slip</a:t>
                      </a:r>
                    </a:p>
                  </a:txBody>
                  <a:tcPr marL="54864" marR="54864" marT="27432" marB="27432">
                    <a:solidFill>
                      <a:srgbClr val="E5F5FF"/>
                    </a:solidFill>
                  </a:tcPr>
                </a:tc>
              </a:tr>
              <a:tr h="228600">
                <a:tc>
                  <a:txBody>
                    <a:bodyPr/>
                    <a:lstStyle/>
                    <a:p>
                      <a:r>
                        <a:rPr sz="900" b="0">
                          <a:solidFill>
                            <a:srgbClr val="4B4B4B"/>
                          </a:solidFill>
                          <a:latin typeface="Arial"/>
                        </a:rPr>
                        <a:t>SCR-OP-46</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Production Reconciliation Handler</a:t>
                      </a:r>
                    </a:p>
                  </a:txBody>
                  <a:tcPr marL="54864" marR="54864" marT="27432" marB="27432">
                    <a:solidFill>
                      <a:srgbClr val="FFFFFF"/>
                    </a:solidFill>
                  </a:tcPr>
                </a:tc>
                <a:tc>
                  <a:txBody>
                    <a:bodyPr/>
                    <a:lstStyle/>
                    <a:p>
                      <a:r>
                        <a:rPr sz="900" b="0">
                          <a:solidFill>
                            <a:srgbClr val="4B4B4B"/>
                          </a:solidFill>
                          <a:latin typeface="Arial"/>
                        </a:rPr>
                        <a:t>Downloads the register workbook</a:t>
                      </a:r>
                    </a:p>
                  </a:txBody>
                  <a:tcPr marL="54864" marR="54864" marT="27432" marB="27432">
                    <a:solidFill>
                      <a:srgbClr val="FFFFFF"/>
                    </a:solidFill>
                  </a:tcPr>
                </a:tc>
              </a:tr>
              <a:tr h="228600">
                <a:tc>
                  <a:txBody>
                    <a:bodyPr/>
                    <a:lstStyle/>
                    <a:p>
                      <a:r>
                        <a:rPr sz="900" b="0">
                          <a:solidFill>
                            <a:srgbClr val="4B4B4B"/>
                          </a:solidFill>
                          <a:latin typeface="Arial"/>
                        </a:rPr>
                        <a:t>SCR-OP-54</a:t>
                      </a:r>
                    </a:p>
                  </a:txBody>
                  <a:tcPr marL="54864" marR="54864" marT="27432" marB="27432">
                    <a:solidFill>
                      <a:srgbClr val="E5F5FF"/>
                    </a:solidFill>
                  </a:tcPr>
                </a:tc>
                <a:tc>
                  <a:txBody>
                    <a:bodyPr/>
                    <a:lstStyle/>
                    <a:p>
                      <a:r>
                        <a:rPr sz="900" b="0">
                          <a:solidFill>
                            <a:srgbClr val="4B4B4B"/>
                          </a:solidFill>
                          <a:latin typeface="Arial"/>
                        </a:rPr>
                        <a:t>Download Billing</a:t>
                      </a:r>
                    </a:p>
                  </a:txBody>
                  <a:tcPr marL="54864" marR="54864" marT="27432" marB="27432">
                    <a:solidFill>
                      <a:srgbClr val="E5F5FF"/>
                    </a:solidFill>
                  </a:tcPr>
                </a:tc>
                <a:tc>
                  <a:txBody>
                    <a:bodyPr/>
                    <a:lstStyle/>
                    <a:p>
                      <a:r>
                        <a:rPr sz="900" b="0">
                          <a:solidFill>
                            <a:srgbClr val="4B4B4B"/>
                          </a:solidFill>
                          <a:latin typeface="Arial"/>
                        </a:rPr>
                        <a:t>Every Commission user</a:t>
                      </a:r>
                    </a:p>
                  </a:txBody>
                  <a:tcPr marL="54864" marR="54864" marT="27432" marB="27432">
                    <a:solidFill>
                      <a:srgbClr val="E5F5FF"/>
                    </a:solidFill>
                  </a:tcPr>
                </a:tc>
                <a:tc>
                  <a:txBody>
                    <a:bodyPr/>
                    <a:lstStyle/>
                    <a:p>
                      <a:r>
                        <a:rPr sz="900" b="0">
                          <a:solidFill>
                            <a:srgbClr val="4B4B4B"/>
                          </a:solidFill>
                          <a:latin typeface="Arial"/>
                        </a:rPr>
                        <a:t>Downloads the billing workbook</a:t>
                      </a:r>
                    </a:p>
                  </a:txBody>
                  <a:tcPr marL="54864" marR="54864" marT="27432" marB="27432">
                    <a:solidFill>
                      <a:srgbClr val="E5F5FF"/>
                    </a:solidFill>
                  </a:tcPr>
                </a:tc>
              </a:tr>
              <a:tr h="228600">
                <a:tc>
                  <a:txBody>
                    <a:bodyPr/>
                    <a:lstStyle/>
                    <a:p>
                      <a:r>
                        <a:rPr sz="900" b="0">
                          <a:solidFill>
                            <a:srgbClr val="4B4B4B"/>
                          </a:solidFill>
                          <a:latin typeface="Arial"/>
                        </a:rPr>
                        <a:t>SCR-OP-64</a:t>
                      </a:r>
                    </a:p>
                  </a:txBody>
                  <a:tcPr marL="54864" marR="54864" marT="27432" marB="27432">
                    <a:solidFill>
                      <a:srgbClr val="FFFFFF"/>
                    </a:solidFill>
                  </a:tcPr>
                </a:tc>
                <a:tc>
                  <a:txBody>
                    <a:bodyPr/>
                    <a:lstStyle/>
                    <a:p>
                      <a:r>
                        <a:rPr sz="900" b="0">
                          <a:solidFill>
                            <a:srgbClr val="4B4B4B"/>
                          </a:solidFill>
                          <a:latin typeface="Arial"/>
                        </a:rPr>
                        <a:t>Export buttons</a:t>
                      </a:r>
                    </a:p>
                  </a:txBody>
                  <a:tcPr marL="54864" marR="54864" marT="27432" marB="27432">
                    <a:solidFill>
                      <a:srgbClr val="FFFFFF"/>
                    </a:solidFill>
                  </a:tcPr>
                </a:tc>
                <a:tc>
                  <a:txBody>
                    <a:bodyPr/>
                    <a:lstStyle/>
                    <a:p>
                      <a:r>
                        <a:rPr sz="900" b="0">
                          <a:solidFill>
                            <a:srgbClr val="4B4B4B"/>
                          </a:solidFill>
                          <a:latin typeface="Arial"/>
                        </a:rPr>
                        <a:t>Users who may export the report</a:t>
                      </a:r>
                    </a:p>
                  </a:txBody>
                  <a:tcPr marL="54864" marR="54864" marT="27432" marB="27432">
                    <a:solidFill>
                      <a:srgbClr val="FFFFFF"/>
                    </a:solidFill>
                  </a:tcPr>
                </a:tc>
                <a:tc>
                  <a:txBody>
                    <a:bodyPr/>
                    <a:lstStyle/>
                    <a:p>
                      <a:r>
                        <a:rPr sz="900" b="0">
                          <a:solidFill>
                            <a:srgbClr val="4B4B4B"/>
                          </a:solidFill>
                          <a:latin typeface="Arial"/>
                        </a:rPr>
                        <a:t>Downloads the report as Excel, PDF, ODS, CSV or XML</a:t>
                      </a:r>
                    </a:p>
                  </a:txBody>
                  <a:tcPr marL="54864" marR="54864" marT="27432" marB="27432">
                    <a:solidFill>
                      <a:srgbClr val="FFFFFF"/>
                    </a:solidFill>
                  </a:tcPr>
                </a:tc>
              </a:tr>
            </a:tbl>
          </a:graphicData>
        </a:graphic>
      </p:graphicFrame>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657</a:t>
            </a:r>
          </a:p>
        </p:txBody>
      </p:sp>
      <p:graphicFrame>
        <p:nvGraphicFramePr>
          <p:cNvPr id="9" name="Table 8"/>
          <p:cNvGraphicFramePr>
            <a:graphicFrameLocks noGrp="1"/>
          </p:cNvGraphicFramePr>
          <p:nvPr/>
        </p:nvGraphicFramePr>
        <p:xfrm>
          <a:off x="548640" y="1325880"/>
          <a:ext cx="11094413" cy="24688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CLR-OP-24</a:t>
                      </a:r>
                    </a:p>
                  </a:txBody>
                  <a:tcPr marL="54864" marR="54864" marT="27432" marB="27432">
                    <a:solidFill>
                      <a:srgbClr val="FFFFFF"/>
                    </a:solidFill>
                  </a:tcPr>
                </a:tc>
                <a:tc>
                  <a:txBody>
                    <a:bodyPr/>
                    <a:lstStyle/>
                    <a:p>
                      <a:r>
                        <a:rPr sz="900" b="0">
                          <a:solidFill>
                            <a:srgbClr val="4B4B4B"/>
                          </a:solidFill>
                          <a:latin typeface="Arial"/>
                        </a:rPr>
                        <a:t>Incentive schemes (CMRID.005, 006; FR-OP-095)</a:t>
                      </a:r>
                    </a:p>
                  </a:txBody>
                  <a:tcPr marL="54864" marR="54864" marT="27432" marB="27432">
                    <a:solidFill>
                      <a:srgbClr val="FFFFFF"/>
                    </a:solidFill>
                  </a:tcPr>
                </a:tc>
                <a:tc>
                  <a:txBody>
                    <a:bodyPr/>
                    <a:lstStyle/>
                    <a:p>
                      <a:r>
                        <a:rPr sz="900" b="0">
                          <a:solidFill>
                            <a:srgbClr val="4B4B4B"/>
                          </a:solidFill>
                          <a:latin typeface="Arial"/>
                        </a:rPr>
                        <a:t>Superseded by CLR-OP-58: the incentives follow each insurer's SLA per invoice; the programmes stay inactive until BDOI gives the SLA parameters.</a:t>
                      </a:r>
                    </a:p>
                  </a:txBody>
                  <a:tcPr marL="54864" marR="54864" marT="27432" marB="27432">
                    <a:solidFill>
                      <a:srgbClr val="FFFFFF"/>
                    </a:solidFill>
                  </a:tcPr>
                </a:tc>
                <a:tc>
                  <a:txBody>
                    <a:bodyPr/>
                    <a:lstStyle/>
                    <a:p>
                      <a:r>
                        <a:rPr sz="900" b="0">
                          <a:solidFill>
                            <a:srgbClr val="4B4B4B"/>
                          </a:solidFill>
                          <a:latin typeface="Arial"/>
                        </a:rPr>
                        <a:t>See CLR-OP-58.</a:t>
                      </a:r>
                    </a:p>
                  </a:txBody>
                  <a:tcPr marL="54864" marR="54864" marT="27432" marB="27432">
                    <a:solidFill>
                      <a:srgbClr val="FFFFFF"/>
                    </a:solidFill>
                  </a:tcPr>
                </a:tc>
              </a:tr>
              <a:tr h="502920">
                <a:tc>
                  <a:txBody>
                    <a:bodyPr/>
                    <a:lstStyle/>
                    <a:p>
                      <a:r>
                        <a:rPr sz="900" b="0">
                          <a:solidFill>
                            <a:srgbClr val="4B4B4B"/>
                          </a:solidFill>
                          <a:latin typeface="Arial"/>
                        </a:rPr>
                        <a:t>CLR-OP-28</a:t>
                      </a:r>
                    </a:p>
                  </a:txBody>
                  <a:tcPr marL="54864" marR="54864" marT="27432" marB="27432">
                    <a:solidFill>
                      <a:srgbClr val="E5F5FF"/>
                    </a:solidFill>
                  </a:tcPr>
                </a:tc>
                <a:tc>
                  <a:txBody>
                    <a:bodyPr/>
                    <a:lstStyle/>
                    <a:p>
                      <a:r>
                        <a:rPr sz="900" b="0">
                          <a:solidFill>
                            <a:srgbClr val="4B4B4B"/>
                          </a:solidFill>
                          <a:latin typeface="Arial"/>
                        </a:rPr>
                        <a:t>Insurer in the references (screen standards)</a:t>
                      </a:r>
                    </a:p>
                  </a:txBody>
                  <a:tcPr marL="54864" marR="54864" marT="27432" marB="27432">
                    <a:solidFill>
                      <a:srgbClr val="E5F5FF"/>
                    </a:solidFill>
                  </a:tcPr>
                </a:tc>
                <a:tc>
                  <a:txBody>
                    <a:bodyPr/>
                    <a:lstStyle/>
                    <a:p>
                      <a:r>
                        <a:rPr sz="900" b="0">
                          <a:solidFill>
                            <a:srgbClr val="4B4B4B"/>
                          </a:solidFill>
                          <a:latin typeface="Arial"/>
                        </a:rPr>
                        <a:t>Remittance batches, reconciliation cycles and their titles carry the insurer's short code in the reference (for example RMB-INS-MGIC-2026-000001, PRC-INS-MGIC-202609-000001); the insurer's name shows in the record facts and the documents.</a:t>
                      </a:r>
                    </a:p>
                  </a:txBody>
                  <a:tcPr marL="54864" marR="54864" marT="27432" marB="27432">
                    <a:solidFill>
                      <a:srgbClr val="E5F5FF"/>
                    </a:solidFill>
                  </a:tcPr>
                </a:tc>
                <a:tc>
                  <a:txBody>
                    <a:bodyPr/>
                    <a:lstStyle/>
                    <a:p>
                      <a:r>
                        <a:rPr sz="900" b="0">
                          <a:solidFill>
                            <a:srgbClr val="4B4B4B"/>
                          </a:solidFill>
                          <a:latin typeface="Arial"/>
                        </a:rPr>
                        <a:t>Confirm the short code in the references and record titles, or ask for the name there.</a:t>
                      </a:r>
                    </a:p>
                  </a:txBody>
                  <a:tcPr marL="54864" marR="54864" marT="27432" marB="27432">
                    <a:solidFill>
                      <a:srgbClr val="E5F5FF"/>
                    </a:solidFill>
                  </a:tcPr>
                </a:tc>
              </a:tr>
              <a:tr h="228600">
                <a:tc>
                  <a:txBody>
                    <a:bodyPr/>
                    <a:lstStyle/>
                    <a:p>
                      <a:r>
                        <a:rPr sz="900" b="0">
                          <a:solidFill>
                            <a:srgbClr val="4B4B4B"/>
                          </a:solidFill>
                          <a:latin typeface="Arial"/>
                        </a:rPr>
                        <a:t>CLR-OP-33</a:t>
                      </a:r>
                    </a:p>
                  </a:txBody>
                  <a:tcPr marL="54864" marR="54864" marT="27432" marB="27432">
                    <a:solidFill>
                      <a:srgbClr val="FFFFFF"/>
                    </a:solidFill>
                  </a:tcPr>
                </a:tc>
                <a:tc>
                  <a:txBody>
                    <a:bodyPr/>
                    <a:lstStyle/>
                    <a:p>
                      <a:r>
                        <a:rPr sz="900" b="0">
                          <a:solidFill>
                            <a:srgbClr val="4B4B4B"/>
                          </a:solidFill>
                          <a:latin typeface="Arial"/>
                        </a:rPr>
                        <a:t>Hold reasons (MKTID.003; FR-OP-111)</a:t>
                      </a:r>
                    </a:p>
                  </a:txBody>
                  <a:tcPr marL="54864" marR="54864" marT="27432" marB="27432">
                    <a:solidFill>
                      <a:srgbClr val="FFFFFF"/>
                    </a:solidFill>
                  </a:tcPr>
                </a:tc>
                <a:tc>
                  <a:txBody>
                    <a:bodyPr/>
                    <a:lstStyle/>
                    <a:p>
                      <a:r>
                        <a:rPr sz="900" b="0">
                          <a:solidFill>
                            <a:srgbClr val="4B4B4B"/>
                          </a:solidFill>
                          <a:latin typeface="Arial"/>
                        </a:rPr>
                        <a:t>The hold reason list has one value, Others, with the comment, until BDOI gives its list.</a:t>
                      </a:r>
                    </a:p>
                  </a:txBody>
                  <a:tcPr marL="54864" marR="54864" marT="27432" marB="27432">
                    <a:solidFill>
                      <a:srgbClr val="FFFFFF"/>
                    </a:solidFill>
                  </a:tcPr>
                </a:tc>
                <a:tc>
                  <a:txBody>
                    <a:bodyPr/>
                    <a:lstStyle/>
                    <a:p>
                      <a:r>
                        <a:rPr sz="900" b="0">
                          <a:solidFill>
                            <a:srgbClr val="4B4B4B"/>
                          </a:solidFill>
                          <a:latin typeface="Arial"/>
                        </a:rPr>
                        <a:t>Give the list of hold reasons (OQ24).</a:t>
                      </a:r>
                    </a:p>
                  </a:txBody>
                  <a:tcPr marL="54864" marR="54864" marT="27432" marB="27432">
                    <a:solidFill>
                      <a:srgbClr val="FFFFFF"/>
                    </a:solidFill>
                  </a:tcPr>
                </a:tc>
              </a:tr>
              <a:tr h="365760">
                <a:tc>
                  <a:txBody>
                    <a:bodyPr/>
                    <a:lstStyle/>
                    <a:p>
                      <a:r>
                        <a:rPr sz="900" b="0">
                          <a:solidFill>
                            <a:srgbClr val="4B4B4B"/>
                          </a:solidFill>
                          <a:latin typeface="Arial"/>
                        </a:rPr>
                        <a:t>CLR-OP-34</a:t>
                      </a:r>
                    </a:p>
                  </a:txBody>
                  <a:tcPr marL="54864" marR="54864" marT="27432" marB="27432">
                    <a:solidFill>
                      <a:srgbClr val="E5F5FF"/>
                    </a:solidFill>
                  </a:tcPr>
                </a:tc>
                <a:tc>
                  <a:txBody>
                    <a:bodyPr/>
                    <a:lstStyle/>
                    <a:p>
                      <a:r>
                        <a:rPr sz="900" b="0">
                          <a:solidFill>
                            <a:srgbClr val="4B4B4B"/>
                          </a:solidFill>
                          <a:latin typeface="Arial"/>
                        </a:rPr>
                        <a:t>Insurer references in the generated workbooks (DO-07, DO-08)</a:t>
                      </a:r>
                    </a:p>
                  </a:txBody>
                  <a:tcPr marL="54864" marR="54864" marT="27432" marB="27432">
                    <a:solidFill>
                      <a:srgbClr val="E5F5FF"/>
                    </a:solidFill>
                  </a:tcPr>
                </a:tc>
                <a:tc>
                  <a:txBody>
                    <a:bodyPr/>
                    <a:lstStyle/>
                    <a:p>
                      <a:r>
                        <a:rPr sz="900" b="0">
                          <a:solidFill>
                            <a:srgbClr val="4B4B4B"/>
                          </a:solidFill>
                          <a:latin typeface="Arial"/>
                        </a:rPr>
                        <a:t>The production register and the DP billing show the insurer's short code, the dates as yyyy-mm-dd and the remittance status as a code, for the insurer's own systems to read.</a:t>
                      </a:r>
                    </a:p>
                  </a:txBody>
                  <a:tcPr marL="54864" marR="54864" marT="27432" marB="27432">
                    <a:solidFill>
                      <a:srgbClr val="E5F5FF"/>
                    </a:solidFill>
                  </a:tcPr>
                </a:tc>
                <a:tc>
                  <a:txBody>
                    <a:bodyPr/>
                    <a:lstStyle/>
                    <a:p>
                      <a:r>
                        <a:rPr sz="900" b="0">
                          <a:solidFill>
                            <a:srgbClr val="4B4B4B"/>
                          </a:solidFill>
                          <a:latin typeface="Arial"/>
                        </a:rPr>
                        <a:t>Confirm the layout for the insurers, or give the layout each insurer needs.</a:t>
                      </a:r>
                    </a:p>
                  </a:txBody>
                  <a:tcPr marL="54864" marR="54864" marT="27432" marB="27432">
                    <a:solidFill>
                      <a:srgbClr val="E5F5FF"/>
                    </a:solidFill>
                  </a:tcPr>
                </a:tc>
              </a:tr>
              <a:tr h="777240">
                <a:tc>
                  <a:txBody>
                    <a:bodyPr/>
                    <a:lstStyle/>
                    <a:p>
                      <a:r>
                        <a:rPr sz="900" b="0">
                          <a:solidFill>
                            <a:srgbClr val="4B4B4B"/>
                          </a:solidFill>
                          <a:latin typeface="Arial"/>
                        </a:rPr>
                        <a:t>CLR-OP-35</a:t>
                      </a:r>
                    </a:p>
                  </a:txBody>
                  <a:tcPr marL="54864" marR="54864" marT="27432" marB="27432">
                    <a:solidFill>
                      <a:srgbClr val="FFFFFF"/>
                    </a:solidFill>
                  </a:tcPr>
                </a:tc>
                <a:tc>
                  <a:txBody>
                    <a:bodyPr/>
                    <a:lstStyle/>
                    <a:p>
                      <a:r>
                        <a:rPr sz="900" b="0">
                          <a:solidFill>
                            <a:srgbClr val="4B4B4B"/>
                          </a:solidFill>
                          <a:latin typeface="Arial"/>
                        </a:rPr>
                        <a:t>Basis of the recompute (ADJID.014; FR-OP-054)</a:t>
                      </a:r>
                    </a:p>
                  </a:txBody>
                  <a:tcPr marL="54864" marR="54864" marT="27432" marB="27432">
                    <a:solidFill>
                      <a:srgbClr val="FFFFFF"/>
                    </a:solidFill>
                  </a:tcPr>
                </a:tc>
                <a:tc>
                  <a:txBody>
                    <a:bodyPr/>
                    <a:lstStyle/>
                    <a:p>
                      <a:r>
                        <a:rPr sz="900" b="0">
                          <a:solidFill>
                            <a:srgbClr val="4B4B4B"/>
                          </a:solidFill>
                          <a:latin typeface="Arial"/>
                        </a:rPr>
                        <a:t>Before, Change and After of a request are all taken on the premium in force of the policy year: the invoice with the endorsements and returns of the same policy year, as booking computes a cancellation. A flat cancellation of a policy with later endorsements therefore shows the whole policy year going to zero; a write-off or a non-financial request stays on the invoice alone.</a:t>
                      </a:r>
                    </a:p>
                  </a:txBody>
                  <a:tcPr marL="54864" marR="54864" marT="27432" marB="27432">
                    <a:solidFill>
                      <a:srgbClr val="FFFFFF"/>
                    </a:solidFill>
                  </a:tcPr>
                </a:tc>
                <a:tc>
                  <a:txBody>
                    <a:bodyPr/>
                    <a:lstStyle/>
                    <a:p>
                      <a:r>
                        <a:rPr sz="900" b="0">
                          <a:solidFill>
                            <a:srgbClr val="4B4B4B"/>
                          </a:solidFill>
                          <a:latin typeface="Arial"/>
                        </a:rPr>
                        <a:t>Confirm the premium in force of the policy year as the basis.</a:t>
                      </a:r>
                    </a:p>
                  </a:txBody>
                  <a:tcPr marL="54864" marR="54864" marT="27432" marB="27432">
                    <a:solidFill>
                      <a:srgbClr val="FFFFFF"/>
                    </a:solidFill>
                  </a:tcPr>
                </a:tc>
              </a:tr>
            </a:tbl>
          </a:graphicData>
        </a:graphic>
      </p:graphicFrame>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658</a:t>
            </a:r>
          </a:p>
        </p:txBody>
      </p:sp>
      <p:graphicFrame>
        <p:nvGraphicFramePr>
          <p:cNvPr id="9" name="Table 8"/>
          <p:cNvGraphicFramePr>
            <a:graphicFrameLocks noGrp="1"/>
          </p:cNvGraphicFramePr>
          <p:nvPr/>
        </p:nvGraphicFramePr>
        <p:xfrm>
          <a:off x="548640" y="1325880"/>
          <a:ext cx="11094413" cy="388620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640080">
                <a:tc>
                  <a:txBody>
                    <a:bodyPr/>
                    <a:lstStyle/>
                    <a:p>
                      <a:r>
                        <a:rPr sz="900" b="0">
                          <a:solidFill>
                            <a:srgbClr val="4B4B4B"/>
                          </a:solidFill>
                          <a:latin typeface="Arial"/>
                        </a:rPr>
                        <a:t>UX-OP-01</a:t>
                      </a:r>
                    </a:p>
                  </a:txBody>
                  <a:tcPr marL="54864" marR="54864" marT="27432" marB="27432">
                    <a:solidFill>
                      <a:srgbClr val="FFFFFF"/>
                    </a:solidFill>
                  </a:tcPr>
                </a:tc>
                <a:tc>
                  <a:txBody>
                    <a:bodyPr/>
                    <a:lstStyle/>
                    <a:p>
                      <a:r>
                        <a:rPr sz="900" b="0">
                          <a:solidFill>
                            <a:srgbClr val="4B4B4B"/>
                          </a:solidFill>
                          <a:latin typeface="Arial"/>
                        </a:rPr>
                        <a:t>SCR-OP-03, SCR-OP-39</a:t>
                      </a:r>
                    </a:p>
                  </a:txBody>
                  <a:tcPr marL="54864" marR="54864" marT="27432" marB="27432">
                    <a:solidFill>
                      <a:srgbClr val="FFFFFF"/>
                    </a:solidFill>
                  </a:tcPr>
                </a:tc>
                <a:tc>
                  <a:txBody>
                    <a:bodyPr/>
                    <a:lstStyle/>
                    <a:p>
                      <a:r>
                        <a:rPr sz="900" b="0">
                          <a:solidFill>
                            <a:srgbClr val="4B4B4B"/>
                          </a:solidFill>
                          <a:latin typeface="Arial"/>
                        </a:rPr>
                        <a:t>The Policy Transactions table (the booking, its endorsements and returns with the premium, taxes, commission and gross premium before and after, and the journals) is wider than the page: it scrolls inside its card with the first columns in view.</a:t>
                      </a:r>
                    </a:p>
                  </a:txBody>
                  <a:tcPr marL="54864" marR="54864" marT="27432" marB="27432">
                    <a:solidFill>
                      <a:srgbClr val="FFFFFF"/>
                    </a:solidFill>
                  </a:tcPr>
                </a:tc>
                <a:tc>
                  <a:txBody>
                    <a:bodyPr/>
                    <a:lstStyle/>
                    <a:p>
                      <a:r>
                        <a:rPr sz="900" b="0">
                          <a:solidFill>
                            <a:srgbClr val="4B4B4B"/>
                          </a:solidFill>
                          <a:latin typeface="Arial"/>
                        </a:rPr>
                        <a:t>Keep the table scrolling inside its card with the transaction column fixed, or fold the before and after columns into one Change column and show the details of a transaction in a side panel.</a:t>
                      </a:r>
                    </a:p>
                  </a:txBody>
                  <a:tcPr marL="54864" marR="54864" marT="27432" marB="27432">
                    <a:solidFill>
                      <a:srgbClr val="FFFFFF"/>
                    </a:solidFill>
                  </a:tcPr>
                </a:tc>
              </a:tr>
              <a:tr h="502920">
                <a:tc>
                  <a:txBody>
                    <a:bodyPr/>
                    <a:lstStyle/>
                    <a:p>
                      <a:r>
                        <a:rPr sz="900" b="0">
                          <a:solidFill>
                            <a:srgbClr val="4B4B4B"/>
                          </a:solidFill>
                          <a:latin typeface="Arial"/>
                        </a:rPr>
                        <a:t>UX-OP-02</a:t>
                      </a:r>
                    </a:p>
                  </a:txBody>
                  <a:tcPr marL="54864" marR="54864" marT="27432" marB="27432">
                    <a:solidFill>
                      <a:srgbClr val="E5F5FF"/>
                    </a:solidFill>
                  </a:tcPr>
                </a:tc>
                <a:tc>
                  <a:txBody>
                    <a:bodyPr/>
                    <a:lstStyle/>
                    <a:p>
                      <a:r>
                        <a:rPr sz="900" b="0">
                          <a:solidFill>
                            <a:srgbClr val="4B4B4B"/>
                          </a:solidFill>
                          <a:latin typeface="Arial"/>
                        </a:rPr>
                        <a:t>SCR-OP-26, SCR-OP-45, SCR-OP-54, SCR-OP-59</a:t>
                      </a:r>
                    </a:p>
                  </a:txBody>
                  <a:tcPr marL="54864" marR="54864" marT="27432" marB="27432">
                    <a:solidFill>
                      <a:srgbClr val="E5F5FF"/>
                    </a:solidFill>
                  </a:tcPr>
                </a:tc>
                <a:tc>
                  <a:txBody>
                    <a:bodyPr/>
                    <a:lstStyle/>
                    <a:p>
                      <a:r>
                        <a:rPr sz="900" b="0">
                          <a:solidFill>
                            <a:srgbClr val="4B4B4B"/>
                          </a:solidFill>
                          <a:latin typeface="Arial"/>
                        </a:rPr>
                        <a:t>The reference of a remittance batch, a reconciliation cycle and a direct payment billing carries the insurer's short code (RMB-INS-MGIC-2026-000001); the insurer's name is in the record facts and the lists.</a:t>
                      </a:r>
                    </a:p>
                  </a:txBody>
                  <a:tcPr marL="54864" marR="54864" marT="27432" marB="27432">
                    <a:solidFill>
                      <a:srgbClr val="E5F5FF"/>
                    </a:solidFill>
                  </a:tcPr>
                </a:tc>
                <a:tc>
                  <a:txBody>
                    <a:bodyPr/>
                    <a:lstStyle/>
                    <a:p>
                      <a:r>
                        <a:rPr sz="900" b="0">
                          <a:solidFill>
                            <a:srgbClr val="4B4B4B"/>
                          </a:solidFill>
                          <a:latin typeface="Arial"/>
                        </a:rPr>
                        <a:t>Confirm the reference with the short code (CLR-OP-28) or ask for a plain sequence number with the insurer's name only in the facts.</a:t>
                      </a:r>
                    </a:p>
                  </a:txBody>
                  <a:tcPr marL="54864" marR="54864" marT="27432" marB="27432">
                    <a:solidFill>
                      <a:srgbClr val="E5F5FF"/>
                    </a:solidFill>
                  </a:tcPr>
                </a:tc>
              </a:tr>
              <a:tr h="502920">
                <a:tc>
                  <a:txBody>
                    <a:bodyPr/>
                    <a:lstStyle/>
                    <a:p>
                      <a:r>
                        <a:rPr sz="900" b="0">
                          <a:solidFill>
                            <a:srgbClr val="4B4B4B"/>
                          </a:solidFill>
                          <a:latin typeface="Arial"/>
                        </a:rPr>
                        <a:t>UX-OP-03</a:t>
                      </a:r>
                    </a:p>
                  </a:txBody>
                  <a:tcPr marL="54864" marR="54864" marT="27432" marB="27432">
                    <a:solidFill>
                      <a:srgbClr val="FFFFFF"/>
                    </a:solidFill>
                  </a:tcPr>
                </a:tc>
                <a:tc>
                  <a:txBody>
                    <a:bodyPr/>
                    <a:lstStyle/>
                    <a:p>
                      <a:r>
                        <a:rPr sz="900" b="0">
                          <a:solidFill>
                            <a:srgbClr val="4B4B4B"/>
                          </a:solidFill>
                          <a:latin typeface="Arial"/>
                        </a:rPr>
                        <a:t>SCR-OP-46, SCR-OP-54</a:t>
                      </a:r>
                    </a:p>
                  </a:txBody>
                  <a:tcPr marL="54864" marR="54864" marT="27432" marB="27432">
                    <a:solidFill>
                      <a:srgbClr val="FFFFFF"/>
                    </a:solidFill>
                  </a:tcPr>
                </a:tc>
                <a:tc>
                  <a:txBody>
                    <a:bodyPr/>
                    <a:lstStyle/>
                    <a:p>
                      <a:r>
                        <a:rPr sz="900" b="0">
                          <a:solidFill>
                            <a:srgbClr val="4B4B4B"/>
                          </a:solidFill>
                          <a:latin typeface="Arial"/>
                        </a:rPr>
                        <a:t>The production register and the direct payment billing are workbooks read back by the insurers' own systems: their dates are yyyy-mm-dd and the remittance status and the insurer are codes.</a:t>
                      </a:r>
                    </a:p>
                  </a:txBody>
                  <a:tcPr marL="54864" marR="54864" marT="27432" marB="27432">
                    <a:solidFill>
                      <a:srgbClr val="FFFFFF"/>
                    </a:solidFill>
                  </a:tcPr>
                </a:tc>
                <a:tc>
                  <a:txBody>
                    <a:bodyPr/>
                    <a:lstStyle/>
                    <a:p>
                      <a:r>
                        <a:rPr sz="900" b="0">
                          <a:solidFill>
                            <a:srgbClr val="4B4B4B"/>
                          </a:solidFill>
                          <a:latin typeface="Arial"/>
                        </a:rPr>
                        <a:t>Confirm the layout for the insurers (CLR-OP-34), or give the layout each insurer needs.</a:t>
                      </a:r>
                    </a:p>
                  </a:txBody>
                  <a:tcPr marL="54864" marR="54864" marT="27432" marB="27432">
                    <a:solidFill>
                      <a:srgbClr val="FFFFFF"/>
                    </a:solidFill>
                  </a:tcPr>
                </a:tc>
              </a:tr>
              <a:tr h="502920">
                <a:tc>
                  <a:txBody>
                    <a:bodyPr/>
                    <a:lstStyle/>
                    <a:p>
                      <a:r>
                        <a:rPr sz="900" b="0">
                          <a:solidFill>
                            <a:srgbClr val="4B4B4B"/>
                          </a:solidFill>
                          <a:latin typeface="Arial"/>
                        </a:rPr>
                        <a:t>UX-OP-04</a:t>
                      </a:r>
                    </a:p>
                  </a:txBody>
                  <a:tcPr marL="54864" marR="54864" marT="27432" marB="27432">
                    <a:solidFill>
                      <a:srgbClr val="E5F5FF"/>
                    </a:solidFill>
                  </a:tcPr>
                </a:tc>
                <a:tc>
                  <a:txBody>
                    <a:bodyPr/>
                    <a:lstStyle/>
                    <a:p>
                      <a:r>
                        <a:rPr sz="900" b="0">
                          <a:solidFill>
                            <a:srgbClr val="4B4B4B"/>
                          </a:solidFill>
                          <a:latin typeface="Arial"/>
                        </a:rPr>
                        <a:t>SCR-OP-02, SCR-OP-44</a:t>
                      </a:r>
                    </a:p>
                  </a:txBody>
                  <a:tcPr marL="54864" marR="54864" marT="27432" marB="27432">
                    <a:solidFill>
                      <a:srgbClr val="E5F5FF"/>
                    </a:solidFill>
                  </a:tcPr>
                </a:tc>
                <a:tc>
                  <a:txBody>
                    <a:bodyPr/>
                    <a:lstStyle/>
                    <a:p>
                      <a:r>
                        <a:rPr sz="900" b="0">
                          <a:solidFill>
                            <a:srgbClr val="4B4B4B"/>
                          </a:solidFill>
                          <a:latin typeface="Arial"/>
                        </a:rPr>
                        <a:t>Invoice Search and Reconciliation Cycles hold more columns than a 1440-pixel window shows: the last columns (Remittance and Flags; Last Feedback) scroll inside the card.</a:t>
                      </a:r>
                    </a:p>
                  </a:txBody>
                  <a:tcPr marL="54864" marR="54864" marT="27432" marB="27432">
                    <a:solidFill>
                      <a:srgbClr val="E5F5FF"/>
                    </a:solidFill>
                  </a:tcPr>
                </a:tc>
                <a:tc>
                  <a:txBody>
                    <a:bodyPr/>
                    <a:lstStyle/>
                    <a:p>
                      <a:r>
                        <a:rPr sz="900" b="0">
                          <a:solidFill>
                            <a:srgbClr val="4B4B4B"/>
                          </a:solidFill>
                          <a:latin typeface="Arial"/>
                        </a:rPr>
                        <a:t>Keep the lists scrolling with the reference column fixed, or stack two facts per column (as Booked / Inception already does) so that every column is in view.</a:t>
                      </a:r>
                    </a:p>
                  </a:txBody>
                  <a:tcPr marL="54864" marR="54864" marT="27432" marB="27432">
                    <a:solidFill>
                      <a:srgbClr val="E5F5FF"/>
                    </a:solidFill>
                  </a:tcPr>
                </a:tc>
              </a:tr>
              <a:tr h="502920">
                <a:tc>
                  <a:txBody>
                    <a:bodyPr/>
                    <a:lstStyle/>
                    <a:p>
                      <a:r>
                        <a:rPr sz="900" b="0">
                          <a:solidFill>
                            <a:srgbClr val="4B4B4B"/>
                          </a:solidFill>
                          <a:latin typeface="Arial"/>
                        </a:rPr>
                        <a:t>UX-OP-05</a:t>
                      </a:r>
                    </a:p>
                  </a:txBody>
                  <a:tcPr marL="54864" marR="54864" marT="27432" marB="27432">
                    <a:solidFill>
                      <a:srgbClr val="FFFFFF"/>
                    </a:solidFill>
                  </a:tcPr>
                </a:tc>
                <a:tc>
                  <a:txBody>
                    <a:bodyPr/>
                    <a:lstStyle/>
                    <a:p>
                      <a:r>
                        <a:rPr sz="900" b="0">
                          <a:solidFill>
                            <a:srgbClr val="4B4B4B"/>
                          </a:solidFill>
                          <a:latin typeface="Arial"/>
                        </a:rPr>
                        <a:t>SCR-OP-39</a:t>
                      </a:r>
                    </a:p>
                  </a:txBody>
                  <a:tcPr marL="54864" marR="54864" marT="27432" marB="27432">
                    <a:solidFill>
                      <a:srgbClr val="FFFFFF"/>
                    </a:solidFill>
                  </a:tcPr>
                </a:tc>
                <a:tc>
                  <a:txBody>
                    <a:bodyPr/>
                    <a:lstStyle/>
                    <a:p>
                      <a:r>
                        <a:rPr sz="900" b="0">
                          <a:solidFill>
                            <a:srgbClr val="4B4B4B"/>
                          </a:solidFill>
                          <a:latin typeface="Arial"/>
                        </a:rPr>
                        <a:t>The accounting entries of a request and the journals of Policy Transactions show the party of a line by its sub-ledger code (client or insurer code), as the journals of the General Ledger do.</a:t>
                      </a:r>
                    </a:p>
                  </a:txBody>
                  <a:tcPr marL="54864" marR="54864" marT="27432" marB="27432">
                    <a:solidFill>
                      <a:srgbClr val="FFFFFF"/>
                    </a:solidFill>
                  </a:tcPr>
                </a:tc>
                <a:tc>
                  <a:txBody>
                    <a:bodyPr/>
                    <a:lstStyle/>
                    <a:p>
                      <a:r>
                        <a:rPr sz="900" b="0">
                          <a:solidFill>
                            <a:srgbClr val="4B4B4B"/>
                          </a:solidFill>
                          <a:latin typeface="Arial"/>
                        </a:rPr>
                        <a:t>Confirm the code, or show the party's name with the code under it.</a:t>
                      </a:r>
                    </a:p>
                  </a:txBody>
                  <a:tcPr marL="54864" marR="54864" marT="27432" marB="27432">
                    <a:solidFill>
                      <a:srgbClr val="FFFFFF"/>
                    </a:solidFill>
                  </a:tcPr>
                </a:tc>
              </a:tr>
              <a:tr h="502920">
                <a:tc>
                  <a:txBody>
                    <a:bodyPr/>
                    <a:lstStyle/>
                    <a:p>
                      <a:r>
                        <a:rPr sz="900" b="0">
                          <a:solidFill>
                            <a:srgbClr val="4B4B4B"/>
                          </a:solidFill>
                          <a:latin typeface="Arial"/>
                        </a:rPr>
                        <a:t>UX-OP-06</a:t>
                      </a:r>
                    </a:p>
                  </a:txBody>
                  <a:tcPr marL="54864" marR="54864" marT="27432" marB="27432">
                    <a:solidFill>
                      <a:srgbClr val="E5F5FF"/>
                    </a:solidFill>
                  </a:tcPr>
                </a:tc>
                <a:tc>
                  <a:txBody>
                    <a:bodyPr/>
                    <a:lstStyle/>
                    <a:p>
                      <a:r>
                        <a:rPr sz="900" b="0">
                          <a:solidFill>
                            <a:srgbClr val="4B4B4B"/>
                          </a:solidFill>
                          <a:latin typeface="Arial"/>
                        </a:rPr>
                        <a:t>SCR-OP-01, SCR-OP-07, SCR-OP-23</a:t>
                      </a:r>
                    </a:p>
                  </a:txBody>
                  <a:tcPr marL="54864" marR="54864" marT="27432" marB="27432">
                    <a:solidFill>
                      <a:srgbClr val="E5F5FF"/>
                    </a:solidFill>
                  </a:tcPr>
                </a:tc>
                <a:tc>
                  <a:txBody>
                    <a:bodyPr/>
                    <a:lstStyle/>
                    <a:p>
                      <a:r>
                        <a:rPr sz="900" b="0">
                          <a:solidFill>
                            <a:srgbClr val="4B4B4B"/>
                          </a:solidFill>
                          <a:latin typeface="Arial"/>
                        </a:rPr>
                        <a:t>The Operations personas land on the New Business dashboard after sign-in, the landing page of every broking role; their own home pages (Operations, Cashiering, Remittance) are one click away in the menu.</a:t>
                      </a:r>
                    </a:p>
                  </a:txBody>
                  <a:tcPr marL="54864" marR="54864" marT="27432" marB="27432">
                    <a:solidFill>
                      <a:srgbClr val="E5F5FF"/>
                    </a:solidFill>
                  </a:tcPr>
                </a:tc>
                <a:tc>
                  <a:txBody>
                    <a:bodyPr/>
                    <a:lstStyle/>
                    <a:p>
                      <a:r>
                        <a:rPr sz="900" b="0">
                          <a:solidFill>
                            <a:srgbClr val="4B4B4B"/>
                          </a:solidFill>
                          <a:latin typeface="Arial"/>
                        </a:rPr>
                        <a:t>Confirm the landing page, or land each Operations persona on the home page of its team.</a:t>
                      </a:r>
                    </a:p>
                  </a:txBody>
                  <a:tcPr marL="54864" marR="54864" marT="27432" marB="27432">
                    <a:solidFill>
                      <a:srgbClr val="E5F5FF"/>
                    </a:solidFill>
                  </a:tcPr>
                </a:tc>
              </a:tr>
              <a:tr h="502920">
                <a:tc>
                  <a:txBody>
                    <a:bodyPr/>
                    <a:lstStyle/>
                    <a:p>
                      <a:r>
                        <a:rPr sz="900" b="0">
                          <a:solidFill>
                            <a:srgbClr val="4B4B4B"/>
                          </a:solidFill>
                          <a:latin typeface="Arial"/>
                        </a:rPr>
                        <a:t>UX-OP-07</a:t>
                      </a:r>
                    </a:p>
                  </a:txBody>
                  <a:tcPr marL="54864" marR="54864" marT="27432" marB="27432">
                    <a:solidFill>
                      <a:srgbClr val="FFFFFF"/>
                    </a:solidFill>
                  </a:tcPr>
                </a:tc>
                <a:tc>
                  <a:txBody>
                    <a:bodyPr/>
                    <a:lstStyle/>
                    <a:p>
                      <a:r>
                        <a:rPr sz="900" b="0">
                          <a:solidFill>
                            <a:srgbClr val="4B4B4B"/>
                          </a:solidFill>
                          <a:latin typeface="Arial"/>
                        </a:rPr>
                        <a:t>SCR-OP-38</a:t>
                      </a:r>
                    </a:p>
                  </a:txBody>
                  <a:tcPr marL="54864" marR="54864" marT="27432" marB="27432">
                    <a:solidFill>
                      <a:srgbClr val="FFFFFF"/>
                    </a:solidFill>
                  </a:tcPr>
                </a:tc>
                <a:tc>
                  <a:txBody>
                    <a:bodyPr/>
                    <a:lstStyle/>
                    <a:p>
                      <a:r>
                        <a:rPr sz="900" b="0">
                          <a:solidFill>
                            <a:srgbClr val="4B4B4B"/>
                          </a:solidFill>
                          <a:latin typeface="Arial"/>
                        </a:rPr>
                        <a:t>Before, Change and After of a recompute are taken on the premium in force of the policy year, so a flat cancellation of a policy with a later endorsement shows the whole policy year going to zero.</a:t>
                      </a:r>
                    </a:p>
                  </a:txBody>
                  <a:tcPr marL="54864" marR="54864" marT="27432" marB="27432">
                    <a:solidFill>
                      <a:srgbClr val="FFFFFF"/>
                    </a:solidFill>
                  </a:tcPr>
                </a:tc>
                <a:tc>
                  <a:txBody>
                    <a:bodyPr/>
                    <a:lstStyle/>
                    <a:p>
                      <a:r>
                        <a:rPr sz="900" b="0">
                          <a:solidFill>
                            <a:srgbClr val="4B4B4B"/>
                          </a:solidFill>
                          <a:latin typeface="Arial"/>
                        </a:rPr>
                        <a:t>Confirm the basis (CLR-OP-35); the Recompute step would otherwise name the invoice the figures are for.</a:t>
                      </a:r>
                    </a:p>
                  </a:txBody>
                  <a:tcPr marL="54864" marR="54864" marT="27432" marB="27432">
                    <a:solidFill>
                      <a:srgbClr val="FFFFFF"/>
                    </a:solidFill>
                  </a:tcPr>
                </a:tc>
              </a:tr>
            </a:tbl>
          </a:graphicData>
        </a:graphic>
      </p:graphicFrame>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659</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660</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662</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SCR-OP-01</a:t>
                      </a:r>
                    </a:p>
                  </a:txBody>
                  <a:tcPr marL="54864" marR="54864" marT="27432" marB="27432">
                    <a:solidFill>
                      <a:srgbClr val="FFFFFF"/>
                    </a:solidFill>
                  </a:tcPr>
                </a:tc>
                <a:tc>
                  <a:txBody>
                    <a:bodyPr/>
                    <a:lstStyle/>
                    <a:p>
                      <a:r>
                        <a:rPr sz="850" b="0">
                          <a:solidFill>
                            <a:srgbClr val="4B4B4B"/>
                          </a:solidFill>
                          <a:latin typeface="Arial"/>
                        </a:rPr>
                        <a:t>Operations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FR-OP-002, FR-OP-003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SCR-OP-02</a:t>
                      </a:r>
                    </a:p>
                  </a:txBody>
                  <a:tcPr marL="54864" marR="54864" marT="27432" marB="27432">
                    <a:solidFill>
                      <a:srgbClr val="E5F5FF"/>
                    </a:solidFill>
                  </a:tcPr>
                </a:tc>
                <a:tc>
                  <a:txBody>
                    <a:bodyPr/>
                    <a:lstStyle/>
                    <a:p>
                      <a:r>
                        <a:rPr sz="850" b="0">
                          <a:solidFill>
                            <a:srgbClr val="4B4B4B"/>
                          </a:solidFill>
                          <a:latin typeface="Arial"/>
                        </a:rPr>
                        <a:t>Invoice Search</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FR-OP-004, FR-OP-005</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a:t>
                      </a:r>
                    </a:p>
                  </a:txBody>
                  <a:tcPr marL="54864" marR="54864" marT="27432" marB="27432">
                    <a:solidFill>
                      <a:srgbClr val="E5F5FF"/>
                    </a:solidFill>
                  </a:tcPr>
                </a:tc>
              </a:tr>
              <a:tr h="350518">
                <a:tc>
                  <a:txBody>
                    <a:bodyPr/>
                    <a:lstStyle/>
                    <a:p>
                      <a:r>
                        <a:rPr sz="850" b="0">
                          <a:solidFill>
                            <a:srgbClr val="4B4B4B"/>
                          </a:solidFill>
                          <a:latin typeface="Arial"/>
                        </a:rPr>
                        <a:t>SCR-OP-03</a:t>
                      </a:r>
                    </a:p>
                  </a:txBody>
                  <a:tcPr marL="54864" marR="54864" marT="27432" marB="27432">
                    <a:solidFill>
                      <a:srgbClr val="FFFFFF"/>
                    </a:solidFill>
                  </a:tcPr>
                </a:tc>
                <a:tc>
                  <a:txBody>
                    <a:bodyPr/>
                    <a:lstStyle/>
                    <a:p>
                      <a:r>
                        <a:rPr sz="850" b="0">
                          <a:solidFill>
                            <a:srgbClr val="4B4B4B"/>
                          </a:solidFill>
                          <a:latin typeface="Arial"/>
                        </a:rPr>
                        <a:t>Invoice 360</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FR-OP-004, FR-OP-005, FR-OP-006, FR-OP-007, FR-OP-061</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SCR-OP-04</a:t>
                      </a:r>
                    </a:p>
                  </a:txBody>
                  <a:tcPr marL="54864" marR="54864" marT="27432" marB="27432">
                    <a:solidFill>
                      <a:srgbClr val="E5F5FF"/>
                    </a:solidFill>
                  </a:tcPr>
                </a:tc>
                <a:tc>
                  <a:txBody>
                    <a:bodyPr/>
                    <a:lstStyle/>
                    <a:p>
                      <a:r>
                        <a:rPr sz="850" b="0">
                          <a:solidFill>
                            <a:srgbClr val="4B4B4B"/>
                          </a:solidFill>
                          <a:latin typeface="Arial"/>
                        </a:rPr>
                        <a:t>Hand-offs and Extracts</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FR-OP-130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SCR-OP-05</a:t>
                      </a:r>
                    </a:p>
                  </a:txBody>
                  <a:tcPr marL="54864" marR="54864" marT="27432" marB="27432">
                    <a:solidFill>
                      <a:srgbClr val="FFFFFF"/>
                    </a:solidFill>
                  </a:tcPr>
                </a:tc>
                <a:tc>
                  <a:txBody>
                    <a:bodyPr/>
                    <a:lstStyle/>
                    <a:p>
                      <a:r>
                        <a:rPr sz="850" b="0">
                          <a:solidFill>
                            <a:srgbClr val="4B4B4B"/>
                          </a:solidFill>
                          <a:latin typeface="Arial"/>
                        </a:rPr>
                        <a:t>Report Archive</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FR-OP-009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SCR-OP-06</a:t>
                      </a:r>
                    </a:p>
                  </a:txBody>
                  <a:tcPr marL="54864" marR="54864" marT="27432" marB="27432">
                    <a:solidFill>
                      <a:srgbClr val="E5F5FF"/>
                    </a:solidFill>
                  </a:tcPr>
                </a:tc>
                <a:tc>
                  <a:txBody>
                    <a:bodyPr/>
                    <a:lstStyle/>
                    <a:p>
                      <a:r>
                        <a:rPr sz="850" b="0">
                          <a:solidFill>
                            <a:srgbClr val="4B4B4B"/>
                          </a:solidFill>
                          <a:latin typeface="Arial"/>
                        </a:rPr>
                        <a:t>Notification Settings</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FR-OP-036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SCR-OP-07</a:t>
                      </a:r>
                    </a:p>
                  </a:txBody>
                  <a:tcPr marL="54864" marR="54864" marT="27432" marB="27432">
                    <a:solidFill>
                      <a:srgbClr val="FFFFFF"/>
                    </a:solidFill>
                  </a:tcPr>
                </a:tc>
                <a:tc>
                  <a:txBody>
                    <a:bodyPr/>
                    <a:lstStyle/>
                    <a:p>
                      <a:r>
                        <a:rPr sz="850" b="0">
                          <a:solidFill>
                            <a:srgbClr val="4B4B4B"/>
                          </a:solidFill>
                          <a:latin typeface="Arial"/>
                        </a:rPr>
                        <a:t>Cashiering Workbench</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FR-OP-003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SCR-OP-08</a:t>
                      </a:r>
                    </a:p>
                  </a:txBody>
                  <a:tcPr marL="54864" marR="54864" marT="27432" marB="27432">
                    <a:solidFill>
                      <a:srgbClr val="E5F5FF"/>
                    </a:solidFill>
                  </a:tcPr>
                </a:tc>
                <a:tc>
                  <a:txBody>
                    <a:bodyPr/>
                    <a:lstStyle/>
                    <a:p>
                      <a:r>
                        <a:rPr sz="850" b="0">
                          <a:solidFill>
                            <a:srgbClr val="4B4B4B"/>
                          </a:solidFill>
                          <a:latin typeface="Arial"/>
                        </a:rPr>
                        <a:t>Receive Payment</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FR-OP-011, FR-OP-018, FR-OP-019, FR-OP-020</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Validation error</a:t>
                      </a:r>
                    </a:p>
                  </a:txBody>
                  <a:tcPr marL="54864" marR="54864" marT="27432" marB="27432">
                    <a:solidFill>
                      <a:srgbClr val="E5F5FF"/>
                    </a:solidFill>
                  </a:tcPr>
                </a:tc>
              </a:tr>
              <a:tr h="220979">
                <a:tc>
                  <a:txBody>
                    <a:bodyPr/>
                    <a:lstStyle/>
                    <a:p>
                      <a:r>
                        <a:rPr sz="850" b="0">
                          <a:solidFill>
                            <a:srgbClr val="4B4B4B"/>
                          </a:solidFill>
                          <a:latin typeface="Arial"/>
                        </a:rPr>
                        <a:t>SCR-OP-09</a:t>
                      </a:r>
                    </a:p>
                  </a:txBody>
                  <a:tcPr marL="54864" marR="54864" marT="27432" marB="27432">
                    <a:solidFill>
                      <a:srgbClr val="FFFFFF"/>
                    </a:solidFill>
                  </a:tcPr>
                </a:tc>
                <a:tc>
                  <a:txBody>
                    <a:bodyPr/>
                    <a:lstStyle/>
                    <a:p>
                      <a:r>
                        <a:rPr sz="850" b="0">
                          <a:solidFill>
                            <a:srgbClr val="4B4B4B"/>
                          </a:solidFill>
                          <a:latin typeface="Arial"/>
                        </a:rPr>
                        <a:t>Receipts</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FR-OP-012, FR-OP-013, FR-OP-014, FR-OP-024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350518">
                <a:tc>
                  <a:txBody>
                    <a:bodyPr/>
                    <a:lstStyle/>
                    <a:p>
                      <a:r>
                        <a:rPr sz="850" b="0">
                          <a:solidFill>
                            <a:srgbClr val="4B4B4B"/>
                          </a:solidFill>
                          <a:latin typeface="Arial"/>
                        </a:rPr>
                        <a:t>SCR-OP-10</a:t>
                      </a:r>
                    </a:p>
                  </a:txBody>
                  <a:tcPr marL="54864" marR="54864" marT="27432" marB="27432">
                    <a:solidFill>
                      <a:srgbClr val="E5F5FF"/>
                    </a:solidFill>
                  </a:tcPr>
                </a:tc>
                <a:tc>
                  <a:txBody>
                    <a:bodyPr/>
                    <a:lstStyle/>
                    <a:p>
                      <a:r>
                        <a:rPr sz="850" b="0">
                          <a:solidFill>
                            <a:srgbClr val="4B4B4B"/>
                          </a:solidFill>
                          <a:latin typeface="Arial"/>
                        </a:rPr>
                        <a:t>Receipt</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FR-OP-011, FR-OP-012, FR-OP-013, FR-OP-014, FR-OP-024, FR-OP-025, FR-OP-027</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Default, Confirmation with reason,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SCR-OP-11</a:t>
                      </a:r>
                    </a:p>
                  </a:txBody>
                  <a:tcPr marL="54864" marR="54864" marT="27432" marB="27432">
                    <a:solidFill>
                      <a:srgbClr val="FFFFFF"/>
                    </a:solidFill>
                  </a:tcPr>
                </a:tc>
                <a:tc>
                  <a:txBody>
                    <a:bodyPr/>
                    <a:lstStyle/>
                    <a:p>
                      <a:r>
                        <a:rPr sz="850" b="0">
                          <a:solidFill>
                            <a:srgbClr val="4B4B4B"/>
                          </a:solidFill>
                          <a:latin typeface="Arial"/>
                        </a:rPr>
                        <a:t>Unapplied Payments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FR-OP-022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220979">
                <a:tc>
                  <a:txBody>
                    <a:bodyPr/>
                    <a:lstStyle/>
                    <a:p>
                      <a:r>
                        <a:rPr sz="850" b="0">
                          <a:solidFill>
                            <a:srgbClr val="4B4B4B"/>
                          </a:solidFill>
                          <a:latin typeface="Arial"/>
                        </a:rPr>
                        <a:t>SCR-OP-12</a:t>
                      </a:r>
                    </a:p>
                  </a:txBody>
                  <a:tcPr marL="54864" marR="54864" marT="27432" marB="27432">
                    <a:solidFill>
                      <a:srgbClr val="E5F5FF"/>
                    </a:solidFill>
                  </a:tcPr>
                </a:tc>
                <a:tc>
                  <a:txBody>
                    <a:bodyPr/>
                    <a:lstStyle/>
                    <a:p>
                      <a:r>
                        <a:rPr sz="850" b="0">
                          <a:solidFill>
                            <a:srgbClr val="4B4B4B"/>
                          </a:solidFill>
                          <a:latin typeface="Arial"/>
                        </a:rPr>
                        <a:t>Unapplied Payment</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FR-OP-022, FR-OP-023, FR-OP-120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Filled,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SCR-OP-13</a:t>
                      </a:r>
                    </a:p>
                  </a:txBody>
                  <a:tcPr marL="54864" marR="54864" marT="27432" marB="27432">
                    <a:solidFill>
                      <a:srgbClr val="FFFFFF"/>
                    </a:solidFill>
                  </a:tcPr>
                </a:tc>
                <a:tc>
                  <a:txBody>
                    <a:bodyPr/>
                    <a:lstStyle/>
                    <a:p>
                      <a:r>
                        <a:rPr sz="850" b="0">
                          <a:solidFill>
                            <a:srgbClr val="4B4B4B"/>
                          </a:solidFill>
                          <a:latin typeface="Arial"/>
                        </a:rPr>
                        <a:t>Incoming Requests</a:t>
                      </a:r>
                    </a:p>
                  </a:txBody>
                  <a:tcPr marL="54864" marR="54864" marT="27432" marB="27432">
                    <a:solidFill>
                      <a:srgbClr val="FFFFFF"/>
                    </a:solidFill>
                  </a:tcPr>
                </a:tc>
                <a:tc>
                  <a:txBody>
                    <a:bodyPr/>
                    <a:lstStyle/>
                    <a:p>
                      <a:r>
                        <a:rPr sz="850" b="0">
                          <a:solidFill>
                            <a:srgbClr val="4B4B4B"/>
                          </a:solidFill>
                          <a:latin typeface="Arial"/>
                        </a:rPr>
                        <a:t>13.2.7</a:t>
                      </a:r>
                    </a:p>
                  </a:txBody>
                  <a:tcPr marL="54864" marR="54864" marT="27432" marB="27432">
                    <a:solidFill>
                      <a:srgbClr val="FFFFFF"/>
                    </a:solidFill>
                  </a:tcPr>
                </a:tc>
                <a:tc>
                  <a:txBody>
                    <a:bodyPr/>
                    <a:lstStyle/>
                    <a:p>
                      <a:r>
                        <a:rPr sz="850" b="0">
                          <a:solidFill>
                            <a:srgbClr val="4B4B4B"/>
                          </a:solidFill>
                          <a:latin typeface="Arial"/>
                        </a:rPr>
                        <a:t>FR-OP-022, FR-OP-130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SCR-OP-14</a:t>
                      </a:r>
                    </a:p>
                  </a:txBody>
                  <a:tcPr marL="54864" marR="54864" marT="27432" marB="27432">
                    <a:solidFill>
                      <a:srgbClr val="E5F5FF"/>
                    </a:solidFill>
                  </a:tcPr>
                </a:tc>
                <a:tc>
                  <a:txBody>
                    <a:bodyPr/>
                    <a:lstStyle/>
                    <a:p>
                      <a:r>
                        <a:rPr sz="850" b="0">
                          <a:solidFill>
                            <a:srgbClr val="4B4B4B"/>
                          </a:solidFill>
                          <a:latin typeface="Arial"/>
                        </a:rPr>
                        <a:t>Pre-booked Payments</a:t>
                      </a:r>
                    </a:p>
                  </a:txBody>
                  <a:tcPr marL="54864" marR="54864" marT="27432" marB="27432">
                    <a:solidFill>
                      <a:srgbClr val="E5F5FF"/>
                    </a:solidFill>
                  </a:tcPr>
                </a:tc>
                <a:tc>
                  <a:txBody>
                    <a:bodyPr/>
                    <a:lstStyle/>
                    <a:p>
                      <a:r>
                        <a:rPr sz="850" b="0">
                          <a:solidFill>
                            <a:srgbClr val="4B4B4B"/>
                          </a:solidFill>
                          <a:latin typeface="Arial"/>
                        </a:rPr>
                        <a:t>13.2.8</a:t>
                      </a:r>
                    </a:p>
                  </a:txBody>
                  <a:tcPr marL="54864" marR="54864" marT="27432" marB="27432">
                    <a:solidFill>
                      <a:srgbClr val="E5F5FF"/>
                    </a:solidFill>
                  </a:tcPr>
                </a:tc>
                <a:tc>
                  <a:txBody>
                    <a:bodyPr/>
                    <a:lstStyle/>
                    <a:p>
                      <a:r>
                        <a:rPr sz="850" b="0">
                          <a:solidFill>
                            <a:srgbClr val="4B4B4B"/>
                          </a:solidFill>
                          <a:latin typeface="Arial"/>
                        </a:rPr>
                        <a:t>FR-OP-018, FR-OP-132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SCR-OP-15</a:t>
                      </a:r>
                    </a:p>
                  </a:txBody>
                  <a:tcPr marL="54864" marR="54864" marT="27432" marB="27432">
                    <a:solidFill>
                      <a:srgbClr val="FFFFFF"/>
                    </a:solidFill>
                  </a:tcPr>
                </a:tc>
                <a:tc>
                  <a:txBody>
                    <a:bodyPr/>
                    <a:lstStyle/>
                    <a:p>
                      <a:r>
                        <a:rPr sz="850" b="0">
                          <a:solidFill>
                            <a:srgbClr val="4B4B4B"/>
                          </a:solidFill>
                          <a:latin typeface="Arial"/>
                        </a:rPr>
                        <a:t>Payment Uploads</a:t>
                      </a:r>
                    </a:p>
                  </a:txBody>
                  <a:tcPr marL="54864" marR="54864" marT="27432" marB="27432">
                    <a:solidFill>
                      <a:srgbClr val="FFFFFF"/>
                    </a:solidFill>
                  </a:tcPr>
                </a:tc>
                <a:tc>
                  <a:txBody>
                    <a:bodyPr/>
                    <a:lstStyle/>
                    <a:p>
                      <a:r>
                        <a:rPr sz="850" b="0">
                          <a:solidFill>
                            <a:srgbClr val="4B4B4B"/>
                          </a:solidFill>
                          <a:latin typeface="Arial"/>
                        </a:rPr>
                        <a:t>13.2.9</a:t>
                      </a:r>
                    </a:p>
                  </a:txBody>
                  <a:tcPr marL="54864" marR="54864" marT="27432" marB="27432">
                    <a:solidFill>
                      <a:srgbClr val="FFFFFF"/>
                    </a:solidFill>
                  </a:tcPr>
                </a:tc>
                <a:tc>
                  <a:txBody>
                    <a:bodyPr/>
                    <a:lstStyle/>
                    <a:p>
                      <a:r>
                        <a:rPr sz="850" b="0">
                          <a:solidFill>
                            <a:srgbClr val="4B4B4B"/>
                          </a:solidFill>
                          <a:latin typeface="Arial"/>
                        </a:rPr>
                        <a:t>FR-OP-008, FR-OP-015, FR-OP-016</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SCR-OP-16</a:t>
                      </a:r>
                    </a:p>
                  </a:txBody>
                  <a:tcPr marL="54864" marR="54864" marT="27432" marB="27432">
                    <a:solidFill>
                      <a:srgbClr val="E5F5FF"/>
                    </a:solidFill>
                  </a:tcPr>
                </a:tc>
                <a:tc>
                  <a:txBody>
                    <a:bodyPr/>
                    <a:lstStyle/>
                    <a:p>
                      <a:r>
                        <a:rPr sz="850" b="0">
                          <a:solidFill>
                            <a:srgbClr val="4B4B4B"/>
                          </a:solidFill>
                          <a:latin typeface="Arial"/>
                        </a:rPr>
                        <a:t>PDC Warehouse</a:t>
                      </a:r>
                    </a:p>
                  </a:txBody>
                  <a:tcPr marL="54864" marR="54864" marT="27432" marB="27432">
                    <a:solidFill>
                      <a:srgbClr val="E5F5FF"/>
                    </a:solidFill>
                  </a:tcPr>
                </a:tc>
                <a:tc>
                  <a:txBody>
                    <a:bodyPr/>
                    <a:lstStyle/>
                    <a:p>
                      <a:r>
                        <a:rPr sz="850" b="0">
                          <a:solidFill>
                            <a:srgbClr val="4B4B4B"/>
                          </a:solidFill>
                          <a:latin typeface="Arial"/>
                        </a:rPr>
                        <a:t>13.2.10</a:t>
                      </a:r>
                    </a:p>
                  </a:txBody>
                  <a:tcPr marL="54864" marR="54864" marT="27432" marB="27432">
                    <a:solidFill>
                      <a:srgbClr val="E5F5FF"/>
                    </a:solidFill>
                  </a:tcPr>
                </a:tc>
                <a:tc>
                  <a:txBody>
                    <a:bodyPr/>
                    <a:lstStyle/>
                    <a:p>
                      <a:r>
                        <a:rPr sz="850" b="0">
                          <a:solidFill>
                            <a:srgbClr val="4B4B4B"/>
                          </a:solidFill>
                          <a:latin typeface="Arial"/>
                        </a:rPr>
                        <a:t>FR-OP-016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SCR-OP-18</a:t>
                      </a:r>
                    </a:p>
                  </a:txBody>
                  <a:tcPr marL="54864" marR="54864" marT="27432" marB="27432">
                    <a:solidFill>
                      <a:srgbClr val="FFFFFF"/>
                    </a:solidFill>
                  </a:tcPr>
                </a:tc>
                <a:tc>
                  <a:txBody>
                    <a:bodyPr/>
                    <a:lstStyle/>
                    <a:p>
                      <a:r>
                        <a:rPr sz="850" b="0">
                          <a:solidFill>
                            <a:srgbClr val="4B4B4B"/>
                          </a:solidFill>
                          <a:latin typeface="Arial"/>
                        </a:rPr>
                        <a:t>Batch Print</a:t>
                      </a:r>
                    </a:p>
                  </a:txBody>
                  <a:tcPr marL="54864" marR="54864" marT="27432" marB="27432">
                    <a:solidFill>
                      <a:srgbClr val="FFFFFF"/>
                    </a:solidFill>
                  </a:tcPr>
                </a:tc>
                <a:tc>
                  <a:txBody>
                    <a:bodyPr/>
                    <a:lstStyle/>
                    <a:p>
                      <a:r>
                        <a:rPr sz="850" b="0">
                          <a:solidFill>
                            <a:srgbClr val="4B4B4B"/>
                          </a:solidFill>
                          <a:latin typeface="Arial"/>
                        </a:rPr>
                        <a:t>13.2.11</a:t>
                      </a:r>
                    </a:p>
                  </a:txBody>
                  <a:tcPr marL="54864" marR="54864" marT="27432" marB="27432">
                    <a:solidFill>
                      <a:srgbClr val="FFFFFF"/>
                    </a:solidFill>
                  </a:tcPr>
                </a:tc>
                <a:tc>
                  <a:txBody>
                    <a:bodyPr/>
                    <a:lstStyle/>
                    <a:p>
                      <a:r>
                        <a:rPr sz="850" b="0">
                          <a:solidFill>
                            <a:srgbClr val="4B4B4B"/>
                          </a:solidFill>
                          <a:latin typeface="Arial"/>
                        </a:rPr>
                        <a:t>FR-OP-025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SCR-OP-19</a:t>
                      </a:r>
                    </a:p>
                  </a:txBody>
                  <a:tcPr marL="54864" marR="54864" marT="27432" marB="27432">
                    <a:solidFill>
                      <a:srgbClr val="E5F5FF"/>
                    </a:solidFill>
                  </a:tcPr>
                </a:tc>
                <a:tc>
                  <a:txBody>
                    <a:bodyPr/>
                    <a:lstStyle/>
                    <a:p>
                      <a:r>
                        <a:rPr sz="850" b="0">
                          <a:solidFill>
                            <a:srgbClr val="4B4B4B"/>
                          </a:solidFill>
                          <a:latin typeface="Arial"/>
                        </a:rPr>
                        <a:t>BIR 2307</a:t>
                      </a:r>
                    </a:p>
                  </a:txBody>
                  <a:tcPr marL="54864" marR="54864" marT="27432" marB="27432">
                    <a:solidFill>
                      <a:srgbClr val="E5F5FF"/>
                    </a:solidFill>
                  </a:tcPr>
                </a:tc>
                <a:tc>
                  <a:txBody>
                    <a:bodyPr/>
                    <a:lstStyle/>
                    <a:p>
                      <a:r>
                        <a:rPr sz="850" b="0">
                          <a:solidFill>
                            <a:srgbClr val="4B4B4B"/>
                          </a:solidFill>
                          <a:latin typeface="Arial"/>
                        </a:rPr>
                        <a:t>13.2.12</a:t>
                      </a:r>
                    </a:p>
                  </a:txBody>
                  <a:tcPr marL="54864" marR="54864" marT="27432" marB="27432">
                    <a:solidFill>
                      <a:srgbClr val="E5F5FF"/>
                    </a:solidFill>
                  </a:tcPr>
                </a:tc>
                <a:tc>
                  <a:txBody>
                    <a:bodyPr/>
                    <a:lstStyle/>
                    <a:p>
                      <a:r>
                        <a:rPr sz="850" b="0">
                          <a:solidFill>
                            <a:srgbClr val="4B4B4B"/>
                          </a:solidFill>
                          <a:latin typeface="Arial"/>
                        </a:rPr>
                        <a:t>FR-OP-113, FR-OP-121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SCR-OP-20</a:t>
                      </a:r>
                    </a:p>
                  </a:txBody>
                  <a:tcPr marL="54864" marR="54864" marT="27432" marB="27432">
                    <a:solidFill>
                      <a:srgbClr val="FFFFFF"/>
                    </a:solidFill>
                  </a:tcPr>
                </a:tc>
                <a:tc>
                  <a:txBody>
                    <a:bodyPr/>
                    <a:lstStyle/>
                    <a:p>
                      <a:r>
                        <a:rPr sz="850" b="0">
                          <a:solidFill>
                            <a:srgbClr val="4B4B4B"/>
                          </a:solidFill>
                          <a:latin typeface="Arial"/>
                        </a:rPr>
                        <a:t>Commission ORs</a:t>
                      </a:r>
                    </a:p>
                  </a:txBody>
                  <a:tcPr marL="54864" marR="54864" marT="27432" marB="27432">
                    <a:solidFill>
                      <a:srgbClr val="FFFFFF"/>
                    </a:solidFill>
                  </a:tcPr>
                </a:tc>
                <a:tc>
                  <a:txBody>
                    <a:bodyPr/>
                    <a:lstStyle/>
                    <a:p>
                      <a:r>
                        <a:rPr sz="850" b="0">
                          <a:solidFill>
                            <a:srgbClr val="4B4B4B"/>
                          </a:solidFill>
                          <a:latin typeface="Arial"/>
                        </a:rPr>
                        <a:t>13.2.13</a:t>
                      </a:r>
                    </a:p>
                  </a:txBody>
                  <a:tcPr marL="54864" marR="54864" marT="27432" marB="27432">
                    <a:solidFill>
                      <a:srgbClr val="FFFFFF"/>
                    </a:solidFill>
                  </a:tcPr>
                </a:tc>
                <a:tc>
                  <a:txBody>
                    <a:bodyPr/>
                    <a:lstStyle/>
                    <a:p>
                      <a:r>
                        <a:rPr sz="850" b="0">
                          <a:solidFill>
                            <a:srgbClr val="4B4B4B"/>
                          </a:solidFill>
                          <a:latin typeface="Arial"/>
                        </a:rPr>
                        <a:t>FR-OP-021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SCR-OP-21</a:t>
                      </a:r>
                    </a:p>
                  </a:txBody>
                  <a:tcPr marL="54864" marR="54864" marT="27432" marB="27432">
                    <a:solidFill>
                      <a:srgbClr val="E5F5FF"/>
                    </a:solidFill>
                  </a:tcPr>
                </a:tc>
                <a:tc>
                  <a:txBody>
                    <a:bodyPr/>
                    <a:lstStyle/>
                    <a:p>
                      <a:r>
                        <a:rPr sz="850" b="0">
                          <a:solidFill>
                            <a:srgbClr val="4B4B4B"/>
                          </a:solidFill>
                          <a:latin typeface="Arial"/>
                        </a:rPr>
                        <a:t>Receipt Series</a:t>
                      </a:r>
                    </a:p>
                  </a:txBody>
                  <a:tcPr marL="54864" marR="54864" marT="27432" marB="27432">
                    <a:solidFill>
                      <a:srgbClr val="E5F5FF"/>
                    </a:solidFill>
                  </a:tcPr>
                </a:tc>
                <a:tc>
                  <a:txBody>
                    <a:bodyPr/>
                    <a:lstStyle/>
                    <a:p>
                      <a:r>
                        <a:rPr sz="850" b="0">
                          <a:solidFill>
                            <a:srgbClr val="4B4B4B"/>
                          </a:solidFill>
                          <a:latin typeface="Arial"/>
                        </a:rPr>
                        <a:t>13.2.14</a:t>
                      </a:r>
                    </a:p>
                  </a:txBody>
                  <a:tcPr marL="54864" marR="54864" marT="27432" marB="27432">
                    <a:solidFill>
                      <a:srgbClr val="E5F5FF"/>
                    </a:solidFill>
                  </a:tcPr>
                </a:tc>
                <a:tc>
                  <a:txBody>
                    <a:bodyPr/>
                    <a:lstStyle/>
                    <a:p>
                      <a:r>
                        <a:rPr sz="850" b="0">
                          <a:solidFill>
                            <a:srgbClr val="4B4B4B"/>
                          </a:solidFill>
                          <a:latin typeface="Arial"/>
                        </a:rPr>
                        <a:t>FR-OP-010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bl>
          </a:graphicData>
        </a:graphic>
      </p:graphicFrame>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663</a:t>
            </a:r>
          </a:p>
        </p:txBody>
      </p:sp>
      <p:graphicFrame>
        <p:nvGraphicFramePr>
          <p:cNvPr id="9" name="Table 8"/>
          <p:cNvGraphicFramePr>
            <a:graphicFrameLocks noGrp="1"/>
          </p:cNvGraphicFramePr>
          <p:nvPr/>
        </p:nvGraphicFramePr>
        <p:xfrm>
          <a:off x="548640" y="1325880"/>
          <a:ext cx="11094412" cy="493773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SCR-OP-22</a:t>
                      </a:r>
                    </a:p>
                  </a:txBody>
                  <a:tcPr marL="54864" marR="54864" marT="27432" marB="27432">
                    <a:solidFill>
                      <a:srgbClr val="FFFFFF"/>
                    </a:solidFill>
                  </a:tcPr>
                </a:tc>
                <a:tc>
                  <a:txBody>
                    <a:bodyPr/>
                    <a:lstStyle/>
                    <a:p>
                      <a:r>
                        <a:rPr sz="850" b="0">
                          <a:solidFill>
                            <a:srgbClr val="4B4B4B"/>
                          </a:solidFill>
                          <a:latin typeface="Arial"/>
                        </a:rPr>
                        <a:t>Cashiering Setup</a:t>
                      </a:r>
                    </a:p>
                  </a:txBody>
                  <a:tcPr marL="54864" marR="54864" marT="27432" marB="27432">
                    <a:solidFill>
                      <a:srgbClr val="FFFFFF"/>
                    </a:solidFill>
                  </a:tcPr>
                </a:tc>
                <a:tc>
                  <a:txBody>
                    <a:bodyPr/>
                    <a:lstStyle/>
                    <a:p>
                      <a:r>
                        <a:rPr sz="850" b="0">
                          <a:solidFill>
                            <a:srgbClr val="4B4B4B"/>
                          </a:solidFill>
                          <a:latin typeface="Arial"/>
                        </a:rPr>
                        <a:t>13.2.15</a:t>
                      </a:r>
                    </a:p>
                  </a:txBody>
                  <a:tcPr marL="54864" marR="54864" marT="27432" marB="27432">
                    <a:solidFill>
                      <a:srgbClr val="FFFFFF"/>
                    </a:solidFill>
                  </a:tcPr>
                </a:tc>
                <a:tc>
                  <a:txBody>
                    <a:bodyPr/>
                    <a:lstStyle/>
                    <a:p>
                      <a:r>
                        <a:rPr sz="850" b="0">
                          <a:solidFill>
                            <a:srgbClr val="4B4B4B"/>
                          </a:solidFill>
                          <a:latin typeface="Arial"/>
                        </a:rPr>
                        <a:t>FR-OP-015, FR-OP-023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SCR-OP-23</a:t>
                      </a:r>
                    </a:p>
                  </a:txBody>
                  <a:tcPr marL="54864" marR="54864" marT="27432" marB="27432">
                    <a:solidFill>
                      <a:srgbClr val="E5F5FF"/>
                    </a:solidFill>
                  </a:tcPr>
                </a:tc>
                <a:tc>
                  <a:txBody>
                    <a:bodyPr/>
                    <a:lstStyle/>
                    <a:p>
                      <a:r>
                        <a:rPr sz="850" b="0">
                          <a:solidFill>
                            <a:srgbClr val="4B4B4B"/>
                          </a:solidFill>
                          <a:latin typeface="Arial"/>
                        </a:rPr>
                        <a:t>Remittance Workbench</a:t>
                      </a:r>
                    </a:p>
                  </a:txBody>
                  <a:tcPr marL="54864" marR="54864" marT="27432" marB="27432">
                    <a:solidFill>
                      <a:srgbClr val="E5F5FF"/>
                    </a:solidFill>
                  </a:tcPr>
                </a:tc>
                <a:tc>
                  <a:txBody>
                    <a:bodyPr/>
                    <a:lstStyle/>
                    <a:p>
                      <a:r>
                        <a:rPr sz="850" b="0">
                          <a:solidFill>
                            <a:srgbClr val="4B4B4B"/>
                          </a:solidFill>
                          <a:latin typeface="Arial"/>
                        </a:rPr>
                        <a:t>13.3.1</a:t>
                      </a:r>
                    </a:p>
                  </a:txBody>
                  <a:tcPr marL="54864" marR="54864" marT="27432" marB="27432">
                    <a:solidFill>
                      <a:srgbClr val="E5F5FF"/>
                    </a:solidFill>
                  </a:tcPr>
                </a:tc>
                <a:tc>
                  <a:txBody>
                    <a:bodyPr/>
                    <a:lstStyle/>
                    <a:p>
                      <a:r>
                        <a:rPr sz="850" b="0">
                          <a:solidFill>
                            <a:srgbClr val="4B4B4B"/>
                          </a:solidFill>
                          <a:latin typeface="Arial"/>
                        </a:rPr>
                        <a:t>FR-OP-003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SCR-OP-24</a:t>
                      </a:r>
                    </a:p>
                  </a:txBody>
                  <a:tcPr marL="54864" marR="54864" marT="27432" marB="27432">
                    <a:solidFill>
                      <a:srgbClr val="FFFFFF"/>
                    </a:solidFill>
                  </a:tcPr>
                </a:tc>
                <a:tc>
                  <a:txBody>
                    <a:bodyPr/>
                    <a:lstStyle/>
                    <a:p>
                      <a:r>
                        <a:rPr sz="850" b="0">
                          <a:solidFill>
                            <a:srgbClr val="4B4B4B"/>
                          </a:solidFill>
                          <a:latin typeface="Arial"/>
                        </a:rPr>
                        <a:t>Extraction</a:t>
                      </a:r>
                    </a:p>
                  </a:txBody>
                  <a:tcPr marL="54864" marR="54864" marT="27432" marB="27432">
                    <a:solidFill>
                      <a:srgbClr val="FFFFFF"/>
                    </a:solidFill>
                  </a:tcPr>
                </a:tc>
                <a:tc>
                  <a:txBody>
                    <a:bodyPr/>
                    <a:lstStyle/>
                    <a:p>
                      <a:r>
                        <a:rPr sz="850" b="0">
                          <a:solidFill>
                            <a:srgbClr val="4B4B4B"/>
                          </a:solidFill>
                          <a:latin typeface="Arial"/>
                        </a:rPr>
                        <a:t>13.3.2</a:t>
                      </a:r>
                    </a:p>
                  </a:txBody>
                  <a:tcPr marL="54864" marR="54864" marT="27432" marB="27432">
                    <a:solidFill>
                      <a:srgbClr val="FFFFFF"/>
                    </a:solidFill>
                  </a:tcPr>
                </a:tc>
                <a:tc>
                  <a:txBody>
                    <a:bodyPr/>
                    <a:lstStyle/>
                    <a:p>
                      <a:r>
                        <a:rPr sz="850" b="0">
                          <a:solidFill>
                            <a:srgbClr val="4B4B4B"/>
                          </a:solidFill>
                          <a:latin typeface="Arial"/>
                        </a:rPr>
                        <a:t>FR-OP-030, FR-OP-031, FR-OP-038</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SCR-OP-25</a:t>
                      </a:r>
                    </a:p>
                  </a:txBody>
                  <a:tcPr marL="54864" marR="54864" marT="27432" marB="27432">
                    <a:solidFill>
                      <a:srgbClr val="E5F5FF"/>
                    </a:solidFill>
                  </a:tcPr>
                </a:tc>
                <a:tc>
                  <a:txBody>
                    <a:bodyPr/>
                    <a:lstStyle/>
                    <a:p>
                      <a:r>
                        <a:rPr sz="850" b="0">
                          <a:solidFill>
                            <a:srgbClr val="4B4B4B"/>
                          </a:solidFill>
                          <a:latin typeface="Arial"/>
                        </a:rPr>
                        <a:t>Remittance Batches</a:t>
                      </a:r>
                    </a:p>
                  </a:txBody>
                  <a:tcPr marL="54864" marR="54864" marT="27432" marB="27432">
                    <a:solidFill>
                      <a:srgbClr val="E5F5FF"/>
                    </a:solidFill>
                  </a:tcPr>
                </a:tc>
                <a:tc>
                  <a:txBody>
                    <a:bodyPr/>
                    <a:lstStyle/>
                    <a:p>
                      <a:r>
                        <a:rPr sz="850" b="0">
                          <a:solidFill>
                            <a:srgbClr val="4B4B4B"/>
                          </a:solidFill>
                          <a:latin typeface="Arial"/>
                        </a:rPr>
                        <a:t>13.3.3</a:t>
                      </a:r>
                    </a:p>
                  </a:txBody>
                  <a:tcPr marL="54864" marR="54864" marT="27432" marB="27432">
                    <a:solidFill>
                      <a:srgbClr val="E5F5FF"/>
                    </a:solidFill>
                  </a:tcPr>
                </a:tc>
                <a:tc>
                  <a:txBody>
                    <a:bodyPr/>
                    <a:lstStyle/>
                    <a:p>
                      <a:r>
                        <a:rPr sz="850" b="0">
                          <a:solidFill>
                            <a:srgbClr val="4B4B4B"/>
                          </a:solidFill>
                          <a:latin typeface="Arial"/>
                        </a:rPr>
                        <a:t>FR-OP-032, FR-OP-033, FR-OP-035, FR-OP-036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350518">
                <a:tc>
                  <a:txBody>
                    <a:bodyPr/>
                    <a:lstStyle/>
                    <a:p>
                      <a:r>
                        <a:rPr sz="850" b="0">
                          <a:solidFill>
                            <a:srgbClr val="4B4B4B"/>
                          </a:solidFill>
                          <a:latin typeface="Arial"/>
                        </a:rPr>
                        <a:t>SCR-OP-26</a:t>
                      </a:r>
                    </a:p>
                  </a:txBody>
                  <a:tcPr marL="54864" marR="54864" marT="27432" marB="27432">
                    <a:solidFill>
                      <a:srgbClr val="FFFFFF"/>
                    </a:solidFill>
                  </a:tcPr>
                </a:tc>
                <a:tc>
                  <a:txBody>
                    <a:bodyPr/>
                    <a:lstStyle/>
                    <a:p>
                      <a:r>
                        <a:rPr sz="850" b="0">
                          <a:solidFill>
                            <a:srgbClr val="4B4B4B"/>
                          </a:solidFill>
                          <a:latin typeface="Arial"/>
                        </a:rPr>
                        <a:t>Remittance Batch</a:t>
                      </a:r>
                    </a:p>
                  </a:txBody>
                  <a:tcPr marL="54864" marR="54864" marT="27432" marB="27432">
                    <a:solidFill>
                      <a:srgbClr val="FFFFFF"/>
                    </a:solidFill>
                  </a:tcPr>
                </a:tc>
                <a:tc>
                  <a:txBody>
                    <a:bodyPr/>
                    <a:lstStyle/>
                    <a:p>
                      <a:r>
                        <a:rPr sz="850" b="0">
                          <a:solidFill>
                            <a:srgbClr val="4B4B4B"/>
                          </a:solidFill>
                          <a:latin typeface="Arial"/>
                        </a:rPr>
                        <a:t>13.3.4</a:t>
                      </a:r>
                    </a:p>
                  </a:txBody>
                  <a:tcPr marL="54864" marR="54864" marT="27432" marB="27432">
                    <a:solidFill>
                      <a:srgbClr val="FFFFFF"/>
                    </a:solidFill>
                  </a:tcPr>
                </a:tc>
                <a:tc>
                  <a:txBody>
                    <a:bodyPr/>
                    <a:lstStyle/>
                    <a:p>
                      <a:r>
                        <a:rPr sz="850" b="0">
                          <a:solidFill>
                            <a:srgbClr val="4B4B4B"/>
                          </a:solidFill>
                          <a:latin typeface="Arial"/>
                        </a:rPr>
                        <a:t>FR-OP-032, FR-OP-033, FR-OP-034, FR-OP-035, FR-OP-036, FR-OP-038, FR-OP-110</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Validation error, Confirmation with reason, Success message,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SCR-OP-27</a:t>
                      </a:r>
                    </a:p>
                  </a:txBody>
                  <a:tcPr marL="54864" marR="54864" marT="27432" marB="27432">
                    <a:solidFill>
                      <a:srgbClr val="E5F5FF"/>
                    </a:solidFill>
                  </a:tcPr>
                </a:tc>
                <a:tc>
                  <a:txBody>
                    <a:bodyPr/>
                    <a:lstStyle/>
                    <a:p>
                      <a:r>
                        <a:rPr sz="850" b="0">
                          <a:solidFill>
                            <a:srgbClr val="4B4B4B"/>
                          </a:solidFill>
                          <a:latin typeface="Arial"/>
                        </a:rPr>
                        <a:t>Insurer OR Upload</a:t>
                      </a:r>
                    </a:p>
                  </a:txBody>
                  <a:tcPr marL="54864" marR="54864" marT="27432" marB="27432">
                    <a:solidFill>
                      <a:srgbClr val="E5F5FF"/>
                    </a:solidFill>
                  </a:tcPr>
                </a:tc>
                <a:tc>
                  <a:txBody>
                    <a:bodyPr/>
                    <a:lstStyle/>
                    <a:p>
                      <a:r>
                        <a:rPr sz="850" b="0">
                          <a:solidFill>
                            <a:srgbClr val="4B4B4B"/>
                          </a:solidFill>
                          <a:latin typeface="Arial"/>
                        </a:rPr>
                        <a:t>13.3.5</a:t>
                      </a:r>
                    </a:p>
                  </a:txBody>
                  <a:tcPr marL="54864" marR="54864" marT="27432" marB="27432">
                    <a:solidFill>
                      <a:srgbClr val="E5F5FF"/>
                    </a:solidFill>
                  </a:tcPr>
                </a:tc>
                <a:tc>
                  <a:txBody>
                    <a:bodyPr/>
                    <a:lstStyle/>
                    <a:p>
                      <a:r>
                        <a:rPr sz="850" b="0">
                          <a:solidFill>
                            <a:srgbClr val="4B4B4B"/>
                          </a:solidFill>
                          <a:latin typeface="Arial"/>
                        </a:rPr>
                        <a:t>FR-OP-037</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SCR-OP-28</a:t>
                      </a:r>
                    </a:p>
                  </a:txBody>
                  <a:tcPr marL="54864" marR="54864" marT="27432" marB="27432">
                    <a:solidFill>
                      <a:srgbClr val="FFFFFF"/>
                    </a:solidFill>
                  </a:tcPr>
                </a:tc>
                <a:tc>
                  <a:txBody>
                    <a:bodyPr/>
                    <a:lstStyle/>
                    <a:p>
                      <a:r>
                        <a:rPr sz="850" b="0">
                          <a:solidFill>
                            <a:srgbClr val="4B4B4B"/>
                          </a:solidFill>
                          <a:latin typeface="Arial"/>
                        </a:rPr>
                        <a:t>Remittance Holds</a:t>
                      </a:r>
                    </a:p>
                  </a:txBody>
                  <a:tcPr marL="54864" marR="54864" marT="27432" marB="27432">
                    <a:solidFill>
                      <a:srgbClr val="FFFFFF"/>
                    </a:solidFill>
                  </a:tcPr>
                </a:tc>
                <a:tc>
                  <a:txBody>
                    <a:bodyPr/>
                    <a:lstStyle/>
                    <a:p>
                      <a:r>
                        <a:rPr sz="850" b="0">
                          <a:solidFill>
                            <a:srgbClr val="4B4B4B"/>
                          </a:solidFill>
                          <a:latin typeface="Arial"/>
                        </a:rPr>
                        <a:t>13.3.6</a:t>
                      </a:r>
                    </a:p>
                  </a:txBody>
                  <a:tcPr marL="54864" marR="54864" marT="27432" marB="27432">
                    <a:solidFill>
                      <a:srgbClr val="FFFFFF"/>
                    </a:solidFill>
                  </a:tcPr>
                </a:tc>
                <a:tc>
                  <a:txBody>
                    <a:bodyPr/>
                    <a:lstStyle/>
                    <a:p>
                      <a:r>
                        <a:rPr sz="850" b="0">
                          <a:solidFill>
                            <a:srgbClr val="4B4B4B"/>
                          </a:solidFill>
                          <a:latin typeface="Arial"/>
                        </a:rPr>
                        <a:t>FR-OP-111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Filled, Pending approval</a:t>
                      </a:r>
                    </a:p>
                  </a:txBody>
                  <a:tcPr marL="54864" marR="54864" marT="27432" marB="27432">
                    <a:solidFill>
                      <a:srgbClr val="FFFFFF"/>
                    </a:solidFill>
                  </a:tcPr>
                </a:tc>
              </a:tr>
              <a:tr h="220979">
                <a:tc>
                  <a:txBody>
                    <a:bodyPr/>
                    <a:lstStyle/>
                    <a:p>
                      <a:r>
                        <a:rPr sz="850" b="0">
                          <a:solidFill>
                            <a:srgbClr val="4B4B4B"/>
                          </a:solidFill>
                          <a:latin typeface="Arial"/>
                        </a:rPr>
                        <a:t>SCR-OP-29</a:t>
                      </a:r>
                    </a:p>
                  </a:txBody>
                  <a:tcPr marL="54864" marR="54864" marT="27432" marB="27432">
                    <a:solidFill>
                      <a:srgbClr val="E5F5FF"/>
                    </a:solidFill>
                  </a:tcPr>
                </a:tc>
                <a:tc>
                  <a:txBody>
                    <a:bodyPr/>
                    <a:lstStyle/>
                    <a:p>
                      <a:r>
                        <a:rPr sz="850" b="0">
                          <a:solidFill>
                            <a:srgbClr val="4B4B4B"/>
                          </a:solidFill>
                          <a:latin typeface="Arial"/>
                        </a:rPr>
                        <a:t>Remittance Hold</a:t>
                      </a:r>
                    </a:p>
                  </a:txBody>
                  <a:tcPr marL="54864" marR="54864" marT="27432" marB="27432">
                    <a:solidFill>
                      <a:srgbClr val="E5F5FF"/>
                    </a:solidFill>
                  </a:tcPr>
                </a:tc>
                <a:tc>
                  <a:txBody>
                    <a:bodyPr/>
                    <a:lstStyle/>
                    <a:p>
                      <a:r>
                        <a:rPr sz="850" b="0">
                          <a:solidFill>
                            <a:srgbClr val="4B4B4B"/>
                          </a:solidFill>
                          <a:latin typeface="Arial"/>
                        </a:rPr>
                        <a:t>13.3.7</a:t>
                      </a:r>
                    </a:p>
                  </a:txBody>
                  <a:tcPr marL="54864" marR="54864" marT="27432" marB="27432">
                    <a:solidFill>
                      <a:srgbClr val="E5F5FF"/>
                    </a:solidFill>
                  </a:tcPr>
                </a:tc>
                <a:tc>
                  <a:txBody>
                    <a:bodyPr/>
                    <a:lstStyle/>
                    <a:p>
                      <a:r>
                        <a:rPr sz="850" b="0">
                          <a:solidFill>
                            <a:srgbClr val="4B4B4B"/>
                          </a:solidFill>
                          <a:latin typeface="Arial"/>
                        </a:rPr>
                        <a:t>FR-OP-111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SCR-OP-30</a:t>
                      </a:r>
                    </a:p>
                  </a:txBody>
                  <a:tcPr marL="54864" marR="54864" marT="27432" marB="27432">
                    <a:solidFill>
                      <a:srgbClr val="FFFFFF"/>
                    </a:solidFill>
                  </a:tcPr>
                </a:tc>
                <a:tc>
                  <a:txBody>
                    <a:bodyPr/>
                    <a:lstStyle/>
                    <a:p>
                      <a:r>
                        <a:rPr sz="850" b="0">
                          <a:solidFill>
                            <a:srgbClr val="4B4B4B"/>
                          </a:solidFill>
                          <a:latin typeface="Arial"/>
                        </a:rPr>
                        <a:t>Special Remittance</a:t>
                      </a:r>
                    </a:p>
                  </a:txBody>
                  <a:tcPr marL="54864" marR="54864" marT="27432" marB="27432">
                    <a:solidFill>
                      <a:srgbClr val="FFFFFF"/>
                    </a:solidFill>
                  </a:tcPr>
                </a:tc>
                <a:tc>
                  <a:txBody>
                    <a:bodyPr/>
                    <a:lstStyle/>
                    <a:p>
                      <a:r>
                        <a:rPr sz="850" b="0">
                          <a:solidFill>
                            <a:srgbClr val="4B4B4B"/>
                          </a:solidFill>
                          <a:latin typeface="Arial"/>
                        </a:rPr>
                        <a:t>13.3.8</a:t>
                      </a:r>
                    </a:p>
                  </a:txBody>
                  <a:tcPr marL="54864" marR="54864" marT="27432" marB="27432">
                    <a:solidFill>
                      <a:srgbClr val="FFFFFF"/>
                    </a:solidFill>
                  </a:tcPr>
                </a:tc>
                <a:tc>
                  <a:txBody>
                    <a:bodyPr/>
                    <a:lstStyle/>
                    <a:p>
                      <a:r>
                        <a:rPr sz="850" b="0">
                          <a:solidFill>
                            <a:srgbClr val="4B4B4B"/>
                          </a:solidFill>
                          <a:latin typeface="Arial"/>
                        </a:rPr>
                        <a:t>FR-OP-040, FR-OP-112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Filled, Pending approval</a:t>
                      </a:r>
                    </a:p>
                  </a:txBody>
                  <a:tcPr marL="54864" marR="54864" marT="27432" marB="27432">
                    <a:solidFill>
                      <a:srgbClr val="FFFFFF"/>
                    </a:solidFill>
                  </a:tcPr>
                </a:tc>
              </a:tr>
              <a:tr h="220979">
                <a:tc>
                  <a:txBody>
                    <a:bodyPr/>
                    <a:lstStyle/>
                    <a:p>
                      <a:r>
                        <a:rPr sz="850" b="0">
                          <a:solidFill>
                            <a:srgbClr val="4B4B4B"/>
                          </a:solidFill>
                          <a:latin typeface="Arial"/>
                        </a:rPr>
                        <a:t>SCR-OP-31</a:t>
                      </a:r>
                    </a:p>
                  </a:txBody>
                  <a:tcPr marL="54864" marR="54864" marT="27432" marB="27432">
                    <a:solidFill>
                      <a:srgbClr val="E5F5FF"/>
                    </a:solidFill>
                  </a:tcPr>
                </a:tc>
                <a:tc>
                  <a:txBody>
                    <a:bodyPr/>
                    <a:lstStyle/>
                    <a:p>
                      <a:r>
                        <a:rPr sz="850" b="0">
                          <a:solidFill>
                            <a:srgbClr val="4B4B4B"/>
                          </a:solidFill>
                          <a:latin typeface="Arial"/>
                        </a:rPr>
                        <a:t>Special Remittance Request</a:t>
                      </a:r>
                    </a:p>
                  </a:txBody>
                  <a:tcPr marL="54864" marR="54864" marT="27432" marB="27432">
                    <a:solidFill>
                      <a:srgbClr val="E5F5FF"/>
                    </a:solidFill>
                  </a:tcPr>
                </a:tc>
                <a:tc>
                  <a:txBody>
                    <a:bodyPr/>
                    <a:lstStyle/>
                    <a:p>
                      <a:r>
                        <a:rPr sz="850" b="0">
                          <a:solidFill>
                            <a:srgbClr val="4B4B4B"/>
                          </a:solidFill>
                          <a:latin typeface="Arial"/>
                        </a:rPr>
                        <a:t>13.3.9</a:t>
                      </a:r>
                    </a:p>
                  </a:txBody>
                  <a:tcPr marL="54864" marR="54864" marT="27432" marB="27432">
                    <a:solidFill>
                      <a:srgbClr val="E5F5FF"/>
                    </a:solidFill>
                  </a:tcPr>
                </a:tc>
                <a:tc>
                  <a:txBody>
                    <a:bodyPr/>
                    <a:lstStyle/>
                    <a:p>
                      <a:r>
                        <a:rPr sz="850" b="0">
                          <a:solidFill>
                            <a:srgbClr val="4B4B4B"/>
                          </a:solidFill>
                          <a:latin typeface="Arial"/>
                        </a:rPr>
                        <a:t>FR-OP-040, FR-OP-112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SCR-OP-32</a:t>
                      </a:r>
                    </a:p>
                  </a:txBody>
                  <a:tcPr marL="54864" marR="54864" marT="27432" marB="27432">
                    <a:solidFill>
                      <a:srgbClr val="FFFFFF"/>
                    </a:solidFill>
                  </a:tcPr>
                </a:tc>
                <a:tc>
                  <a:txBody>
                    <a:bodyPr/>
                    <a:lstStyle/>
                    <a:p>
                      <a:r>
                        <a:rPr sz="850" b="0">
                          <a:solidFill>
                            <a:srgbClr val="4B4B4B"/>
                          </a:solidFill>
                          <a:latin typeface="Arial"/>
                        </a:rPr>
                        <a:t>DTIP Status</a:t>
                      </a:r>
                    </a:p>
                  </a:txBody>
                  <a:tcPr marL="54864" marR="54864" marT="27432" marB="27432">
                    <a:solidFill>
                      <a:srgbClr val="FFFFFF"/>
                    </a:solidFill>
                  </a:tcPr>
                </a:tc>
                <a:tc>
                  <a:txBody>
                    <a:bodyPr/>
                    <a:lstStyle/>
                    <a:p>
                      <a:r>
                        <a:rPr sz="850" b="0">
                          <a:solidFill>
                            <a:srgbClr val="4B4B4B"/>
                          </a:solidFill>
                          <a:latin typeface="Arial"/>
                        </a:rPr>
                        <a:t>13.3.10</a:t>
                      </a:r>
                    </a:p>
                  </a:txBody>
                  <a:tcPr marL="54864" marR="54864" marT="27432" marB="27432">
                    <a:solidFill>
                      <a:srgbClr val="FFFFFF"/>
                    </a:solidFill>
                  </a:tcPr>
                </a:tc>
                <a:tc>
                  <a:txBody>
                    <a:bodyPr/>
                    <a:lstStyle/>
                    <a:p>
                      <a:r>
                        <a:rPr sz="850" b="0">
                          <a:solidFill>
                            <a:srgbClr val="4B4B4B"/>
                          </a:solidFill>
                          <a:latin typeface="Arial"/>
                        </a:rPr>
                        <a:t>FR-OP-030, FR-OP-039</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SCR-OP-33</a:t>
                      </a:r>
                    </a:p>
                  </a:txBody>
                  <a:tcPr marL="54864" marR="54864" marT="27432" marB="27432">
                    <a:solidFill>
                      <a:srgbClr val="E5F5FF"/>
                    </a:solidFill>
                  </a:tcPr>
                </a:tc>
                <a:tc>
                  <a:txBody>
                    <a:bodyPr/>
                    <a:lstStyle/>
                    <a:p>
                      <a:r>
                        <a:rPr sz="850" b="0">
                          <a:solidFill>
                            <a:srgbClr val="4B4B4B"/>
                          </a:solidFill>
                          <a:latin typeface="Arial"/>
                        </a:rPr>
                        <a:t>Remittance Deductions</a:t>
                      </a:r>
                    </a:p>
                  </a:txBody>
                  <a:tcPr marL="54864" marR="54864" marT="27432" marB="27432">
                    <a:solidFill>
                      <a:srgbClr val="E5F5FF"/>
                    </a:solidFill>
                  </a:tcPr>
                </a:tc>
                <a:tc>
                  <a:txBody>
                    <a:bodyPr/>
                    <a:lstStyle/>
                    <a:p>
                      <a:r>
                        <a:rPr sz="850" b="0">
                          <a:solidFill>
                            <a:srgbClr val="4B4B4B"/>
                          </a:solidFill>
                          <a:latin typeface="Arial"/>
                        </a:rPr>
                        <a:t>13.3.11</a:t>
                      </a:r>
                    </a:p>
                  </a:txBody>
                  <a:tcPr marL="54864" marR="54864" marT="27432" marB="27432">
                    <a:solidFill>
                      <a:srgbClr val="E5F5FF"/>
                    </a:solidFill>
                  </a:tcPr>
                </a:tc>
                <a:tc>
                  <a:txBody>
                    <a:bodyPr/>
                    <a:lstStyle/>
                    <a:p>
                      <a:r>
                        <a:rPr sz="850" b="0">
                          <a:solidFill>
                            <a:srgbClr val="4B4B4B"/>
                          </a:solidFill>
                          <a:latin typeface="Arial"/>
                        </a:rPr>
                        <a:t>FR-OP-035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SCR-OP-34</a:t>
                      </a:r>
                    </a:p>
                  </a:txBody>
                  <a:tcPr marL="54864" marR="54864" marT="27432" marB="27432">
                    <a:solidFill>
                      <a:srgbClr val="FFFFFF"/>
                    </a:solidFill>
                  </a:tcPr>
                </a:tc>
                <a:tc>
                  <a:txBody>
                    <a:bodyPr/>
                    <a:lstStyle/>
                    <a:p>
                      <a:r>
                        <a:rPr sz="850" b="0">
                          <a:solidFill>
                            <a:srgbClr val="4B4B4B"/>
                          </a:solidFill>
                          <a:latin typeface="Arial"/>
                        </a:rPr>
                        <a:t>Remittance Deduction</a:t>
                      </a:r>
                    </a:p>
                  </a:txBody>
                  <a:tcPr marL="54864" marR="54864" marT="27432" marB="27432">
                    <a:solidFill>
                      <a:srgbClr val="FFFFFF"/>
                    </a:solidFill>
                  </a:tcPr>
                </a:tc>
                <a:tc>
                  <a:txBody>
                    <a:bodyPr/>
                    <a:lstStyle/>
                    <a:p>
                      <a:r>
                        <a:rPr sz="850" b="0">
                          <a:solidFill>
                            <a:srgbClr val="4B4B4B"/>
                          </a:solidFill>
                          <a:latin typeface="Arial"/>
                        </a:rPr>
                        <a:t>13.3.12</a:t>
                      </a:r>
                    </a:p>
                  </a:txBody>
                  <a:tcPr marL="54864" marR="54864" marT="27432" marB="27432">
                    <a:solidFill>
                      <a:srgbClr val="FFFFFF"/>
                    </a:solidFill>
                  </a:tcPr>
                </a:tc>
                <a:tc>
                  <a:txBody>
                    <a:bodyPr/>
                    <a:lstStyle/>
                    <a:p>
                      <a:r>
                        <a:rPr sz="850" b="0">
                          <a:solidFill>
                            <a:srgbClr val="4B4B4B"/>
                          </a:solidFill>
                          <a:latin typeface="Arial"/>
                        </a:rPr>
                        <a:t>FR-OP-035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SCR-OP-35</a:t>
                      </a:r>
                    </a:p>
                  </a:txBody>
                  <a:tcPr marL="54864" marR="54864" marT="27432" marB="27432">
                    <a:solidFill>
                      <a:srgbClr val="E5F5FF"/>
                    </a:solidFill>
                  </a:tcPr>
                </a:tc>
                <a:tc>
                  <a:txBody>
                    <a:bodyPr/>
                    <a:lstStyle/>
                    <a:p>
                      <a:r>
                        <a:rPr sz="850" b="0">
                          <a:solidFill>
                            <a:srgbClr val="4B4B4B"/>
                          </a:solidFill>
                          <a:latin typeface="Arial"/>
                        </a:rPr>
                        <a:t>Incentive Rules</a:t>
                      </a:r>
                    </a:p>
                  </a:txBody>
                  <a:tcPr marL="54864" marR="54864" marT="27432" marB="27432">
                    <a:solidFill>
                      <a:srgbClr val="E5F5FF"/>
                    </a:solidFill>
                  </a:tcPr>
                </a:tc>
                <a:tc>
                  <a:txBody>
                    <a:bodyPr/>
                    <a:lstStyle/>
                    <a:p>
                      <a:r>
                        <a:rPr sz="850" b="0">
                          <a:solidFill>
                            <a:srgbClr val="4B4B4B"/>
                          </a:solidFill>
                          <a:latin typeface="Arial"/>
                        </a:rPr>
                        <a:t>13.3.13</a:t>
                      </a:r>
                    </a:p>
                  </a:txBody>
                  <a:tcPr marL="54864" marR="54864" marT="27432" marB="27432">
                    <a:solidFill>
                      <a:srgbClr val="E5F5FF"/>
                    </a:solidFill>
                  </a:tcPr>
                </a:tc>
                <a:tc>
                  <a:txBody>
                    <a:bodyPr/>
                    <a:lstStyle/>
                    <a:p>
                      <a:r>
                        <a:rPr sz="850" b="0">
                          <a:solidFill>
                            <a:srgbClr val="4B4B4B"/>
                          </a:solidFill>
                          <a:latin typeface="Arial"/>
                        </a:rPr>
                        <a:t>FR-OP-038, FR-OP-078</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SCR-OP-36</a:t>
                      </a:r>
                    </a:p>
                  </a:txBody>
                  <a:tcPr marL="54864" marR="54864" marT="27432" marB="27432">
                    <a:solidFill>
                      <a:srgbClr val="FFFFFF"/>
                    </a:solidFill>
                  </a:tcPr>
                </a:tc>
                <a:tc>
                  <a:txBody>
                    <a:bodyPr/>
                    <a:lstStyle/>
                    <a:p>
                      <a:r>
                        <a:rPr sz="850" b="0">
                          <a:solidFill>
                            <a:srgbClr val="4B4B4B"/>
                          </a:solidFill>
                          <a:latin typeface="Arial"/>
                        </a:rPr>
                        <a:t>Disbursement Queue</a:t>
                      </a:r>
                    </a:p>
                  </a:txBody>
                  <a:tcPr marL="54864" marR="54864" marT="27432" marB="27432">
                    <a:solidFill>
                      <a:srgbClr val="FFFFFF"/>
                    </a:solidFill>
                  </a:tcPr>
                </a:tc>
                <a:tc>
                  <a:txBody>
                    <a:bodyPr/>
                    <a:lstStyle/>
                    <a:p>
                      <a:r>
                        <a:rPr sz="850" b="0">
                          <a:solidFill>
                            <a:srgbClr val="4B4B4B"/>
                          </a:solidFill>
                          <a:latin typeface="Arial"/>
                        </a:rPr>
                        <a:t>13.3.14</a:t>
                      </a:r>
                    </a:p>
                  </a:txBody>
                  <a:tcPr marL="54864" marR="54864" marT="27432" marB="27432">
                    <a:solidFill>
                      <a:srgbClr val="FFFFFF"/>
                    </a:solidFill>
                  </a:tcPr>
                </a:tc>
                <a:tc>
                  <a:txBody>
                    <a:bodyPr/>
                    <a:lstStyle/>
                    <a:p>
                      <a:r>
                        <a:rPr sz="850" b="0">
                          <a:solidFill>
                            <a:srgbClr val="4B4B4B"/>
                          </a:solidFill>
                          <a:latin typeface="Arial"/>
                        </a:rPr>
                        <a:t>FR-OP-036, FR-OP-120, FR-OP-121</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SCR-OP-37</a:t>
                      </a:r>
                    </a:p>
                  </a:txBody>
                  <a:tcPr marL="54864" marR="54864" marT="27432" marB="27432">
                    <a:solidFill>
                      <a:srgbClr val="E5F5FF"/>
                    </a:solidFill>
                  </a:tcPr>
                </a:tc>
                <a:tc>
                  <a:txBody>
                    <a:bodyPr/>
                    <a:lstStyle/>
                    <a:p>
                      <a:r>
                        <a:rPr sz="850" b="0">
                          <a:solidFill>
                            <a:srgbClr val="4B4B4B"/>
                          </a:solidFill>
                          <a:latin typeface="Arial"/>
                        </a:rPr>
                        <a:t>Adjustment Workbench</a:t>
                      </a:r>
                    </a:p>
                  </a:txBody>
                  <a:tcPr marL="54864" marR="54864" marT="27432" marB="27432">
                    <a:solidFill>
                      <a:srgbClr val="E5F5FF"/>
                    </a:solidFill>
                  </a:tcPr>
                </a:tc>
                <a:tc>
                  <a:txBody>
                    <a:bodyPr/>
                    <a:lstStyle/>
                    <a:p>
                      <a:r>
                        <a:rPr sz="850" b="0">
                          <a:solidFill>
                            <a:srgbClr val="4B4B4B"/>
                          </a:solidFill>
                          <a:latin typeface="Arial"/>
                        </a:rPr>
                        <a:t>13.4.1</a:t>
                      </a:r>
                    </a:p>
                  </a:txBody>
                  <a:tcPr marL="54864" marR="54864" marT="27432" marB="27432">
                    <a:solidFill>
                      <a:srgbClr val="E5F5FF"/>
                    </a:solidFill>
                  </a:tcPr>
                </a:tc>
                <a:tc>
                  <a:txBody>
                    <a:bodyPr/>
                    <a:lstStyle/>
                    <a:p>
                      <a:r>
                        <a:rPr sz="850" b="0">
                          <a:solidFill>
                            <a:srgbClr val="4B4B4B"/>
                          </a:solidFill>
                          <a:latin typeface="Arial"/>
                        </a:rPr>
                        <a:t>FR-OP-050, FR-OP-061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SCR-OP-38</a:t>
                      </a:r>
                    </a:p>
                  </a:txBody>
                  <a:tcPr marL="54864" marR="54864" marT="27432" marB="27432">
                    <a:solidFill>
                      <a:srgbClr val="FFFFFF"/>
                    </a:solidFill>
                  </a:tcPr>
                </a:tc>
                <a:tc>
                  <a:txBody>
                    <a:bodyPr/>
                    <a:lstStyle/>
                    <a:p>
                      <a:r>
                        <a:rPr sz="850" b="0">
                          <a:solidFill>
                            <a:srgbClr val="4B4B4B"/>
                          </a:solidFill>
                          <a:latin typeface="Arial"/>
                        </a:rPr>
                        <a:t>New Endorsement Request</a:t>
                      </a:r>
                    </a:p>
                  </a:txBody>
                  <a:tcPr marL="54864" marR="54864" marT="27432" marB="27432">
                    <a:solidFill>
                      <a:srgbClr val="FFFFFF"/>
                    </a:solidFill>
                  </a:tcPr>
                </a:tc>
                <a:tc>
                  <a:txBody>
                    <a:bodyPr/>
                    <a:lstStyle/>
                    <a:p>
                      <a:r>
                        <a:rPr sz="850" b="0">
                          <a:solidFill>
                            <a:srgbClr val="4B4B4B"/>
                          </a:solidFill>
                          <a:latin typeface="Arial"/>
                        </a:rPr>
                        <a:t>13.4.2</a:t>
                      </a:r>
                    </a:p>
                  </a:txBody>
                  <a:tcPr marL="54864" marR="54864" marT="27432" marB="27432">
                    <a:solidFill>
                      <a:srgbClr val="FFFFFF"/>
                    </a:solidFill>
                  </a:tcPr>
                </a:tc>
                <a:tc>
                  <a:txBody>
                    <a:bodyPr/>
                    <a:lstStyle/>
                    <a:p>
                      <a:r>
                        <a:rPr sz="850" b="0">
                          <a:solidFill>
                            <a:srgbClr val="4B4B4B"/>
                          </a:solidFill>
                          <a:latin typeface="Arial"/>
                        </a:rPr>
                        <a:t>FR-OP-050, FR-OP-051, FR-OP-054, FR-OP-055, FR-OP-058</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Filled, Validation error</a:t>
                      </a:r>
                    </a:p>
                  </a:txBody>
                  <a:tcPr marL="54864" marR="54864" marT="27432" marB="27432">
                    <a:solidFill>
                      <a:srgbClr val="FFFFFF"/>
                    </a:solidFill>
                  </a:tcPr>
                </a:tc>
              </a:tr>
              <a:tr h="480057">
                <a:tc>
                  <a:txBody>
                    <a:bodyPr/>
                    <a:lstStyle/>
                    <a:p>
                      <a:r>
                        <a:rPr sz="850" b="0">
                          <a:solidFill>
                            <a:srgbClr val="4B4B4B"/>
                          </a:solidFill>
                          <a:latin typeface="Arial"/>
                        </a:rPr>
                        <a:t>SCR-OP-39</a:t>
                      </a:r>
                    </a:p>
                  </a:txBody>
                  <a:tcPr marL="54864" marR="54864" marT="27432" marB="27432">
                    <a:solidFill>
                      <a:srgbClr val="E5F5FF"/>
                    </a:solidFill>
                  </a:tcPr>
                </a:tc>
                <a:tc>
                  <a:txBody>
                    <a:bodyPr/>
                    <a:lstStyle/>
                    <a:p>
                      <a:r>
                        <a:rPr sz="850" b="0">
                          <a:solidFill>
                            <a:srgbClr val="4B4B4B"/>
                          </a:solidFill>
                          <a:latin typeface="Arial"/>
                        </a:rPr>
                        <a:t>Endorsement Request</a:t>
                      </a:r>
                    </a:p>
                  </a:txBody>
                  <a:tcPr marL="54864" marR="54864" marT="27432" marB="27432">
                    <a:solidFill>
                      <a:srgbClr val="E5F5FF"/>
                    </a:solidFill>
                  </a:tcPr>
                </a:tc>
                <a:tc>
                  <a:txBody>
                    <a:bodyPr/>
                    <a:lstStyle/>
                    <a:p>
                      <a:r>
                        <a:rPr sz="850" b="0">
                          <a:solidFill>
                            <a:srgbClr val="4B4B4B"/>
                          </a:solidFill>
                          <a:latin typeface="Arial"/>
                        </a:rPr>
                        <a:t>13.4.3</a:t>
                      </a:r>
                    </a:p>
                  </a:txBody>
                  <a:tcPr marL="54864" marR="54864" marT="27432" marB="27432">
                    <a:solidFill>
                      <a:srgbClr val="E5F5FF"/>
                    </a:solidFill>
                  </a:tcPr>
                </a:tc>
                <a:tc>
                  <a:txBody>
                    <a:bodyPr/>
                    <a:lstStyle/>
                    <a:p>
                      <a:r>
                        <a:rPr sz="850" b="0">
                          <a:solidFill>
                            <a:srgbClr val="4B4B4B"/>
                          </a:solidFill>
                          <a:latin typeface="Arial"/>
                        </a:rPr>
                        <a:t>FR-OP-006, FR-OP-052, FR-OP-053, FR-OP-055, FR-OP-056, FR-OP-057, FR-OP-060, FR-OP-061, FR-OP-114</a:t>
                      </a:r>
                    </a:p>
                  </a:txBody>
                  <a:tcPr marL="54864" marR="54864" marT="27432" marB="27432">
                    <a:solidFill>
                      <a:srgbClr val="E5F5FF"/>
                    </a:solidFill>
                  </a:tcPr>
                </a:tc>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Default, Success message, Read-only or locked, Pending approval</a:t>
                      </a:r>
                    </a:p>
                  </a:txBody>
                  <a:tcPr marL="54864" marR="54864" marT="27432" marB="27432">
                    <a:solidFill>
                      <a:srgbClr val="E5F5FF"/>
                    </a:solidFill>
                  </a:tcPr>
                </a:tc>
              </a:tr>
              <a:tr h="220979">
                <a:tc>
                  <a:txBody>
                    <a:bodyPr/>
                    <a:lstStyle/>
                    <a:p>
                      <a:r>
                        <a:rPr sz="850" b="0">
                          <a:solidFill>
                            <a:srgbClr val="4B4B4B"/>
                          </a:solidFill>
                          <a:latin typeface="Arial"/>
                        </a:rPr>
                        <a:t>SCR-OP-40</a:t>
                      </a:r>
                    </a:p>
                  </a:txBody>
                  <a:tcPr marL="54864" marR="54864" marT="27432" marB="27432">
                    <a:solidFill>
                      <a:srgbClr val="FFFFFF"/>
                    </a:solidFill>
                  </a:tcPr>
                </a:tc>
                <a:tc>
                  <a:txBody>
                    <a:bodyPr/>
                    <a:lstStyle/>
                    <a:p>
                      <a:r>
                        <a:rPr sz="850" b="0">
                          <a:solidFill>
                            <a:srgbClr val="4B4B4B"/>
                          </a:solidFill>
                          <a:latin typeface="Arial"/>
                        </a:rPr>
                        <a:t>Posting Batches</a:t>
                      </a:r>
                    </a:p>
                  </a:txBody>
                  <a:tcPr marL="54864" marR="54864" marT="27432" marB="27432">
                    <a:solidFill>
                      <a:srgbClr val="FFFFFF"/>
                    </a:solidFill>
                  </a:tcPr>
                </a:tc>
                <a:tc>
                  <a:txBody>
                    <a:bodyPr/>
                    <a:lstStyle/>
                    <a:p>
                      <a:r>
                        <a:rPr sz="850" b="0">
                          <a:solidFill>
                            <a:srgbClr val="4B4B4B"/>
                          </a:solidFill>
                          <a:latin typeface="Arial"/>
                        </a:rPr>
                        <a:t>13.4.4</a:t>
                      </a:r>
                    </a:p>
                  </a:txBody>
                  <a:tcPr marL="54864" marR="54864" marT="27432" marB="27432">
                    <a:solidFill>
                      <a:srgbClr val="FFFFFF"/>
                    </a:solidFill>
                  </a:tcPr>
                </a:tc>
                <a:tc>
                  <a:txBody>
                    <a:bodyPr/>
                    <a:lstStyle/>
                    <a:p>
                      <a:r>
                        <a:rPr sz="850" b="0">
                          <a:solidFill>
                            <a:srgbClr val="4B4B4B"/>
                          </a:solidFill>
                          <a:latin typeface="Arial"/>
                        </a:rPr>
                        <a:t>FR-OP-056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bl>
          </a:graphicData>
        </a:graphic>
      </p:graphicFrame>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664</a:t>
            </a:r>
          </a:p>
        </p:txBody>
      </p:sp>
      <p:graphicFrame>
        <p:nvGraphicFramePr>
          <p:cNvPr id="9" name="Table 8"/>
          <p:cNvGraphicFramePr>
            <a:graphicFrameLocks noGrp="1"/>
          </p:cNvGraphicFramePr>
          <p:nvPr/>
        </p:nvGraphicFramePr>
        <p:xfrm>
          <a:off x="548640" y="1325880"/>
          <a:ext cx="11094412" cy="486153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SCR-OP-41</a:t>
                      </a:r>
                    </a:p>
                  </a:txBody>
                  <a:tcPr marL="54864" marR="54864" marT="27432" marB="27432">
                    <a:solidFill>
                      <a:srgbClr val="FFFFFF"/>
                    </a:solidFill>
                  </a:tcPr>
                </a:tc>
                <a:tc>
                  <a:txBody>
                    <a:bodyPr/>
                    <a:lstStyle/>
                    <a:p>
                      <a:r>
                        <a:rPr sz="850" b="0">
                          <a:solidFill>
                            <a:srgbClr val="4B4B4B"/>
                          </a:solidFill>
                          <a:latin typeface="Arial"/>
                        </a:rPr>
                        <a:t>Batch Request Upload</a:t>
                      </a:r>
                    </a:p>
                  </a:txBody>
                  <a:tcPr marL="54864" marR="54864" marT="27432" marB="27432">
                    <a:solidFill>
                      <a:srgbClr val="FFFFFF"/>
                    </a:solidFill>
                  </a:tcPr>
                </a:tc>
                <a:tc>
                  <a:txBody>
                    <a:bodyPr/>
                    <a:lstStyle/>
                    <a:p>
                      <a:r>
                        <a:rPr sz="850" b="0">
                          <a:solidFill>
                            <a:srgbClr val="4B4B4B"/>
                          </a:solidFill>
                          <a:latin typeface="Arial"/>
                        </a:rPr>
                        <a:t>13.4.5</a:t>
                      </a:r>
                    </a:p>
                  </a:txBody>
                  <a:tcPr marL="54864" marR="54864" marT="27432" marB="27432">
                    <a:solidFill>
                      <a:srgbClr val="FFFFFF"/>
                    </a:solidFill>
                  </a:tcPr>
                </a:tc>
                <a:tc>
                  <a:txBody>
                    <a:bodyPr/>
                    <a:lstStyle/>
                    <a:p>
                      <a:r>
                        <a:rPr sz="850" b="0">
                          <a:solidFill>
                            <a:srgbClr val="4B4B4B"/>
                          </a:solidFill>
                          <a:latin typeface="Arial"/>
                        </a:rPr>
                        <a:t>FR-OP-050, FR-OP-056</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SCR-OP-42</a:t>
                      </a:r>
                    </a:p>
                  </a:txBody>
                  <a:tcPr marL="54864" marR="54864" marT="27432" marB="27432">
                    <a:solidFill>
                      <a:srgbClr val="E5F5FF"/>
                    </a:solidFill>
                  </a:tcPr>
                </a:tc>
                <a:tc>
                  <a:txBody>
                    <a:bodyPr/>
                    <a:lstStyle/>
                    <a:p>
                      <a:r>
                        <a:rPr sz="850" b="0">
                          <a:solidFill>
                            <a:srgbClr val="4B4B4B"/>
                          </a:solidFill>
                          <a:latin typeface="Arial"/>
                        </a:rPr>
                        <a:t>Minimal Balance File</a:t>
                      </a:r>
                    </a:p>
                  </a:txBody>
                  <a:tcPr marL="54864" marR="54864" marT="27432" marB="27432">
                    <a:solidFill>
                      <a:srgbClr val="E5F5FF"/>
                    </a:solidFill>
                  </a:tcPr>
                </a:tc>
                <a:tc>
                  <a:txBody>
                    <a:bodyPr/>
                    <a:lstStyle/>
                    <a:p>
                      <a:r>
                        <a:rPr sz="850" b="0">
                          <a:solidFill>
                            <a:srgbClr val="4B4B4B"/>
                          </a:solidFill>
                          <a:latin typeface="Arial"/>
                        </a:rPr>
                        <a:t>13.4.6</a:t>
                      </a:r>
                    </a:p>
                  </a:txBody>
                  <a:tcPr marL="54864" marR="54864" marT="27432" marB="27432">
                    <a:solidFill>
                      <a:srgbClr val="E5F5FF"/>
                    </a:solidFill>
                  </a:tcPr>
                </a:tc>
                <a:tc>
                  <a:txBody>
                    <a:bodyPr/>
                    <a:lstStyle/>
                    <a:p>
                      <a:r>
                        <a:rPr sz="850" b="0">
                          <a:solidFill>
                            <a:srgbClr val="4B4B4B"/>
                          </a:solidFill>
                          <a:latin typeface="Arial"/>
                        </a:rPr>
                        <a:t>FR-OP-059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SCR-OP-43</a:t>
                      </a:r>
                    </a:p>
                  </a:txBody>
                  <a:tcPr marL="54864" marR="54864" marT="27432" marB="27432">
                    <a:solidFill>
                      <a:srgbClr val="FFFFFF"/>
                    </a:solidFill>
                  </a:tcPr>
                </a:tc>
                <a:tc>
                  <a:txBody>
                    <a:bodyPr/>
                    <a:lstStyle/>
                    <a:p>
                      <a:r>
                        <a:rPr sz="850" b="0">
                          <a:solidFill>
                            <a:srgbClr val="4B4B4B"/>
                          </a:solidFill>
                          <a:latin typeface="Arial"/>
                        </a:rPr>
                        <a:t>Reconciliation Workbench</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FR-OP-003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SCR-OP-44</a:t>
                      </a:r>
                    </a:p>
                  </a:txBody>
                  <a:tcPr marL="54864" marR="54864" marT="27432" marB="27432">
                    <a:solidFill>
                      <a:srgbClr val="E5F5FF"/>
                    </a:solidFill>
                  </a:tcPr>
                </a:tc>
                <a:tc>
                  <a:txBody>
                    <a:bodyPr/>
                    <a:lstStyle/>
                    <a:p>
                      <a:r>
                        <a:rPr sz="850" b="0">
                          <a:solidFill>
                            <a:srgbClr val="4B4B4B"/>
                          </a:solidFill>
                          <a:latin typeface="Arial"/>
                        </a:rPr>
                        <a:t>Reconciliation Cycles</a:t>
                      </a:r>
                    </a:p>
                  </a:txBody>
                  <a:tcPr marL="54864" marR="54864" marT="27432" marB="27432">
                    <a:solidFill>
                      <a:srgbClr val="E5F5FF"/>
                    </a:solidFill>
                  </a:tcPr>
                </a:tc>
                <a:tc>
                  <a:txBody>
                    <a:bodyPr/>
                    <a:lstStyle/>
                    <a:p>
                      <a:r>
                        <a:rPr sz="850" b="0">
                          <a:solidFill>
                            <a:srgbClr val="4B4B4B"/>
                          </a:solidFill>
                          <a:latin typeface="Arial"/>
                        </a:rPr>
                        <a:t>13.5.2</a:t>
                      </a:r>
                    </a:p>
                  </a:txBody>
                  <a:tcPr marL="54864" marR="54864" marT="27432" marB="27432">
                    <a:solidFill>
                      <a:srgbClr val="E5F5FF"/>
                    </a:solidFill>
                  </a:tcPr>
                </a:tc>
                <a:tc>
                  <a:txBody>
                    <a:bodyPr/>
                    <a:lstStyle/>
                    <a:p>
                      <a:r>
                        <a:rPr sz="850" b="0">
                          <a:solidFill>
                            <a:srgbClr val="4B4B4B"/>
                          </a:solidFill>
                          <a:latin typeface="Arial"/>
                        </a:rPr>
                        <a:t>FR-OP-075, FR-OP-079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SCR-OP-45</a:t>
                      </a:r>
                    </a:p>
                  </a:txBody>
                  <a:tcPr marL="54864" marR="54864" marT="27432" marB="27432">
                    <a:solidFill>
                      <a:srgbClr val="FFFFFF"/>
                    </a:solidFill>
                  </a:tcPr>
                </a:tc>
                <a:tc>
                  <a:txBody>
                    <a:bodyPr/>
                    <a:lstStyle/>
                    <a:p>
                      <a:r>
                        <a:rPr sz="850" b="0">
                          <a:solidFill>
                            <a:srgbClr val="4B4B4B"/>
                          </a:solidFill>
                          <a:latin typeface="Arial"/>
                        </a:rPr>
                        <a:t>Reconciliation Cycle</a:t>
                      </a:r>
                    </a:p>
                  </a:txBody>
                  <a:tcPr marL="54864" marR="54864" marT="27432" marB="27432">
                    <a:solidFill>
                      <a:srgbClr val="FFFFFF"/>
                    </a:solidFill>
                  </a:tcPr>
                </a:tc>
                <a:tc>
                  <a:txBody>
                    <a:bodyPr/>
                    <a:lstStyle/>
                    <a:p>
                      <a:r>
                        <a:rPr sz="850" b="0">
                          <a:solidFill>
                            <a:srgbClr val="4B4B4B"/>
                          </a:solidFill>
                          <a:latin typeface="Arial"/>
                        </a:rPr>
                        <a:t>13.5.3</a:t>
                      </a:r>
                    </a:p>
                  </a:txBody>
                  <a:tcPr marL="54864" marR="54864" marT="27432" marB="27432">
                    <a:solidFill>
                      <a:srgbClr val="FFFFFF"/>
                    </a:solidFill>
                  </a:tcPr>
                </a:tc>
                <a:tc>
                  <a:txBody>
                    <a:bodyPr/>
                    <a:lstStyle/>
                    <a:p>
                      <a:r>
                        <a:rPr sz="850" b="0">
                          <a:solidFill>
                            <a:srgbClr val="4B4B4B"/>
                          </a:solidFill>
                          <a:latin typeface="Arial"/>
                        </a:rPr>
                        <a:t>FR-OP-075, FR-OP-077, FR-OP-078, FR-OP-079</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SCR-OP-46</a:t>
                      </a:r>
                    </a:p>
                  </a:txBody>
                  <a:tcPr marL="54864" marR="54864" marT="27432" marB="27432">
                    <a:solidFill>
                      <a:srgbClr val="E5F5FF"/>
                    </a:solidFill>
                  </a:tcPr>
                </a:tc>
                <a:tc>
                  <a:txBody>
                    <a:bodyPr/>
                    <a:lstStyle/>
                    <a:p>
                      <a:r>
                        <a:rPr sz="850" b="0">
                          <a:solidFill>
                            <a:srgbClr val="4B4B4B"/>
                          </a:solidFill>
                          <a:latin typeface="Arial"/>
                        </a:rPr>
                        <a:t>Production Extracts</a:t>
                      </a:r>
                    </a:p>
                  </a:txBody>
                  <a:tcPr marL="54864" marR="54864" marT="27432" marB="27432">
                    <a:solidFill>
                      <a:srgbClr val="E5F5FF"/>
                    </a:solidFill>
                  </a:tcPr>
                </a:tc>
                <a:tc>
                  <a:txBody>
                    <a:bodyPr/>
                    <a:lstStyle/>
                    <a:p>
                      <a:r>
                        <a:rPr sz="850" b="0">
                          <a:solidFill>
                            <a:srgbClr val="4B4B4B"/>
                          </a:solidFill>
                          <a:latin typeface="Arial"/>
                        </a:rPr>
                        <a:t>13.5.4</a:t>
                      </a:r>
                    </a:p>
                  </a:txBody>
                  <a:tcPr marL="54864" marR="54864" marT="27432" marB="27432">
                    <a:solidFill>
                      <a:srgbClr val="E5F5FF"/>
                    </a:solidFill>
                  </a:tcPr>
                </a:tc>
                <a:tc>
                  <a:txBody>
                    <a:bodyPr/>
                    <a:lstStyle/>
                    <a:p>
                      <a:r>
                        <a:rPr sz="850" b="0">
                          <a:solidFill>
                            <a:srgbClr val="4B4B4B"/>
                          </a:solidFill>
                          <a:latin typeface="Arial"/>
                        </a:rPr>
                        <a:t>FR-OP-071, FR-OP-072, FR-OP-073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SCR-OP-47</a:t>
                      </a:r>
                    </a:p>
                  </a:txBody>
                  <a:tcPr marL="54864" marR="54864" marT="27432" marB="27432">
                    <a:solidFill>
                      <a:srgbClr val="FFFFFF"/>
                    </a:solidFill>
                  </a:tcPr>
                </a:tc>
                <a:tc>
                  <a:txBody>
                    <a:bodyPr/>
                    <a:lstStyle/>
                    <a:p>
                      <a:r>
                        <a:rPr sz="850" b="0">
                          <a:solidFill>
                            <a:srgbClr val="4B4B4B"/>
                          </a:solidFill>
                          <a:latin typeface="Arial"/>
                        </a:rPr>
                        <a:t>Insurer Feedback</a:t>
                      </a:r>
                    </a:p>
                  </a:txBody>
                  <a:tcPr marL="54864" marR="54864" marT="27432" marB="27432">
                    <a:solidFill>
                      <a:srgbClr val="FFFFFF"/>
                    </a:solidFill>
                  </a:tcPr>
                </a:tc>
                <a:tc>
                  <a:txBody>
                    <a:bodyPr/>
                    <a:lstStyle/>
                    <a:p>
                      <a:r>
                        <a:rPr sz="850" b="0">
                          <a:solidFill>
                            <a:srgbClr val="4B4B4B"/>
                          </a:solidFill>
                          <a:latin typeface="Arial"/>
                        </a:rPr>
                        <a:t>13.5.5</a:t>
                      </a:r>
                    </a:p>
                  </a:txBody>
                  <a:tcPr marL="54864" marR="54864" marT="27432" marB="27432">
                    <a:solidFill>
                      <a:srgbClr val="FFFFFF"/>
                    </a:solidFill>
                  </a:tcPr>
                </a:tc>
                <a:tc>
                  <a:txBody>
                    <a:bodyPr/>
                    <a:lstStyle/>
                    <a:p>
                      <a:r>
                        <a:rPr sz="850" b="0">
                          <a:solidFill>
                            <a:srgbClr val="4B4B4B"/>
                          </a:solidFill>
                          <a:latin typeface="Arial"/>
                        </a:rPr>
                        <a:t>FR-OP-074, FR-OP-075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SCR-OP-48</a:t>
                      </a:r>
                    </a:p>
                  </a:txBody>
                  <a:tcPr marL="54864" marR="54864" marT="27432" marB="27432">
                    <a:solidFill>
                      <a:srgbClr val="E5F5FF"/>
                    </a:solidFill>
                  </a:tcPr>
                </a:tc>
                <a:tc>
                  <a:txBody>
                    <a:bodyPr/>
                    <a:lstStyle/>
                    <a:p>
                      <a:r>
                        <a:rPr sz="850" b="0">
                          <a:solidFill>
                            <a:srgbClr val="4B4B4B"/>
                          </a:solidFill>
                          <a:latin typeface="Arial"/>
                        </a:rPr>
                        <a:t>Unbooked Accounts</a:t>
                      </a:r>
                    </a:p>
                  </a:txBody>
                  <a:tcPr marL="54864" marR="54864" marT="27432" marB="27432">
                    <a:solidFill>
                      <a:srgbClr val="E5F5FF"/>
                    </a:solidFill>
                  </a:tcPr>
                </a:tc>
                <a:tc>
                  <a:txBody>
                    <a:bodyPr/>
                    <a:lstStyle/>
                    <a:p>
                      <a:r>
                        <a:rPr sz="850" b="0">
                          <a:solidFill>
                            <a:srgbClr val="4B4B4B"/>
                          </a:solidFill>
                          <a:latin typeface="Arial"/>
                        </a:rPr>
                        <a:t>13.5.6</a:t>
                      </a:r>
                    </a:p>
                  </a:txBody>
                  <a:tcPr marL="54864" marR="54864" marT="27432" marB="27432">
                    <a:solidFill>
                      <a:srgbClr val="E5F5FF"/>
                    </a:solidFill>
                  </a:tcPr>
                </a:tc>
                <a:tc>
                  <a:txBody>
                    <a:bodyPr/>
                    <a:lstStyle/>
                    <a:p>
                      <a:r>
                        <a:rPr sz="850" b="0">
                          <a:solidFill>
                            <a:srgbClr val="4B4B4B"/>
                          </a:solidFill>
                          <a:latin typeface="Arial"/>
                        </a:rPr>
                        <a:t>FR-OP-076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SCR-OP-49</a:t>
                      </a:r>
                    </a:p>
                  </a:txBody>
                  <a:tcPr marL="54864" marR="54864" marT="27432" marB="27432">
                    <a:solidFill>
                      <a:srgbClr val="FFFFFF"/>
                    </a:solidFill>
                  </a:tcPr>
                </a:tc>
                <a:tc>
                  <a:txBody>
                    <a:bodyPr/>
                    <a:lstStyle/>
                    <a:p>
                      <a:r>
                        <a:rPr sz="850" b="0">
                          <a:solidFill>
                            <a:srgbClr val="4B4B4B"/>
                          </a:solidFill>
                          <a:latin typeface="Arial"/>
                        </a:rPr>
                        <a:t>Extract Schedules</a:t>
                      </a:r>
                    </a:p>
                  </a:txBody>
                  <a:tcPr marL="54864" marR="54864" marT="27432" marB="27432">
                    <a:solidFill>
                      <a:srgbClr val="FFFFFF"/>
                    </a:solidFill>
                  </a:tcPr>
                </a:tc>
                <a:tc>
                  <a:txBody>
                    <a:bodyPr/>
                    <a:lstStyle/>
                    <a:p>
                      <a:r>
                        <a:rPr sz="850" b="0">
                          <a:solidFill>
                            <a:srgbClr val="4B4B4B"/>
                          </a:solidFill>
                          <a:latin typeface="Arial"/>
                        </a:rPr>
                        <a:t>13.5.7</a:t>
                      </a:r>
                    </a:p>
                  </a:txBody>
                  <a:tcPr marL="54864" marR="54864" marT="27432" marB="27432">
                    <a:solidFill>
                      <a:srgbClr val="FFFFFF"/>
                    </a:solidFill>
                  </a:tcPr>
                </a:tc>
                <a:tc>
                  <a:txBody>
                    <a:bodyPr/>
                    <a:lstStyle/>
                    <a:p>
                      <a:r>
                        <a:rPr sz="850" b="0">
                          <a:solidFill>
                            <a:srgbClr val="4B4B4B"/>
                          </a:solidFill>
                          <a:latin typeface="Arial"/>
                        </a:rPr>
                        <a:t>FR-OP-070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SCR-OP-50</a:t>
                      </a:r>
                    </a:p>
                  </a:txBody>
                  <a:tcPr marL="54864" marR="54864" marT="27432" marB="27432">
                    <a:solidFill>
                      <a:srgbClr val="E5F5FF"/>
                    </a:solidFill>
                  </a:tcPr>
                </a:tc>
                <a:tc>
                  <a:txBody>
                    <a:bodyPr/>
                    <a:lstStyle/>
                    <a:p>
                      <a:r>
                        <a:rPr sz="850" b="0">
                          <a:solidFill>
                            <a:srgbClr val="4B4B4B"/>
                          </a:solidFill>
                          <a:latin typeface="Arial"/>
                        </a:rPr>
                        <a:t>Commission Workbench</a:t>
                      </a:r>
                    </a:p>
                  </a:txBody>
                  <a:tcPr marL="54864" marR="54864" marT="27432" marB="27432">
                    <a:solidFill>
                      <a:srgbClr val="E5F5FF"/>
                    </a:solidFill>
                  </a:tcPr>
                </a:tc>
                <a:tc>
                  <a:txBody>
                    <a:bodyPr/>
                    <a:lstStyle/>
                    <a:p>
                      <a:r>
                        <a:rPr sz="850" b="0">
                          <a:solidFill>
                            <a:srgbClr val="4B4B4B"/>
                          </a:solidFill>
                          <a:latin typeface="Arial"/>
                        </a:rPr>
                        <a:t>13.6.1</a:t>
                      </a:r>
                    </a:p>
                  </a:txBody>
                  <a:tcPr marL="54864" marR="54864" marT="27432" marB="27432">
                    <a:solidFill>
                      <a:srgbClr val="E5F5FF"/>
                    </a:solidFill>
                  </a:tcPr>
                </a:tc>
                <a:tc>
                  <a:txBody>
                    <a:bodyPr/>
                    <a:lstStyle/>
                    <a:p>
                      <a:r>
                        <a:rPr sz="850" b="0">
                          <a:solidFill>
                            <a:srgbClr val="4B4B4B"/>
                          </a:solidFill>
                          <a:latin typeface="Arial"/>
                        </a:rPr>
                        <a:t>FR-OP-003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SCR-OP-51</a:t>
                      </a:r>
                    </a:p>
                  </a:txBody>
                  <a:tcPr marL="54864" marR="54864" marT="27432" marB="27432">
                    <a:solidFill>
                      <a:srgbClr val="FFFFFF"/>
                    </a:solidFill>
                  </a:tcPr>
                </a:tc>
                <a:tc>
                  <a:txBody>
                    <a:bodyPr/>
                    <a:lstStyle/>
                    <a:p>
                      <a:r>
                        <a:rPr sz="850" b="0">
                          <a:solidFill>
                            <a:srgbClr val="4B4B4B"/>
                          </a:solidFill>
                          <a:latin typeface="Arial"/>
                        </a:rPr>
                        <a:t>DP Lists</a:t>
                      </a:r>
                    </a:p>
                  </a:txBody>
                  <a:tcPr marL="54864" marR="54864" marT="27432" marB="27432">
                    <a:solidFill>
                      <a:srgbClr val="FFFFFF"/>
                    </a:solidFill>
                  </a:tcPr>
                </a:tc>
                <a:tc>
                  <a:txBody>
                    <a:bodyPr/>
                    <a:lstStyle/>
                    <a:p>
                      <a:r>
                        <a:rPr sz="850" b="0">
                          <a:solidFill>
                            <a:srgbClr val="4B4B4B"/>
                          </a:solidFill>
                          <a:latin typeface="Arial"/>
                        </a:rPr>
                        <a:t>13.6.2</a:t>
                      </a:r>
                    </a:p>
                  </a:txBody>
                  <a:tcPr marL="54864" marR="54864" marT="27432" marB="27432">
                    <a:solidFill>
                      <a:srgbClr val="FFFFFF"/>
                    </a:solidFill>
                  </a:tcPr>
                </a:tc>
                <a:tc>
                  <a:txBody>
                    <a:bodyPr/>
                    <a:lstStyle/>
                    <a:p>
                      <a:r>
                        <a:rPr sz="850" b="0">
                          <a:solidFill>
                            <a:srgbClr val="4B4B4B"/>
                          </a:solidFill>
                          <a:latin typeface="Arial"/>
                        </a:rPr>
                        <a:t>FR-OP-090, FR-OP-091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SCR-OP-52</a:t>
                      </a:r>
                    </a:p>
                  </a:txBody>
                  <a:tcPr marL="54864" marR="54864" marT="27432" marB="27432">
                    <a:solidFill>
                      <a:srgbClr val="E5F5FF"/>
                    </a:solidFill>
                  </a:tcPr>
                </a:tc>
                <a:tc>
                  <a:txBody>
                    <a:bodyPr/>
                    <a:lstStyle/>
                    <a:p>
                      <a:r>
                        <a:rPr sz="850" b="0">
                          <a:solidFill>
                            <a:srgbClr val="4B4B4B"/>
                          </a:solidFill>
                          <a:latin typeface="Arial"/>
                        </a:rPr>
                        <a:t>DP Accounts</a:t>
                      </a:r>
                    </a:p>
                  </a:txBody>
                  <a:tcPr marL="54864" marR="54864" marT="27432" marB="27432">
                    <a:solidFill>
                      <a:srgbClr val="E5F5FF"/>
                    </a:solidFill>
                  </a:tcPr>
                </a:tc>
                <a:tc>
                  <a:txBody>
                    <a:bodyPr/>
                    <a:lstStyle/>
                    <a:p>
                      <a:r>
                        <a:rPr sz="850" b="0">
                          <a:solidFill>
                            <a:srgbClr val="4B4B4B"/>
                          </a:solidFill>
                          <a:latin typeface="Arial"/>
                        </a:rPr>
                        <a:t>13.6.3</a:t>
                      </a:r>
                    </a:p>
                  </a:txBody>
                  <a:tcPr marL="54864" marR="54864" marT="27432" marB="27432">
                    <a:solidFill>
                      <a:srgbClr val="E5F5FF"/>
                    </a:solidFill>
                  </a:tcPr>
                </a:tc>
                <a:tc>
                  <a:txBody>
                    <a:bodyPr/>
                    <a:lstStyle/>
                    <a:p>
                      <a:r>
                        <a:rPr sz="850" b="0">
                          <a:solidFill>
                            <a:srgbClr val="4B4B4B"/>
                          </a:solidFill>
                          <a:latin typeface="Arial"/>
                        </a:rPr>
                        <a:t>FR-OP-091, FR-OP-092, FR-OP-094</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SCR-OP-53</a:t>
                      </a:r>
                    </a:p>
                  </a:txBody>
                  <a:tcPr marL="54864" marR="54864" marT="27432" marB="27432">
                    <a:solidFill>
                      <a:srgbClr val="FFFFFF"/>
                    </a:solidFill>
                  </a:tcPr>
                </a:tc>
                <a:tc>
                  <a:txBody>
                    <a:bodyPr/>
                    <a:lstStyle/>
                    <a:p>
                      <a:r>
                        <a:rPr sz="850" b="0">
                          <a:solidFill>
                            <a:srgbClr val="4B4B4B"/>
                          </a:solidFill>
                          <a:latin typeface="Arial"/>
                        </a:rPr>
                        <a:t>DP Billings</a:t>
                      </a:r>
                    </a:p>
                  </a:txBody>
                  <a:tcPr marL="54864" marR="54864" marT="27432" marB="27432">
                    <a:solidFill>
                      <a:srgbClr val="FFFFFF"/>
                    </a:solidFill>
                  </a:tcPr>
                </a:tc>
                <a:tc>
                  <a:txBody>
                    <a:bodyPr/>
                    <a:lstStyle/>
                    <a:p>
                      <a:r>
                        <a:rPr sz="850" b="0">
                          <a:solidFill>
                            <a:srgbClr val="4B4B4B"/>
                          </a:solidFill>
                          <a:latin typeface="Arial"/>
                        </a:rPr>
                        <a:t>13.6.4</a:t>
                      </a:r>
                    </a:p>
                  </a:txBody>
                  <a:tcPr marL="54864" marR="54864" marT="27432" marB="27432">
                    <a:solidFill>
                      <a:srgbClr val="FFFFFF"/>
                    </a:solidFill>
                  </a:tcPr>
                </a:tc>
                <a:tc>
                  <a:txBody>
                    <a:bodyPr/>
                    <a:lstStyle/>
                    <a:p>
                      <a:r>
                        <a:rPr sz="850" b="0">
                          <a:solidFill>
                            <a:srgbClr val="4B4B4B"/>
                          </a:solidFill>
                          <a:latin typeface="Arial"/>
                        </a:rPr>
                        <a:t>FR-OP-092, FR-OP-093, FR-OP-099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r>
              <a:tr h="220979">
                <a:tc>
                  <a:txBody>
                    <a:bodyPr/>
                    <a:lstStyle/>
                    <a:p>
                      <a:r>
                        <a:rPr sz="850" b="0">
                          <a:solidFill>
                            <a:srgbClr val="4B4B4B"/>
                          </a:solidFill>
                          <a:latin typeface="Arial"/>
                        </a:rPr>
                        <a:t>SCR-OP-54</a:t>
                      </a:r>
                    </a:p>
                  </a:txBody>
                  <a:tcPr marL="54864" marR="54864" marT="27432" marB="27432">
                    <a:solidFill>
                      <a:srgbClr val="E5F5FF"/>
                    </a:solidFill>
                  </a:tcPr>
                </a:tc>
                <a:tc>
                  <a:txBody>
                    <a:bodyPr/>
                    <a:lstStyle/>
                    <a:p>
                      <a:r>
                        <a:rPr sz="850" b="0">
                          <a:solidFill>
                            <a:srgbClr val="4B4B4B"/>
                          </a:solidFill>
                          <a:latin typeface="Arial"/>
                        </a:rPr>
                        <a:t>DP Billing</a:t>
                      </a:r>
                    </a:p>
                  </a:txBody>
                  <a:tcPr marL="54864" marR="54864" marT="27432" marB="27432">
                    <a:solidFill>
                      <a:srgbClr val="E5F5FF"/>
                    </a:solidFill>
                  </a:tcPr>
                </a:tc>
                <a:tc>
                  <a:txBody>
                    <a:bodyPr/>
                    <a:lstStyle/>
                    <a:p>
                      <a:r>
                        <a:rPr sz="850" b="0">
                          <a:solidFill>
                            <a:srgbClr val="4B4B4B"/>
                          </a:solidFill>
                          <a:latin typeface="Arial"/>
                        </a:rPr>
                        <a:t>13.6.5</a:t>
                      </a:r>
                    </a:p>
                  </a:txBody>
                  <a:tcPr marL="54864" marR="54864" marT="27432" marB="27432">
                    <a:solidFill>
                      <a:srgbClr val="E5F5FF"/>
                    </a:solidFill>
                  </a:tcPr>
                </a:tc>
                <a:tc>
                  <a:txBody>
                    <a:bodyPr/>
                    <a:lstStyle/>
                    <a:p>
                      <a:r>
                        <a:rPr sz="850" b="0">
                          <a:solidFill>
                            <a:srgbClr val="4B4B4B"/>
                          </a:solidFill>
                          <a:latin typeface="Arial"/>
                        </a:rPr>
                        <a:t>FR-OP-092, FR-OP-093, FR-OP-094</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Filled,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SCR-OP-55</a:t>
                      </a:r>
                    </a:p>
                  </a:txBody>
                  <a:tcPr marL="54864" marR="54864" marT="27432" marB="27432">
                    <a:solidFill>
                      <a:srgbClr val="FFFFFF"/>
                    </a:solidFill>
                  </a:tcPr>
                </a:tc>
                <a:tc>
                  <a:txBody>
                    <a:bodyPr/>
                    <a:lstStyle/>
                    <a:p>
                      <a:r>
                        <a:rPr sz="850" b="0">
                          <a:solidFill>
                            <a:srgbClr val="4B4B4B"/>
                          </a:solidFill>
                          <a:latin typeface="Arial"/>
                        </a:rPr>
                        <a:t>Insurer Responses</a:t>
                      </a:r>
                    </a:p>
                  </a:txBody>
                  <a:tcPr marL="54864" marR="54864" marT="27432" marB="27432">
                    <a:solidFill>
                      <a:srgbClr val="FFFFFF"/>
                    </a:solidFill>
                  </a:tcPr>
                </a:tc>
                <a:tc>
                  <a:txBody>
                    <a:bodyPr/>
                    <a:lstStyle/>
                    <a:p>
                      <a:r>
                        <a:rPr sz="850" b="0">
                          <a:solidFill>
                            <a:srgbClr val="4B4B4B"/>
                          </a:solidFill>
                          <a:latin typeface="Arial"/>
                        </a:rPr>
                        <a:t>13.6.6</a:t>
                      </a:r>
                    </a:p>
                  </a:txBody>
                  <a:tcPr marL="54864" marR="54864" marT="27432" marB="27432">
                    <a:solidFill>
                      <a:srgbClr val="FFFFFF"/>
                    </a:solidFill>
                  </a:tcPr>
                </a:tc>
                <a:tc>
                  <a:txBody>
                    <a:bodyPr/>
                    <a:lstStyle/>
                    <a:p>
                      <a:r>
                        <a:rPr sz="850" b="0">
                          <a:solidFill>
                            <a:srgbClr val="4B4B4B"/>
                          </a:solidFill>
                          <a:latin typeface="Arial"/>
                        </a:rPr>
                        <a:t>FR-OP-093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Pending approval</a:t>
                      </a:r>
                    </a:p>
                  </a:txBody>
                  <a:tcPr marL="54864" marR="54864" marT="27432" marB="27432">
                    <a:solidFill>
                      <a:srgbClr val="FFFFFF"/>
                    </a:solidFill>
                  </a:tcPr>
                </a:tc>
              </a:tr>
              <a:tr h="220979">
                <a:tc>
                  <a:txBody>
                    <a:bodyPr/>
                    <a:lstStyle/>
                    <a:p>
                      <a:r>
                        <a:rPr sz="850" b="0">
                          <a:solidFill>
                            <a:srgbClr val="4B4B4B"/>
                          </a:solidFill>
                          <a:latin typeface="Arial"/>
                        </a:rPr>
                        <a:t>SCR-OP-56</a:t>
                      </a:r>
                    </a:p>
                  </a:txBody>
                  <a:tcPr marL="54864" marR="54864" marT="27432" marB="27432">
                    <a:solidFill>
                      <a:srgbClr val="E5F5FF"/>
                    </a:solidFill>
                  </a:tcPr>
                </a:tc>
                <a:tc>
                  <a:txBody>
                    <a:bodyPr/>
                    <a:lstStyle/>
                    <a:p>
                      <a:r>
                        <a:rPr sz="850" b="0">
                          <a:solidFill>
                            <a:srgbClr val="4B4B4B"/>
                          </a:solidFill>
                          <a:latin typeface="Arial"/>
                        </a:rPr>
                        <a:t>Incentive Schemes</a:t>
                      </a:r>
                    </a:p>
                  </a:txBody>
                  <a:tcPr marL="54864" marR="54864" marT="27432" marB="27432">
                    <a:solidFill>
                      <a:srgbClr val="E5F5FF"/>
                    </a:solidFill>
                  </a:tcPr>
                </a:tc>
                <a:tc>
                  <a:txBody>
                    <a:bodyPr/>
                    <a:lstStyle/>
                    <a:p>
                      <a:r>
                        <a:rPr sz="850" b="0">
                          <a:solidFill>
                            <a:srgbClr val="4B4B4B"/>
                          </a:solidFill>
                          <a:latin typeface="Arial"/>
                        </a:rPr>
                        <a:t>13.6.7</a:t>
                      </a:r>
                    </a:p>
                  </a:txBody>
                  <a:tcPr marL="54864" marR="54864" marT="27432" marB="27432">
                    <a:solidFill>
                      <a:srgbClr val="E5F5FF"/>
                    </a:solidFill>
                  </a:tcPr>
                </a:tc>
                <a:tc>
                  <a:txBody>
                    <a:bodyPr/>
                    <a:lstStyle/>
                    <a:p>
                      <a:r>
                        <a:rPr sz="850" b="0">
                          <a:solidFill>
                            <a:srgbClr val="4B4B4B"/>
                          </a:solidFill>
                          <a:latin typeface="Arial"/>
                        </a:rPr>
                        <a:t>FR-OP-095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SCR-OP-57</a:t>
                      </a:r>
                    </a:p>
                  </a:txBody>
                  <a:tcPr marL="54864" marR="54864" marT="27432" marB="27432">
                    <a:solidFill>
                      <a:srgbClr val="FFFFFF"/>
                    </a:solidFill>
                  </a:tcPr>
                </a:tc>
                <a:tc>
                  <a:txBody>
                    <a:bodyPr/>
                    <a:lstStyle/>
                    <a:p>
                      <a:r>
                        <a:rPr sz="850" b="0">
                          <a:solidFill>
                            <a:srgbClr val="4B4B4B"/>
                          </a:solidFill>
                          <a:latin typeface="Arial"/>
                        </a:rPr>
                        <a:t>Incentive Runs</a:t>
                      </a:r>
                    </a:p>
                  </a:txBody>
                  <a:tcPr marL="54864" marR="54864" marT="27432" marB="27432">
                    <a:solidFill>
                      <a:srgbClr val="FFFFFF"/>
                    </a:solidFill>
                  </a:tcPr>
                </a:tc>
                <a:tc>
                  <a:txBody>
                    <a:bodyPr/>
                    <a:lstStyle/>
                    <a:p>
                      <a:r>
                        <a:rPr sz="850" b="0">
                          <a:solidFill>
                            <a:srgbClr val="4B4B4B"/>
                          </a:solidFill>
                          <a:latin typeface="Arial"/>
                        </a:rPr>
                        <a:t>13.6.8</a:t>
                      </a:r>
                    </a:p>
                  </a:txBody>
                  <a:tcPr marL="54864" marR="54864" marT="27432" marB="27432">
                    <a:solidFill>
                      <a:srgbClr val="FFFFFF"/>
                    </a:solidFill>
                  </a:tcPr>
                </a:tc>
                <a:tc>
                  <a:txBody>
                    <a:bodyPr/>
                    <a:lstStyle/>
                    <a:p>
                      <a:r>
                        <a:rPr sz="850" b="0">
                          <a:solidFill>
                            <a:srgbClr val="4B4B4B"/>
                          </a:solidFill>
                          <a:latin typeface="Arial"/>
                        </a:rPr>
                        <a:t>FR-OP-095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SCR-OP-58</a:t>
                      </a:r>
                    </a:p>
                  </a:txBody>
                  <a:tcPr marL="54864" marR="54864" marT="27432" marB="27432">
                    <a:solidFill>
                      <a:srgbClr val="E5F5FF"/>
                    </a:solidFill>
                  </a:tcPr>
                </a:tc>
                <a:tc>
                  <a:txBody>
                    <a:bodyPr/>
                    <a:lstStyle/>
                    <a:p>
                      <a:r>
                        <a:rPr sz="850" b="0">
                          <a:solidFill>
                            <a:srgbClr val="4B4B4B"/>
                          </a:solidFill>
                          <a:latin typeface="Arial"/>
                        </a:rPr>
                        <a:t>BIR Certificates</a:t>
                      </a:r>
                    </a:p>
                  </a:txBody>
                  <a:tcPr marL="54864" marR="54864" marT="27432" marB="27432">
                    <a:solidFill>
                      <a:srgbClr val="E5F5FF"/>
                    </a:solidFill>
                  </a:tcPr>
                </a:tc>
                <a:tc>
                  <a:txBody>
                    <a:bodyPr/>
                    <a:lstStyle/>
                    <a:p>
                      <a:r>
                        <a:rPr sz="850" b="0">
                          <a:solidFill>
                            <a:srgbClr val="4B4B4B"/>
                          </a:solidFill>
                          <a:latin typeface="Arial"/>
                        </a:rPr>
                        <a:t>13.6.9</a:t>
                      </a:r>
                    </a:p>
                  </a:txBody>
                  <a:tcPr marL="54864" marR="54864" marT="27432" marB="27432">
                    <a:solidFill>
                      <a:srgbClr val="E5F5FF"/>
                    </a:solidFill>
                  </a:tcPr>
                </a:tc>
                <a:tc>
                  <a:txBody>
                    <a:bodyPr/>
                    <a:lstStyle/>
                    <a:p>
                      <a:r>
                        <a:rPr sz="850" b="0">
                          <a:solidFill>
                            <a:srgbClr val="4B4B4B"/>
                          </a:solidFill>
                          <a:latin typeface="Arial"/>
                        </a:rPr>
                        <a:t>FR-OP-096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SCR-OP-59</a:t>
                      </a:r>
                    </a:p>
                  </a:txBody>
                  <a:tcPr marL="54864" marR="54864" marT="27432" marB="27432">
                    <a:solidFill>
                      <a:srgbClr val="FFFFFF"/>
                    </a:solidFill>
                  </a:tcPr>
                </a:tc>
                <a:tc>
                  <a:txBody>
                    <a:bodyPr/>
                    <a:lstStyle/>
                    <a:p>
                      <a:r>
                        <a:rPr sz="850" b="0">
                          <a:solidFill>
                            <a:srgbClr val="4B4B4B"/>
                          </a:solidFill>
                          <a:latin typeface="Arial"/>
                        </a:rPr>
                        <a:t>BIR Certificate</a:t>
                      </a:r>
                    </a:p>
                  </a:txBody>
                  <a:tcPr marL="54864" marR="54864" marT="27432" marB="27432">
                    <a:solidFill>
                      <a:srgbClr val="FFFFFF"/>
                    </a:solidFill>
                  </a:tcPr>
                </a:tc>
                <a:tc>
                  <a:txBody>
                    <a:bodyPr/>
                    <a:lstStyle/>
                    <a:p>
                      <a:r>
                        <a:rPr sz="850" b="0">
                          <a:solidFill>
                            <a:srgbClr val="4B4B4B"/>
                          </a:solidFill>
                          <a:latin typeface="Arial"/>
                        </a:rPr>
                        <a:t>13.6.10</a:t>
                      </a:r>
                    </a:p>
                  </a:txBody>
                  <a:tcPr marL="54864" marR="54864" marT="27432" marB="27432">
                    <a:solidFill>
                      <a:srgbClr val="FFFFFF"/>
                    </a:solidFill>
                  </a:tcPr>
                </a:tc>
                <a:tc>
                  <a:txBody>
                    <a:bodyPr/>
                    <a:lstStyle/>
                    <a:p>
                      <a:r>
                        <a:rPr sz="850" b="0">
                          <a:solidFill>
                            <a:srgbClr val="4B4B4B"/>
                          </a:solidFill>
                          <a:latin typeface="Arial"/>
                        </a:rPr>
                        <a:t>FR-OP-096</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SCR-OP-60</a:t>
                      </a:r>
                    </a:p>
                  </a:txBody>
                  <a:tcPr marL="54864" marR="54864" marT="27432" marB="27432">
                    <a:solidFill>
                      <a:srgbClr val="E5F5FF"/>
                    </a:solidFill>
                  </a:tcPr>
                </a:tc>
                <a:tc>
                  <a:txBody>
                    <a:bodyPr/>
                    <a:lstStyle/>
                    <a:p>
                      <a:r>
                        <a:rPr sz="850" b="0">
                          <a:solidFill>
                            <a:srgbClr val="4B4B4B"/>
                          </a:solidFill>
                          <a:latin typeface="Arial"/>
                        </a:rPr>
                        <a:t>Estimated Items</a:t>
                      </a:r>
                    </a:p>
                  </a:txBody>
                  <a:tcPr marL="54864" marR="54864" marT="27432" marB="27432">
                    <a:solidFill>
                      <a:srgbClr val="E5F5FF"/>
                    </a:solidFill>
                  </a:tcPr>
                </a:tc>
                <a:tc>
                  <a:txBody>
                    <a:bodyPr/>
                    <a:lstStyle/>
                    <a:p>
                      <a:r>
                        <a:rPr sz="850" b="0">
                          <a:solidFill>
                            <a:srgbClr val="4B4B4B"/>
                          </a:solidFill>
                          <a:latin typeface="Arial"/>
                        </a:rPr>
                        <a:t>13.6.11</a:t>
                      </a:r>
                    </a:p>
                  </a:txBody>
                  <a:tcPr marL="54864" marR="54864" marT="27432" marB="27432">
                    <a:solidFill>
                      <a:srgbClr val="E5F5FF"/>
                    </a:solidFill>
                  </a:tcPr>
                </a:tc>
                <a:tc>
                  <a:txBody>
                    <a:bodyPr/>
                    <a:lstStyle/>
                    <a:p>
                      <a:r>
                        <a:rPr sz="850" b="0">
                          <a:solidFill>
                            <a:srgbClr val="4B4B4B"/>
                          </a:solidFill>
                          <a:latin typeface="Arial"/>
                        </a:rPr>
                        <a:t>FR-OP-097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Filled</a:t>
                      </a:r>
                    </a:p>
                  </a:txBody>
                  <a:tcPr marL="54864" marR="54864" marT="27432" marB="27432">
                    <a:solidFill>
                      <a:srgbClr val="E5F5FF"/>
                    </a:solidFill>
                  </a:tcPr>
                </a:tc>
              </a:tr>
              <a:tr h="220979">
                <a:tc>
                  <a:txBody>
                    <a:bodyPr/>
                    <a:lstStyle/>
                    <a:p>
                      <a:r>
                        <a:rPr sz="850" b="0">
                          <a:solidFill>
                            <a:srgbClr val="4B4B4B"/>
                          </a:solidFill>
                          <a:latin typeface="Arial"/>
                        </a:rPr>
                        <a:t>SCR-OP-61</a:t>
                      </a:r>
                    </a:p>
                  </a:txBody>
                  <a:tcPr marL="54864" marR="54864" marT="27432" marB="27432">
                    <a:solidFill>
                      <a:srgbClr val="FFFFFF"/>
                    </a:solidFill>
                  </a:tcPr>
                </a:tc>
                <a:tc>
                  <a:txBody>
                    <a:bodyPr/>
                    <a:lstStyle/>
                    <a:p>
                      <a:r>
                        <a:rPr sz="850" b="0">
                          <a:solidFill>
                            <a:srgbClr val="4B4B4B"/>
                          </a:solidFill>
                          <a:latin typeface="Arial"/>
                        </a:rPr>
                        <a:t>Interfaces</a:t>
                      </a:r>
                    </a:p>
                  </a:txBody>
                  <a:tcPr marL="54864" marR="54864" marT="27432" marB="27432">
                    <a:solidFill>
                      <a:srgbClr val="FFFFFF"/>
                    </a:solidFill>
                  </a:tcPr>
                </a:tc>
                <a:tc>
                  <a:txBody>
                    <a:bodyPr/>
                    <a:lstStyle/>
                    <a:p>
                      <a:r>
                        <a:rPr sz="850" b="0">
                          <a:solidFill>
                            <a:srgbClr val="4B4B4B"/>
                          </a:solidFill>
                          <a:latin typeface="Arial"/>
                        </a:rPr>
                        <a:t>13.7.1</a:t>
                      </a:r>
                    </a:p>
                  </a:txBody>
                  <a:tcPr marL="54864" marR="54864" marT="27432" marB="27432">
                    <a:solidFill>
                      <a:srgbClr val="FFFFFF"/>
                    </a:solidFill>
                  </a:tcPr>
                </a:tc>
                <a:tc>
                  <a:txBody>
                    <a:bodyPr/>
                    <a:lstStyle/>
                    <a:p>
                      <a:r>
                        <a:rPr sz="850" b="0">
                          <a:solidFill>
                            <a:srgbClr val="4B4B4B"/>
                          </a:solidFill>
                          <a:latin typeface="Arial"/>
                        </a:rPr>
                        <a:t>FR-OP-004, FR-OP-008, FR-OP-130, FR-OP-131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bl>
          </a:graphicData>
        </a:graphic>
      </p:graphicFrame>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665</a:t>
            </a:r>
          </a:p>
        </p:txBody>
      </p:sp>
      <p:graphicFrame>
        <p:nvGraphicFramePr>
          <p:cNvPr id="9" name="Table 8"/>
          <p:cNvGraphicFramePr>
            <a:graphicFrameLocks noGrp="1"/>
          </p:cNvGraphicFramePr>
          <p:nvPr/>
        </p:nvGraphicFramePr>
        <p:xfrm>
          <a:off x="548640" y="1325880"/>
          <a:ext cx="11094412" cy="475485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SCR-OP-62</a:t>
                      </a:r>
                    </a:p>
                  </a:txBody>
                  <a:tcPr marL="54864" marR="54864" marT="27432" marB="27432">
                    <a:solidFill>
                      <a:srgbClr val="FFFFFF"/>
                    </a:solidFill>
                  </a:tcPr>
                </a:tc>
                <a:tc>
                  <a:txBody>
                    <a:bodyPr/>
                    <a:lstStyle/>
                    <a:p>
                      <a:r>
                        <a:rPr sz="850" b="0">
                          <a:solidFill>
                            <a:srgbClr val="4B4B4B"/>
                          </a:solidFill>
                          <a:latin typeface="Arial"/>
                        </a:rPr>
                        <a:t>FFY Register</a:t>
                      </a:r>
                    </a:p>
                  </a:txBody>
                  <a:tcPr marL="54864" marR="54864" marT="27432" marB="27432">
                    <a:solidFill>
                      <a:srgbClr val="FFFFFF"/>
                    </a:solidFill>
                  </a:tcPr>
                </a:tc>
                <a:tc>
                  <a:txBody>
                    <a:bodyPr/>
                    <a:lstStyle/>
                    <a:p>
                      <a:r>
                        <a:rPr sz="850" b="0">
                          <a:solidFill>
                            <a:srgbClr val="4B4B4B"/>
                          </a:solidFill>
                          <a:latin typeface="Arial"/>
                        </a:rPr>
                        <a:t>13.7.2</a:t>
                      </a:r>
                    </a:p>
                  </a:txBody>
                  <a:tcPr marL="54864" marR="54864" marT="27432" marB="27432">
                    <a:solidFill>
                      <a:srgbClr val="FFFFFF"/>
                    </a:solidFill>
                  </a:tcPr>
                </a:tc>
                <a:tc>
                  <a:txBody>
                    <a:bodyPr/>
                    <a:lstStyle/>
                    <a:p>
                      <a:r>
                        <a:rPr sz="850" b="0">
                          <a:solidFill>
                            <a:srgbClr val="4B4B4B"/>
                          </a:solidFill>
                          <a:latin typeface="Arial"/>
                        </a:rPr>
                        <a:t>FR-OP-004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SCR-OP-63</a:t>
                      </a:r>
                    </a:p>
                  </a:txBody>
                  <a:tcPr marL="54864" marR="54864" marT="27432" marB="27432">
                    <a:solidFill>
                      <a:srgbClr val="E5F5FF"/>
                    </a:solidFill>
                  </a:tcPr>
                </a:tc>
                <a:tc>
                  <a:txBody>
                    <a:bodyPr/>
                    <a:lstStyle/>
                    <a:p>
                      <a:r>
                        <a:rPr sz="850" b="0">
                          <a:solidFill>
                            <a:srgbClr val="4B4B4B"/>
                          </a:solidFill>
                          <a:latin typeface="Arial"/>
                        </a:rPr>
                        <a:t>Report Centre (Operations reports)</a:t>
                      </a:r>
                    </a:p>
                  </a:txBody>
                  <a:tcPr marL="54864" marR="54864" marT="27432" marB="27432">
                    <a:solidFill>
                      <a:srgbClr val="E5F5FF"/>
                    </a:solidFill>
                  </a:tcPr>
                </a:tc>
                <a:tc>
                  <a:txBody>
                    <a:bodyPr/>
                    <a:lstStyle/>
                    <a:p>
                      <a:r>
                        <a:rPr sz="850" b="0">
                          <a:solidFill>
                            <a:srgbClr val="4B4B4B"/>
                          </a:solidFill>
                          <a:latin typeface="Arial"/>
                        </a:rPr>
                        <a:t>13.7.3</a:t>
                      </a:r>
                    </a:p>
                  </a:txBody>
                  <a:tcPr marL="54864" marR="54864" marT="27432" marB="27432">
                    <a:solidFill>
                      <a:srgbClr val="E5F5FF"/>
                    </a:solidFill>
                  </a:tcPr>
                </a:tc>
                <a:tc>
                  <a:txBody>
                    <a:bodyPr/>
                    <a:lstStyle/>
                    <a:p>
                      <a:r>
                        <a:rPr sz="850" b="0">
                          <a:solidFill>
                            <a:srgbClr val="4B4B4B"/>
                          </a:solidFill>
                          <a:latin typeface="Arial"/>
                        </a:rPr>
                        <a:t>FR-OP-009, FR-OP-028, FR-OP-041, FR-OP-062, FR-OP-080, FR-OP-098, FR-OP-099</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Read-only or locked</a:t>
                      </a:r>
                    </a:p>
                  </a:txBody>
                  <a:tcPr marL="54864" marR="54864" marT="27432" marB="27432">
                    <a:solidFill>
                      <a:srgbClr val="E5F5FF"/>
                    </a:solidFill>
                  </a:tcPr>
                </a:tc>
              </a:tr>
              <a:tr h="220979">
                <a:tc>
                  <a:txBody>
                    <a:bodyPr/>
                    <a:lstStyle/>
                    <a:p>
                      <a:r>
                        <a:rPr sz="850" b="0">
                          <a:solidFill>
                            <a:srgbClr val="4B4B4B"/>
                          </a:solidFill>
                          <a:latin typeface="Arial"/>
                        </a:rPr>
                        <a:t>SCR-OP-64</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13.7.4</a:t>
                      </a:r>
                    </a:p>
                  </a:txBody>
                  <a:tcPr marL="54864" marR="54864" marT="27432" marB="27432">
                    <a:solidFill>
                      <a:srgbClr val="FFFFFF"/>
                    </a:solidFill>
                  </a:tcPr>
                </a:tc>
                <a:tc>
                  <a:txBody>
                    <a:bodyPr/>
                    <a:lstStyle/>
                    <a:p>
                      <a:r>
                        <a:rPr sz="850" b="0">
                          <a:solidFill>
                            <a:srgbClr val="4B4B4B"/>
                          </a:solidFill>
                          <a:latin typeface="Arial"/>
                        </a:rPr>
                        <a:t>FR-OP-009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NAV-OP-01</a:t>
                      </a:r>
                    </a:p>
                  </a:txBody>
                  <a:tcPr marL="54864" marR="54864" marT="27432" marB="27432">
                    <a:solidFill>
                      <a:srgbClr val="E5F5FF"/>
                    </a:solidFill>
                  </a:tcPr>
                </a:tc>
                <a:tc>
                  <a:txBody>
                    <a:bodyPr/>
                    <a:lstStyle/>
                    <a:p>
                      <a:r>
                        <a:rPr sz="850" b="0">
                          <a:solidFill>
                            <a:srgbClr val="4B4B4B"/>
                          </a:solidFill>
                          <a:latin typeface="Arial"/>
                        </a:rPr>
                        <a:t>Landing page and menu: Cashier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NAV-OP-02</a:t>
                      </a:r>
                    </a:p>
                  </a:txBody>
                  <a:tcPr marL="54864" marR="54864" marT="27432" marB="27432">
                    <a:solidFill>
                      <a:srgbClr val="FFFFFF"/>
                    </a:solidFill>
                  </a:tcPr>
                </a:tc>
                <a:tc>
                  <a:txBody>
                    <a:bodyPr/>
                    <a:lstStyle/>
                    <a:p>
                      <a:r>
                        <a:rPr sz="850" b="0">
                          <a:solidFill>
                            <a:srgbClr val="4B4B4B"/>
                          </a:solidFill>
                          <a:latin typeface="Arial"/>
                        </a:rPr>
                        <a:t>Landing page and menu: Cashiering Team Leader / Head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NAV-OP-03</a:t>
                      </a:r>
                    </a:p>
                  </a:txBody>
                  <a:tcPr marL="54864" marR="54864" marT="27432" marB="27432">
                    <a:solidFill>
                      <a:srgbClr val="E5F5FF"/>
                    </a:solidFill>
                  </a:tcPr>
                </a:tc>
                <a:tc>
                  <a:txBody>
                    <a:bodyPr/>
                    <a:lstStyle/>
                    <a:p>
                      <a:r>
                        <a:rPr sz="850" b="0">
                          <a:solidFill>
                            <a:srgbClr val="4B4B4B"/>
                          </a:solidFill>
                          <a:latin typeface="Arial"/>
                        </a:rPr>
                        <a:t>Landing page and menu: Remittance Processor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NAV-OP-04</a:t>
                      </a:r>
                    </a:p>
                  </a:txBody>
                  <a:tcPr marL="54864" marR="54864" marT="27432" marB="27432">
                    <a:solidFill>
                      <a:srgbClr val="FFFFFF"/>
                    </a:solidFill>
                  </a:tcPr>
                </a:tc>
                <a:tc>
                  <a:txBody>
                    <a:bodyPr/>
                    <a:lstStyle/>
                    <a:p>
                      <a:r>
                        <a:rPr sz="850" b="0">
                          <a:solidFill>
                            <a:srgbClr val="4B4B4B"/>
                          </a:solidFill>
                          <a:latin typeface="Arial"/>
                        </a:rPr>
                        <a:t>Landing page and menu: Remittance Team Leader / Head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NAV-OP-05</a:t>
                      </a:r>
                    </a:p>
                  </a:txBody>
                  <a:tcPr marL="54864" marR="54864" marT="27432" marB="27432">
                    <a:solidFill>
                      <a:srgbClr val="E5F5FF"/>
                    </a:solidFill>
                  </a:tcPr>
                </a:tc>
                <a:tc>
                  <a:txBody>
                    <a:bodyPr/>
                    <a:lstStyle/>
                    <a:p>
                      <a:r>
                        <a:rPr sz="850" b="0">
                          <a:solidFill>
                            <a:srgbClr val="4B4B4B"/>
                          </a:solidFill>
                          <a:latin typeface="Arial"/>
                        </a:rPr>
                        <a:t>Landing page and menu: Production Reconciliation Handler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NAV-OP-06</a:t>
                      </a:r>
                    </a:p>
                  </a:txBody>
                  <a:tcPr marL="54864" marR="54864" marT="27432" marB="27432">
                    <a:solidFill>
                      <a:srgbClr val="FFFFFF"/>
                    </a:solidFill>
                  </a:tcPr>
                </a:tc>
                <a:tc>
                  <a:txBody>
                    <a:bodyPr/>
                    <a:lstStyle/>
                    <a:p>
                      <a:r>
                        <a:rPr sz="850" b="0">
                          <a:solidFill>
                            <a:srgbClr val="4B4B4B"/>
                          </a:solidFill>
                          <a:latin typeface="Arial"/>
                        </a:rPr>
                        <a:t>Landing page and menu: Adjustment Processor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NAV-OP-07</a:t>
                      </a:r>
                    </a:p>
                  </a:txBody>
                  <a:tcPr marL="54864" marR="54864" marT="27432" marB="27432">
                    <a:solidFill>
                      <a:srgbClr val="E5F5FF"/>
                    </a:solidFill>
                  </a:tcPr>
                </a:tc>
                <a:tc>
                  <a:txBody>
                    <a:bodyPr/>
                    <a:lstStyle/>
                    <a:p>
                      <a:r>
                        <a:rPr sz="850" b="0">
                          <a:solidFill>
                            <a:srgbClr val="4B4B4B"/>
                          </a:solidFill>
                          <a:latin typeface="Arial"/>
                        </a:rPr>
                        <a:t>Landing page and menu: Adjustment Team Leader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NAV-OP-08</a:t>
                      </a:r>
                    </a:p>
                  </a:txBody>
                  <a:tcPr marL="54864" marR="54864" marT="27432" marB="27432">
                    <a:solidFill>
                      <a:srgbClr val="FFFFFF"/>
                    </a:solidFill>
                  </a:tcPr>
                </a:tc>
                <a:tc>
                  <a:txBody>
                    <a:bodyPr/>
                    <a:lstStyle/>
                    <a:p>
                      <a:r>
                        <a:rPr sz="850" b="0">
                          <a:solidFill>
                            <a:srgbClr val="4B4B4B"/>
                          </a:solidFill>
                          <a:latin typeface="Arial"/>
                        </a:rPr>
                        <a:t>Landing page and menu: Commission Receivables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NAV-OP-09</a:t>
                      </a:r>
                    </a:p>
                  </a:txBody>
                  <a:tcPr marL="54864" marR="54864" marT="27432" marB="27432">
                    <a:solidFill>
                      <a:srgbClr val="E5F5FF"/>
                    </a:solidFill>
                  </a:tcPr>
                </a:tc>
                <a:tc>
                  <a:txBody>
                    <a:bodyPr/>
                    <a:lstStyle/>
                    <a:p>
                      <a:r>
                        <a:rPr sz="850" b="0">
                          <a:solidFill>
                            <a:srgbClr val="4B4B4B"/>
                          </a:solidFill>
                          <a:latin typeface="Arial"/>
                        </a:rPr>
                        <a:t>Landing page and menu: Commission Receivables Team Leader / Head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NAV-OP-10</a:t>
                      </a:r>
                    </a:p>
                  </a:txBody>
                  <a:tcPr marL="54864" marR="54864" marT="27432" marB="27432">
                    <a:solidFill>
                      <a:srgbClr val="FFFFFF"/>
                    </a:solidFill>
                  </a:tcPr>
                </a:tc>
                <a:tc>
                  <a:txBody>
                    <a:bodyPr/>
                    <a:lstStyle/>
                    <a:p>
                      <a:r>
                        <a:rPr sz="850" b="0">
                          <a:solidFill>
                            <a:srgbClr val="4B4B4B"/>
                          </a:solidFill>
                          <a:latin typeface="Arial"/>
                        </a:rPr>
                        <a:t>Landing page and menu: Marketing Collection</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NAV-OP-11</a:t>
                      </a:r>
                    </a:p>
                  </a:txBody>
                  <a:tcPr marL="54864" marR="54864" marT="27432" marB="27432">
                    <a:solidFill>
                      <a:srgbClr val="E5F5FF"/>
                    </a:solidFill>
                  </a:tcPr>
                </a:tc>
                <a:tc>
                  <a:txBody>
                    <a:bodyPr/>
                    <a:lstStyle/>
                    <a:p>
                      <a:r>
                        <a:rPr sz="850" b="0">
                          <a:solidFill>
                            <a:srgbClr val="4B4B4B"/>
                          </a:solidFill>
                          <a:latin typeface="Arial"/>
                        </a:rPr>
                        <a:t>Landing page and menu: Marketing Team Leader / Unit Head (hold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NAV-OP-12</a:t>
                      </a:r>
                    </a:p>
                  </a:txBody>
                  <a:tcPr marL="54864" marR="54864" marT="27432" marB="27432">
                    <a:solidFill>
                      <a:srgbClr val="FFFFFF"/>
                    </a:solidFill>
                  </a:tcPr>
                </a:tc>
                <a:tc>
                  <a:txBody>
                    <a:bodyPr/>
                    <a:lstStyle/>
                    <a:p>
                      <a:r>
                        <a:rPr sz="850" b="0">
                          <a:solidFill>
                            <a:srgbClr val="4B4B4B"/>
                          </a:solidFill>
                          <a:latin typeface="Arial"/>
                        </a:rPr>
                        <a:t>Landing page and menu: Comptrollership</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NAV-OP-13</a:t>
                      </a:r>
                    </a:p>
                  </a:txBody>
                  <a:tcPr marL="54864" marR="54864" marT="27432" marB="27432">
                    <a:solidFill>
                      <a:srgbClr val="E5F5FF"/>
                    </a:solidFill>
                  </a:tcPr>
                </a:tc>
                <a:tc>
                  <a:txBody>
                    <a:bodyPr/>
                    <a:lstStyle/>
                    <a:p>
                      <a:r>
                        <a:rPr sz="850" b="0">
                          <a:solidFill>
                            <a:srgbClr val="4B4B4B"/>
                          </a:solidFill>
                          <a:latin typeface="Arial"/>
                        </a:rPr>
                        <a:t>Landing page and menu: Disbursement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NAV-OP-14</a:t>
                      </a:r>
                    </a:p>
                  </a:txBody>
                  <a:tcPr marL="54864" marR="54864" marT="27432" marB="27432">
                    <a:solidFill>
                      <a:srgbClr val="FFFFFF"/>
                    </a:solidFill>
                  </a:tcPr>
                </a:tc>
                <a:tc>
                  <a:txBody>
                    <a:bodyPr/>
                    <a:lstStyle/>
                    <a:p>
                      <a:r>
                        <a:rPr sz="850" b="0">
                          <a:solidFill>
                            <a:srgbClr val="4B4B4B"/>
                          </a:solidFill>
                          <a:latin typeface="Arial"/>
                        </a:rPr>
                        <a:t>Landing page and menu: ACSL Processor (remittance deductions)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bl>
          </a:graphicData>
        </a:graphic>
      </p:graphicFrame>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666</a:t>
            </a:r>
          </a:p>
        </p:txBody>
      </p:sp>
      <p:graphicFrame>
        <p:nvGraphicFramePr>
          <p:cNvPr id="9" name="Table 8"/>
          <p:cNvGraphicFramePr>
            <a:graphicFrameLocks noGrp="1"/>
          </p:cNvGraphicFramePr>
          <p:nvPr/>
        </p:nvGraphicFramePr>
        <p:xfrm>
          <a:off x="548640" y="1325880"/>
          <a:ext cx="11094412" cy="291082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NAV-OP-15</a:t>
                      </a:r>
                    </a:p>
                  </a:txBody>
                  <a:tcPr marL="54864" marR="54864" marT="27432" marB="27432">
                    <a:solidFill>
                      <a:srgbClr val="FFFFFF"/>
                    </a:solidFill>
                  </a:tcPr>
                </a:tc>
                <a:tc>
                  <a:txBody>
                    <a:bodyPr/>
                    <a:lstStyle/>
                    <a:p>
                      <a:r>
                        <a:rPr sz="850" b="0">
                          <a:solidFill>
                            <a:srgbClr val="4B4B4B"/>
                          </a:solidFill>
                          <a:latin typeface="Arial"/>
                        </a:rPr>
                        <a:t>Landing page and menu: ACSL Team Leader (confirms deductions)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NAV-OP-16</a:t>
                      </a:r>
                    </a:p>
                  </a:txBody>
                  <a:tcPr marL="54864" marR="54864" marT="27432" marB="27432">
                    <a:solidFill>
                      <a:srgbClr val="E5F5FF"/>
                    </a:solidFill>
                  </a:tcPr>
                </a:tc>
                <a:tc>
                  <a:txBody>
                    <a:bodyPr/>
                    <a:lstStyle/>
                    <a:p>
                      <a:r>
                        <a:rPr sz="850" b="0">
                          <a:solidFill>
                            <a:srgbClr val="4B4B4B"/>
                          </a:solidFill>
                          <a:latin typeface="Arial"/>
                        </a:rPr>
                        <a:t>Landing page and menu: System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NAV-OP-17</a:t>
                      </a:r>
                    </a:p>
                  </a:txBody>
                  <a:tcPr marL="54864" marR="54864" marT="27432" marB="27432">
                    <a:solidFill>
                      <a:srgbClr val="FFFFFF"/>
                    </a:solidFill>
                  </a:tcPr>
                </a:tc>
                <a:tc>
                  <a:txBody>
                    <a:bodyPr/>
                    <a:lstStyle/>
                    <a:p>
                      <a:r>
                        <a:rPr sz="850" b="0">
                          <a:solidFill>
                            <a:srgbClr val="4B4B4B"/>
                          </a:solidFill>
                          <a:latin typeface="Arial"/>
                        </a:rPr>
                        <a:t>Landing page and menu: Auditor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DO-01</a:t>
                      </a:r>
                    </a:p>
                  </a:txBody>
                  <a:tcPr marL="54864" marR="54864" marT="27432" marB="27432">
                    <a:solidFill>
                      <a:srgbClr val="E5F5FF"/>
                    </a:solidFill>
                  </a:tcPr>
                </a:tc>
                <a:tc>
                  <a:txBody>
                    <a:bodyPr/>
                    <a:lstStyle/>
                    <a:p>
                      <a:r>
                        <a:rPr sz="850" b="0">
                          <a:solidFill>
                            <a:srgbClr val="4B4B4B"/>
                          </a:solidFill>
                          <a:latin typeface="Arial"/>
                        </a:rPr>
                        <a:t>Acknowledgement receipt (AR)</a:t>
                      </a:r>
                    </a:p>
                  </a:txBody>
                  <a:tcPr marL="54864" marR="54864" marT="27432" marB="27432">
                    <a:solidFill>
                      <a:srgbClr val="E5F5FF"/>
                    </a:solidFill>
                  </a:tcPr>
                </a:tc>
                <a:tc>
                  <a:txBody>
                    <a:bodyPr/>
                    <a:lstStyle/>
                    <a:p>
                      <a:r>
                        <a:rPr sz="850" b="0">
                          <a:solidFill>
                            <a:srgbClr val="4B4B4B"/>
                          </a:solidFill>
                          <a:latin typeface="Arial"/>
                        </a:rPr>
                        <a:t>17.1</a:t>
                      </a:r>
                    </a:p>
                  </a:txBody>
                  <a:tcPr marL="54864" marR="54864" marT="27432" marB="27432">
                    <a:solidFill>
                      <a:srgbClr val="E5F5FF"/>
                    </a:solidFill>
                  </a:tcPr>
                </a:tc>
                <a:tc>
                  <a:txBody>
                    <a:bodyPr/>
                    <a:lstStyle/>
                    <a:p>
                      <a:r>
                        <a:rPr sz="850" b="0">
                          <a:solidFill>
                            <a:srgbClr val="4B4B4B"/>
                          </a:solidFill>
                          <a:latin typeface="Arial"/>
                        </a:rPr>
                        <a:t>FR-OP-011, FR-OP-025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350518">
                <a:tc>
                  <a:txBody>
                    <a:bodyPr/>
                    <a:lstStyle/>
                    <a:p>
                      <a:r>
                        <a:rPr sz="850" b="0">
                          <a:solidFill>
                            <a:srgbClr val="4B4B4B"/>
                          </a:solidFill>
                          <a:latin typeface="Arial"/>
                        </a:rPr>
                        <a:t>DO-02</a:t>
                      </a:r>
                    </a:p>
                  </a:txBody>
                  <a:tcPr marL="54864" marR="54864" marT="27432" marB="27432">
                    <a:solidFill>
                      <a:srgbClr val="FFFFFF"/>
                    </a:solidFill>
                  </a:tcPr>
                </a:tc>
                <a:tc>
                  <a:txBody>
                    <a:bodyPr/>
                    <a:lstStyle/>
                    <a:p>
                      <a:r>
                        <a:rPr sz="850" b="0">
                          <a:solidFill>
                            <a:srgbClr val="4B4B4B"/>
                          </a:solidFill>
                          <a:latin typeface="Arial"/>
                        </a:rPr>
                        <a:t>Official receipt (OR) for service fees and commission</a:t>
                      </a:r>
                    </a:p>
                  </a:txBody>
                  <a:tcPr marL="54864" marR="54864" marT="27432" marB="27432">
                    <a:solidFill>
                      <a:srgbClr val="FFFFFF"/>
                    </a:solidFill>
                  </a:tcPr>
                </a:tc>
                <a:tc>
                  <a:txBody>
                    <a:bodyPr/>
                    <a:lstStyle/>
                    <a:p>
                      <a:r>
                        <a:rPr sz="850" b="0">
                          <a:solidFill>
                            <a:srgbClr val="4B4B4B"/>
                          </a:solidFill>
                          <a:latin typeface="Arial"/>
                        </a:rPr>
                        <a:t>17.2</a:t>
                      </a:r>
                    </a:p>
                  </a:txBody>
                  <a:tcPr marL="54864" marR="54864" marT="27432" marB="27432">
                    <a:solidFill>
                      <a:srgbClr val="FFFFFF"/>
                    </a:solidFill>
                  </a:tcPr>
                </a:tc>
                <a:tc>
                  <a:txBody>
                    <a:bodyPr/>
                    <a:lstStyle/>
                    <a:p>
                      <a:r>
                        <a:rPr sz="850" b="0">
                          <a:solidFill>
                            <a:srgbClr val="4B4B4B"/>
                          </a:solidFill>
                          <a:latin typeface="Arial"/>
                        </a:rPr>
                        <a:t>FR-OP-012, FR-OP-021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DO-03</a:t>
                      </a:r>
                    </a:p>
                  </a:txBody>
                  <a:tcPr marL="54864" marR="54864" marT="27432" marB="27432">
                    <a:solidFill>
                      <a:srgbClr val="E5F5FF"/>
                    </a:solidFill>
                  </a:tcPr>
                </a:tc>
                <a:tc>
                  <a:txBody>
                    <a:bodyPr/>
                    <a:lstStyle/>
                    <a:p>
                      <a:r>
                        <a:rPr sz="850" b="0">
                          <a:solidFill>
                            <a:srgbClr val="4B4B4B"/>
                          </a:solidFill>
                          <a:latin typeface="Arial"/>
                        </a:rPr>
                        <a:t>Remittance schedule</a:t>
                      </a:r>
                    </a:p>
                  </a:txBody>
                  <a:tcPr marL="54864" marR="54864" marT="27432" marB="27432">
                    <a:solidFill>
                      <a:srgbClr val="E5F5FF"/>
                    </a:solidFill>
                  </a:tcPr>
                </a:tc>
                <a:tc>
                  <a:txBody>
                    <a:bodyPr/>
                    <a:lstStyle/>
                    <a:p>
                      <a:r>
                        <a:rPr sz="850" b="0">
                          <a:solidFill>
                            <a:srgbClr val="4B4B4B"/>
                          </a:solidFill>
                          <a:latin typeface="Arial"/>
                        </a:rPr>
                        <a:t>17.3</a:t>
                      </a:r>
                    </a:p>
                  </a:txBody>
                  <a:tcPr marL="54864" marR="54864" marT="27432" marB="27432">
                    <a:solidFill>
                      <a:srgbClr val="E5F5FF"/>
                    </a:solidFill>
                  </a:tcPr>
                </a:tc>
                <a:tc>
                  <a:txBody>
                    <a:bodyPr/>
                    <a:lstStyle/>
                    <a:p>
                      <a:r>
                        <a:rPr sz="850" b="0">
                          <a:solidFill>
                            <a:srgbClr val="4B4B4B"/>
                          </a:solidFill>
                          <a:latin typeface="Arial"/>
                        </a:rPr>
                        <a:t>FR-OP-034, FR-OP-110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DO-04</a:t>
                      </a:r>
                    </a:p>
                  </a:txBody>
                  <a:tcPr marL="54864" marR="54864" marT="27432" marB="27432">
                    <a:solidFill>
                      <a:srgbClr val="FFFFFF"/>
                    </a:solidFill>
                  </a:tcPr>
                </a:tc>
                <a:tc>
                  <a:txBody>
                    <a:bodyPr/>
                    <a:lstStyle/>
                    <a:p>
                      <a:r>
                        <a:rPr sz="850" b="0">
                          <a:solidFill>
                            <a:srgbClr val="4B4B4B"/>
                          </a:solidFill>
                          <a:latin typeface="Arial"/>
                        </a:rPr>
                        <a:t>Payment request of a remittance batch</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FR-OP-034, FR-OP-035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DO-05</a:t>
                      </a:r>
                    </a:p>
                  </a:txBody>
                  <a:tcPr marL="54864" marR="54864" marT="27432" marB="27432">
                    <a:solidFill>
                      <a:srgbClr val="E5F5FF"/>
                    </a:solidFill>
                  </a:tcPr>
                </a:tc>
                <a:tc>
                  <a:txBody>
                    <a:bodyPr/>
                    <a:lstStyle/>
                    <a:p>
                      <a:r>
                        <a:rPr sz="850" b="0">
                          <a:solidFill>
                            <a:srgbClr val="4B4B4B"/>
                          </a:solidFill>
                          <a:latin typeface="Arial"/>
                        </a:rPr>
                        <a:t>Endorsement slip</a:t>
                      </a:r>
                    </a:p>
                  </a:txBody>
                  <a:tcPr marL="54864" marR="54864" marT="27432" marB="27432">
                    <a:solidFill>
                      <a:srgbClr val="E5F5FF"/>
                    </a:solidFill>
                  </a:tcPr>
                </a:tc>
                <a:tc>
                  <a:txBody>
                    <a:bodyPr/>
                    <a:lstStyle/>
                    <a:p>
                      <a:r>
                        <a:rPr sz="850" b="0">
                          <a:solidFill>
                            <a:srgbClr val="4B4B4B"/>
                          </a:solidFill>
                          <a:latin typeface="Arial"/>
                        </a:rPr>
                        <a:t>17.5</a:t>
                      </a:r>
                    </a:p>
                  </a:txBody>
                  <a:tcPr marL="54864" marR="54864" marT="27432" marB="27432">
                    <a:solidFill>
                      <a:srgbClr val="E5F5FF"/>
                    </a:solidFill>
                  </a:tcPr>
                </a:tc>
                <a:tc>
                  <a:txBody>
                    <a:bodyPr/>
                    <a:lstStyle/>
                    <a:p>
                      <a:r>
                        <a:rPr sz="850" b="0">
                          <a:solidFill>
                            <a:srgbClr val="4B4B4B"/>
                          </a:solidFill>
                          <a:latin typeface="Arial"/>
                        </a:rPr>
                        <a:t>FR-OP-060, FR-OP-114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DO-06</a:t>
                      </a:r>
                    </a:p>
                  </a:txBody>
                  <a:tcPr marL="54864" marR="54864" marT="27432" marB="27432">
                    <a:solidFill>
                      <a:srgbClr val="FFFFFF"/>
                    </a:solidFill>
                  </a:tcPr>
                </a:tc>
                <a:tc>
                  <a:txBody>
                    <a:bodyPr/>
                    <a:lstStyle/>
                    <a:p>
                      <a:r>
                        <a:rPr sz="850" b="0">
                          <a:solidFill>
                            <a:srgbClr val="4B4B4B"/>
                          </a:solidFill>
                          <a:latin typeface="Arial"/>
                        </a:rPr>
                        <a:t>Validation slip</a:t>
                      </a:r>
                    </a:p>
                  </a:txBody>
                  <a:tcPr marL="54864" marR="54864" marT="27432" marB="27432">
                    <a:solidFill>
                      <a:srgbClr val="FFFFFF"/>
                    </a:solidFill>
                  </a:tcPr>
                </a:tc>
                <a:tc>
                  <a:txBody>
                    <a:bodyPr/>
                    <a:lstStyle/>
                    <a:p>
                      <a:r>
                        <a:rPr sz="850" b="0">
                          <a:solidFill>
                            <a:srgbClr val="4B4B4B"/>
                          </a:solidFill>
                          <a:latin typeface="Arial"/>
                        </a:rPr>
                        <a:t>17.6</a:t>
                      </a:r>
                    </a:p>
                  </a:txBody>
                  <a:tcPr marL="54864" marR="54864" marT="27432" marB="27432">
                    <a:solidFill>
                      <a:srgbClr val="FFFFFF"/>
                    </a:solidFill>
                  </a:tcPr>
                </a:tc>
                <a:tc>
                  <a:txBody>
                    <a:bodyPr/>
                    <a:lstStyle/>
                    <a:p>
                      <a:r>
                        <a:rPr sz="850" b="0">
                          <a:solidFill>
                            <a:srgbClr val="4B4B4B"/>
                          </a:solidFill>
                          <a:latin typeface="Arial"/>
                        </a:rPr>
                        <a:t>FR-OP-060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DO-07</a:t>
                      </a:r>
                    </a:p>
                  </a:txBody>
                  <a:tcPr marL="54864" marR="54864" marT="27432" marB="27432">
                    <a:solidFill>
                      <a:srgbClr val="E5F5FF"/>
                    </a:solidFill>
                  </a:tcPr>
                </a:tc>
                <a:tc>
                  <a:txBody>
                    <a:bodyPr/>
                    <a:lstStyle/>
                    <a:p>
                      <a:r>
                        <a:rPr sz="850" b="0">
                          <a:solidFill>
                            <a:srgbClr val="4B4B4B"/>
                          </a:solidFill>
                          <a:latin typeface="Arial"/>
                        </a:rPr>
                        <a:t>Production register</a:t>
                      </a:r>
                    </a:p>
                  </a:txBody>
                  <a:tcPr marL="54864" marR="54864" marT="27432" marB="27432">
                    <a:solidFill>
                      <a:srgbClr val="E5F5FF"/>
                    </a:solidFill>
                  </a:tcPr>
                </a:tc>
                <a:tc>
                  <a:txBody>
                    <a:bodyPr/>
                    <a:lstStyle/>
                    <a:p>
                      <a:r>
                        <a:rPr sz="850" b="0">
                          <a:solidFill>
                            <a:srgbClr val="4B4B4B"/>
                          </a:solidFill>
                          <a:latin typeface="Arial"/>
                        </a:rPr>
                        <a:t>17.7</a:t>
                      </a:r>
                    </a:p>
                  </a:txBody>
                  <a:tcPr marL="54864" marR="54864" marT="27432" marB="27432">
                    <a:solidFill>
                      <a:srgbClr val="E5F5FF"/>
                    </a:solidFill>
                  </a:tcPr>
                </a:tc>
                <a:tc>
                  <a:txBody>
                    <a:bodyPr/>
                    <a:lstStyle/>
                    <a:p>
                      <a:r>
                        <a:rPr sz="850" b="0">
                          <a:solidFill>
                            <a:srgbClr val="4B4B4B"/>
                          </a:solidFill>
                          <a:latin typeface="Arial"/>
                        </a:rPr>
                        <a:t>FR-OP-072, FR-OP-073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DO-08</a:t>
                      </a:r>
                    </a:p>
                  </a:txBody>
                  <a:tcPr marL="54864" marR="54864" marT="27432" marB="27432">
                    <a:solidFill>
                      <a:srgbClr val="FFFFFF"/>
                    </a:solidFill>
                  </a:tcPr>
                </a:tc>
                <a:tc>
                  <a:txBody>
                    <a:bodyPr/>
                    <a:lstStyle/>
                    <a:p>
                      <a:r>
                        <a:rPr sz="850" b="0">
                          <a:solidFill>
                            <a:srgbClr val="4B4B4B"/>
                          </a:solidFill>
                          <a:latin typeface="Arial"/>
                        </a:rPr>
                        <a:t>Direct payment commission billing</a:t>
                      </a:r>
                    </a:p>
                  </a:txBody>
                  <a:tcPr marL="54864" marR="54864" marT="27432" marB="27432">
                    <a:solidFill>
                      <a:srgbClr val="FFFFFF"/>
                    </a:solidFill>
                  </a:tcPr>
                </a:tc>
                <a:tc>
                  <a:txBody>
                    <a:bodyPr/>
                    <a:lstStyle/>
                    <a:p>
                      <a:r>
                        <a:rPr sz="850" b="0">
                          <a:solidFill>
                            <a:srgbClr val="4B4B4B"/>
                          </a:solidFill>
                          <a:latin typeface="Arial"/>
                        </a:rPr>
                        <a:t>17.8</a:t>
                      </a:r>
                    </a:p>
                  </a:txBody>
                  <a:tcPr marL="54864" marR="54864" marT="27432" marB="27432">
                    <a:solidFill>
                      <a:srgbClr val="FFFFFF"/>
                    </a:solidFill>
                  </a:tcPr>
                </a:tc>
                <a:tc>
                  <a:txBody>
                    <a:bodyPr/>
                    <a:lstStyle/>
                    <a:p>
                      <a:r>
                        <a:rPr sz="850" b="0">
                          <a:solidFill>
                            <a:srgbClr val="4B4B4B"/>
                          </a:solidFill>
                          <a:latin typeface="Arial"/>
                        </a:rPr>
                        <a:t>FR-OP-092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BRD-2 Operations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