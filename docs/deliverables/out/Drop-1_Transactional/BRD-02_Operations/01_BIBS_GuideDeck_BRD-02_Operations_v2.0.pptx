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guides the business units through the BRD-2 Operations sign-off pack, release set v2.0. It explains what the pack is, how to read it, the steps up to sign-off and what happens after. It is presented at the kick-off and stays in the pack as file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pack shows the screens, fields, rules and messages the business is asked to confirm.</a:t>
            </a:r>
          </a:p>
          <a:p>
            <a:r>
              <a:t>Signing means: this is what we get; the look, feel, fields, rules, messages and navigation are frozen.</a:t>
            </a:r>
          </a:p>
          <a:p>
            <a:r>
              <a:t>Data on the screenshots is seed data of the SIT environment; names and numbers are fictitious.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needs to read the whole FRS. Each role starts with its chapters and its sheets of the workbook; the walkthroughs in chapter 14 are the fastest way to see the whole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Pack issued: Day 0 (Mon 28-Sep-2026); sessions scheduled after the BRD-10, 12, 6 and 9 sign-offs.</a:t>
            </a:r>
          </a:p>
          <a:p>
            <a:r>
              <a:t>2. Kick-off and screen walkthrough on SIT: 5 sessions, 16 to 20-Nov-2026.</a:t>
            </a:r>
          </a:p>
          <a:p>
            <a:r>
              <a:t>3. Review with the workbook: 10 working days after the walkthroughs, until Fri 4-Dec-2026.</a:t>
            </a:r>
          </a:p>
          <a:p>
            <a:r>
              <a:t>4. Comments consolidated and a Q&amp;A session: 3 working days, Q&amp;A on Wed 9-Dec-2026.</a:t>
            </a:r>
          </a:p>
          <a:p>
            <a:r>
              <a:t>5. One revision cycle (v2.1): 2 working days, v2.1 on Fri 11-Dec-2026; check by the reviewers until Wed 16-Dec-2026.</a:t>
            </a:r>
          </a:p>
          <a:p>
            <a:r>
              <a:t>6. Sign-off meeting and signature: Fri 18-Dec-2026.</a:t>
            </a:r>
          </a:p>
          <a:p>
            <a:r>
              <a:t>7. Content freeze: From Mon 21-Dec-2026.</a:t>
            </a:r>
          </a:p>
          <a:p>
            <a:r>
              <a:t>8. Traceability into SIT and UAT: SIT Jan - Jul 2027; UAT Aug - Dec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(Operations BRD approval sheet p.6-7 (Prepared by, Input Provided by, Reviewed by, Approved by)).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(Operations BRD approval sheet p.6-7 (Prepared by, Input Provided by, Reviewed by, Approved by)).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iorta TechNXT project team: Project Manager, Business Analysis, test lead: Added for this set (author of the FRS set).</a:t>
            </a:r>
          </a:p>
          <a:p>
            <a:r>
              <a:t>Business Analyst, Enterprise Services Group - Business Project Services (BPS) (Zean C. Ibay): Prepared by (p.6).</a:t>
            </a:r>
          </a:p>
          <a:p>
            <a:r>
              <a:t>Operations: Financial Transactions and Processing, BU representatives (Shirley Catapang, Perjelyn Joy Gutierrez): Input Provided by (p.6).</a:t>
            </a:r>
          </a:p>
          <a:p>
            <a:r>
              <a:t>BDOI Information Technology Group (BDOI IT): Reviewed by (p.6-7).</a:t>
            </a:r>
          </a:p>
          <a:p>
            <a:r>
              <a:t>Program Manager, Enterprise Services Group - Business Project Services (BPS) (Dan Ace Cauton): Approved by (p.7).</a:t>
            </a:r>
          </a:p>
          <a:p>
            <a:r>
              <a:t>Operations: Financial Transactions and Processing (Jose Melvin M. Jarin): Approved by (p.7).</a:t>
            </a:r>
          </a:p>
          <a:p>
            <a:r>
              <a:t>Product Owner, AVP (Shellah Marie C. Miranda): Approved by (p.7).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No. column is the numbered marker on the screenshot of the FRS, or the column number of a load template. The drop-down columns accept only the listed values. The Comments log, Meeting minutes and Version history sheets are kept by the project team; the Sign-off certificate is signed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runs from client onboarding and KYC, through the quotation or the PRF, the account, payment and placement, issuance and booking, to the hand-off to Operations and Accounting.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persona sees only the menu entries of its role; the full menu of each persona is in FRS chapter 12 and on the Menu by persona sheet of the workbook. The menus of 1 more personas of the other BRDs are there too, one table and one sheet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of the SIT environment with seed data; every screen of the module is in FRS chapter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rules the business units ask about most. Each rule is stated with its FR on the screen where it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contract is part of the signed set. </a:t>
            </a:r>
          </a:p>
          <a:p>
            <a:r>
              <a:t>IC-01 BRD-1 New Business (In): Every booked invoice (booking, endorsement, cancellation) with its policy, assured, insurer, premium components, commission, taxes, direct payment and CWT flags, and the insurer shares of a co-insured policy</a:t>
            </a:r>
          </a:p>
          <a:p>
            <a:r>
              <a:t>IC-02 BRD-1 New Business (Out): Payment confirmation of an account waiting for payment before placement or issuance, and the pre-booked payments of accounts not yet booked</a:t>
            </a:r>
          </a:p>
          <a:p>
            <a:r>
              <a:t>IC-03 BRD-1 New Business (Out): Endorsements and cancellations raised in Operations (Adjustment) and posted as invoices</a:t>
            </a:r>
          </a:p>
          <a:p>
            <a:r>
              <a:t>IC-04 BRD-3 Product Maintenance (In): Products, product lines, premium components and tax rates, insurers with their bank details and contacts, lists of values (reasons, conditions, disposition types)</a:t>
            </a:r>
          </a:p>
          <a:p>
            <a:r>
              <a:t>IC-05 BRD-4 Collections (In): Collector requests to dispose of an unapplied payment, refund validation tasks, CWT 2307 tags, hold and special remittance requests of Marketing Collection</a:t>
            </a:r>
          </a:p>
          <a:p>
            <a:r>
              <a:t>IC-06 BRD-4 Collections (Out): Payment status, receipts and outstanding balances of every invoice; direct payment accounts and their billing status</a:t>
            </a:r>
          </a:p>
          <a:p>
            <a:r>
              <a:t>IC-07 BRD-5 Accounting, Disbursement and ACSL (Out): Journal entries of receipts, applications, cancellations, remittances, endorsements, write-offs, DP collections and incentives</a:t>
            </a:r>
          </a:p>
          <a:p>
            <a:r>
              <a:t>IC-08 BRD-5 Accounting, Disbursement and ACSL (Out): Payment requests of approved remittance batches, refunds, BIR 2307 reversals and incentive pass-ons</a:t>
            </a:r>
          </a:p>
          <a:p>
            <a:r>
              <a:t>IC-09 BRD-5 Accounting, Disbursement and ACSL (In): Remittance deductions against an insurer (AR Insurer, ACSL items) confirmed for recovery from the insurer's next batch</a:t>
            </a:r>
          </a:p>
          <a:p>
            <a:r>
              <a:t>IC-10 BRD-6 Renewal (In): Renewal invoices booked for the new policy year</a:t>
            </a:r>
          </a:p>
          <a:p>
            <a:r>
              <a:t>IC-11 BRD-7 Claims (In): Special remittance of the premium of a policy with a claim filed</a:t>
            </a:r>
          </a:p>
          <a:p>
            <a:r>
              <a:t>IC-12 BRD-13 Data Migration (In): Legacy invoices, receipts and unapplied payments with their open balances</a:t>
            </a:r>
          </a:p>
          <a:p>
            <a:r>
              <a:t>IC-13 Insurers (Out): Remittance schedules, production registers and direct payment commission billings</a:t>
            </a:r>
          </a:p>
          <a:p>
            <a:r>
              <a:t>IC-14 Insurers (In): Official receipts of remitted premium, production feedback, answers to DP billings, BIR 2307 certificates</a:t>
            </a:r>
          </a:p>
          <a:p>
            <a:r>
              <a:t>IC-15 Banks and payment channels (In): Payment files of bills payment, trade, CLPC and direct credit channels</a:t>
            </a:r>
          </a:p>
          <a:p>
            <a:r>
              <a:t>IC-16 BDOI IT (In): Scheduled jobs of Operations (remittance extraction, register extraction, feedback follow-up, daily reports) and the flow-in feeds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handle a case: an in-scope clarification (no change to the signed set, answered in the comments log); a change request with mandays in the Change Management Register; a delta sign-off of the affected pages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examples to agree the handling of a case during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sign-off meeting starts when the exit criteria are met; the set is done when the certificate is signed and the content of the set is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sign-off the content is frozen as signed and the approved deltas are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a signed set changes without a request in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steps:</a:t>
            </a:r>
          </a:p>
          <a:p>
            <a:r>
              <a:t>Kick-off and first SIT walkthrough on Mon 16-Nov-2026</a:t>
            </a:r>
          </a:p>
          <a:p>
            <a:r>
              <a:t>Workbooks returned by Fri 4-Dec-2026; Q&amp;A on Wed 9-Dec-2026; sign-off on Fri 18-Dec-2026</a:t>
            </a:r>
          </a:p>
          <a:p>
            <a:r>
              <a:t>BRD-4 Collections and BRD-5 Accounting, Disbursement and ACSL follow in the same window; then BRD-13, then BRD-7 and BRD-8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other BRD sets follow the same pack, guide and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926080" cy="596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0058400" cy="1280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 i="0">
                <a:solidFill>
                  <a:srgbClr val="004EA8"/>
                </a:solidFill>
                <a:latin typeface="Arial"/>
              </a:rPr>
              <a:t>Sign-off Pack Guide: BRD-2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11880"/>
            <a:ext cx="2011680" cy="508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 i="0">
                <a:solidFill>
                  <a:srgbClr val="2E2E2E"/>
                </a:solidFill>
                <a:latin typeface="Arial"/>
              </a:rPr>
              <a:t>BRD-2 Operations business sign-off pack, release set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 i="0">
                <a:solidFill>
                  <a:srgbClr val="656565"/>
                </a:solidFill>
                <a:latin typeface="Arial"/>
              </a:rPr>
              <a:t>BIBS – BDOI Broker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 i="0">
                <a:solidFill>
                  <a:srgbClr val="656565"/>
                </a:solidFill>
                <a:latin typeface="Arial"/>
              </a:rPr>
              <a:t>BDO Insurance and Reinsurance Brokers, Inc. | Version 2.0 | 28 September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1215" y="589788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 i="0">
                <a:solidFill>
                  <a:srgbClr val="656565"/>
                </a:solidFill>
                <a:latin typeface="Arial"/>
              </a:rPr>
              <a:t>Prepared by</a:t>
            </a:r>
          </a:p>
        </p:txBody>
      </p:sp>
      <p:pic>
        <p:nvPicPr>
          <p:cNvPr id="9" name="Picture 8" descr="iorta-techn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806440"/>
            <a:ext cx="1371600" cy="404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Purpose of the pack and what sign-off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pack shows the proposed Operations of BIBS, screen by screen, so each business unit confirms what it will get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Content: 64 screens, 391 fields, 148 business rules, 382 messages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Every screen with numbered fields, the navigation per persona, three end-to-end walkthroughs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Signing freezes the content, the screens and the navigation of the module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After sign-off a change goes through the Change Management Register with its mandays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Configuration values marked default (SLA hours, thresholds, list entries, templates) stay open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screenshots use fictitious seed data only, in the BDO theme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00_BIBS_StartHere_BRD-02_Operations_v2.0.docx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Start Here: the map of the pack, who reads what, the steps and the dates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First, on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01_BIBS_GuideDeck_BRD-02_Operations_v2.0.pptx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Pack Guide: purpose, approach, the module at a glance, caveats and impacts on other modules, entry and exit criteria, change control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unit heads; presented at the kick-off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Kick-off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02_BIBS_FRS_BRD-02_Operations_v2.0.docx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Functional Requirements Specification v2.0: requirements, navigation, 64 screen specifications with screenshots, walkthroughs, messages, notifications, documents, uploads, cross-BRD contract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of each Operations team; Comptrollership, Disbursement and BDOI IT for their chapters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review, with the SIT walkthroughs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03_BIBS_Signoff_BRD-02_Operations_v2.0.xlsx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workbook: one row per screen, field, rule and message with the BU review columns; comments log, meeting minutes, version history, sign-off certificate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reviewer; the business owner signs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 and at sign-off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04_BIBS_TestPlan_BRD-02_Operations_v2.0.xlsx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workbook: the test cases traced to the FRs and to the screens, including one screen case and one message case per screen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who will run UAT;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After the screens; used again in SIT and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05_BIBS_TestPlan_BRD-02_Operations_Summary_v2.0.docx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summary: scope, approach, coverage and the cases by area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Before sign-off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07_BIBS_UXDeck_BRD-02_Operations_v2.0.pptx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Deck for the BDOI UX Design team: design foundation, navigation and personas, every walkthrough step by step and every screen with all its states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the issue, in parallel with the review; re-issued with each version of the set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08_BIBS_UXScreens_BRD-02_Operations_v2.0.xlsx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register: one row per screen image with the screen, personas, walkthrough and step, state, FRS section and requirements, UXD status and comments, and the Changed in this issue flag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Kept by the UX Design team; the changed rows are flagged at each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09_BIBS_UXScreens_BRD-02_Operations_v2.0.zip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Image package: every screen image at twice the screen resolution (PNG), the component crops and the register as CSV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Imported into the design tool at each issue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Where to start: reading order per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23"/>
                <a:gridCol w="871049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Read, in this order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Business owner (Product Owner; Operations FT&amp;P)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00 Start Here; 01 Guide deck; FRS chapters 1-3 (context and personas), 14 (walkthroughs), 20 (sign-off) and 21 (proposed rules for confirmation); workbook Sign-off certificate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Cashiering (cashiers and Team Leader)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4 Cashiering; the Cashiering screens of chapter 13 (SCR-OP-07 to 22); walkthroughs A (steps 3-4), B (steps 8-9) and D (steps 3-4); messages in chapter 15; documents DO-01 and DO-02 in chapter 17; upload templates in chapter 18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Remittance (processors and Team Leader)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4 Remittance; screens SCR-OP-23 to 36; walkthroughs A (steps 5-10) and D (step 5); notifications in chapter 16; documents DO-03 and DO-04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Adjustment (processors and Team Leader)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4 Adjustment / Cancellation; screens SCR-OP-37 to 42; walkthrough B; documents DO-05 and DO-06; Policy Transactions in chapter 12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and Commission Receivables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chapter 4 Production Reconciliation and Commission Receivables; screens SCR-OP-43 to 60; walkthrough C; documents DO-07 and DO-08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Marketing Collection and Marketing Team Leader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Holds, special remittance, BIR 2307 tags and endorsement requests (SCR-OP-19, 28 to 31, 38); walkthrough B steps 1-3 and D steps 1-2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Comptrollership, Disbursement and ACSL (BRD-5)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Accounting events (chapter 5); Disbursement Queue and Remittance Deductions (SCR-OP-33, 34, 36); BIR certificates (SCR-OP-58, 59); cross-BRD contract (chapter 19)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Interfaces and integration (chapter 7), non-functional requirements (chapter 8), configuration and jobs (chapter 9), Interfaces screen (SCR-OP-61), cross-BRD contract (chapter 19); the Technical Specification, reviewed by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07 UX Screen Deck: design foundation and navigation first, then the personas, walkthroughs and screens of the design work; 08 UX screen register (filter Changed in this issue at each new issue); 09 image package in the design 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All documents; keeps the comments log, the meeting minutes and the version history of the workbook, answers every comment and keeps the traceability 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Approach: from issue to 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Pack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v2.0 in the BRD-02 folder; invitations to the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Day 0 (Mon 28-Sep-2026); sessions scheduled after the BRD-10, 12, 6 and 9 sign-offs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7641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5113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4841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2041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Kick-off and screen walkthrough on 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841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Screens shown live per team (Cashiering, Remittance, Adjustment, Production Reconciliation and Commission Receivables); first questions logged in the comments log;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4841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5 sessions, 16 to 20-Nov-2026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4115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1587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1315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8515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Review with the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5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Every row marked Accept, Change requested or Comment; comments log entries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1315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10 working days after the walkthroughs, until Fri 4-Dec-2026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0589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78061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87789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4989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Comments consolidated and a Q&amp;A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7789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One consolidated comments log, each item typed (clarification, correction, change request) and answered; Q&amp;A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7789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3 working days, Q&amp;A on Wed 9-Dec-2026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One revision cycle (v2.1)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v2.1 with the changed rows marked; change requests raised for the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2 working days, v2.1 on Fri 11-Dec-2026; check by the reviewers until Wed 16-Dec-2026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077641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25113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34841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2041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Sign-off meeting and signature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4841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Signed sign-off certificate; minutes; open items accepted as assumptions or change requests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4841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Fri 18-Dec-2026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54115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1587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1315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8515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Content freeze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1315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Content frozen as signed; approved deltas scheduled in the Change Management 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1315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From Mon 21-Dec-2026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30589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78061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87789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4989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Traceability into SIT and UAT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7789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SIT and UAT runs traced to the signed screens, rules and messages; results against each row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7789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SIT Jan - Jul 2027; UAT Aug - Dec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(1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1. Pack issued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iorta TechNXT delivery lead; I: all 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v2.0, workbook, test plan, guide and deck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v2.0 in the BRD-02 folder; invitations to the sessions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Day 0 (Mon 28-Sep-2026); sessions scheduled after the BRD-10, 12, 6 and 9 sign-offs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2. Kick-off and screen walkthrough on SIT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BDOI Product Owner; C: Operations FT&amp;P unit heads; I: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Guide deck; SIT users with seed data; walkthroughs A, B, C and 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Screens shown live per team (Cashiering, Remittance, Adjustment, Production Reconciliation and Commission Receivables); first questions logged in the comments log;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5 sessions, 16 to 20-Nov-2026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3. Review with the workbook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business users of each Operations team; A: Operations FT&amp;P unit heads; C: iorta TechNXT (questions)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chapters of the area; workbook sheets with the BU review columns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row marked Accept, Change requested or Comment; comments log entries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 working days after the walkthroughs, until Fri 4-Dec-2026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4. Comments consolidated and a Q&amp;A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 and Business Analysis; A: BDOI Product Owner; C: reviewers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Returned workbooks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One consolidated comments log, each item typed (clarification, correction, change request) and answered; Q&amp;A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 working days, Q&amp;A on Wed 9-Dec-2026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(2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5. One revision cycle (v2.1)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iorta TechNXT delivery lead; C: reviewers who raised the 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Agreed clarifications and corrections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v2.1 with the changed rows marked; change requests raised for the rest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 working days, v2.1 on Fri 11-Dec-2026; check by the reviewers until Wed 16-Dec-2026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6. Sign-off meeting and signature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BDOI Product Owner; C: Operations FT&amp;P, Comptrollership,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v2.1 (or v2.0 when no revision is needed); open items with their decision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sign-off certificate; minutes; open items accepted as assumptions or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Fri 18-Dec-2026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7. Content freeze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delivery lead; A: BDOI Product Owner; I: BDOI IT, other BRD owners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set; change requests with mandays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Content frozen as signed; approved deltas scheduled in the Change Management Register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Mon 21-Dec-2026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8. Traceability into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test lead; A: BDOI Product Owner; C: business users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FRS rows and test plan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and UAT runs traced to the signed screens, rules and messages; results against each row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Jan - Jul 2027; UAT Aug - Dec 2027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Screens and fields (FRS screen specifications; workbook Screen catalogue, Field register)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rules and validations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input, BA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Messages and notifications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Documents and reports (receipts, remittance schedules, slips, registers, billings, reports)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Walkthroughs (end-to-end, screen by screen)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Proposed business rules and clarifications for confirmation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BA (BPS), 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Operations FT&amp;P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Interfaces, scheduled runs, user access and menus by persona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Test plan (04 workbook, 05 summary)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UX screen deck, UX screen register and image package (07 to 09, for the BDOI UX Design team; the screens as specified in this set)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FT&amp;P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Technical Specification (separate document, not part of the business sign-off)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team: Project Manager, Business Analysis, test lead (iorta TechNXT)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is complete and consistent as issued, traced to the BRD and to the screens; every comment is answered in the comments 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Analyst, Enterprise Services Group - Business Project Services (BPS) (Zean C. Ibay) (BDO Unibank ESG)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states the BRD requirements as written; every departure is listed in the proposed rules and clarifications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Operations: Financial Transactions and Processing, BU representatives (Shirley Catapang, Perjelyn Joy Gutierrez)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Cashiering, Remittance, Adjustment, Production Reconciliation and Commission Receivables screens, fields, rules and messages match the business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Information Technology Group (BDOI IT)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Interfaces and scheduled runs, user access and menus, the Disbursement queue and the uploads that stand in for other systems, and the Technical Specification (a separate document); not the business screens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Manager, Enterprise Services Group - Business Project Services (BPS) (Dan Ace Cauton) (BDO Unibank ESG)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Traceability of every BRD requirement to the set and completeness of the 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Operations: Financial Transactions and Processing (Jose Melvin M. Jarin)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Operations screens, rules, messages, notifications, documents and accounting events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AVP (Shellah Marie C. Miranda)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Owns the set and approves all of its contents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How to fill in the sign-off workbook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12</a:t>
            </a:r>
          </a:p>
        </p:txBody>
      </p:sp>
      <p:pic>
        <p:nvPicPr>
          <p:cNvPr id="9" name="Picture 8" descr="signoff-workbook-field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498079" cy="1983044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749807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Field register sheet of the sign-off workbook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9" y="1325880"/>
            <a:ext cx="3322016" cy="484632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39" y="1325880"/>
            <a:ext cx="50800" cy="484632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1417320"/>
            <a:ext cx="30934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 the rows of your area on Screen standards, Screen catalogue, Field register, Business rules, Messages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review: Accept, Change requested or Comment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comment: the change asked for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Reviewer and Review 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Questions go to the Comments log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Leave the other columns unchanged; one workbook per unit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Operations at a glance: process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brd02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825" y="1325880"/>
            <a:ext cx="5930045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BRD-2 process from the client to the booked invoice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Operations at a glance: personas and menus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1144661"/>
                <a:gridCol w="968560"/>
                <a:gridCol w="6339665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SIT user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Screens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Menu sections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Cashiering, Commission Receivables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Cashiering Team Leader /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cashtl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Cashiering, Commission Receivables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Remittance Processor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remit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Remittance Team Leader /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remittl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recon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Reconciliation, Operations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 Processor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Adjustment, Operations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 Team Leader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Adjustment, Operations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Receivables Handler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commrec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Cashiering, Commission Receivables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Receivables Team Leader / Head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Cashiering, Commission Receivables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Collection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mktcoll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Adjustment, Operations, Cashiering, Remittance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Team Leader / Unit Head (hold approver)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Adjustment, Operations, Cashiering, Remittance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Comptrollership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Remittance, Commission Receivables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Disbursement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Cashiering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ACSL Processor (remittance deductions)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acsl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ACSL Team Leader (confirms deductions)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acsltl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System Administrator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Operations, Remittance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Operations at a glance: key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15</a:t>
            </a:r>
          </a:p>
        </p:txBody>
      </p:sp>
      <p:pic>
        <p:nvPicPr>
          <p:cNvPr id="9" name="Picture 8" descr="wt-a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834" y="1325880"/>
            <a:ext cx="3607658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Invoice Search: the Operations ledger</a:t>
            </a:r>
          </a:p>
        </p:txBody>
      </p:sp>
      <p:pic>
        <p:nvPicPr>
          <p:cNvPr id="11" name="Picture 10" descr="wt-a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345" y="1325880"/>
            <a:ext cx="3583370" cy="1874519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Receipt applied by premium component</a:t>
            </a:r>
          </a:p>
        </p:txBody>
      </p:sp>
      <p:pic>
        <p:nvPicPr>
          <p:cNvPr id="13" name="Picture 12" descr="wt-a-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426" y="3566160"/>
            <a:ext cx="2606475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Remittance batch submitted for approval</a:t>
            </a:r>
          </a:p>
        </p:txBody>
      </p:sp>
      <p:pic>
        <p:nvPicPr>
          <p:cNvPr id="15" name="Picture 14" descr="wt-b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049" y="3566160"/>
            <a:ext cx="1707963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233007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Policy Transactions of a cancelled policy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Key business rules and validations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Every booked invoice is in the Operations ledger with its payment status, remittance status and flags; Invoice 360 shows its receipts, remittances, adjustments and movements.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payment is applied by premium component in the agreed hierarchy; what is left over becomes an unapplied payment whose disposition (apply, reclass, transfer, refund) needs the Team Leader's approval.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receipt is cancelled or reinstated only with a reason and a second user's approval; the AR and OR series are controlled per branch.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Only paid, unlocked invoices without a hold, a pending negative adjustment or a check in holding are extracted for remittance; a batch is approved by someone other than its processor.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An invoice worked by one team is locked to the others (Remittance, Adjustment, Cashiering) until that team is done.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An endorsement or cancellation is recomputed per insurer, validated by Adjustment and approved by its Team Leader before posting; posting books the invoice, re-applies payments and sets up the AR Insurer.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The insurer's production is matched to the booked invoices within tolerance; differences get feedback and a disposition before the cycle is closed.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Direct payment commission is billed to the insurer, confirmed by its answer and collected; late answers are flagged after ten working days.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56565"/>
                </a:solidFill>
                <a:latin typeface="Arial"/>
              </a:rPr>
              <a:t>–  </a:t>
            </a:r>
            <a:r>
              <a:rPr sz="1200">
                <a:solidFill>
                  <a:srgbClr val="4B4B4B"/>
                </a:solidFill>
                <a:latin typeface="Arial"/>
              </a:rPr>
              <a:t>Full list: FRS chapter 13 per screen, 148 rules on the Business rules sheet and 382 messages in FRS chapter 15 and on the Messages sheet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Cross-module dependencies and impacts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17</a:t>
            </a:r>
          </a:p>
        </p:txBody>
      </p:sp>
      <p:pic>
        <p:nvPicPr>
          <p:cNvPr id="9" name="Picture 8" descr="brd02_contrac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062" y="1325880"/>
            <a:ext cx="7067571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What Operations takes from and hands to the other BRDs and systems (FRS chapter 19)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 and possibilities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20"/>
                <a:gridCol w="4578647"/>
                <a:gridCol w="4578647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can happen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needs can surface during the review, SIT or UAT.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In-scope clarification when the signed text already covers it; otherwise a change request with mandays.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Impacts on other modules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Operations takes every booked invoice from New Business (BRD-1) and Renewal (BRD-6), receives the requests of Collections (BRD-4) and Claims (BRD-7), and hands journals, payment requests and deductions to Accounting, Disbursement and ACSL (BRD-5). A change to an Operations rule can change what those modules see.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Each change is assessed against the cross-BRD contract (FRS chapter 19); when it touches another set, a delta sign-off of the affected pages of both sets.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Operations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 Maintenance (components, taxes, insurers), User Access (roles), Accounting (GL accounts and journal rules), Collections (request types) and Data Migration (legacy balances) can change what Operations takes or hands over.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change is raised against the other BRD and assessed against the contract; when it touches this set, a delta sign-off of the affected pages only.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Disbursement queue until the Disbursement module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Payment requests of Operations are worked on the Disbursement Queue of Operations until the Disbursement module of BRD-5 takes them over.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queue keeps the same statuses and notices; the switch is a configuration change agreed with Disbursement and BDOI IT.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in Drop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is specified and shown in this set; its release is planned with Drop 2.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with this set; the Drop 2 release notes confirm any change since sign-off.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Bank payment files, insurer file transfers, the mail relay and the flow-in feeds depend on specifications from BDOI IT.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 file upload or download step until the specification arrives; the automatic transfer is then a change request. The technical detail is in the Technical Specification, reviewed by BDOI IT.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of FRS section 10.3 follow the assumptions of section 10.1; chapter 21 lists the proposed rules and clarifications for confirmation.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Answered as configuration where possible (lists of values, parameters, templates); otherwise a change request; the assumption stands until then.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Caveats: 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21"/>
                <a:gridCol w="898119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 and 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reviewer asks for the AO on the Remittance Batches list: a new column, so a change request; asking which stages the For Approval tab shows is a clarification.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Impacts on other modules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Changing the payment application hierarchy changes the outstanding balances in the Collections worklists and the journals in the General Ledger: both owners confirm the delta.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Operations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BRD-3 adds a premium component: the application hierarchy and the remittance schedule columns are re-issued and signed as a delta.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Disbursement queue until the Disbursement module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Once BRD-5 Disbursement is live, an approved batch sends its payment request there and the queue shows it read-only.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Production Reconciliation in Drop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new insurer layout for the production feedback agreed before Drop 2 is added as a delta.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Insurer ORs are uploaded from the insurer's file today; an automatic pick-up from the insurer's file transfer folder is added when the transport is agreed.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Hold reasons are one value (Others) until BDOI supplies its list; the list is then loaded as configuration.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Entry and exit criteria, definition of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screenshot of the set is taken on the SIT environment with seed data.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Reviewers have their SIT users and the walkthrough sessions are held.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test plan is traced to the FRS and to the screens.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BRD-1 New Business set is signed (booked invoices are the input of Operations).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Exit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218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row of the workbook reviewed by its team (Accept, Change requested or Comment).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comments log item closed: answered, corrected in v2.1, or raised as a change request.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Open questions closed or accepted as assumptions.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sign-off certificate signed by every signatory of the Who signs what matrix: prepared, input, reviewed and approved as on the Operations BRD approval sheet; the Product Owner approves the whole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7796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9236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9236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Signed certificate filed with the set; version history updated.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Content frozen as signed; deltas listed in the Change Management Register with mandays.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Test plan agreed for SIT and UAT.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After sign-off: readiness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Signed FRS, sign-off workbook and screens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Open questions closed or accepted as assumptions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Configuration inputs from the business: receipt series and BIR authorities to print, lists of values (hold reasons, disposition types, return and exclusion reasons), tolerances, incentive rules and schemes, payment file layouts, users and roles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Agreed test plan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Migration mapping of the open invoices, receipts and unapplied payments signed (BRD-13)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56565"/>
                </a:solidFill>
                <a:latin typeface="Arial"/>
              </a:rPr>
              <a:t>–  </a:t>
            </a:r>
            <a:r>
              <a:rPr sz="1400">
                <a:solidFill>
                  <a:srgbClr val="4B4B4B"/>
                </a:solidFill>
                <a:latin typeface="Arial"/>
              </a:rPr>
              <a:t>After sign-off the content is frozen as signed and the approved deltas are scheduled.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Change control after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A change to anything frozen is raised in the Change Management Register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The screen, field, rule or message concerned, the reason and the priority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project team assesses the mandays and the effect on the other BRDs through the cross-BRD contract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owners of every BRD concerned approve it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Delivered as a new version of the set (v2.1, v2.2...) with the changed pages signed again (delta sign-off)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Configuration values marked default change in BIBS without a change request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Governance, contacts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3698138"/>
                <a:gridCol w="4754749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and approver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Shellah Marie C. Miranda, AVP, 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Accountable for the sign-off; chairs the sign-off meeting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of Operations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Jose Melvin M. Jarin, Operations: Financial Transactions and Processing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Approves for Operations; coordinates the teams' review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Shirley Catapang and Perjelyn Joy Gutierrez (FT&amp;P, input providers of the BRD); Cashiering, Remittance, Adjustment, Production Reconciliation and Commission Receivables teams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 their screens and rows; raise comments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Information Technology Group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Reviews interfaces, jobs, access and the Technical Specification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BRD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Dan Ace Cauton, Program Manager, and Zean C. Ibay, Business Analyst, ESG-BPS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Traceability to the BRD; sign-off coordination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Manager, Business Analysis, test lead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Sessions, answers, comments log, revisions,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Next steps and the release order of the other BRD 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BRD-2 Operations |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Kick-off and first SIT walkthrough on Mon 16-Nov-2026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Workbooks returned by Fri 4-Dec-2026; Q&amp;A on Wed 9-Dec-2026; sign-off on Fri 18-Dec-2026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BRD-4 Collections and BRD-5 Accounting, Disbursement and ACSL follow in the same window; then BRD-13, then BRD-7 and BRD-8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Sign-off Pack Guide BRD-2 Operations</dc:title>
  <dc:subject>BIBS – BDOI Broker System</dc:subject>
  <dc:creator>iorta TechNXT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