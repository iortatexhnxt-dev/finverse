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BRD-2 Operations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28-Sep-2026); sessions scheduled after the BRD-10, 12, 6 and 9 sign-offs.</a:t>
            </a:r>
          </a:p>
          <a:p>
            <a:r>
              <a:t>2. Kick-off and screen walkthrough on SIT: 5 sessions, 16 to 20-Nov-2026.</a:t>
            </a:r>
          </a:p>
          <a:p>
            <a:r>
              <a:t>3. Review with the workbook: 10 working days after the walkthroughs, until Fri 4-Dec-2026.</a:t>
            </a:r>
          </a:p>
          <a:p>
            <a:r>
              <a:t>4. Comments consolidated and a Q&amp;A session: 3 working days, Q&amp;A on Wed 9-Dec-2026.</a:t>
            </a:r>
          </a:p>
          <a:p>
            <a:r>
              <a:t>5. One revision cycle (v2.1): 2 working days, v2.1 on Fri 11-Dec-2026; check by the reviewers until Wed 16-Dec-2026.</a:t>
            </a:r>
          </a:p>
          <a:p>
            <a:r>
              <a:t>6. Sign-off meeting and signature: Fri 18-Dec-2026.</a:t>
            </a:r>
          </a:p>
          <a:p>
            <a:r>
              <a:t>7. Content freeze: From Mon 21-Dec-2026.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(Operations BRD approval sheet p.6-7 (Prepared by, Input Provided by, Reviewed by, Approved by)).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(Operations BRD approval sheet p.6-7 (Prepared by, Input Provided by, Reviewed by, Approved by)).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 (Zean C. Ibay): Prepared by (p.6).</a:t>
            </a:r>
          </a:p>
          <a:p>
            <a:r>
              <a:t>Operations: Financial Transactions and Processing, BU representatives (Shirley Catapang, Perjelyn Joy Gutierrez): Input Provided by (p.6).</a:t>
            </a:r>
          </a:p>
          <a:p>
            <a:r>
              <a:t>BDOI Information Technology Group (BDOI IT): Reviewed by (p.6-7).</a:t>
            </a:r>
          </a:p>
          <a:p>
            <a:r>
              <a:t>Program Manager, Enterprise Services Group - Business Project Services (BPS) (Dan Ace Cauton): Approved by (p.7).</a:t>
            </a:r>
          </a:p>
          <a:p>
            <a:r>
              <a:t>Operations: Financial Transactions and Processing (Jose Melvin M. Jarin): Approved by (p.7).</a:t>
            </a:r>
          </a:p>
          <a:p>
            <a:r>
              <a:t>Product Owner, AVP (Shellah Marie C. Miranda): Approved by (p.7).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 The menus of 1 more personas of the other BRDs are there too, one table and one sheet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</a:t>
            </a:r>
          </a:p>
          <a:p>
            <a:r>
              <a:t>IC-01 BRD-1 New Business (In): Every booked invoice (booking, endorsement, cancellation) with its policy, assured, insurer, premium components, commission, taxes, direct payment and CWT flags, and the insurer shares of a co-insured policy</a:t>
            </a:r>
          </a:p>
          <a:p>
            <a:r>
              <a:t>IC-02 BRD-1 New Business (Out): Payment confirmation of an account waiting for payment before placement or issuance, and the pre-booked payments of accounts not yet booked</a:t>
            </a:r>
          </a:p>
          <a:p>
            <a:r>
              <a:t>IC-03 BRD-1 New Business (Out): Endorsements and cancellations raised in Operations (Adjustment) and posted as invoices</a:t>
            </a:r>
          </a:p>
          <a:p>
            <a:r>
              <a:t>IC-04 BRD-3 Product Maintenance (In): Products, product lines, premium components and tax rates, insurers with their bank details and contacts, lists of values (reasons, conditions, disposition types)</a:t>
            </a:r>
          </a:p>
          <a:p>
            <a:r>
              <a:t>IC-05 BRD-4 Collections (In): Collector requests to dispose of an unapplied payment, refund validation tasks, CWT 2307 tags, hold and special remittance requests of Marketing Collection</a:t>
            </a:r>
          </a:p>
          <a:p>
            <a:r>
              <a:t>IC-06 BRD-4 Collections (Out): Payment status, receipts and outstanding balances of every invoice; direct payment accounts and their billing status</a:t>
            </a:r>
          </a:p>
          <a:p>
            <a:r>
              <a:t>IC-07 BRD-5 Accounting, Disbursement and ACSL (Out): Journal entries of receipts, applications, cancellations, remittances, endorsements, write-offs, DP collections and incentives</a:t>
            </a:r>
          </a:p>
          <a:p>
            <a:r>
              <a:t>IC-08 BRD-5 Accounting, Disbursement and ACSL (Out): Payment requests of approved remittance batches, refunds, BIR 2307 reversals and incentive pass-ons</a:t>
            </a:r>
          </a:p>
          <a:p>
            <a:r>
              <a:t>IC-09 BRD-5 Accounting, Disbursement and ACSL (In): Remittance deductions against an insurer (AR Insurer, ACSL items) confirmed for recovery from the insurer's next batch</a:t>
            </a:r>
          </a:p>
          <a:p>
            <a:r>
              <a:t>IC-10 BRD-6 Renewal (In): Renewal invoices booked for the new policy year</a:t>
            </a:r>
          </a:p>
          <a:p>
            <a:r>
              <a:t>IC-11 BRD-7 Claims (In): Special remittance of the premium of a policy with a claim filed</a:t>
            </a:r>
          </a:p>
          <a:p>
            <a:r>
              <a:t>IC-12 BRD-13 Data Migration (In): Legacy invoices, receipts and unapplied payments with their open balances</a:t>
            </a:r>
          </a:p>
          <a:p>
            <a:r>
              <a:t>IC-13 Insurers (Out): Remittance schedules, production registers and direct payment commission billings</a:t>
            </a:r>
          </a:p>
          <a:p>
            <a:r>
              <a:t>IC-14 Insurers (In): Official receipts of remitted premium, production feedback, answers to DP billings, BIR 2307 certificates</a:t>
            </a:r>
          </a:p>
          <a:p>
            <a:r>
              <a:t>IC-15 Banks and payment channels (In): Payment files of bills payment, trade, CLPC and direct credit channels</a:t>
            </a:r>
          </a:p>
          <a:p>
            <a:r>
              <a:t>IC-16 BDOI IT (In): Scheduled jobs of Operations (remittance extraction, register extraction, feedback follow-up, daily reports) and the flow-in feeds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Mon 16-Nov-2026</a:t>
            </a:r>
          </a:p>
          <a:p>
            <a:r>
              <a:t>Workbooks returned by Fri 4-Dec-2026; Q&amp;A on Wed 9-Dec-2026; sign-off on Fri 18-Dec-2026</a:t>
            </a:r>
          </a:p>
          <a:p>
            <a:r>
              <a:t>BRD-4 Collections and BRD-5 Accounting, Disbursement and ACSL follow in the same window;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BRD-2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BRD-2 Operations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28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Operations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64 screens, 391 fields, 148 business rules, 381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01_BIBS_GuideDeck_BRD-02_Operations_v2.0.pptx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 and impacts on other modules,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64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Operations team; Comptrollership, Disbursement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03_BIBS_Signoff_BRD-02_Operations_v2.0.xlsx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04_BIBS_TestPlan_BRD-02_Operations_v2.0.xlsx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05_BIBS_TestPlan_BRD-02_Operations_Summary_v2.0.docx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07_BIBS_UXDeck_BRD-02_Operations_v2.0.pptx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Deck for the BDOI UX Design team: design foundation, navigation and personas, every walkthrough step by step and every screen with all its states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the issue, in parallel with the review; re-issued with each version of the set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08_BIBS_UXScreens_BRD-02_Operations_v2.0.xlsx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register: one row per screen image with the screen, personas, walkthrough and step, state, FRS section and requirements, UXD status and comments, and the Changed in this issue flag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Kept by the UX Design team; the changed rows are flagged at each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09_BIBS_UXScreens_BRD-02_Operations_v2.0.zip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Image package: every screen image at twice the screen resolution (PNG), the component crops and the register as CSV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Imported into the design tool at each issue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Owner; Operations FT&amp;P)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Cashiering (cashiers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Cashiering; the Cashiering screens of chapter 13 (SCR-OP-07 to 22); walkthroughs A (steps 3-4), B (steps 8-9) and D (steps 3-4); messages in chapter 15; documents DO-01 and DO-02 in chapter 17; upload templates in chapter 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Remittance (processors and Team Leader)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Remittance; screens SCR-OP-23 to 36; walkthroughs A (steps 5-10) and D (step 5); notifications in chapter 16; documents DO-03 and DO-04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Adjustment (processors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Adjustment / Cancellation; screens SCR-OP-37 to 42; walkthrough B; documents DO-05 and DO-06; Policy Transactions in chapter 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and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Production Reconciliation and Commission Receivables; screens SCR-OP-43 to 60; walkthrough C; documents DO-07 and DO-08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 and Marketing Team Leader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Holds, special remittance, BIR 2307 tags and endorsement requests (SCR-OP-19, 28 to 31, 38); walkthrough B steps 1-3 and D steps 1-2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Comptrollership, Disbursement and ACSL (BRD-5)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Accounting events (chapter 5); Disbursement Queue and Remittance Deductions (SCR-OP-33, 34, 36); BIR certificates (SCR-OP-58, 59); cross-BRD contract (chapter 19)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configuration and jobs (chapter 9), Interfaces screen (SCR-OP-61), cross-BRD contract (chapter 19); the Technical Specification, reviewed by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07 UX Screen Deck: design foundation and navigation first, then the personas, walkthroughs and screens of the design work; 08 UX screen register (filter Changed in this issue at each new issue); 09 image package in the design 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BRD-02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28-Sep-2026); sessions scheduled after the BRD-10, 12, 6 and 9 sign-offs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 per team (Cashiering, Remittance, Adjustment, Production Reconciliation and Commission Receivables);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5 sessions, 16 to 20-Nov-2026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4-Dec-2026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9-Dec-2026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11-Dec-2026; check by the reviewers until Wed 16-Dec-2026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18-Dec-2026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21-Dec-2026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BRD-02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28-Sep-2026); sessions scheduled after the BRD-10, 12, 6 and 9 sign-offs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Operations FT&amp;P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B, C and 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 per team (Cashiering, Remittance, Adjustment, Production Reconciliation and Commission Receivables);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 sessions, 16 to 20-Nov-2026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Operations team; A: Operations FT&amp;P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4-Dec-2026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9-Dec-2026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11-Dec-2026; check by the reviewers until Wed 16-Dec-2026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Operations FT&amp;P, Comptrollership,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18-Dec-2026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21-Dec-2026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 and reports (receipts, remittance schedules, slips, registers, billings,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scheduled runs,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UX screen deck, UX screen register and image package (07 to 09, for the BDOI UX Design team; the screens as specified in this set)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(Zean C. Ibay)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Operations: Financial Transactions and Processing, BU representatives (Shirley Catapang, Perjelyn Joy Gutierrez)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Cashiering, Remittance, Adjustment, Production Reconciliation and Commission Receivables screens, fields, rules and messages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 (BDOI IT)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 and scheduled runs, user access and menus, the Disbursement queue and the uploads that stand in for other systems,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(Dan Ace Cauton)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Operations: Financial Transactions and Processing (Jose Melvin M. Jarin)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Operations screens, rules, messages, notifications, documents and accounting events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AVP (Shellah Marie C. Miranda)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983044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2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825" y="1325880"/>
            <a:ext cx="5930045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BRD-2 process from the client to the booked invoice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Cashiering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Processor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recon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Processor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Handler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commrec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Team Leader /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mktcoll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Team Leader / Unit Head (hold approver)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Processor (remittance deductions)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Team Leader (confirms deductions)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pic>
        <p:nvPicPr>
          <p:cNvPr id="9" name="Picture 8" descr="wt-a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846" y="1325880"/>
            <a:ext cx="325763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Invoice Search: the Operations ledger</a:t>
            </a:r>
          </a:p>
        </p:txBody>
      </p:sp>
      <p:pic>
        <p:nvPicPr>
          <p:cNvPr id="11" name="Picture 10" descr="wt-a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905" y="1325880"/>
            <a:ext cx="26442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Receipt applied by premium component</a:t>
            </a:r>
          </a:p>
        </p:txBody>
      </p:sp>
      <p:pic>
        <p:nvPicPr>
          <p:cNvPr id="13" name="Picture 12" descr="wt-a-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426" y="356616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Remittance batch submitted for approval</a:t>
            </a:r>
          </a:p>
        </p:txBody>
      </p:sp>
      <p:pic>
        <p:nvPicPr>
          <p:cNvPr id="15" name="Picture 14" descr="wt-b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332" y="3566160"/>
            <a:ext cx="262339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Policy Transactions of a cancelled policy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Every booked invoice is in the Operations ledger with its payment status, remittance status and flags; Invoice 360 shows its receipts, remittances, adjustments and movements.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payment is applied by premium component in the agreed hierarchy; what is left over becomes an unapplied payment whose disposition (apply, reclass, transfer, refund) needs the Team Leader's approval.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receipt is cancelled or reinstated only with a reason and a second user's approval; the AR and OR series are controlled per branch.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Only paid, unlocked invoices without a hold, a pending negative adjustment or a check in holding are extracted for remittance; a batch is approved by someone other than its processor.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invoice worked by one team is locked to the others (Remittance, Adjustment, Cashiering) until that team is done.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endorsement or cancellation is recomputed per insurer, validated by Adjustment and approved by its Team Leader before posting; posting books the invoice, re-applies payments and sets up the AR Insurer.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The insurer's production is matched to the booked invoices within tolerance; differences get feedback and a disposition before the cycle is closed.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Direct payment commission is billed to the insurer, confirmed by its answer and collected; late answers are flagged after ten working days.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148 rules on the Business rules sheet and 381 messages in FRS chapter 15 and on the Messages sheet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pic>
        <p:nvPicPr>
          <p:cNvPr id="9" name="Picture 8" descr="brd02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062" y="1325880"/>
            <a:ext cx="7067571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Operations takes from and hands to the other BRDs and systems (FRS chapter 19)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 takes every booked invoice from New Business (BRD-1) and Renewal (BRD-6), receives the requests of Collections (BRD-4) and Claims (BRD-7), and hands journals, payment requests and deductions to Accounting, Disbursement and ACSL (BRD-5). A change to an Operations rule can change what those modules see.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Each change is assessed against the cross-BRD contract (FRS chapter 19); when it touches another set, a delta sign-off of the affected pages of both sets.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 (components, taxes, insurers), User Access (roles), Accounting (GL accounts and journal rules), Collections (request types) and Data Migration (legacy balances) can change what Operations takes or hands over.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Payment requests of Operations are worked on the Disbursement Queue of Operations until the Disbursement module of BRD-5 takes them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queue keeps the same statuses and notices; the switch is a configuration change agreed with Disbursement and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is specified and shown in this set; its release is planned with Drop 2.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with this set; the Drop 2 release notes confirm any change since sign-off.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Bank payment files, insurer file transfers, the mail relay and the flow-in feeds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file upload or download step until the specification arrives; the automatic transfer is then a change request. The technical detail is in the Technical Specification, reviewed by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follow the assumptions of section 10.1; chapter 21 lists the proposed rules and clarifications for confirmation.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 of values,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AO on the Remittance Batches list: a new column, so a change request; asking which stages the For Approval tab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Changing the payment application hierarchy changes the outstanding balances in the Collections worklists and the journals in the General Ledger: both owners confirm the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premium component: the application hierarchy and the remittance schedule columns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Once BRD-5 Disbursement is live, an approved batch sends its payment request there and the queue shows it read-only.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new insurer layout for the production feedback agreed before Drop 2 is added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Insurer ORs are uploaded from the insurer's file today; an automatic pick-up from the insurer's file transfer folder is added when the transport is agreed.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 reasons are one value (Others) until BDOI supplies its list; the list is then loaded as configuration.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BRD-1 New Business set is signed (booked invoices are the input of Operations).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team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Operations BRD approval sheet;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receipt series and BIR authorities to print, lists of values (hold reasons, disposition types, return and exclusion reasons), tolerances, incentive rules and schemes, payment file layouts,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open invoices, receipts and unapplied payments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Shellah Marie C. Miranda, AVP,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Jose Melvin M. Jarin, Operations: Financial Transactions and 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Approves for Operations; coordinates the teams' review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Shirley Catapang and Perjelyn Joy Gutierrez (FT&amp;P, input providers of the BRD); Cashiering, Remittance, Adjustment, Production Reconciliation and Commission Receivables teams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Information Technology Group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Reviews interfaces, jobs,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Dan Ace Cauton, Program Manager, and Zean C. Ibay, Business Analyst, ESG-BPS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Mon 16-Nov-2026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4-Dec-2026; Q&amp;A on Wed 9-Dec-2026; sign-off on Fri 18-Dec-2026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BRD-4 Collections and BRD-5 Accounting, Disbursement and ACSL follow in the same window;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BRD-2 Operations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