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guides the business units through the BRD-6 Renewal sign-off pack, release set v2.0. It explains what the pack is, how to read it, the steps up to sign-off and what happens after. It is presented at the kick-off and stays in the pack as file 01.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Stress that the pack shows the screens, fields, rules and messages the business is asked to confirm.</a:t>
            </a:r>
          </a:p>
          <a:p>
            <a:r>
              <a:t>Signing means: this is what we get; the look, feel, fields, rules, messages and navigation are frozen.</a:t>
            </a:r>
          </a:p>
          <a:p>
            <a:r>
              <a:t>Data on the screenshots is seed data of the SIT environment; names and numbers are fictitious.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files are numbered in reading order so they sort that way in the BRD folder. 00 Start Here is the short version of this deck; 02 FRS and 03 workbook carry the same rows; 04 and 05 are the test plan traced to the screens; 07 to 09 are the UX screen documents for the BDOI UX Design team, taken from the same screens.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files are numbered in reading order so they sort that way in the BRD folder. 00 Start Here is the short version of this deck; 02 FRS and 03 workbook carry the same rows; 04 and 05 are the test plan traced to the screens; 07 to 09 are the UX screen documents for the BDOI UX Design team, taken from the same screens.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Nobody needs to read the whole FRS. Each role starts with its chapters and its sheets of the workbook; the walkthroughs in chapter 14 are the fastest way to see the whole process.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Pack issued: Day 0 (Thu 8-Oct-2026); sessions in the Drop 1 window of November 2026.</a:t>
            </a:r>
          </a:p>
          <a:p>
            <a:r>
              <a:t>2. Kick-off and screen walkthrough on SIT: 3 sessions, 4 to 6-Nov-2026.</a:t>
            </a:r>
          </a:p>
          <a:p>
            <a:r>
              <a:t>3. Review with the workbook: 10 working days after the walkthroughs, until Fri 20-Nov-2026.</a:t>
            </a:r>
          </a:p>
          <a:p>
            <a:r>
              <a:t>4. Comments consolidated and a Q&amp;A session: 2 working days, Q&amp;A on Tue 24-Nov-2026.</a:t>
            </a:r>
          </a:p>
          <a:p>
            <a:r>
              <a:t>5. One revision cycle (v2.1): 1 working day, v2.1 on Wed 25-Nov-2026; check by the reviewers until Thu 26-Nov-2026.</a:t>
            </a:r>
          </a:p>
          <a:p>
            <a:r>
              <a:t>6. Sign-off meeting and signature: Fri 27-Nov-2026.</a:t>
            </a:r>
          </a:p>
          <a:p>
            <a:r>
              <a:t>7. Content freeze: From Mon 30-Nov-2026.</a:t>
            </a:r>
          </a:p>
          <a:p>
            <a:r>
              <a:t>8. Traceability into SIT and UAT: SIT Jan - Jul 2027; UAT Aug - Dec 2027.</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 responsible, A accountable, C consulted, I informed. The durations are indicative; the dates are those of the Start Here guide.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 responsible, A accountable, C consulted, I informed. The durations are indicative; the dates are those of the Start Here guide.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set holds business content only: screens, fields, rules, messages, notifications, documents, walkthroughs and reports. Business users sign the business content; BDOI IT reviews the interfaces, the user access and the Technical Specification, a separate document that holds the technical content; the Program Manager of Business Project Services reviews the traceability and the completeness; the Product Owner approves the whole set; iorta TechNXT prepares it.</a:t>
            </a:r>
          </a:p>
          <a:p>
            <a:r>
              <a:t>The roles are those of the BRD approval sheet (Renewal BRD approval sheets: Renewal Addendum (Walkthrough) p.17-19, Renewal Addendum (Workshop) p.42-44, Renewal Addendum 1 p.61-64 and the RMEL Phase 2 Online Dispositioning BRD p.214-215 (Prepared, Input provided, Reviewed, Approved by)).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set holds business content only: screens, fields, rules, messages, notifications, documents, walkthroughs and reports. Business users sign the business content; BDOI IT reviews the interfaces, the user access and the Technical Specification, a separate document that holds the technical content; the Program Manager of Business Project Services reviews the traceability and the completeness; the Product Owner approves the whole set; iorta TechNXT prepares it.</a:t>
            </a:r>
          </a:p>
          <a:p>
            <a:r>
              <a:t>The roles are those of the BRD approval sheet (Renewal BRD approval sheets: Renewal Addendum (Walkthrough) p.17-19, Renewal Addendum (Workshop) p.42-44, Renewal Addendum 1 p.61-64 and the RMEL Phase 2 Online Dispositioning BRD p.214-215 (Prepared, Input provided, Reviewed, Approved by)).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certificate sheet of the workbook lists the same signatories in the same order: prepared by, input provided by, reviewed by, approved by, as on the BRD approval sheet. A role the set adds to the approval sheet is marked there.</a:t>
            </a:r>
          </a:p>
          <a:p>
            <a:r>
              <a:t>iorta TechNXT project team: Project Manager, Business Analysis, test lead: Added for this set (author of the FRS set).</a:t>
            </a:r>
          </a:p>
          <a:p>
            <a:r>
              <a:t>Business Analysts, Enterprise Services Group - Business Project Services (BPS) (Zean C. Ibay, Roda Lyn D. Gallardo, Jane Tagle): Prepared by (p.17, p.42, p.61, p.214).</a:t>
            </a:r>
          </a:p>
          <a:p>
            <a:r>
              <a:t>Marketing Business Services and System Support and the Marketing and Processing input providers (Ma. Fides R. Rivera, Rose Marie Lique, Jackie Lyn Serrano, Marie Grace Mendiola, Berna Corpuz, Maria Cecilia Remodo, Alma Aramburo Olegario, Grace Tordesillas, Jocimarie Biaoco Palcat, Angelo Tiu Alibuyog, Amara Camille Linis Cruz, Racquel Jimenez, Clarissa Pagalanan, Herbert De Guzman): Input provided by (p.17-18, p.42-43, p.61-62, p.214).</a:t>
            </a:r>
          </a:p>
          <a:p>
            <a:r>
              <a:t>Marketing Business Services and System Support (Rhommel Mark Galler): Reviewed by (p.19, p.44).</a:t>
            </a:r>
          </a:p>
          <a:p>
            <a:r>
              <a:t>BDOI Information Technology Group (Angela Villamarzo Ramirez, Ma. Carmela Austria Morfe): Reviewed by (p.63).</a:t>
            </a:r>
          </a:p>
          <a:p>
            <a:r>
              <a:t>Program Manager and BA Unit Head, Enterprise Services Group - Business Project Services (BPS) (Dan Ace R. Cauton, Edward Kenneth Cadena): Reviewed by (p.19, p.44, p.63, p.214).</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certificate sheet of the workbook lists the same signatories in the same order: prepared by, input provided by, reviewed by, approved by, as on the BRD approval sheet. A role the set adds to the approval sheet is marked there.</a:t>
            </a:r>
          </a:p>
          <a:p>
            <a:r>
              <a:t>Product Owner, AVP (Shellah Marie C. Miranda): Approved by (p.19, p.44, p.64, p.214).</a:t>
            </a:r>
          </a:p>
          <a:p>
            <a:r>
              <a:t>Product Owner, AVP (Jose Melvin Jarin): Approved by (p.19 on leave, p.44 for regularization).</a:t>
            </a:r>
          </a:p>
          <a:p>
            <a:r>
              <a:t>Unit Head - Combank and Corbank Marketing / Corporate Processing, SAVP (Mark Joseph C. Makalintal): Approved by (p.19, p.44, p.64, p.214, with e-mail sign-off).</a:t>
            </a:r>
          </a:p>
          <a:p>
            <a:r>
              <a:t>Head - Retail Marketing, VP (Edmundante F. Ramirez) and Head - Corporate and Retail Marketing, FVP (Roderick Lim): Approved by (p.19, p.44, p.64, p.215).</a:t>
            </a:r>
          </a:p>
          <a:p>
            <a:r>
              <a:t>Head - Comptrollership, VP (Ronald Allan E. De Leon): Approved by (p.44 and p.64: not required for this BRD).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No. column is the numbered marker on the screenshot of the FRS, or the column number of a load template. The drop-down columns accept only the listed values. The Comments log, Meeting minutes and Version history sheets are kept by the project team; the Sign-off certificate is signed at the end.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process runs from client onboarding and KYC, through the quotation or the PRF, the account, payment and placement, issuance and booking, to the hand-off to Operations and Accounting.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persona sees only the menu entries of its role; the full menu of each persona is in FRS chapter 12 and on the Menu by persona sheet of the workbook.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Screenshots of the SIT environment with seed data; every screen of the module is in FRS chapter 13.</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rules the business units ask about most. Each rule is stated with its FR on the screen where it applies.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contract is part of the signed set. A change of an exchange below is assessed with the owner of the other BRD; when it changes what the other BRD receives or shows, both owners approve it and the affected pages of both sets are signed again (delta sign-off).</a:t>
            </a:r>
          </a:p>
          <a:p>
            <a:r>
              <a:t>IC-01 BRD-2 Operations (invoice ledger) (In): The booked root invoices of the expiring policies with their balances, payments and the endorsements booked in the term</a:t>
            </a:r>
          </a:p>
          <a:p>
            <a:r>
              <a:t>IC-02 BRD-1 New Business (account) (In): The expiring account, client, policy, insurer, product, sales unit and account officer of each renewal</a:t>
            </a:r>
          </a:p>
          <a:p>
            <a:r>
              <a:t>IC-03 BRD-1 New Business (account, placement, issuance, booking) (Out): The renewal account (business type Renewal), created from the expiring account; after acceptance it is fast-tracked to placement and booking, and booked through the New Business booking with the booking source Renewal</a:t>
            </a:r>
          </a:p>
          <a:p>
            <a:r>
              <a:t>IC-04 BRD-1 New Business (quotation and proposal request) (Out): A quotation (For Quotation) or a proposal request (For Proposal) pre-filled from the expiring account, with the renewal reference</a:t>
            </a:r>
          </a:p>
          <a:p>
            <a:r>
              <a:t>IC-05 BRD-3 Product Maintenance (In): The product and package version of the expiring account, whether it can be sold for renewal, and the BIBS package of a migrated policy</a:t>
            </a:r>
          </a:p>
          <a:p>
            <a:r>
              <a:t>IC-06 BRD-2 Operations (Adjustment) (In): The open endorsement requests of the expiring invoice family</a:t>
            </a:r>
          </a:p>
          <a:p>
            <a:r>
              <a:t>IC-07 BRD-7 Claims (In): The claims summary of the account and policy year (number and status of the claims)</a:t>
            </a:r>
          </a:p>
          <a:p>
            <a:r>
              <a:t>IC-08 BRD-1 New Business (client) (In): The KYC review date of the client</a:t>
            </a:r>
          </a:p>
          <a:p>
            <a:r>
              <a:t>IC-09 BRD-12 Submitted Policies (In): The renewal of a submitted policy handed over by Submitted Policies (free first year and mortgaged submitted policies)</a:t>
            </a:r>
          </a:p>
          <a:p>
            <a:r>
              <a:t>IC-10 BRD-13 Data Migration (In): The migrated in-force policies of the go-live window with their legacy package, and the Renewal Advices sent by hand before go-live</a:t>
            </a:r>
          </a:p>
          <a:p>
            <a:r>
              <a:t>IC-11 Insurers (outside BIBS) (Out / In): The insurer extract of the renewals (28 columns); the insurer's responses (Renew As Is, Revise, Reject)</a:t>
            </a:r>
          </a:p>
          <a:p>
            <a:r>
              <a:t>IC-12 LAMD of the bank (outside BIBS) (In): The monthly paid-off and past-due (RMU) loan reports</a:t>
            </a:r>
          </a:p>
          <a:p>
            <a:r>
              <a:t>IC-13 Clients (outside BIBS) (Out / In): The Renewal Advice and the closing letters; the client's acceptance (e-mail, signed Renewal Advice or payment)</a:t>
            </a:r>
          </a:p>
          <a:p>
            <a:r>
              <a:t>IC-14 BRD-11 User Access Maintenance (In): The users, their roles and units (Account Officers, Team Leaders, Processing Officers, LAMD and Contact Center)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ways to handle a case: an in-scope clarification (no change to the signed set, answered in the comments log); a change request with mandays in the Change Management Register; a delta sign-off of the affected pages only.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these examples to agree the handling of a case during the review.</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sign-off meeting starts when the exit criteria are met; the set is done when the certificate is signed and the content of the set is frozen.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sign-off the content is frozen as signed and the approved deltas are scheduled.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Nothing in a signed set changes without a request in the register.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steps:</a:t>
            </a:r>
          </a:p>
          <a:p>
            <a:r>
              <a:t>Kick-off and first SIT walkthrough on Wed 4-Nov-2026</a:t>
            </a:r>
          </a:p>
          <a:p>
            <a:r>
              <a:t>Workbooks returned by Fri 20-Nov-2026; Q&amp;A on Tue 24-Nov-2026; sign-off on Fri 27-Nov-2026</a:t>
            </a:r>
          </a:p>
          <a:p>
            <a:r>
              <a:t>BRD-12 Submitted Policies, BRD-9 Customer Servicing Facility and BRD-10 Sanction Screening follow in the same window of November 2026</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other BRD sets follow the same pack, guide and steps.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lient-logo.png"/>
          <p:cNvPicPr>
            <a:picLocks noChangeAspect="1"/>
          </p:cNvPicPr>
          <p:nvPr/>
        </p:nvPicPr>
        <p:blipFill>
          <a:blip r:embed="rId2"/>
          <a:stretch>
            <a:fillRect/>
          </a:stretch>
        </p:blipFill>
        <p:spPr>
          <a:xfrm>
            <a:off x="548640" y="548640"/>
            <a:ext cx="2926080" cy="596053"/>
          </a:xfrm>
          <a:prstGeom prst="rect">
            <a:avLst/>
          </a:prstGeom>
        </p:spPr>
      </p:pic>
      <p:sp>
        <p:nvSpPr>
          <p:cNvPr id="3" name="TextBox 2"/>
          <p:cNvSpPr txBox="1"/>
          <p:nvPr/>
        </p:nvSpPr>
        <p:spPr>
          <a:xfrm>
            <a:off x="548640" y="2194560"/>
            <a:ext cx="10058400" cy="1280160"/>
          </a:xfrm>
          <a:prstGeom prst="rect">
            <a:avLst/>
          </a:prstGeom>
          <a:noFill/>
        </p:spPr>
        <p:txBody>
          <a:bodyPr wrap="square" anchor="b" lIns="45720" rIns="45720">
            <a:spAutoFit/>
          </a:bodyPr>
          <a:lstStyle/>
          <a:p>
            <a:r>
              <a:rPr sz="4000" b="1" i="0">
                <a:solidFill>
                  <a:srgbClr val="004EA8"/>
                </a:solidFill>
                <a:latin typeface="Arial"/>
              </a:rPr>
              <a:t>Sign-off Pack Guide: BRD-6 Renewal</a:t>
            </a:r>
          </a:p>
        </p:txBody>
      </p:sp>
      <p:sp>
        <p:nvSpPr>
          <p:cNvPr id="4" name="Rectangle 3"/>
          <p:cNvSpPr/>
          <p:nvPr/>
        </p:nvSpPr>
        <p:spPr>
          <a:xfrm>
            <a:off x="548640" y="3611880"/>
            <a:ext cx="201168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794760"/>
            <a:ext cx="10058400" cy="548640"/>
          </a:xfrm>
          <a:prstGeom prst="rect">
            <a:avLst/>
          </a:prstGeom>
          <a:noFill/>
        </p:spPr>
        <p:txBody>
          <a:bodyPr wrap="square" anchor="t" lIns="45720" rIns="45720">
            <a:spAutoFit/>
          </a:bodyPr>
          <a:lstStyle/>
          <a:p>
            <a:r>
              <a:rPr sz="2000" b="0" i="0">
                <a:solidFill>
                  <a:srgbClr val="2E2E2E"/>
                </a:solidFill>
                <a:latin typeface="Arial"/>
              </a:rPr>
              <a:t>BRD-6 Renewal business sign-off pack, release set v2.0</a:t>
            </a:r>
          </a:p>
        </p:txBody>
      </p:sp>
      <p:sp>
        <p:nvSpPr>
          <p:cNvPr id="6" name="TextBox 5"/>
          <p:cNvSpPr txBox="1"/>
          <p:nvPr/>
        </p:nvSpPr>
        <p:spPr>
          <a:xfrm>
            <a:off x="548640" y="4343400"/>
            <a:ext cx="10058400" cy="457200"/>
          </a:xfrm>
          <a:prstGeom prst="rect">
            <a:avLst/>
          </a:prstGeom>
          <a:noFill/>
        </p:spPr>
        <p:txBody>
          <a:bodyPr wrap="square" anchor="t" lIns="45720" rIns="45720">
            <a:spAutoFit/>
          </a:bodyPr>
          <a:lstStyle/>
          <a:p>
            <a:r>
              <a:rPr sz="1600" b="0" i="0">
                <a:solidFill>
                  <a:srgbClr val="656565"/>
                </a:solidFill>
                <a:latin typeface="Arial"/>
              </a:rPr>
              <a:t>BIBS – BDOI Broker System</a:t>
            </a:r>
          </a:p>
        </p:txBody>
      </p:sp>
      <p:sp>
        <p:nvSpPr>
          <p:cNvPr id="7" name="TextBox 6"/>
          <p:cNvSpPr txBox="1"/>
          <p:nvPr/>
        </p:nvSpPr>
        <p:spPr>
          <a:xfrm>
            <a:off x="548640" y="5943600"/>
            <a:ext cx="8229600" cy="365760"/>
          </a:xfrm>
          <a:prstGeom prst="rect">
            <a:avLst/>
          </a:prstGeom>
          <a:noFill/>
        </p:spPr>
        <p:txBody>
          <a:bodyPr wrap="square" anchor="t" lIns="45720" rIns="45720">
            <a:spAutoFit/>
          </a:bodyPr>
          <a:lstStyle/>
          <a:p>
            <a:r>
              <a:rPr sz="1100" b="0" i="0">
                <a:solidFill>
                  <a:srgbClr val="656565"/>
                </a:solidFill>
                <a:latin typeface="Arial"/>
              </a:rPr>
              <a:t>BDO Insurance and Reinsurance Brokers, Inc. | Version 2.0 | 8 October 2026 | Confidential</a:t>
            </a:r>
          </a:p>
        </p:txBody>
      </p:sp>
      <p:sp>
        <p:nvSpPr>
          <p:cNvPr id="8" name="TextBox 7"/>
          <p:cNvSpPr txBox="1"/>
          <p:nvPr/>
        </p:nvSpPr>
        <p:spPr>
          <a:xfrm>
            <a:off x="8351215" y="5897880"/>
            <a:ext cx="1828800" cy="365760"/>
          </a:xfrm>
          <a:prstGeom prst="rect">
            <a:avLst/>
          </a:prstGeom>
          <a:noFill/>
        </p:spPr>
        <p:txBody>
          <a:bodyPr wrap="square" anchor="ctr" lIns="45720" rIns="45720">
            <a:spAutoFit/>
          </a:bodyPr>
          <a:lstStyle/>
          <a:p>
            <a:pPr algn="r"/>
            <a:r>
              <a:rPr sz="1000" b="0" i="0">
                <a:solidFill>
                  <a:srgbClr val="656565"/>
                </a:solidFill>
                <a:latin typeface="Arial"/>
              </a:rPr>
              <a:t>Prepared by</a:t>
            </a:r>
          </a:p>
        </p:txBody>
      </p:sp>
      <p:pic>
        <p:nvPicPr>
          <p:cNvPr id="9" name="Picture 8" descr="iorta-technxt.png"/>
          <p:cNvPicPr>
            <a:picLocks noChangeAspect="1"/>
          </p:cNvPicPr>
          <p:nvPr/>
        </p:nvPicPr>
        <p:blipFill>
          <a:blip r:embed="rId3"/>
          <a:stretch>
            <a:fillRect/>
          </a:stretch>
        </p:blipFill>
        <p:spPr>
          <a:xfrm>
            <a:off x="10271455" y="5806440"/>
            <a:ext cx="1371600" cy="404213"/>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Purpose of the pack and what sign-off means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800">
                <a:solidFill>
                  <a:srgbClr val="004EA8"/>
                </a:solidFill>
                <a:latin typeface="Arial"/>
              </a:rPr>
              <a:t>•  </a:t>
            </a:r>
            <a:r>
              <a:rPr sz="1800">
                <a:solidFill>
                  <a:srgbClr val="4B4B4B"/>
                </a:solidFill>
                <a:latin typeface="Arial"/>
              </a:rPr>
              <a:t>The pack shows the proposed Renewal of BIBS, screen by screen, so each business unit confirms what it will get</a:t>
            </a:r>
          </a:p>
          <a:p>
            <a:pPr lvl="1">
              <a:spcAft>
                <a:spcPts val="600"/>
              </a:spcAft>
            </a:pPr>
            <a:r>
              <a:rPr sz="1600">
                <a:solidFill>
                  <a:srgbClr val="656565"/>
                </a:solidFill>
                <a:latin typeface="Arial"/>
              </a:rPr>
              <a:t>–  </a:t>
            </a:r>
            <a:r>
              <a:rPr sz="1600">
                <a:solidFill>
                  <a:srgbClr val="4B4B4B"/>
                </a:solidFill>
                <a:latin typeface="Arial"/>
              </a:rPr>
              <a:t>Content: 20 screens, 130 fields, 59 business rules, 151 messages</a:t>
            </a:r>
          </a:p>
          <a:p>
            <a:pPr lvl="1">
              <a:spcAft>
                <a:spcPts val="600"/>
              </a:spcAft>
            </a:pPr>
            <a:r>
              <a:rPr sz="1600">
                <a:solidFill>
                  <a:srgbClr val="656565"/>
                </a:solidFill>
                <a:latin typeface="Arial"/>
              </a:rPr>
              <a:t>–  </a:t>
            </a:r>
            <a:r>
              <a:rPr sz="1600">
                <a:solidFill>
                  <a:srgbClr val="4B4B4B"/>
                </a:solidFill>
                <a:latin typeface="Arial"/>
              </a:rPr>
              <a:t>Every screen with numbered fields, the navigation per persona, three end-to-end walkthroughs</a:t>
            </a:r>
          </a:p>
          <a:p>
            <a:pPr>
              <a:spcAft>
                <a:spcPts val="600"/>
              </a:spcAft>
            </a:pPr>
            <a:r>
              <a:rPr sz="1800">
                <a:solidFill>
                  <a:srgbClr val="004EA8"/>
                </a:solidFill>
                <a:latin typeface="Arial"/>
              </a:rPr>
              <a:t>•  </a:t>
            </a:r>
            <a:r>
              <a:rPr sz="1800">
                <a:solidFill>
                  <a:srgbClr val="4B4B4B"/>
                </a:solidFill>
                <a:latin typeface="Arial"/>
              </a:rPr>
              <a:t>Signing freezes the content, the screens and the navigation of the module</a:t>
            </a:r>
          </a:p>
          <a:p>
            <a:pPr lvl="1">
              <a:spcAft>
                <a:spcPts val="600"/>
              </a:spcAft>
            </a:pPr>
            <a:r>
              <a:rPr sz="1600">
                <a:solidFill>
                  <a:srgbClr val="656565"/>
                </a:solidFill>
                <a:latin typeface="Arial"/>
              </a:rPr>
              <a:t>–  </a:t>
            </a:r>
            <a:r>
              <a:rPr sz="1600">
                <a:solidFill>
                  <a:srgbClr val="4B4B4B"/>
                </a:solidFill>
                <a:latin typeface="Arial"/>
              </a:rPr>
              <a:t>After sign-off a change goes through the Change Management Register with its mandays</a:t>
            </a:r>
          </a:p>
          <a:p>
            <a:pPr lvl="1">
              <a:spcAft>
                <a:spcPts val="600"/>
              </a:spcAft>
            </a:pPr>
            <a:r>
              <a:rPr sz="1600">
                <a:solidFill>
                  <a:srgbClr val="656565"/>
                </a:solidFill>
                <a:latin typeface="Arial"/>
              </a:rPr>
              <a:t>–  </a:t>
            </a:r>
            <a:r>
              <a:rPr sz="1600">
                <a:solidFill>
                  <a:srgbClr val="4B4B4B"/>
                </a:solidFill>
                <a:latin typeface="Arial"/>
              </a:rPr>
              <a:t>Configuration values marked default (SLA hours, thresholds, list entries, templates) stay open</a:t>
            </a:r>
          </a:p>
          <a:p>
            <a:pPr>
              <a:spcAft>
                <a:spcPts val="600"/>
              </a:spcAft>
            </a:pPr>
            <a:r>
              <a:rPr sz="1800">
                <a:solidFill>
                  <a:srgbClr val="004EA8"/>
                </a:solidFill>
                <a:latin typeface="Arial"/>
              </a:rPr>
              <a:t>•  </a:t>
            </a:r>
            <a:r>
              <a:rPr sz="1800">
                <a:solidFill>
                  <a:srgbClr val="4B4B4B"/>
                </a:solidFill>
                <a:latin typeface="Arial"/>
              </a:rPr>
              <a:t>The screenshots use fictitious seed data only, in the BDO theme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The pack at a glance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a:t>
            </a:r>
          </a:p>
        </p:txBody>
      </p:sp>
      <p:graphicFrame>
        <p:nvGraphicFramePr>
          <p:cNvPr id="9" name="Table 8"/>
          <p:cNvGraphicFramePr>
            <a:graphicFrameLocks noGrp="1"/>
          </p:cNvGraphicFramePr>
          <p:nvPr/>
        </p:nvGraphicFramePr>
        <p:xfrm>
          <a:off x="548640" y="1371600"/>
          <a:ext cx="11094413" cy="2194560"/>
        </p:xfrm>
        <a:graphic>
          <a:graphicData uri="http://schemas.openxmlformats.org/drawingml/2006/table">
            <a:tbl>
              <a:tblPr firstRow="1" bandRow="1">
                <a:tableStyleId>{5C22544A-7EE6-4342-B048-85BDC9FD1C3A}</a:tableStyleId>
              </a:tblPr>
              <a:tblGrid>
                <a:gridCol w="3025749"/>
                <a:gridCol w="4370527"/>
                <a:gridCol w="2185263"/>
                <a:gridCol w="1512874"/>
              </a:tblGrid>
              <a:tr h="365760">
                <a:tc>
                  <a:txBody>
                    <a:bodyPr/>
                    <a:lstStyle/>
                    <a:p>
                      <a:r>
                        <a:rPr sz="1000" b="1">
                          <a:solidFill>
                            <a:srgbClr val="FFFFFF"/>
                          </a:solidFill>
                          <a:latin typeface="Arial"/>
                        </a:rPr>
                        <a:t>File</a:t>
                      </a:r>
                    </a:p>
                  </a:txBody>
                  <a:tcPr marL="73152" marR="73152" marT="36576" marB="36576">
                    <a:solidFill>
                      <a:srgbClr val="004EA8"/>
                    </a:solidFill>
                  </a:tcPr>
                </a:tc>
                <a:tc>
                  <a:txBody>
                    <a:bodyPr/>
                    <a:lstStyle/>
                    <a:p>
                      <a:r>
                        <a:rPr sz="1000" b="1">
                          <a:solidFill>
                            <a:srgbClr val="FFFFFF"/>
                          </a:solidFill>
                          <a:latin typeface="Arial"/>
                        </a:rPr>
                        <a:t>What it is for</a:t>
                      </a:r>
                    </a:p>
                  </a:txBody>
                  <a:tcPr marL="73152" marR="73152" marT="36576" marB="36576">
                    <a:solidFill>
                      <a:srgbClr val="004EA8"/>
                    </a:solidFill>
                  </a:tcPr>
                </a:tc>
                <a:tc>
                  <a:txBody>
                    <a:bodyPr/>
                    <a:lstStyle/>
                    <a:p>
                      <a:r>
                        <a:rPr sz="1000" b="1">
                          <a:solidFill>
                            <a:srgbClr val="FFFFFF"/>
                          </a:solidFill>
                          <a:latin typeface="Arial"/>
                        </a:rPr>
                        <a:t>Who reads it</a:t>
                      </a:r>
                    </a:p>
                  </a:txBody>
                  <a:tcPr marL="73152" marR="73152" marT="36576" marB="36576">
                    <a:solidFill>
                      <a:srgbClr val="004EA8"/>
                    </a:solidFill>
                  </a:tcPr>
                </a:tc>
                <a:tc>
                  <a:txBody>
                    <a:bodyPr/>
                    <a:lstStyle/>
                    <a:p>
                      <a:r>
                        <a:rPr sz="1000" b="1">
                          <a:solidFill>
                            <a:srgbClr val="FFFFFF"/>
                          </a:solidFill>
                          <a:latin typeface="Arial"/>
                        </a:rPr>
                        <a:t>When</a:t>
                      </a:r>
                    </a:p>
                  </a:txBody>
                  <a:tcPr marL="73152" marR="73152" marT="36576" marB="36576">
                    <a:solidFill>
                      <a:srgbClr val="004EA8"/>
                    </a:solidFill>
                  </a:tcPr>
                </a:tc>
              </a:tr>
              <a:tr h="365760">
                <a:tc>
                  <a:txBody>
                    <a:bodyPr/>
                    <a:lstStyle/>
                    <a:p>
                      <a:r>
                        <a:rPr sz="1000" b="0">
                          <a:solidFill>
                            <a:srgbClr val="4B4B4B"/>
                          </a:solidFill>
                          <a:latin typeface="Arial"/>
                        </a:rPr>
                        <a:t>00_BIBS_StartHere_BRD-06_Renewal_v2.0.docx</a:t>
                      </a:r>
                    </a:p>
                  </a:txBody>
                  <a:tcPr marL="73152" marR="73152" marT="36576" marB="36576">
                    <a:solidFill>
                      <a:srgbClr val="FFFFFF"/>
                    </a:solidFill>
                  </a:tcPr>
                </a:tc>
                <a:tc>
                  <a:txBody>
                    <a:bodyPr/>
                    <a:lstStyle/>
                    <a:p>
                      <a:r>
                        <a:rPr sz="1000" b="0">
                          <a:solidFill>
                            <a:srgbClr val="4B4B4B"/>
                          </a:solidFill>
                          <a:latin typeface="Arial"/>
                        </a:rPr>
                        <a:t>Start Here: the map of the pack, who reads what, the steps and the dates</a:t>
                      </a:r>
                    </a:p>
                  </a:txBody>
                  <a:tcPr marL="73152" marR="73152" marT="36576" marB="36576">
                    <a:solidFill>
                      <a:srgbClr val="FFFFFF"/>
                    </a:solidFill>
                  </a:tcPr>
                </a:tc>
                <a:tc>
                  <a:txBody>
                    <a:bodyPr/>
                    <a:lstStyle/>
                    <a:p>
                      <a:r>
                        <a:rPr sz="1000" b="0">
                          <a:solidFill>
                            <a:srgbClr val="4B4B4B"/>
                          </a:solidFill>
                          <a:latin typeface="Arial"/>
                        </a:rPr>
                        <a:t>Everyone</a:t>
                      </a:r>
                    </a:p>
                  </a:txBody>
                  <a:tcPr marL="73152" marR="73152" marT="36576" marB="36576">
                    <a:solidFill>
                      <a:srgbClr val="FFFFFF"/>
                    </a:solidFill>
                  </a:tcPr>
                </a:tc>
                <a:tc>
                  <a:txBody>
                    <a:bodyPr/>
                    <a:lstStyle/>
                    <a:p>
                      <a:r>
                        <a:rPr sz="1000" b="0">
                          <a:solidFill>
                            <a:srgbClr val="4B4B4B"/>
                          </a:solidFill>
                          <a:latin typeface="Arial"/>
                        </a:rPr>
                        <a:t>First, on issue</a:t>
                      </a:r>
                    </a:p>
                  </a:txBody>
                  <a:tcPr marL="73152" marR="73152" marT="36576" marB="36576">
                    <a:solidFill>
                      <a:srgbClr val="FFFFFF"/>
                    </a:solidFill>
                  </a:tcPr>
                </a:tc>
              </a:tr>
              <a:tr h="365760">
                <a:tc>
                  <a:txBody>
                    <a:bodyPr/>
                    <a:lstStyle/>
                    <a:p>
                      <a:r>
                        <a:rPr sz="1000" b="0">
                          <a:solidFill>
                            <a:srgbClr val="4B4B4B"/>
                          </a:solidFill>
                          <a:latin typeface="Arial"/>
                        </a:rPr>
                        <a:t>01_BIBS_GuideDeck_BRD-06_Renewal_v2.0.pptx</a:t>
                      </a:r>
                    </a:p>
                  </a:txBody>
                  <a:tcPr marL="73152" marR="73152" marT="36576" marB="36576">
                    <a:solidFill>
                      <a:srgbClr val="E5F5FF"/>
                    </a:solidFill>
                  </a:tcPr>
                </a:tc>
                <a:tc>
                  <a:txBody>
                    <a:bodyPr/>
                    <a:lstStyle/>
                    <a:p>
                      <a:r>
                        <a:rPr sz="1000" b="0">
                          <a:solidFill>
                            <a:srgbClr val="4B4B4B"/>
                          </a:solidFill>
                          <a:latin typeface="Arial"/>
                        </a:rPr>
                        <a:t>Sign-off Pack Guide: purpose, approach, the module at a glance, caveats and impacts on other modules, entry and exit criteria, change control</a:t>
                      </a:r>
                    </a:p>
                  </a:txBody>
                  <a:tcPr marL="73152" marR="73152" marT="36576" marB="36576">
                    <a:solidFill>
                      <a:srgbClr val="E5F5FF"/>
                    </a:solidFill>
                  </a:tcPr>
                </a:tc>
                <a:tc>
                  <a:txBody>
                    <a:bodyPr/>
                    <a:lstStyle/>
                    <a:p>
                      <a:r>
                        <a:rPr sz="1000" b="0">
                          <a:solidFill>
                            <a:srgbClr val="4B4B4B"/>
                          </a:solidFill>
                          <a:latin typeface="Arial"/>
                        </a:rPr>
                        <a:t>Product Owners, Marketing heads and the Combank / Corbank Unit Head; presented at the kick-off</a:t>
                      </a:r>
                    </a:p>
                  </a:txBody>
                  <a:tcPr marL="73152" marR="73152" marT="36576" marB="36576">
                    <a:solidFill>
                      <a:srgbClr val="E5F5FF"/>
                    </a:solidFill>
                  </a:tcPr>
                </a:tc>
                <a:tc>
                  <a:txBody>
                    <a:bodyPr/>
                    <a:lstStyle/>
                    <a:p>
                      <a:r>
                        <a:rPr sz="1000" b="0">
                          <a:solidFill>
                            <a:srgbClr val="4B4B4B"/>
                          </a:solidFill>
                          <a:latin typeface="Arial"/>
                        </a:rPr>
                        <a:t>Kick-off session</a:t>
                      </a:r>
                    </a:p>
                  </a:txBody>
                  <a:tcPr marL="73152" marR="73152" marT="36576" marB="36576">
                    <a:solidFill>
                      <a:srgbClr val="E5F5FF"/>
                    </a:solidFill>
                  </a:tcPr>
                </a:tc>
              </a:tr>
              <a:tr h="365760">
                <a:tc>
                  <a:txBody>
                    <a:bodyPr/>
                    <a:lstStyle/>
                    <a:p>
                      <a:r>
                        <a:rPr sz="1000" b="0">
                          <a:solidFill>
                            <a:srgbClr val="4B4B4B"/>
                          </a:solidFill>
                          <a:latin typeface="Arial"/>
                        </a:rPr>
                        <a:t>02_BIBS_FRS_BRD-06_Renewal_v2.0.docx</a:t>
                      </a:r>
                    </a:p>
                  </a:txBody>
                  <a:tcPr marL="73152" marR="73152" marT="36576" marB="36576">
                    <a:solidFill>
                      <a:srgbClr val="FFFFFF"/>
                    </a:solidFill>
                  </a:tcPr>
                </a:tc>
                <a:tc>
                  <a:txBody>
                    <a:bodyPr/>
                    <a:lstStyle/>
                    <a:p>
                      <a:r>
                        <a:rPr sz="1000" b="0">
                          <a:solidFill>
                            <a:srgbClr val="4B4B4B"/>
                          </a:solidFill>
                          <a:latin typeface="Arial"/>
                        </a:rPr>
                        <a:t>Functional Requirements Specification v2.0: requirements, navigation, 20 screen specifications with screenshots, five walkthroughs, messages, notifications, documents, uploads, cross-BRD contract</a:t>
                      </a:r>
                    </a:p>
                  </a:txBody>
                  <a:tcPr marL="73152" marR="73152" marT="36576" marB="36576">
                    <a:solidFill>
                      <a:srgbClr val="FFFFFF"/>
                    </a:solidFill>
                  </a:tcPr>
                </a:tc>
                <a:tc>
                  <a:txBody>
                    <a:bodyPr/>
                    <a:lstStyle/>
                    <a:p>
                      <a:r>
                        <a:rPr sz="1000" b="0">
                          <a:solidFill>
                            <a:srgbClr val="4B4B4B"/>
                          </a:solidFill>
                          <a:latin typeface="Arial"/>
                        </a:rPr>
                        <a:t>Marketing Team Leaders and Account Officers, Processing Team Leaders and Officers, MBS; Contact Center, LAMD and BDOI IT for their chapters</a:t>
                      </a:r>
                    </a:p>
                  </a:txBody>
                  <a:tcPr marL="73152" marR="73152" marT="36576" marB="36576">
                    <a:solidFill>
                      <a:srgbClr val="FFFFFF"/>
                    </a:solidFill>
                  </a:tcPr>
                </a:tc>
                <a:tc>
                  <a:txBody>
                    <a:bodyPr/>
                    <a:lstStyle/>
                    <a:p>
                      <a:r>
                        <a:rPr sz="1000" b="0">
                          <a:solidFill>
                            <a:srgbClr val="4B4B4B"/>
                          </a:solidFill>
                          <a:latin typeface="Arial"/>
                        </a:rPr>
                        <a:t>During the review, with the SIT walkthroughs</a:t>
                      </a:r>
                    </a:p>
                  </a:txBody>
                  <a:tcPr marL="73152" marR="73152" marT="36576" marB="36576">
                    <a:solidFill>
                      <a:srgbClr val="FFFFFF"/>
                    </a:solidFill>
                  </a:tcPr>
                </a:tc>
              </a:tr>
              <a:tr h="365760">
                <a:tc>
                  <a:txBody>
                    <a:bodyPr/>
                    <a:lstStyle/>
                    <a:p>
                      <a:r>
                        <a:rPr sz="1000" b="0">
                          <a:solidFill>
                            <a:srgbClr val="4B4B4B"/>
                          </a:solidFill>
                          <a:latin typeface="Arial"/>
                        </a:rPr>
                        <a:t>03_BIBS_Signoff_BRD-06_Renewal_v2.0.xlsx</a:t>
                      </a:r>
                    </a:p>
                  </a:txBody>
                  <a:tcPr marL="73152" marR="73152" marT="36576" marB="36576">
                    <a:solidFill>
                      <a:srgbClr val="E5F5FF"/>
                    </a:solidFill>
                  </a:tcPr>
                </a:tc>
                <a:tc>
                  <a:txBody>
                    <a:bodyPr/>
                    <a:lstStyle/>
                    <a:p>
                      <a:r>
                        <a:rPr sz="1000" b="0">
                          <a:solidFill>
                            <a:srgbClr val="4B4B4B"/>
                          </a:solidFill>
                          <a:latin typeface="Arial"/>
                        </a:rPr>
                        <a:t>Sign-off workbook: one row per screen, field, rule and message with the BU review columns; comments log, meeting minutes, version history, sign-off certificate</a:t>
                      </a:r>
                    </a:p>
                  </a:txBody>
                  <a:tcPr marL="73152" marR="73152" marT="36576" marB="36576">
                    <a:solidFill>
                      <a:srgbClr val="E5F5FF"/>
                    </a:solidFill>
                  </a:tcPr>
                </a:tc>
                <a:tc>
                  <a:txBody>
                    <a:bodyPr/>
                    <a:lstStyle/>
                    <a:p>
                      <a:r>
                        <a:rPr sz="1000" b="0">
                          <a:solidFill>
                            <a:srgbClr val="4B4B4B"/>
                          </a:solidFill>
                          <a:latin typeface="Arial"/>
                        </a:rPr>
                        <a:t>Every reviewer; the business owner signs it</a:t>
                      </a:r>
                    </a:p>
                  </a:txBody>
                  <a:tcPr marL="73152" marR="73152" marT="36576" marB="36576">
                    <a:solidFill>
                      <a:srgbClr val="E5F5FF"/>
                    </a:solidFill>
                  </a:tcPr>
                </a:tc>
                <a:tc>
                  <a:txBody>
                    <a:bodyPr/>
                    <a:lstStyle/>
                    <a:p>
                      <a:r>
                        <a:rPr sz="1000" b="0">
                          <a:solidFill>
                            <a:srgbClr val="4B4B4B"/>
                          </a:solidFill>
                          <a:latin typeface="Arial"/>
                        </a:rPr>
                        <a:t>During the review and at sign-off</a:t>
                      </a:r>
                    </a:p>
                  </a:txBody>
                  <a:tcPr marL="73152" marR="73152" marT="36576" marB="36576">
                    <a:solidFill>
                      <a:srgbClr val="E5F5FF"/>
                    </a:solidFill>
                  </a:tcPr>
                </a:tc>
              </a:tr>
              <a:tr h="365760">
                <a:tc>
                  <a:txBody>
                    <a:bodyPr/>
                    <a:lstStyle/>
                    <a:p>
                      <a:r>
                        <a:rPr sz="1000" b="0">
                          <a:solidFill>
                            <a:srgbClr val="4B4B4B"/>
                          </a:solidFill>
                          <a:latin typeface="Arial"/>
                        </a:rPr>
                        <a:t>04_BIBS_TestPlan_BRD-06_Renewal_v2.0.xlsx</a:t>
                      </a:r>
                    </a:p>
                  </a:txBody>
                  <a:tcPr marL="73152" marR="73152" marT="36576" marB="36576">
                    <a:solidFill>
                      <a:srgbClr val="FFFFFF"/>
                    </a:solidFill>
                  </a:tcPr>
                </a:tc>
                <a:tc>
                  <a:txBody>
                    <a:bodyPr/>
                    <a:lstStyle/>
                    <a:p>
                      <a:r>
                        <a:rPr sz="1000" b="0">
                          <a:solidFill>
                            <a:srgbClr val="4B4B4B"/>
                          </a:solidFill>
                          <a:latin typeface="Arial"/>
                        </a:rPr>
                        <a:t>Test plan workbook: the test cases traced to the FRs and to the screens, including one screen case and one message case per screen</a:t>
                      </a:r>
                    </a:p>
                  </a:txBody>
                  <a:tcPr marL="73152" marR="73152" marT="36576" marB="36576">
                    <a:solidFill>
                      <a:srgbClr val="FFFFFF"/>
                    </a:solidFill>
                  </a:tcPr>
                </a:tc>
                <a:tc>
                  <a:txBody>
                    <a:bodyPr/>
                    <a:lstStyle/>
                    <a:p>
                      <a:r>
                        <a:rPr sz="1000" b="0">
                          <a:solidFill>
                            <a:srgbClr val="4B4B4B"/>
                          </a:solidFill>
                          <a:latin typeface="Arial"/>
                        </a:rPr>
                        <a:t>Business users who will run UAT; BDOI IT</a:t>
                      </a:r>
                    </a:p>
                  </a:txBody>
                  <a:tcPr marL="73152" marR="73152" marT="36576" marB="36576">
                    <a:solidFill>
                      <a:srgbClr val="FFFFFF"/>
                    </a:solidFill>
                  </a:tcPr>
                </a:tc>
                <a:tc>
                  <a:txBody>
                    <a:bodyPr/>
                    <a:lstStyle/>
                    <a:p>
                      <a:r>
                        <a:rPr sz="1000" b="0">
                          <a:solidFill>
                            <a:srgbClr val="4B4B4B"/>
                          </a:solidFill>
                          <a:latin typeface="Arial"/>
                        </a:rPr>
                        <a:t>After the screens; used again in SIT and UAT</a:t>
                      </a:r>
                    </a:p>
                  </a:txBody>
                  <a:tcPr marL="73152" marR="73152" marT="36576" marB="36576">
                    <a:solidFill>
                      <a:srgbClr val="FFFFFF"/>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The pack at a glance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a:t>
            </a:r>
          </a:p>
        </p:txBody>
      </p:sp>
      <p:graphicFrame>
        <p:nvGraphicFramePr>
          <p:cNvPr id="9" name="Table 8"/>
          <p:cNvGraphicFramePr>
            <a:graphicFrameLocks noGrp="1"/>
          </p:cNvGraphicFramePr>
          <p:nvPr/>
        </p:nvGraphicFramePr>
        <p:xfrm>
          <a:off x="548640" y="1371600"/>
          <a:ext cx="11094413" cy="1828800"/>
        </p:xfrm>
        <a:graphic>
          <a:graphicData uri="http://schemas.openxmlformats.org/drawingml/2006/table">
            <a:tbl>
              <a:tblPr firstRow="1" bandRow="1">
                <a:tableStyleId>{5C22544A-7EE6-4342-B048-85BDC9FD1C3A}</a:tableStyleId>
              </a:tblPr>
              <a:tblGrid>
                <a:gridCol w="3025749"/>
                <a:gridCol w="4370527"/>
                <a:gridCol w="2185263"/>
                <a:gridCol w="1512874"/>
              </a:tblGrid>
              <a:tr h="365760">
                <a:tc>
                  <a:txBody>
                    <a:bodyPr/>
                    <a:lstStyle/>
                    <a:p>
                      <a:r>
                        <a:rPr sz="1000" b="1">
                          <a:solidFill>
                            <a:srgbClr val="FFFFFF"/>
                          </a:solidFill>
                          <a:latin typeface="Arial"/>
                        </a:rPr>
                        <a:t>File</a:t>
                      </a:r>
                    </a:p>
                  </a:txBody>
                  <a:tcPr marL="73152" marR="73152" marT="36576" marB="36576">
                    <a:solidFill>
                      <a:srgbClr val="004EA8"/>
                    </a:solidFill>
                  </a:tcPr>
                </a:tc>
                <a:tc>
                  <a:txBody>
                    <a:bodyPr/>
                    <a:lstStyle/>
                    <a:p>
                      <a:r>
                        <a:rPr sz="1000" b="1">
                          <a:solidFill>
                            <a:srgbClr val="FFFFFF"/>
                          </a:solidFill>
                          <a:latin typeface="Arial"/>
                        </a:rPr>
                        <a:t>What it is for</a:t>
                      </a:r>
                    </a:p>
                  </a:txBody>
                  <a:tcPr marL="73152" marR="73152" marT="36576" marB="36576">
                    <a:solidFill>
                      <a:srgbClr val="004EA8"/>
                    </a:solidFill>
                  </a:tcPr>
                </a:tc>
                <a:tc>
                  <a:txBody>
                    <a:bodyPr/>
                    <a:lstStyle/>
                    <a:p>
                      <a:r>
                        <a:rPr sz="1000" b="1">
                          <a:solidFill>
                            <a:srgbClr val="FFFFFF"/>
                          </a:solidFill>
                          <a:latin typeface="Arial"/>
                        </a:rPr>
                        <a:t>Who reads it</a:t>
                      </a:r>
                    </a:p>
                  </a:txBody>
                  <a:tcPr marL="73152" marR="73152" marT="36576" marB="36576">
                    <a:solidFill>
                      <a:srgbClr val="004EA8"/>
                    </a:solidFill>
                  </a:tcPr>
                </a:tc>
                <a:tc>
                  <a:txBody>
                    <a:bodyPr/>
                    <a:lstStyle/>
                    <a:p>
                      <a:r>
                        <a:rPr sz="1000" b="1">
                          <a:solidFill>
                            <a:srgbClr val="FFFFFF"/>
                          </a:solidFill>
                          <a:latin typeface="Arial"/>
                        </a:rPr>
                        <a:t>When</a:t>
                      </a:r>
                    </a:p>
                  </a:txBody>
                  <a:tcPr marL="73152" marR="73152" marT="36576" marB="36576">
                    <a:solidFill>
                      <a:srgbClr val="004EA8"/>
                    </a:solidFill>
                  </a:tcPr>
                </a:tc>
              </a:tr>
              <a:tr h="365760">
                <a:tc>
                  <a:txBody>
                    <a:bodyPr/>
                    <a:lstStyle/>
                    <a:p>
                      <a:r>
                        <a:rPr sz="1000" b="0">
                          <a:solidFill>
                            <a:srgbClr val="4B4B4B"/>
                          </a:solidFill>
                          <a:latin typeface="Arial"/>
                        </a:rPr>
                        <a:t>05_BIBS_TestPlan_BRD-06_Renewal_Summary_v2.0.docx</a:t>
                      </a:r>
                    </a:p>
                  </a:txBody>
                  <a:tcPr marL="73152" marR="73152" marT="36576" marB="36576">
                    <a:solidFill>
                      <a:srgbClr val="FFFFFF"/>
                    </a:solidFill>
                  </a:tcPr>
                </a:tc>
                <a:tc>
                  <a:txBody>
                    <a:bodyPr/>
                    <a:lstStyle/>
                    <a:p>
                      <a:r>
                        <a:rPr sz="1000" b="0">
                          <a:solidFill>
                            <a:srgbClr val="4B4B4B"/>
                          </a:solidFill>
                          <a:latin typeface="Arial"/>
                        </a:rPr>
                        <a:t>Test plan summary: scope, approach, coverage and the cases by area</a:t>
                      </a:r>
                    </a:p>
                  </a:txBody>
                  <a:tcPr marL="73152" marR="73152" marT="36576" marB="36576">
                    <a:solidFill>
                      <a:srgbClr val="FFFFFF"/>
                    </a:solidFill>
                  </a:tcPr>
                </a:tc>
                <a:tc>
                  <a:txBody>
                    <a:bodyPr/>
                    <a:lstStyle/>
                    <a:p>
                      <a:r>
                        <a:rPr sz="1000" b="0">
                          <a:solidFill>
                            <a:srgbClr val="4B4B4B"/>
                          </a:solidFill>
                          <a:latin typeface="Arial"/>
                        </a:rPr>
                        <a:t>Business owner, BDOI IT</a:t>
                      </a:r>
                    </a:p>
                  </a:txBody>
                  <a:tcPr marL="73152" marR="73152" marT="36576" marB="36576">
                    <a:solidFill>
                      <a:srgbClr val="FFFFFF"/>
                    </a:solidFill>
                  </a:tcPr>
                </a:tc>
                <a:tc>
                  <a:txBody>
                    <a:bodyPr/>
                    <a:lstStyle/>
                    <a:p>
                      <a:r>
                        <a:rPr sz="1000" b="0">
                          <a:solidFill>
                            <a:srgbClr val="4B4B4B"/>
                          </a:solidFill>
                          <a:latin typeface="Arial"/>
                        </a:rPr>
                        <a:t>Before sign-off</a:t>
                      </a:r>
                    </a:p>
                  </a:txBody>
                  <a:tcPr marL="73152" marR="73152" marT="36576" marB="36576">
                    <a:solidFill>
                      <a:srgbClr val="FFFFFF"/>
                    </a:solidFill>
                  </a:tcPr>
                </a:tc>
              </a:tr>
              <a:tr h="365760">
                <a:tc>
                  <a:txBody>
                    <a:bodyPr/>
                    <a:lstStyle/>
                    <a:p>
                      <a:r>
                        <a:rPr sz="1000" b="0">
                          <a:solidFill>
                            <a:srgbClr val="4B4B4B"/>
                          </a:solidFill>
                          <a:latin typeface="Arial"/>
                        </a:rPr>
                        <a:t>07_BIBS_UXDeck_BRD-06_Renewal_v2.0.pptx</a:t>
                      </a:r>
                    </a:p>
                  </a:txBody>
                  <a:tcPr marL="73152" marR="73152" marT="36576" marB="36576">
                    <a:solidFill>
                      <a:srgbClr val="E5F5FF"/>
                    </a:solidFill>
                  </a:tcPr>
                </a:tc>
                <a:tc>
                  <a:txBody>
                    <a:bodyPr/>
                    <a:lstStyle/>
                    <a:p>
                      <a:r>
                        <a:rPr sz="1000" b="0">
                          <a:solidFill>
                            <a:srgbClr val="4B4B4B"/>
                          </a:solidFill>
                          <a:latin typeface="Arial"/>
                        </a:rPr>
                        <a:t>UX Screen Deck for the BDOI UX Design team: design foundation, navigation and personas, every walkthrough step by step and every screen with all its states</a:t>
                      </a:r>
                    </a:p>
                  </a:txBody>
                  <a:tcPr marL="73152" marR="73152" marT="36576" marB="36576">
                    <a:solidFill>
                      <a:srgbClr val="E5F5FF"/>
                    </a:solidFill>
                  </a:tcPr>
                </a:tc>
                <a:tc>
                  <a:txBody>
                    <a:bodyPr/>
                    <a:lstStyle/>
                    <a:p>
                      <a:r>
                        <a:rPr sz="1000" b="0">
                          <a:solidFill>
                            <a:srgbClr val="4B4B4B"/>
                          </a:solidFill>
                          <a:latin typeface="Arial"/>
                        </a:rPr>
                        <a:t>BDOI UX Design team</a:t>
                      </a:r>
                    </a:p>
                  </a:txBody>
                  <a:tcPr marL="73152" marR="73152" marT="36576" marB="36576">
                    <a:solidFill>
                      <a:srgbClr val="E5F5FF"/>
                    </a:solidFill>
                  </a:tcPr>
                </a:tc>
                <a:tc>
                  <a:txBody>
                    <a:bodyPr/>
                    <a:lstStyle/>
                    <a:p>
                      <a:r>
                        <a:rPr sz="1000" b="0">
                          <a:solidFill>
                            <a:srgbClr val="4B4B4B"/>
                          </a:solidFill>
                          <a:latin typeface="Arial"/>
                        </a:rPr>
                        <a:t>From the issue, in parallel with the review; re-issued with each version of the set</a:t>
                      </a:r>
                    </a:p>
                  </a:txBody>
                  <a:tcPr marL="73152" marR="73152" marT="36576" marB="36576">
                    <a:solidFill>
                      <a:srgbClr val="E5F5FF"/>
                    </a:solidFill>
                  </a:tcPr>
                </a:tc>
              </a:tr>
              <a:tr h="365760">
                <a:tc>
                  <a:txBody>
                    <a:bodyPr/>
                    <a:lstStyle/>
                    <a:p>
                      <a:r>
                        <a:rPr sz="1000" b="0">
                          <a:solidFill>
                            <a:srgbClr val="4B4B4B"/>
                          </a:solidFill>
                          <a:latin typeface="Arial"/>
                        </a:rPr>
                        <a:t>08_BIBS_UXScreens_BRD-06_Renewal_v2.0.xlsx</a:t>
                      </a:r>
                    </a:p>
                  </a:txBody>
                  <a:tcPr marL="73152" marR="73152" marT="36576" marB="36576">
                    <a:solidFill>
                      <a:srgbClr val="FFFFFF"/>
                    </a:solidFill>
                  </a:tcPr>
                </a:tc>
                <a:tc>
                  <a:txBody>
                    <a:bodyPr/>
                    <a:lstStyle/>
                    <a:p>
                      <a:r>
                        <a:rPr sz="1000" b="0">
                          <a:solidFill>
                            <a:srgbClr val="4B4B4B"/>
                          </a:solidFill>
                          <a:latin typeface="Arial"/>
                        </a:rPr>
                        <a:t>UX screen register: one row per screen image with the screen, personas, walkthrough and step, state, FRS section and requirements, UXD status and comments, and the Changed in this issue flag</a:t>
                      </a:r>
                    </a:p>
                  </a:txBody>
                  <a:tcPr marL="73152" marR="73152" marT="36576" marB="36576">
                    <a:solidFill>
                      <a:srgbClr val="FFFFFF"/>
                    </a:solidFill>
                  </a:tcPr>
                </a:tc>
                <a:tc>
                  <a:txBody>
                    <a:bodyPr/>
                    <a:lstStyle/>
                    <a:p>
                      <a:r>
                        <a:rPr sz="1000" b="0">
                          <a:solidFill>
                            <a:srgbClr val="4B4B4B"/>
                          </a:solidFill>
                          <a:latin typeface="Arial"/>
                        </a:rPr>
                        <a:t>BDOI UX Design team</a:t>
                      </a:r>
                    </a:p>
                  </a:txBody>
                  <a:tcPr marL="73152" marR="73152" marT="36576" marB="36576">
                    <a:solidFill>
                      <a:srgbClr val="FFFFFF"/>
                    </a:solidFill>
                  </a:tcPr>
                </a:tc>
                <a:tc>
                  <a:txBody>
                    <a:bodyPr/>
                    <a:lstStyle/>
                    <a:p>
                      <a:r>
                        <a:rPr sz="1000" b="0">
                          <a:solidFill>
                            <a:srgbClr val="4B4B4B"/>
                          </a:solidFill>
                          <a:latin typeface="Arial"/>
                        </a:rPr>
                        <a:t>Kept by the UX Design team; the changed rows are flagged at each issue</a:t>
                      </a:r>
                    </a:p>
                  </a:txBody>
                  <a:tcPr marL="73152" marR="73152" marT="36576" marB="36576">
                    <a:solidFill>
                      <a:srgbClr val="FFFFFF"/>
                    </a:solidFill>
                  </a:tcPr>
                </a:tc>
              </a:tr>
              <a:tr h="365760">
                <a:tc>
                  <a:txBody>
                    <a:bodyPr/>
                    <a:lstStyle/>
                    <a:p>
                      <a:r>
                        <a:rPr sz="1000" b="0">
                          <a:solidFill>
                            <a:srgbClr val="4B4B4B"/>
                          </a:solidFill>
                          <a:latin typeface="Arial"/>
                        </a:rPr>
                        <a:t>09_BIBS_UXScreens_BRD-06_Renewal_v2.0.zip</a:t>
                      </a:r>
                    </a:p>
                  </a:txBody>
                  <a:tcPr marL="73152" marR="73152" marT="36576" marB="36576">
                    <a:solidFill>
                      <a:srgbClr val="E5F5FF"/>
                    </a:solidFill>
                  </a:tcPr>
                </a:tc>
                <a:tc>
                  <a:txBody>
                    <a:bodyPr/>
                    <a:lstStyle/>
                    <a:p>
                      <a:r>
                        <a:rPr sz="1000" b="0">
                          <a:solidFill>
                            <a:srgbClr val="4B4B4B"/>
                          </a:solidFill>
                          <a:latin typeface="Arial"/>
                        </a:rPr>
                        <a:t>Image package: every screen image at twice the screen resolution (PNG), the component crops and the register as CSV</a:t>
                      </a:r>
                    </a:p>
                  </a:txBody>
                  <a:tcPr marL="73152" marR="73152" marT="36576" marB="36576">
                    <a:solidFill>
                      <a:srgbClr val="E5F5FF"/>
                    </a:solidFill>
                  </a:tcPr>
                </a:tc>
                <a:tc>
                  <a:txBody>
                    <a:bodyPr/>
                    <a:lstStyle/>
                    <a:p>
                      <a:r>
                        <a:rPr sz="1000" b="0">
                          <a:solidFill>
                            <a:srgbClr val="4B4B4B"/>
                          </a:solidFill>
                          <a:latin typeface="Arial"/>
                        </a:rPr>
                        <a:t>BDOI UX Design team</a:t>
                      </a:r>
                    </a:p>
                  </a:txBody>
                  <a:tcPr marL="73152" marR="73152" marT="36576" marB="36576">
                    <a:solidFill>
                      <a:srgbClr val="E5F5FF"/>
                    </a:solidFill>
                  </a:tcPr>
                </a:tc>
                <a:tc>
                  <a:txBody>
                    <a:bodyPr/>
                    <a:lstStyle/>
                    <a:p>
                      <a:r>
                        <a:rPr sz="1000" b="0">
                          <a:solidFill>
                            <a:srgbClr val="4B4B4B"/>
                          </a:solidFill>
                          <a:latin typeface="Arial"/>
                        </a:rPr>
                        <a:t>Imported into the design tool at each issue</a:t>
                      </a:r>
                    </a:p>
                  </a:txBody>
                  <a:tcPr marL="73152" marR="73152" marT="36576" marB="36576">
                    <a:solidFill>
                      <a:srgbClr val="E5F5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Where to start: reading order per role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a:t>
            </a:r>
          </a:p>
        </p:txBody>
      </p:sp>
      <p:graphicFrame>
        <p:nvGraphicFramePr>
          <p:cNvPr id="9" name="Table 8"/>
          <p:cNvGraphicFramePr>
            <a:graphicFrameLocks noGrp="1"/>
          </p:cNvGraphicFramePr>
          <p:nvPr/>
        </p:nvGraphicFramePr>
        <p:xfrm>
          <a:off x="548640" y="1371600"/>
          <a:ext cx="11094414" cy="3657600"/>
        </p:xfrm>
        <a:graphic>
          <a:graphicData uri="http://schemas.openxmlformats.org/drawingml/2006/table">
            <a:tbl>
              <a:tblPr firstRow="1" bandRow="1">
                <a:tableStyleId>{5C22544A-7EE6-4342-B048-85BDC9FD1C3A}</a:tableStyleId>
              </a:tblPr>
              <a:tblGrid>
                <a:gridCol w="2383923"/>
                <a:gridCol w="8710491"/>
              </a:tblGrid>
              <a:tr h="365760">
                <a:tc>
                  <a:txBody>
                    <a:bodyPr/>
                    <a:lstStyle/>
                    <a:p>
                      <a:r>
                        <a:rPr sz="1100" b="1">
                          <a:solidFill>
                            <a:srgbClr val="FFFFFF"/>
                          </a:solidFill>
                          <a:latin typeface="Arial"/>
                        </a:rPr>
                        <a:t>Role</a:t>
                      </a:r>
                    </a:p>
                  </a:txBody>
                  <a:tcPr marL="73152" marR="73152" marT="36576" marB="36576">
                    <a:solidFill>
                      <a:srgbClr val="004EA8"/>
                    </a:solidFill>
                  </a:tcPr>
                </a:tc>
                <a:tc>
                  <a:txBody>
                    <a:bodyPr/>
                    <a:lstStyle/>
                    <a:p>
                      <a:r>
                        <a:rPr sz="1100" b="1">
                          <a:solidFill>
                            <a:srgbClr val="FFFFFF"/>
                          </a:solidFill>
                          <a:latin typeface="Arial"/>
                        </a:rPr>
                        <a:t>Read, in this order</a:t>
                      </a:r>
                    </a:p>
                  </a:txBody>
                  <a:tcPr marL="73152" marR="73152" marT="36576" marB="36576">
                    <a:solidFill>
                      <a:srgbClr val="004EA8"/>
                    </a:solidFill>
                  </a:tcPr>
                </a:tc>
              </a:tr>
              <a:tr h="365760">
                <a:tc>
                  <a:txBody>
                    <a:bodyPr/>
                    <a:lstStyle/>
                    <a:p>
                      <a:r>
                        <a:rPr sz="1100" b="0">
                          <a:solidFill>
                            <a:srgbClr val="4B4B4B"/>
                          </a:solidFill>
                          <a:latin typeface="Arial"/>
                        </a:rPr>
                        <a:t>Business owner (Product Owners; Marketing heads; Combank / Corbank Unit Head)</a:t>
                      </a:r>
                    </a:p>
                  </a:txBody>
                  <a:tcPr marL="73152" marR="73152" marT="36576" marB="36576">
                    <a:solidFill>
                      <a:srgbClr val="FFFFFF"/>
                    </a:solidFill>
                  </a:tcPr>
                </a:tc>
                <a:tc>
                  <a:txBody>
                    <a:bodyPr/>
                    <a:lstStyle/>
                    <a:p>
                      <a:r>
                        <a:rPr sz="1100" b="0">
                          <a:solidFill>
                            <a:srgbClr val="4B4B4B"/>
                          </a:solidFill>
                          <a:latin typeface="Arial"/>
                        </a:rPr>
                        <a:t>00 Start Here; 01 Guide deck; FRS chapters 1-3 (context and personas), 14 (walkthroughs), 20 (sign-off) and 21 (proposed rules for confirmation); workbook Sign-off certificate</a:t>
                      </a:r>
                    </a:p>
                  </a:txBody>
                  <a:tcPr marL="73152" marR="73152" marT="36576" marB="36576">
                    <a:solidFill>
                      <a:srgbClr val="FFFFFF"/>
                    </a:solidFill>
                  </a:tcPr>
                </a:tc>
              </a:tr>
              <a:tr h="365760">
                <a:tc>
                  <a:txBody>
                    <a:bodyPr/>
                    <a:lstStyle/>
                    <a:p>
                      <a:r>
                        <a:rPr sz="1100" b="0">
                          <a:solidFill>
                            <a:srgbClr val="4B4B4B"/>
                          </a:solidFill>
                          <a:latin typeface="Arial"/>
                        </a:rPr>
                        <a:t>Marketing Team Leaders</a:t>
                      </a:r>
                    </a:p>
                  </a:txBody>
                  <a:tcPr marL="73152" marR="73152" marT="36576" marB="36576">
                    <a:solidFill>
                      <a:srgbClr val="E5F5FF"/>
                    </a:solidFill>
                  </a:tcPr>
                </a:tc>
                <a:tc>
                  <a:txBody>
                    <a:bodyPr/>
                    <a:lstStyle/>
                    <a:p>
                      <a:r>
                        <a:rPr sz="1100" b="0">
                          <a:solidFill>
                            <a:srgbClr val="4B4B4B"/>
                          </a:solidFill>
                          <a:latin typeface="Arial"/>
                        </a:rPr>
                        <a:t>FRS sections 4.2 to 4.6; Expiry List, TL Review and Transfers (SCR-RN-02, 08, 09); walkthroughs A, D and E; messages in chapter 15</a:t>
                      </a:r>
                    </a:p>
                  </a:txBody>
                  <a:tcPr marL="73152" marR="73152" marT="36576" marB="36576">
                    <a:solidFill>
                      <a:srgbClr val="E5F5FF"/>
                    </a:solidFill>
                  </a:tcPr>
                </a:tc>
              </a:tr>
              <a:tr h="365760">
                <a:tc>
                  <a:txBody>
                    <a:bodyPr/>
                    <a:lstStyle/>
                    <a:p>
                      <a:r>
                        <a:rPr sz="1100" b="0">
                          <a:solidFill>
                            <a:srgbClr val="4B4B4B"/>
                          </a:solidFill>
                          <a:latin typeface="Arial"/>
                        </a:rPr>
                        <a:t>Marketing Account Officers (Account Brokers)</a:t>
                      </a:r>
                    </a:p>
                  </a:txBody>
                  <a:tcPr marL="73152" marR="73152" marT="36576" marB="36576">
                    <a:solidFill>
                      <a:srgbClr val="FFFFFF"/>
                    </a:solidFill>
                  </a:tcPr>
                </a:tc>
                <a:tc>
                  <a:txBody>
                    <a:bodyPr/>
                    <a:lstStyle/>
                    <a:p>
                      <a:r>
                        <a:rPr sz="1100" b="0">
                          <a:solidFill>
                            <a:srgbClr val="4B4B4B"/>
                          </a:solidFill>
                          <a:latin typeface="Arial"/>
                        </a:rPr>
                        <a:t>My Dispositions, the renewal and its tabs, Set Disposition (SCR-RN-03 to 07); Letters and Record Acceptance (SCR-RN-13, 14); walkthroughs A, B and D</a:t>
                      </a:r>
                    </a:p>
                  </a:txBody>
                  <a:tcPr marL="73152" marR="73152" marT="36576" marB="36576">
                    <a:solidFill>
                      <a:srgbClr val="FFFFFF"/>
                    </a:solidFill>
                  </a:tcPr>
                </a:tc>
              </a:tr>
              <a:tr h="365760">
                <a:tc>
                  <a:txBody>
                    <a:bodyPr/>
                    <a:lstStyle/>
                    <a:p>
                      <a:r>
                        <a:rPr sz="1100" b="0">
                          <a:solidFill>
                            <a:srgbClr val="4B4B4B"/>
                          </a:solidFill>
                          <a:latin typeface="Arial"/>
                        </a:rPr>
                        <a:t>Processing Team Leaders and Processing Officers</a:t>
                      </a:r>
                    </a:p>
                  </a:txBody>
                  <a:tcPr marL="73152" marR="73152" marT="36576" marB="36576">
                    <a:solidFill>
                      <a:srgbClr val="E5F5FF"/>
                    </a:solidFill>
                  </a:tcPr>
                </a:tc>
                <a:tc>
                  <a:txBody>
                    <a:bodyPr/>
                    <a:lstStyle/>
                    <a:p>
                      <a:r>
                        <a:rPr sz="1100" b="0">
                          <a:solidFill>
                            <a:srgbClr val="4B4B4B"/>
                          </a:solidFill>
                          <a:latin typeface="Arial"/>
                        </a:rPr>
                        <a:t>FRS sections 4.7 and 4.8; Processing Worklist, Insurer Batches and Record Insurer Response (SCR-RN-10 to 12); Package Map and Go-live (SCR-RN-19, 20); walkthrough B; the insurer extract DO-03 in chapter 17</a:t>
                      </a:r>
                    </a:p>
                  </a:txBody>
                  <a:tcPr marL="73152" marR="73152" marT="36576" marB="36576">
                    <a:solidFill>
                      <a:srgbClr val="E5F5FF"/>
                    </a:solidFill>
                  </a:tcPr>
                </a:tc>
              </a:tr>
              <a:tr h="365760">
                <a:tc>
                  <a:txBody>
                    <a:bodyPr/>
                    <a:lstStyle/>
                    <a:p>
                      <a:r>
                        <a:rPr sz="1100" b="0">
                          <a:solidFill>
                            <a:srgbClr val="4B4B4B"/>
                          </a:solidFill>
                          <a:latin typeface="Arial"/>
                        </a:rPr>
                        <a:t>Contact Center and LAMD</a:t>
                      </a:r>
                    </a:p>
                  </a:txBody>
                  <a:tcPr marL="73152" marR="73152" marT="36576" marB="36576">
                    <a:solidFill>
                      <a:srgbClr val="FFFFFF"/>
                    </a:solidFill>
                  </a:tcPr>
                </a:tc>
                <a:tc>
                  <a:txBody>
                    <a:bodyPr/>
                    <a:lstStyle/>
                    <a:p>
                      <a:r>
                        <a:rPr sz="1100" b="0">
                          <a:solidFill>
                            <a:srgbClr val="4B4B4B"/>
                          </a:solidFill>
                          <a:latin typeface="Arial"/>
                        </a:rPr>
                        <a:t>Follow-ups (SCR-RN-15) and walkthrough C for the Contact Center; LAMD Reports (SCR-RN-16) and FRS FR-RN-025 for LAMD; the uploads in chapter 18</a:t>
                      </a:r>
                    </a:p>
                  </a:txBody>
                  <a:tcPr marL="73152" marR="73152" marT="36576" marB="36576">
                    <a:solidFill>
                      <a:srgbClr val="FFFFFF"/>
                    </a:solidFill>
                  </a:tcPr>
                </a:tc>
              </a:tr>
              <a:tr h="365760">
                <a:tc>
                  <a:txBody>
                    <a:bodyPr/>
                    <a:lstStyle/>
                    <a:p>
                      <a:r>
                        <a:rPr sz="1100" b="0">
                          <a:solidFill>
                            <a:srgbClr val="4B4B4B"/>
                          </a:solidFill>
                          <a:latin typeface="Arial"/>
                        </a:rPr>
                        <a:t>Marketing Business Services and System Support (Business Administrator)</a:t>
                      </a:r>
                    </a:p>
                  </a:txBody>
                  <a:tcPr marL="73152" marR="73152" marT="36576" marB="36576">
                    <a:solidFill>
                      <a:srgbClr val="E5F5FF"/>
                    </a:solidFill>
                  </a:tcPr>
                </a:tc>
                <a:tc>
                  <a:txBody>
                    <a:bodyPr/>
                    <a:lstStyle/>
                    <a:p>
                      <a:r>
                        <a:rPr sz="1100" b="0">
                          <a:solidFill>
                            <a:srgbClr val="4B4B4B"/>
                          </a:solidFill>
                          <a:latin typeface="Arial"/>
                        </a:rPr>
                        <a:t>Renewal Setup (SCR-RN-17 to 20); configuration in chapter 9; the letters DO-01 and DO-02; the menus by persona in chapter 12</a:t>
                      </a:r>
                    </a:p>
                  </a:txBody>
                  <a:tcPr marL="73152" marR="73152" marT="36576" marB="36576">
                    <a:solidFill>
                      <a:srgbClr val="E5F5FF"/>
                    </a:solidFill>
                  </a:tcPr>
                </a:tc>
              </a:tr>
              <a:tr h="365760">
                <a:tc>
                  <a:txBody>
                    <a:bodyPr/>
                    <a:lstStyle/>
                    <a:p>
                      <a:r>
                        <a:rPr sz="1100" b="0">
                          <a:solidFill>
                            <a:srgbClr val="4B4B4B"/>
                          </a:solidFill>
                          <a:latin typeface="Arial"/>
                        </a:rPr>
                        <a:t>BDOI IT</a:t>
                      </a:r>
                    </a:p>
                  </a:txBody>
                  <a:tcPr marL="73152" marR="73152" marT="36576" marB="36576">
                    <a:solidFill>
                      <a:srgbClr val="FFFFFF"/>
                    </a:solidFill>
                  </a:tcPr>
                </a:tc>
                <a:tc>
                  <a:txBody>
                    <a:bodyPr/>
                    <a:lstStyle/>
                    <a:p>
                      <a:r>
                        <a:rPr sz="1100" b="0">
                          <a:solidFill>
                            <a:srgbClr val="4B4B4B"/>
                          </a:solidFill>
                          <a:latin typeface="Arial"/>
                        </a:rPr>
                        <a:t>Interfaces and integration (chapter 7), non-functional requirements (chapter 8), configuration (chapter 9), cross-BRD contract (chapter 19); the Technical Specification, reviewed by BDOI IT</a:t>
                      </a:r>
                    </a:p>
                  </a:txBody>
                  <a:tcPr marL="73152" marR="73152" marT="36576" marB="36576">
                    <a:solidFill>
                      <a:srgbClr val="FFFFFF"/>
                    </a:solidFill>
                  </a:tcPr>
                </a:tc>
              </a:tr>
              <a:tr h="365760">
                <a:tc>
                  <a:txBody>
                    <a:bodyPr/>
                    <a:lstStyle/>
                    <a:p>
                      <a:r>
                        <a:rPr sz="1100" b="0">
                          <a:solidFill>
                            <a:srgbClr val="4B4B4B"/>
                          </a:solidFill>
                          <a:latin typeface="Arial"/>
                        </a:rPr>
                        <a:t>BDOI UX Design team</a:t>
                      </a:r>
                    </a:p>
                  </a:txBody>
                  <a:tcPr marL="73152" marR="73152" marT="36576" marB="36576">
                    <a:solidFill>
                      <a:srgbClr val="E5F5FF"/>
                    </a:solidFill>
                  </a:tcPr>
                </a:tc>
                <a:tc>
                  <a:txBody>
                    <a:bodyPr/>
                    <a:lstStyle/>
                    <a:p>
                      <a:r>
                        <a:rPr sz="1100" b="0">
                          <a:solidFill>
                            <a:srgbClr val="4B4B4B"/>
                          </a:solidFill>
                          <a:latin typeface="Arial"/>
                        </a:rPr>
                        <a:t>07 UX Screen Deck: design foundation and navigation first, then the personas, walkthroughs and screens of the design work; 08 UX screen register (filter Changed in this issue at each new issue); 09 image package in the design tool</a:t>
                      </a:r>
                    </a:p>
                  </a:txBody>
                  <a:tcPr marL="73152" marR="73152" marT="36576" marB="36576">
                    <a:solidFill>
                      <a:srgbClr val="E5F5FF"/>
                    </a:solidFill>
                  </a:tcPr>
                </a:tc>
              </a:tr>
              <a:tr h="365760">
                <a:tc>
                  <a:txBody>
                    <a:bodyPr/>
                    <a:lstStyle/>
                    <a:p>
                      <a:r>
                        <a:rPr sz="1100" b="0">
                          <a:solidFill>
                            <a:srgbClr val="4B4B4B"/>
                          </a:solidFill>
                          <a:latin typeface="Arial"/>
                        </a:rPr>
                        <a:t>iorta TechNXT project team</a:t>
                      </a:r>
                    </a:p>
                  </a:txBody>
                  <a:tcPr marL="73152" marR="73152" marT="36576" marB="36576">
                    <a:solidFill>
                      <a:srgbClr val="FFFFFF"/>
                    </a:solidFill>
                  </a:tcPr>
                </a:tc>
                <a:tc>
                  <a:txBody>
                    <a:bodyPr/>
                    <a:lstStyle/>
                    <a:p>
                      <a:r>
                        <a:rPr sz="1100" b="0">
                          <a:solidFill>
                            <a:srgbClr val="4B4B4B"/>
                          </a:solidFill>
                          <a:latin typeface="Arial"/>
                        </a:rPr>
                        <a:t>All documents; keeps the comments log, the meeting minutes and the version history of the workbook, answers every comment and keeps the traceability to SIT and UAT</a:t>
                      </a:r>
                    </a:p>
                  </a:txBody>
                  <a:tcPr marL="73152" marR="73152" marT="36576" marB="36576">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Approach: from issue to closure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a:t>
            </a:r>
          </a:p>
        </p:txBody>
      </p:sp>
      <p:sp>
        <p:nvSpPr>
          <p:cNvPr id="9" name="Rounded Rectangle 8"/>
          <p:cNvSpPr/>
          <p:nvPr/>
        </p:nvSpPr>
        <p:spPr>
          <a:xfrm>
            <a:off x="548640"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1" name="TextBox 10"/>
          <p:cNvSpPr txBox="1"/>
          <p:nvPr/>
        </p:nvSpPr>
        <p:spPr>
          <a:xfrm>
            <a:off x="1115568" y="1490472"/>
            <a:ext cx="1824913" cy="502920"/>
          </a:xfrm>
          <a:prstGeom prst="rect">
            <a:avLst/>
          </a:prstGeom>
          <a:noFill/>
        </p:spPr>
        <p:txBody>
          <a:bodyPr wrap="square" anchor="ctr" lIns="45720" rIns="45720">
            <a:spAutoFit/>
          </a:bodyPr>
          <a:lstStyle/>
          <a:p>
            <a:r>
              <a:rPr sz="1300" b="1" i="0">
                <a:solidFill>
                  <a:srgbClr val="004EA8"/>
                </a:solidFill>
                <a:latin typeface="Arial"/>
              </a:rPr>
              <a:t>Pack issued</a:t>
            </a:r>
          </a:p>
        </p:txBody>
      </p:sp>
      <p:sp>
        <p:nvSpPr>
          <p:cNvPr id="12" name="TextBox 11"/>
          <p:cNvSpPr txBox="1"/>
          <p:nvPr/>
        </p:nvSpPr>
        <p:spPr>
          <a:xfrm>
            <a:off x="658368" y="2057400"/>
            <a:ext cx="2245537" cy="822960"/>
          </a:xfrm>
          <a:prstGeom prst="rect">
            <a:avLst/>
          </a:prstGeom>
          <a:noFill/>
        </p:spPr>
        <p:txBody>
          <a:bodyPr wrap="square" anchor="t" lIns="45720" rIns="45720">
            <a:spAutoFit/>
          </a:bodyPr>
          <a:lstStyle/>
          <a:p>
            <a:r>
              <a:rPr sz="1000" b="0" i="0">
                <a:solidFill>
                  <a:srgbClr val="4B4B4B"/>
                </a:solidFill>
                <a:latin typeface="Arial"/>
              </a:rPr>
              <a:t>Release set v2.0 in the BRD-06 folder; invitations to the sessions</a:t>
            </a:r>
          </a:p>
        </p:txBody>
      </p:sp>
      <p:sp>
        <p:nvSpPr>
          <p:cNvPr id="13" name="TextBox 12"/>
          <p:cNvSpPr txBox="1"/>
          <p:nvPr/>
        </p:nvSpPr>
        <p:spPr>
          <a:xfrm>
            <a:off x="658368" y="2971800"/>
            <a:ext cx="2245537" cy="384048"/>
          </a:xfrm>
          <a:prstGeom prst="rect">
            <a:avLst/>
          </a:prstGeom>
          <a:noFill/>
        </p:spPr>
        <p:txBody>
          <a:bodyPr wrap="square" anchor="t" lIns="45720" rIns="45720">
            <a:spAutoFit/>
          </a:bodyPr>
          <a:lstStyle/>
          <a:p>
            <a:r>
              <a:rPr sz="1000" b="1" i="0">
                <a:solidFill>
                  <a:srgbClr val="2E2E2E"/>
                </a:solidFill>
                <a:latin typeface="Arial"/>
              </a:rPr>
              <a:t>Day 0 (Thu 8-Oct-2026); sessions in the Drop 1 window of November 2026</a:t>
            </a:r>
          </a:p>
        </p:txBody>
      </p:sp>
      <p:sp>
        <p:nvSpPr>
          <p:cNvPr id="14" name="Right Arrow 13"/>
          <p:cNvSpPr/>
          <p:nvPr/>
        </p:nvSpPr>
        <p:spPr>
          <a:xfrm>
            <a:off x="3077641"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425113"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34841"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7" name="TextBox 16"/>
          <p:cNvSpPr txBox="1"/>
          <p:nvPr/>
        </p:nvSpPr>
        <p:spPr>
          <a:xfrm>
            <a:off x="3992041" y="1490472"/>
            <a:ext cx="1824913" cy="502920"/>
          </a:xfrm>
          <a:prstGeom prst="rect">
            <a:avLst/>
          </a:prstGeom>
          <a:noFill/>
        </p:spPr>
        <p:txBody>
          <a:bodyPr wrap="square" anchor="ctr" lIns="45720" rIns="45720">
            <a:spAutoFit/>
          </a:bodyPr>
          <a:lstStyle/>
          <a:p>
            <a:r>
              <a:rPr sz="1300" b="1" i="0">
                <a:solidFill>
                  <a:srgbClr val="004EA8"/>
                </a:solidFill>
                <a:latin typeface="Arial"/>
              </a:rPr>
              <a:t>Kick-off and screen walkthrough on SIT</a:t>
            </a:r>
          </a:p>
        </p:txBody>
      </p:sp>
      <p:sp>
        <p:nvSpPr>
          <p:cNvPr id="18" name="TextBox 17"/>
          <p:cNvSpPr txBox="1"/>
          <p:nvPr/>
        </p:nvSpPr>
        <p:spPr>
          <a:xfrm>
            <a:off x="3534841" y="2057400"/>
            <a:ext cx="2245537" cy="822960"/>
          </a:xfrm>
          <a:prstGeom prst="rect">
            <a:avLst/>
          </a:prstGeom>
          <a:noFill/>
        </p:spPr>
        <p:txBody>
          <a:bodyPr wrap="square" anchor="t" lIns="45720" rIns="45720">
            <a:spAutoFit/>
          </a:bodyPr>
          <a:lstStyle/>
          <a:p>
            <a:r>
              <a:rPr sz="1000" b="0" i="0">
                <a:solidFill>
                  <a:srgbClr val="4B4B4B"/>
                </a:solidFill>
                <a:latin typeface="Arial"/>
              </a:rPr>
              <a:t>Screens shown live (expiry list and disposition, review and transfers, processing and the insurer, letters and acceptance, set-up); first questions logged in the comments log; minutes</a:t>
            </a:r>
          </a:p>
        </p:txBody>
      </p:sp>
      <p:sp>
        <p:nvSpPr>
          <p:cNvPr id="19" name="TextBox 18"/>
          <p:cNvSpPr txBox="1"/>
          <p:nvPr/>
        </p:nvSpPr>
        <p:spPr>
          <a:xfrm>
            <a:off x="3534841" y="2971800"/>
            <a:ext cx="2245537" cy="384048"/>
          </a:xfrm>
          <a:prstGeom prst="rect">
            <a:avLst/>
          </a:prstGeom>
          <a:noFill/>
        </p:spPr>
        <p:txBody>
          <a:bodyPr wrap="square" anchor="t" lIns="45720" rIns="45720">
            <a:spAutoFit/>
          </a:bodyPr>
          <a:lstStyle/>
          <a:p>
            <a:r>
              <a:rPr sz="1000" b="1" i="0">
                <a:solidFill>
                  <a:srgbClr val="2E2E2E"/>
                </a:solidFill>
                <a:latin typeface="Arial"/>
              </a:rPr>
              <a:t>3 sessions, 4 to 6-Nov-2026</a:t>
            </a:r>
          </a:p>
        </p:txBody>
      </p:sp>
      <p:sp>
        <p:nvSpPr>
          <p:cNvPr id="20" name="Right Arrow 19"/>
          <p:cNvSpPr/>
          <p:nvPr/>
        </p:nvSpPr>
        <p:spPr>
          <a:xfrm>
            <a:off x="5954115"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01587"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11315"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23" name="TextBox 22"/>
          <p:cNvSpPr txBox="1"/>
          <p:nvPr/>
        </p:nvSpPr>
        <p:spPr>
          <a:xfrm>
            <a:off x="6868515" y="1490472"/>
            <a:ext cx="1824913" cy="502920"/>
          </a:xfrm>
          <a:prstGeom prst="rect">
            <a:avLst/>
          </a:prstGeom>
          <a:noFill/>
        </p:spPr>
        <p:txBody>
          <a:bodyPr wrap="square" anchor="ctr" lIns="45720" rIns="45720">
            <a:spAutoFit/>
          </a:bodyPr>
          <a:lstStyle/>
          <a:p>
            <a:r>
              <a:rPr sz="1300" b="1" i="0">
                <a:solidFill>
                  <a:srgbClr val="004EA8"/>
                </a:solidFill>
                <a:latin typeface="Arial"/>
              </a:rPr>
              <a:t>Review with the workbook</a:t>
            </a:r>
          </a:p>
        </p:txBody>
      </p:sp>
      <p:sp>
        <p:nvSpPr>
          <p:cNvPr id="24" name="TextBox 23"/>
          <p:cNvSpPr txBox="1"/>
          <p:nvPr/>
        </p:nvSpPr>
        <p:spPr>
          <a:xfrm>
            <a:off x="6411315" y="2057400"/>
            <a:ext cx="2245537" cy="822960"/>
          </a:xfrm>
          <a:prstGeom prst="rect">
            <a:avLst/>
          </a:prstGeom>
          <a:noFill/>
        </p:spPr>
        <p:txBody>
          <a:bodyPr wrap="square" anchor="t" lIns="45720" rIns="45720">
            <a:spAutoFit/>
          </a:bodyPr>
          <a:lstStyle/>
          <a:p>
            <a:r>
              <a:rPr sz="1000" b="0" i="0">
                <a:solidFill>
                  <a:srgbClr val="4B4B4B"/>
                </a:solidFill>
                <a:latin typeface="Arial"/>
              </a:rPr>
              <a:t>Every row marked Accept, Change requested or Comment; comments log entries</a:t>
            </a:r>
          </a:p>
        </p:txBody>
      </p:sp>
      <p:sp>
        <p:nvSpPr>
          <p:cNvPr id="25" name="TextBox 24"/>
          <p:cNvSpPr txBox="1"/>
          <p:nvPr/>
        </p:nvSpPr>
        <p:spPr>
          <a:xfrm>
            <a:off x="6411315" y="2971800"/>
            <a:ext cx="2245537" cy="384048"/>
          </a:xfrm>
          <a:prstGeom prst="rect">
            <a:avLst/>
          </a:prstGeom>
          <a:noFill/>
        </p:spPr>
        <p:txBody>
          <a:bodyPr wrap="square" anchor="t" lIns="45720" rIns="45720">
            <a:spAutoFit/>
          </a:bodyPr>
          <a:lstStyle/>
          <a:p>
            <a:r>
              <a:rPr sz="1000" b="1" i="0">
                <a:solidFill>
                  <a:srgbClr val="2E2E2E"/>
                </a:solidFill>
                <a:latin typeface="Arial"/>
              </a:rPr>
              <a:t>10 working days after the walkthroughs, until Fri 20-Nov-2026</a:t>
            </a:r>
          </a:p>
        </p:txBody>
      </p:sp>
      <p:sp>
        <p:nvSpPr>
          <p:cNvPr id="26" name="Right Arrow 25"/>
          <p:cNvSpPr/>
          <p:nvPr/>
        </p:nvSpPr>
        <p:spPr>
          <a:xfrm>
            <a:off x="8830589"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178061"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287789"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29" name="TextBox 28"/>
          <p:cNvSpPr txBox="1"/>
          <p:nvPr/>
        </p:nvSpPr>
        <p:spPr>
          <a:xfrm>
            <a:off x="9744989" y="1490472"/>
            <a:ext cx="1824913" cy="502920"/>
          </a:xfrm>
          <a:prstGeom prst="rect">
            <a:avLst/>
          </a:prstGeom>
          <a:noFill/>
        </p:spPr>
        <p:txBody>
          <a:bodyPr wrap="square" anchor="ctr" lIns="45720" rIns="45720">
            <a:spAutoFit/>
          </a:bodyPr>
          <a:lstStyle/>
          <a:p>
            <a:r>
              <a:rPr sz="1300" b="1" i="0">
                <a:solidFill>
                  <a:srgbClr val="004EA8"/>
                </a:solidFill>
                <a:latin typeface="Arial"/>
              </a:rPr>
              <a:t>Comments consolidated and a Q&amp;A session</a:t>
            </a:r>
          </a:p>
        </p:txBody>
      </p:sp>
      <p:sp>
        <p:nvSpPr>
          <p:cNvPr id="30" name="TextBox 29"/>
          <p:cNvSpPr txBox="1"/>
          <p:nvPr/>
        </p:nvSpPr>
        <p:spPr>
          <a:xfrm>
            <a:off x="9287789" y="2057400"/>
            <a:ext cx="2245537" cy="822960"/>
          </a:xfrm>
          <a:prstGeom prst="rect">
            <a:avLst/>
          </a:prstGeom>
          <a:noFill/>
        </p:spPr>
        <p:txBody>
          <a:bodyPr wrap="square" anchor="t" lIns="45720" rIns="45720">
            <a:spAutoFit/>
          </a:bodyPr>
          <a:lstStyle/>
          <a:p>
            <a:r>
              <a:rPr sz="1000" b="0" i="0">
                <a:solidFill>
                  <a:srgbClr val="4B4B4B"/>
                </a:solidFill>
                <a:latin typeface="Arial"/>
              </a:rPr>
              <a:t>One consolidated comments log, each item typed (clarification, correction, change request) and answered; Q&amp;A minutes</a:t>
            </a:r>
          </a:p>
        </p:txBody>
      </p:sp>
      <p:sp>
        <p:nvSpPr>
          <p:cNvPr id="31" name="TextBox 30"/>
          <p:cNvSpPr txBox="1"/>
          <p:nvPr/>
        </p:nvSpPr>
        <p:spPr>
          <a:xfrm>
            <a:off x="9287789" y="2971800"/>
            <a:ext cx="2245537" cy="384048"/>
          </a:xfrm>
          <a:prstGeom prst="rect">
            <a:avLst/>
          </a:prstGeom>
          <a:noFill/>
        </p:spPr>
        <p:txBody>
          <a:bodyPr wrap="square" anchor="t" lIns="45720" rIns="45720">
            <a:spAutoFit/>
          </a:bodyPr>
          <a:lstStyle/>
          <a:p>
            <a:r>
              <a:rPr sz="1000" b="1" i="0">
                <a:solidFill>
                  <a:srgbClr val="2E2E2E"/>
                </a:solidFill>
                <a:latin typeface="Arial"/>
              </a:rPr>
              <a:t>2 working days, Q&amp;A on Tue 24-Nov-2026</a:t>
            </a:r>
          </a:p>
        </p:txBody>
      </p:sp>
      <p:sp>
        <p:nvSpPr>
          <p:cNvPr id="32" name="Rounded Rectangle 31"/>
          <p:cNvSpPr/>
          <p:nvPr/>
        </p:nvSpPr>
        <p:spPr>
          <a:xfrm>
            <a:off x="548640" y="384048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58368" y="395020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5</a:t>
            </a:r>
          </a:p>
        </p:txBody>
      </p:sp>
      <p:sp>
        <p:nvSpPr>
          <p:cNvPr id="34" name="TextBox 33"/>
          <p:cNvSpPr txBox="1"/>
          <p:nvPr/>
        </p:nvSpPr>
        <p:spPr>
          <a:xfrm>
            <a:off x="1115568" y="3913632"/>
            <a:ext cx="1824913" cy="502920"/>
          </a:xfrm>
          <a:prstGeom prst="rect">
            <a:avLst/>
          </a:prstGeom>
          <a:noFill/>
        </p:spPr>
        <p:txBody>
          <a:bodyPr wrap="square" anchor="ctr" lIns="45720" rIns="45720">
            <a:spAutoFit/>
          </a:bodyPr>
          <a:lstStyle/>
          <a:p>
            <a:r>
              <a:rPr sz="1300" b="1" i="0">
                <a:solidFill>
                  <a:srgbClr val="004EA8"/>
                </a:solidFill>
                <a:latin typeface="Arial"/>
              </a:rPr>
              <a:t>One revision cycle (v2.1)</a:t>
            </a:r>
          </a:p>
        </p:txBody>
      </p:sp>
      <p:sp>
        <p:nvSpPr>
          <p:cNvPr id="35" name="TextBox 34"/>
          <p:cNvSpPr txBox="1"/>
          <p:nvPr/>
        </p:nvSpPr>
        <p:spPr>
          <a:xfrm>
            <a:off x="658368" y="4480560"/>
            <a:ext cx="2245537" cy="822960"/>
          </a:xfrm>
          <a:prstGeom prst="rect">
            <a:avLst/>
          </a:prstGeom>
          <a:noFill/>
        </p:spPr>
        <p:txBody>
          <a:bodyPr wrap="square" anchor="t" lIns="45720" rIns="45720">
            <a:spAutoFit/>
          </a:bodyPr>
          <a:lstStyle/>
          <a:p>
            <a:r>
              <a:rPr sz="1000" b="0" i="0">
                <a:solidFill>
                  <a:srgbClr val="4B4B4B"/>
                </a:solidFill>
                <a:latin typeface="Arial"/>
              </a:rPr>
              <a:t>Release set v2.1 with the changed rows marked; change requests raised for the rest</a:t>
            </a:r>
          </a:p>
        </p:txBody>
      </p:sp>
      <p:sp>
        <p:nvSpPr>
          <p:cNvPr id="36" name="TextBox 35"/>
          <p:cNvSpPr txBox="1"/>
          <p:nvPr/>
        </p:nvSpPr>
        <p:spPr>
          <a:xfrm>
            <a:off x="658368" y="5394960"/>
            <a:ext cx="2245537" cy="384048"/>
          </a:xfrm>
          <a:prstGeom prst="rect">
            <a:avLst/>
          </a:prstGeom>
          <a:noFill/>
        </p:spPr>
        <p:txBody>
          <a:bodyPr wrap="square" anchor="t" lIns="45720" rIns="45720">
            <a:spAutoFit/>
          </a:bodyPr>
          <a:lstStyle/>
          <a:p>
            <a:r>
              <a:rPr sz="1000" b="1" i="0">
                <a:solidFill>
                  <a:srgbClr val="2E2E2E"/>
                </a:solidFill>
                <a:latin typeface="Arial"/>
              </a:rPr>
              <a:t>1 working day, v2.1 on Wed 25-Nov-2026; check by the reviewers until Thu 26-Nov-2026</a:t>
            </a:r>
          </a:p>
        </p:txBody>
      </p:sp>
      <p:sp>
        <p:nvSpPr>
          <p:cNvPr id="37" name="Right Arrow 36"/>
          <p:cNvSpPr/>
          <p:nvPr/>
        </p:nvSpPr>
        <p:spPr>
          <a:xfrm>
            <a:off x="3077641" y="471830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3425113" y="384048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3534841" y="395020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6</a:t>
            </a:r>
          </a:p>
        </p:txBody>
      </p:sp>
      <p:sp>
        <p:nvSpPr>
          <p:cNvPr id="40" name="TextBox 39"/>
          <p:cNvSpPr txBox="1"/>
          <p:nvPr/>
        </p:nvSpPr>
        <p:spPr>
          <a:xfrm>
            <a:off x="3992041" y="3913632"/>
            <a:ext cx="1824913" cy="502920"/>
          </a:xfrm>
          <a:prstGeom prst="rect">
            <a:avLst/>
          </a:prstGeom>
          <a:noFill/>
        </p:spPr>
        <p:txBody>
          <a:bodyPr wrap="square" anchor="ctr" lIns="45720" rIns="45720">
            <a:spAutoFit/>
          </a:bodyPr>
          <a:lstStyle/>
          <a:p>
            <a:r>
              <a:rPr sz="1300" b="1" i="0">
                <a:solidFill>
                  <a:srgbClr val="004EA8"/>
                </a:solidFill>
                <a:latin typeface="Arial"/>
              </a:rPr>
              <a:t>Sign-off meeting and signature</a:t>
            </a:r>
          </a:p>
        </p:txBody>
      </p:sp>
      <p:sp>
        <p:nvSpPr>
          <p:cNvPr id="41" name="TextBox 40"/>
          <p:cNvSpPr txBox="1"/>
          <p:nvPr/>
        </p:nvSpPr>
        <p:spPr>
          <a:xfrm>
            <a:off x="3534841" y="4480560"/>
            <a:ext cx="2245537" cy="822960"/>
          </a:xfrm>
          <a:prstGeom prst="rect">
            <a:avLst/>
          </a:prstGeom>
          <a:noFill/>
        </p:spPr>
        <p:txBody>
          <a:bodyPr wrap="square" anchor="t" lIns="45720" rIns="45720">
            <a:spAutoFit/>
          </a:bodyPr>
          <a:lstStyle/>
          <a:p>
            <a:r>
              <a:rPr sz="1000" b="0" i="0">
                <a:solidFill>
                  <a:srgbClr val="4B4B4B"/>
                </a:solidFill>
                <a:latin typeface="Arial"/>
              </a:rPr>
              <a:t>Signed sign-off certificate; minutes; open items accepted as assumptions or change requests</a:t>
            </a:r>
          </a:p>
        </p:txBody>
      </p:sp>
      <p:sp>
        <p:nvSpPr>
          <p:cNvPr id="42" name="TextBox 41"/>
          <p:cNvSpPr txBox="1"/>
          <p:nvPr/>
        </p:nvSpPr>
        <p:spPr>
          <a:xfrm>
            <a:off x="3534841" y="5394960"/>
            <a:ext cx="2245537" cy="384048"/>
          </a:xfrm>
          <a:prstGeom prst="rect">
            <a:avLst/>
          </a:prstGeom>
          <a:noFill/>
        </p:spPr>
        <p:txBody>
          <a:bodyPr wrap="square" anchor="t" lIns="45720" rIns="45720">
            <a:spAutoFit/>
          </a:bodyPr>
          <a:lstStyle/>
          <a:p>
            <a:r>
              <a:rPr sz="1000" b="1" i="0">
                <a:solidFill>
                  <a:srgbClr val="2E2E2E"/>
                </a:solidFill>
                <a:latin typeface="Arial"/>
              </a:rPr>
              <a:t>Fri 27-Nov-2026</a:t>
            </a:r>
          </a:p>
        </p:txBody>
      </p:sp>
      <p:sp>
        <p:nvSpPr>
          <p:cNvPr id="43" name="Right Arrow 42"/>
          <p:cNvSpPr/>
          <p:nvPr/>
        </p:nvSpPr>
        <p:spPr>
          <a:xfrm>
            <a:off x="5954115" y="471830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6301587" y="384048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6411315" y="395020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7</a:t>
            </a:r>
          </a:p>
        </p:txBody>
      </p:sp>
      <p:sp>
        <p:nvSpPr>
          <p:cNvPr id="46" name="TextBox 45"/>
          <p:cNvSpPr txBox="1"/>
          <p:nvPr/>
        </p:nvSpPr>
        <p:spPr>
          <a:xfrm>
            <a:off x="6868515" y="3913632"/>
            <a:ext cx="1824913" cy="502920"/>
          </a:xfrm>
          <a:prstGeom prst="rect">
            <a:avLst/>
          </a:prstGeom>
          <a:noFill/>
        </p:spPr>
        <p:txBody>
          <a:bodyPr wrap="square" anchor="ctr" lIns="45720" rIns="45720">
            <a:spAutoFit/>
          </a:bodyPr>
          <a:lstStyle/>
          <a:p>
            <a:r>
              <a:rPr sz="1300" b="1" i="0">
                <a:solidFill>
                  <a:srgbClr val="004EA8"/>
                </a:solidFill>
                <a:latin typeface="Arial"/>
              </a:rPr>
              <a:t>Content freeze</a:t>
            </a:r>
          </a:p>
        </p:txBody>
      </p:sp>
      <p:sp>
        <p:nvSpPr>
          <p:cNvPr id="47" name="TextBox 46"/>
          <p:cNvSpPr txBox="1"/>
          <p:nvPr/>
        </p:nvSpPr>
        <p:spPr>
          <a:xfrm>
            <a:off x="6411315" y="4480560"/>
            <a:ext cx="2245537" cy="822960"/>
          </a:xfrm>
          <a:prstGeom prst="rect">
            <a:avLst/>
          </a:prstGeom>
          <a:noFill/>
        </p:spPr>
        <p:txBody>
          <a:bodyPr wrap="square" anchor="t" lIns="45720" rIns="45720">
            <a:spAutoFit/>
          </a:bodyPr>
          <a:lstStyle/>
          <a:p>
            <a:r>
              <a:rPr sz="1000" b="0" i="0">
                <a:solidFill>
                  <a:srgbClr val="4B4B4B"/>
                </a:solidFill>
                <a:latin typeface="Arial"/>
              </a:rPr>
              <a:t>Content frozen as signed; approved deltas scheduled in the Change Management Register</a:t>
            </a:r>
          </a:p>
        </p:txBody>
      </p:sp>
      <p:sp>
        <p:nvSpPr>
          <p:cNvPr id="48" name="TextBox 47"/>
          <p:cNvSpPr txBox="1"/>
          <p:nvPr/>
        </p:nvSpPr>
        <p:spPr>
          <a:xfrm>
            <a:off x="6411315" y="5394960"/>
            <a:ext cx="2245537" cy="384048"/>
          </a:xfrm>
          <a:prstGeom prst="rect">
            <a:avLst/>
          </a:prstGeom>
          <a:noFill/>
        </p:spPr>
        <p:txBody>
          <a:bodyPr wrap="square" anchor="t" lIns="45720" rIns="45720">
            <a:spAutoFit/>
          </a:bodyPr>
          <a:lstStyle/>
          <a:p>
            <a:r>
              <a:rPr sz="1000" b="1" i="0">
                <a:solidFill>
                  <a:srgbClr val="2E2E2E"/>
                </a:solidFill>
                <a:latin typeface="Arial"/>
              </a:rPr>
              <a:t>From Mon 30-Nov-2026</a:t>
            </a:r>
          </a:p>
        </p:txBody>
      </p:sp>
      <p:sp>
        <p:nvSpPr>
          <p:cNvPr id="49" name="Right Arrow 48"/>
          <p:cNvSpPr/>
          <p:nvPr/>
        </p:nvSpPr>
        <p:spPr>
          <a:xfrm>
            <a:off x="8830589" y="471830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9178061" y="384048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9287789" y="395020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8</a:t>
            </a:r>
          </a:p>
        </p:txBody>
      </p:sp>
      <p:sp>
        <p:nvSpPr>
          <p:cNvPr id="52" name="TextBox 51"/>
          <p:cNvSpPr txBox="1"/>
          <p:nvPr/>
        </p:nvSpPr>
        <p:spPr>
          <a:xfrm>
            <a:off x="9744989" y="3913632"/>
            <a:ext cx="1824913" cy="502920"/>
          </a:xfrm>
          <a:prstGeom prst="rect">
            <a:avLst/>
          </a:prstGeom>
          <a:noFill/>
        </p:spPr>
        <p:txBody>
          <a:bodyPr wrap="square" anchor="ctr" lIns="45720" rIns="45720">
            <a:spAutoFit/>
          </a:bodyPr>
          <a:lstStyle/>
          <a:p>
            <a:r>
              <a:rPr sz="1300" b="1" i="0">
                <a:solidFill>
                  <a:srgbClr val="004EA8"/>
                </a:solidFill>
                <a:latin typeface="Arial"/>
              </a:rPr>
              <a:t>Traceability into SIT and UAT</a:t>
            </a:r>
          </a:p>
        </p:txBody>
      </p:sp>
      <p:sp>
        <p:nvSpPr>
          <p:cNvPr id="53" name="TextBox 52"/>
          <p:cNvSpPr txBox="1"/>
          <p:nvPr/>
        </p:nvSpPr>
        <p:spPr>
          <a:xfrm>
            <a:off x="9287789" y="4480560"/>
            <a:ext cx="2245537" cy="822960"/>
          </a:xfrm>
          <a:prstGeom prst="rect">
            <a:avLst/>
          </a:prstGeom>
          <a:noFill/>
        </p:spPr>
        <p:txBody>
          <a:bodyPr wrap="square" anchor="t" lIns="45720" rIns="45720">
            <a:spAutoFit/>
          </a:bodyPr>
          <a:lstStyle/>
          <a:p>
            <a:r>
              <a:rPr sz="1000" b="0" i="0">
                <a:solidFill>
                  <a:srgbClr val="4B4B4B"/>
                </a:solidFill>
                <a:latin typeface="Arial"/>
              </a:rPr>
              <a:t>SIT and UAT runs traced to the signed screens, rules and messages; results against each row</a:t>
            </a:r>
          </a:p>
        </p:txBody>
      </p:sp>
      <p:sp>
        <p:nvSpPr>
          <p:cNvPr id="54" name="TextBox 53"/>
          <p:cNvSpPr txBox="1"/>
          <p:nvPr/>
        </p:nvSpPr>
        <p:spPr>
          <a:xfrm>
            <a:off x="9287789" y="5394960"/>
            <a:ext cx="2245537" cy="384048"/>
          </a:xfrm>
          <a:prstGeom prst="rect">
            <a:avLst/>
          </a:prstGeom>
          <a:noFill/>
        </p:spPr>
        <p:txBody>
          <a:bodyPr wrap="square" anchor="t" lIns="45720" rIns="45720">
            <a:spAutoFit/>
          </a:bodyPr>
          <a:lstStyle/>
          <a:p>
            <a:r>
              <a:rPr sz="1000" b="1" i="0">
                <a:solidFill>
                  <a:srgbClr val="2E2E2E"/>
                </a:solidFill>
                <a:latin typeface="Arial"/>
              </a:rPr>
              <a:t>SIT Jan - Jul 2027; UAT Aug - Dec 2027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Steps in detail (1 of 2): who, inputs, outputs, duration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a:t>
            </a:r>
          </a:p>
        </p:txBody>
      </p:sp>
      <p:graphicFrame>
        <p:nvGraphicFramePr>
          <p:cNvPr id="9" name="Table 8"/>
          <p:cNvGraphicFramePr>
            <a:graphicFrameLocks noGrp="1"/>
          </p:cNvGraphicFramePr>
          <p:nvPr/>
        </p:nvGraphicFramePr>
        <p:xfrm>
          <a:off x="548640" y="1371600"/>
          <a:ext cx="11094412" cy="1828800"/>
        </p:xfrm>
        <a:graphic>
          <a:graphicData uri="http://schemas.openxmlformats.org/drawingml/2006/table">
            <a:tbl>
              <a:tblPr firstRow="1" bandRow="1">
                <a:tableStyleId>{5C22544A-7EE6-4342-B048-85BDC9FD1C3A}</a:tableStyleId>
              </a:tblPr>
              <a:tblGrid>
                <a:gridCol w="1807978"/>
                <a:gridCol w="2794148"/>
                <a:gridCol w="2301063"/>
                <a:gridCol w="2629787"/>
                <a:gridCol w="1561436"/>
              </a:tblGrid>
              <a:tr h="365760">
                <a:tc>
                  <a:txBody>
                    <a:bodyPr/>
                    <a:lstStyle/>
                    <a:p>
                      <a:r>
                        <a:rPr sz="1000" b="1">
                          <a:solidFill>
                            <a:srgbClr val="FFFFFF"/>
                          </a:solidFill>
                          <a:latin typeface="Arial"/>
                        </a:rPr>
                        <a:t>Step</a:t>
                      </a:r>
                    </a:p>
                  </a:txBody>
                  <a:tcPr marL="73152" marR="73152" marT="36576" marB="36576">
                    <a:solidFill>
                      <a:srgbClr val="004EA8"/>
                    </a:solidFill>
                  </a:tcPr>
                </a:tc>
                <a:tc>
                  <a:txBody>
                    <a:bodyPr/>
                    <a:lstStyle/>
                    <a:p>
                      <a:r>
                        <a:rPr sz="1000" b="1">
                          <a:solidFill>
                            <a:srgbClr val="FFFFFF"/>
                          </a:solidFill>
                          <a:latin typeface="Arial"/>
                        </a:rPr>
                        <a:t>Who (R, A, C, I)</a:t>
                      </a:r>
                    </a:p>
                  </a:txBody>
                  <a:tcPr marL="73152" marR="73152" marT="36576" marB="36576">
                    <a:solidFill>
                      <a:srgbClr val="004EA8"/>
                    </a:solidFill>
                  </a:tcPr>
                </a:tc>
                <a:tc>
                  <a:txBody>
                    <a:bodyPr/>
                    <a:lstStyle/>
                    <a:p>
                      <a:r>
                        <a:rPr sz="1000" b="1">
                          <a:solidFill>
                            <a:srgbClr val="FFFFFF"/>
                          </a:solidFill>
                          <a:latin typeface="Arial"/>
                        </a:rPr>
                        <a:t>Inputs</a:t>
                      </a:r>
                    </a:p>
                  </a:txBody>
                  <a:tcPr marL="73152" marR="73152" marT="36576" marB="36576">
                    <a:solidFill>
                      <a:srgbClr val="004EA8"/>
                    </a:solidFill>
                  </a:tcPr>
                </a:tc>
                <a:tc>
                  <a:txBody>
                    <a:bodyPr/>
                    <a:lstStyle/>
                    <a:p>
                      <a:r>
                        <a:rPr sz="1000" b="1">
                          <a:solidFill>
                            <a:srgbClr val="FFFFFF"/>
                          </a:solidFill>
                          <a:latin typeface="Arial"/>
                        </a:rPr>
                        <a:t>Outputs</a:t>
                      </a:r>
                    </a:p>
                  </a:txBody>
                  <a:tcPr marL="73152" marR="73152" marT="36576" marB="36576">
                    <a:solidFill>
                      <a:srgbClr val="004EA8"/>
                    </a:solidFill>
                  </a:tcPr>
                </a:tc>
                <a:tc>
                  <a:txBody>
                    <a:bodyPr/>
                    <a:lstStyle/>
                    <a:p>
                      <a:r>
                        <a:rPr sz="1000" b="1">
                          <a:solidFill>
                            <a:srgbClr val="FFFFFF"/>
                          </a:solidFill>
                          <a:latin typeface="Arial"/>
                        </a:rPr>
                        <a:t>Duration</a:t>
                      </a:r>
                    </a:p>
                  </a:txBody>
                  <a:tcPr marL="73152" marR="73152" marT="36576" marB="36576">
                    <a:solidFill>
                      <a:srgbClr val="004EA8"/>
                    </a:solidFill>
                  </a:tcPr>
                </a:tc>
              </a:tr>
              <a:tr h="365760">
                <a:tc>
                  <a:txBody>
                    <a:bodyPr/>
                    <a:lstStyle/>
                    <a:p>
                      <a:r>
                        <a:rPr sz="1000" b="0">
                          <a:solidFill>
                            <a:srgbClr val="4B4B4B"/>
                          </a:solidFill>
                          <a:latin typeface="Arial"/>
                        </a:rPr>
                        <a:t>1. Pack issued</a:t>
                      </a:r>
                    </a:p>
                  </a:txBody>
                  <a:tcPr marL="73152" marR="73152" marT="36576" marB="36576">
                    <a:solidFill>
                      <a:srgbClr val="FFFFFF"/>
                    </a:solidFill>
                  </a:tcPr>
                </a:tc>
                <a:tc>
                  <a:txBody>
                    <a:bodyPr/>
                    <a:lstStyle/>
                    <a:p>
                      <a:r>
                        <a:rPr sz="1000" b="0">
                          <a:solidFill>
                            <a:srgbClr val="4B4B4B"/>
                          </a:solidFill>
                          <a:latin typeface="Arial"/>
                        </a:rPr>
                        <a:t>R: iorta TechNXT Project Manager; A: iorta TechNXT delivery lead; I: all reviewers</a:t>
                      </a:r>
                    </a:p>
                  </a:txBody>
                  <a:tcPr marL="73152" marR="73152" marT="36576" marB="36576">
                    <a:solidFill>
                      <a:srgbClr val="FFFFFF"/>
                    </a:solidFill>
                  </a:tcPr>
                </a:tc>
                <a:tc>
                  <a:txBody>
                    <a:bodyPr/>
                    <a:lstStyle/>
                    <a:p>
                      <a:r>
                        <a:rPr sz="1000" b="0">
                          <a:solidFill>
                            <a:srgbClr val="4B4B4B"/>
                          </a:solidFill>
                          <a:latin typeface="Arial"/>
                        </a:rPr>
                        <a:t>FRS v2.0, workbook, test plan, guide and deck</a:t>
                      </a:r>
                    </a:p>
                  </a:txBody>
                  <a:tcPr marL="73152" marR="73152" marT="36576" marB="36576">
                    <a:solidFill>
                      <a:srgbClr val="FFFFFF"/>
                    </a:solidFill>
                  </a:tcPr>
                </a:tc>
                <a:tc>
                  <a:txBody>
                    <a:bodyPr/>
                    <a:lstStyle/>
                    <a:p>
                      <a:r>
                        <a:rPr sz="1000" b="0">
                          <a:solidFill>
                            <a:srgbClr val="4B4B4B"/>
                          </a:solidFill>
                          <a:latin typeface="Arial"/>
                        </a:rPr>
                        <a:t>Release set v2.0 in the BRD-06 folder; invitations to the sessions</a:t>
                      </a:r>
                    </a:p>
                  </a:txBody>
                  <a:tcPr marL="73152" marR="73152" marT="36576" marB="36576">
                    <a:solidFill>
                      <a:srgbClr val="FFFFFF"/>
                    </a:solidFill>
                  </a:tcPr>
                </a:tc>
                <a:tc>
                  <a:txBody>
                    <a:bodyPr/>
                    <a:lstStyle/>
                    <a:p>
                      <a:r>
                        <a:rPr sz="1000" b="0">
                          <a:solidFill>
                            <a:srgbClr val="4B4B4B"/>
                          </a:solidFill>
                          <a:latin typeface="Arial"/>
                        </a:rPr>
                        <a:t>Day 0 (Thu 8-Oct-2026); sessions in the Drop 1 window of November 2026</a:t>
                      </a:r>
                    </a:p>
                  </a:txBody>
                  <a:tcPr marL="73152" marR="73152" marT="36576" marB="36576">
                    <a:solidFill>
                      <a:srgbClr val="FFFFFF"/>
                    </a:solidFill>
                  </a:tcPr>
                </a:tc>
              </a:tr>
              <a:tr h="365760">
                <a:tc>
                  <a:txBody>
                    <a:bodyPr/>
                    <a:lstStyle/>
                    <a:p>
                      <a:r>
                        <a:rPr sz="1000" b="0">
                          <a:solidFill>
                            <a:srgbClr val="4B4B4B"/>
                          </a:solidFill>
                          <a:latin typeface="Arial"/>
                        </a:rPr>
                        <a:t>2. Kick-off and screen walkthrough on SIT</a:t>
                      </a:r>
                    </a:p>
                  </a:txBody>
                  <a:tcPr marL="73152" marR="73152" marT="36576" marB="36576">
                    <a:solidFill>
                      <a:srgbClr val="E5F5FF"/>
                    </a:solidFill>
                  </a:tcPr>
                </a:tc>
                <a:tc>
                  <a:txBody>
                    <a:bodyPr/>
                    <a:lstStyle/>
                    <a:p>
                      <a:r>
                        <a:rPr sz="1000" b="0">
                          <a:solidFill>
                            <a:srgbClr val="4B4B4B"/>
                          </a:solidFill>
                          <a:latin typeface="Arial"/>
                        </a:rPr>
                        <a:t>R: iorta TechNXT Business Analysis; A: BDOI Product Owner; C: Marketing and Processing input providers, MBS; I: Contact Center, LAMD, BDOI IT</a:t>
                      </a:r>
                    </a:p>
                  </a:txBody>
                  <a:tcPr marL="73152" marR="73152" marT="36576" marB="36576">
                    <a:solidFill>
                      <a:srgbClr val="E5F5FF"/>
                    </a:solidFill>
                  </a:tcPr>
                </a:tc>
                <a:tc>
                  <a:txBody>
                    <a:bodyPr/>
                    <a:lstStyle/>
                    <a:p>
                      <a:r>
                        <a:rPr sz="1000" b="0">
                          <a:solidFill>
                            <a:srgbClr val="4B4B4B"/>
                          </a:solidFill>
                          <a:latin typeface="Arial"/>
                        </a:rPr>
                        <a:t>Guide deck; SIT users with seed data; walkthroughs A to E</a:t>
                      </a:r>
                    </a:p>
                  </a:txBody>
                  <a:tcPr marL="73152" marR="73152" marT="36576" marB="36576">
                    <a:solidFill>
                      <a:srgbClr val="E5F5FF"/>
                    </a:solidFill>
                  </a:tcPr>
                </a:tc>
                <a:tc>
                  <a:txBody>
                    <a:bodyPr/>
                    <a:lstStyle/>
                    <a:p>
                      <a:r>
                        <a:rPr sz="1000" b="0">
                          <a:solidFill>
                            <a:srgbClr val="4B4B4B"/>
                          </a:solidFill>
                          <a:latin typeface="Arial"/>
                        </a:rPr>
                        <a:t>Screens shown live (expiry list and disposition, review and transfers, processing and the insurer, letters and acceptance, set-up); first questions logged in the comments log; minutes</a:t>
                      </a:r>
                    </a:p>
                  </a:txBody>
                  <a:tcPr marL="73152" marR="73152" marT="36576" marB="36576">
                    <a:solidFill>
                      <a:srgbClr val="E5F5FF"/>
                    </a:solidFill>
                  </a:tcPr>
                </a:tc>
                <a:tc>
                  <a:txBody>
                    <a:bodyPr/>
                    <a:lstStyle/>
                    <a:p>
                      <a:r>
                        <a:rPr sz="1000" b="0">
                          <a:solidFill>
                            <a:srgbClr val="4B4B4B"/>
                          </a:solidFill>
                          <a:latin typeface="Arial"/>
                        </a:rPr>
                        <a:t>3 sessions, 4 to 6-Nov-2026</a:t>
                      </a:r>
                    </a:p>
                  </a:txBody>
                  <a:tcPr marL="73152" marR="73152" marT="36576" marB="36576">
                    <a:solidFill>
                      <a:srgbClr val="E5F5FF"/>
                    </a:solidFill>
                  </a:tcPr>
                </a:tc>
              </a:tr>
              <a:tr h="365760">
                <a:tc>
                  <a:txBody>
                    <a:bodyPr/>
                    <a:lstStyle/>
                    <a:p>
                      <a:r>
                        <a:rPr sz="1000" b="0">
                          <a:solidFill>
                            <a:srgbClr val="4B4B4B"/>
                          </a:solidFill>
                          <a:latin typeface="Arial"/>
                        </a:rPr>
                        <a:t>3. Review with the workbook</a:t>
                      </a:r>
                    </a:p>
                  </a:txBody>
                  <a:tcPr marL="73152" marR="73152" marT="36576" marB="36576">
                    <a:solidFill>
                      <a:srgbClr val="FFFFFF"/>
                    </a:solidFill>
                  </a:tcPr>
                </a:tc>
                <a:tc>
                  <a:txBody>
                    <a:bodyPr/>
                    <a:lstStyle/>
                    <a:p>
                      <a:r>
                        <a:rPr sz="1000" b="0">
                          <a:solidFill>
                            <a:srgbClr val="4B4B4B"/>
                          </a:solidFill>
                          <a:latin typeface="Arial"/>
                        </a:rPr>
                        <a:t>R: Marketing Team Leaders and Account Officers, Processing Team Leaders and Officers, MBS; A: Marketing Business Services and System Support; C: iorta TechNXT (questions)</a:t>
                      </a:r>
                    </a:p>
                  </a:txBody>
                  <a:tcPr marL="73152" marR="73152" marT="36576" marB="36576">
                    <a:solidFill>
                      <a:srgbClr val="FFFFFF"/>
                    </a:solidFill>
                  </a:tcPr>
                </a:tc>
                <a:tc>
                  <a:txBody>
                    <a:bodyPr/>
                    <a:lstStyle/>
                    <a:p>
                      <a:r>
                        <a:rPr sz="1000" b="0">
                          <a:solidFill>
                            <a:srgbClr val="4B4B4B"/>
                          </a:solidFill>
                          <a:latin typeface="Arial"/>
                        </a:rPr>
                        <a:t>FRS chapters of the area; workbook sheets with the BU review columns</a:t>
                      </a:r>
                    </a:p>
                  </a:txBody>
                  <a:tcPr marL="73152" marR="73152" marT="36576" marB="36576">
                    <a:solidFill>
                      <a:srgbClr val="FFFFFF"/>
                    </a:solidFill>
                  </a:tcPr>
                </a:tc>
                <a:tc>
                  <a:txBody>
                    <a:bodyPr/>
                    <a:lstStyle/>
                    <a:p>
                      <a:r>
                        <a:rPr sz="1000" b="0">
                          <a:solidFill>
                            <a:srgbClr val="4B4B4B"/>
                          </a:solidFill>
                          <a:latin typeface="Arial"/>
                        </a:rPr>
                        <a:t>Every row marked Accept, Change requested or Comment; comments log entries</a:t>
                      </a:r>
                    </a:p>
                  </a:txBody>
                  <a:tcPr marL="73152" marR="73152" marT="36576" marB="36576">
                    <a:solidFill>
                      <a:srgbClr val="FFFFFF"/>
                    </a:solidFill>
                  </a:tcPr>
                </a:tc>
                <a:tc>
                  <a:txBody>
                    <a:bodyPr/>
                    <a:lstStyle/>
                    <a:p>
                      <a:r>
                        <a:rPr sz="1000" b="0">
                          <a:solidFill>
                            <a:srgbClr val="4B4B4B"/>
                          </a:solidFill>
                          <a:latin typeface="Arial"/>
                        </a:rPr>
                        <a:t>10 working days after the walkthroughs, until Fri 20-Nov-2026</a:t>
                      </a:r>
                    </a:p>
                  </a:txBody>
                  <a:tcPr marL="73152" marR="73152" marT="36576" marB="36576">
                    <a:solidFill>
                      <a:srgbClr val="FFFFFF"/>
                    </a:solidFill>
                  </a:tcPr>
                </a:tc>
              </a:tr>
              <a:tr h="365760">
                <a:tc>
                  <a:txBody>
                    <a:bodyPr/>
                    <a:lstStyle/>
                    <a:p>
                      <a:r>
                        <a:rPr sz="1000" b="0">
                          <a:solidFill>
                            <a:srgbClr val="4B4B4B"/>
                          </a:solidFill>
                          <a:latin typeface="Arial"/>
                        </a:rPr>
                        <a:t>4. Comments consolidated and a Q&amp;A session</a:t>
                      </a:r>
                    </a:p>
                  </a:txBody>
                  <a:tcPr marL="73152" marR="73152" marT="36576" marB="36576">
                    <a:solidFill>
                      <a:srgbClr val="E5F5FF"/>
                    </a:solidFill>
                  </a:tcPr>
                </a:tc>
                <a:tc>
                  <a:txBody>
                    <a:bodyPr/>
                    <a:lstStyle/>
                    <a:p>
                      <a:r>
                        <a:rPr sz="1000" b="0">
                          <a:solidFill>
                            <a:srgbClr val="4B4B4B"/>
                          </a:solidFill>
                          <a:latin typeface="Arial"/>
                        </a:rPr>
                        <a:t>R: iorta TechNXT Project Manager and Business Analysis; A: BDOI Product Owner; C: reviewers</a:t>
                      </a:r>
                    </a:p>
                  </a:txBody>
                  <a:tcPr marL="73152" marR="73152" marT="36576" marB="36576">
                    <a:solidFill>
                      <a:srgbClr val="E5F5FF"/>
                    </a:solidFill>
                  </a:tcPr>
                </a:tc>
                <a:tc>
                  <a:txBody>
                    <a:bodyPr/>
                    <a:lstStyle/>
                    <a:p>
                      <a:r>
                        <a:rPr sz="1000" b="0">
                          <a:solidFill>
                            <a:srgbClr val="4B4B4B"/>
                          </a:solidFill>
                          <a:latin typeface="Arial"/>
                        </a:rPr>
                        <a:t>Returned workbooks</a:t>
                      </a:r>
                    </a:p>
                  </a:txBody>
                  <a:tcPr marL="73152" marR="73152" marT="36576" marB="36576">
                    <a:solidFill>
                      <a:srgbClr val="E5F5FF"/>
                    </a:solidFill>
                  </a:tcPr>
                </a:tc>
                <a:tc>
                  <a:txBody>
                    <a:bodyPr/>
                    <a:lstStyle/>
                    <a:p>
                      <a:r>
                        <a:rPr sz="1000" b="0">
                          <a:solidFill>
                            <a:srgbClr val="4B4B4B"/>
                          </a:solidFill>
                          <a:latin typeface="Arial"/>
                        </a:rPr>
                        <a:t>One consolidated comments log, each item typed (clarification, correction, change request) and answered; Q&amp;A minutes</a:t>
                      </a:r>
                    </a:p>
                  </a:txBody>
                  <a:tcPr marL="73152" marR="73152" marT="36576" marB="36576">
                    <a:solidFill>
                      <a:srgbClr val="E5F5FF"/>
                    </a:solidFill>
                  </a:tcPr>
                </a:tc>
                <a:tc>
                  <a:txBody>
                    <a:bodyPr/>
                    <a:lstStyle/>
                    <a:p>
                      <a:r>
                        <a:rPr sz="1000" b="0">
                          <a:solidFill>
                            <a:srgbClr val="4B4B4B"/>
                          </a:solidFill>
                          <a:latin typeface="Arial"/>
                        </a:rPr>
                        <a:t>2 working days, Q&amp;A on Tue 24-Nov-2026</a:t>
                      </a:r>
                    </a:p>
                  </a:txBody>
                  <a:tcPr marL="73152" marR="73152" marT="36576" marB="36576">
                    <a:solidFill>
                      <a:srgbClr val="E5F5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Steps in detail (2 of 2): who, inputs, outputs, duration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a:t>
            </a:r>
          </a:p>
        </p:txBody>
      </p:sp>
      <p:graphicFrame>
        <p:nvGraphicFramePr>
          <p:cNvPr id="9" name="Table 8"/>
          <p:cNvGraphicFramePr>
            <a:graphicFrameLocks noGrp="1"/>
          </p:cNvGraphicFramePr>
          <p:nvPr/>
        </p:nvGraphicFramePr>
        <p:xfrm>
          <a:off x="548640" y="1371600"/>
          <a:ext cx="11094412" cy="1828800"/>
        </p:xfrm>
        <a:graphic>
          <a:graphicData uri="http://schemas.openxmlformats.org/drawingml/2006/table">
            <a:tbl>
              <a:tblPr firstRow="1" bandRow="1">
                <a:tableStyleId>{5C22544A-7EE6-4342-B048-85BDC9FD1C3A}</a:tableStyleId>
              </a:tblPr>
              <a:tblGrid>
                <a:gridCol w="1807978"/>
                <a:gridCol w="2794148"/>
                <a:gridCol w="2301063"/>
                <a:gridCol w="2629787"/>
                <a:gridCol w="1561436"/>
              </a:tblGrid>
              <a:tr h="365760">
                <a:tc>
                  <a:txBody>
                    <a:bodyPr/>
                    <a:lstStyle/>
                    <a:p>
                      <a:r>
                        <a:rPr sz="1000" b="1">
                          <a:solidFill>
                            <a:srgbClr val="FFFFFF"/>
                          </a:solidFill>
                          <a:latin typeface="Arial"/>
                        </a:rPr>
                        <a:t>Step</a:t>
                      </a:r>
                    </a:p>
                  </a:txBody>
                  <a:tcPr marL="73152" marR="73152" marT="36576" marB="36576">
                    <a:solidFill>
                      <a:srgbClr val="004EA8"/>
                    </a:solidFill>
                  </a:tcPr>
                </a:tc>
                <a:tc>
                  <a:txBody>
                    <a:bodyPr/>
                    <a:lstStyle/>
                    <a:p>
                      <a:r>
                        <a:rPr sz="1000" b="1">
                          <a:solidFill>
                            <a:srgbClr val="FFFFFF"/>
                          </a:solidFill>
                          <a:latin typeface="Arial"/>
                        </a:rPr>
                        <a:t>Who (R, A, C, I)</a:t>
                      </a:r>
                    </a:p>
                  </a:txBody>
                  <a:tcPr marL="73152" marR="73152" marT="36576" marB="36576">
                    <a:solidFill>
                      <a:srgbClr val="004EA8"/>
                    </a:solidFill>
                  </a:tcPr>
                </a:tc>
                <a:tc>
                  <a:txBody>
                    <a:bodyPr/>
                    <a:lstStyle/>
                    <a:p>
                      <a:r>
                        <a:rPr sz="1000" b="1">
                          <a:solidFill>
                            <a:srgbClr val="FFFFFF"/>
                          </a:solidFill>
                          <a:latin typeface="Arial"/>
                        </a:rPr>
                        <a:t>Inputs</a:t>
                      </a:r>
                    </a:p>
                  </a:txBody>
                  <a:tcPr marL="73152" marR="73152" marT="36576" marB="36576">
                    <a:solidFill>
                      <a:srgbClr val="004EA8"/>
                    </a:solidFill>
                  </a:tcPr>
                </a:tc>
                <a:tc>
                  <a:txBody>
                    <a:bodyPr/>
                    <a:lstStyle/>
                    <a:p>
                      <a:r>
                        <a:rPr sz="1000" b="1">
                          <a:solidFill>
                            <a:srgbClr val="FFFFFF"/>
                          </a:solidFill>
                          <a:latin typeface="Arial"/>
                        </a:rPr>
                        <a:t>Outputs</a:t>
                      </a:r>
                    </a:p>
                  </a:txBody>
                  <a:tcPr marL="73152" marR="73152" marT="36576" marB="36576">
                    <a:solidFill>
                      <a:srgbClr val="004EA8"/>
                    </a:solidFill>
                  </a:tcPr>
                </a:tc>
                <a:tc>
                  <a:txBody>
                    <a:bodyPr/>
                    <a:lstStyle/>
                    <a:p>
                      <a:r>
                        <a:rPr sz="1000" b="1">
                          <a:solidFill>
                            <a:srgbClr val="FFFFFF"/>
                          </a:solidFill>
                          <a:latin typeface="Arial"/>
                        </a:rPr>
                        <a:t>Duration</a:t>
                      </a:r>
                    </a:p>
                  </a:txBody>
                  <a:tcPr marL="73152" marR="73152" marT="36576" marB="36576">
                    <a:solidFill>
                      <a:srgbClr val="004EA8"/>
                    </a:solidFill>
                  </a:tcPr>
                </a:tc>
              </a:tr>
              <a:tr h="365760">
                <a:tc>
                  <a:txBody>
                    <a:bodyPr/>
                    <a:lstStyle/>
                    <a:p>
                      <a:r>
                        <a:rPr sz="1000" b="0">
                          <a:solidFill>
                            <a:srgbClr val="4B4B4B"/>
                          </a:solidFill>
                          <a:latin typeface="Arial"/>
                        </a:rPr>
                        <a:t>5. One revision cycle (v2.1)</a:t>
                      </a:r>
                    </a:p>
                  </a:txBody>
                  <a:tcPr marL="73152" marR="73152" marT="36576" marB="36576">
                    <a:solidFill>
                      <a:srgbClr val="FFFFFF"/>
                    </a:solidFill>
                  </a:tcPr>
                </a:tc>
                <a:tc>
                  <a:txBody>
                    <a:bodyPr/>
                    <a:lstStyle/>
                    <a:p>
                      <a:r>
                        <a:rPr sz="1000" b="0">
                          <a:solidFill>
                            <a:srgbClr val="4B4B4B"/>
                          </a:solidFill>
                          <a:latin typeface="Arial"/>
                        </a:rPr>
                        <a:t>R: iorta TechNXT Business Analysis; A: iorta TechNXT delivery lead; C: reviewers who raised the items</a:t>
                      </a:r>
                    </a:p>
                  </a:txBody>
                  <a:tcPr marL="73152" marR="73152" marT="36576" marB="36576">
                    <a:solidFill>
                      <a:srgbClr val="FFFFFF"/>
                    </a:solidFill>
                  </a:tcPr>
                </a:tc>
                <a:tc>
                  <a:txBody>
                    <a:bodyPr/>
                    <a:lstStyle/>
                    <a:p>
                      <a:r>
                        <a:rPr sz="1000" b="0">
                          <a:solidFill>
                            <a:srgbClr val="4B4B4B"/>
                          </a:solidFill>
                          <a:latin typeface="Arial"/>
                        </a:rPr>
                        <a:t>Agreed clarifications and corrections</a:t>
                      </a:r>
                    </a:p>
                  </a:txBody>
                  <a:tcPr marL="73152" marR="73152" marT="36576" marB="36576">
                    <a:solidFill>
                      <a:srgbClr val="FFFFFF"/>
                    </a:solidFill>
                  </a:tcPr>
                </a:tc>
                <a:tc>
                  <a:txBody>
                    <a:bodyPr/>
                    <a:lstStyle/>
                    <a:p>
                      <a:r>
                        <a:rPr sz="1000" b="0">
                          <a:solidFill>
                            <a:srgbClr val="4B4B4B"/>
                          </a:solidFill>
                          <a:latin typeface="Arial"/>
                        </a:rPr>
                        <a:t>Release set v2.1 with the changed rows marked; change requests raised for the rest</a:t>
                      </a:r>
                    </a:p>
                  </a:txBody>
                  <a:tcPr marL="73152" marR="73152" marT="36576" marB="36576">
                    <a:solidFill>
                      <a:srgbClr val="FFFFFF"/>
                    </a:solidFill>
                  </a:tcPr>
                </a:tc>
                <a:tc>
                  <a:txBody>
                    <a:bodyPr/>
                    <a:lstStyle/>
                    <a:p>
                      <a:r>
                        <a:rPr sz="1000" b="0">
                          <a:solidFill>
                            <a:srgbClr val="4B4B4B"/>
                          </a:solidFill>
                          <a:latin typeface="Arial"/>
                        </a:rPr>
                        <a:t>1 working day, v2.1 on Wed 25-Nov-2026; check by the reviewers until Thu 26-Nov-2026</a:t>
                      </a:r>
                    </a:p>
                  </a:txBody>
                  <a:tcPr marL="73152" marR="73152" marT="36576" marB="36576">
                    <a:solidFill>
                      <a:srgbClr val="FFFFFF"/>
                    </a:solidFill>
                  </a:tcPr>
                </a:tc>
              </a:tr>
              <a:tr h="365760">
                <a:tc>
                  <a:txBody>
                    <a:bodyPr/>
                    <a:lstStyle/>
                    <a:p>
                      <a:r>
                        <a:rPr sz="1000" b="0">
                          <a:solidFill>
                            <a:srgbClr val="4B4B4B"/>
                          </a:solidFill>
                          <a:latin typeface="Arial"/>
                        </a:rPr>
                        <a:t>6. Sign-off meeting and signature</a:t>
                      </a:r>
                    </a:p>
                  </a:txBody>
                  <a:tcPr marL="73152" marR="73152" marT="36576" marB="36576">
                    <a:solidFill>
                      <a:srgbClr val="E5F5FF"/>
                    </a:solidFill>
                  </a:tcPr>
                </a:tc>
                <a:tc>
                  <a:txBody>
                    <a:bodyPr/>
                    <a:lstStyle/>
                    <a:p>
                      <a:r>
                        <a:rPr sz="1000" b="0">
                          <a:solidFill>
                            <a:srgbClr val="4B4B4B"/>
                          </a:solidFill>
                          <a:latin typeface="Arial"/>
                        </a:rPr>
                        <a:t>R: iorta TechNXT Project Manager; A: BDOI Product Owner; C: Product Owners, Marketing heads, Combank / Corbank Unit Head, BDOI IT</a:t>
                      </a:r>
                    </a:p>
                  </a:txBody>
                  <a:tcPr marL="73152" marR="73152" marT="36576" marB="36576">
                    <a:solidFill>
                      <a:srgbClr val="E5F5FF"/>
                    </a:solidFill>
                  </a:tcPr>
                </a:tc>
                <a:tc>
                  <a:txBody>
                    <a:bodyPr/>
                    <a:lstStyle/>
                    <a:p>
                      <a:r>
                        <a:rPr sz="1000" b="0">
                          <a:solidFill>
                            <a:srgbClr val="4B4B4B"/>
                          </a:solidFill>
                          <a:latin typeface="Arial"/>
                        </a:rPr>
                        <a:t>v2.1 (or v2.0 when no revision is needed); open items with their decision</a:t>
                      </a:r>
                    </a:p>
                  </a:txBody>
                  <a:tcPr marL="73152" marR="73152" marT="36576" marB="36576">
                    <a:solidFill>
                      <a:srgbClr val="E5F5FF"/>
                    </a:solidFill>
                  </a:tcPr>
                </a:tc>
                <a:tc>
                  <a:txBody>
                    <a:bodyPr/>
                    <a:lstStyle/>
                    <a:p>
                      <a:r>
                        <a:rPr sz="1000" b="0">
                          <a:solidFill>
                            <a:srgbClr val="4B4B4B"/>
                          </a:solidFill>
                          <a:latin typeface="Arial"/>
                        </a:rPr>
                        <a:t>Signed sign-off certificate; minutes; open items accepted as assumptions or change requests</a:t>
                      </a:r>
                    </a:p>
                  </a:txBody>
                  <a:tcPr marL="73152" marR="73152" marT="36576" marB="36576">
                    <a:solidFill>
                      <a:srgbClr val="E5F5FF"/>
                    </a:solidFill>
                  </a:tcPr>
                </a:tc>
                <a:tc>
                  <a:txBody>
                    <a:bodyPr/>
                    <a:lstStyle/>
                    <a:p>
                      <a:r>
                        <a:rPr sz="1000" b="0">
                          <a:solidFill>
                            <a:srgbClr val="4B4B4B"/>
                          </a:solidFill>
                          <a:latin typeface="Arial"/>
                        </a:rPr>
                        <a:t>Fri 27-Nov-2026</a:t>
                      </a:r>
                    </a:p>
                  </a:txBody>
                  <a:tcPr marL="73152" marR="73152" marT="36576" marB="36576">
                    <a:solidFill>
                      <a:srgbClr val="E5F5FF"/>
                    </a:solidFill>
                  </a:tcPr>
                </a:tc>
              </a:tr>
              <a:tr h="365760">
                <a:tc>
                  <a:txBody>
                    <a:bodyPr/>
                    <a:lstStyle/>
                    <a:p>
                      <a:r>
                        <a:rPr sz="1000" b="0">
                          <a:solidFill>
                            <a:srgbClr val="4B4B4B"/>
                          </a:solidFill>
                          <a:latin typeface="Arial"/>
                        </a:rPr>
                        <a:t>7. Content freeze</a:t>
                      </a:r>
                    </a:p>
                  </a:txBody>
                  <a:tcPr marL="73152" marR="73152" marT="36576" marB="36576">
                    <a:solidFill>
                      <a:srgbClr val="FFFFFF"/>
                    </a:solidFill>
                  </a:tcPr>
                </a:tc>
                <a:tc>
                  <a:txBody>
                    <a:bodyPr/>
                    <a:lstStyle/>
                    <a:p>
                      <a:r>
                        <a:rPr sz="1000" b="0">
                          <a:solidFill>
                            <a:srgbClr val="4B4B4B"/>
                          </a:solidFill>
                          <a:latin typeface="Arial"/>
                        </a:rPr>
                        <a:t>R: iorta TechNXT delivery lead; A: BDOI Product Owner; I: BDOI IT, other BRD owners</a:t>
                      </a:r>
                    </a:p>
                  </a:txBody>
                  <a:tcPr marL="73152" marR="73152" marT="36576" marB="36576">
                    <a:solidFill>
                      <a:srgbClr val="FFFFFF"/>
                    </a:solidFill>
                  </a:tcPr>
                </a:tc>
                <a:tc>
                  <a:txBody>
                    <a:bodyPr/>
                    <a:lstStyle/>
                    <a:p>
                      <a:r>
                        <a:rPr sz="1000" b="0">
                          <a:solidFill>
                            <a:srgbClr val="4B4B4B"/>
                          </a:solidFill>
                          <a:latin typeface="Arial"/>
                        </a:rPr>
                        <a:t>Signed set; change requests with mandays</a:t>
                      </a:r>
                    </a:p>
                  </a:txBody>
                  <a:tcPr marL="73152" marR="73152" marT="36576" marB="36576">
                    <a:solidFill>
                      <a:srgbClr val="FFFFFF"/>
                    </a:solidFill>
                  </a:tcPr>
                </a:tc>
                <a:tc>
                  <a:txBody>
                    <a:bodyPr/>
                    <a:lstStyle/>
                    <a:p>
                      <a:r>
                        <a:rPr sz="1000" b="0">
                          <a:solidFill>
                            <a:srgbClr val="4B4B4B"/>
                          </a:solidFill>
                          <a:latin typeface="Arial"/>
                        </a:rPr>
                        <a:t>Content frozen as signed; approved deltas scheduled in the Change Management Register</a:t>
                      </a:r>
                    </a:p>
                  </a:txBody>
                  <a:tcPr marL="73152" marR="73152" marT="36576" marB="36576">
                    <a:solidFill>
                      <a:srgbClr val="FFFFFF"/>
                    </a:solidFill>
                  </a:tcPr>
                </a:tc>
                <a:tc>
                  <a:txBody>
                    <a:bodyPr/>
                    <a:lstStyle/>
                    <a:p>
                      <a:r>
                        <a:rPr sz="1000" b="0">
                          <a:solidFill>
                            <a:srgbClr val="4B4B4B"/>
                          </a:solidFill>
                          <a:latin typeface="Arial"/>
                        </a:rPr>
                        <a:t>From Mon 30-Nov-2026</a:t>
                      </a:r>
                    </a:p>
                  </a:txBody>
                  <a:tcPr marL="73152" marR="73152" marT="36576" marB="36576">
                    <a:solidFill>
                      <a:srgbClr val="FFFFFF"/>
                    </a:solidFill>
                  </a:tcPr>
                </a:tc>
              </a:tr>
              <a:tr h="365760">
                <a:tc>
                  <a:txBody>
                    <a:bodyPr/>
                    <a:lstStyle/>
                    <a:p>
                      <a:r>
                        <a:rPr sz="1000" b="0">
                          <a:solidFill>
                            <a:srgbClr val="4B4B4B"/>
                          </a:solidFill>
                          <a:latin typeface="Arial"/>
                        </a:rPr>
                        <a:t>8. Traceability into SIT and UAT</a:t>
                      </a:r>
                    </a:p>
                  </a:txBody>
                  <a:tcPr marL="73152" marR="73152" marT="36576" marB="36576">
                    <a:solidFill>
                      <a:srgbClr val="E5F5FF"/>
                    </a:solidFill>
                  </a:tcPr>
                </a:tc>
                <a:tc>
                  <a:txBody>
                    <a:bodyPr/>
                    <a:lstStyle/>
                    <a:p>
                      <a:r>
                        <a:rPr sz="1000" b="0">
                          <a:solidFill>
                            <a:srgbClr val="4B4B4B"/>
                          </a:solidFill>
                          <a:latin typeface="Arial"/>
                        </a:rPr>
                        <a:t>R: iorta TechNXT test lead; A: BDOI Product Owner; C: business users</a:t>
                      </a:r>
                    </a:p>
                  </a:txBody>
                  <a:tcPr marL="73152" marR="73152" marT="36576" marB="36576">
                    <a:solidFill>
                      <a:srgbClr val="E5F5FF"/>
                    </a:solidFill>
                  </a:tcPr>
                </a:tc>
                <a:tc>
                  <a:txBody>
                    <a:bodyPr/>
                    <a:lstStyle/>
                    <a:p>
                      <a:r>
                        <a:rPr sz="1000" b="0">
                          <a:solidFill>
                            <a:srgbClr val="4B4B4B"/>
                          </a:solidFill>
                          <a:latin typeface="Arial"/>
                        </a:rPr>
                        <a:t>Signed FRS rows and test plan</a:t>
                      </a:r>
                    </a:p>
                  </a:txBody>
                  <a:tcPr marL="73152" marR="73152" marT="36576" marB="36576">
                    <a:solidFill>
                      <a:srgbClr val="E5F5FF"/>
                    </a:solidFill>
                  </a:tcPr>
                </a:tc>
                <a:tc>
                  <a:txBody>
                    <a:bodyPr/>
                    <a:lstStyle/>
                    <a:p>
                      <a:r>
                        <a:rPr sz="1000" b="0">
                          <a:solidFill>
                            <a:srgbClr val="4B4B4B"/>
                          </a:solidFill>
                          <a:latin typeface="Arial"/>
                        </a:rPr>
                        <a:t>SIT and UAT runs traced to the signed screens, rules and messages; results against each row</a:t>
                      </a:r>
                    </a:p>
                  </a:txBody>
                  <a:tcPr marL="73152" marR="73152" marT="36576" marB="36576">
                    <a:solidFill>
                      <a:srgbClr val="E5F5FF"/>
                    </a:solidFill>
                  </a:tcPr>
                </a:tc>
                <a:tc>
                  <a:txBody>
                    <a:bodyPr/>
                    <a:lstStyle/>
                    <a:p>
                      <a:r>
                        <a:rPr sz="1000" b="0">
                          <a:solidFill>
                            <a:srgbClr val="4B4B4B"/>
                          </a:solidFill>
                          <a:latin typeface="Arial"/>
                        </a:rPr>
                        <a:t>SIT Jan - Jul 2027; UAT Aug - Dec 2027</a:t>
                      </a:r>
                    </a:p>
                  </a:txBody>
                  <a:tcPr marL="73152" marR="73152" marT="36576" marB="36576">
                    <a:solidFill>
                      <a:srgbClr val="E5F5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Who signs what: parts of the set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a:t>
            </a:r>
          </a:p>
        </p:txBody>
      </p:sp>
      <p:graphicFrame>
        <p:nvGraphicFramePr>
          <p:cNvPr id="9" name="Table 8"/>
          <p:cNvGraphicFramePr>
            <a:graphicFrameLocks noGrp="1"/>
          </p:cNvGraphicFramePr>
          <p:nvPr/>
        </p:nvGraphicFramePr>
        <p:xfrm>
          <a:off x="548640" y="1371600"/>
          <a:ext cx="11094412" cy="2560320"/>
        </p:xfrm>
        <a:graphic>
          <a:graphicData uri="http://schemas.openxmlformats.org/drawingml/2006/table">
            <a:tbl>
              <a:tblPr firstRow="1" bandRow="1">
                <a:tableStyleId>{5C22544A-7EE6-4342-B048-85BDC9FD1C3A}</a:tableStyleId>
              </a:tblPr>
              <a:tblGrid>
                <a:gridCol w="3522036"/>
                <a:gridCol w="1496865"/>
                <a:gridCol w="2025170"/>
                <a:gridCol w="1937120"/>
                <a:gridCol w="2113221"/>
              </a:tblGrid>
              <a:tr h="365760">
                <a:tc>
                  <a:txBody>
                    <a:bodyPr/>
                    <a:lstStyle/>
                    <a:p>
                      <a:r>
                        <a:rPr sz="900" b="1">
                          <a:solidFill>
                            <a:srgbClr val="FFFFFF"/>
                          </a:solidFill>
                          <a:latin typeface="Arial"/>
                        </a:rPr>
                        <a:t>Part of the set</a:t>
                      </a:r>
                    </a:p>
                  </a:txBody>
                  <a:tcPr marL="73152" marR="73152" marT="36576" marB="36576">
                    <a:solidFill>
                      <a:srgbClr val="004EA8"/>
                    </a:solidFill>
                  </a:tcPr>
                </a:tc>
                <a:tc>
                  <a:txBody>
                    <a:bodyPr/>
                    <a:lstStyle/>
                    <a:p>
                      <a:r>
                        <a:rPr sz="900" b="1">
                          <a:solidFill>
                            <a:srgbClr val="FFFFFF"/>
                          </a:solidFill>
                          <a:latin typeface="Arial"/>
                        </a:rPr>
                        <a:t>Prepares</a:t>
                      </a:r>
                    </a:p>
                  </a:txBody>
                  <a:tcPr marL="73152" marR="73152" marT="36576" marB="36576">
                    <a:solidFill>
                      <a:srgbClr val="004EA8"/>
                    </a:solidFill>
                  </a:tcPr>
                </a:tc>
                <a:tc>
                  <a:txBody>
                    <a:bodyPr/>
                    <a:lstStyle/>
                    <a:p>
                      <a:r>
                        <a:rPr sz="900" b="1">
                          <a:solidFill>
                            <a:srgbClr val="FFFFFF"/>
                          </a:solidFill>
                          <a:latin typeface="Arial"/>
                        </a:rPr>
                        <a:t>Provides input</a:t>
                      </a:r>
                    </a:p>
                  </a:txBody>
                  <a:tcPr marL="73152" marR="73152" marT="36576" marB="36576">
                    <a:solidFill>
                      <a:srgbClr val="004EA8"/>
                    </a:solidFill>
                  </a:tcPr>
                </a:tc>
                <a:tc>
                  <a:txBody>
                    <a:bodyPr/>
                    <a:lstStyle/>
                    <a:p>
                      <a:r>
                        <a:rPr sz="900" b="1">
                          <a:solidFill>
                            <a:srgbClr val="FFFFFF"/>
                          </a:solidFill>
                          <a:latin typeface="Arial"/>
                        </a:rPr>
                        <a:t>Reviews</a:t>
                      </a:r>
                    </a:p>
                  </a:txBody>
                  <a:tcPr marL="73152" marR="73152" marT="36576" marB="36576">
                    <a:solidFill>
                      <a:srgbClr val="004EA8"/>
                    </a:solidFill>
                  </a:tcPr>
                </a:tc>
                <a:tc>
                  <a:txBody>
                    <a:bodyPr/>
                    <a:lstStyle/>
                    <a:p>
                      <a:r>
                        <a:rPr sz="900" b="1">
                          <a:solidFill>
                            <a:srgbClr val="FFFFFF"/>
                          </a:solidFill>
                          <a:latin typeface="Arial"/>
                        </a:rPr>
                        <a:t>Approves</a:t>
                      </a:r>
                    </a:p>
                  </a:txBody>
                  <a:tcPr marL="73152" marR="73152" marT="36576" marB="36576">
                    <a:solidFill>
                      <a:srgbClr val="004EA8"/>
                    </a:solidFill>
                  </a:tcPr>
                </a:tc>
              </a:tr>
              <a:tr h="365760">
                <a:tc>
                  <a:txBody>
                    <a:bodyPr/>
                    <a:lstStyle/>
                    <a:p>
                      <a:r>
                        <a:rPr sz="900" b="0">
                          <a:solidFill>
                            <a:srgbClr val="4B4B4B"/>
                          </a:solidFill>
                          <a:latin typeface="Arial"/>
                        </a:rPr>
                        <a:t>Screens and fields (FRS screen specifications; workbook Screen catalogue, Field register)</a:t>
                      </a:r>
                    </a:p>
                  </a:txBody>
                  <a:tcPr marL="73152" marR="73152" marT="36576" marB="36576">
                    <a:solidFill>
                      <a:srgbClr val="FFFFFF"/>
                    </a:solidFill>
                  </a:tcPr>
                </a:tc>
                <a:tc>
                  <a:txBody>
                    <a:bodyPr/>
                    <a:lstStyle/>
                    <a:p>
                      <a:r>
                        <a:rPr sz="900" b="0">
                          <a:solidFill>
                            <a:srgbClr val="4B4B4B"/>
                          </a:solidFill>
                          <a:latin typeface="Arial"/>
                        </a:rPr>
                        <a:t>iorta TechNXT</a:t>
                      </a:r>
                    </a:p>
                  </a:txBody>
                  <a:tcPr marL="73152" marR="73152" marT="36576" marB="36576">
                    <a:solidFill>
                      <a:srgbClr val="FFFFFF"/>
                    </a:solidFill>
                  </a:tcPr>
                </a:tc>
                <a:tc>
                  <a:txBody>
                    <a:bodyPr/>
                    <a:lstStyle/>
                    <a:p>
                      <a:r>
                        <a:rPr sz="900" b="0">
                          <a:solidFill>
                            <a:srgbClr val="4B4B4B"/>
                          </a:solidFill>
                          <a:latin typeface="Arial"/>
                        </a:rPr>
                        <a:t>Marketing &amp; MBS input</a:t>
                      </a:r>
                    </a:p>
                  </a:txBody>
                  <a:tcPr marL="73152" marR="73152" marT="36576" marB="36576">
                    <a:solidFill>
                      <a:srgbClr val="FFFFFF"/>
                    </a:solidFill>
                  </a:tcPr>
                </a:tc>
                <a:tc>
                  <a:txBody>
                    <a:bodyPr/>
                    <a:lstStyle/>
                    <a:p>
                      <a:r>
                        <a:rPr sz="900" b="0">
                          <a:solidFill>
                            <a:srgbClr val="4B4B4B"/>
                          </a:solidFill>
                          <a:latin typeface="Arial"/>
                        </a:rPr>
                        <a:t>Program Manager (BPS), MBS review</a:t>
                      </a:r>
                    </a:p>
                  </a:txBody>
                  <a:tcPr marL="73152" marR="73152" marT="36576" marB="36576">
                    <a:solidFill>
                      <a:srgbClr val="FFFFFF"/>
                    </a:solidFill>
                  </a:tcPr>
                </a:tc>
                <a:tc>
                  <a:txBody>
                    <a:bodyPr/>
                    <a:lstStyle/>
                    <a:p>
                      <a:r>
                        <a:rPr sz="900" b="0">
                          <a:solidFill>
                            <a:srgbClr val="4B4B4B"/>
                          </a:solidFill>
                          <a:latin typeface="Arial"/>
                        </a:rPr>
                        <a:t>Product Owner, Product Owner (2), Combank / Corbank UH, Retail Marketing heads</a:t>
                      </a:r>
                    </a:p>
                  </a:txBody>
                  <a:tcPr marL="73152" marR="73152" marT="36576" marB="36576">
                    <a:solidFill>
                      <a:srgbClr val="FFFFFF"/>
                    </a:solidFill>
                  </a:tcPr>
                </a:tc>
              </a:tr>
              <a:tr h="365760">
                <a:tc>
                  <a:txBody>
                    <a:bodyPr/>
                    <a:lstStyle/>
                    <a:p>
                      <a:r>
                        <a:rPr sz="900" b="0">
                          <a:solidFill>
                            <a:srgbClr val="4B4B4B"/>
                          </a:solidFill>
                          <a:latin typeface="Arial"/>
                        </a:rPr>
                        <a:t>Business rules, checks, classification and the decision matrix</a:t>
                      </a:r>
                    </a:p>
                  </a:txBody>
                  <a:tcPr marL="73152" marR="73152" marT="36576" marB="36576">
                    <a:solidFill>
                      <a:srgbClr val="E5F5FF"/>
                    </a:solidFill>
                  </a:tcPr>
                </a:tc>
                <a:tc>
                  <a:txBody>
                    <a:bodyPr/>
                    <a:lstStyle/>
                    <a:p>
                      <a:r>
                        <a:rPr sz="900" b="0">
                          <a:solidFill>
                            <a:srgbClr val="4B4B4B"/>
                          </a:solidFill>
                          <a:latin typeface="Arial"/>
                        </a:rPr>
                        <a:t>iorta TechNXT</a:t>
                      </a:r>
                    </a:p>
                  </a:txBody>
                  <a:tcPr marL="73152" marR="73152" marT="36576" marB="36576">
                    <a:solidFill>
                      <a:srgbClr val="E5F5FF"/>
                    </a:solidFill>
                  </a:tcPr>
                </a:tc>
                <a:tc>
                  <a:txBody>
                    <a:bodyPr/>
                    <a:lstStyle/>
                    <a:p>
                      <a:r>
                        <a:rPr sz="900" b="0">
                          <a:solidFill>
                            <a:srgbClr val="4B4B4B"/>
                          </a:solidFill>
                          <a:latin typeface="Arial"/>
                        </a:rPr>
                        <a:t>Marketing &amp; MBS input, BA (BPS)</a:t>
                      </a:r>
                    </a:p>
                  </a:txBody>
                  <a:tcPr marL="73152" marR="73152" marT="36576" marB="36576">
                    <a:solidFill>
                      <a:srgbClr val="E5F5FF"/>
                    </a:solidFill>
                  </a:tcPr>
                </a:tc>
                <a:tc>
                  <a:txBody>
                    <a:bodyPr/>
                    <a:lstStyle/>
                    <a:p>
                      <a:r>
                        <a:rPr sz="900" b="0">
                          <a:solidFill>
                            <a:srgbClr val="4B4B4B"/>
                          </a:solidFill>
                          <a:latin typeface="Arial"/>
                        </a:rPr>
                        <a:t>Program Manager (BPS), MBS review</a:t>
                      </a:r>
                    </a:p>
                  </a:txBody>
                  <a:tcPr marL="73152" marR="73152" marT="36576" marB="36576">
                    <a:solidFill>
                      <a:srgbClr val="E5F5FF"/>
                    </a:solidFill>
                  </a:tcPr>
                </a:tc>
                <a:tc>
                  <a:txBody>
                    <a:bodyPr/>
                    <a:lstStyle/>
                    <a:p>
                      <a:r>
                        <a:rPr sz="900" b="0">
                          <a:solidFill>
                            <a:srgbClr val="4B4B4B"/>
                          </a:solidFill>
                          <a:latin typeface="Arial"/>
                        </a:rPr>
                        <a:t>Product Owner, Product Owner (2), Combank / Corbank UH, Retail Marketing heads</a:t>
                      </a:r>
                    </a:p>
                  </a:txBody>
                  <a:tcPr marL="73152" marR="73152" marT="36576" marB="36576">
                    <a:solidFill>
                      <a:srgbClr val="E5F5FF"/>
                    </a:solidFill>
                  </a:tcPr>
                </a:tc>
              </a:tr>
              <a:tr h="365760">
                <a:tc>
                  <a:txBody>
                    <a:bodyPr/>
                    <a:lstStyle/>
                    <a:p>
                      <a:r>
                        <a:rPr sz="900" b="0">
                          <a:solidFill>
                            <a:srgbClr val="4B4B4B"/>
                          </a:solidFill>
                          <a:latin typeface="Arial"/>
                        </a:rPr>
                        <a:t>Messages and notifications</a:t>
                      </a:r>
                    </a:p>
                  </a:txBody>
                  <a:tcPr marL="73152" marR="73152" marT="36576" marB="36576">
                    <a:solidFill>
                      <a:srgbClr val="FFFFFF"/>
                    </a:solidFill>
                  </a:tcPr>
                </a:tc>
                <a:tc>
                  <a:txBody>
                    <a:bodyPr/>
                    <a:lstStyle/>
                    <a:p>
                      <a:r>
                        <a:rPr sz="900" b="0">
                          <a:solidFill>
                            <a:srgbClr val="4B4B4B"/>
                          </a:solidFill>
                          <a:latin typeface="Arial"/>
                        </a:rPr>
                        <a:t>iorta TechNXT</a:t>
                      </a:r>
                    </a:p>
                  </a:txBody>
                  <a:tcPr marL="73152" marR="73152" marT="36576" marB="36576">
                    <a:solidFill>
                      <a:srgbClr val="FFFFFF"/>
                    </a:solidFill>
                  </a:tcPr>
                </a:tc>
                <a:tc>
                  <a:txBody>
                    <a:bodyPr/>
                    <a:lstStyle/>
                    <a:p>
                      <a:r>
                        <a:rPr sz="900" b="0">
                          <a:solidFill>
                            <a:srgbClr val="4B4B4B"/>
                          </a:solidFill>
                          <a:latin typeface="Arial"/>
                        </a:rPr>
                        <a:t>Marketing &amp; MBS input</a:t>
                      </a:r>
                    </a:p>
                  </a:txBody>
                  <a:tcPr marL="73152" marR="73152" marT="36576" marB="36576">
                    <a:solidFill>
                      <a:srgbClr val="FFFFFF"/>
                    </a:solidFill>
                  </a:tcPr>
                </a:tc>
                <a:tc>
                  <a:txBody>
                    <a:bodyPr/>
                    <a:lstStyle/>
                    <a:p>
                      <a:r>
                        <a:rPr sz="900" b="0">
                          <a:solidFill>
                            <a:srgbClr val="4B4B4B"/>
                          </a:solidFill>
                          <a:latin typeface="Arial"/>
                        </a:rPr>
                        <a:t>Program Manager (BPS)</a:t>
                      </a:r>
                    </a:p>
                  </a:txBody>
                  <a:tcPr marL="73152" marR="73152" marT="36576" marB="36576">
                    <a:solidFill>
                      <a:srgbClr val="FFFFFF"/>
                    </a:solidFill>
                  </a:tcPr>
                </a:tc>
                <a:tc>
                  <a:txBody>
                    <a:bodyPr/>
                    <a:lstStyle/>
                    <a:p>
                      <a:r>
                        <a:rPr sz="900" b="0">
                          <a:solidFill>
                            <a:srgbClr val="4B4B4B"/>
                          </a:solidFill>
                          <a:latin typeface="Arial"/>
                        </a:rPr>
                        <a:t>Product Owner, Retail Marketing heads</a:t>
                      </a:r>
                    </a:p>
                  </a:txBody>
                  <a:tcPr marL="73152" marR="73152" marT="36576" marB="36576">
                    <a:solidFill>
                      <a:srgbClr val="FFFFFF"/>
                    </a:solidFill>
                  </a:tcPr>
                </a:tc>
              </a:tr>
              <a:tr h="365760">
                <a:tc>
                  <a:txBody>
                    <a:bodyPr/>
                    <a:lstStyle/>
                    <a:p>
                      <a:r>
                        <a:rPr sz="900" b="0">
                          <a:solidFill>
                            <a:srgbClr val="4B4B4B"/>
                          </a:solidFill>
                          <a:latin typeface="Arial"/>
                        </a:rPr>
                        <a:t>Documents and files (Renewal Advice, No Advice and Not for Renewal letters, insurer extract, expiry list and account details)</a:t>
                      </a:r>
                    </a:p>
                  </a:txBody>
                  <a:tcPr marL="73152" marR="73152" marT="36576" marB="36576">
                    <a:solidFill>
                      <a:srgbClr val="E5F5FF"/>
                    </a:solidFill>
                  </a:tcPr>
                </a:tc>
                <a:tc>
                  <a:txBody>
                    <a:bodyPr/>
                    <a:lstStyle/>
                    <a:p>
                      <a:r>
                        <a:rPr sz="900" b="0">
                          <a:solidFill>
                            <a:srgbClr val="4B4B4B"/>
                          </a:solidFill>
                          <a:latin typeface="Arial"/>
                        </a:rPr>
                        <a:t>iorta TechNXT</a:t>
                      </a:r>
                    </a:p>
                  </a:txBody>
                  <a:tcPr marL="73152" marR="73152" marT="36576" marB="36576">
                    <a:solidFill>
                      <a:srgbClr val="E5F5FF"/>
                    </a:solidFill>
                  </a:tcPr>
                </a:tc>
                <a:tc>
                  <a:txBody>
                    <a:bodyPr/>
                    <a:lstStyle/>
                    <a:p>
                      <a:r>
                        <a:rPr sz="900" b="0">
                          <a:solidFill>
                            <a:srgbClr val="4B4B4B"/>
                          </a:solidFill>
                          <a:latin typeface="Arial"/>
                        </a:rPr>
                        <a:t>Marketing &amp; MBS input</a:t>
                      </a:r>
                    </a:p>
                  </a:txBody>
                  <a:tcPr marL="73152" marR="73152" marT="36576" marB="36576">
                    <a:solidFill>
                      <a:srgbClr val="E5F5FF"/>
                    </a:solidFill>
                  </a:tcPr>
                </a:tc>
                <a:tc>
                  <a:txBody>
                    <a:bodyPr/>
                    <a:lstStyle/>
                    <a:p>
                      <a:r>
                        <a:rPr sz="900" b="0">
                          <a:solidFill>
                            <a:srgbClr val="4B4B4B"/>
                          </a:solidFill>
                          <a:latin typeface="Arial"/>
                        </a:rPr>
                        <a:t>Program Manager (BPS), MBS review</a:t>
                      </a:r>
                    </a:p>
                  </a:txBody>
                  <a:tcPr marL="73152" marR="73152" marT="36576" marB="36576">
                    <a:solidFill>
                      <a:srgbClr val="E5F5FF"/>
                    </a:solidFill>
                  </a:tcPr>
                </a:tc>
                <a:tc>
                  <a:txBody>
                    <a:bodyPr/>
                    <a:lstStyle/>
                    <a:p>
                      <a:r>
                        <a:rPr sz="900" b="0">
                          <a:solidFill>
                            <a:srgbClr val="4B4B4B"/>
                          </a:solidFill>
                          <a:latin typeface="Arial"/>
                        </a:rPr>
                        <a:t>Product Owner, Combank / Corbank UH, Retail Marketing heads</a:t>
                      </a:r>
                    </a:p>
                  </a:txBody>
                  <a:tcPr marL="73152" marR="73152" marT="36576" marB="36576">
                    <a:solidFill>
                      <a:srgbClr val="E5F5FF"/>
                    </a:solidFill>
                  </a:tcPr>
                </a:tc>
              </a:tr>
              <a:tr h="365760">
                <a:tc>
                  <a:txBody>
                    <a:bodyPr/>
                    <a:lstStyle/>
                    <a:p>
                      <a:r>
                        <a:rPr sz="900" b="0">
                          <a:solidFill>
                            <a:srgbClr val="4B4B4B"/>
                          </a:solidFill>
                          <a:latin typeface="Arial"/>
                        </a:rPr>
                        <a:t>Walkthroughs (end-to-end, screen by screen)</a:t>
                      </a:r>
                    </a:p>
                  </a:txBody>
                  <a:tcPr marL="73152" marR="73152" marT="36576" marB="36576">
                    <a:solidFill>
                      <a:srgbClr val="FFFFFF"/>
                    </a:solidFill>
                  </a:tcPr>
                </a:tc>
                <a:tc>
                  <a:txBody>
                    <a:bodyPr/>
                    <a:lstStyle/>
                    <a:p>
                      <a:r>
                        <a:rPr sz="900" b="0">
                          <a:solidFill>
                            <a:srgbClr val="4B4B4B"/>
                          </a:solidFill>
                          <a:latin typeface="Arial"/>
                        </a:rPr>
                        <a:t>iorta TechNXT</a:t>
                      </a:r>
                    </a:p>
                  </a:txBody>
                  <a:tcPr marL="73152" marR="73152" marT="36576" marB="36576">
                    <a:solidFill>
                      <a:srgbClr val="FFFFFF"/>
                    </a:solidFill>
                  </a:tcPr>
                </a:tc>
                <a:tc>
                  <a:txBody>
                    <a:bodyPr/>
                    <a:lstStyle/>
                    <a:p>
                      <a:r>
                        <a:rPr sz="900" b="0">
                          <a:solidFill>
                            <a:srgbClr val="4B4B4B"/>
                          </a:solidFill>
                          <a:latin typeface="Arial"/>
                        </a:rPr>
                        <a:t>Marketing &amp; MBS input</a:t>
                      </a:r>
                    </a:p>
                  </a:txBody>
                  <a:tcPr marL="73152" marR="73152" marT="36576" marB="36576">
                    <a:solidFill>
                      <a:srgbClr val="FFFFFF"/>
                    </a:solidFill>
                  </a:tcPr>
                </a:tc>
                <a:tc>
                  <a:txBody>
                    <a:bodyPr/>
                    <a:lstStyle/>
                    <a:p>
                      <a:r>
                        <a:rPr sz="900" b="0">
                          <a:solidFill>
                            <a:srgbClr val="4B4B4B"/>
                          </a:solidFill>
                          <a:latin typeface="Arial"/>
                        </a:rPr>
                        <a:t>Program Manager (BPS)</a:t>
                      </a:r>
                    </a:p>
                  </a:txBody>
                  <a:tcPr marL="73152" marR="73152" marT="36576" marB="36576">
                    <a:solidFill>
                      <a:srgbClr val="FFFFFF"/>
                    </a:solidFill>
                  </a:tcPr>
                </a:tc>
                <a:tc>
                  <a:txBody>
                    <a:bodyPr/>
                    <a:lstStyle/>
                    <a:p>
                      <a:r>
                        <a:rPr sz="900" b="0">
                          <a:solidFill>
                            <a:srgbClr val="4B4B4B"/>
                          </a:solidFill>
                          <a:latin typeface="Arial"/>
                        </a:rPr>
                        <a:t>Product Owner</a:t>
                      </a:r>
                    </a:p>
                  </a:txBody>
                  <a:tcPr marL="73152" marR="73152" marT="36576" marB="36576">
                    <a:solidFill>
                      <a:srgbClr val="FFFFFF"/>
                    </a:solidFill>
                  </a:tcPr>
                </a:tc>
              </a:tr>
              <a:tr h="365760">
                <a:tc>
                  <a:txBody>
                    <a:bodyPr/>
                    <a:lstStyle/>
                    <a:p>
                      <a:r>
                        <a:rPr sz="900" b="0">
                          <a:solidFill>
                            <a:srgbClr val="4B4B4B"/>
                          </a:solidFill>
                          <a:latin typeface="Arial"/>
                        </a:rPr>
                        <a:t>Proposed business rules and clarifications for confirmation</a:t>
                      </a:r>
                    </a:p>
                  </a:txBody>
                  <a:tcPr marL="73152" marR="73152" marT="36576" marB="36576">
                    <a:solidFill>
                      <a:srgbClr val="E5F5FF"/>
                    </a:solidFill>
                  </a:tcPr>
                </a:tc>
                <a:tc>
                  <a:txBody>
                    <a:bodyPr/>
                    <a:lstStyle/>
                    <a:p>
                      <a:r>
                        <a:rPr sz="900" b="0">
                          <a:solidFill>
                            <a:srgbClr val="4B4B4B"/>
                          </a:solidFill>
                          <a:latin typeface="Arial"/>
                        </a:rPr>
                        <a:t>iorta TechNXT, BA (BPS)</a:t>
                      </a:r>
                    </a:p>
                  </a:txBody>
                  <a:tcPr marL="73152" marR="73152" marT="36576" marB="36576">
                    <a:solidFill>
                      <a:srgbClr val="E5F5FF"/>
                    </a:solidFill>
                  </a:tcPr>
                </a:tc>
                <a:tc>
                  <a:txBody>
                    <a:bodyPr/>
                    <a:lstStyle/>
                    <a:p>
                      <a:r>
                        <a:rPr sz="900" b="0">
                          <a:solidFill>
                            <a:srgbClr val="4B4B4B"/>
                          </a:solidFill>
                          <a:latin typeface="Arial"/>
                        </a:rPr>
                        <a:t>Marketing &amp; MBS input</a:t>
                      </a:r>
                    </a:p>
                  </a:txBody>
                  <a:tcPr marL="73152" marR="73152" marT="36576" marB="36576">
                    <a:solidFill>
                      <a:srgbClr val="E5F5FF"/>
                    </a:solidFill>
                  </a:tcPr>
                </a:tc>
                <a:tc>
                  <a:txBody>
                    <a:bodyPr/>
                    <a:lstStyle/>
                    <a:p>
                      <a:r>
                        <a:rPr sz="900" b="0">
                          <a:solidFill>
                            <a:srgbClr val="4B4B4B"/>
                          </a:solidFill>
                          <a:latin typeface="Arial"/>
                        </a:rPr>
                        <a:t>Program Manager (BPS), MBS review</a:t>
                      </a:r>
                    </a:p>
                  </a:txBody>
                  <a:tcPr marL="73152" marR="73152" marT="36576" marB="36576">
                    <a:solidFill>
                      <a:srgbClr val="E5F5FF"/>
                    </a:solidFill>
                  </a:tcPr>
                </a:tc>
                <a:tc>
                  <a:txBody>
                    <a:bodyPr/>
                    <a:lstStyle/>
                    <a:p>
                      <a:r>
                        <a:rPr sz="900" b="0">
                          <a:solidFill>
                            <a:srgbClr val="4B4B4B"/>
                          </a:solidFill>
                          <a:latin typeface="Arial"/>
                        </a:rPr>
                        <a:t>Product Owner, Product Owner (2), Combank / Corbank UH, Retail Marketing heads</a:t>
                      </a:r>
                    </a:p>
                  </a:txBody>
                  <a:tcPr marL="73152" marR="73152" marT="36576" marB="36576">
                    <a:solidFill>
                      <a:srgbClr val="E5F5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Who signs what: parts of the set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a:t>
            </a:r>
          </a:p>
        </p:txBody>
      </p:sp>
      <p:graphicFrame>
        <p:nvGraphicFramePr>
          <p:cNvPr id="9" name="Table 8"/>
          <p:cNvGraphicFramePr>
            <a:graphicFrameLocks noGrp="1"/>
          </p:cNvGraphicFramePr>
          <p:nvPr/>
        </p:nvGraphicFramePr>
        <p:xfrm>
          <a:off x="548640" y="1371600"/>
          <a:ext cx="11094412" cy="2194560"/>
        </p:xfrm>
        <a:graphic>
          <a:graphicData uri="http://schemas.openxmlformats.org/drawingml/2006/table">
            <a:tbl>
              <a:tblPr firstRow="1" bandRow="1">
                <a:tableStyleId>{5C22544A-7EE6-4342-B048-85BDC9FD1C3A}</a:tableStyleId>
              </a:tblPr>
              <a:tblGrid>
                <a:gridCol w="3522036"/>
                <a:gridCol w="1496865"/>
                <a:gridCol w="2025170"/>
                <a:gridCol w="1937120"/>
                <a:gridCol w="2113221"/>
              </a:tblGrid>
              <a:tr h="365760">
                <a:tc>
                  <a:txBody>
                    <a:bodyPr/>
                    <a:lstStyle/>
                    <a:p>
                      <a:r>
                        <a:rPr sz="900" b="1">
                          <a:solidFill>
                            <a:srgbClr val="FFFFFF"/>
                          </a:solidFill>
                          <a:latin typeface="Arial"/>
                        </a:rPr>
                        <a:t>Part of the set</a:t>
                      </a:r>
                    </a:p>
                  </a:txBody>
                  <a:tcPr marL="73152" marR="73152" marT="36576" marB="36576">
                    <a:solidFill>
                      <a:srgbClr val="004EA8"/>
                    </a:solidFill>
                  </a:tcPr>
                </a:tc>
                <a:tc>
                  <a:txBody>
                    <a:bodyPr/>
                    <a:lstStyle/>
                    <a:p>
                      <a:r>
                        <a:rPr sz="900" b="1">
                          <a:solidFill>
                            <a:srgbClr val="FFFFFF"/>
                          </a:solidFill>
                          <a:latin typeface="Arial"/>
                        </a:rPr>
                        <a:t>Prepares</a:t>
                      </a:r>
                    </a:p>
                  </a:txBody>
                  <a:tcPr marL="73152" marR="73152" marT="36576" marB="36576">
                    <a:solidFill>
                      <a:srgbClr val="004EA8"/>
                    </a:solidFill>
                  </a:tcPr>
                </a:tc>
                <a:tc>
                  <a:txBody>
                    <a:bodyPr/>
                    <a:lstStyle/>
                    <a:p>
                      <a:r>
                        <a:rPr sz="900" b="1">
                          <a:solidFill>
                            <a:srgbClr val="FFFFFF"/>
                          </a:solidFill>
                          <a:latin typeface="Arial"/>
                        </a:rPr>
                        <a:t>Provides input</a:t>
                      </a:r>
                    </a:p>
                  </a:txBody>
                  <a:tcPr marL="73152" marR="73152" marT="36576" marB="36576">
                    <a:solidFill>
                      <a:srgbClr val="004EA8"/>
                    </a:solidFill>
                  </a:tcPr>
                </a:tc>
                <a:tc>
                  <a:txBody>
                    <a:bodyPr/>
                    <a:lstStyle/>
                    <a:p>
                      <a:r>
                        <a:rPr sz="900" b="1">
                          <a:solidFill>
                            <a:srgbClr val="FFFFFF"/>
                          </a:solidFill>
                          <a:latin typeface="Arial"/>
                        </a:rPr>
                        <a:t>Reviews</a:t>
                      </a:r>
                    </a:p>
                  </a:txBody>
                  <a:tcPr marL="73152" marR="73152" marT="36576" marB="36576">
                    <a:solidFill>
                      <a:srgbClr val="004EA8"/>
                    </a:solidFill>
                  </a:tcPr>
                </a:tc>
                <a:tc>
                  <a:txBody>
                    <a:bodyPr/>
                    <a:lstStyle/>
                    <a:p>
                      <a:r>
                        <a:rPr sz="900" b="1">
                          <a:solidFill>
                            <a:srgbClr val="FFFFFF"/>
                          </a:solidFill>
                          <a:latin typeface="Arial"/>
                        </a:rPr>
                        <a:t>Approves</a:t>
                      </a:r>
                    </a:p>
                  </a:txBody>
                  <a:tcPr marL="73152" marR="73152" marT="36576" marB="36576">
                    <a:solidFill>
                      <a:srgbClr val="004EA8"/>
                    </a:solidFill>
                  </a:tcPr>
                </a:tc>
              </a:tr>
              <a:tr h="365760">
                <a:tc>
                  <a:txBody>
                    <a:bodyPr/>
                    <a:lstStyle/>
                    <a:p>
                      <a:r>
                        <a:rPr sz="900" b="0">
                          <a:solidFill>
                            <a:srgbClr val="4B4B4B"/>
                          </a:solidFill>
                          <a:latin typeface="Arial"/>
                        </a:rPr>
                        <a:t>Scheduled runs, uploads, protected e-mails, user access and menus by persona</a:t>
                      </a:r>
                    </a:p>
                  </a:txBody>
                  <a:tcPr marL="73152" marR="73152" marT="36576" marB="36576">
                    <a:solidFill>
                      <a:srgbClr val="FFFFFF"/>
                    </a:solidFill>
                  </a:tcPr>
                </a:tc>
                <a:tc>
                  <a:txBody>
                    <a:bodyPr/>
                    <a:lstStyle/>
                    <a:p>
                      <a:r>
                        <a:rPr sz="900" b="0">
                          <a:solidFill>
                            <a:srgbClr val="4B4B4B"/>
                          </a:solidFill>
                          <a:latin typeface="Arial"/>
                        </a:rPr>
                        <a:t>iorta TechNXT</a:t>
                      </a:r>
                    </a:p>
                  </a:txBody>
                  <a:tcPr marL="73152" marR="73152" marT="36576" marB="36576">
                    <a:solidFill>
                      <a:srgbClr val="FFFFFF"/>
                    </a:solidFill>
                  </a:tcPr>
                </a:tc>
                <a:tc>
                  <a:txBody>
                    <a:bodyPr/>
                    <a:lstStyle/>
                    <a:p>
                      <a:r>
                        <a:rPr sz="900" b="0">
                          <a:solidFill>
                            <a:srgbClr val="4B4B4B"/>
                          </a:solidFill>
                          <a:latin typeface="Arial"/>
                        </a:rPr>
                        <a:t>Marketing &amp; MBS input</a:t>
                      </a:r>
                    </a:p>
                  </a:txBody>
                  <a:tcPr marL="73152" marR="73152" marT="36576" marB="36576">
                    <a:solidFill>
                      <a:srgbClr val="FFFFFF"/>
                    </a:solidFill>
                  </a:tcPr>
                </a:tc>
                <a:tc>
                  <a:txBody>
                    <a:bodyPr/>
                    <a:lstStyle/>
                    <a:p>
                      <a:r>
                        <a:rPr sz="900" b="0">
                          <a:solidFill>
                            <a:srgbClr val="4B4B4B"/>
                          </a:solidFill>
                          <a:latin typeface="Arial"/>
                        </a:rPr>
                        <a:t>BDOI IT, MBS review</a:t>
                      </a:r>
                    </a:p>
                  </a:txBody>
                  <a:tcPr marL="73152" marR="73152" marT="36576" marB="36576">
                    <a:solidFill>
                      <a:srgbClr val="FFFFFF"/>
                    </a:solidFill>
                  </a:tcPr>
                </a:tc>
                <a:tc>
                  <a:txBody>
                    <a:bodyPr/>
                    <a:lstStyle/>
                    <a:p>
                      <a:r>
                        <a:rPr sz="900" b="0">
                          <a:solidFill>
                            <a:srgbClr val="4B4B4B"/>
                          </a:solidFill>
                          <a:latin typeface="Arial"/>
                        </a:rPr>
                        <a:t>Product Owner</a:t>
                      </a:r>
                    </a:p>
                  </a:txBody>
                  <a:tcPr marL="73152" marR="73152" marT="36576" marB="36576">
                    <a:solidFill>
                      <a:srgbClr val="FFFFFF"/>
                    </a:solidFill>
                  </a:tcPr>
                </a:tc>
              </a:tr>
              <a:tr h="365760">
                <a:tc>
                  <a:txBody>
                    <a:bodyPr/>
                    <a:lstStyle/>
                    <a:p>
                      <a:r>
                        <a:rPr sz="900" b="0">
                          <a:solidFill>
                            <a:srgbClr val="4B4B4B"/>
                          </a:solidFill>
                          <a:latin typeface="Arial"/>
                        </a:rPr>
                        <a:t>Accounting impact: none of its own (a renewal books through the New Business booking)</a:t>
                      </a:r>
                    </a:p>
                  </a:txBody>
                  <a:tcPr marL="73152" marR="73152" marT="36576" marB="36576">
                    <a:solidFill>
                      <a:srgbClr val="E5F5FF"/>
                    </a:solidFill>
                  </a:tcPr>
                </a:tc>
                <a:tc>
                  <a:txBody>
                    <a:bodyPr/>
                    <a:lstStyle/>
                    <a:p>
                      <a:r>
                        <a:rPr sz="900" b="0">
                          <a:solidFill>
                            <a:srgbClr val="4B4B4B"/>
                          </a:solidFill>
                          <a:latin typeface="Arial"/>
                        </a:rPr>
                        <a:t>iorta TechNXT</a:t>
                      </a:r>
                    </a:p>
                  </a:txBody>
                  <a:tcPr marL="73152" marR="73152" marT="36576" marB="36576">
                    <a:solidFill>
                      <a:srgbClr val="E5F5FF"/>
                    </a:solidFill>
                  </a:tcPr>
                </a:tc>
                <a:tc>
                  <a:txBody>
                    <a:bodyPr/>
                    <a:lstStyle/>
                    <a:p>
                      <a:r>
                        <a:rPr sz="900" b="0">
                          <a:solidFill>
                            <a:srgbClr val="4B4B4B"/>
                          </a:solidFill>
                          <a:latin typeface="Arial"/>
                        </a:rPr>
                        <a:t>BA (BPS)</a:t>
                      </a:r>
                    </a:p>
                  </a:txBody>
                  <a:tcPr marL="73152" marR="73152" marT="36576" marB="36576">
                    <a:solidFill>
                      <a:srgbClr val="E5F5FF"/>
                    </a:solidFill>
                  </a:tcPr>
                </a:tc>
                <a:tc>
                  <a:txBody>
                    <a:bodyPr/>
                    <a:lstStyle/>
                    <a:p>
                      <a:r>
                        <a:rPr sz="900" b="0">
                          <a:solidFill>
                            <a:srgbClr val="4B4B4B"/>
                          </a:solidFill>
                          <a:latin typeface="Arial"/>
                        </a:rPr>
                        <a:t>Program Manager (BPS)</a:t>
                      </a:r>
                    </a:p>
                  </a:txBody>
                  <a:tcPr marL="73152" marR="73152" marT="36576" marB="36576">
                    <a:solidFill>
                      <a:srgbClr val="E5F5FF"/>
                    </a:solidFill>
                  </a:tcPr>
                </a:tc>
                <a:tc>
                  <a:txBody>
                    <a:bodyPr/>
                    <a:lstStyle/>
                    <a:p>
                      <a:r>
                        <a:rPr sz="900" b="0">
                          <a:solidFill>
                            <a:srgbClr val="4B4B4B"/>
                          </a:solidFill>
                          <a:latin typeface="Arial"/>
                        </a:rPr>
                        <a:t>Comptrollership</a:t>
                      </a:r>
                    </a:p>
                  </a:txBody>
                  <a:tcPr marL="73152" marR="73152" marT="36576" marB="36576">
                    <a:solidFill>
                      <a:srgbClr val="E5F5FF"/>
                    </a:solidFill>
                  </a:tcPr>
                </a:tc>
              </a:tr>
              <a:tr h="365760">
                <a:tc>
                  <a:txBody>
                    <a:bodyPr/>
                    <a:lstStyle/>
                    <a:p>
                      <a:r>
                        <a:rPr sz="900" b="0">
                          <a:solidFill>
                            <a:srgbClr val="4B4B4B"/>
                          </a:solidFill>
                          <a:latin typeface="Arial"/>
                        </a:rPr>
                        <a:t>Test plan (04 workbook, 05 summary)</a:t>
                      </a:r>
                    </a:p>
                  </a:txBody>
                  <a:tcPr marL="73152" marR="73152" marT="36576" marB="36576">
                    <a:solidFill>
                      <a:srgbClr val="FFFFFF"/>
                    </a:solidFill>
                  </a:tcPr>
                </a:tc>
                <a:tc>
                  <a:txBody>
                    <a:bodyPr/>
                    <a:lstStyle/>
                    <a:p>
                      <a:r>
                        <a:rPr sz="900" b="0">
                          <a:solidFill>
                            <a:srgbClr val="4B4B4B"/>
                          </a:solidFill>
                          <a:latin typeface="Arial"/>
                        </a:rPr>
                        <a:t>iorta TechNXT</a:t>
                      </a:r>
                    </a:p>
                  </a:txBody>
                  <a:tcPr marL="73152" marR="73152" marT="36576" marB="36576">
                    <a:solidFill>
                      <a:srgbClr val="FFFFFF"/>
                    </a:solidFill>
                  </a:tcPr>
                </a:tc>
                <a:tc>
                  <a:txBody>
                    <a:bodyPr/>
                    <a:lstStyle/>
                    <a:p>
                      <a:r>
                        <a:rPr sz="900" b="0">
                          <a:solidFill>
                            <a:srgbClr val="4B4B4B"/>
                          </a:solidFill>
                          <a:latin typeface="Arial"/>
                        </a:rPr>
                        <a:t>Marketing &amp; MBS input</a:t>
                      </a:r>
                    </a:p>
                  </a:txBody>
                  <a:tcPr marL="73152" marR="73152" marT="36576" marB="36576">
                    <a:solidFill>
                      <a:srgbClr val="FFFFFF"/>
                    </a:solidFill>
                  </a:tcPr>
                </a:tc>
                <a:tc>
                  <a:txBody>
                    <a:bodyPr/>
                    <a:lstStyle/>
                    <a:p>
                      <a:r>
                        <a:rPr sz="900" b="0">
                          <a:solidFill>
                            <a:srgbClr val="4B4B4B"/>
                          </a:solidFill>
                          <a:latin typeface="Arial"/>
                        </a:rPr>
                        <a:t>Program Manager (BPS), BDOI IT</a:t>
                      </a:r>
                    </a:p>
                  </a:txBody>
                  <a:tcPr marL="73152" marR="73152" marT="36576" marB="36576">
                    <a:solidFill>
                      <a:srgbClr val="FFFFFF"/>
                    </a:solidFill>
                  </a:tcPr>
                </a:tc>
                <a:tc>
                  <a:txBody>
                    <a:bodyPr/>
                    <a:lstStyle/>
                    <a:p>
                      <a:r>
                        <a:rPr sz="900" b="0">
                          <a:solidFill>
                            <a:srgbClr val="4B4B4B"/>
                          </a:solidFill>
                          <a:latin typeface="Arial"/>
                        </a:rPr>
                        <a:t>Product Owner</a:t>
                      </a:r>
                    </a:p>
                  </a:txBody>
                  <a:tcPr marL="73152" marR="73152" marT="36576" marB="36576">
                    <a:solidFill>
                      <a:srgbClr val="FFFFFF"/>
                    </a:solidFill>
                  </a:tcPr>
                </a:tc>
              </a:tr>
              <a:tr h="365760">
                <a:tc>
                  <a:txBody>
                    <a:bodyPr/>
                    <a:lstStyle/>
                    <a:p>
                      <a:r>
                        <a:rPr sz="900" b="0">
                          <a:solidFill>
                            <a:srgbClr val="4B4B4B"/>
                          </a:solidFill>
                          <a:latin typeface="Arial"/>
                        </a:rPr>
                        <a:t>UX screen deck, UX screen register and image package (07 to 09, for the BDOI UX Design team; the screens as specified in this set)</a:t>
                      </a:r>
                    </a:p>
                  </a:txBody>
                  <a:tcPr marL="73152" marR="73152" marT="36576" marB="36576">
                    <a:solidFill>
                      <a:srgbClr val="E5F5FF"/>
                    </a:solidFill>
                  </a:tcPr>
                </a:tc>
                <a:tc>
                  <a:txBody>
                    <a:bodyPr/>
                    <a:lstStyle/>
                    <a:p>
                      <a:r>
                        <a:rPr sz="900" b="0">
                          <a:solidFill>
                            <a:srgbClr val="4B4B4B"/>
                          </a:solidFill>
                          <a:latin typeface="Arial"/>
                        </a:rPr>
                        <a:t>iorta TechNXT</a:t>
                      </a:r>
                    </a:p>
                  </a:txBody>
                  <a:tcPr marL="73152" marR="73152" marT="36576" marB="36576">
                    <a:solidFill>
                      <a:srgbClr val="E5F5FF"/>
                    </a:solidFill>
                  </a:tcPr>
                </a:tc>
                <a:tc>
                  <a:txBody>
                    <a:bodyPr/>
                    <a:lstStyle/>
                    <a:p>
                      <a:r>
                        <a:rPr sz="900" b="0">
                          <a:solidFill>
                            <a:srgbClr val="4B4B4B"/>
                          </a:solidFill>
                          <a:latin typeface="Arial"/>
                        </a:rPr>
                        <a:t>Marketing &amp; MBS input</a:t>
                      </a:r>
                    </a:p>
                  </a:txBody>
                  <a:tcPr marL="73152" marR="73152" marT="36576" marB="36576">
                    <a:solidFill>
                      <a:srgbClr val="E5F5FF"/>
                    </a:solidFill>
                  </a:tcPr>
                </a:tc>
                <a:tc>
                  <a:txBody>
                    <a:bodyPr/>
                    <a:lstStyle/>
                    <a:p>
                      <a:r>
                        <a:rPr sz="900" b="0">
                          <a:solidFill>
                            <a:srgbClr val="4B4B4B"/>
                          </a:solidFill>
                          <a:latin typeface="Arial"/>
                        </a:rPr>
                        <a:t>Program Manager (BPS)</a:t>
                      </a:r>
                    </a:p>
                  </a:txBody>
                  <a:tcPr marL="73152" marR="73152" marT="36576" marB="36576">
                    <a:solidFill>
                      <a:srgbClr val="E5F5FF"/>
                    </a:solidFill>
                  </a:tcPr>
                </a:tc>
                <a:tc>
                  <a:txBody>
                    <a:bodyPr/>
                    <a:lstStyle/>
                    <a:p>
                      <a:r>
                        <a:rPr sz="900" b="0">
                          <a:solidFill>
                            <a:srgbClr val="4B4B4B"/>
                          </a:solidFill>
                          <a:latin typeface="Arial"/>
                        </a:rPr>
                        <a:t>Product Owner</a:t>
                      </a:r>
                    </a:p>
                  </a:txBody>
                  <a:tcPr marL="73152" marR="73152" marT="36576" marB="36576">
                    <a:solidFill>
                      <a:srgbClr val="E5F5FF"/>
                    </a:solidFill>
                  </a:tcPr>
                </a:tc>
              </a:tr>
              <a:tr h="365760">
                <a:tc>
                  <a:txBody>
                    <a:bodyPr/>
                    <a:lstStyle/>
                    <a:p>
                      <a:r>
                        <a:rPr sz="900" b="0">
                          <a:solidFill>
                            <a:srgbClr val="4B4B4B"/>
                          </a:solidFill>
                          <a:latin typeface="Arial"/>
                        </a:rPr>
                        <a:t>Technical Specification (separate document, not part of the business sign-off)</a:t>
                      </a:r>
                    </a:p>
                  </a:txBody>
                  <a:tcPr marL="73152" marR="73152" marT="36576" marB="36576">
                    <a:solidFill>
                      <a:srgbClr val="FFFFFF"/>
                    </a:solidFill>
                  </a:tcPr>
                </a:tc>
                <a:tc>
                  <a:txBody>
                    <a:bodyPr/>
                    <a:lstStyle/>
                    <a:p>
                      <a:r>
                        <a:rPr sz="900" b="0">
                          <a:solidFill>
                            <a:srgbClr val="4B4B4B"/>
                          </a:solidFill>
                          <a:latin typeface="Arial"/>
                        </a:rPr>
                        <a:t>iorta TechNXT</a:t>
                      </a:r>
                    </a:p>
                  </a:txBody>
                  <a:tcPr marL="73152" marR="73152" marT="36576" marB="36576">
                    <a:solidFill>
                      <a:srgbClr val="FFFFFF"/>
                    </a:solidFill>
                  </a:tcPr>
                </a:tc>
                <a:tc>
                  <a:txBody>
                    <a:bodyPr/>
                    <a:lstStyle/>
                    <a:p>
                      <a:r>
                        <a:rPr sz="900" b="0">
                          <a:solidFill>
                            <a:srgbClr val="4B4B4B"/>
                          </a:solidFill>
                          <a:latin typeface="Arial"/>
                        </a:rPr>
                        <a:t>BDOI IT</a:t>
                      </a:r>
                    </a:p>
                  </a:txBody>
                  <a:tcPr marL="73152" marR="73152" marT="36576" marB="36576">
                    <a:solidFill>
                      <a:srgbClr val="FFFFFF"/>
                    </a:solidFill>
                  </a:tcPr>
                </a:tc>
                <a:tc>
                  <a:txBody>
                    <a:bodyPr/>
                    <a:lstStyle/>
                    <a:p>
                      <a:r>
                        <a:rPr sz="900" b="0">
                          <a:solidFill>
                            <a:srgbClr val="4B4B4B"/>
                          </a:solidFill>
                          <a:latin typeface="Arial"/>
                        </a:rPr>
                        <a:t>BDOI IT</a:t>
                      </a:r>
                    </a:p>
                  </a:txBody>
                  <a:tcPr marL="73152" marR="73152" marT="36576" marB="36576">
                    <a:solidFill>
                      <a:srgbClr val="FFFFFF"/>
                    </a:solidFill>
                  </a:tcPr>
                </a:tc>
                <a:tc>
                  <a:txBody>
                    <a:bodyPr/>
                    <a:lstStyle/>
                    <a:p>
                      <a:r>
                        <a:rPr sz="900" b="0">
                          <a:solidFill>
                            <a:srgbClr val="4B4B4B"/>
                          </a:solidFill>
                          <a:latin typeface="Arial"/>
                        </a:rPr>
                        <a:t>BDOI IT</a:t>
                      </a:r>
                    </a:p>
                  </a:txBody>
                  <a:tcPr marL="73152" marR="73152" marT="36576" marB="36576">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Who signs what: signatories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a:t>
            </a:r>
          </a:p>
        </p:txBody>
      </p:sp>
      <p:graphicFrame>
        <p:nvGraphicFramePr>
          <p:cNvPr id="9" name="Table 8"/>
          <p:cNvGraphicFramePr>
            <a:graphicFrameLocks noGrp="1"/>
          </p:cNvGraphicFramePr>
          <p:nvPr/>
        </p:nvGraphicFramePr>
        <p:xfrm>
          <a:off x="548640" y="1371600"/>
          <a:ext cx="11094413" cy="2560320"/>
        </p:xfrm>
        <a:graphic>
          <a:graphicData uri="http://schemas.openxmlformats.org/drawingml/2006/table">
            <a:tbl>
              <a:tblPr firstRow="1" bandRow="1">
                <a:tableStyleId>{5C22544A-7EE6-4342-B048-85BDC9FD1C3A}</a:tableStyleId>
              </a:tblPr>
              <a:tblGrid>
                <a:gridCol w="1672967"/>
                <a:gridCol w="4050341"/>
                <a:gridCol w="5371105"/>
              </a:tblGrid>
              <a:tr h="365760">
                <a:tc>
                  <a:txBody>
                    <a:bodyPr/>
                    <a:lstStyle/>
                    <a:p>
                      <a:r>
                        <a:rPr sz="900" b="1">
                          <a:solidFill>
                            <a:srgbClr val="FFFFFF"/>
                          </a:solidFill>
                          <a:latin typeface="Arial"/>
                        </a:rPr>
                        <a:t>Capacity</a:t>
                      </a:r>
                    </a:p>
                  </a:txBody>
                  <a:tcPr marL="73152" marR="73152" marT="36576" marB="36576">
                    <a:solidFill>
                      <a:srgbClr val="004EA8"/>
                    </a:solidFill>
                  </a:tcPr>
                </a:tc>
                <a:tc>
                  <a:txBody>
                    <a:bodyPr/>
                    <a:lstStyle/>
                    <a:p>
                      <a:r>
                        <a:rPr sz="900" b="1">
                          <a:solidFill>
                            <a:srgbClr val="FFFFFF"/>
                          </a:solidFill>
                          <a:latin typeface="Arial"/>
                        </a:rPr>
                        <a:t>Role</a:t>
                      </a:r>
                    </a:p>
                  </a:txBody>
                  <a:tcPr marL="73152" marR="73152" marT="36576" marB="36576">
                    <a:solidFill>
                      <a:srgbClr val="004EA8"/>
                    </a:solidFill>
                  </a:tcPr>
                </a:tc>
                <a:tc>
                  <a:txBody>
                    <a:bodyPr/>
                    <a:lstStyle/>
                    <a:p>
                      <a:r>
                        <a:rPr sz="900" b="1">
                          <a:solidFill>
                            <a:srgbClr val="FFFFFF"/>
                          </a:solidFill>
                          <a:latin typeface="Arial"/>
                        </a:rPr>
                        <a:t>Confirms by signing</a:t>
                      </a:r>
                    </a:p>
                  </a:txBody>
                  <a:tcPr marL="73152" marR="73152" marT="36576" marB="36576">
                    <a:solidFill>
                      <a:srgbClr val="004EA8"/>
                    </a:solidFill>
                  </a:tcPr>
                </a:tc>
              </a:tr>
              <a:tr h="365760">
                <a:tc>
                  <a:txBody>
                    <a:bodyPr/>
                    <a:lstStyle/>
                    <a:p>
                      <a:r>
                        <a:rPr sz="900" b="0">
                          <a:solidFill>
                            <a:srgbClr val="4B4B4B"/>
                          </a:solidFill>
                          <a:latin typeface="Arial"/>
                        </a:rPr>
                        <a:t>Prepared by</a:t>
                      </a:r>
                    </a:p>
                  </a:txBody>
                  <a:tcPr marL="73152" marR="73152" marT="36576" marB="36576">
                    <a:solidFill>
                      <a:srgbClr val="FFFFFF"/>
                    </a:solidFill>
                  </a:tcPr>
                </a:tc>
                <a:tc>
                  <a:txBody>
                    <a:bodyPr/>
                    <a:lstStyle/>
                    <a:p>
                      <a:r>
                        <a:rPr sz="900" b="0">
                          <a:solidFill>
                            <a:srgbClr val="4B4B4B"/>
                          </a:solidFill>
                          <a:latin typeface="Arial"/>
                        </a:rPr>
                        <a:t>iorta TechNXT project team: Project Manager, Business Analysis, test lead (iorta TechNXT)</a:t>
                      </a:r>
                    </a:p>
                  </a:txBody>
                  <a:tcPr marL="73152" marR="73152" marT="36576" marB="36576">
                    <a:solidFill>
                      <a:srgbClr val="FFFFFF"/>
                    </a:solidFill>
                  </a:tcPr>
                </a:tc>
                <a:tc>
                  <a:txBody>
                    <a:bodyPr/>
                    <a:lstStyle/>
                    <a:p>
                      <a:r>
                        <a:rPr sz="900" b="0">
                          <a:solidFill>
                            <a:srgbClr val="4B4B4B"/>
                          </a:solidFill>
                          <a:latin typeface="Arial"/>
                        </a:rPr>
                        <a:t>The set is complete and consistent as issued, traced to the BRD and to the screens; every comment is answered in the comments log</a:t>
                      </a:r>
                    </a:p>
                  </a:txBody>
                  <a:tcPr marL="73152" marR="73152" marT="36576" marB="36576">
                    <a:solidFill>
                      <a:srgbClr val="FFFFFF"/>
                    </a:solidFill>
                  </a:tcPr>
                </a:tc>
              </a:tr>
              <a:tr h="365760">
                <a:tc>
                  <a:txBody>
                    <a:bodyPr/>
                    <a:lstStyle/>
                    <a:p>
                      <a:r>
                        <a:rPr sz="900" b="0">
                          <a:solidFill>
                            <a:srgbClr val="4B4B4B"/>
                          </a:solidFill>
                          <a:latin typeface="Arial"/>
                        </a:rPr>
                        <a:t>Prepared by</a:t>
                      </a:r>
                    </a:p>
                  </a:txBody>
                  <a:tcPr marL="73152" marR="73152" marT="36576" marB="36576">
                    <a:solidFill>
                      <a:srgbClr val="E5F5FF"/>
                    </a:solidFill>
                  </a:tcPr>
                </a:tc>
                <a:tc>
                  <a:txBody>
                    <a:bodyPr/>
                    <a:lstStyle/>
                    <a:p>
                      <a:r>
                        <a:rPr sz="900" b="0">
                          <a:solidFill>
                            <a:srgbClr val="4B4B4B"/>
                          </a:solidFill>
                          <a:latin typeface="Arial"/>
                        </a:rPr>
                        <a:t>Business Analysts, Enterprise Services Group - Business Project Services (BPS) (Zean C. Ibay, Roda Lyn D. Gallardo, Jane Tagle) (BDO Unibank ESG)</a:t>
                      </a:r>
                    </a:p>
                  </a:txBody>
                  <a:tcPr marL="73152" marR="73152" marT="36576" marB="36576">
                    <a:solidFill>
                      <a:srgbClr val="E5F5FF"/>
                    </a:solidFill>
                  </a:tcPr>
                </a:tc>
                <a:tc>
                  <a:txBody>
                    <a:bodyPr/>
                    <a:lstStyle/>
                    <a:p>
                      <a:r>
                        <a:rPr sz="900" b="0">
                          <a:solidFill>
                            <a:srgbClr val="4B4B4B"/>
                          </a:solidFill>
                          <a:latin typeface="Arial"/>
                        </a:rPr>
                        <a:t>The set states the BRD requirements as written; every departure is listed in the proposed rules and clarifications</a:t>
                      </a:r>
                    </a:p>
                  </a:txBody>
                  <a:tcPr marL="73152" marR="73152" marT="36576" marB="36576">
                    <a:solidFill>
                      <a:srgbClr val="E5F5FF"/>
                    </a:solidFill>
                  </a:tcPr>
                </a:tc>
              </a:tr>
              <a:tr h="365760">
                <a:tc>
                  <a:txBody>
                    <a:bodyPr/>
                    <a:lstStyle/>
                    <a:p>
                      <a:r>
                        <a:rPr sz="900" b="0">
                          <a:solidFill>
                            <a:srgbClr val="4B4B4B"/>
                          </a:solidFill>
                          <a:latin typeface="Arial"/>
                        </a:rPr>
                        <a:t>Input provided by</a:t>
                      </a:r>
                    </a:p>
                  </a:txBody>
                  <a:tcPr marL="73152" marR="73152" marT="36576" marB="36576">
                    <a:solidFill>
                      <a:srgbClr val="FFFFFF"/>
                    </a:solidFill>
                  </a:tcPr>
                </a:tc>
                <a:tc>
                  <a:txBody>
                    <a:bodyPr/>
                    <a:lstStyle/>
                    <a:p>
                      <a:r>
                        <a:rPr sz="900" b="0">
                          <a:solidFill>
                            <a:srgbClr val="4B4B4B"/>
                          </a:solidFill>
                          <a:latin typeface="Arial"/>
                        </a:rPr>
                        <a:t>Marketing Business Services and System Support and the Marketing and Processing input providers (Ma. Fides R. Rivera, Rose Marie Lique, Jackie Lyn Serrano, Marie Grace Mendiola, Berna Corpuz, Maria Cecilia Remodo, Alma Aramburo Olegario, Grace Tordesillas, Jocimarie Biaoco Palcat, Angelo Tiu Alibuyog, Amara Camille Linis Cruz, Racquel Jimenez, Clarissa Pagalanan, Herbert De Guzman) (BDOI)</a:t>
                      </a:r>
                    </a:p>
                  </a:txBody>
                  <a:tcPr marL="73152" marR="73152" marT="36576" marB="36576">
                    <a:solidFill>
                      <a:srgbClr val="FFFFFF"/>
                    </a:solidFill>
                  </a:tcPr>
                </a:tc>
                <a:tc>
                  <a:txBody>
                    <a:bodyPr/>
                    <a:lstStyle/>
                    <a:p>
                      <a:r>
                        <a:rPr sz="900" b="0">
                          <a:solidFill>
                            <a:srgbClr val="4B4B4B"/>
                          </a:solidFill>
                          <a:latin typeface="Arial"/>
                        </a:rPr>
                        <a:t>The expiry list, disposition, Team Leader review, transfer, processing, insurer, letter, acceptance and follow-up screens, fields, rules and messages match the business input</a:t>
                      </a:r>
                    </a:p>
                  </a:txBody>
                  <a:tcPr marL="73152" marR="73152" marT="36576" marB="36576">
                    <a:solidFill>
                      <a:srgbClr val="FFFFFF"/>
                    </a:solidFill>
                  </a:tcPr>
                </a:tc>
              </a:tr>
              <a:tr h="365760">
                <a:tc>
                  <a:txBody>
                    <a:bodyPr/>
                    <a:lstStyle/>
                    <a:p>
                      <a:r>
                        <a:rPr sz="900" b="0">
                          <a:solidFill>
                            <a:srgbClr val="4B4B4B"/>
                          </a:solidFill>
                          <a:latin typeface="Arial"/>
                        </a:rPr>
                        <a:t>Reviewed by</a:t>
                      </a:r>
                    </a:p>
                  </a:txBody>
                  <a:tcPr marL="73152" marR="73152" marT="36576" marB="36576">
                    <a:solidFill>
                      <a:srgbClr val="E5F5FF"/>
                    </a:solidFill>
                  </a:tcPr>
                </a:tc>
                <a:tc>
                  <a:txBody>
                    <a:bodyPr/>
                    <a:lstStyle/>
                    <a:p>
                      <a:r>
                        <a:rPr sz="900" b="0">
                          <a:solidFill>
                            <a:srgbClr val="4B4B4B"/>
                          </a:solidFill>
                          <a:latin typeface="Arial"/>
                        </a:rPr>
                        <a:t>Marketing Business Services and System Support (Rhommel Mark Galler) (BDOI)</a:t>
                      </a:r>
                    </a:p>
                  </a:txBody>
                  <a:tcPr marL="73152" marR="73152" marT="36576" marB="36576">
                    <a:solidFill>
                      <a:srgbClr val="E5F5FF"/>
                    </a:solidFill>
                  </a:tcPr>
                </a:tc>
                <a:tc>
                  <a:txBody>
                    <a:bodyPr/>
                    <a:lstStyle/>
                    <a:p>
                      <a:r>
                        <a:rPr sz="900" b="0">
                          <a:solidFill>
                            <a:srgbClr val="4B4B4B"/>
                          </a:solidFill>
                          <a:latin typeface="Arial"/>
                        </a:rPr>
                        <a:t>The lists of values, templates, set-up and the menus of the Renewal users as the business administers them</a:t>
                      </a:r>
                    </a:p>
                  </a:txBody>
                  <a:tcPr marL="73152" marR="73152" marT="36576" marB="36576">
                    <a:solidFill>
                      <a:srgbClr val="E5F5FF"/>
                    </a:solidFill>
                  </a:tcPr>
                </a:tc>
              </a:tr>
              <a:tr h="365760">
                <a:tc>
                  <a:txBody>
                    <a:bodyPr/>
                    <a:lstStyle/>
                    <a:p>
                      <a:r>
                        <a:rPr sz="900" b="0">
                          <a:solidFill>
                            <a:srgbClr val="4B4B4B"/>
                          </a:solidFill>
                          <a:latin typeface="Arial"/>
                        </a:rPr>
                        <a:t>Reviewed by</a:t>
                      </a:r>
                    </a:p>
                  </a:txBody>
                  <a:tcPr marL="73152" marR="73152" marT="36576" marB="36576">
                    <a:solidFill>
                      <a:srgbClr val="FFFFFF"/>
                    </a:solidFill>
                  </a:tcPr>
                </a:tc>
                <a:tc>
                  <a:txBody>
                    <a:bodyPr/>
                    <a:lstStyle/>
                    <a:p>
                      <a:r>
                        <a:rPr sz="900" b="0">
                          <a:solidFill>
                            <a:srgbClr val="4B4B4B"/>
                          </a:solidFill>
                          <a:latin typeface="Arial"/>
                        </a:rPr>
                        <a:t>BDOI Information Technology Group (Angela Villamarzo Ramirez, Ma. Carmela Austria Morfe) (BDOI)</a:t>
                      </a:r>
                    </a:p>
                  </a:txBody>
                  <a:tcPr marL="73152" marR="73152" marT="36576" marB="36576">
                    <a:solidFill>
                      <a:srgbClr val="FFFFFF"/>
                    </a:solidFill>
                  </a:tcPr>
                </a:tc>
                <a:tc>
                  <a:txBody>
                    <a:bodyPr/>
                    <a:lstStyle/>
                    <a:p>
                      <a:r>
                        <a:rPr sz="900" b="0">
                          <a:solidFill>
                            <a:srgbClr val="4B4B4B"/>
                          </a:solidFill>
                          <a:latin typeface="Arial"/>
                        </a:rPr>
                        <a:t>Scheduled runs, uploads, protected e-mails, user access and menus and the Technical Specification (a separate document); not the business screens</a:t>
                      </a:r>
                    </a:p>
                  </a:txBody>
                  <a:tcPr marL="73152" marR="73152" marT="36576" marB="36576">
                    <a:solidFill>
                      <a:srgbClr val="FFFFFF"/>
                    </a:solidFill>
                  </a:tcPr>
                </a:tc>
              </a:tr>
              <a:tr h="365760">
                <a:tc>
                  <a:txBody>
                    <a:bodyPr/>
                    <a:lstStyle/>
                    <a:p>
                      <a:r>
                        <a:rPr sz="900" b="0">
                          <a:solidFill>
                            <a:srgbClr val="4B4B4B"/>
                          </a:solidFill>
                          <a:latin typeface="Arial"/>
                        </a:rPr>
                        <a:t>Reviewed by</a:t>
                      </a:r>
                    </a:p>
                  </a:txBody>
                  <a:tcPr marL="73152" marR="73152" marT="36576" marB="36576">
                    <a:solidFill>
                      <a:srgbClr val="E5F5FF"/>
                    </a:solidFill>
                  </a:tcPr>
                </a:tc>
                <a:tc>
                  <a:txBody>
                    <a:bodyPr/>
                    <a:lstStyle/>
                    <a:p>
                      <a:r>
                        <a:rPr sz="900" b="0">
                          <a:solidFill>
                            <a:srgbClr val="4B4B4B"/>
                          </a:solidFill>
                          <a:latin typeface="Arial"/>
                        </a:rPr>
                        <a:t>Program Manager and BA Unit Head, Enterprise Services Group - Business Project Services (BPS) (Dan Ace R. Cauton, Edward Kenneth Cadena) (BDO Unibank ESG)</a:t>
                      </a:r>
                    </a:p>
                  </a:txBody>
                  <a:tcPr marL="73152" marR="73152" marT="36576" marB="36576">
                    <a:solidFill>
                      <a:srgbClr val="E5F5FF"/>
                    </a:solidFill>
                  </a:tcPr>
                </a:tc>
                <a:tc>
                  <a:txBody>
                    <a:bodyPr/>
                    <a:lstStyle/>
                    <a:p>
                      <a:r>
                        <a:rPr sz="900" b="0">
                          <a:solidFill>
                            <a:srgbClr val="4B4B4B"/>
                          </a:solidFill>
                          <a:latin typeface="Arial"/>
                        </a:rPr>
                        <a:t>Traceability of every BRD requirement to the set and completeness of the set</a:t>
                      </a:r>
                    </a:p>
                  </a:txBody>
                  <a:tcPr marL="73152" marR="73152" marT="36576" marB="36576">
                    <a:solidFill>
                      <a:srgbClr val="E5F5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Who signs what: signatories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a:t>
            </a:r>
          </a:p>
        </p:txBody>
      </p:sp>
      <p:graphicFrame>
        <p:nvGraphicFramePr>
          <p:cNvPr id="9" name="Table 8"/>
          <p:cNvGraphicFramePr>
            <a:graphicFrameLocks noGrp="1"/>
          </p:cNvGraphicFramePr>
          <p:nvPr/>
        </p:nvGraphicFramePr>
        <p:xfrm>
          <a:off x="548640" y="1371600"/>
          <a:ext cx="11094413" cy="2194560"/>
        </p:xfrm>
        <a:graphic>
          <a:graphicData uri="http://schemas.openxmlformats.org/drawingml/2006/table">
            <a:tbl>
              <a:tblPr firstRow="1" bandRow="1">
                <a:tableStyleId>{5C22544A-7EE6-4342-B048-85BDC9FD1C3A}</a:tableStyleId>
              </a:tblPr>
              <a:tblGrid>
                <a:gridCol w="1672967"/>
                <a:gridCol w="4050341"/>
                <a:gridCol w="5371105"/>
              </a:tblGrid>
              <a:tr h="365760">
                <a:tc>
                  <a:txBody>
                    <a:bodyPr/>
                    <a:lstStyle/>
                    <a:p>
                      <a:r>
                        <a:rPr sz="900" b="1">
                          <a:solidFill>
                            <a:srgbClr val="FFFFFF"/>
                          </a:solidFill>
                          <a:latin typeface="Arial"/>
                        </a:rPr>
                        <a:t>Capacity</a:t>
                      </a:r>
                    </a:p>
                  </a:txBody>
                  <a:tcPr marL="73152" marR="73152" marT="36576" marB="36576">
                    <a:solidFill>
                      <a:srgbClr val="004EA8"/>
                    </a:solidFill>
                  </a:tcPr>
                </a:tc>
                <a:tc>
                  <a:txBody>
                    <a:bodyPr/>
                    <a:lstStyle/>
                    <a:p>
                      <a:r>
                        <a:rPr sz="900" b="1">
                          <a:solidFill>
                            <a:srgbClr val="FFFFFF"/>
                          </a:solidFill>
                          <a:latin typeface="Arial"/>
                        </a:rPr>
                        <a:t>Role</a:t>
                      </a:r>
                    </a:p>
                  </a:txBody>
                  <a:tcPr marL="73152" marR="73152" marT="36576" marB="36576">
                    <a:solidFill>
                      <a:srgbClr val="004EA8"/>
                    </a:solidFill>
                  </a:tcPr>
                </a:tc>
                <a:tc>
                  <a:txBody>
                    <a:bodyPr/>
                    <a:lstStyle/>
                    <a:p>
                      <a:r>
                        <a:rPr sz="900" b="1">
                          <a:solidFill>
                            <a:srgbClr val="FFFFFF"/>
                          </a:solidFill>
                          <a:latin typeface="Arial"/>
                        </a:rPr>
                        <a:t>Confirms by signing</a:t>
                      </a:r>
                    </a:p>
                  </a:txBody>
                  <a:tcPr marL="73152" marR="73152" marT="36576" marB="36576">
                    <a:solidFill>
                      <a:srgbClr val="004EA8"/>
                    </a:solidFill>
                  </a:tcPr>
                </a:tc>
              </a:tr>
              <a:tr h="365760">
                <a:tc>
                  <a:txBody>
                    <a:bodyPr/>
                    <a:lstStyle/>
                    <a:p>
                      <a:r>
                        <a:rPr sz="900" b="0">
                          <a:solidFill>
                            <a:srgbClr val="4B4B4B"/>
                          </a:solidFill>
                          <a:latin typeface="Arial"/>
                        </a:rPr>
                        <a:t>Approved by</a:t>
                      </a:r>
                    </a:p>
                  </a:txBody>
                  <a:tcPr marL="73152" marR="73152" marT="36576" marB="36576">
                    <a:solidFill>
                      <a:srgbClr val="FFFFFF"/>
                    </a:solidFill>
                  </a:tcPr>
                </a:tc>
                <a:tc>
                  <a:txBody>
                    <a:bodyPr/>
                    <a:lstStyle/>
                    <a:p>
                      <a:r>
                        <a:rPr sz="900" b="0">
                          <a:solidFill>
                            <a:srgbClr val="4B4B4B"/>
                          </a:solidFill>
                          <a:latin typeface="Arial"/>
                        </a:rPr>
                        <a:t>Product Owner, AVP (Shellah Marie C. Miranda) (BDOI)</a:t>
                      </a:r>
                    </a:p>
                  </a:txBody>
                  <a:tcPr marL="73152" marR="73152" marT="36576" marB="36576">
                    <a:solidFill>
                      <a:srgbClr val="FFFFFF"/>
                    </a:solidFill>
                  </a:tcPr>
                </a:tc>
                <a:tc>
                  <a:txBody>
                    <a:bodyPr/>
                    <a:lstStyle/>
                    <a:p>
                      <a:r>
                        <a:rPr sz="900" b="0">
                          <a:solidFill>
                            <a:srgbClr val="4B4B4B"/>
                          </a:solidFill>
                          <a:latin typeface="Arial"/>
                        </a:rPr>
                        <a:t>Owns the set and approves all of its contents</a:t>
                      </a:r>
                    </a:p>
                  </a:txBody>
                  <a:tcPr marL="73152" marR="73152" marT="36576" marB="36576">
                    <a:solidFill>
                      <a:srgbClr val="FFFFFF"/>
                    </a:solidFill>
                  </a:tcPr>
                </a:tc>
              </a:tr>
              <a:tr h="365760">
                <a:tc>
                  <a:txBody>
                    <a:bodyPr/>
                    <a:lstStyle/>
                    <a:p>
                      <a:r>
                        <a:rPr sz="900" b="0">
                          <a:solidFill>
                            <a:srgbClr val="4B4B4B"/>
                          </a:solidFill>
                          <a:latin typeface="Arial"/>
                        </a:rPr>
                        <a:t>Approved by</a:t>
                      </a:r>
                    </a:p>
                  </a:txBody>
                  <a:tcPr marL="73152" marR="73152" marT="36576" marB="36576">
                    <a:solidFill>
                      <a:srgbClr val="E5F5FF"/>
                    </a:solidFill>
                  </a:tcPr>
                </a:tc>
                <a:tc>
                  <a:txBody>
                    <a:bodyPr/>
                    <a:lstStyle/>
                    <a:p>
                      <a:r>
                        <a:rPr sz="900" b="0">
                          <a:solidFill>
                            <a:srgbClr val="4B4B4B"/>
                          </a:solidFill>
                          <a:latin typeface="Arial"/>
                        </a:rPr>
                        <a:t>Product Owner, AVP (Jose Melvin Jarin) (BDOI)</a:t>
                      </a:r>
                    </a:p>
                  </a:txBody>
                  <a:tcPr marL="73152" marR="73152" marT="36576" marB="36576">
                    <a:solidFill>
                      <a:srgbClr val="E5F5FF"/>
                    </a:solidFill>
                  </a:tcPr>
                </a:tc>
                <a:tc>
                  <a:txBody>
                    <a:bodyPr/>
                    <a:lstStyle/>
                    <a:p>
                      <a:r>
                        <a:rPr sz="900" b="0">
                          <a:solidFill>
                            <a:srgbClr val="4B4B4B"/>
                          </a:solidFill>
                          <a:latin typeface="Arial"/>
                        </a:rPr>
                        <a:t>The addendum functions: sanitation, classification, decision matrix, LAMD and Contact Center, insurer responses and the progression to placement and booking</a:t>
                      </a:r>
                    </a:p>
                  </a:txBody>
                  <a:tcPr marL="73152" marR="73152" marT="36576" marB="36576">
                    <a:solidFill>
                      <a:srgbClr val="E5F5FF"/>
                    </a:solidFill>
                  </a:tcPr>
                </a:tc>
              </a:tr>
              <a:tr h="365760">
                <a:tc>
                  <a:txBody>
                    <a:bodyPr/>
                    <a:lstStyle/>
                    <a:p>
                      <a:r>
                        <a:rPr sz="900" b="0">
                          <a:solidFill>
                            <a:srgbClr val="4B4B4B"/>
                          </a:solidFill>
                          <a:latin typeface="Arial"/>
                        </a:rPr>
                        <a:t>Approved by</a:t>
                      </a:r>
                    </a:p>
                  </a:txBody>
                  <a:tcPr marL="73152" marR="73152" marT="36576" marB="36576">
                    <a:solidFill>
                      <a:srgbClr val="FFFFFF"/>
                    </a:solidFill>
                  </a:tcPr>
                </a:tc>
                <a:tc>
                  <a:txBody>
                    <a:bodyPr/>
                    <a:lstStyle/>
                    <a:p>
                      <a:r>
                        <a:rPr sz="900" b="0">
                          <a:solidFill>
                            <a:srgbClr val="4B4B4B"/>
                          </a:solidFill>
                          <a:latin typeface="Arial"/>
                        </a:rPr>
                        <a:t>Unit Head - Combank and Corbank Marketing / Corporate Processing, SAVP (Mark Joseph C. Makalintal) (BDOI)</a:t>
                      </a:r>
                    </a:p>
                  </a:txBody>
                  <a:tcPr marL="73152" marR="73152" marT="36576" marB="36576">
                    <a:solidFill>
                      <a:srgbClr val="FFFFFF"/>
                    </a:solidFill>
                  </a:tcPr>
                </a:tc>
                <a:tc>
                  <a:txBody>
                    <a:bodyPr/>
                    <a:lstStyle/>
                    <a:p>
                      <a:r>
                        <a:rPr sz="900" b="0">
                          <a:solidFill>
                            <a:srgbClr val="4B4B4B"/>
                          </a:solidFill>
                          <a:latin typeface="Arial"/>
                        </a:rPr>
                        <a:t>The screens, rules and messages of the Corporate and Commercial Marketing units and of Corporate Processing</a:t>
                      </a:r>
                    </a:p>
                  </a:txBody>
                  <a:tcPr marL="73152" marR="73152" marT="36576" marB="36576">
                    <a:solidFill>
                      <a:srgbClr val="FFFFFF"/>
                    </a:solidFill>
                  </a:tcPr>
                </a:tc>
              </a:tr>
              <a:tr h="365760">
                <a:tc>
                  <a:txBody>
                    <a:bodyPr/>
                    <a:lstStyle/>
                    <a:p>
                      <a:r>
                        <a:rPr sz="900" b="0">
                          <a:solidFill>
                            <a:srgbClr val="4B4B4B"/>
                          </a:solidFill>
                          <a:latin typeface="Arial"/>
                        </a:rPr>
                        <a:t>Approved by</a:t>
                      </a:r>
                    </a:p>
                  </a:txBody>
                  <a:tcPr marL="73152" marR="73152" marT="36576" marB="36576">
                    <a:solidFill>
                      <a:srgbClr val="E5F5FF"/>
                    </a:solidFill>
                  </a:tcPr>
                </a:tc>
                <a:tc>
                  <a:txBody>
                    <a:bodyPr/>
                    <a:lstStyle/>
                    <a:p>
                      <a:r>
                        <a:rPr sz="900" b="0">
                          <a:solidFill>
                            <a:srgbClr val="4B4B4B"/>
                          </a:solidFill>
                          <a:latin typeface="Arial"/>
                        </a:rPr>
                        <a:t>Head - Retail Marketing, VP (Edmundante F. Ramirez) and Head - Corporate and Retail Marketing, FVP (Roderick Lim) (BDOI)</a:t>
                      </a:r>
                    </a:p>
                  </a:txBody>
                  <a:tcPr marL="73152" marR="73152" marT="36576" marB="36576">
                    <a:solidFill>
                      <a:srgbClr val="E5F5FF"/>
                    </a:solidFill>
                  </a:tcPr>
                </a:tc>
                <a:tc>
                  <a:txBody>
                    <a:bodyPr/>
                    <a:lstStyle/>
                    <a:p>
                      <a:r>
                        <a:rPr sz="900" b="0">
                          <a:solidFill>
                            <a:srgbClr val="4B4B4B"/>
                          </a:solidFill>
                          <a:latin typeface="Arial"/>
                        </a:rPr>
                        <a:t>The screens, rules and messages of the Retail and Corporate Marketing units</a:t>
                      </a:r>
                    </a:p>
                  </a:txBody>
                  <a:tcPr marL="73152" marR="73152" marT="36576" marB="36576">
                    <a:solidFill>
                      <a:srgbClr val="E5F5FF"/>
                    </a:solidFill>
                  </a:tcPr>
                </a:tc>
              </a:tr>
              <a:tr h="365760">
                <a:tc>
                  <a:txBody>
                    <a:bodyPr/>
                    <a:lstStyle/>
                    <a:p>
                      <a:r>
                        <a:rPr sz="900" b="0">
                          <a:solidFill>
                            <a:srgbClr val="4B4B4B"/>
                          </a:solidFill>
                          <a:latin typeface="Arial"/>
                        </a:rPr>
                        <a:t>Approved by</a:t>
                      </a:r>
                    </a:p>
                  </a:txBody>
                  <a:tcPr marL="73152" marR="73152" marT="36576" marB="36576">
                    <a:solidFill>
                      <a:srgbClr val="FFFFFF"/>
                    </a:solidFill>
                  </a:tcPr>
                </a:tc>
                <a:tc>
                  <a:txBody>
                    <a:bodyPr/>
                    <a:lstStyle/>
                    <a:p>
                      <a:r>
                        <a:rPr sz="900" b="0">
                          <a:solidFill>
                            <a:srgbClr val="4B4B4B"/>
                          </a:solidFill>
                          <a:latin typeface="Arial"/>
                        </a:rPr>
                        <a:t>Head - Comptrollership, VP (Ronald Allan E. De Leon) (BDOI)</a:t>
                      </a:r>
                    </a:p>
                  </a:txBody>
                  <a:tcPr marL="73152" marR="73152" marT="36576" marB="36576">
                    <a:solidFill>
                      <a:srgbClr val="FFFFFF"/>
                    </a:solidFill>
                  </a:tcPr>
                </a:tc>
                <a:tc>
                  <a:txBody>
                    <a:bodyPr/>
                    <a:lstStyle/>
                    <a:p>
                      <a:r>
                        <a:rPr sz="900" b="0">
                          <a:solidFill>
                            <a:srgbClr val="4B4B4B"/>
                          </a:solidFill>
                          <a:latin typeface="Arial"/>
                        </a:rPr>
                        <a:t>Informed of the set: the Renewal BRD marks the Comptrollership approval as not required; a renewal books through the New Business booking and posts nothing itself</a:t>
                      </a:r>
                    </a:p>
                  </a:txBody>
                  <a:tcPr marL="73152" marR="73152" marT="36576" marB="36576">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How to fill in the sign-off workbook</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a:t>
            </a:r>
          </a:p>
        </p:txBody>
      </p:sp>
      <p:pic>
        <p:nvPicPr>
          <p:cNvPr id="9" name="Picture 8" descr="signoff-workbook-field-register.png"/>
          <p:cNvPicPr>
            <a:picLocks noChangeAspect="1"/>
          </p:cNvPicPr>
          <p:nvPr/>
        </p:nvPicPr>
        <p:blipFill>
          <a:blip r:embed="rId3"/>
          <a:stretch>
            <a:fillRect/>
          </a:stretch>
        </p:blipFill>
        <p:spPr>
          <a:xfrm>
            <a:off x="548640" y="1325880"/>
            <a:ext cx="7498079" cy="2075126"/>
          </a:xfrm>
          <a:prstGeom prst="rect">
            <a:avLst/>
          </a:prstGeom>
          <a:ln w="9525">
            <a:solidFill>
              <a:srgbClr val="C2C2C1"/>
            </a:solidFill>
          </a:ln>
        </p:spPr>
      </p:pic>
      <p:sp>
        <p:nvSpPr>
          <p:cNvPr id="10" name="TextBox 9"/>
          <p:cNvSpPr txBox="1"/>
          <p:nvPr/>
        </p:nvSpPr>
        <p:spPr>
          <a:xfrm>
            <a:off x="548640" y="5852160"/>
            <a:ext cx="7498079" cy="320040"/>
          </a:xfrm>
          <a:prstGeom prst="rect">
            <a:avLst/>
          </a:prstGeom>
          <a:noFill/>
        </p:spPr>
        <p:txBody>
          <a:bodyPr wrap="square" anchor="t" lIns="45720" rIns="45720">
            <a:spAutoFit/>
          </a:bodyPr>
          <a:lstStyle/>
          <a:p>
            <a:pPr algn="ctr"/>
            <a:r>
              <a:rPr sz="1100" b="0" i="1">
                <a:solidFill>
                  <a:srgbClr val="656565"/>
                </a:solidFill>
                <a:latin typeface="Arial"/>
              </a:rPr>
              <a:t>Field register sheet of the sign-off workbook</a:t>
            </a:r>
          </a:p>
        </p:txBody>
      </p:sp>
      <p:sp>
        <p:nvSpPr>
          <p:cNvPr id="11" name="Rectangle 10"/>
          <p:cNvSpPr/>
          <p:nvPr/>
        </p:nvSpPr>
        <p:spPr>
          <a:xfrm>
            <a:off x="8321039" y="1325880"/>
            <a:ext cx="3322016" cy="48463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321039" y="1325880"/>
            <a:ext cx="50800" cy="48463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58199" y="1417320"/>
            <a:ext cx="3093416" cy="4480560"/>
          </a:xfrm>
          <a:prstGeom prst="rect">
            <a:avLst/>
          </a:prstGeom>
          <a:noFill/>
        </p:spPr>
        <p:txBody>
          <a:bodyPr wrap="square">
            <a:spAutoFit/>
          </a:bodyPr>
          <a:lstStyle/>
          <a:p>
            <a:pPr>
              <a:spcAft>
                <a:spcPts val="600"/>
              </a:spcAft>
            </a:pPr>
            <a:r>
              <a:rPr sz="1300">
                <a:solidFill>
                  <a:srgbClr val="004EA8"/>
                </a:solidFill>
                <a:latin typeface="Arial"/>
              </a:rPr>
              <a:t>•  </a:t>
            </a:r>
            <a:r>
              <a:rPr sz="1300">
                <a:solidFill>
                  <a:srgbClr val="4B4B4B"/>
                </a:solidFill>
                <a:latin typeface="Arial"/>
              </a:rPr>
              <a:t>Review the rows of your area on Screen standards, Screen catalogue, Field register, Business rules, Messages</a:t>
            </a:r>
          </a:p>
          <a:p>
            <a:pPr>
              <a:spcAft>
                <a:spcPts val="600"/>
              </a:spcAft>
            </a:pPr>
            <a:r>
              <a:rPr sz="1300">
                <a:solidFill>
                  <a:srgbClr val="004EA8"/>
                </a:solidFill>
                <a:latin typeface="Arial"/>
              </a:rPr>
              <a:t>•  </a:t>
            </a:r>
            <a:r>
              <a:rPr sz="1300">
                <a:solidFill>
                  <a:srgbClr val="4B4B4B"/>
                </a:solidFill>
                <a:latin typeface="Arial"/>
              </a:rPr>
              <a:t>BU review: Accept, Change requested or Comment</a:t>
            </a:r>
          </a:p>
          <a:p>
            <a:pPr>
              <a:spcAft>
                <a:spcPts val="600"/>
              </a:spcAft>
            </a:pPr>
            <a:r>
              <a:rPr sz="1300">
                <a:solidFill>
                  <a:srgbClr val="004EA8"/>
                </a:solidFill>
                <a:latin typeface="Arial"/>
              </a:rPr>
              <a:t>•  </a:t>
            </a:r>
            <a:r>
              <a:rPr sz="1300">
                <a:solidFill>
                  <a:srgbClr val="4B4B4B"/>
                </a:solidFill>
                <a:latin typeface="Arial"/>
              </a:rPr>
              <a:t>BU comment: the change asked for</a:t>
            </a:r>
          </a:p>
          <a:p>
            <a:pPr>
              <a:spcAft>
                <a:spcPts val="600"/>
              </a:spcAft>
            </a:pPr>
            <a:r>
              <a:rPr sz="1300">
                <a:solidFill>
                  <a:srgbClr val="004EA8"/>
                </a:solidFill>
                <a:latin typeface="Arial"/>
              </a:rPr>
              <a:t>•  </a:t>
            </a:r>
            <a:r>
              <a:rPr sz="1300">
                <a:solidFill>
                  <a:srgbClr val="4B4B4B"/>
                </a:solidFill>
                <a:latin typeface="Arial"/>
              </a:rPr>
              <a:t>Reviewer and Review date</a:t>
            </a:r>
          </a:p>
          <a:p>
            <a:pPr>
              <a:spcAft>
                <a:spcPts val="600"/>
              </a:spcAft>
            </a:pPr>
            <a:r>
              <a:rPr sz="1300">
                <a:solidFill>
                  <a:srgbClr val="004EA8"/>
                </a:solidFill>
                <a:latin typeface="Arial"/>
              </a:rPr>
              <a:t>•  </a:t>
            </a:r>
            <a:r>
              <a:rPr sz="1300">
                <a:solidFill>
                  <a:srgbClr val="4B4B4B"/>
                </a:solidFill>
                <a:latin typeface="Arial"/>
              </a:rPr>
              <a:t>Questions go to the Comments log</a:t>
            </a:r>
          </a:p>
          <a:p>
            <a:pPr>
              <a:spcAft>
                <a:spcPts val="600"/>
              </a:spcAft>
            </a:pPr>
            <a:r>
              <a:rPr sz="1300">
                <a:solidFill>
                  <a:srgbClr val="004EA8"/>
                </a:solidFill>
                <a:latin typeface="Arial"/>
              </a:rPr>
              <a:t>•  </a:t>
            </a:r>
            <a:r>
              <a:rPr sz="1300">
                <a:solidFill>
                  <a:srgbClr val="4B4B4B"/>
                </a:solidFill>
                <a:latin typeface="Arial"/>
              </a:rPr>
              <a:t>Leave the other columns unchanged; one workbook per unit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Renewal at a glance: process flow</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a:t>
            </a:r>
          </a:p>
        </p:txBody>
      </p:sp>
      <p:pic>
        <p:nvPicPr>
          <p:cNvPr id="9" name="Picture 8" descr="brd06_process_flow.png"/>
          <p:cNvPicPr>
            <a:picLocks noChangeAspect="1"/>
          </p:cNvPicPr>
          <p:nvPr/>
        </p:nvPicPr>
        <p:blipFill>
          <a:blip r:embed="rId3"/>
          <a:stretch>
            <a:fillRect/>
          </a:stretch>
        </p:blipFill>
        <p:spPr>
          <a:xfrm>
            <a:off x="2370200" y="1325880"/>
            <a:ext cx="7451295" cy="4480560"/>
          </a:xfrm>
          <a:prstGeom prst="rect">
            <a:avLst/>
          </a:prstGeom>
          <a:ln w="9525">
            <a:solidFill>
              <a:srgbClr val="C2C2C1"/>
            </a:solidFill>
          </a:ln>
        </p:spPr>
      </p:pic>
      <p:sp>
        <p:nvSpPr>
          <p:cNvPr id="10" name="TextBox 9"/>
          <p:cNvSpPr txBox="1"/>
          <p:nvPr/>
        </p:nvSpPr>
        <p:spPr>
          <a:xfrm>
            <a:off x="548640" y="5852160"/>
            <a:ext cx="11094415" cy="320040"/>
          </a:xfrm>
          <a:prstGeom prst="rect">
            <a:avLst/>
          </a:prstGeom>
          <a:noFill/>
        </p:spPr>
        <p:txBody>
          <a:bodyPr wrap="square" anchor="t" lIns="45720" rIns="45720">
            <a:spAutoFit/>
          </a:bodyPr>
          <a:lstStyle/>
          <a:p>
            <a:pPr algn="ctr"/>
            <a:r>
              <a:rPr sz="1100" b="0" i="1">
                <a:solidFill>
                  <a:srgbClr val="656565"/>
                </a:solidFill>
                <a:latin typeface="Arial"/>
              </a:rPr>
              <a:t>BRD-6 process from the client to the booked invoice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Renewal at a glance: personas and menus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a:t>
            </a:r>
          </a:p>
        </p:txBody>
      </p:sp>
      <p:graphicFrame>
        <p:nvGraphicFramePr>
          <p:cNvPr id="9" name="Table 8"/>
          <p:cNvGraphicFramePr>
            <a:graphicFrameLocks noGrp="1"/>
          </p:cNvGraphicFramePr>
          <p:nvPr/>
        </p:nvGraphicFramePr>
        <p:xfrm>
          <a:off x="548640" y="1371600"/>
          <a:ext cx="11094413" cy="3657600"/>
        </p:xfrm>
        <a:graphic>
          <a:graphicData uri="http://schemas.openxmlformats.org/drawingml/2006/table">
            <a:tbl>
              <a:tblPr firstRow="1" bandRow="1">
                <a:tableStyleId>{5C22544A-7EE6-4342-B048-85BDC9FD1C3A}</a:tableStyleId>
              </a:tblPr>
              <a:tblGrid>
                <a:gridCol w="2641527"/>
                <a:gridCol w="1144661"/>
                <a:gridCol w="968560"/>
                <a:gridCol w="6339665"/>
              </a:tblGrid>
              <a:tr h="365760">
                <a:tc>
                  <a:txBody>
                    <a:bodyPr/>
                    <a:lstStyle/>
                    <a:p>
                      <a:r>
                        <a:rPr sz="1000" b="1">
                          <a:solidFill>
                            <a:srgbClr val="FFFFFF"/>
                          </a:solidFill>
                          <a:latin typeface="Arial"/>
                        </a:rPr>
                        <a:t>Persona</a:t>
                      </a:r>
                    </a:p>
                  </a:txBody>
                  <a:tcPr marL="73152" marR="73152" marT="36576" marB="36576">
                    <a:solidFill>
                      <a:srgbClr val="004EA8"/>
                    </a:solidFill>
                  </a:tcPr>
                </a:tc>
                <a:tc>
                  <a:txBody>
                    <a:bodyPr/>
                    <a:lstStyle/>
                    <a:p>
                      <a:r>
                        <a:rPr sz="1000" b="1">
                          <a:solidFill>
                            <a:srgbClr val="FFFFFF"/>
                          </a:solidFill>
                          <a:latin typeface="Arial"/>
                        </a:rPr>
                        <a:t>SIT user</a:t>
                      </a:r>
                    </a:p>
                  </a:txBody>
                  <a:tcPr marL="73152" marR="73152" marT="36576" marB="36576">
                    <a:solidFill>
                      <a:srgbClr val="004EA8"/>
                    </a:solidFill>
                  </a:tcPr>
                </a:tc>
                <a:tc>
                  <a:txBody>
                    <a:bodyPr/>
                    <a:lstStyle/>
                    <a:p>
                      <a:r>
                        <a:rPr sz="1000" b="1">
                          <a:solidFill>
                            <a:srgbClr val="FFFFFF"/>
                          </a:solidFill>
                          <a:latin typeface="Arial"/>
                        </a:rPr>
                        <a:t>Screens</a:t>
                      </a:r>
                    </a:p>
                  </a:txBody>
                  <a:tcPr marL="73152" marR="73152" marT="36576" marB="36576">
                    <a:solidFill>
                      <a:srgbClr val="004EA8"/>
                    </a:solidFill>
                  </a:tcPr>
                </a:tc>
                <a:tc>
                  <a:txBody>
                    <a:bodyPr/>
                    <a:lstStyle/>
                    <a:p>
                      <a:r>
                        <a:rPr sz="1000" b="1">
                          <a:solidFill>
                            <a:srgbClr val="FFFFFF"/>
                          </a:solidFill>
                          <a:latin typeface="Arial"/>
                        </a:rPr>
                        <a:t>Menu sections</a:t>
                      </a:r>
                    </a:p>
                  </a:txBody>
                  <a:tcPr marL="73152" marR="73152" marT="36576" marB="36576">
                    <a:solidFill>
                      <a:srgbClr val="004EA8"/>
                    </a:solidFill>
                  </a:tcPr>
                </a:tc>
              </a:tr>
              <a:tr h="365760">
                <a:tc>
                  <a:txBody>
                    <a:bodyPr/>
                    <a:lstStyle/>
                    <a:p>
                      <a:r>
                        <a:rPr sz="1000" b="0">
                          <a:solidFill>
                            <a:srgbClr val="4B4B4B"/>
                          </a:solidFill>
                          <a:latin typeface="Arial"/>
                        </a:rPr>
                        <a:t>Marketing Team Leader</a:t>
                      </a:r>
                    </a:p>
                  </a:txBody>
                  <a:tcPr marL="73152" marR="73152" marT="36576" marB="36576">
                    <a:solidFill>
                      <a:srgbClr val="FFFFFF"/>
                    </a:solidFill>
                  </a:tcPr>
                </a:tc>
                <a:tc>
                  <a:txBody>
                    <a:bodyPr/>
                    <a:lstStyle/>
                    <a:p>
                      <a:r>
                        <a:rPr sz="1000" b="0">
                          <a:solidFill>
                            <a:srgbClr val="4B4B4B"/>
                          </a:solidFill>
                          <a:latin typeface="Arial"/>
                        </a:rPr>
                        <a:t>mkttl</a:t>
                      </a:r>
                    </a:p>
                  </a:txBody>
                  <a:tcPr marL="73152" marR="73152" marT="36576" marB="36576">
                    <a:solidFill>
                      <a:srgbClr val="FFFFFF"/>
                    </a:solidFill>
                  </a:tcPr>
                </a:tc>
                <a:tc>
                  <a:txBody>
                    <a:bodyPr/>
                    <a:lstStyle/>
                    <a:p>
                      <a:r>
                        <a:rPr sz="1000" b="0">
                          <a:solidFill>
                            <a:srgbClr val="4B4B4B"/>
                          </a:solidFill>
                          <a:latin typeface="Arial"/>
                        </a:rPr>
                        <a:t>6</a:t>
                      </a:r>
                    </a:p>
                  </a:txBody>
                  <a:tcPr marL="73152" marR="73152" marT="36576" marB="36576">
                    <a:solidFill>
                      <a:srgbClr val="FFFFFF"/>
                    </a:solidFill>
                  </a:tcPr>
                </a:tc>
                <a:tc>
                  <a:txBody>
                    <a:bodyPr/>
                    <a:lstStyle/>
                    <a:p>
                      <a:r>
                        <a:rPr sz="1000" b="0">
                          <a:solidFill>
                            <a:srgbClr val="4B4B4B"/>
                          </a:solidFill>
                          <a:latin typeface="Arial"/>
                        </a:rPr>
                        <a:t>Renewal</a:t>
                      </a:r>
                    </a:p>
                  </a:txBody>
                  <a:tcPr marL="73152" marR="73152" marT="36576" marB="36576">
                    <a:solidFill>
                      <a:srgbClr val="FFFFFF"/>
                    </a:solidFill>
                  </a:tcPr>
                </a:tc>
              </a:tr>
              <a:tr h="365760">
                <a:tc>
                  <a:txBody>
                    <a:bodyPr/>
                    <a:lstStyle/>
                    <a:p>
                      <a:r>
                        <a:rPr sz="1000" b="0">
                          <a:solidFill>
                            <a:srgbClr val="4B4B4B"/>
                          </a:solidFill>
                          <a:latin typeface="Arial"/>
                        </a:rPr>
                        <a:t>Marketing Account Officer (Account Broker)</a:t>
                      </a:r>
                    </a:p>
                  </a:txBody>
                  <a:tcPr marL="73152" marR="73152" marT="36576" marB="36576">
                    <a:solidFill>
                      <a:srgbClr val="E5F5FF"/>
                    </a:solidFill>
                  </a:tcPr>
                </a:tc>
                <a:tc>
                  <a:txBody>
                    <a:bodyPr/>
                    <a:lstStyle/>
                    <a:p>
                      <a:r>
                        <a:rPr sz="1000" b="0">
                          <a:solidFill>
                            <a:srgbClr val="4B4B4B"/>
                          </a:solidFill>
                          <a:latin typeface="Arial"/>
                        </a:rPr>
                        <a:t>ao</a:t>
                      </a:r>
                    </a:p>
                  </a:txBody>
                  <a:tcPr marL="73152" marR="73152" marT="36576" marB="36576">
                    <a:solidFill>
                      <a:srgbClr val="E5F5FF"/>
                    </a:solidFill>
                  </a:tcPr>
                </a:tc>
                <a:tc>
                  <a:txBody>
                    <a:bodyPr/>
                    <a:lstStyle/>
                    <a:p>
                      <a:r>
                        <a:rPr sz="1000" b="0">
                          <a:solidFill>
                            <a:srgbClr val="4B4B4B"/>
                          </a:solidFill>
                          <a:latin typeface="Arial"/>
                        </a:rPr>
                        <a:t>5</a:t>
                      </a:r>
                    </a:p>
                  </a:txBody>
                  <a:tcPr marL="73152" marR="73152" marT="36576" marB="36576">
                    <a:solidFill>
                      <a:srgbClr val="E5F5FF"/>
                    </a:solidFill>
                  </a:tcPr>
                </a:tc>
                <a:tc>
                  <a:txBody>
                    <a:bodyPr/>
                    <a:lstStyle/>
                    <a:p>
                      <a:r>
                        <a:rPr sz="1000" b="0">
                          <a:solidFill>
                            <a:srgbClr val="4B4B4B"/>
                          </a:solidFill>
                          <a:latin typeface="Arial"/>
                        </a:rPr>
                        <a:t>Renewal</a:t>
                      </a:r>
                    </a:p>
                  </a:txBody>
                  <a:tcPr marL="73152" marR="73152" marT="36576" marB="36576">
                    <a:solidFill>
                      <a:srgbClr val="E5F5FF"/>
                    </a:solidFill>
                  </a:tcPr>
                </a:tc>
              </a:tr>
              <a:tr h="365760">
                <a:tc>
                  <a:txBody>
                    <a:bodyPr/>
                    <a:lstStyle/>
                    <a:p>
                      <a:r>
                        <a:rPr sz="1000" b="0">
                          <a:solidFill>
                            <a:srgbClr val="4B4B4B"/>
                          </a:solidFill>
                          <a:latin typeface="Arial"/>
                        </a:rPr>
                        <a:t>Processing Team Leader</a:t>
                      </a:r>
                    </a:p>
                  </a:txBody>
                  <a:tcPr marL="73152" marR="73152" marT="36576" marB="36576">
                    <a:solidFill>
                      <a:srgbClr val="FFFFFF"/>
                    </a:solidFill>
                  </a:tcPr>
                </a:tc>
                <a:tc>
                  <a:txBody>
                    <a:bodyPr/>
                    <a:lstStyle/>
                    <a:p>
                      <a:r>
                        <a:rPr sz="1000" b="0">
                          <a:solidFill>
                            <a:srgbClr val="4B4B4B"/>
                          </a:solidFill>
                          <a:latin typeface="Arial"/>
                        </a:rPr>
                        <a:t>proctl</a:t>
                      </a:r>
                    </a:p>
                  </a:txBody>
                  <a:tcPr marL="73152" marR="73152" marT="36576" marB="36576">
                    <a:solidFill>
                      <a:srgbClr val="FFFFFF"/>
                    </a:solidFill>
                  </a:tcPr>
                </a:tc>
                <a:tc>
                  <a:txBody>
                    <a:bodyPr/>
                    <a:lstStyle/>
                    <a:p>
                      <a:r>
                        <a:rPr sz="1000" b="0">
                          <a:solidFill>
                            <a:srgbClr val="4B4B4B"/>
                          </a:solidFill>
                          <a:latin typeface="Arial"/>
                        </a:rPr>
                        <a:t>6</a:t>
                      </a:r>
                    </a:p>
                  </a:txBody>
                  <a:tcPr marL="73152" marR="73152" marT="36576" marB="36576">
                    <a:solidFill>
                      <a:srgbClr val="FFFFFF"/>
                    </a:solidFill>
                  </a:tcPr>
                </a:tc>
                <a:tc>
                  <a:txBody>
                    <a:bodyPr/>
                    <a:lstStyle/>
                    <a:p>
                      <a:r>
                        <a:rPr sz="1000" b="0">
                          <a:solidFill>
                            <a:srgbClr val="4B4B4B"/>
                          </a:solidFill>
                          <a:latin typeface="Arial"/>
                        </a:rPr>
                        <a:t>Renewal</a:t>
                      </a:r>
                    </a:p>
                  </a:txBody>
                  <a:tcPr marL="73152" marR="73152" marT="36576" marB="36576">
                    <a:solidFill>
                      <a:srgbClr val="FFFFFF"/>
                    </a:solidFill>
                  </a:tcPr>
                </a:tc>
              </a:tr>
              <a:tr h="365760">
                <a:tc>
                  <a:txBody>
                    <a:bodyPr/>
                    <a:lstStyle/>
                    <a:p>
                      <a:r>
                        <a:rPr sz="1000" b="0">
                          <a:solidFill>
                            <a:srgbClr val="4B4B4B"/>
                          </a:solidFill>
                          <a:latin typeface="Arial"/>
                        </a:rPr>
                        <a:t>Processing Officer (Broker)</a:t>
                      </a:r>
                    </a:p>
                  </a:txBody>
                  <a:tcPr marL="73152" marR="73152" marT="36576" marB="36576">
                    <a:solidFill>
                      <a:srgbClr val="E5F5FF"/>
                    </a:solidFill>
                  </a:tcPr>
                </a:tc>
                <a:tc>
                  <a:txBody>
                    <a:bodyPr/>
                    <a:lstStyle/>
                    <a:p>
                      <a:r>
                        <a:rPr sz="1000" b="0">
                          <a:solidFill>
                            <a:srgbClr val="4B4B4B"/>
                          </a:solidFill>
                          <a:latin typeface="Arial"/>
                        </a:rPr>
                        <a:t>proc</a:t>
                      </a:r>
                    </a:p>
                  </a:txBody>
                  <a:tcPr marL="73152" marR="73152" marT="36576" marB="36576">
                    <a:solidFill>
                      <a:srgbClr val="E5F5FF"/>
                    </a:solidFill>
                  </a:tcPr>
                </a:tc>
                <a:tc>
                  <a:txBody>
                    <a:bodyPr/>
                    <a:lstStyle/>
                    <a:p>
                      <a:r>
                        <a:rPr sz="1000" b="0">
                          <a:solidFill>
                            <a:srgbClr val="4B4B4B"/>
                          </a:solidFill>
                          <a:latin typeface="Arial"/>
                        </a:rPr>
                        <a:t>6</a:t>
                      </a:r>
                    </a:p>
                  </a:txBody>
                  <a:tcPr marL="73152" marR="73152" marT="36576" marB="36576">
                    <a:solidFill>
                      <a:srgbClr val="E5F5FF"/>
                    </a:solidFill>
                  </a:tcPr>
                </a:tc>
                <a:tc>
                  <a:txBody>
                    <a:bodyPr/>
                    <a:lstStyle/>
                    <a:p>
                      <a:r>
                        <a:rPr sz="1000" b="0">
                          <a:solidFill>
                            <a:srgbClr val="4B4B4B"/>
                          </a:solidFill>
                          <a:latin typeface="Arial"/>
                        </a:rPr>
                        <a:t>Renewal</a:t>
                      </a:r>
                    </a:p>
                  </a:txBody>
                  <a:tcPr marL="73152" marR="73152" marT="36576" marB="36576">
                    <a:solidFill>
                      <a:srgbClr val="E5F5FF"/>
                    </a:solidFill>
                  </a:tcPr>
                </a:tc>
              </a:tr>
              <a:tr h="365760">
                <a:tc>
                  <a:txBody>
                    <a:bodyPr/>
                    <a:lstStyle/>
                    <a:p>
                      <a:r>
                        <a:rPr sz="1000" b="0">
                          <a:solidFill>
                            <a:srgbClr val="4B4B4B"/>
                          </a:solidFill>
                          <a:latin typeface="Arial"/>
                        </a:rPr>
                        <a:t>Contact Center</a:t>
                      </a:r>
                    </a:p>
                  </a:txBody>
                  <a:tcPr marL="73152" marR="73152" marT="36576" marB="36576">
                    <a:solidFill>
                      <a:srgbClr val="FFFFFF"/>
                    </a:solidFill>
                  </a:tcPr>
                </a:tc>
                <a:tc>
                  <a:txBody>
                    <a:bodyPr/>
                    <a:lstStyle/>
                    <a:p>
                      <a:r>
                        <a:rPr sz="1000" b="0">
                          <a:solidFill>
                            <a:srgbClr val="4B4B4B"/>
                          </a:solidFill>
                          <a:latin typeface="Arial"/>
                        </a:rPr>
                        <a:t>contactc</a:t>
                      </a:r>
                    </a:p>
                  </a:txBody>
                  <a:tcPr marL="73152" marR="73152" marT="36576" marB="36576">
                    <a:solidFill>
                      <a:srgbClr val="FFFFFF"/>
                    </a:solidFill>
                  </a:tcPr>
                </a:tc>
                <a:tc>
                  <a:txBody>
                    <a:bodyPr/>
                    <a:lstStyle/>
                    <a:p>
                      <a:r>
                        <a:rPr sz="1000" b="0">
                          <a:solidFill>
                            <a:srgbClr val="4B4B4B"/>
                          </a:solidFill>
                          <a:latin typeface="Arial"/>
                        </a:rPr>
                        <a:t>3</a:t>
                      </a:r>
                    </a:p>
                  </a:txBody>
                  <a:tcPr marL="73152" marR="73152" marT="36576" marB="36576">
                    <a:solidFill>
                      <a:srgbClr val="FFFFFF"/>
                    </a:solidFill>
                  </a:tcPr>
                </a:tc>
                <a:tc>
                  <a:txBody>
                    <a:bodyPr/>
                    <a:lstStyle/>
                    <a:p>
                      <a:r>
                        <a:rPr sz="1000" b="0">
                          <a:solidFill>
                            <a:srgbClr val="4B4B4B"/>
                          </a:solidFill>
                          <a:latin typeface="Arial"/>
                        </a:rPr>
                        <a:t>Renewal</a:t>
                      </a:r>
                    </a:p>
                  </a:txBody>
                  <a:tcPr marL="73152" marR="73152" marT="36576" marB="36576">
                    <a:solidFill>
                      <a:srgbClr val="FFFFFF"/>
                    </a:solidFill>
                  </a:tcPr>
                </a:tc>
              </a:tr>
              <a:tr h="365760">
                <a:tc>
                  <a:txBody>
                    <a:bodyPr/>
                    <a:lstStyle/>
                    <a:p>
                      <a:r>
                        <a:rPr sz="1000" b="0">
                          <a:solidFill>
                            <a:srgbClr val="4B4B4B"/>
                          </a:solidFill>
                          <a:latin typeface="Arial"/>
                        </a:rPr>
                        <a:t>LAMD (loan status reports)</a:t>
                      </a:r>
                    </a:p>
                  </a:txBody>
                  <a:tcPr marL="73152" marR="73152" marT="36576" marB="36576">
                    <a:solidFill>
                      <a:srgbClr val="E5F5FF"/>
                    </a:solidFill>
                  </a:tcPr>
                </a:tc>
                <a:tc>
                  <a:txBody>
                    <a:bodyPr/>
                    <a:lstStyle/>
                    <a:p>
                      <a:r>
                        <a:rPr sz="1000" b="0">
                          <a:solidFill>
                            <a:srgbClr val="4B4B4B"/>
                          </a:solidFill>
                          <a:latin typeface="Arial"/>
                        </a:rPr>
                        <a:t>lamd</a:t>
                      </a:r>
                    </a:p>
                  </a:txBody>
                  <a:tcPr marL="73152" marR="73152" marT="36576" marB="36576">
                    <a:solidFill>
                      <a:srgbClr val="E5F5FF"/>
                    </a:solidFill>
                  </a:tcPr>
                </a:tc>
                <a:tc>
                  <a:txBody>
                    <a:bodyPr/>
                    <a:lstStyle/>
                    <a:p>
                      <a:r>
                        <a:rPr sz="1000" b="0">
                          <a:solidFill>
                            <a:srgbClr val="4B4B4B"/>
                          </a:solidFill>
                          <a:latin typeface="Arial"/>
                        </a:rPr>
                        <a:t>3</a:t>
                      </a:r>
                    </a:p>
                  </a:txBody>
                  <a:tcPr marL="73152" marR="73152" marT="36576" marB="36576">
                    <a:solidFill>
                      <a:srgbClr val="E5F5FF"/>
                    </a:solidFill>
                  </a:tcPr>
                </a:tc>
                <a:tc>
                  <a:txBody>
                    <a:bodyPr/>
                    <a:lstStyle/>
                    <a:p>
                      <a:r>
                        <a:rPr sz="1000" b="0">
                          <a:solidFill>
                            <a:srgbClr val="4B4B4B"/>
                          </a:solidFill>
                          <a:latin typeface="Arial"/>
                        </a:rPr>
                        <a:t>Renewal</a:t>
                      </a:r>
                    </a:p>
                  </a:txBody>
                  <a:tcPr marL="73152" marR="73152" marT="36576" marB="36576">
                    <a:solidFill>
                      <a:srgbClr val="E5F5FF"/>
                    </a:solidFill>
                  </a:tcPr>
                </a:tc>
              </a:tr>
              <a:tr h="365760">
                <a:tc>
                  <a:txBody>
                    <a:bodyPr/>
                    <a:lstStyle/>
                    <a:p>
                      <a:r>
                        <a:rPr sz="1000" b="0">
                          <a:solidFill>
                            <a:srgbClr val="4B4B4B"/>
                          </a:solidFill>
                          <a:latin typeface="Arial"/>
                        </a:rPr>
                        <a:t>Business Administrator</a:t>
                      </a:r>
                    </a:p>
                  </a:txBody>
                  <a:tcPr marL="73152" marR="73152" marT="36576" marB="36576">
                    <a:solidFill>
                      <a:srgbClr val="FFFFFF"/>
                    </a:solidFill>
                  </a:tcPr>
                </a:tc>
                <a:tc>
                  <a:txBody>
                    <a:bodyPr/>
                    <a:lstStyle/>
                    <a:p>
                      <a:r>
                        <a:rPr sz="1000" b="0">
                          <a:solidFill>
                            <a:srgbClr val="4B4B4B"/>
                          </a:solidFill>
                          <a:latin typeface="Arial"/>
                        </a:rPr>
                        <a:t>badmin</a:t>
                      </a:r>
                    </a:p>
                  </a:txBody>
                  <a:tcPr marL="73152" marR="73152" marT="36576" marB="36576">
                    <a:solidFill>
                      <a:srgbClr val="FFFFFF"/>
                    </a:solidFill>
                  </a:tcPr>
                </a:tc>
                <a:tc>
                  <a:txBody>
                    <a:bodyPr/>
                    <a:lstStyle/>
                    <a:p>
                      <a:r>
                        <a:rPr sz="1000" b="0">
                          <a:solidFill>
                            <a:srgbClr val="4B4B4B"/>
                          </a:solidFill>
                          <a:latin typeface="Arial"/>
                        </a:rPr>
                        <a:t>3</a:t>
                      </a:r>
                    </a:p>
                  </a:txBody>
                  <a:tcPr marL="73152" marR="73152" marT="36576" marB="36576">
                    <a:solidFill>
                      <a:srgbClr val="FFFFFF"/>
                    </a:solidFill>
                  </a:tcPr>
                </a:tc>
                <a:tc>
                  <a:txBody>
                    <a:bodyPr/>
                    <a:lstStyle/>
                    <a:p>
                      <a:r>
                        <a:rPr sz="1000" b="0">
                          <a:solidFill>
                            <a:srgbClr val="4B4B4B"/>
                          </a:solidFill>
                          <a:latin typeface="Arial"/>
                        </a:rPr>
                        <a:t>Renewal</a:t>
                      </a:r>
                    </a:p>
                  </a:txBody>
                  <a:tcPr marL="73152" marR="73152" marT="36576" marB="36576">
                    <a:solidFill>
                      <a:srgbClr val="FFFFFF"/>
                    </a:solidFill>
                  </a:tcPr>
                </a:tc>
              </a:tr>
              <a:tr h="365760">
                <a:tc>
                  <a:txBody>
                    <a:bodyPr/>
                    <a:lstStyle/>
                    <a:p>
                      <a:r>
                        <a:rPr sz="1000" b="0">
                          <a:solidFill>
                            <a:srgbClr val="4B4B4B"/>
                          </a:solidFill>
                          <a:latin typeface="Arial"/>
                        </a:rPr>
                        <a:t>System Administrator</a:t>
                      </a:r>
                    </a:p>
                  </a:txBody>
                  <a:tcPr marL="73152" marR="73152" marT="36576" marB="36576">
                    <a:solidFill>
                      <a:srgbClr val="E5F5FF"/>
                    </a:solidFill>
                  </a:tcPr>
                </a:tc>
                <a:tc>
                  <a:txBody>
                    <a:bodyPr/>
                    <a:lstStyle/>
                    <a:p>
                      <a:r>
                        <a:rPr sz="1000" b="0">
                          <a:solidFill>
                            <a:srgbClr val="4B4B4B"/>
                          </a:solidFill>
                          <a:latin typeface="Arial"/>
                        </a:rPr>
                        <a:t>admin</a:t>
                      </a:r>
                    </a:p>
                  </a:txBody>
                  <a:tcPr marL="73152" marR="73152" marT="36576" marB="36576">
                    <a:solidFill>
                      <a:srgbClr val="E5F5FF"/>
                    </a:solidFill>
                  </a:tcPr>
                </a:tc>
                <a:tc>
                  <a:txBody>
                    <a:bodyPr/>
                    <a:lstStyle/>
                    <a:p>
                      <a:r>
                        <a:rPr sz="1000" b="0">
                          <a:solidFill>
                            <a:srgbClr val="4B4B4B"/>
                          </a:solidFill>
                          <a:latin typeface="Arial"/>
                        </a:rPr>
                        <a:t>0</a:t>
                      </a:r>
                    </a:p>
                  </a:txBody>
                  <a:tcPr marL="73152" marR="73152" marT="36576" marB="36576">
                    <a:solidFill>
                      <a:srgbClr val="E5F5FF"/>
                    </a:solidFill>
                  </a:tcPr>
                </a:tc>
                <a:tc>
                  <a:txBody>
                    <a:bodyPr/>
                    <a:lstStyle/>
                    <a:p/>
                  </a:txBody>
                  <a:tcPr marL="73152" marR="73152" marT="36576" marB="36576">
                    <a:solidFill>
                      <a:srgbClr val="E5F5FF"/>
                    </a:solidFill>
                  </a:tcPr>
                </a:tc>
              </a:tr>
              <a:tr h="365760">
                <a:tc>
                  <a:txBody>
                    <a:bodyPr/>
                    <a:lstStyle/>
                    <a:p>
                      <a:r>
                        <a:rPr sz="1000" b="0">
                          <a:solidFill>
                            <a:srgbClr val="4B4B4B"/>
                          </a:solidFill>
                          <a:latin typeface="Arial"/>
                        </a:rPr>
                        <a:t>Auditor</a:t>
                      </a:r>
                    </a:p>
                  </a:txBody>
                  <a:tcPr marL="73152" marR="73152" marT="36576" marB="36576">
                    <a:solidFill>
                      <a:srgbClr val="FFFFFF"/>
                    </a:solidFill>
                  </a:tcPr>
                </a:tc>
                <a:tc>
                  <a:txBody>
                    <a:bodyPr/>
                    <a:lstStyle/>
                    <a:p>
                      <a:r>
                        <a:rPr sz="1000" b="0">
                          <a:solidFill>
                            <a:srgbClr val="4B4B4B"/>
                          </a:solidFill>
                          <a:latin typeface="Arial"/>
                        </a:rPr>
                        <a:t>auditor</a:t>
                      </a:r>
                    </a:p>
                  </a:txBody>
                  <a:tcPr marL="73152" marR="73152" marT="36576" marB="36576">
                    <a:solidFill>
                      <a:srgbClr val="FFFFFF"/>
                    </a:solidFill>
                  </a:tcPr>
                </a:tc>
                <a:tc>
                  <a:txBody>
                    <a:bodyPr/>
                    <a:lstStyle/>
                    <a:p>
                      <a:r>
                        <a:rPr sz="1000" b="0">
                          <a:solidFill>
                            <a:srgbClr val="4B4B4B"/>
                          </a:solidFill>
                          <a:latin typeface="Arial"/>
                        </a:rPr>
                        <a:t>2</a:t>
                      </a:r>
                    </a:p>
                  </a:txBody>
                  <a:tcPr marL="73152" marR="73152" marT="36576" marB="36576">
                    <a:solidFill>
                      <a:srgbClr val="FFFFFF"/>
                    </a:solidFill>
                  </a:tcPr>
                </a:tc>
                <a:tc>
                  <a:txBody>
                    <a:bodyPr/>
                    <a:lstStyle/>
                    <a:p>
                      <a:r>
                        <a:rPr sz="1000" b="0">
                          <a:solidFill>
                            <a:srgbClr val="4B4B4B"/>
                          </a:solidFill>
                          <a:latin typeface="Arial"/>
                        </a:rPr>
                        <a:t>Renewal</a:t>
                      </a:r>
                    </a:p>
                  </a:txBody>
                  <a:tcPr marL="73152" marR="73152" marT="36576" marB="36576">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Renewal at a glance: key screens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a:t>
            </a:r>
          </a:p>
        </p:txBody>
      </p:sp>
      <p:pic>
        <p:nvPicPr>
          <p:cNvPr id="9" name="Picture 8" descr="scr-rn-02-01-list.png"/>
          <p:cNvPicPr>
            <a:picLocks noChangeAspect="1"/>
          </p:cNvPicPr>
          <p:nvPr/>
        </p:nvPicPr>
        <p:blipFill>
          <a:blip r:embed="rId3"/>
          <a:stretch>
            <a:fillRect/>
          </a:stretch>
        </p:blipFill>
        <p:spPr>
          <a:xfrm>
            <a:off x="1414215" y="1325880"/>
            <a:ext cx="3678896" cy="1874519"/>
          </a:xfrm>
          <a:prstGeom prst="rect">
            <a:avLst/>
          </a:prstGeom>
          <a:ln w="9525">
            <a:solidFill>
              <a:srgbClr val="C2C2C1"/>
            </a:solidFill>
          </a:ln>
        </p:spPr>
      </p:pic>
      <p:sp>
        <p:nvSpPr>
          <p:cNvPr id="10" name="TextBox 9"/>
          <p:cNvSpPr txBox="1"/>
          <p:nvPr/>
        </p:nvSpPr>
        <p:spPr>
          <a:xfrm>
            <a:off x="548640" y="3200400"/>
            <a:ext cx="5410047" cy="274320"/>
          </a:xfrm>
          <a:prstGeom prst="rect">
            <a:avLst/>
          </a:prstGeom>
          <a:noFill/>
        </p:spPr>
        <p:txBody>
          <a:bodyPr wrap="square" anchor="t" lIns="45720" rIns="45720">
            <a:spAutoFit/>
          </a:bodyPr>
          <a:lstStyle/>
          <a:p>
            <a:pPr algn="ctr"/>
            <a:r>
              <a:rPr sz="1100" b="0" i="1">
                <a:solidFill>
                  <a:srgbClr val="656565"/>
                </a:solidFill>
                <a:latin typeface="Arial"/>
              </a:rPr>
              <a:t>Expiry List: the expiring accounts with their classification and flags</a:t>
            </a:r>
          </a:p>
        </p:txBody>
      </p:sp>
      <p:pic>
        <p:nvPicPr>
          <p:cNvPr id="11" name="Picture 10" descr="wt-a-04.png"/>
          <p:cNvPicPr>
            <a:picLocks noChangeAspect="1"/>
          </p:cNvPicPr>
          <p:nvPr/>
        </p:nvPicPr>
        <p:blipFill>
          <a:blip r:embed="rId4"/>
          <a:stretch>
            <a:fillRect/>
          </a:stretch>
        </p:blipFill>
        <p:spPr>
          <a:xfrm>
            <a:off x="7634793" y="1325880"/>
            <a:ext cx="2606475" cy="1874520"/>
          </a:xfrm>
          <a:prstGeom prst="rect">
            <a:avLst/>
          </a:prstGeom>
          <a:ln w="9525">
            <a:solidFill>
              <a:srgbClr val="C2C2C1"/>
            </a:solidFill>
          </a:ln>
        </p:spPr>
      </p:pic>
      <p:sp>
        <p:nvSpPr>
          <p:cNvPr id="12" name="TextBox 11"/>
          <p:cNvSpPr txBox="1"/>
          <p:nvPr/>
        </p:nvSpPr>
        <p:spPr>
          <a:xfrm>
            <a:off x="6233007" y="3200400"/>
            <a:ext cx="5410047" cy="274320"/>
          </a:xfrm>
          <a:prstGeom prst="rect">
            <a:avLst/>
          </a:prstGeom>
          <a:noFill/>
        </p:spPr>
        <p:txBody>
          <a:bodyPr wrap="square" anchor="t" lIns="45720" rIns="45720">
            <a:spAutoFit/>
          </a:bodyPr>
          <a:lstStyle/>
          <a:p>
            <a:pPr algn="ctr"/>
            <a:r>
              <a:rPr sz="1100" b="0" i="1">
                <a:solidFill>
                  <a:srgbClr val="656565"/>
                </a:solidFill>
                <a:latin typeface="Arial"/>
              </a:rPr>
              <a:t>The disposition of the Account Officer after the account history</a:t>
            </a:r>
          </a:p>
        </p:txBody>
      </p:sp>
      <p:pic>
        <p:nvPicPr>
          <p:cNvPr id="13" name="Picture 12" descr="wt-b-02.png"/>
          <p:cNvPicPr>
            <a:picLocks noChangeAspect="1"/>
          </p:cNvPicPr>
          <p:nvPr/>
        </p:nvPicPr>
        <p:blipFill>
          <a:blip r:embed="rId5"/>
          <a:stretch>
            <a:fillRect/>
          </a:stretch>
        </p:blipFill>
        <p:spPr>
          <a:xfrm>
            <a:off x="1452415" y="3566160"/>
            <a:ext cx="3602497" cy="1874520"/>
          </a:xfrm>
          <a:prstGeom prst="rect">
            <a:avLst/>
          </a:prstGeom>
          <a:ln w="9525">
            <a:solidFill>
              <a:srgbClr val="C2C2C1"/>
            </a:solidFill>
          </a:ln>
        </p:spPr>
      </p:pic>
      <p:sp>
        <p:nvSpPr>
          <p:cNvPr id="14" name="TextBox 13"/>
          <p:cNvSpPr txBox="1"/>
          <p:nvPr/>
        </p:nvSpPr>
        <p:spPr>
          <a:xfrm>
            <a:off x="548640" y="5440680"/>
            <a:ext cx="5410047" cy="274320"/>
          </a:xfrm>
          <a:prstGeom prst="rect">
            <a:avLst/>
          </a:prstGeom>
          <a:noFill/>
        </p:spPr>
        <p:txBody>
          <a:bodyPr wrap="square" anchor="t" lIns="45720" rIns="45720">
            <a:spAutoFit/>
          </a:bodyPr>
          <a:lstStyle/>
          <a:p>
            <a:pPr algn="ctr"/>
            <a:r>
              <a:rPr sz="1100" b="0" i="1">
                <a:solidFill>
                  <a:srgbClr val="656565"/>
                </a:solidFill>
                <a:latin typeface="Arial"/>
              </a:rPr>
              <a:t>An insurer batch with the columns of the insurer extract</a:t>
            </a:r>
          </a:p>
        </p:txBody>
      </p:sp>
      <p:pic>
        <p:nvPicPr>
          <p:cNvPr id="15" name="Picture 14" descr="wt-b-05.png"/>
          <p:cNvPicPr>
            <a:picLocks noChangeAspect="1"/>
          </p:cNvPicPr>
          <p:nvPr/>
        </p:nvPicPr>
        <p:blipFill>
          <a:blip r:embed="rId6"/>
          <a:stretch>
            <a:fillRect/>
          </a:stretch>
        </p:blipFill>
        <p:spPr>
          <a:xfrm>
            <a:off x="7271790" y="3566160"/>
            <a:ext cx="3332480" cy="1874520"/>
          </a:xfrm>
          <a:prstGeom prst="rect">
            <a:avLst/>
          </a:prstGeom>
          <a:ln w="9525">
            <a:solidFill>
              <a:srgbClr val="C2C2C1"/>
            </a:solidFill>
          </a:ln>
        </p:spPr>
      </p:pic>
      <p:sp>
        <p:nvSpPr>
          <p:cNvPr id="16" name="TextBox 15"/>
          <p:cNvSpPr txBox="1"/>
          <p:nvPr/>
        </p:nvSpPr>
        <p:spPr>
          <a:xfrm>
            <a:off x="6233007" y="5440680"/>
            <a:ext cx="5410047" cy="274320"/>
          </a:xfrm>
          <a:prstGeom prst="rect">
            <a:avLst/>
          </a:prstGeom>
          <a:noFill/>
        </p:spPr>
        <p:txBody>
          <a:bodyPr wrap="square" anchor="t" lIns="45720" rIns="45720">
            <a:spAutoFit/>
          </a:bodyPr>
          <a:lstStyle/>
          <a:p>
            <a:pPr algn="ctr"/>
            <a:r>
              <a:rPr sz="1100" b="0" i="1">
                <a:solidFill>
                  <a:srgbClr val="656565"/>
                </a:solidFill>
                <a:latin typeface="Arial"/>
              </a:rPr>
              <a:t>The Renewal Advice generated for the client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Key business rules and validations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400">
                <a:solidFill>
                  <a:srgbClr val="004EA8"/>
                </a:solidFill>
                <a:latin typeface="Arial"/>
              </a:rPr>
              <a:t>•  </a:t>
            </a:r>
            <a:r>
              <a:rPr sz="1400">
                <a:solidFill>
                  <a:srgbClr val="4B4B4B"/>
                </a:solidFill>
                <a:latin typeface="Arial"/>
              </a:rPr>
              <a:t>The booked accounts expiring at the lead days (140 by default) are extracted every day, once per policy year; Generate Expiry List takes any range. Extraction does not start the renewal: it is initiated explicitly.</a:t>
            </a:r>
          </a:p>
          <a:p>
            <a:pPr>
              <a:spcAft>
                <a:spcPts val="600"/>
              </a:spcAft>
            </a:pPr>
            <a:r>
              <a:rPr sz="1400">
                <a:solidFill>
                  <a:srgbClr val="004EA8"/>
                </a:solidFill>
                <a:latin typeface="Arial"/>
              </a:rPr>
              <a:t>•  </a:t>
            </a:r>
            <a:r>
              <a:rPr sz="1400">
                <a:solidFill>
                  <a:srgbClr val="4B4B4B"/>
                </a:solidFill>
                <a:latin typeface="Arial"/>
              </a:rPr>
              <a:t>On initiation the checks run (reference, PN, risk code, LAMD, claims, endorsements, outstanding premium, KYC and others): a failed check never gives the Clean classification; the decision matrix proposes the disposition, automatic for a Clean renewal when the rule says so.</a:t>
            </a:r>
          </a:p>
          <a:p>
            <a:pPr>
              <a:spcAft>
                <a:spcPts val="600"/>
              </a:spcAft>
            </a:pPr>
            <a:r>
              <a:rPr sz="1400">
                <a:solidFill>
                  <a:srgbClr val="004EA8"/>
                </a:solidFill>
                <a:latin typeface="Arial"/>
              </a:rPr>
              <a:t>•  </a:t>
            </a:r>
            <a:r>
              <a:rPr sz="1400">
                <a:solidFill>
                  <a:srgbClr val="4B4B4B"/>
                </a:solidFill>
                <a:latin typeface="Arial"/>
              </a:rPr>
              <a:t>The Account Officer gives the disposition only after viewing the account history; Not for Renewal needs its reason. The Team Leader posts, returns or overrides with remarks.</a:t>
            </a:r>
          </a:p>
          <a:p>
            <a:pPr>
              <a:spcAft>
                <a:spcPts val="600"/>
              </a:spcAft>
            </a:pPr>
            <a:r>
              <a:rPr sz="1400">
                <a:solidFill>
                  <a:srgbClr val="004EA8"/>
                </a:solidFill>
                <a:latin typeface="Arial"/>
              </a:rPr>
              <a:t>•  </a:t>
            </a:r>
            <a:r>
              <a:rPr sz="1400">
                <a:solidFill>
                  <a:srgbClr val="4B4B4B"/>
                </a:solidFill>
                <a:latin typeface="Arial"/>
              </a:rPr>
              <a:t>A renewal For Renewal or on the New Business path is not posted while a blocking check fails.</a:t>
            </a:r>
          </a:p>
          <a:p>
            <a:pPr>
              <a:spcAft>
                <a:spcPts val="600"/>
              </a:spcAft>
            </a:pPr>
            <a:r>
              <a:rPr sz="1400">
                <a:solidFill>
                  <a:srgbClr val="004EA8"/>
                </a:solidFill>
                <a:latin typeface="Arial"/>
              </a:rPr>
              <a:t>•  </a:t>
            </a:r>
            <a:r>
              <a:rPr sz="1400">
                <a:solidFill>
                  <a:srgbClr val="4B4B4B"/>
                </a:solidFill>
                <a:latin typeface="Arial"/>
              </a:rPr>
              <a:t>Processing sends the renewals to the insurer in batches, protected; the insurer's response is captured once; Renew As Is with a match moves the renewal to the Renewal Advice without re-keying.</a:t>
            </a:r>
          </a:p>
          <a:p>
            <a:pPr>
              <a:spcAft>
                <a:spcPts val="600"/>
              </a:spcAft>
            </a:pPr>
            <a:r>
              <a:rPr sz="1400">
                <a:solidFill>
                  <a:srgbClr val="004EA8"/>
                </a:solidFill>
                <a:latin typeface="Arial"/>
              </a:rPr>
              <a:t>•  </a:t>
            </a:r>
            <a:r>
              <a:rPr sz="1400">
                <a:solidFill>
                  <a:srgbClr val="4B4B4B"/>
                </a:solidFill>
                <a:latin typeface="Arial"/>
              </a:rPr>
              <a:t>The Renewal Advice is generated from the latest template and e-mailed protected; fewer than 30 days before expiry it needs a recorded confirmation; it locks the renewal on the Marketing side.</a:t>
            </a:r>
          </a:p>
          <a:p>
            <a:pPr>
              <a:spcAft>
                <a:spcPts val="600"/>
              </a:spcAft>
            </a:pPr>
            <a:r>
              <a:rPr sz="1400">
                <a:solidFill>
                  <a:srgbClr val="004EA8"/>
                </a:solidFill>
                <a:latin typeface="Arial"/>
              </a:rPr>
              <a:t>•  </a:t>
            </a:r>
            <a:r>
              <a:rPr sz="1400">
                <a:solidFill>
                  <a:srgbClr val="4B4B4B"/>
                </a:solidFill>
                <a:latin typeface="Arial"/>
              </a:rPr>
              <a:t>The client's acceptance (e-mail, signed Renewal Advice or payment) moves the renewal account to placement and booking; it books as business type Renewal.</a:t>
            </a:r>
          </a:p>
          <a:p>
            <a:pPr>
              <a:spcAft>
                <a:spcPts val="600"/>
              </a:spcAft>
            </a:pPr>
            <a:r>
              <a:rPr sz="1400">
                <a:solidFill>
                  <a:srgbClr val="004EA8"/>
                </a:solidFill>
                <a:latin typeface="Arial"/>
              </a:rPr>
              <a:t>•  </a:t>
            </a:r>
            <a:r>
              <a:rPr sz="1400">
                <a:solidFill>
                  <a:srgbClr val="4B4B4B"/>
                </a:solidFill>
                <a:latin typeface="Arial"/>
              </a:rPr>
              <a:t>Risk codes, checks and package mappings are maker-checker; the classification rules and the decision matrix are versions activated by another user.</a:t>
            </a:r>
          </a:p>
          <a:p>
            <a:pPr lvl="1">
              <a:spcAft>
                <a:spcPts val="600"/>
              </a:spcAft>
            </a:pPr>
            <a:r>
              <a:rPr sz="1200">
                <a:solidFill>
                  <a:srgbClr val="656565"/>
                </a:solidFill>
                <a:latin typeface="Arial"/>
              </a:rPr>
              <a:t>–  </a:t>
            </a:r>
            <a:r>
              <a:rPr sz="1200">
                <a:solidFill>
                  <a:srgbClr val="4B4B4B"/>
                </a:solidFill>
                <a:latin typeface="Arial"/>
              </a:rPr>
              <a:t>Full list: FRS chapter 13 per screen, 59 rules on the Business rules sheet and 151 messages in FRS chapter 15 and on the Messages sheet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Cross-module dependencies and impacts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a:t>
            </a:r>
          </a:p>
        </p:txBody>
      </p:sp>
      <p:pic>
        <p:nvPicPr>
          <p:cNvPr id="9" name="Picture 8" descr="brd06_contract_map.png"/>
          <p:cNvPicPr>
            <a:picLocks noChangeAspect="1"/>
          </p:cNvPicPr>
          <p:nvPr/>
        </p:nvPicPr>
        <p:blipFill>
          <a:blip r:embed="rId3"/>
          <a:stretch>
            <a:fillRect/>
          </a:stretch>
        </p:blipFill>
        <p:spPr>
          <a:xfrm>
            <a:off x="3019017" y="1325880"/>
            <a:ext cx="6153661" cy="4480560"/>
          </a:xfrm>
          <a:prstGeom prst="rect">
            <a:avLst/>
          </a:prstGeom>
          <a:ln w="9525">
            <a:solidFill>
              <a:srgbClr val="C2C2C1"/>
            </a:solidFill>
          </a:ln>
        </p:spPr>
      </p:pic>
      <p:sp>
        <p:nvSpPr>
          <p:cNvPr id="10" name="TextBox 9"/>
          <p:cNvSpPr txBox="1"/>
          <p:nvPr/>
        </p:nvSpPr>
        <p:spPr>
          <a:xfrm>
            <a:off x="548640" y="5852160"/>
            <a:ext cx="11094415" cy="320040"/>
          </a:xfrm>
          <a:prstGeom prst="rect">
            <a:avLst/>
          </a:prstGeom>
          <a:noFill/>
        </p:spPr>
        <p:txBody>
          <a:bodyPr wrap="square" anchor="t" lIns="45720" rIns="45720">
            <a:spAutoFit/>
          </a:bodyPr>
          <a:lstStyle/>
          <a:p>
            <a:pPr algn="ctr"/>
            <a:r>
              <a:rPr sz="1100" b="0" i="1">
                <a:solidFill>
                  <a:srgbClr val="656565"/>
                </a:solidFill>
                <a:latin typeface="Arial"/>
              </a:rPr>
              <a:t>What Renewal takes from and hands to the other BRDs and systems (FRS chapter 19)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Caveats and possibilities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a:t>
            </a:r>
          </a:p>
        </p:txBody>
      </p:sp>
      <p:graphicFrame>
        <p:nvGraphicFramePr>
          <p:cNvPr id="9" name="Table 8"/>
          <p:cNvGraphicFramePr>
            <a:graphicFrameLocks noGrp="1"/>
          </p:cNvGraphicFramePr>
          <p:nvPr/>
        </p:nvGraphicFramePr>
        <p:xfrm>
          <a:off x="548640" y="1371600"/>
          <a:ext cx="11094414" cy="2926080"/>
        </p:xfrm>
        <a:graphic>
          <a:graphicData uri="http://schemas.openxmlformats.org/drawingml/2006/table">
            <a:tbl>
              <a:tblPr firstRow="1" bandRow="1">
                <a:tableStyleId>{5C22544A-7EE6-4342-B048-85BDC9FD1C3A}</a:tableStyleId>
              </a:tblPr>
              <a:tblGrid>
                <a:gridCol w="1937120"/>
                <a:gridCol w="4578647"/>
                <a:gridCol w="4578647"/>
              </a:tblGrid>
              <a:tr h="365760">
                <a:tc>
                  <a:txBody>
                    <a:bodyPr/>
                    <a:lstStyle/>
                    <a:p>
                      <a:r>
                        <a:rPr sz="1000" b="1">
                          <a:solidFill>
                            <a:srgbClr val="FFFFFF"/>
                          </a:solidFill>
                          <a:latin typeface="Arial"/>
                        </a:rPr>
                        <a:t>Topic</a:t>
                      </a:r>
                    </a:p>
                  </a:txBody>
                  <a:tcPr marL="73152" marR="73152" marT="36576" marB="36576">
                    <a:solidFill>
                      <a:srgbClr val="004EA8"/>
                    </a:solidFill>
                  </a:tcPr>
                </a:tc>
                <a:tc>
                  <a:txBody>
                    <a:bodyPr/>
                    <a:lstStyle/>
                    <a:p>
                      <a:r>
                        <a:rPr sz="1000" b="1">
                          <a:solidFill>
                            <a:srgbClr val="FFFFFF"/>
                          </a:solidFill>
                          <a:latin typeface="Arial"/>
                        </a:rPr>
                        <a:t>What can happen</a:t>
                      </a:r>
                    </a:p>
                  </a:txBody>
                  <a:tcPr marL="73152" marR="73152" marT="36576" marB="36576">
                    <a:solidFill>
                      <a:srgbClr val="004EA8"/>
                    </a:solidFill>
                  </a:tcPr>
                </a:tc>
                <a:tc>
                  <a:txBody>
                    <a:bodyPr/>
                    <a:lstStyle/>
                    <a:p>
                      <a:r>
                        <a:rPr sz="1000" b="1">
                          <a:solidFill>
                            <a:srgbClr val="FFFFFF"/>
                          </a:solidFill>
                          <a:latin typeface="Arial"/>
                        </a:rPr>
                        <a:t>How it is handled</a:t>
                      </a:r>
                    </a:p>
                  </a:txBody>
                  <a:tcPr marL="73152" marR="73152" marT="36576" marB="36576">
                    <a:solidFill>
                      <a:srgbClr val="004EA8"/>
                    </a:solidFill>
                  </a:tcPr>
                </a:tc>
              </a:tr>
              <a:tr h="365760">
                <a:tc>
                  <a:txBody>
                    <a:bodyPr/>
                    <a:lstStyle/>
                    <a:p>
                      <a:r>
                        <a:rPr sz="1000" b="0">
                          <a:solidFill>
                            <a:srgbClr val="4B4B4B"/>
                          </a:solidFill>
                          <a:latin typeface="Arial"/>
                        </a:rPr>
                        <a:t>Additional requirements</a:t>
                      </a:r>
                    </a:p>
                  </a:txBody>
                  <a:tcPr marL="73152" marR="73152" marT="36576" marB="36576">
                    <a:solidFill>
                      <a:srgbClr val="FFFFFF"/>
                    </a:solidFill>
                  </a:tcPr>
                </a:tc>
                <a:tc>
                  <a:txBody>
                    <a:bodyPr/>
                    <a:lstStyle/>
                    <a:p>
                      <a:r>
                        <a:rPr sz="1000" b="0">
                          <a:solidFill>
                            <a:srgbClr val="4B4B4B"/>
                          </a:solidFill>
                          <a:latin typeface="Arial"/>
                        </a:rPr>
                        <a:t>New needs can surface during the review, SIT or UAT.</a:t>
                      </a:r>
                    </a:p>
                  </a:txBody>
                  <a:tcPr marL="73152" marR="73152" marT="36576" marB="36576">
                    <a:solidFill>
                      <a:srgbClr val="FFFFFF"/>
                    </a:solidFill>
                  </a:tcPr>
                </a:tc>
                <a:tc>
                  <a:txBody>
                    <a:bodyPr/>
                    <a:lstStyle/>
                    <a:p>
                      <a:r>
                        <a:rPr sz="1000" b="0">
                          <a:solidFill>
                            <a:srgbClr val="4B4B4B"/>
                          </a:solidFill>
                          <a:latin typeface="Arial"/>
                        </a:rPr>
                        <a:t>In-scope clarification when the signed text already covers it; otherwise a change request with mandays.</a:t>
                      </a:r>
                    </a:p>
                  </a:txBody>
                  <a:tcPr marL="73152" marR="73152" marT="36576" marB="36576">
                    <a:solidFill>
                      <a:srgbClr val="FFFFFF"/>
                    </a:solidFill>
                  </a:tcPr>
                </a:tc>
              </a:tr>
              <a:tr h="365760">
                <a:tc>
                  <a:txBody>
                    <a:bodyPr/>
                    <a:lstStyle/>
                    <a:p>
                      <a:r>
                        <a:rPr sz="1000" b="0">
                          <a:solidFill>
                            <a:srgbClr val="4B4B4B"/>
                          </a:solidFill>
                          <a:latin typeface="Arial"/>
                        </a:rPr>
                        <a:t>Impacts on other modules</a:t>
                      </a:r>
                    </a:p>
                  </a:txBody>
                  <a:tcPr marL="73152" marR="73152" marT="36576" marB="36576">
                    <a:solidFill>
                      <a:srgbClr val="E5F5FF"/>
                    </a:solidFill>
                  </a:tcPr>
                </a:tc>
                <a:tc>
                  <a:txBody>
                    <a:bodyPr/>
                    <a:lstStyle/>
                    <a:p>
                      <a:r>
                        <a:rPr sz="1000" b="0">
                          <a:solidFill>
                            <a:srgbClr val="4B4B4B"/>
                          </a:solidFill>
                          <a:latin typeface="Arial"/>
                        </a:rPr>
                        <a:t>Renewal reads the Operations ledger and the New Business account, and hands the renewal back to New Business as an account of business type Renewal for placement and booking. A change of a disposition path or of the acceptance can change what New Business receives.</a:t>
                      </a:r>
                    </a:p>
                  </a:txBody>
                  <a:tcPr marL="73152" marR="73152" marT="36576" marB="36576">
                    <a:solidFill>
                      <a:srgbClr val="E5F5FF"/>
                    </a:solidFill>
                  </a:tcPr>
                </a:tc>
                <a:tc>
                  <a:txBody>
                    <a:bodyPr/>
                    <a:lstStyle/>
                    <a:p>
                      <a:r>
                        <a:rPr sz="1000" b="0">
                          <a:solidFill>
                            <a:srgbClr val="4B4B4B"/>
                          </a:solidFill>
                          <a:latin typeface="Arial"/>
                        </a:rPr>
                        <a:t>Each change is assessed against the cross-BRD contract (FRS chapter 19); when it touches another set, a delta sign-off of the affected pages of both sets.</a:t>
                      </a:r>
                    </a:p>
                  </a:txBody>
                  <a:tcPr marL="73152" marR="73152" marT="36576" marB="36576">
                    <a:solidFill>
                      <a:srgbClr val="E5F5FF"/>
                    </a:solidFill>
                  </a:tcPr>
                </a:tc>
              </a:tr>
              <a:tr h="365760">
                <a:tc>
                  <a:txBody>
                    <a:bodyPr/>
                    <a:lstStyle/>
                    <a:p>
                      <a:r>
                        <a:rPr sz="1000" b="0">
                          <a:solidFill>
                            <a:srgbClr val="4B4B4B"/>
                          </a:solidFill>
                          <a:latin typeface="Arial"/>
                        </a:rPr>
                        <a:t>Other BRDs change Renewal</a:t>
                      </a:r>
                    </a:p>
                  </a:txBody>
                  <a:tcPr marL="73152" marR="73152" marT="36576" marB="36576">
                    <a:solidFill>
                      <a:srgbClr val="FFFFFF"/>
                    </a:solidFill>
                  </a:tcPr>
                </a:tc>
                <a:tc>
                  <a:txBody>
                    <a:bodyPr/>
                    <a:lstStyle/>
                    <a:p>
                      <a:r>
                        <a:rPr sz="1000" b="0">
                          <a:solidFill>
                            <a:srgbClr val="4B4B4B"/>
                          </a:solidFill>
                          <a:latin typeface="Arial"/>
                        </a:rPr>
                        <a:t>New Business (account, booking), Operations (balances, endorsements), Product Maintenance (packages), Claims (claims summary), Submitted Policies (hand-off), User Access (roles) and Data Migration (go-live) can change what Renewal shows.</a:t>
                      </a:r>
                    </a:p>
                  </a:txBody>
                  <a:tcPr marL="73152" marR="73152" marT="36576" marB="36576">
                    <a:solidFill>
                      <a:srgbClr val="FFFFFF"/>
                    </a:solidFill>
                  </a:tcPr>
                </a:tc>
                <a:tc>
                  <a:txBody>
                    <a:bodyPr/>
                    <a:lstStyle/>
                    <a:p>
                      <a:r>
                        <a:rPr sz="1000" b="0">
                          <a:solidFill>
                            <a:srgbClr val="4B4B4B"/>
                          </a:solidFill>
                          <a:latin typeface="Arial"/>
                        </a:rPr>
                        <a:t>The change is raised against the other BRD and assessed against the contract; when it touches this set, a delta sign-off of the affected pages only.</a:t>
                      </a:r>
                    </a:p>
                  </a:txBody>
                  <a:tcPr marL="73152" marR="73152" marT="36576" marB="36576">
                    <a:solidFill>
                      <a:srgbClr val="FFFFFF"/>
                    </a:solidFill>
                  </a:tcPr>
                </a:tc>
              </a:tr>
              <a:tr h="365760">
                <a:tc>
                  <a:txBody>
                    <a:bodyPr/>
                    <a:lstStyle/>
                    <a:p>
                      <a:r>
                        <a:rPr sz="1000" b="0">
                          <a:solidFill>
                            <a:srgbClr val="4B4B4B"/>
                          </a:solidFill>
                          <a:latin typeface="Arial"/>
                        </a:rPr>
                        <a:t>Lists of values and rules still to confirm</a:t>
                      </a:r>
                    </a:p>
                  </a:txBody>
                  <a:tcPr marL="73152" marR="73152" marT="36576" marB="36576">
                    <a:solidFill>
                      <a:srgbClr val="E5F5FF"/>
                    </a:solidFill>
                  </a:tcPr>
                </a:tc>
                <a:tc>
                  <a:txBody>
                    <a:bodyPr/>
                    <a:lstStyle/>
                    <a:p>
                      <a:r>
                        <a:rPr sz="1000" b="0">
                          <a:solidFill>
                            <a:srgbClr val="4B4B4B"/>
                          </a:solidFill>
                          <a:latin typeface="Arial"/>
                        </a:rPr>
                        <a:t>The reasons for Not for Renewal, the return, transfer and override reasons, the follow-up channels and outcomes, the check severities, the classification rules and the decision matrix carry provisional values marked to confirm (RQ01, RQ24).</a:t>
                      </a:r>
                    </a:p>
                  </a:txBody>
                  <a:tcPr marL="73152" marR="73152" marT="36576" marB="36576">
                    <a:solidFill>
                      <a:srgbClr val="E5F5FF"/>
                    </a:solidFill>
                  </a:tcPr>
                </a:tc>
                <a:tc>
                  <a:txBody>
                    <a:bodyPr/>
                    <a:lstStyle/>
                    <a:p>
                      <a:r>
                        <a:rPr sz="1000" b="0">
                          <a:solidFill>
                            <a:srgbClr val="4B4B4B"/>
                          </a:solidFill>
                          <a:latin typeface="Arial"/>
                        </a:rPr>
                        <a:t>BDOI gives its lists and rules; they are loaded as configuration on Lists of Values and Renewal Setup, without a change request.</a:t>
                      </a:r>
                    </a:p>
                  </a:txBody>
                  <a:tcPr marL="73152" marR="73152" marT="36576" marB="36576">
                    <a:solidFill>
                      <a:srgbClr val="E5F5FF"/>
                    </a:solidFill>
                  </a:tcPr>
                </a:tc>
              </a:tr>
              <a:tr h="365760">
                <a:tc>
                  <a:txBody>
                    <a:bodyPr/>
                    <a:lstStyle/>
                    <a:p>
                      <a:r>
                        <a:rPr sz="1000" b="0">
                          <a:solidFill>
                            <a:srgbClr val="4B4B4B"/>
                          </a:solidFill>
                          <a:latin typeface="Arial"/>
                        </a:rPr>
                        <a:t>Letters and their wording</a:t>
                      </a:r>
                    </a:p>
                  </a:txBody>
                  <a:tcPr marL="73152" marR="73152" marT="36576" marB="36576">
                    <a:solidFill>
                      <a:srgbClr val="FFFFFF"/>
                    </a:solidFill>
                  </a:tcPr>
                </a:tc>
                <a:tc>
                  <a:txBody>
                    <a:bodyPr/>
                    <a:lstStyle/>
                    <a:p>
                      <a:r>
                        <a:rPr sz="1000" b="0">
                          <a:solidFill>
                            <a:srgbClr val="4B4B4B"/>
                          </a:solidFill>
                          <a:latin typeface="Arial"/>
                        </a:rPr>
                        <a:t>The Renewal Advice and the other letters use draft templates until BDOI gives its own wording (RQ26).</a:t>
                      </a:r>
                    </a:p>
                  </a:txBody>
                  <a:tcPr marL="73152" marR="73152" marT="36576" marB="36576">
                    <a:solidFill>
                      <a:srgbClr val="FFFFFF"/>
                    </a:solidFill>
                  </a:tcPr>
                </a:tc>
                <a:tc>
                  <a:txBody>
                    <a:bodyPr/>
                    <a:lstStyle/>
                    <a:p>
                      <a:r>
                        <a:rPr sz="1000" b="0">
                          <a:solidFill>
                            <a:srgbClr val="4B4B4B"/>
                          </a:solidFill>
                          <a:latin typeface="Arial"/>
                        </a:rPr>
                        <a:t>The templates are versioned on Document Templates; the new wording is a new version, without a change request.</a:t>
                      </a:r>
                    </a:p>
                  </a:txBody>
                  <a:tcPr marL="73152" marR="73152" marT="36576" marB="36576">
                    <a:solidFill>
                      <a:srgbClr val="FFFFFF"/>
                    </a:solidFill>
                  </a:tcPr>
                </a:tc>
              </a:tr>
              <a:tr h="365760">
                <a:tc>
                  <a:txBody>
                    <a:bodyPr/>
                    <a:lstStyle/>
                    <a:p>
                      <a:r>
                        <a:rPr sz="1000" b="0">
                          <a:solidFill>
                            <a:srgbClr val="4B4B4B"/>
                          </a:solidFill>
                          <a:latin typeface="Arial"/>
                        </a:rPr>
                        <a:t>Integrations pending BDOI IT specifications</a:t>
                      </a:r>
                    </a:p>
                  </a:txBody>
                  <a:tcPr marL="73152" marR="73152" marT="36576" marB="36576">
                    <a:solidFill>
                      <a:srgbClr val="E5F5FF"/>
                    </a:solidFill>
                  </a:tcPr>
                </a:tc>
                <a:tc>
                  <a:txBody>
                    <a:bodyPr/>
                    <a:lstStyle/>
                    <a:p>
                      <a:r>
                        <a:rPr sz="1000" b="0">
                          <a:solidFill>
                            <a:srgbClr val="4B4B4B"/>
                          </a:solidFill>
                          <a:latin typeface="Arial"/>
                        </a:rPr>
                        <a:t>Insurer responses and LAMD reports are uploaded until a channel is agreed; the approved domains of the Renewal Advice e-mails are to confirm (RQ16).</a:t>
                      </a:r>
                    </a:p>
                  </a:txBody>
                  <a:tcPr marL="73152" marR="73152" marT="36576" marB="36576">
                    <a:solidFill>
                      <a:srgbClr val="E5F5FF"/>
                    </a:solidFill>
                  </a:tcPr>
                </a:tc>
                <a:tc>
                  <a:txBody>
                    <a:bodyPr/>
                    <a:lstStyle/>
                    <a:p>
                      <a:r>
                        <a:rPr sz="1000" b="0">
                          <a:solidFill>
                            <a:srgbClr val="4B4B4B"/>
                          </a:solidFill>
                          <a:latin typeface="Arial"/>
                        </a:rPr>
                        <a:t>Uploads are in scope now; an automatic channel later is a change request. The technical detail is in the Technical Specification, reviewed by BDOI IT.</a:t>
                      </a:r>
                    </a:p>
                  </a:txBody>
                  <a:tcPr marL="73152" marR="73152" marT="36576" marB="36576">
                    <a:solidFill>
                      <a:srgbClr val="E5F5FF"/>
                    </a:solidFill>
                  </a:tcPr>
                </a:tc>
              </a:tr>
              <a:tr h="365760">
                <a:tc>
                  <a:txBody>
                    <a:bodyPr/>
                    <a:lstStyle/>
                    <a:p>
                      <a:r>
                        <a:rPr sz="1000" b="0">
                          <a:solidFill>
                            <a:srgbClr val="4B4B4B"/>
                          </a:solidFill>
                          <a:latin typeface="Arial"/>
                        </a:rPr>
                        <a:t>Open questions and assumptions</a:t>
                      </a:r>
                    </a:p>
                  </a:txBody>
                  <a:tcPr marL="73152" marR="73152" marT="36576" marB="36576">
                    <a:solidFill>
                      <a:srgbClr val="FFFFFF"/>
                    </a:solidFill>
                  </a:tcPr>
                </a:tc>
                <a:tc>
                  <a:txBody>
                    <a:bodyPr/>
                    <a:lstStyle/>
                    <a:p>
                      <a:r>
                        <a:rPr sz="1000" b="0">
                          <a:solidFill>
                            <a:srgbClr val="4B4B4B"/>
                          </a:solidFill>
                          <a:latin typeface="Arial"/>
                        </a:rPr>
                        <a:t>Open questions of FRS section 10.3 follow the assumptions of section 10.1; chapter 21 lists the proposed rules and clarifications for confirmation.</a:t>
                      </a:r>
                    </a:p>
                  </a:txBody>
                  <a:tcPr marL="73152" marR="73152" marT="36576" marB="36576">
                    <a:solidFill>
                      <a:srgbClr val="FFFFFF"/>
                    </a:solidFill>
                  </a:tcPr>
                </a:tc>
                <a:tc>
                  <a:txBody>
                    <a:bodyPr/>
                    <a:lstStyle/>
                    <a:p>
                      <a:r>
                        <a:rPr sz="1000" b="0">
                          <a:solidFill>
                            <a:srgbClr val="4B4B4B"/>
                          </a:solidFill>
                          <a:latin typeface="Arial"/>
                        </a:rPr>
                        <a:t>Answered as configuration where possible (lists of values, parameters, templates, rules); otherwise a change request; the assumption stands until then.</a:t>
                      </a:r>
                    </a:p>
                  </a:txBody>
                  <a:tcPr marL="73152" marR="73152" marT="36576" marB="36576">
                    <a:solidFill>
                      <a:srgbClr val="FFFF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Caveats: worked examples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a:t>
            </a:r>
          </a:p>
        </p:txBody>
      </p:sp>
      <p:graphicFrame>
        <p:nvGraphicFramePr>
          <p:cNvPr id="9" name="Table 8"/>
          <p:cNvGraphicFramePr>
            <a:graphicFrameLocks noGrp="1"/>
          </p:cNvGraphicFramePr>
          <p:nvPr/>
        </p:nvGraphicFramePr>
        <p:xfrm>
          <a:off x="548640" y="1371600"/>
          <a:ext cx="11094414" cy="2926080"/>
        </p:xfrm>
        <a:graphic>
          <a:graphicData uri="http://schemas.openxmlformats.org/drawingml/2006/table">
            <a:tbl>
              <a:tblPr firstRow="1" bandRow="1">
                <a:tableStyleId>{5C22544A-7EE6-4342-B048-85BDC9FD1C3A}</a:tableStyleId>
              </a:tblPr>
              <a:tblGrid>
                <a:gridCol w="2113221"/>
                <a:gridCol w="8981193"/>
              </a:tblGrid>
              <a:tr h="365760">
                <a:tc>
                  <a:txBody>
                    <a:bodyPr/>
                    <a:lstStyle/>
                    <a:p>
                      <a:r>
                        <a:rPr sz="1100" b="1">
                          <a:solidFill>
                            <a:srgbClr val="FFFFFF"/>
                          </a:solidFill>
                          <a:latin typeface="Arial"/>
                        </a:rPr>
                        <a:t>Topic</a:t>
                      </a:r>
                    </a:p>
                  </a:txBody>
                  <a:tcPr marL="73152" marR="73152" marT="36576" marB="36576">
                    <a:solidFill>
                      <a:srgbClr val="004EA8"/>
                    </a:solidFill>
                  </a:tcPr>
                </a:tc>
                <a:tc>
                  <a:txBody>
                    <a:bodyPr/>
                    <a:lstStyle/>
                    <a:p>
                      <a:r>
                        <a:rPr sz="1100" b="1">
                          <a:solidFill>
                            <a:srgbClr val="FFFFFF"/>
                          </a:solidFill>
                          <a:latin typeface="Arial"/>
                        </a:rPr>
                        <a:t>Example and how it is handled</a:t>
                      </a:r>
                    </a:p>
                  </a:txBody>
                  <a:tcPr marL="73152" marR="73152" marT="36576" marB="36576">
                    <a:solidFill>
                      <a:srgbClr val="004EA8"/>
                    </a:solidFill>
                  </a:tcPr>
                </a:tc>
              </a:tr>
              <a:tr h="365760">
                <a:tc>
                  <a:txBody>
                    <a:bodyPr/>
                    <a:lstStyle/>
                    <a:p>
                      <a:r>
                        <a:rPr sz="1100" b="0">
                          <a:solidFill>
                            <a:srgbClr val="4B4B4B"/>
                          </a:solidFill>
                          <a:latin typeface="Arial"/>
                        </a:rPr>
                        <a:t>Additional requirements</a:t>
                      </a:r>
                    </a:p>
                  </a:txBody>
                  <a:tcPr marL="73152" marR="73152" marT="36576" marB="36576">
                    <a:solidFill>
                      <a:srgbClr val="FFFFFF"/>
                    </a:solidFill>
                  </a:tcPr>
                </a:tc>
                <a:tc>
                  <a:txBody>
                    <a:bodyPr/>
                    <a:lstStyle/>
                    <a:p>
                      <a:r>
                        <a:rPr sz="1100" b="0">
                          <a:solidFill>
                            <a:srgbClr val="4B4B4B"/>
                          </a:solidFill>
                          <a:latin typeface="Arial"/>
                        </a:rPr>
                        <a:t>A reviewer asks for the bank officer on the Expiry List: a new column, so a change request; asking which renewals the Exceptions tab shows is a clarification.</a:t>
                      </a:r>
                    </a:p>
                  </a:txBody>
                  <a:tcPr marL="73152" marR="73152" marT="36576" marB="36576">
                    <a:solidFill>
                      <a:srgbClr val="FFFFFF"/>
                    </a:solidFill>
                  </a:tcPr>
                </a:tc>
              </a:tr>
              <a:tr h="365760">
                <a:tc>
                  <a:txBody>
                    <a:bodyPr/>
                    <a:lstStyle/>
                    <a:p>
                      <a:r>
                        <a:rPr sz="1100" b="0">
                          <a:solidFill>
                            <a:srgbClr val="4B4B4B"/>
                          </a:solidFill>
                          <a:latin typeface="Arial"/>
                        </a:rPr>
                        <a:t>Impacts on other modules</a:t>
                      </a:r>
                    </a:p>
                  </a:txBody>
                  <a:tcPr marL="73152" marR="73152" marT="36576" marB="36576">
                    <a:solidFill>
                      <a:srgbClr val="E5F5FF"/>
                    </a:solidFill>
                  </a:tcPr>
                </a:tc>
                <a:tc>
                  <a:txBody>
                    <a:bodyPr/>
                    <a:lstStyle/>
                    <a:p>
                      <a:r>
                        <a:rPr sz="1100" b="0">
                          <a:solidFill>
                            <a:srgbClr val="4B4B4B"/>
                          </a:solidFill>
                          <a:latin typeface="Arial"/>
                        </a:rPr>
                        <a:t>Booking the renewal under its own business type changes the New Business booking screens: both owners confirm the delta.</a:t>
                      </a:r>
                    </a:p>
                  </a:txBody>
                  <a:tcPr marL="73152" marR="73152" marT="36576" marB="36576">
                    <a:solidFill>
                      <a:srgbClr val="E5F5FF"/>
                    </a:solidFill>
                  </a:tcPr>
                </a:tc>
              </a:tr>
              <a:tr h="365760">
                <a:tc>
                  <a:txBody>
                    <a:bodyPr/>
                    <a:lstStyle/>
                    <a:p>
                      <a:r>
                        <a:rPr sz="1100" b="0">
                          <a:solidFill>
                            <a:srgbClr val="4B4B4B"/>
                          </a:solidFill>
                          <a:latin typeface="Arial"/>
                        </a:rPr>
                        <a:t>Other BRDs change Renewal</a:t>
                      </a:r>
                    </a:p>
                  </a:txBody>
                  <a:tcPr marL="73152" marR="73152" marT="36576" marB="36576">
                    <a:solidFill>
                      <a:srgbClr val="FFFFFF"/>
                    </a:solidFill>
                  </a:tcPr>
                </a:tc>
                <a:tc>
                  <a:txBody>
                    <a:bodyPr/>
                    <a:lstStyle/>
                    <a:p>
                      <a:r>
                        <a:rPr sz="1100" b="0">
                          <a:solidFill>
                            <a:srgbClr val="4B4B4B"/>
                          </a:solidFill>
                          <a:latin typeface="Arial"/>
                        </a:rPr>
                        <a:t>Product Maintenance withdraws a package version: the product-renewable check fails for its renewals and they go to Review; signed as a delta.</a:t>
                      </a:r>
                    </a:p>
                  </a:txBody>
                  <a:tcPr marL="73152" marR="73152" marT="36576" marB="36576">
                    <a:solidFill>
                      <a:srgbClr val="FFFFFF"/>
                    </a:solidFill>
                  </a:tcPr>
                </a:tc>
              </a:tr>
              <a:tr h="365760">
                <a:tc>
                  <a:txBody>
                    <a:bodyPr/>
                    <a:lstStyle/>
                    <a:p>
                      <a:r>
                        <a:rPr sz="1100" b="0">
                          <a:solidFill>
                            <a:srgbClr val="4B4B4B"/>
                          </a:solidFill>
                          <a:latin typeface="Arial"/>
                        </a:rPr>
                        <a:t>Lists of values and rules still to confirm</a:t>
                      </a:r>
                    </a:p>
                  </a:txBody>
                  <a:tcPr marL="73152" marR="73152" marT="36576" marB="36576">
                    <a:solidFill>
                      <a:srgbClr val="E5F5FF"/>
                    </a:solidFill>
                  </a:tcPr>
                </a:tc>
                <a:tc>
                  <a:txBody>
                    <a:bodyPr/>
                    <a:lstStyle/>
                    <a:p>
                      <a:r>
                        <a:rPr sz="1100" b="0">
                          <a:solidFill>
                            <a:srgbClr val="4B4B4B"/>
                          </a:solidFill>
                          <a:latin typeface="Arial"/>
                        </a:rPr>
                        <a:t>BDOI adds the reason Client moved abroad: a list value, maintained by MBS.</a:t>
                      </a:r>
                    </a:p>
                  </a:txBody>
                  <a:tcPr marL="73152" marR="73152" marT="36576" marB="36576">
                    <a:solidFill>
                      <a:srgbClr val="E5F5FF"/>
                    </a:solidFill>
                  </a:tcPr>
                </a:tc>
              </a:tr>
              <a:tr h="365760">
                <a:tc>
                  <a:txBody>
                    <a:bodyPr/>
                    <a:lstStyle/>
                    <a:p>
                      <a:r>
                        <a:rPr sz="1100" b="0">
                          <a:solidFill>
                            <a:srgbClr val="4B4B4B"/>
                          </a:solidFill>
                          <a:latin typeface="Arial"/>
                        </a:rPr>
                        <a:t>Letters and their wording</a:t>
                      </a:r>
                    </a:p>
                  </a:txBody>
                  <a:tcPr marL="73152" marR="73152" marT="36576" marB="36576">
                    <a:solidFill>
                      <a:srgbClr val="FFFFFF"/>
                    </a:solidFill>
                  </a:tcPr>
                </a:tc>
                <a:tc>
                  <a:txBody>
                    <a:bodyPr/>
                    <a:lstStyle/>
                    <a:p>
                      <a:r>
                        <a:rPr sz="1100" b="0">
                          <a:solidFill>
                            <a:srgbClr val="4B4B4B"/>
                          </a:solidFill>
                          <a:latin typeface="Arial"/>
                        </a:rPr>
                        <a:t>Marketing adds the payment channels to the Renewal Advice: a new template version, approved by MBS.</a:t>
                      </a:r>
                    </a:p>
                  </a:txBody>
                  <a:tcPr marL="73152" marR="73152" marT="36576" marB="36576">
                    <a:solidFill>
                      <a:srgbClr val="FFFFFF"/>
                    </a:solidFill>
                  </a:tcPr>
                </a:tc>
              </a:tr>
              <a:tr h="365760">
                <a:tc>
                  <a:txBody>
                    <a:bodyPr/>
                    <a:lstStyle/>
                    <a:p>
                      <a:r>
                        <a:rPr sz="1100" b="0">
                          <a:solidFill>
                            <a:srgbClr val="4B4B4B"/>
                          </a:solidFill>
                          <a:latin typeface="Arial"/>
                        </a:rPr>
                        <a:t>Integrations pending BDOI IT specifications</a:t>
                      </a:r>
                    </a:p>
                  </a:txBody>
                  <a:tcPr marL="73152" marR="73152" marT="36576" marB="36576">
                    <a:solidFill>
                      <a:srgbClr val="E5F5FF"/>
                    </a:solidFill>
                  </a:tcPr>
                </a:tc>
                <a:tc>
                  <a:txBody>
                    <a:bodyPr/>
                    <a:lstStyle/>
                    <a:p>
                      <a:r>
                        <a:rPr sz="1100" b="0">
                          <a:solidFill>
                            <a:srgbClr val="4B4B4B"/>
                          </a:solidFill>
                          <a:latin typeface="Arial"/>
                        </a:rPr>
                        <a:t>LAMD sends its monthly report as a file; the LAMD user uploads it on LAMD Reports.</a:t>
                      </a:r>
                    </a:p>
                  </a:txBody>
                  <a:tcPr marL="73152" marR="73152" marT="36576" marB="36576">
                    <a:solidFill>
                      <a:srgbClr val="E5F5FF"/>
                    </a:solidFill>
                  </a:tcPr>
                </a:tc>
              </a:tr>
              <a:tr h="365760">
                <a:tc>
                  <a:txBody>
                    <a:bodyPr/>
                    <a:lstStyle/>
                    <a:p>
                      <a:r>
                        <a:rPr sz="1100" b="0">
                          <a:solidFill>
                            <a:srgbClr val="4B4B4B"/>
                          </a:solidFill>
                          <a:latin typeface="Arial"/>
                        </a:rPr>
                        <a:t>Open questions and assumptions</a:t>
                      </a:r>
                    </a:p>
                  </a:txBody>
                  <a:tcPr marL="73152" marR="73152" marT="36576" marB="36576">
                    <a:solidFill>
                      <a:srgbClr val="FFFFFF"/>
                    </a:solidFill>
                  </a:tcPr>
                </a:tc>
                <a:tc>
                  <a:txBody>
                    <a:bodyPr/>
                    <a:lstStyle/>
                    <a:p>
                      <a:r>
                        <a:rPr sz="1100" b="0">
                          <a:solidFill>
                            <a:srgbClr val="4B4B4B"/>
                          </a:solidFill>
                          <a:latin typeface="Arial"/>
                        </a:rPr>
                        <a:t>The lead days are 140 until BDOI confirms them; the answer is a parameter value.</a:t>
                      </a:r>
                    </a:p>
                  </a:txBody>
                  <a:tcPr marL="73152" marR="73152" marT="36576" marB="36576">
                    <a:solidFill>
                      <a:srgbClr val="FFFFFF"/>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Entry and exit criteria, definition of done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a:t>
            </a:r>
          </a:p>
        </p:txBody>
      </p:sp>
      <p:sp>
        <p:nvSpPr>
          <p:cNvPr id="9" name="Rectangle 8"/>
          <p:cNvSpPr/>
          <p:nvPr/>
        </p:nvSpPr>
        <p:spPr>
          <a:xfrm>
            <a:off x="548640"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325880"/>
            <a:ext cx="3515258" cy="457200"/>
          </a:xfrm>
          <a:prstGeom prst="rect">
            <a:avLst/>
          </a:prstGeom>
          <a:noFill/>
        </p:spPr>
        <p:txBody>
          <a:bodyPr wrap="square" anchor="ctr" lIns="45720" rIns="45720">
            <a:spAutoFit/>
          </a:bodyPr>
          <a:lstStyle/>
          <a:p>
            <a:r>
              <a:rPr sz="1500" b="1" i="0">
                <a:solidFill>
                  <a:srgbClr val="FFFFFF"/>
                </a:solidFill>
                <a:latin typeface="Arial"/>
              </a:rPr>
              <a:t>Entry</a:t>
            </a:r>
          </a:p>
        </p:txBody>
      </p:sp>
      <p:sp>
        <p:nvSpPr>
          <p:cNvPr id="11" name="Rectangle 10"/>
          <p:cNvSpPr/>
          <p:nvPr/>
        </p:nvSpPr>
        <p:spPr>
          <a:xfrm>
            <a:off x="548640"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Every screenshot of the set is taken on the SIT environment with seed data.</a:t>
            </a:r>
          </a:p>
          <a:p>
            <a:pPr>
              <a:spcAft>
                <a:spcPts val="600"/>
              </a:spcAft>
            </a:pPr>
            <a:r>
              <a:rPr sz="1200">
                <a:solidFill>
                  <a:srgbClr val="004EA8"/>
                </a:solidFill>
                <a:latin typeface="Arial"/>
              </a:rPr>
              <a:t>•  </a:t>
            </a:r>
            <a:r>
              <a:rPr sz="1200">
                <a:solidFill>
                  <a:srgbClr val="4B4B4B"/>
                </a:solidFill>
                <a:latin typeface="Arial"/>
              </a:rPr>
              <a:t>Reviewers have their SIT users and the walkthrough sessions are held.</a:t>
            </a:r>
          </a:p>
          <a:p>
            <a:pPr>
              <a:spcAft>
                <a:spcPts val="600"/>
              </a:spcAft>
            </a:pPr>
            <a:r>
              <a:rPr sz="1200">
                <a:solidFill>
                  <a:srgbClr val="004EA8"/>
                </a:solidFill>
                <a:latin typeface="Arial"/>
              </a:rPr>
              <a:t>•  </a:t>
            </a:r>
            <a:r>
              <a:rPr sz="1200">
                <a:solidFill>
                  <a:srgbClr val="4B4B4B"/>
                </a:solidFill>
                <a:latin typeface="Arial"/>
              </a:rPr>
              <a:t>The test plan is traced to the FRS and to the screens.</a:t>
            </a:r>
          </a:p>
          <a:p>
            <a:pPr>
              <a:spcAft>
                <a:spcPts val="600"/>
              </a:spcAft>
            </a:pPr>
            <a:r>
              <a:rPr sz="1200">
                <a:solidFill>
                  <a:srgbClr val="004EA8"/>
                </a:solidFill>
                <a:latin typeface="Arial"/>
              </a:rPr>
              <a:t>•  </a:t>
            </a:r>
            <a:r>
              <a:rPr sz="1200">
                <a:solidFill>
                  <a:srgbClr val="4B4B4B"/>
                </a:solidFill>
                <a:latin typeface="Arial"/>
              </a:rPr>
              <a:t>The BRD-1 New Business walkthroughs are held (the expiring account and the renewal account are New Business screens).</a:t>
            </a:r>
          </a:p>
        </p:txBody>
      </p:sp>
      <p:sp>
        <p:nvSpPr>
          <p:cNvPr id="13" name="Rectangle 12"/>
          <p:cNvSpPr/>
          <p:nvPr/>
        </p:nvSpPr>
        <p:spPr>
          <a:xfrm>
            <a:off x="4338218"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29658" y="1325880"/>
            <a:ext cx="3515258" cy="457200"/>
          </a:xfrm>
          <a:prstGeom prst="rect">
            <a:avLst/>
          </a:prstGeom>
          <a:noFill/>
        </p:spPr>
        <p:txBody>
          <a:bodyPr wrap="square" anchor="ctr" lIns="45720" rIns="45720">
            <a:spAutoFit/>
          </a:bodyPr>
          <a:lstStyle/>
          <a:p>
            <a:r>
              <a:rPr sz="1500" b="1" i="0">
                <a:solidFill>
                  <a:srgbClr val="FFFFFF"/>
                </a:solidFill>
                <a:latin typeface="Arial"/>
              </a:rPr>
              <a:t>Exit</a:t>
            </a:r>
          </a:p>
        </p:txBody>
      </p:sp>
      <p:sp>
        <p:nvSpPr>
          <p:cNvPr id="15" name="Rectangle 14"/>
          <p:cNvSpPr/>
          <p:nvPr/>
        </p:nvSpPr>
        <p:spPr>
          <a:xfrm>
            <a:off x="4338218"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9658"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Every row of the workbook reviewed by its team (Accept, Change requested or Comment).</a:t>
            </a:r>
          </a:p>
          <a:p>
            <a:pPr>
              <a:spcAft>
                <a:spcPts val="600"/>
              </a:spcAft>
            </a:pPr>
            <a:r>
              <a:rPr sz="1200">
                <a:solidFill>
                  <a:srgbClr val="004EA8"/>
                </a:solidFill>
                <a:latin typeface="Arial"/>
              </a:rPr>
              <a:t>•  </a:t>
            </a:r>
            <a:r>
              <a:rPr sz="1200">
                <a:solidFill>
                  <a:srgbClr val="4B4B4B"/>
                </a:solidFill>
                <a:latin typeface="Arial"/>
              </a:rPr>
              <a:t>Every comments log item closed: answered, corrected in v2.1, or raised as a change request.</a:t>
            </a:r>
          </a:p>
          <a:p>
            <a:pPr>
              <a:spcAft>
                <a:spcPts val="600"/>
              </a:spcAft>
            </a:pPr>
            <a:r>
              <a:rPr sz="1200">
                <a:solidFill>
                  <a:srgbClr val="004EA8"/>
                </a:solidFill>
                <a:latin typeface="Arial"/>
              </a:rPr>
              <a:t>•  </a:t>
            </a:r>
            <a:r>
              <a:rPr sz="1200">
                <a:solidFill>
                  <a:srgbClr val="4B4B4B"/>
                </a:solidFill>
                <a:latin typeface="Arial"/>
              </a:rPr>
              <a:t>Open questions closed or accepted as assumptions.</a:t>
            </a:r>
          </a:p>
          <a:p>
            <a:pPr>
              <a:spcAft>
                <a:spcPts val="600"/>
              </a:spcAft>
            </a:pPr>
            <a:r>
              <a:rPr sz="1200">
                <a:solidFill>
                  <a:srgbClr val="004EA8"/>
                </a:solidFill>
                <a:latin typeface="Arial"/>
              </a:rPr>
              <a:t>•  </a:t>
            </a:r>
            <a:r>
              <a:rPr sz="1200">
                <a:solidFill>
                  <a:srgbClr val="4B4B4B"/>
                </a:solidFill>
                <a:latin typeface="Arial"/>
              </a:rPr>
              <a:t>The sign-off certificate signed by every signatory of the Who signs what matrix: prepared, input, reviewed and approved as on the Renewal BRD approval sheets; the Product Owner approves the whole set.</a:t>
            </a:r>
          </a:p>
        </p:txBody>
      </p:sp>
      <p:sp>
        <p:nvSpPr>
          <p:cNvPr id="17" name="Rectangle 16"/>
          <p:cNvSpPr/>
          <p:nvPr/>
        </p:nvSpPr>
        <p:spPr>
          <a:xfrm>
            <a:off x="8127796"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19236" y="1325880"/>
            <a:ext cx="3515258" cy="457200"/>
          </a:xfrm>
          <a:prstGeom prst="rect">
            <a:avLst/>
          </a:prstGeom>
          <a:noFill/>
        </p:spPr>
        <p:txBody>
          <a:bodyPr wrap="square" anchor="ctr" lIns="45720" rIns="45720">
            <a:spAutoFit/>
          </a:bodyPr>
          <a:lstStyle/>
          <a:p>
            <a:r>
              <a:rPr sz="1500" b="1" i="0">
                <a:solidFill>
                  <a:srgbClr val="FFFFFF"/>
                </a:solidFill>
                <a:latin typeface="Arial"/>
              </a:rPr>
              <a:t>Done</a:t>
            </a:r>
          </a:p>
        </p:txBody>
      </p:sp>
      <p:sp>
        <p:nvSpPr>
          <p:cNvPr id="19" name="Rectangle 18"/>
          <p:cNvSpPr/>
          <p:nvPr/>
        </p:nvSpPr>
        <p:spPr>
          <a:xfrm>
            <a:off x="8127796"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19236"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Signed certificate filed with the set; version history updated.</a:t>
            </a:r>
          </a:p>
          <a:p>
            <a:pPr>
              <a:spcAft>
                <a:spcPts val="600"/>
              </a:spcAft>
            </a:pPr>
            <a:r>
              <a:rPr sz="1200">
                <a:solidFill>
                  <a:srgbClr val="004EA8"/>
                </a:solidFill>
                <a:latin typeface="Arial"/>
              </a:rPr>
              <a:t>•  </a:t>
            </a:r>
            <a:r>
              <a:rPr sz="1200">
                <a:solidFill>
                  <a:srgbClr val="4B4B4B"/>
                </a:solidFill>
                <a:latin typeface="Arial"/>
              </a:rPr>
              <a:t>Content frozen as signed; deltas listed in the Change Management Register with mandays.</a:t>
            </a:r>
          </a:p>
          <a:p>
            <a:pPr>
              <a:spcAft>
                <a:spcPts val="600"/>
              </a:spcAft>
            </a:pPr>
            <a:r>
              <a:rPr sz="1200">
                <a:solidFill>
                  <a:srgbClr val="004EA8"/>
                </a:solidFill>
                <a:latin typeface="Arial"/>
              </a:rPr>
              <a:t>•  </a:t>
            </a:r>
            <a:r>
              <a:rPr sz="1200">
                <a:solidFill>
                  <a:srgbClr val="4B4B4B"/>
                </a:solidFill>
                <a:latin typeface="Arial"/>
              </a:rPr>
              <a:t>Test plan agreed for SIT and UAT.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After sign-off: readiness checklist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600">
                <a:solidFill>
                  <a:srgbClr val="004EA8"/>
                </a:solidFill>
                <a:latin typeface="Arial"/>
              </a:rPr>
              <a:t>•  </a:t>
            </a:r>
            <a:r>
              <a:rPr sz="1600">
                <a:solidFill>
                  <a:srgbClr val="4B4B4B"/>
                </a:solidFill>
                <a:latin typeface="Arial"/>
              </a:rPr>
              <a:t>☐  Signed FRS, sign-off workbook and screens</a:t>
            </a:r>
          </a:p>
          <a:p>
            <a:pPr>
              <a:spcAft>
                <a:spcPts val="600"/>
              </a:spcAft>
            </a:pPr>
            <a:r>
              <a:rPr sz="1600">
                <a:solidFill>
                  <a:srgbClr val="004EA8"/>
                </a:solidFill>
                <a:latin typeface="Arial"/>
              </a:rPr>
              <a:t>•  </a:t>
            </a:r>
            <a:r>
              <a:rPr sz="1600">
                <a:solidFill>
                  <a:srgbClr val="4B4B4B"/>
                </a:solidFill>
                <a:latin typeface="Arial"/>
              </a:rPr>
              <a:t>☐  Open questions closed or accepted as assumptions</a:t>
            </a:r>
          </a:p>
          <a:p>
            <a:pPr>
              <a:spcAft>
                <a:spcPts val="600"/>
              </a:spcAft>
            </a:pPr>
            <a:r>
              <a:rPr sz="1600">
                <a:solidFill>
                  <a:srgbClr val="004EA8"/>
                </a:solidFill>
                <a:latin typeface="Arial"/>
              </a:rPr>
              <a:t>•  </a:t>
            </a:r>
            <a:r>
              <a:rPr sz="1600">
                <a:solidFill>
                  <a:srgbClr val="4B4B4B"/>
                </a:solidFill>
                <a:latin typeface="Arial"/>
              </a:rPr>
              <a:t>☐  Configuration inputs from the business: the reasons and lists of values of Renewal, the lead days and the other parameters, the check severities, the classification rules and the decision matrix, the non-renewable risk codes, the package map of the migrated policies, the letter templates, the insurers' renewal e-mail addresses, users and roles</a:t>
            </a:r>
          </a:p>
          <a:p>
            <a:pPr>
              <a:spcAft>
                <a:spcPts val="600"/>
              </a:spcAft>
            </a:pPr>
            <a:r>
              <a:rPr sz="1600">
                <a:solidFill>
                  <a:srgbClr val="004EA8"/>
                </a:solidFill>
                <a:latin typeface="Arial"/>
              </a:rPr>
              <a:t>•  </a:t>
            </a:r>
            <a:r>
              <a:rPr sz="1600">
                <a:solidFill>
                  <a:srgbClr val="4B4B4B"/>
                </a:solidFill>
                <a:latin typeface="Arial"/>
              </a:rPr>
              <a:t>☐  Agreed test plan</a:t>
            </a:r>
          </a:p>
          <a:p>
            <a:pPr>
              <a:spcAft>
                <a:spcPts val="600"/>
              </a:spcAft>
            </a:pPr>
            <a:r>
              <a:rPr sz="1600">
                <a:solidFill>
                  <a:srgbClr val="004EA8"/>
                </a:solidFill>
                <a:latin typeface="Arial"/>
              </a:rPr>
              <a:t>•  </a:t>
            </a:r>
            <a:r>
              <a:rPr sz="1600">
                <a:solidFill>
                  <a:srgbClr val="4B4B4B"/>
                </a:solidFill>
                <a:latin typeface="Arial"/>
              </a:rPr>
              <a:t>☐  Migration of the in-force policies of the go-live window and of the Renewal Advices sent before go-live signed (BRD-13)</a:t>
            </a:r>
          </a:p>
          <a:p>
            <a:pPr lvl="1">
              <a:spcAft>
                <a:spcPts val="600"/>
              </a:spcAft>
            </a:pPr>
            <a:r>
              <a:rPr sz="1400">
                <a:solidFill>
                  <a:srgbClr val="656565"/>
                </a:solidFill>
                <a:latin typeface="Arial"/>
              </a:rPr>
              <a:t>–  </a:t>
            </a:r>
            <a:r>
              <a:rPr sz="1400">
                <a:solidFill>
                  <a:srgbClr val="4B4B4B"/>
                </a:solidFill>
                <a:latin typeface="Arial"/>
              </a:rPr>
              <a:t>After sign-off the content is frozen as signed and the approved deltas are scheduled.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Change control after sign-off</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800">
                <a:solidFill>
                  <a:srgbClr val="004EA8"/>
                </a:solidFill>
                <a:latin typeface="Arial"/>
              </a:rPr>
              <a:t>•  </a:t>
            </a:r>
            <a:r>
              <a:rPr sz="1800">
                <a:solidFill>
                  <a:srgbClr val="4B4B4B"/>
                </a:solidFill>
                <a:latin typeface="Arial"/>
              </a:rPr>
              <a:t>A change to anything frozen is raised in the Change Management Register</a:t>
            </a:r>
          </a:p>
          <a:p>
            <a:pPr lvl="1">
              <a:spcAft>
                <a:spcPts val="600"/>
              </a:spcAft>
            </a:pPr>
            <a:r>
              <a:rPr sz="1600">
                <a:solidFill>
                  <a:srgbClr val="656565"/>
                </a:solidFill>
                <a:latin typeface="Arial"/>
              </a:rPr>
              <a:t>–  </a:t>
            </a:r>
            <a:r>
              <a:rPr sz="1600">
                <a:solidFill>
                  <a:srgbClr val="4B4B4B"/>
                </a:solidFill>
                <a:latin typeface="Arial"/>
              </a:rPr>
              <a:t>The screen, field, rule or message concerned, the reason and the priority</a:t>
            </a:r>
          </a:p>
          <a:p>
            <a:pPr>
              <a:spcAft>
                <a:spcPts val="600"/>
              </a:spcAft>
            </a:pPr>
            <a:r>
              <a:rPr sz="1800">
                <a:solidFill>
                  <a:srgbClr val="004EA8"/>
                </a:solidFill>
                <a:latin typeface="Arial"/>
              </a:rPr>
              <a:t>•  </a:t>
            </a:r>
            <a:r>
              <a:rPr sz="1800">
                <a:solidFill>
                  <a:srgbClr val="4B4B4B"/>
                </a:solidFill>
                <a:latin typeface="Arial"/>
              </a:rPr>
              <a:t>The project team assesses the mandays and the effect on the other BRDs through the cross-BRD contract</a:t>
            </a:r>
          </a:p>
          <a:p>
            <a:pPr>
              <a:spcAft>
                <a:spcPts val="600"/>
              </a:spcAft>
            </a:pPr>
            <a:r>
              <a:rPr sz="1800">
                <a:solidFill>
                  <a:srgbClr val="004EA8"/>
                </a:solidFill>
                <a:latin typeface="Arial"/>
              </a:rPr>
              <a:t>•  </a:t>
            </a:r>
            <a:r>
              <a:rPr sz="1800">
                <a:solidFill>
                  <a:srgbClr val="4B4B4B"/>
                </a:solidFill>
                <a:latin typeface="Arial"/>
              </a:rPr>
              <a:t>The owners of every BRD concerned approve it</a:t>
            </a:r>
          </a:p>
          <a:p>
            <a:pPr>
              <a:spcAft>
                <a:spcPts val="600"/>
              </a:spcAft>
            </a:pPr>
            <a:r>
              <a:rPr sz="1800">
                <a:solidFill>
                  <a:srgbClr val="004EA8"/>
                </a:solidFill>
                <a:latin typeface="Arial"/>
              </a:rPr>
              <a:t>•  </a:t>
            </a:r>
            <a:r>
              <a:rPr sz="1800">
                <a:solidFill>
                  <a:srgbClr val="4B4B4B"/>
                </a:solidFill>
                <a:latin typeface="Arial"/>
              </a:rPr>
              <a:t>Delivered as a new version of the set (v2.1, v2.2...) with the changed pages signed again (delta sign-off)</a:t>
            </a:r>
          </a:p>
          <a:p>
            <a:pPr>
              <a:spcAft>
                <a:spcPts val="600"/>
              </a:spcAft>
            </a:pPr>
            <a:r>
              <a:rPr sz="1800">
                <a:solidFill>
                  <a:srgbClr val="004EA8"/>
                </a:solidFill>
                <a:latin typeface="Arial"/>
              </a:rPr>
              <a:t>•  </a:t>
            </a:r>
            <a:r>
              <a:rPr sz="1800">
                <a:solidFill>
                  <a:srgbClr val="4B4B4B"/>
                </a:solidFill>
                <a:latin typeface="Arial"/>
              </a:rPr>
              <a:t>Configuration values marked default change in BIBS without a change request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Governance, contacts and next steps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a:t>
            </a:r>
          </a:p>
        </p:txBody>
      </p:sp>
      <p:graphicFrame>
        <p:nvGraphicFramePr>
          <p:cNvPr id="9" name="Table 8"/>
          <p:cNvGraphicFramePr>
            <a:graphicFrameLocks noGrp="1"/>
          </p:cNvGraphicFramePr>
          <p:nvPr/>
        </p:nvGraphicFramePr>
        <p:xfrm>
          <a:off x="548640" y="1371600"/>
          <a:ext cx="11094414" cy="2560320"/>
        </p:xfrm>
        <a:graphic>
          <a:graphicData uri="http://schemas.openxmlformats.org/drawingml/2006/table">
            <a:tbl>
              <a:tblPr firstRow="1" bandRow="1">
                <a:tableStyleId>{5C22544A-7EE6-4342-B048-85BDC9FD1C3A}</a:tableStyleId>
              </a:tblPr>
              <a:tblGrid>
                <a:gridCol w="2641527"/>
                <a:gridCol w="3698138"/>
                <a:gridCol w="4754749"/>
              </a:tblGrid>
              <a:tr h="365760">
                <a:tc>
                  <a:txBody>
                    <a:bodyPr/>
                    <a:lstStyle/>
                    <a:p>
                      <a:r>
                        <a:rPr sz="1000" b="1">
                          <a:solidFill>
                            <a:srgbClr val="FFFFFF"/>
                          </a:solidFill>
                          <a:latin typeface="Arial"/>
                        </a:rPr>
                        <a:t>Role</a:t>
                      </a:r>
                    </a:p>
                  </a:txBody>
                  <a:tcPr marL="73152" marR="73152" marT="36576" marB="36576">
                    <a:solidFill>
                      <a:srgbClr val="004EA8"/>
                    </a:solidFill>
                  </a:tcPr>
                </a:tc>
                <a:tc>
                  <a:txBody>
                    <a:bodyPr/>
                    <a:lstStyle/>
                    <a:p>
                      <a:r>
                        <a:rPr sz="1000" b="1">
                          <a:solidFill>
                            <a:srgbClr val="FFFFFF"/>
                          </a:solidFill>
                          <a:latin typeface="Arial"/>
                        </a:rPr>
                        <a:t>Who</a:t>
                      </a:r>
                    </a:p>
                  </a:txBody>
                  <a:tcPr marL="73152" marR="73152" marT="36576" marB="36576">
                    <a:solidFill>
                      <a:srgbClr val="004EA8"/>
                    </a:solidFill>
                  </a:tcPr>
                </a:tc>
                <a:tc>
                  <a:txBody>
                    <a:bodyPr/>
                    <a:lstStyle/>
                    <a:p>
                      <a:r>
                        <a:rPr sz="1000" b="1">
                          <a:solidFill>
                            <a:srgbClr val="FFFFFF"/>
                          </a:solidFill>
                          <a:latin typeface="Arial"/>
                        </a:rPr>
                        <a:t>Does</a:t>
                      </a:r>
                    </a:p>
                  </a:txBody>
                  <a:tcPr marL="73152" marR="73152" marT="36576" marB="36576">
                    <a:solidFill>
                      <a:srgbClr val="004EA8"/>
                    </a:solidFill>
                  </a:tcPr>
                </a:tc>
              </a:tr>
              <a:tr h="365760">
                <a:tc>
                  <a:txBody>
                    <a:bodyPr/>
                    <a:lstStyle/>
                    <a:p>
                      <a:r>
                        <a:rPr sz="1000" b="0">
                          <a:solidFill>
                            <a:srgbClr val="4B4B4B"/>
                          </a:solidFill>
                          <a:latin typeface="Arial"/>
                        </a:rPr>
                        <a:t>Business owner and approver</a:t>
                      </a:r>
                    </a:p>
                  </a:txBody>
                  <a:tcPr marL="73152" marR="73152" marT="36576" marB="36576">
                    <a:solidFill>
                      <a:srgbClr val="FFFFFF"/>
                    </a:solidFill>
                  </a:tcPr>
                </a:tc>
                <a:tc>
                  <a:txBody>
                    <a:bodyPr/>
                    <a:lstStyle/>
                    <a:p>
                      <a:r>
                        <a:rPr sz="1000" b="0">
                          <a:solidFill>
                            <a:srgbClr val="4B4B4B"/>
                          </a:solidFill>
                          <a:latin typeface="Arial"/>
                        </a:rPr>
                        <a:t>Shellah Marie C. Miranda, AVP, Product Owner</a:t>
                      </a:r>
                    </a:p>
                  </a:txBody>
                  <a:tcPr marL="73152" marR="73152" marT="36576" marB="36576">
                    <a:solidFill>
                      <a:srgbClr val="FFFFFF"/>
                    </a:solidFill>
                  </a:tcPr>
                </a:tc>
                <a:tc>
                  <a:txBody>
                    <a:bodyPr/>
                    <a:lstStyle/>
                    <a:p>
                      <a:r>
                        <a:rPr sz="1000" b="0">
                          <a:solidFill>
                            <a:srgbClr val="4B4B4B"/>
                          </a:solidFill>
                          <a:latin typeface="Arial"/>
                        </a:rPr>
                        <a:t>Accountable for the sign-off; chairs the sign-off meeting</a:t>
                      </a:r>
                    </a:p>
                  </a:txBody>
                  <a:tcPr marL="73152" marR="73152" marT="36576" marB="36576">
                    <a:solidFill>
                      <a:srgbClr val="FFFFFF"/>
                    </a:solidFill>
                  </a:tcPr>
                </a:tc>
              </a:tr>
              <a:tr h="365760">
                <a:tc>
                  <a:txBody>
                    <a:bodyPr/>
                    <a:lstStyle/>
                    <a:p>
                      <a:r>
                        <a:rPr sz="1000" b="0">
                          <a:solidFill>
                            <a:srgbClr val="4B4B4B"/>
                          </a:solidFill>
                          <a:latin typeface="Arial"/>
                        </a:rPr>
                        <a:t>Approvers</a:t>
                      </a:r>
                    </a:p>
                  </a:txBody>
                  <a:tcPr marL="73152" marR="73152" marT="36576" marB="36576">
                    <a:solidFill>
                      <a:srgbClr val="E5F5FF"/>
                    </a:solidFill>
                  </a:tcPr>
                </a:tc>
                <a:tc>
                  <a:txBody>
                    <a:bodyPr/>
                    <a:lstStyle/>
                    <a:p>
                      <a:r>
                        <a:rPr sz="1000" b="0">
                          <a:solidFill>
                            <a:srgbClr val="4B4B4B"/>
                          </a:solidFill>
                          <a:latin typeface="Arial"/>
                        </a:rPr>
                        <a:t>Jose Melvin Jarin, AVP, Product Owner; Mark Joseph C. Makalintal, SAVP, Unit Head - Combank and Corbank; Edmundante F. Ramirez, VP, and Roderick Lim, FVP, Retail and Corporate Marketing</a:t>
                      </a:r>
                    </a:p>
                  </a:txBody>
                  <a:tcPr marL="73152" marR="73152" marT="36576" marB="36576">
                    <a:solidFill>
                      <a:srgbClr val="E5F5FF"/>
                    </a:solidFill>
                  </a:tcPr>
                </a:tc>
                <a:tc>
                  <a:txBody>
                    <a:bodyPr/>
                    <a:lstStyle/>
                    <a:p>
                      <a:r>
                        <a:rPr sz="1000" b="0">
                          <a:solidFill>
                            <a:srgbClr val="4B4B4B"/>
                          </a:solidFill>
                          <a:latin typeface="Arial"/>
                        </a:rPr>
                        <a:t>Approve the set for their units</a:t>
                      </a:r>
                    </a:p>
                  </a:txBody>
                  <a:tcPr marL="73152" marR="73152" marT="36576" marB="36576">
                    <a:solidFill>
                      <a:srgbClr val="E5F5FF"/>
                    </a:solidFill>
                  </a:tcPr>
                </a:tc>
              </a:tr>
              <a:tr h="365760">
                <a:tc>
                  <a:txBody>
                    <a:bodyPr/>
                    <a:lstStyle/>
                    <a:p>
                      <a:r>
                        <a:rPr sz="1000" b="0">
                          <a:solidFill>
                            <a:srgbClr val="4B4B4B"/>
                          </a:solidFill>
                          <a:latin typeface="Arial"/>
                        </a:rPr>
                        <a:t>Reviewers</a:t>
                      </a:r>
                    </a:p>
                  </a:txBody>
                  <a:tcPr marL="73152" marR="73152" marT="36576" marB="36576">
                    <a:solidFill>
                      <a:srgbClr val="FFFFFF"/>
                    </a:solidFill>
                  </a:tcPr>
                </a:tc>
                <a:tc>
                  <a:txBody>
                    <a:bodyPr/>
                    <a:lstStyle/>
                    <a:p>
                      <a:r>
                        <a:rPr sz="1000" b="0">
                          <a:solidFill>
                            <a:srgbClr val="4B4B4B"/>
                          </a:solidFill>
                          <a:latin typeface="Arial"/>
                        </a:rPr>
                        <a:t>Rhommel Mark Galler, Marketing Business Services and System Support; the Marketing and Processing input providers of the BRD (Ma. Fides R. Rivera, Rose Marie Lique, Jackie Lyn Serrano and others)</a:t>
                      </a:r>
                    </a:p>
                  </a:txBody>
                  <a:tcPr marL="73152" marR="73152" marT="36576" marB="36576">
                    <a:solidFill>
                      <a:srgbClr val="FFFFFF"/>
                    </a:solidFill>
                  </a:tcPr>
                </a:tc>
                <a:tc>
                  <a:txBody>
                    <a:bodyPr/>
                    <a:lstStyle/>
                    <a:p>
                      <a:r>
                        <a:rPr sz="1000" b="0">
                          <a:solidFill>
                            <a:srgbClr val="4B4B4B"/>
                          </a:solidFill>
                          <a:latin typeface="Arial"/>
                        </a:rPr>
                        <a:t>Review their screens and rows; raise comments</a:t>
                      </a:r>
                    </a:p>
                  </a:txBody>
                  <a:tcPr marL="73152" marR="73152" marT="36576" marB="36576">
                    <a:solidFill>
                      <a:srgbClr val="FFFFFF"/>
                    </a:solidFill>
                  </a:tcPr>
                </a:tc>
              </a:tr>
              <a:tr h="365760">
                <a:tc>
                  <a:txBody>
                    <a:bodyPr/>
                    <a:lstStyle/>
                    <a:p>
                      <a:r>
                        <a:rPr sz="1000" b="0">
                          <a:solidFill>
                            <a:srgbClr val="4B4B4B"/>
                          </a:solidFill>
                          <a:latin typeface="Arial"/>
                        </a:rPr>
                        <a:t>BDOI IT</a:t>
                      </a:r>
                    </a:p>
                  </a:txBody>
                  <a:tcPr marL="73152" marR="73152" marT="36576" marB="36576">
                    <a:solidFill>
                      <a:srgbClr val="E5F5FF"/>
                    </a:solidFill>
                  </a:tcPr>
                </a:tc>
                <a:tc>
                  <a:txBody>
                    <a:bodyPr/>
                    <a:lstStyle/>
                    <a:p>
                      <a:r>
                        <a:rPr sz="1000" b="0">
                          <a:solidFill>
                            <a:srgbClr val="4B4B4B"/>
                          </a:solidFill>
                          <a:latin typeface="Arial"/>
                        </a:rPr>
                        <a:t>Information Technology Group (Angela Villamarzo Ramirez, Ma. Carmela Austria Morfe)</a:t>
                      </a:r>
                    </a:p>
                  </a:txBody>
                  <a:tcPr marL="73152" marR="73152" marT="36576" marB="36576">
                    <a:solidFill>
                      <a:srgbClr val="E5F5FF"/>
                    </a:solidFill>
                  </a:tcPr>
                </a:tc>
                <a:tc>
                  <a:txBody>
                    <a:bodyPr/>
                    <a:lstStyle/>
                    <a:p>
                      <a:r>
                        <a:rPr sz="1000" b="0">
                          <a:solidFill>
                            <a:srgbClr val="4B4B4B"/>
                          </a:solidFill>
                          <a:latin typeface="Arial"/>
                        </a:rPr>
                        <a:t>Reviews the scheduled runs, uploads, access and the Technical Specification</a:t>
                      </a:r>
                    </a:p>
                  </a:txBody>
                  <a:tcPr marL="73152" marR="73152" marT="36576" marB="36576">
                    <a:solidFill>
                      <a:srgbClr val="E5F5FF"/>
                    </a:solidFill>
                  </a:tcPr>
                </a:tc>
              </a:tr>
              <a:tr h="365760">
                <a:tc>
                  <a:txBody>
                    <a:bodyPr/>
                    <a:lstStyle/>
                    <a:p>
                      <a:r>
                        <a:rPr sz="1000" b="0">
                          <a:solidFill>
                            <a:srgbClr val="4B4B4B"/>
                          </a:solidFill>
                          <a:latin typeface="Arial"/>
                        </a:rPr>
                        <a:t>BRD owner</a:t>
                      </a:r>
                    </a:p>
                  </a:txBody>
                  <a:tcPr marL="73152" marR="73152" marT="36576" marB="36576">
                    <a:solidFill>
                      <a:srgbClr val="FFFFFF"/>
                    </a:solidFill>
                  </a:tcPr>
                </a:tc>
                <a:tc>
                  <a:txBody>
                    <a:bodyPr/>
                    <a:lstStyle/>
                    <a:p>
                      <a:r>
                        <a:rPr sz="1000" b="0">
                          <a:solidFill>
                            <a:srgbClr val="4B4B4B"/>
                          </a:solidFill>
                          <a:latin typeface="Arial"/>
                        </a:rPr>
                        <a:t>Dan Ace R. Cauton, Program Manager, and Zean C. Ibay, Roda Lyn D. Gallardo, Jane Tagle, Business Analysts, ESG-BPS</a:t>
                      </a:r>
                    </a:p>
                  </a:txBody>
                  <a:tcPr marL="73152" marR="73152" marT="36576" marB="36576">
                    <a:solidFill>
                      <a:srgbClr val="FFFFFF"/>
                    </a:solidFill>
                  </a:tcPr>
                </a:tc>
                <a:tc>
                  <a:txBody>
                    <a:bodyPr/>
                    <a:lstStyle/>
                    <a:p>
                      <a:r>
                        <a:rPr sz="1000" b="0">
                          <a:solidFill>
                            <a:srgbClr val="4B4B4B"/>
                          </a:solidFill>
                          <a:latin typeface="Arial"/>
                        </a:rPr>
                        <a:t>Traceability to the BRD; sign-off coordination</a:t>
                      </a:r>
                    </a:p>
                  </a:txBody>
                  <a:tcPr marL="73152" marR="73152" marT="36576" marB="36576">
                    <a:solidFill>
                      <a:srgbClr val="FFFFFF"/>
                    </a:solidFill>
                  </a:tcPr>
                </a:tc>
              </a:tr>
              <a:tr h="365760">
                <a:tc>
                  <a:txBody>
                    <a:bodyPr/>
                    <a:lstStyle/>
                    <a:p>
                      <a:r>
                        <a:rPr sz="1000" b="0">
                          <a:solidFill>
                            <a:srgbClr val="4B4B4B"/>
                          </a:solidFill>
                          <a:latin typeface="Arial"/>
                        </a:rPr>
                        <a:t>Delivery</a:t>
                      </a:r>
                    </a:p>
                  </a:txBody>
                  <a:tcPr marL="73152" marR="73152" marT="36576" marB="36576">
                    <a:solidFill>
                      <a:srgbClr val="E5F5FF"/>
                    </a:solidFill>
                  </a:tcPr>
                </a:tc>
                <a:tc>
                  <a:txBody>
                    <a:bodyPr/>
                    <a:lstStyle/>
                    <a:p>
                      <a:r>
                        <a:rPr sz="1000" b="0">
                          <a:solidFill>
                            <a:srgbClr val="4B4B4B"/>
                          </a:solidFill>
                          <a:latin typeface="Arial"/>
                        </a:rPr>
                        <a:t>iorta TechNXT Project Manager, Business Analysis, test lead</a:t>
                      </a:r>
                    </a:p>
                  </a:txBody>
                  <a:tcPr marL="73152" marR="73152" marT="36576" marB="36576">
                    <a:solidFill>
                      <a:srgbClr val="E5F5FF"/>
                    </a:solidFill>
                  </a:tcPr>
                </a:tc>
                <a:tc>
                  <a:txBody>
                    <a:bodyPr/>
                    <a:lstStyle/>
                    <a:p>
                      <a:r>
                        <a:rPr sz="1000" b="0">
                          <a:solidFill>
                            <a:srgbClr val="4B4B4B"/>
                          </a:solidFill>
                          <a:latin typeface="Arial"/>
                        </a:rPr>
                        <a:t>Sessions, answers, comments log, revisions, change requests</a:t>
                      </a:r>
                    </a:p>
                  </a:txBody>
                  <a:tcPr marL="73152" marR="73152" marT="36576" marB="36576">
                    <a:solidFill>
                      <a:srgbClr val="E5F5FF"/>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Next steps and the release order of the other BRD sets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BRD-6 Renewal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600">
                <a:solidFill>
                  <a:srgbClr val="004EA8"/>
                </a:solidFill>
                <a:latin typeface="Arial"/>
              </a:rPr>
              <a:t>•  </a:t>
            </a:r>
            <a:r>
              <a:rPr sz="1600">
                <a:solidFill>
                  <a:srgbClr val="4B4B4B"/>
                </a:solidFill>
                <a:latin typeface="Arial"/>
              </a:rPr>
              <a:t>Kick-off and first SIT walkthrough on Wed 4-Nov-2026</a:t>
            </a:r>
          </a:p>
          <a:p>
            <a:pPr>
              <a:spcAft>
                <a:spcPts val="600"/>
              </a:spcAft>
            </a:pPr>
            <a:r>
              <a:rPr sz="1600">
                <a:solidFill>
                  <a:srgbClr val="004EA8"/>
                </a:solidFill>
                <a:latin typeface="Arial"/>
              </a:rPr>
              <a:t>•  </a:t>
            </a:r>
            <a:r>
              <a:rPr sz="1600">
                <a:solidFill>
                  <a:srgbClr val="4B4B4B"/>
                </a:solidFill>
                <a:latin typeface="Arial"/>
              </a:rPr>
              <a:t>Workbooks returned by Fri 20-Nov-2026; Q&amp;A on Tue 24-Nov-2026; sign-off on Fri 27-Nov-2026</a:t>
            </a:r>
          </a:p>
          <a:p>
            <a:pPr>
              <a:spcAft>
                <a:spcPts val="600"/>
              </a:spcAft>
            </a:pPr>
            <a:r>
              <a:rPr sz="1600">
                <a:solidFill>
                  <a:srgbClr val="004EA8"/>
                </a:solidFill>
                <a:latin typeface="Arial"/>
              </a:rPr>
              <a:t>•  </a:t>
            </a:r>
            <a:r>
              <a:rPr sz="1600">
                <a:solidFill>
                  <a:srgbClr val="4B4B4B"/>
                </a:solidFill>
                <a:latin typeface="Arial"/>
              </a:rPr>
              <a:t>BRD-12 Submitted Policies, BRD-9 Customer Servicing Facility and BRD-10 Sanction Screening follow in the same window of November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Sign-off Pack Guide BRD-6 Renewal</dc:title>
  <dc:subject>BIBS – BDOI Broker System</dc:subject>
  <dc:creator>iorta TechNXT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