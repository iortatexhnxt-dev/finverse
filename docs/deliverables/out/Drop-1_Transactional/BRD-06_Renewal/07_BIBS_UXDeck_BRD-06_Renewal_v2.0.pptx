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BRD-6 Renewal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(Renewal BRD approval sheets: Renewal Addendum (Walkthrough) p.17-19, Renewal Addendum (Workshop) p.42-44, Renewal Addendum 1 p.61-64 and the RMEL Phase 2 Online Dispositioning BRD p.214-215 (Prepared, Input provided, Reviewed, Approved by));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(Renewal BRD approval sheets: Renewal Addendum (Walkthrough) p.17-19, Renewal Addendum (Workshop) p.42-44, Renewal Addendum 1 p.61-64 and the RMEL Phase 2 Online Dispositioning BRD p.214-215 (Prepared, Input provided, Reviewed, Approved by));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BRD-1: 21; BRD-12: 7; BRD-2: 12; BRD-3: 7; BRD-4: 12; BRD-5: 2;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BRD-1: 20; BRD-12: 7; BRD-2: 4; BRD-3: 6; BRD-4: 10; BRD-5: 4;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NAV-RN-03_menu.png.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NAV-RN-03_menu.png.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BRD-1: 25;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NAV-RN-04_menu.png.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NAV-RN-04_menu.png.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24; BRD-12: 6; BRD-2: 4; BRD-3: 1; BRD-4: 9;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NAV-RN-05_menu.png.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menu entries in all; entries of the other BRDs: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NAV-RN-06_menu.png.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menu entries in all; entries of the other BRDs: BRD-1: 1;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NAV-RN-07_menu.png.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NAV-RN-07_menu.png.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NAV-RN-07_menu.png.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BRD-3: 10; BRD-4: 11; BRD-5: 14;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NAV-RN-08_menu.png.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NAV-RN-08_menu.png.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NAV-RN-08_menu.png.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NAV-RN-09_menu.png.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NAV-RN-09_menu.png.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NAV-RN-09_menu.png.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NAV-RN-09_menu.png.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BRD-5: 55;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Team Leader. Menu and landing page: NAV-RN-01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(Account Broker). Menu and landing page: NAV-RN-02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Team Leader. Menu and landing page: NAV-RN-03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Officer (Broker). Menu and landing page: NAV-RN-04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Center. Menu and landing page: NAV-RN-05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LAMD (loan status reports). Menu and landing page: NAV-RN-06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NAV-RN-07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NAV-RN-08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NAV-RN-09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Processing Team Leaders are notified of the renewal posted for processing (walkthrough B); the renewal account is created from the expiring account.; A renewal posted For Quotation or For Proposal continues as a New Business quotation or proposal request.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Team Leader: Opens the Expiry List, tab Unassigned Disposition, ticks the renewal of Pacific Harbor Logistics Inc. and clicks Assign Disposition: Arnel Account Officer, then Assign and Push</a:t>
            </a:r>
          </a:p>
          <a:p>
            <a:r>
              <a:t>2. Marketing Account Officer (Account Broker): Opens My Dispositions</a:t>
            </a:r>
          </a:p>
          <a:p>
            <a:r>
              <a:t>3. Marketing Account Officer (Account Broker): Opens the renewal, tab Account History, and clicks View Account History</a:t>
            </a:r>
          </a:p>
          <a:p>
            <a:r>
              <a:t>4. Marketing Account Officer (Account Broker): Clicks Set Disposition: For Renewal with the remarks of the client's call, then Save</a:t>
            </a:r>
          </a:p>
          <a:p>
            <a:r>
              <a:t>5. Marketing Account Officer (Account Broker): Clicks Push</a:t>
            </a:r>
          </a:p>
          <a:p>
            <a:r>
              <a:t>6. Marketing Team Leader: Opens TL Review, tab For Review, ticks the renewal and clicks Post, then confirms</a:t>
            </a:r>
          </a:p>
          <a:p>
            <a:r>
              <a:t>7. Marketing Team Leader: Clicks Override: Outstanding balance, reason Approved by the Team Leader, with remarks (the open claim and the endorsement are overridden the same way)</a:t>
            </a:r>
          </a:p>
          <a:p>
            <a:r>
              <a:t>8. Marketing Team Leader: Clicks Post again and confirms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SCR-RN-02_wt-a-step-01.png.</a:t>
            </a:r>
          </a:p>
          <a:p>
            <a:r>
              <a:t>Persona does: Opens the Expiry List, tab Unassigned Disposition, ticks the renewal of Pacific Harbor Logistics Inc. and clicks Assign Disposition: Arnel Account Officer, then Assign and Push</a:t>
            </a:r>
          </a:p>
          <a:p>
            <a:r>
              <a:t>System does: Assigned</a:t>
            </a:r>
          </a:p>
          <a:p>
            <a:r>
              <a:t>Shown: Message: 1 assigned; the renewal leaves the tab</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SCR-RN-06_wt-a-step-02.png.</a:t>
            </a:r>
          </a:p>
          <a:p>
            <a:r>
              <a:t>Persona does: Opens My Dispositions</a:t>
            </a:r>
          </a:p>
          <a:p>
            <a:r>
              <a:t>System does: For disposition</a:t>
            </a:r>
          </a:p>
          <a:p>
            <a:r>
              <a:t>Shown: The renewal assigned to him with its expiry, the Review classification and the flags Outstanding and Claims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SCR-RN-04_wt-a-step-03.png.</a:t>
            </a:r>
          </a:p>
          <a:p>
            <a:r>
              <a:t>Persona does: Opens the renewal, tab Account History, and clicks View Account History</a:t>
            </a:r>
          </a:p>
          <a:p>
            <a:r>
              <a:t>System does: History viewed</a:t>
            </a:r>
          </a:p>
          <a:p>
            <a:r>
              <a:t>Shown: The payments of the expiring invoice and the open claim; the viewing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SCR-RN-04_wt-a-step-03.png.</a:t>
            </a:r>
          </a:p>
          <a:p>
            <a:r>
              <a:t>Persona does: Opens the renewal, tab Account History, and clicks View Account History</a:t>
            </a:r>
          </a:p>
          <a:p>
            <a:r>
              <a:t>System does: History viewed</a:t>
            </a:r>
          </a:p>
          <a:p>
            <a:r>
              <a:t>Shown: The payments of the expiring invoice and the open claim; the viewing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SCR-RN-04_wt-a-step-03.png.</a:t>
            </a:r>
          </a:p>
          <a:p>
            <a:r>
              <a:t>Persona does: Opens the renewal, tab Account History, and clicks View Account History</a:t>
            </a:r>
          </a:p>
          <a:p>
            <a:r>
              <a:t>System does: History viewed</a:t>
            </a:r>
          </a:p>
          <a:p>
            <a:r>
              <a:t>Shown: The payments of the expiring invoice and the open claim; the viewing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SCR-RN-07_wt-a-step-04.png.</a:t>
            </a:r>
          </a:p>
          <a:p>
            <a:r>
              <a:t>Persona does: Clicks Set Disposition: For Renewal with the remarks of the client's call, then Save</a:t>
            </a:r>
          </a:p>
          <a:p>
            <a:r>
              <a:t>System does: Dispositioned</a:t>
            </a:r>
          </a:p>
          <a:p>
            <a:r>
              <a:t>Shown: Message: Saved; the disposition For Renewal on the renewal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SCR-RN-07_wt-a-step-05.png.</a:t>
            </a:r>
          </a:p>
          <a:p>
            <a:r>
              <a:t>Persona does: Clicks Push</a:t>
            </a:r>
          </a:p>
          <a:p>
            <a:r>
              <a:t>System does: Pushed</a:t>
            </a:r>
          </a:p>
          <a:p>
            <a:r>
              <a:t>Shown: Message: Pushed to the Team Leader; the status Review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SCR-RN-08_wt-a-step-06.png.</a:t>
            </a:r>
          </a:p>
          <a:p>
            <a:r>
              <a:t>Persona does: Opens TL Review, tab For Review, ticks the renewal and clicks Post, then confirms</a:t>
            </a:r>
          </a:p>
          <a:p>
            <a:r>
              <a:t>System does: Refused</a:t>
            </a:r>
          </a:p>
          <a:p>
            <a:r>
              <a:t>Shown: The outcome: 1 refused, the renewal cannot be posted while the claims, endorsement and outstanding premium checks fail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SCR-RN-08_wt-a-step-07.png.</a:t>
            </a:r>
          </a:p>
          <a:p>
            <a:r>
              <a:t>Persona does: Clicks Override: Outstanding balance, reason Approved by the Team Leader, with remarks (the open claim and the endorsement are overridden the same way)</a:t>
            </a:r>
          </a:p>
          <a:p>
            <a:r>
              <a:t>System does: Overridden</a:t>
            </a:r>
          </a:p>
          <a:p>
            <a:r>
              <a:t>Shown: Message: 1 overridden; the override kept in the History tab of the renewal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SCR-RN-08_wt-a-step-08.png.</a:t>
            </a:r>
          </a:p>
          <a:p>
            <a:r>
              <a:t>Persona does: Clicks Post again and confirms</a:t>
            </a:r>
          </a:p>
          <a:p>
            <a:r>
              <a:t>System does: Posted</a:t>
            </a:r>
          </a:p>
          <a:p>
            <a:r>
              <a:t>Shown: Message: 1 posted; the renewal moves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client receives the Renewal Advice as a protected PDF and its password in a separate e-mail.; Without acceptance after the second-notice days, the second notice is generated from the RA Sent tab.</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Processing Team Leader: Opens the Processing Worklist, tab For Processing, ticks the renewal and clicks Assign PO: Paolo Processor, then Assign</a:t>
            </a:r>
          </a:p>
          <a:p>
            <a:r>
              <a:t>2. Processing Officer (Broker): Opens Insurer Batches, clicks New Batch with Luzon Assurance Co. and the expiry date of the renewal, then Create Batch, and opens the batch</a:t>
            </a:r>
          </a:p>
          <a:p>
            <a:r>
              <a:t>3. Processing Officer (Broker): Clicks Send to Insurer and confirms</a:t>
            </a:r>
          </a:p>
          <a:p>
            <a:r>
              <a:t>4. Processing Officer (Broker): Opens the renewal and clicks Record Insurer Response: Renew as is with the insurer reference, then Record</a:t>
            </a:r>
          </a:p>
          <a:p>
            <a:r>
              <a:t>5. Marketing Account Officer (Account Broker): Opens Letters, tab RA Ready, ticks the renewal, clicks Generate RA: First notice, then Generate</a:t>
            </a:r>
          </a:p>
          <a:p>
            <a:r>
              <a:t>6. Marketing Account Officer (Account Broker): Opens the tab RA Generated, ticks the renewal, clicks Send and confirms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SCR-RN-10_wt-b-step-01.png.</a:t>
            </a:r>
          </a:p>
          <a:p>
            <a:r>
              <a:t>Persona does: Opens the Processing Worklist, tab For Processing, ticks the renewal and clicks Assign PO: Paolo Processor, then Assign</a:t>
            </a:r>
          </a:p>
          <a:p>
            <a:r>
              <a:t>System does: In processing</a:t>
            </a:r>
          </a:p>
          <a:p>
            <a:r>
              <a:t>Shown: Message: 1 assigned; the renewal In Processing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SCR-RN-11_wt-b-step-02.png.</a:t>
            </a:r>
          </a:p>
          <a:p>
            <a:r>
              <a:t>Persona does: Opens Insurer Batches, clicks New Batch with Luzon Assurance Co. and the expiry date of the renewal, then Create Batch, and opens the batch</a:t>
            </a:r>
          </a:p>
          <a:p>
            <a:r>
              <a:t>System does: Batch ready</a:t>
            </a:r>
          </a:p>
          <a:p>
            <a:r>
              <a:t>Shown: The batch Draft with the renewal and the columns of the insurer extract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SCR-RN-11_wt-b-step-03.png.</a:t>
            </a:r>
          </a:p>
          <a:p>
            <a:r>
              <a:t>Persona does: Clicks Send to Insurer and confirms</a:t>
            </a:r>
          </a:p>
          <a:p>
            <a:r>
              <a:t>System does: With the insurer</a:t>
            </a:r>
          </a:p>
          <a:p>
            <a:r>
              <a:t>Shown: Message: Batch sent to the insurer; the batch Sent with its reply date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SCR-RN-12_wt-b-step-04.png.</a:t>
            </a:r>
          </a:p>
          <a:p>
            <a:r>
              <a:t>Persona does: Opens the renewal and clicks Record Insurer Response: Renew as is with the insurer reference, then Record</a:t>
            </a:r>
          </a:p>
          <a:p>
            <a:r>
              <a:t>System does: RA ready</a:t>
            </a:r>
          </a:p>
          <a:p>
            <a:r>
              <a:t>Shown: Message: Saved; the renewal RA Ready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SCR-RN-13_wt-b-step-05.png.</a:t>
            </a:r>
          </a:p>
          <a:p>
            <a:r>
              <a:t>Persona does: Opens Letters, tab RA Ready, ticks the renewal, clicks Generate RA: First notice, then Generate</a:t>
            </a:r>
          </a:p>
          <a:p>
            <a:r>
              <a:t>System does: RA generated</a:t>
            </a:r>
          </a:p>
          <a:p>
            <a:r>
              <a:t>Shown: Message: 1 generated; the renewal in RA Generated, locked on the Marketing side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SCR-RN-13_wt-b-step-06.png.</a:t>
            </a:r>
          </a:p>
          <a:p>
            <a:r>
              <a:t>Persona does: Opens the tab RA Generated, ticks the renewal, clicks Send and confirms</a:t>
            </a:r>
          </a:p>
          <a:p>
            <a:r>
              <a:t>System does: RA sent</a:t>
            </a:r>
          </a:p>
          <a:p>
            <a:r>
              <a:t>Shown: Message: 1 sent; the Renewal Advice e-mailed protected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renewal account is fast-tracked to the payment gate, placed and booked through New Business as business type Renewal; the booking closes the renewal as renewed.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Contact Center: Opens Follow-ups, tab RA Sent</a:t>
            </a:r>
          </a:p>
          <a:p>
            <a:r>
              <a:t>2. Contact Center: Opens the renewal and clicks Add Follow-up: Call, Client will renew, the next action date and the remarks, then Save</a:t>
            </a:r>
          </a:p>
          <a:p>
            <a:r>
              <a:t>3. Marketing Account Officer (Account Broker): Opens the renewal and clicks Record Acceptance: Payment with the payment reference, then Record</a:t>
            </a:r>
          </a:p>
          <a:p>
            <a:r>
              <a:t>4. Marketing Account Officer (Account Broker): Opens the tab Letters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SCR-RN-15_wt-c-step-01.png.</a:t>
            </a:r>
          </a:p>
          <a:p>
            <a:r>
              <a:t>Persona does: Opens Follow-ups, tab RA Sent</a:t>
            </a:r>
          </a:p>
          <a:p>
            <a:r>
              <a:t>System does: Awaiting response</a:t>
            </a:r>
          </a:p>
          <a:p>
            <a:r>
              <a:t>Shown: The renewal waiting for the client's reply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SCR-RN-15_wt-c-step-02.png.</a:t>
            </a:r>
          </a:p>
          <a:p>
            <a:r>
              <a:t>Persona does: Opens the renewal and clicks Add Follow-up: Call, Client will renew, the next action date and the remarks, then Save</a:t>
            </a:r>
          </a:p>
          <a:p>
            <a:r>
              <a:t>System does: Followed up</a:t>
            </a:r>
          </a:p>
          <a:p>
            <a:r>
              <a:t>Shown: Message: Saved; the follow-up on the Remarks &amp; Follow-ups tab</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SCR-RN-14_wt-c-step-03.png.</a:t>
            </a:r>
          </a:p>
          <a:p>
            <a:r>
              <a:t>Persona does: Opens the renewal and clicks Record Acceptance: Payment with the payment reference, then Record</a:t>
            </a:r>
          </a:p>
          <a:p>
            <a:r>
              <a:t>System does: Accepted</a:t>
            </a:r>
          </a:p>
          <a:p>
            <a:r>
              <a:t>Shown: Message: Saved; the renewal For Placement and Booking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SCR-RN-05_wt-c-step-04.png.</a:t>
            </a:r>
          </a:p>
          <a:p>
            <a:r>
              <a:t>Persona does: Opens the tab Letters</a:t>
            </a:r>
          </a:p>
          <a:p>
            <a:r>
              <a:t>System does: Kept</a:t>
            </a:r>
          </a:p>
          <a:p>
            <a:r>
              <a:t>Shown: The Renewal Advice in the e-mail queue to the client and the acceptance by payment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Until the re-open days after expiry, the Account Officer may re-open the renewal for a new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(Account Broker): Opens the renewal, views its account history, clicks Set Disposition: Not for Renewal, reason Loan fully paid, with remarks, then Save</a:t>
            </a:r>
          </a:p>
          <a:p>
            <a:r>
              <a:t>2. Marketing Team Leader: After the Account Officer's push, ticks the renewal on TL Review, clicks Post and confirms</a:t>
            </a:r>
          </a:p>
          <a:p>
            <a:r>
              <a:t>3. Marketing Account Officer (Account Broker): Opens Letters, tab NAL / NFR, ticks the renewal, clicks Send Letters and confirms</a:t>
            </a:r>
          </a:p>
          <a:p>
            <a:r>
              <a:t>4. Marketing Account Officer (Account Broker): Opens the renewal, tab Letters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SCR-RN-07_wt-d-step-01.png.</a:t>
            </a:r>
          </a:p>
          <a:p>
            <a:r>
              <a:t>Persona does: Opens the renewal, views its account history, clicks Set Disposition: Not for Renewal, reason Loan fully paid, with remarks, then Save</a:t>
            </a:r>
          </a:p>
          <a:p>
            <a:r>
              <a:t>System does: Dispositioned</a:t>
            </a:r>
          </a:p>
          <a:p>
            <a:r>
              <a:t>Shown: Message: Saved; the disposition Not for Renewal with its reason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SCR-RN-08_wt-d-step-02.png.</a:t>
            </a:r>
          </a:p>
          <a:p>
            <a:r>
              <a:t>Persona does: After the Account Officer's push, ticks the renewal on TL Review, clicks Post and confirms</a:t>
            </a:r>
          </a:p>
          <a:p>
            <a:r>
              <a:t>System does: Letter pending</a:t>
            </a:r>
          </a:p>
          <a:p>
            <a:r>
              <a:t>Shown: Message: 1 posted; the renewal goes to the closing letters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SCR-RN-13_wt-d-step-03.png.</a:t>
            </a:r>
          </a:p>
          <a:p>
            <a:r>
              <a:t>Persona does: Opens Letters, tab NAL / NFR, ticks the renewal, clicks Send Letters and confirms</a:t>
            </a:r>
          </a:p>
          <a:p>
            <a:r>
              <a:t>System does: Closed</a:t>
            </a:r>
          </a:p>
          <a:p>
            <a:r>
              <a:t>Shown: Message: 1 sent; the renewal is closed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SCR-RN-05_wt-d-step-04.png.</a:t>
            </a:r>
          </a:p>
          <a:p>
            <a:r>
              <a:t>Persona does: Opens the renewal, tab Letters</a:t>
            </a:r>
          </a:p>
          <a:p>
            <a:r>
              <a:t>System does: Letter kept</a:t>
            </a:r>
          </a:p>
          <a:p>
            <a:r>
              <a:t>Shown: The Not for Renewal Letter in the e-mail queue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CBG Metro Team 1 transferred the renewal of a corporate client to Corporate Marketing Team 1; its Team Leader accepts it. Then two controls of Renewal with the message the user sees: a disposition before the account history, and a transfer to the own unit.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Team Leader: The Team Leader of Corporate Marketing Team 1 opens Transfers, tab Incoming, chooses Accept in the row action menu and confirms with remarks</a:t>
            </a:r>
          </a:p>
          <a:p>
            <a:r>
              <a:t>2. Marketing Account Officer (Account Broker): Aileen Account Officer gives a disposition on a renewal without opening its account history</a:t>
            </a:r>
          </a:p>
          <a:p>
            <a:r>
              <a:t>3. Marketing Team Leader: Marites Marketing Lead transfers a renewal of her unit to CBG Metro Team 1, her own unit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SCR-RN-09_wt-e-step-01.png.</a:t>
            </a:r>
          </a:p>
          <a:p>
            <a:r>
              <a:t>Persona does: The Team Leader of Corporate Marketing Team 1 opens Transfers, tab Incoming, chooses Accept in the row action menu and confirms with remarks</a:t>
            </a:r>
          </a:p>
          <a:p>
            <a:r>
              <a:t>System does: Transferred</a:t>
            </a:r>
          </a:p>
          <a:p>
            <a:r>
              <a:t>Shown: Message: Transfer accepted; the renewal joins the Unassigned tab of the unit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SCR-RN-07_wt-e-step-02.png.</a:t>
            </a:r>
          </a:p>
          <a:p>
            <a:r>
              <a:t>Persona does: Aileen Account Officer gives a disposition on a renewal without opening its account history</a:t>
            </a:r>
          </a:p>
          <a:p>
            <a:r>
              <a:t>System does: Refused</a:t>
            </a:r>
          </a:p>
          <a:p>
            <a:r>
              <a:t>Shown: Open the Account History before you give the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SCR-RN-02_wt-e-step-03.png.</a:t>
            </a:r>
          </a:p>
          <a:p>
            <a:r>
              <a:t>Persona does: Marites Marketing Lead transfers a renewal of her unit to CBG Metro Team 1, her own unit</a:t>
            </a:r>
          </a:p>
          <a:p>
            <a:r>
              <a:t>System does: Refused</a:t>
            </a:r>
          </a:p>
          <a:p>
            <a:r>
              <a:t>Shown: The receiving unit must be another unit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SCR-RN-01: SCR-RN-01_home.png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SCR-RN-01_home.png; FRS section 13.1.1.</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SCR-RN-01_home.png; FRS section 13.1.1.</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SCR-RN-02: SCR-RN-02_list.png, SCR-RN-02_generate.png, SCR-RN-02_filters.png, SCR-RN-02_assign.png, SCR-RN-02_wt-a-step-01.png, SCR-RN-02_wt-e-step-03.png, SCR-RN-02_empty.png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SCR-RN-02_list.png; FRS section 13.1.2.</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SCR-RN-02_generate.png; FRS section 13.1.2.</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SCR-RN-02_filters.png; FRS section 13.1.2.</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SCR-RN-02_filters.png; FRS section 13.1.2.</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SCR-RN-02_assign.png; FRS section 13.1.2.</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SCR-RN-02_empty.png; FRS section 13.1.2.</a:t>
            </a:r>
          </a:p>
          <a:p>
            <a:r>
              <a:t>Personas: Marketing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SCR-RN-02_empty.png; FRS section 13.1.2.</a:t>
            </a:r>
          </a:p>
          <a:p>
            <a:r>
              <a:t>Personas: Marketing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SCR-RN-03: SCR-RN-03_record.png, SCR-RN-03_auditor.png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SCR-RN-03_record.png; FRS section 13.1.3.</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SCR-RN-03_record.png; FRS section 13.1.3.</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SCR-RN-03_record.png; FRS section 13.1.3.</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SCR-RN-03_record.png; FRS section 13.1.3.</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SCR-RN-04: SCR-RN-04_checks.png, SCR-RN-04_history.png, SCR-RN-04_computations.png, SCR-RN-04_wt-a-step-03.png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SCR-RN-04_checks.png;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SCR-RN-04_checks.png;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SCR-RN-04_checks.png;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SCR-RN-04_checks.png;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SCR-RN-04_history.png;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SCR-RN-04_history.png;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SCR-RN-04_history.png;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SCR-RN-04_history.png; FRS section 13.1.4.</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SCR-RN-04_computations.png; FRS section 13.1.4.</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SCR-RN-04_computations.png; FRS section 13.1.4.</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SCR-RN-04_computations.png; FRS section 13.1.4.</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SCR-RN-05: SCR-RN-05_letters.png, SCR-RN-05_history.png, SCR-RN-05_wt-c-step-04.png, SCR-RN-05_wt-d-step-04.png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SCR-RN-05_letters.png; FRS section 13.1.5.</a:t>
            </a:r>
          </a:p>
          <a:p>
            <a:r>
              <a:t>Personas: Marketing Team Leader, Marketing Account Officer (Account Broker), Processing Team Leader, Processing Officer (Broker), Contact Center, LAMD (loan status reports), Business Administrator,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SCR-RN-05_letters.png; FRS section 13.1.5.</a:t>
            </a:r>
          </a:p>
          <a:p>
            <a:r>
              <a:t>Personas: Marketing Team Leader, Marketing Account Officer (Account Broker), Processing Team Leader, Processing Officer (Broker), Contact Center, LAMD (loan status reports), Business Administrator,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SCR-RN-05_letters.png; FRS section 13.1.5.</a:t>
            </a:r>
          </a:p>
          <a:p>
            <a:r>
              <a:t>Personas: Marketing Team Leader, Marketing Account Officer (Account Broker), Processing Team Leader, Processing Officer (Broker), Contact Center, LAMD (loan status reports), Business Administrator,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SCR-RN-05_history.png; FRS section 13.1.5.</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SCR-RN-05_history.png; FRS section 13.1.5.</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SCR-RN-05_history.png; FRS section 13.1.5.</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SCR-RN-06: SCR-RN-06_list.png, SCR-RN-06_wt-a-step-02.png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SCR-RN-06_list.png; FRS section 13.2.1.</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SCR-RN-07: SCR-RN-07_disposition.png, SCR-RN-07_wt-a-step-04.png, SCR-RN-07_wt-a-step-05.png, SCR-RN-07_wt-d-step-01.png, SCR-RN-07_wt-e-step-02.png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SCR-RN-07_disposition.png; FRS section 13.2.2.</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SCR-RN-08: SCR-RN-08_list.png, SCR-RN-08_override.png, SCR-RN-08_return.png, SCR-RN-08_wt-a-step-06.png, SCR-RN-08_wt-a-step-07.png, SCR-RN-08_wt-a-step-08.png, SCR-RN-08_wt-d-step-02.png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SCR-RN-08_override.png; FRS section 13.2.3.</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SCR-RN-08_return.png; FRS section 13.2.3.</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SCR-RN-08_list.png; FRS section 13.2.3.</a:t>
            </a:r>
          </a:p>
          <a:p>
            <a:r>
              <a:t>Personas: Marketing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SCR-RN-09: SCR-RN-09_incoming.png, SCR-RN-09_wt-e-step-01.png, SCR-RN-09_actions.png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SCR-RN-09_incoming.png; FRS section 13.2.4.</a:t>
            </a:r>
          </a:p>
          <a:p>
            <a:r>
              <a:t>Personas: Marketing Team Leader,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SCR-RN-09_actions.png; FRS section 13.2.4.</a:t>
            </a:r>
          </a:p>
          <a:p>
            <a:r>
              <a:t>Personas: Marketing Team Leader, Marketing Account Officer (Account Broker).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SCR-RN-10: SCR-RN-10_list.png, SCR-RN-10_assign.png, SCR-RN-10_return.png, SCR-RN-10_wt-b-step-01.png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SCR-RN-10_list.png; FRS section 13.3.1.</a:t>
            </a:r>
          </a:p>
          <a:p>
            <a:r>
              <a:t>Personas: Processing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SCR-RN-10_assign.png; FRS section 13.3.1.</a:t>
            </a:r>
          </a:p>
          <a:p>
            <a:r>
              <a:t>Personas: Processing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SCR-RN-10_return.png; FRS section 13.3.1.</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SCR-RN-11: SCR-RN-11_list.png, SCR-RN-11_new.png, SCR-RN-11_wt-b-step-02.png, SCR-RN-11_wt-b-step-03.png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SCR-RN-11_list.png; FRS section 13.3.2.</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SCR-RN-11_new.png; FRS section 13.3.2.</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SCR-RN-12: SCR-RN-12_response.png, SCR-RN-12_wt-b-step-04.png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SCR-RN-12_response.png; FRS section 13.3.3.</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SCR-RN-13: SCR-RN-13_list.png, SCR-RN-13_generate.png, SCR-RN-13_closing.png, SCR-RN-13_wt-b-step-05.png, SCR-RN-13_wt-b-step-06.png, SCR-RN-13_wt-d-step-03.png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SCR-RN-13_list.png; FRS section 13.4.1.</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SCR-RN-13_closing.png; FRS section 13.4.1.</a:t>
            </a:r>
          </a:p>
          <a:p>
            <a:r>
              <a:t>Personas: Marketing Account Officer (Account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SCR-RN-13_generate.png; FRS section 13.4.1.</a:t>
            </a:r>
          </a:p>
          <a:p>
            <a:r>
              <a:t>Personas: Processing Officer (Broker).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SCR-RN-14: SCR-RN-14_accept.png, SCR-RN-14_wt-c-step-03.png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SCR-RN-14_accept.png; FRS section 13.4.2.</a:t>
            </a:r>
          </a:p>
          <a:p>
            <a:r>
              <a:t>Personas: Marketing Team Leader, Marketing Account Officer (Account Broker), Processing Team Leader, Processing Officer (Broker), Contact Center, LAMD (loan status reports), Business Administrator,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SCR-RN-15: SCR-RN-15_list.png, SCR-RN-15_followup.png, SCR-RN-15_wt-c-step-01.png, SCR-RN-15_wt-c-step-02.png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SCR-RN-15_list.png; FRS section 13.4.3.</a:t>
            </a:r>
          </a:p>
          <a:p>
            <a:r>
              <a:t>Personas: Contact Center.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SCR-RN-15_followup.png; FRS section 13.4.3.</a:t>
            </a:r>
          </a:p>
          <a:p>
            <a:r>
              <a:t>Personas: Contact Center.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SCR-RN-16: SCR-RN-16_list.png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SCR-RN-16_list.png; FRS section 13.4.4.</a:t>
            </a:r>
          </a:p>
          <a:p>
            <a:r>
              <a:t>Personas: LAMD (loan status reports).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SCR-RN-16_list.png; FRS section 13.4.4.</a:t>
            </a:r>
          </a:p>
          <a:p>
            <a:r>
              <a:t>Personas: LAMD (loan status reports).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SCR-RN-16_list.png; FRS section 13.4.4.</a:t>
            </a:r>
          </a:p>
          <a:p>
            <a:r>
              <a:t>Personas: LAMD (loan status reports).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SCR-RN-17: SCR-RN-17_risk.png, SCR-RN-17_checks.png, SCR-RN-17_new.png, SCR-RN-17_actions.png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SCR-RN-17_risk.png; FRS section 13.5.1.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SCR-RN-17_checks.png; FRS section 13.5.1.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SCR-RN-17_checks.png; FRS section 13.5.1.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SCR-RN-17_checks.png; FRS section 13.5.1.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SCR-RN-17_actions.png; FRS section 13.5.1.</a:t>
            </a:r>
          </a:p>
          <a:p>
            <a:r>
              <a:t>Personas: Business Administrator.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SCR-RN-17_new.png; FRS section 13.5.1.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SCR-RN-18: SCR-RN-18_matrix.png, SCR-RN-18_rules.png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SCR-RN-18_matrix.png; FRS section 13.5.2.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SCR-RN-18_rules.png; FRS section 13.5.2.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SCR-RN-18_rules.png; FRS section 13.5.2.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SCR-RN-19: SCR-RN-19_map.png, SCR-RN-19_choices.png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SCR-RN-19_map.png; FRS section 13.5.3.</a:t>
            </a:r>
          </a:p>
          <a:p>
            <a:r>
              <a:t>Personas: Processing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SCR-RN-19_choices.png; FRS section 13.5.3.</a:t>
            </a:r>
          </a:p>
          <a:p>
            <a:r>
              <a:t>Personas: Processing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SCR-RN-20: SCR-RN-20_golive.png, SCR-RN-20_takeover.png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SCR-RN-20_golive.png; FRS section 13.5.4.</a:t>
            </a:r>
          </a:p>
          <a:p>
            <a:r>
              <a:t>Personas: Processing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SCR-RN-20_takeover.png; FRS section 13.5.4.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Renewal Advice - the assured - policy number (second notice: Second notice) – from the renewal; Client and policy: client name, policy number, insurer name and expiry date – from the expiring account; Renewal terms: renewal period, product, sum insured and renewal premium with the currency – from the renewal account, else the expiring terms; How to accept: reply to the e-mail, sign and return the Renewal Advice, or pay the renewal premium on or before the expiry date; Renewal reference and the name of the Account Officer – from the renewal</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Client and policy: client name, policy number, insurer name and expiry date – from the expiring account; Not for Renewal Letter: the reason for Not for Renewal and the name of the Account Officer; No Advice Letter: that the policy is not renewed through BDOI and no action is needed; Reference: the renewal reference</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Insurance Company, Invoice No, Assured Name, Risk Code, Inception Date, Expiry Date, Sum Insured, Premium Amount, Commission Rate, AR Client (Unpaid Balance), Is Mortgaged – from the expiring account and the ledger; Premium Rate (per cover), Policy No, Risk Description, Encoder Name, Unit Head, Business Origin, Account Type, Region, Area, Branch, Account Officer Name, Remarks – from the account and the sales organisation; BIPD for Motor, Seating Capacity for Motor, Auto Personal Accident for Motor, Sum Insured (per cover), Packaged / Non-Packaged – from the policy</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Renewal Reference, Status, Classification, Disposition, Expiring Invoice, Expiring ARN, Policy No., Client – from the renewal; Product, Line, Insurer, Segment, Branch, Unit, Account Officer, Assigned AO, Assigned PO, Expiry – from the expiring account and the assignments; Currency, Gross Premium, Sum Insured – from the expiring account (empty for LAMD and Contact Center)</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Renewal: renewal reference, status, classification, client, expiring invoice and ARN, policy number, insurer, expiry date, Account Officer and Processing Officer, gross premium and sum insured – from the renewal; Checks: the check, its outcome, severity and message – from the latest check run; Dispositions: disposition, reason, remarks, source, by and on – from the dispositions of the renewal</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3.png"/><Relationship Id="rId4"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0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1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1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1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1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1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1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2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2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2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2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2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2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2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2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3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3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3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3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3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3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3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3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3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4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4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4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4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4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4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4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4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5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5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5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5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60.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6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6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6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6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6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7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7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7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79.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80.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8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84.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8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88.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9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9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9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9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9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9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9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9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99.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20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20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203.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20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20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208.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209.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210.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211.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21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21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214.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BRD-6 Renewal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BRD-6 Renewal: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BRD-6 Renewal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20 screens, 91 screen images, 42 screen states, 9 personas, 5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First issue of the UX screen documents of the set: every screen is new to the UX Design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80060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Analysts, Enterprise Services Group - Business Project Services (BPS) (Zean C. Ibay, Roda Lyn D. Gallardo, Jane Tagle)</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91440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and the Marketing and Processing input providers (Ma. Fides R. Rivera, Rose Marie Lique, Jackie Lyn Serrano, Marie Grace Mendiola, Berna Corpuz, Maria Cecilia Remodo, Alma Aramburo Olegario, Grace Tordesillas, Jocimarie Biaoco Palcat, Angelo Tiu Alibuyog, Amara Camille Linis Cruz, Racquel Jimenez, Clarissa Pagalanan, Herbert De Guzman)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expiry list, disposition, Team Leader review, transfer, processing, insurer, letter, acceptance and follow-up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Marketing Business Services and System Support (Rhommel Mark Galler)</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lists of values, templates, set-up and the menus of the Renewal users as the business administers them</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(Angela Villamarzo Ramirez, Ma. Carmela Austria Morfe)</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Scheduled runs, uploads, protected e-mails, user access and menus and the Technical Specification (a separate document); not the business screens</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Program Manager and BA Unit Head, Enterprise Services Group - Business Project Services (BPS) (Dan Ace R. Cauton, Edward Kenneth Cadena)</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AVP (Shellah Marie C. Miranda)</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AVP (Jose Melvin Jarin)</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addendum functions: sanitation, classification, decision matrix, LAMD and Contact Center, insurer responses and the progression to placement and booking</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Combank and Corbank Marketing / Corporate Processing, SAVP (Mark Joseph C. Makalintal)</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screens, rules and messages of the Corporate and Commercial Marketing units and of Corporate Processing</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 VP (Edmundante F. Ramirez) and Head - Corporate and Retail Marketing, FVP (Roderick Lim)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screens, rules and messages of the Retail and Corporate Marketing units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 VP (Ronald Allan E. De Leon)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Informed of the set: the Renewal BRD marks the Comptrollership approval as not required; a renewal books through the New Business booking and posts nothing itself</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5943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6329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Urgent, Claims or Locked on a renewal)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letters of a renewal: Letter, Type, Status, Generated, Sent, Recipients);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3962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For Disposition, With Insurer);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33223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5486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 exchange rates with six decimals.</a:t>
                      </a:r>
                    </a:p>
                  </a:txBody>
                  <a:tcPr marL="54864" marR="54864" marT="27432" marB="27432">
                    <a:solidFill>
                      <a:srgbClr val="FFFFFF"/>
                    </a:solidFill>
                  </a:tcPr>
                </a:tc>
              </a:tr>
              <a:tr h="396240">
                <a:tc>
                  <a:txBody>
                    <a:bodyPr/>
                    <a:lstStyle/>
                    <a:p>
                      <a:r>
                        <a:rPr sz="1000" b="1">
                          <a:solidFill>
                            <a:srgbClr val="4B4B4B"/>
                          </a:solidFill>
                          <a:latin typeface="Arial"/>
                        </a:rPr>
                        <a:t>Period cell</a:t>
                      </a:r>
                    </a:p>
                  </a:txBody>
                  <a:tcPr marL="54864" marR="54864" marT="27432" marB="27432">
                    <a:solidFill>
                      <a:srgbClr val="E5F5FF"/>
                    </a:solidFill>
                  </a:tcPr>
                </a:tc>
                <a:tc>
                  <a:txBody>
                    <a:bodyPr/>
                    <a:lstStyle/>
                    <a:p>
                      <a:r>
                        <a:rPr sz="1000" b="0">
                          <a:solidFill>
                            <a:srgbClr val="4B4B4B"/>
                          </a:solidFill>
                          <a:latin typeface="Arial"/>
                        </a:rPr>
                        <a:t>A period (period of cover, the expiry range of an extraction, an effective period) is shown in lists on two lines, the start date and "to" the end date, each date kept whole; an open end reads "to open". In a sentence or a label and value grid it is one line: "01-Sep-2026 to 30-Sep-2026".</a:t>
                      </a:r>
                    </a:p>
                  </a:txBody>
                  <a:tcPr marL="54864" marR="54864" marT="27432" marB="27432">
                    <a:solidFill>
                      <a:srgbClr val="E5F5FF"/>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NAV-RN-01 The page Marketing Team Leader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08.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Leader: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My Dispositions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TL Review</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Transfers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Letters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Account Officer (Account Broker):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NAV-RN-02 The page Marketing Account Officer (Account Broker)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Account Officer (Account Broker):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9.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1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1.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2.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Account Officer (Account Broker):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3.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14.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15.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(Account Broker):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My Dispositions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Transfers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Letters</a:t>
                      </a:r>
                    </a:p>
                  </a:txBody>
                  <a:tcPr marL="54864" marR="54864" marT="27432" marB="27432">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NAV-RN-03 The page Processing Team Leader sees after sign-in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NAV-RN-03 Every group of the menu open (part 1 of 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4865027" y="1261872"/>
            <a:ext cx="2461641" cy="18418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NAV-RN-03 Every group of the menu open (part 2 of 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Team Leader: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Processing Worklist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Insurer Batches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Letters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Renewal Setup</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Officer (Broker):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NAV-RN-04 The page Processing Officer (Broker)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Officer (Broker):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3.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2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NAV-RN-04 Every group of the menu open (part 1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Officer (Broker):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5.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6.png"/>
          <p:cNvPicPr>
            <a:picLocks noChangeAspect="1"/>
          </p:cNvPicPr>
          <p:nvPr/>
        </p:nvPicPr>
        <p:blipFill>
          <a:blip r:embed="rId4"/>
          <a:stretch>
            <a:fillRect/>
          </a:stretch>
        </p:blipFill>
        <p:spPr>
          <a:xfrm>
            <a:off x="6210147" y="1261872"/>
            <a:ext cx="2461641" cy="276067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NAV-RN-04 Every group of the menu open (part 2 of 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Processing Officer (Broker):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Processing Worklist</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Insurer Batches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Letters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Renewal Setup</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 Center: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NAV-RN-05 The page Contact Center sees after sign-in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 Center: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7.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8.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NAV-RN-05 Every group of the menu open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 Center: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Follow-ups</a:t>
                      </a:r>
                    </a:p>
                  </a:txBody>
                  <a:tcPr marL="54864" marR="54864" marT="27432" marB="27432">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LAMD (loan status reports):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NAV-RN-06 The page LAMD (loan status reports) sees after sign-in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LAMD (loan status reports):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9.png"/>
          <p:cNvPicPr>
            <a:picLocks noChangeAspect="1"/>
          </p:cNvPicPr>
          <p:nvPr/>
        </p:nvPicPr>
        <p:blipFill>
          <a:blip r:embed="rId3"/>
          <a:stretch>
            <a:fillRect/>
          </a:stretch>
        </p:blipFill>
        <p:spPr>
          <a:xfrm>
            <a:off x="3519906" y="1261872"/>
            <a:ext cx="2461641" cy="4676251"/>
          </a:xfrm>
          <a:prstGeom prst="rect">
            <a:avLst/>
          </a:prstGeom>
          <a:ln w="9525">
            <a:solidFill>
              <a:srgbClr val="C2C2C1"/>
            </a:solidFill>
          </a:ln>
        </p:spPr>
      </p:pic>
      <p:pic>
        <p:nvPicPr>
          <p:cNvPr id="11" name="Picture 10" descr="slice-00030.png"/>
          <p:cNvPicPr>
            <a:picLocks noChangeAspect="1"/>
          </p:cNvPicPr>
          <p:nvPr/>
        </p:nvPicPr>
        <p:blipFill>
          <a:blip r:embed="rId4"/>
          <a:stretch>
            <a:fillRect/>
          </a:stretch>
        </p:blipFill>
        <p:spPr>
          <a:xfrm>
            <a:off x="6210147" y="1261872"/>
            <a:ext cx="2461641" cy="319406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NAV-RN-06 Every group of the menu open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LAMD (loan status reports):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LAMD Reports</a:t>
                      </a:r>
                    </a:p>
                  </a:txBody>
                  <a:tcPr marL="54864" marR="54864" marT="27432" marB="27432">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NAV-RN-07 The page Business Administrator sees after sign-in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NAV-RN-07 Every group of the menu open (part 1 of 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8.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NAV-RN-07 Every group of the menu open (part 2 of 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9.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NAV-RN-07 Every group of the menu open (part 3 of 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Setup</a:t>
                      </a:r>
                    </a:p>
                  </a:txBody>
                  <a:tcPr marL="54864" marR="54864" marT="27432" marB="27432">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NAV-RN-08 The page System Administrator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0.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NAV-RN-08 Every group of the menu open (part 1 of 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5.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4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NAV-RN-08 Every group of the menu open (part 2 of 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0.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51.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NAV-RN-08 Every group of the menu open (part 3 of 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NAV-RN-09 The page Auditor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2.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5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4.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5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NAV-RN-09 Every group of the menu open (part 1 of 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9.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NAV-RN-09 Every group of the menu open (part 2 of 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1.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6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NAV-RN-09 Every group of the menu open (part 3 of 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6.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67.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NAV-RN-09 Every group of the menu open (part 4 of 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Renewal</a:t>
                      </a:r>
                    </a:p>
                  </a:txBody>
                  <a:tcPr marL="54864" marR="54864" marT="27432" marB="27432">
                    <a:solidFill>
                      <a:srgbClr val="FFFFFF"/>
                    </a:solidFill>
                  </a:tcPr>
                </a:tc>
                <a:tc>
                  <a:txBody>
                    <a:bodyPr/>
                    <a:lstStyle/>
                    <a:p>
                      <a:r>
                        <a:rPr sz="1100" b="0">
                          <a:solidFill>
                            <a:srgbClr val="4B4B4B"/>
                          </a:solidFill>
                          <a:latin typeface="Arial"/>
                        </a:rPr>
                        <a:t>Renewal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Renewal</a:t>
                      </a:r>
                    </a:p>
                  </a:txBody>
                  <a:tcPr marL="54864" marR="54864" marT="27432" marB="27432">
                    <a:solidFill>
                      <a:srgbClr val="E5F5FF"/>
                    </a:solidFill>
                  </a:tcPr>
                </a:tc>
                <a:tc>
                  <a:txBody>
                    <a:bodyPr/>
                    <a:lstStyle/>
                    <a:p>
                      <a:r>
                        <a:rPr sz="1100" b="0">
                          <a:solidFill>
                            <a:srgbClr val="4B4B4B"/>
                          </a:solidFill>
                          <a:latin typeface="Arial"/>
                        </a:rPr>
                        <a:t>Expiry List</a:t>
                      </a:r>
                    </a:p>
                  </a:txBody>
                  <a:tcPr marL="54864" marR="54864" marT="27432" marB="27432">
                    <a:solidFill>
                      <a:srgbClr val="E5F5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Leader who extracts the expiring accounts, assigns them, reviews and posts the dispositions and decides the transfers of the unit</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Generates the expiring list; initiates; assigns and re-assigns AOs; transfers and receives accounts; reviews, returns and posts; overrides the outstanding-balance flag; RAs;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6, 7, 8; WT-D steps 2; WT-E steps 1,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SCR-RN-06 My Dispositions</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SCR-RN-08 TL Review</a:t>
            </a:r>
          </a:p>
          <a:p>
            <a:pPr>
              <a:spcAft>
                <a:spcPts val="600"/>
              </a:spcAft>
            </a:pPr>
            <a:r>
              <a:rPr sz="1100">
                <a:solidFill>
                  <a:srgbClr val="004EA8"/>
                </a:solidFill>
                <a:latin typeface="Arial"/>
              </a:rPr>
              <a:t>•  </a:t>
            </a:r>
            <a:r>
              <a:rPr sz="1100">
                <a:solidFill>
                  <a:srgbClr val="4B4B4B"/>
                </a:solidFill>
                <a:latin typeface="Arial"/>
              </a:rPr>
              <a:t>SCR-RN-09 Transfers</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SCR-RN-13 Letters</a:t>
            </a:r>
          </a:p>
          <a:p>
            <a:pPr>
              <a:spcAft>
                <a:spcPts val="600"/>
              </a:spcAft>
            </a:pPr>
            <a:r>
              <a:rPr sz="1100">
                <a:solidFill>
                  <a:srgbClr val="004EA8"/>
                </a:solidFill>
                <a:latin typeface="Arial"/>
              </a:rPr>
              <a:t>•  </a:t>
            </a:r>
            <a:r>
              <a:rPr sz="1100">
                <a:solidFill>
                  <a:srgbClr val="4B4B4B"/>
                </a:solidFill>
                <a:latin typeface="Arial"/>
              </a:rPr>
              <a:t>SCR-RN-14 Record Acceptance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Marketing Account Officer (Account Broker)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(Account Broker) who gives the disposition of the assigned renewals, sends the Renewal Advice and records the client's acceptance</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assigned accounts; dispositions; remarks; requests transfers; updates returned accounts; RAs;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NAV-RN-02</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3, 4, 5; WT-B steps 5, 6; WT-C steps 3, 4; WT-D steps 1, 3, 4; WT-E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SCR-RN-06 My Dispositions</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SCR-RN-09 Transfers</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SCR-RN-13 Letters</a:t>
            </a:r>
          </a:p>
          <a:p>
            <a:pPr>
              <a:spcAft>
                <a:spcPts val="600"/>
              </a:spcAft>
            </a:pPr>
            <a:r>
              <a:rPr sz="1100">
                <a:solidFill>
                  <a:srgbClr val="004EA8"/>
                </a:solidFill>
                <a:latin typeface="Arial"/>
              </a:rPr>
              <a:t>•  </a:t>
            </a:r>
            <a:r>
              <a:rPr sz="1100">
                <a:solidFill>
                  <a:srgbClr val="4B4B4B"/>
                </a:solidFill>
                <a:latin typeface="Arial"/>
              </a:rPr>
              <a:t>SCR-RN-14 Record Acceptance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Processing Team Leader who assigns the posted renewals to the Processing Officers and approves the package choices of migrated policies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Generates the list for processing; uploads dispositioned files; assigns to POs; updates data; computations; insurer extract and responses; RAs;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SCR-RN-01 Renewal Home</a:t>
            </a:r>
          </a:p>
          <a:p>
            <a:pPr>
              <a:spcAft>
                <a:spcPts val="600"/>
              </a:spcAft>
            </a:pPr>
            <a:r>
              <a:rPr sz="900">
                <a:solidFill>
                  <a:srgbClr val="004EA8"/>
                </a:solidFill>
                <a:latin typeface="Arial"/>
              </a:rPr>
              <a:t>•  </a:t>
            </a:r>
            <a:r>
              <a:rPr sz="900">
                <a:solidFill>
                  <a:srgbClr val="4B4B4B"/>
                </a:solidFill>
                <a:latin typeface="Arial"/>
              </a:rPr>
              <a:t>SCR-RN-02 Expiry List</a:t>
            </a:r>
          </a:p>
          <a:p>
            <a:pPr>
              <a:spcAft>
                <a:spcPts val="600"/>
              </a:spcAft>
            </a:pPr>
            <a:r>
              <a:rPr sz="900">
                <a:solidFill>
                  <a:srgbClr val="004EA8"/>
                </a:solidFill>
                <a:latin typeface="Arial"/>
              </a:rPr>
              <a:t>•  </a:t>
            </a:r>
            <a:r>
              <a:rPr sz="900">
                <a:solidFill>
                  <a:srgbClr val="4B4B4B"/>
                </a:solidFill>
                <a:latin typeface="Arial"/>
              </a:rPr>
              <a:t>SCR-RN-03 Renewal</a:t>
            </a:r>
          </a:p>
          <a:p>
            <a:pPr>
              <a:spcAft>
                <a:spcPts val="600"/>
              </a:spcAft>
            </a:pPr>
            <a:r>
              <a:rPr sz="900">
                <a:solidFill>
                  <a:srgbClr val="004EA8"/>
                </a:solidFill>
                <a:latin typeface="Arial"/>
              </a:rPr>
              <a:t>•  </a:t>
            </a:r>
            <a:r>
              <a:rPr sz="900">
                <a:solidFill>
                  <a:srgbClr val="4B4B4B"/>
                </a:solidFill>
                <a:latin typeface="Arial"/>
              </a:rPr>
              <a:t>SCR-RN-04 Renewal: Checks, Account History and Computations</a:t>
            </a:r>
          </a:p>
          <a:p>
            <a:pPr>
              <a:spcAft>
                <a:spcPts val="600"/>
              </a:spcAft>
            </a:pPr>
            <a:r>
              <a:rPr sz="900">
                <a:solidFill>
                  <a:srgbClr val="004EA8"/>
                </a:solidFill>
                <a:latin typeface="Arial"/>
              </a:rPr>
              <a:t>•  </a:t>
            </a:r>
            <a:r>
              <a:rPr sz="900">
                <a:solidFill>
                  <a:srgbClr val="4B4B4B"/>
                </a:solidFill>
                <a:latin typeface="Arial"/>
              </a:rPr>
              <a:t>SCR-RN-05 Renewal: Insurer, Letters, Documents, Remarks and History</a:t>
            </a:r>
          </a:p>
          <a:p>
            <a:pPr>
              <a:spcAft>
                <a:spcPts val="600"/>
              </a:spcAft>
            </a:pPr>
            <a:r>
              <a:rPr sz="900">
                <a:solidFill>
                  <a:srgbClr val="004EA8"/>
                </a:solidFill>
                <a:latin typeface="Arial"/>
              </a:rPr>
              <a:t>•  </a:t>
            </a:r>
            <a:r>
              <a:rPr sz="900">
                <a:solidFill>
                  <a:srgbClr val="4B4B4B"/>
                </a:solidFill>
                <a:latin typeface="Arial"/>
              </a:rPr>
              <a:t>SCR-RN-07 Set Disposition, Add Remark and Re-open</a:t>
            </a:r>
          </a:p>
          <a:p>
            <a:pPr>
              <a:spcAft>
                <a:spcPts val="600"/>
              </a:spcAft>
            </a:pPr>
            <a:r>
              <a:rPr sz="900">
                <a:solidFill>
                  <a:srgbClr val="004EA8"/>
                </a:solidFill>
                <a:latin typeface="Arial"/>
              </a:rPr>
              <a:t>•  </a:t>
            </a:r>
            <a:r>
              <a:rPr sz="900">
                <a:solidFill>
                  <a:srgbClr val="4B4B4B"/>
                </a:solidFill>
                <a:latin typeface="Arial"/>
              </a:rPr>
              <a:t>SCR-RN-10 Processing Worklist</a:t>
            </a:r>
          </a:p>
          <a:p>
            <a:pPr>
              <a:spcAft>
                <a:spcPts val="600"/>
              </a:spcAft>
            </a:pPr>
            <a:r>
              <a:rPr sz="900">
                <a:solidFill>
                  <a:srgbClr val="004EA8"/>
                </a:solidFill>
                <a:latin typeface="Arial"/>
              </a:rPr>
              <a:t>•  </a:t>
            </a:r>
            <a:r>
              <a:rPr sz="900">
                <a:solidFill>
                  <a:srgbClr val="4B4B4B"/>
                </a:solidFill>
                <a:latin typeface="Arial"/>
              </a:rPr>
              <a:t>SCR-RN-11 Insurer Batches</a:t>
            </a:r>
          </a:p>
          <a:p>
            <a:pPr>
              <a:spcAft>
                <a:spcPts val="600"/>
              </a:spcAft>
            </a:pPr>
            <a:r>
              <a:rPr sz="900">
                <a:solidFill>
                  <a:srgbClr val="004EA8"/>
                </a:solidFill>
                <a:latin typeface="Arial"/>
              </a:rPr>
              <a:t>•  </a:t>
            </a:r>
            <a:r>
              <a:rPr sz="900">
                <a:solidFill>
                  <a:srgbClr val="4B4B4B"/>
                </a:solidFill>
                <a:latin typeface="Arial"/>
              </a:rPr>
              <a:t>SCR-RN-12 Record Insurer Response</a:t>
            </a:r>
          </a:p>
          <a:p>
            <a:pPr>
              <a:spcAft>
                <a:spcPts val="600"/>
              </a:spcAft>
            </a:pPr>
            <a:r>
              <a:rPr sz="900">
                <a:solidFill>
                  <a:srgbClr val="004EA8"/>
                </a:solidFill>
                <a:latin typeface="Arial"/>
              </a:rPr>
              <a:t>•  </a:t>
            </a:r>
            <a:r>
              <a:rPr sz="900">
                <a:solidFill>
                  <a:srgbClr val="4B4B4B"/>
                </a:solidFill>
                <a:latin typeface="Arial"/>
              </a:rPr>
              <a:t>SCR-RN-13 Letters</a:t>
            </a:r>
          </a:p>
          <a:p>
            <a:pPr>
              <a:spcAft>
                <a:spcPts val="600"/>
              </a:spcAft>
            </a:pPr>
            <a:r>
              <a:rPr sz="900">
                <a:solidFill>
                  <a:srgbClr val="004EA8"/>
                </a:solidFill>
                <a:latin typeface="Arial"/>
              </a:rPr>
              <a:t>•  </a:t>
            </a:r>
            <a:r>
              <a:rPr sz="900">
                <a:solidFill>
                  <a:srgbClr val="4B4B4B"/>
                </a:solidFill>
                <a:latin typeface="Arial"/>
              </a:rPr>
              <a:t>SCR-RN-14 Record Acceptance</a:t>
            </a:r>
          </a:p>
          <a:p>
            <a:pPr>
              <a:spcAft>
                <a:spcPts val="600"/>
              </a:spcAft>
            </a:pPr>
            <a:r>
              <a:rPr sz="900">
                <a:solidFill>
                  <a:srgbClr val="004EA8"/>
                </a:solidFill>
                <a:latin typeface="Arial"/>
              </a:rPr>
              <a:t>•  </a:t>
            </a:r>
            <a:r>
              <a:rPr sz="900">
                <a:solidFill>
                  <a:srgbClr val="4B4B4B"/>
                </a:solidFill>
                <a:latin typeface="Arial"/>
              </a:rPr>
              <a:t>SCR-RN-17 Renewal Setup: Non-renewable Risk Codes and Checks</a:t>
            </a:r>
          </a:p>
          <a:p>
            <a:pPr>
              <a:spcAft>
                <a:spcPts val="600"/>
              </a:spcAft>
            </a:pPr>
            <a:r>
              <a:rPr sz="900">
                <a:solidFill>
                  <a:srgbClr val="004EA8"/>
                </a:solidFill>
                <a:latin typeface="Arial"/>
              </a:rPr>
              <a:t>•  </a:t>
            </a:r>
            <a:r>
              <a:rPr sz="900">
                <a:solidFill>
                  <a:srgbClr val="4B4B4B"/>
                </a:solidFill>
                <a:latin typeface="Arial"/>
              </a:rPr>
              <a:t>SCR-RN-18 Renewal Setup: Classification Rules and Decision Matrix</a:t>
            </a:r>
          </a:p>
          <a:p>
            <a:pPr>
              <a:spcAft>
                <a:spcPts val="600"/>
              </a:spcAft>
            </a:pPr>
            <a:r>
              <a:rPr sz="900">
                <a:solidFill>
                  <a:srgbClr val="004EA8"/>
                </a:solidFill>
                <a:latin typeface="Arial"/>
              </a:rPr>
              <a:t>•  </a:t>
            </a:r>
            <a:r>
              <a:rPr sz="900">
                <a:solidFill>
                  <a:srgbClr val="4B4B4B"/>
                </a:solidFill>
                <a:latin typeface="Arial"/>
              </a:rPr>
              <a:t>SCR-RN-19 Renewal Setup: Package Map, Package Choices and Propose Package</a:t>
            </a:r>
          </a:p>
          <a:p>
            <a:pPr>
              <a:spcAft>
                <a:spcPts val="600"/>
              </a:spcAft>
            </a:pPr>
            <a:r>
              <a:rPr sz="900">
                <a:solidFill>
                  <a:srgbClr val="004EA8"/>
                </a:solidFill>
                <a:latin typeface="Arial"/>
              </a:rPr>
              <a:t>•  </a:t>
            </a:r>
            <a:r>
              <a:rPr sz="900">
                <a:solidFill>
                  <a:srgbClr val="4B4B4B"/>
                </a:solidFill>
                <a:latin typeface="Arial"/>
              </a:rPr>
              <a:t>SCR-RN-20 Renewal Setup: Go-live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Officer (Broker)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Processing Officer who creates the renewal account, sends the renewals to the insurer and records the insurer's answer</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Processes assigned accounts; uploads; updates data; computations; insurer extract and responses; RAs;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SCR-RN-01 Renewal Home</a:t>
            </a:r>
          </a:p>
          <a:p>
            <a:pPr>
              <a:spcAft>
                <a:spcPts val="600"/>
              </a:spcAft>
            </a:pPr>
            <a:r>
              <a:rPr sz="900">
                <a:solidFill>
                  <a:srgbClr val="004EA8"/>
                </a:solidFill>
                <a:latin typeface="Arial"/>
              </a:rPr>
              <a:t>•  </a:t>
            </a:r>
            <a:r>
              <a:rPr sz="900">
                <a:solidFill>
                  <a:srgbClr val="4B4B4B"/>
                </a:solidFill>
                <a:latin typeface="Arial"/>
              </a:rPr>
              <a:t>SCR-RN-02 Expiry List</a:t>
            </a:r>
          </a:p>
          <a:p>
            <a:pPr>
              <a:spcAft>
                <a:spcPts val="600"/>
              </a:spcAft>
            </a:pPr>
            <a:r>
              <a:rPr sz="900">
                <a:solidFill>
                  <a:srgbClr val="004EA8"/>
                </a:solidFill>
                <a:latin typeface="Arial"/>
              </a:rPr>
              <a:t>•  </a:t>
            </a:r>
            <a:r>
              <a:rPr sz="900">
                <a:solidFill>
                  <a:srgbClr val="4B4B4B"/>
                </a:solidFill>
                <a:latin typeface="Arial"/>
              </a:rPr>
              <a:t>SCR-RN-03 Renewal</a:t>
            </a:r>
          </a:p>
          <a:p>
            <a:pPr>
              <a:spcAft>
                <a:spcPts val="600"/>
              </a:spcAft>
            </a:pPr>
            <a:r>
              <a:rPr sz="900">
                <a:solidFill>
                  <a:srgbClr val="004EA8"/>
                </a:solidFill>
                <a:latin typeface="Arial"/>
              </a:rPr>
              <a:t>•  </a:t>
            </a:r>
            <a:r>
              <a:rPr sz="900">
                <a:solidFill>
                  <a:srgbClr val="4B4B4B"/>
                </a:solidFill>
                <a:latin typeface="Arial"/>
              </a:rPr>
              <a:t>SCR-RN-04 Renewal: Checks, Account History and Computations</a:t>
            </a:r>
          </a:p>
          <a:p>
            <a:pPr>
              <a:spcAft>
                <a:spcPts val="600"/>
              </a:spcAft>
            </a:pPr>
            <a:r>
              <a:rPr sz="900">
                <a:solidFill>
                  <a:srgbClr val="004EA8"/>
                </a:solidFill>
                <a:latin typeface="Arial"/>
              </a:rPr>
              <a:t>•  </a:t>
            </a:r>
            <a:r>
              <a:rPr sz="900">
                <a:solidFill>
                  <a:srgbClr val="4B4B4B"/>
                </a:solidFill>
                <a:latin typeface="Arial"/>
              </a:rPr>
              <a:t>SCR-RN-05 Renewal: Insurer, Letters, Documents, Remarks and History</a:t>
            </a:r>
          </a:p>
          <a:p>
            <a:pPr>
              <a:spcAft>
                <a:spcPts val="600"/>
              </a:spcAft>
            </a:pPr>
            <a:r>
              <a:rPr sz="900">
                <a:solidFill>
                  <a:srgbClr val="004EA8"/>
                </a:solidFill>
                <a:latin typeface="Arial"/>
              </a:rPr>
              <a:t>•  </a:t>
            </a:r>
            <a:r>
              <a:rPr sz="900">
                <a:solidFill>
                  <a:srgbClr val="4B4B4B"/>
                </a:solidFill>
                <a:latin typeface="Arial"/>
              </a:rPr>
              <a:t>SCR-RN-07 Set Disposition, Add Remark and Re-open</a:t>
            </a:r>
          </a:p>
          <a:p>
            <a:pPr>
              <a:spcAft>
                <a:spcPts val="600"/>
              </a:spcAft>
            </a:pPr>
            <a:r>
              <a:rPr sz="900">
                <a:solidFill>
                  <a:srgbClr val="004EA8"/>
                </a:solidFill>
                <a:latin typeface="Arial"/>
              </a:rPr>
              <a:t>•  </a:t>
            </a:r>
            <a:r>
              <a:rPr sz="900">
                <a:solidFill>
                  <a:srgbClr val="4B4B4B"/>
                </a:solidFill>
                <a:latin typeface="Arial"/>
              </a:rPr>
              <a:t>SCR-RN-10 Processing Worklist</a:t>
            </a:r>
          </a:p>
          <a:p>
            <a:pPr>
              <a:spcAft>
                <a:spcPts val="600"/>
              </a:spcAft>
            </a:pPr>
            <a:r>
              <a:rPr sz="900">
                <a:solidFill>
                  <a:srgbClr val="004EA8"/>
                </a:solidFill>
                <a:latin typeface="Arial"/>
              </a:rPr>
              <a:t>•  </a:t>
            </a:r>
            <a:r>
              <a:rPr sz="900">
                <a:solidFill>
                  <a:srgbClr val="4B4B4B"/>
                </a:solidFill>
                <a:latin typeface="Arial"/>
              </a:rPr>
              <a:t>SCR-RN-11 Insurer Batches</a:t>
            </a:r>
          </a:p>
          <a:p>
            <a:pPr>
              <a:spcAft>
                <a:spcPts val="600"/>
              </a:spcAft>
            </a:pPr>
            <a:r>
              <a:rPr sz="900">
                <a:solidFill>
                  <a:srgbClr val="004EA8"/>
                </a:solidFill>
                <a:latin typeface="Arial"/>
              </a:rPr>
              <a:t>•  </a:t>
            </a:r>
            <a:r>
              <a:rPr sz="900">
                <a:solidFill>
                  <a:srgbClr val="4B4B4B"/>
                </a:solidFill>
                <a:latin typeface="Arial"/>
              </a:rPr>
              <a:t>SCR-RN-12 Record Insurer Response</a:t>
            </a:r>
          </a:p>
          <a:p>
            <a:pPr>
              <a:spcAft>
                <a:spcPts val="600"/>
              </a:spcAft>
            </a:pPr>
            <a:r>
              <a:rPr sz="900">
                <a:solidFill>
                  <a:srgbClr val="004EA8"/>
                </a:solidFill>
                <a:latin typeface="Arial"/>
              </a:rPr>
              <a:t>•  </a:t>
            </a:r>
            <a:r>
              <a:rPr sz="900">
                <a:solidFill>
                  <a:srgbClr val="4B4B4B"/>
                </a:solidFill>
                <a:latin typeface="Arial"/>
              </a:rPr>
              <a:t>SCR-RN-13 Letters</a:t>
            </a:r>
          </a:p>
          <a:p>
            <a:pPr>
              <a:spcAft>
                <a:spcPts val="600"/>
              </a:spcAft>
            </a:pPr>
            <a:r>
              <a:rPr sz="900">
                <a:solidFill>
                  <a:srgbClr val="004EA8"/>
                </a:solidFill>
                <a:latin typeface="Arial"/>
              </a:rPr>
              <a:t>•  </a:t>
            </a:r>
            <a:r>
              <a:rPr sz="900">
                <a:solidFill>
                  <a:srgbClr val="4B4B4B"/>
                </a:solidFill>
                <a:latin typeface="Arial"/>
              </a:rPr>
              <a:t>SCR-RN-14 Record Acceptance</a:t>
            </a:r>
          </a:p>
          <a:p>
            <a:pPr>
              <a:spcAft>
                <a:spcPts val="600"/>
              </a:spcAft>
            </a:pPr>
            <a:r>
              <a:rPr sz="900">
                <a:solidFill>
                  <a:srgbClr val="004EA8"/>
                </a:solidFill>
                <a:latin typeface="Arial"/>
              </a:rPr>
              <a:t>•  </a:t>
            </a:r>
            <a:r>
              <a:rPr sz="900">
                <a:solidFill>
                  <a:srgbClr val="4B4B4B"/>
                </a:solidFill>
                <a:latin typeface="Arial"/>
              </a:rPr>
              <a:t>SCR-RN-17 Renewal Setup: Non-renewable Risk Codes and Checks</a:t>
            </a:r>
          </a:p>
          <a:p>
            <a:pPr>
              <a:spcAft>
                <a:spcPts val="600"/>
              </a:spcAft>
            </a:pPr>
            <a:r>
              <a:rPr sz="900">
                <a:solidFill>
                  <a:srgbClr val="004EA8"/>
                </a:solidFill>
                <a:latin typeface="Arial"/>
              </a:rPr>
              <a:t>•  </a:t>
            </a:r>
            <a:r>
              <a:rPr sz="900">
                <a:solidFill>
                  <a:srgbClr val="4B4B4B"/>
                </a:solidFill>
                <a:latin typeface="Arial"/>
              </a:rPr>
              <a:t>SCR-RN-18 Renewal Setup: Classification Rules and Decision Matrix</a:t>
            </a:r>
          </a:p>
          <a:p>
            <a:pPr>
              <a:spcAft>
                <a:spcPts val="600"/>
              </a:spcAft>
            </a:pPr>
            <a:r>
              <a:rPr sz="900">
                <a:solidFill>
                  <a:srgbClr val="004EA8"/>
                </a:solidFill>
                <a:latin typeface="Arial"/>
              </a:rPr>
              <a:t>•  </a:t>
            </a:r>
            <a:r>
              <a:rPr sz="900">
                <a:solidFill>
                  <a:srgbClr val="4B4B4B"/>
                </a:solidFill>
                <a:latin typeface="Arial"/>
              </a:rPr>
              <a:t>SCR-RN-19 Renewal Setup: Package Map, Package Choices and Propose Package</a:t>
            </a:r>
          </a:p>
          <a:p>
            <a:pPr>
              <a:spcAft>
                <a:spcPts val="600"/>
              </a:spcAft>
            </a:pPr>
            <a:r>
              <a:rPr sz="900">
                <a:solidFill>
                  <a:srgbClr val="004EA8"/>
                </a:solidFill>
                <a:latin typeface="Arial"/>
              </a:rPr>
              <a:t>•  </a:t>
            </a:r>
            <a:r>
              <a:rPr sz="900">
                <a:solidFill>
                  <a:srgbClr val="4B4B4B"/>
                </a:solidFill>
                <a:latin typeface="Arial"/>
              </a:rPr>
              <a:t>SCR-RN-20 Renewal Setup: Go-live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Contact Center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Contact Center agent who follows up the clients who have not answered the Renewal Advice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renewal lists; records follow-up remarks; uploads client documents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SCR-RN-14 Record Acceptance</a:t>
            </a:r>
          </a:p>
          <a:p>
            <a:pPr>
              <a:spcAft>
                <a:spcPts val="600"/>
              </a:spcAft>
            </a:pPr>
            <a:r>
              <a:rPr sz="1100">
                <a:solidFill>
                  <a:srgbClr val="004EA8"/>
                </a:solidFill>
                <a:latin typeface="Arial"/>
              </a:rPr>
              <a:t>•  </a:t>
            </a:r>
            <a:r>
              <a:rPr sz="1100">
                <a:solidFill>
                  <a:srgbClr val="4B4B4B"/>
                </a:solidFill>
                <a:latin typeface="Arial"/>
              </a:rPr>
              <a:t>SCR-RN-15 Follow-ups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LAMD (loan status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LAMD officer of the bank who uploads the monthly paid-off and past-due loan reports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Uploads paid-off and RMU reports; validation and eligibility checks only</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SCR-RN-14 Record Acceptance</a:t>
            </a:r>
          </a:p>
          <a:p>
            <a:pPr>
              <a:spcAft>
                <a:spcPts val="600"/>
              </a:spcAft>
            </a:pPr>
            <a:r>
              <a:rPr sz="1100">
                <a:solidFill>
                  <a:srgbClr val="004EA8"/>
                </a:solidFill>
                <a:latin typeface="Arial"/>
              </a:rPr>
              <a:t>•  </a:t>
            </a:r>
            <a:r>
              <a:rPr sz="1100">
                <a:solidFill>
                  <a:srgbClr val="4B4B4B"/>
                </a:solidFill>
                <a:latin typeface="Arial"/>
              </a:rPr>
              <a:t>SCR-RN-16 LAMD Reports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(MBS) who keeps the Renewal set-up, the lists of values and the letter templates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lists of values, renewal rules and templates; assigns user profiles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SCR-RN-14 Record Acceptance</a:t>
            </a:r>
          </a:p>
          <a:p>
            <a:pPr>
              <a:spcAft>
                <a:spcPts val="600"/>
              </a:spcAft>
            </a:pPr>
            <a:r>
              <a:rPr sz="1100">
                <a:solidFill>
                  <a:srgbClr val="004EA8"/>
                </a:solidFill>
                <a:latin typeface="Arial"/>
              </a:rPr>
              <a:t>•  </a:t>
            </a:r>
            <a:r>
              <a:rPr sz="1100">
                <a:solidFill>
                  <a:srgbClr val="4B4B4B"/>
                </a:solidFill>
                <a:latin typeface="Arial"/>
              </a:rPr>
              <a:t>SCR-RN-17 Renewal Setup: Non-renewable Risk Codes and Checks</a:t>
            </a:r>
          </a:p>
          <a:p>
            <a:pPr>
              <a:spcAft>
                <a:spcPts val="600"/>
              </a:spcAft>
            </a:pPr>
            <a:r>
              <a:rPr sz="1100">
                <a:solidFill>
                  <a:srgbClr val="004EA8"/>
                </a:solidFill>
                <a:latin typeface="Arial"/>
              </a:rPr>
              <a:t>•  </a:t>
            </a:r>
            <a:r>
              <a:rPr sz="1100">
                <a:solidFill>
                  <a:srgbClr val="4B4B4B"/>
                </a:solidFill>
                <a:latin typeface="Arial"/>
              </a:rPr>
              <a:t>SCR-RN-18 Renewal Setup: Classification Rules and Decision Matrix</a:t>
            </a:r>
          </a:p>
          <a:p>
            <a:pPr>
              <a:spcAft>
                <a:spcPts val="600"/>
              </a:spcAft>
            </a:pPr>
            <a:r>
              <a:rPr sz="1100">
                <a:solidFill>
                  <a:srgbClr val="004EA8"/>
                </a:solidFill>
                <a:latin typeface="Arial"/>
              </a:rPr>
              <a:t>•  </a:t>
            </a:r>
            <a:r>
              <a:rPr sz="1100">
                <a:solidFill>
                  <a:srgbClr val="4B4B4B"/>
                </a:solidFill>
                <a:latin typeface="Arial"/>
              </a:rPr>
              <a:t>SCR-RN-19 Renewal Setup: Package Map, Package Choices and Propose Package</a:t>
            </a:r>
          </a:p>
          <a:p>
            <a:pPr>
              <a:spcAft>
                <a:spcPts val="600"/>
              </a:spcAft>
            </a:pPr>
            <a:r>
              <a:rPr sz="1100">
                <a:solidFill>
                  <a:srgbClr val="004EA8"/>
                </a:solidFill>
                <a:latin typeface="Arial"/>
              </a:rPr>
              <a:t>•  </a:t>
            </a:r>
            <a:r>
              <a:rPr sz="1100">
                <a:solidFill>
                  <a:srgbClr val="4B4B4B"/>
                </a:solidFill>
                <a:latin typeface="Arial"/>
              </a:rPr>
              <a:t>SCR-RN-20 Renewal Setup: Go-live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 who keeps the roles and their functions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Defines profiles and assigns functions to them</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None of the screens of this set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Renewal and its reports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Reads the renewals, their history and the renewal reports; no action changes a renewal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NAV-RN-09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SCR-RN-01 Renewal Home</a:t>
            </a:r>
          </a:p>
          <a:p>
            <a:pPr>
              <a:spcAft>
                <a:spcPts val="600"/>
              </a:spcAft>
            </a:pPr>
            <a:r>
              <a:rPr sz="1100">
                <a:solidFill>
                  <a:srgbClr val="004EA8"/>
                </a:solidFill>
                <a:latin typeface="Arial"/>
              </a:rPr>
              <a:t>•  </a:t>
            </a:r>
            <a:r>
              <a:rPr sz="1100">
                <a:solidFill>
                  <a:srgbClr val="4B4B4B"/>
                </a:solidFill>
                <a:latin typeface="Arial"/>
              </a:rPr>
              <a:t>SCR-RN-02 Expiry List</a:t>
            </a:r>
          </a:p>
          <a:p>
            <a:pPr>
              <a:spcAft>
                <a:spcPts val="600"/>
              </a:spcAft>
            </a:pPr>
            <a:r>
              <a:rPr sz="1100">
                <a:solidFill>
                  <a:srgbClr val="004EA8"/>
                </a:solidFill>
                <a:latin typeface="Arial"/>
              </a:rPr>
              <a:t>•  </a:t>
            </a:r>
            <a:r>
              <a:rPr sz="1100">
                <a:solidFill>
                  <a:srgbClr val="4B4B4B"/>
                </a:solidFill>
                <a:latin typeface="Arial"/>
              </a:rPr>
              <a:t>SCR-RN-03 Renewal</a:t>
            </a:r>
          </a:p>
          <a:p>
            <a:pPr>
              <a:spcAft>
                <a:spcPts val="600"/>
              </a:spcAft>
            </a:pPr>
            <a:r>
              <a:rPr sz="1100">
                <a:solidFill>
                  <a:srgbClr val="004EA8"/>
                </a:solidFill>
                <a:latin typeface="Arial"/>
              </a:rPr>
              <a:t>•  </a:t>
            </a:r>
            <a:r>
              <a:rPr sz="1100">
                <a:solidFill>
                  <a:srgbClr val="4B4B4B"/>
                </a:solidFill>
                <a:latin typeface="Arial"/>
              </a:rPr>
              <a:t>SCR-RN-04 Renewal: Checks, Account History and Computations</a:t>
            </a:r>
          </a:p>
          <a:p>
            <a:pPr>
              <a:spcAft>
                <a:spcPts val="600"/>
              </a:spcAft>
            </a:pPr>
            <a:r>
              <a:rPr sz="1100">
                <a:solidFill>
                  <a:srgbClr val="004EA8"/>
                </a:solidFill>
                <a:latin typeface="Arial"/>
              </a:rPr>
              <a:t>•  </a:t>
            </a:r>
            <a:r>
              <a:rPr sz="1100">
                <a:solidFill>
                  <a:srgbClr val="4B4B4B"/>
                </a:solidFill>
                <a:latin typeface="Arial"/>
              </a:rPr>
              <a:t>SCR-RN-05 Renewal: Insurer, Letters, Documents, Remarks and History</a:t>
            </a:r>
          </a:p>
          <a:p>
            <a:pPr>
              <a:spcAft>
                <a:spcPts val="600"/>
              </a:spcAft>
            </a:pPr>
            <a:r>
              <a:rPr sz="1100">
                <a:solidFill>
                  <a:srgbClr val="004EA8"/>
                </a:solidFill>
                <a:latin typeface="Arial"/>
              </a:rPr>
              <a:t>•  </a:t>
            </a:r>
            <a:r>
              <a:rPr sz="1100">
                <a:solidFill>
                  <a:srgbClr val="4B4B4B"/>
                </a:solidFill>
                <a:latin typeface="Arial"/>
              </a:rPr>
              <a:t>SCR-RN-07 Set Disposition, Add Remark and Re-open</a:t>
            </a:r>
          </a:p>
          <a:p>
            <a:pPr>
              <a:spcAft>
                <a:spcPts val="600"/>
              </a:spcAft>
            </a:pPr>
            <a:r>
              <a:rPr sz="1100">
                <a:solidFill>
                  <a:srgbClr val="004EA8"/>
                </a:solidFill>
                <a:latin typeface="Arial"/>
              </a:rPr>
              <a:t>•  </a:t>
            </a:r>
            <a:r>
              <a:rPr sz="1100">
                <a:solidFill>
                  <a:srgbClr val="4B4B4B"/>
                </a:solidFill>
                <a:latin typeface="Arial"/>
              </a:rPr>
              <a:t>SCR-RN-12 Record Insurer Response</a:t>
            </a:r>
          </a:p>
          <a:p>
            <a:pPr>
              <a:spcAft>
                <a:spcPts val="600"/>
              </a:spcAft>
            </a:pPr>
            <a:r>
              <a:rPr sz="1100">
                <a:solidFill>
                  <a:srgbClr val="004EA8"/>
                </a:solidFill>
                <a:latin typeface="Arial"/>
              </a:rPr>
              <a:t>•  </a:t>
            </a:r>
            <a:r>
              <a:rPr sz="1100">
                <a:solidFill>
                  <a:srgbClr val="4B4B4B"/>
                </a:solidFill>
                <a:latin typeface="Arial"/>
              </a:rPr>
              <a:t>SCR-RN-14 Record Acceptance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An expiring account from the Expiry List to the Team Leader's post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An expiring account from the Expiry List to the Team Leader's post</a:t>
                      </a:r>
                    </a:p>
                  </a:txBody>
                  <a:tcPr marL="54864" marR="54864" marT="27432" marB="27432">
                    <a:solidFill>
                      <a:srgbClr val="FFFFFF"/>
                    </a:solidFill>
                  </a:tcPr>
                </a:tc>
              </a:tr>
              <a:tr h="1005835">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booked accounts expiring in the renewal horizon are extracted and initiated; the renewal of Pacific Harbor Logistics Inc. waits in the Unassigned Disposition tab of Corporate Marketing Team 1, classified Review: its expiring premium is outstanding, a claim is open and an endorsement is in progress. The Team Leader assigns it to the Account Officer, who reads the account history, gives the disposition For Renewal and pushes it. The Team Leader's post is refused while the blocking checks fail; she overrides them with a reason and posts the renewal to Processing.</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renewal of account ARN-2026-940004 (Pacific Harbor Logistics Inc., Luzon Assurance Co.), Corporate Marketing Team 1</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Team Leader, Marketing Account Officer (Account Broker)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8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Team Leader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 (Account Broker)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Expiry List</a:t>
            </a:r>
          </a:p>
        </p:txBody>
      </p:sp>
      <p:sp>
        <p:nvSpPr>
          <p:cNvPr id="16" name="Rounded Rectangle 15"/>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My Dispositions</a:t>
            </a:r>
          </a:p>
        </p:txBody>
      </p:sp>
      <p:sp>
        <p:nvSpPr>
          <p:cNvPr id="17" name="Rounded Rectangle 16"/>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Renewal: Checks, Account History and Computations</a:t>
            </a:r>
          </a:p>
        </p:txBody>
      </p:sp>
      <p:sp>
        <p:nvSpPr>
          <p:cNvPr id="18" name="Rounded Rectangle 17"/>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Set Disposition, Add Remark and Re-open</a:t>
            </a:r>
          </a:p>
        </p:txBody>
      </p:sp>
      <p:sp>
        <p:nvSpPr>
          <p:cNvPr id="19" name="Rounded Rectangle 18"/>
          <p:cNvSpPr/>
          <p:nvPr/>
        </p:nvSpPr>
        <p:spPr>
          <a:xfrm>
            <a:off x="7087968"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Set Disposition, Add Remark and Re-open</a:t>
            </a:r>
          </a:p>
        </p:txBody>
      </p:sp>
      <p:sp>
        <p:nvSpPr>
          <p:cNvPr id="20" name="Rounded Rectangle 19"/>
          <p:cNvSpPr/>
          <p:nvPr/>
        </p:nvSpPr>
        <p:spPr>
          <a:xfrm>
            <a:off x="825188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TL Review</a:t>
            </a:r>
          </a:p>
        </p:txBody>
      </p:sp>
      <p:sp>
        <p:nvSpPr>
          <p:cNvPr id="21" name="Rounded Rectangle 20"/>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TL Review</a:t>
            </a:r>
          </a:p>
        </p:txBody>
      </p:sp>
      <p:sp>
        <p:nvSpPr>
          <p:cNvPr id="22" name="Rounded Rectangle 21"/>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TL Review</a:t>
            </a:r>
          </a:p>
        </p:txBody>
      </p:sp>
      <p:cxnSp>
        <p:nvCxnSpPr>
          <p:cNvPr id="23" name="Connector 22"/>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0"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463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37854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8: Expiry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Team Leader: Opens the Expiry List, tab Unassigned Disposition, ticks the renewal of Pacific Harbor Logistics Inc. and clicks Assign Disposition: Arnel Account Officer, then Assign and Push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assigned; the renewal leaves the tab</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(Account Broker) on My Dispositions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8: My Dispositions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548640" y="1261872"/>
            <a:ext cx="7665415" cy="274053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My Dispositions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disposition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renewal assigned to him with its expiry, the Review classification and the flags Outstanding and Claims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Account Officer (Account Broker) on Renewal: Checks, Account History and Computations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3 of 8: Renewal: Checks, Account History and Computations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8.png"/>
          <p:cNvPicPr>
            <a:picLocks noChangeAspect="1"/>
          </p:cNvPicPr>
          <p:nvPr/>
        </p:nvPicPr>
        <p:blipFill>
          <a:blip r:embed="rId3"/>
          <a:stretch>
            <a:fillRect/>
          </a:stretch>
        </p:blipFill>
        <p:spPr>
          <a:xfrm>
            <a:off x="548640" y="1261872"/>
            <a:ext cx="7665415" cy="373756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SCR-RN-04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the renewal, tab Account History, and clicks View Account History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History viewed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payments of the expiring invoice and the open claim; the viewing is recorded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Account Officer (Account Broker) on Set Disposition, Add Remark and Re-open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3 of 8: Renewal: Checks, Account History and Computations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9.png"/>
          <p:cNvPicPr>
            <a:picLocks noChangeAspect="1"/>
          </p:cNvPicPr>
          <p:nvPr/>
        </p:nvPicPr>
        <p:blipFill>
          <a:blip r:embed="rId3"/>
          <a:stretch>
            <a:fillRect/>
          </a:stretch>
        </p:blipFill>
        <p:spPr>
          <a:xfrm>
            <a:off x="548640" y="1261872"/>
            <a:ext cx="7665415" cy="370019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SCR-RN-04 (part 2 of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3 of 8: Renewal: Checks, Account History and Computations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0.png"/>
          <p:cNvPicPr>
            <a:picLocks noChangeAspect="1"/>
          </p:cNvPicPr>
          <p:nvPr/>
        </p:nvPicPr>
        <p:blipFill>
          <a:blip r:embed="rId3"/>
          <a:stretch>
            <a:fillRect/>
          </a:stretch>
        </p:blipFill>
        <p:spPr>
          <a:xfrm>
            <a:off x="548640" y="1261872"/>
            <a:ext cx="7665415" cy="116544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SCR-RN-04 (part 3 of 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4 of 8: Set Disposition, Add Remark and Re-open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Clicks Set Disposition: For Renewal with the remarks of the client's call, then Save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Dispositioned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Saved; the disposition For Renewal on the renewal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(Account Broker) on Set Disposition, Add Remark and Re-open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5 of 8: Set Disposition, Add Remark and Re-open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Clicks Push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Pushed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Pushed to the Team Leader; the status Review in Progress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Team Leader on TL Review</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8: TL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a-06.png"/>
          <p:cNvPicPr>
            <a:picLocks noChangeAspect="1"/>
          </p:cNvPicPr>
          <p:nvPr/>
        </p:nvPicPr>
        <p:blipFill>
          <a:blip r:embed="rId3"/>
          <a:stretch>
            <a:fillRect/>
          </a:stretch>
        </p:blipFill>
        <p:spPr>
          <a:xfrm>
            <a:off x="548640" y="1261872"/>
            <a:ext cx="7665415" cy="33454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Team Leader: Opens TL Review, tab For Review, ticks the renewal and clicks Post, then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outcome: 1 refused, the renewal cannot be posted while the claims, endorsement and outstanding premium checks fail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Team Leader on TL Review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8: TL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7.png"/>
          <p:cNvPicPr>
            <a:picLocks noChangeAspect="1"/>
          </p:cNvPicPr>
          <p:nvPr/>
        </p:nvPicPr>
        <p:blipFill>
          <a:blip r:embed="rId3"/>
          <a:stretch>
            <a:fillRect/>
          </a:stretch>
        </p:blipFill>
        <p:spPr>
          <a:xfrm>
            <a:off x="548640" y="1261872"/>
            <a:ext cx="7665415" cy="329954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Team Leader: Clicks Override: Outstanding balance, reason Approved by the Team Leader, with remarks (the open claim and the endorsement are overridden the same way)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Overridden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overridden; the override kept in the History tab of the renewal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Team Leader on TL Review</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8 of 8: TL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8.png"/>
          <p:cNvPicPr>
            <a:picLocks noChangeAspect="1"/>
          </p:cNvPicPr>
          <p:nvPr/>
        </p:nvPicPr>
        <p:blipFill>
          <a:blip r:embed="rId3"/>
          <a:stretch>
            <a:fillRect/>
          </a:stretch>
        </p:blipFill>
        <p:spPr>
          <a:xfrm>
            <a:off x="548640" y="1261872"/>
            <a:ext cx="7665415" cy="46793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Team Leader: Clicks Post again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posted; the renewal moves to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Processing, the insurer's answer and the Renewal Advice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Processing, the insurer's answer and the Renewal Advice</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Processing Team Leader assigns the renewal of walkthrough A to a Processing Officer, who sends it to the insurer in a batch and records the insurer's answer Renew as is. The renewal is then ready for its Renewal Advice: the Account Officer generates the first notice and sends it to the client, protected.</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renewal posted in walkthrough A; Patricia Processing Lead and Paolo Processor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Processing Team Leader, Processing Officer (Broker), Marketing Account Officer (Account Broker)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 Team Leader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Processing Officer (Broker)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 (Account Broker)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Processing Worklist</a:t>
            </a:r>
          </a:p>
        </p:txBody>
      </p:sp>
      <p:sp>
        <p:nvSpPr>
          <p:cNvPr id="19" name="Rounded Rectangle 18"/>
          <p:cNvSpPr/>
          <p:nvPr/>
        </p:nvSpPr>
        <p:spPr>
          <a:xfrm>
            <a:off x="3984193"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Insurer Batches</a:t>
            </a:r>
          </a:p>
        </p:txBody>
      </p:sp>
      <p:sp>
        <p:nvSpPr>
          <p:cNvPr id="20" name="Rounded Rectangle 19"/>
          <p:cNvSpPr/>
          <p:nvPr/>
        </p:nvSpPr>
        <p:spPr>
          <a:xfrm>
            <a:off x="5536082"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Insurer Batches</a:t>
            </a:r>
          </a:p>
        </p:txBody>
      </p:sp>
      <p:sp>
        <p:nvSpPr>
          <p:cNvPr id="21" name="Rounded Rectangle 20"/>
          <p:cNvSpPr/>
          <p:nvPr/>
        </p:nvSpPr>
        <p:spPr>
          <a:xfrm>
            <a:off x="7087971"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Record Insurer Response</a:t>
            </a:r>
          </a:p>
        </p:txBody>
      </p:sp>
      <p:sp>
        <p:nvSpPr>
          <p:cNvPr id="22" name="Rounded Rectangle 21"/>
          <p:cNvSpPr/>
          <p:nvPr/>
        </p:nvSpPr>
        <p:spPr>
          <a:xfrm>
            <a:off x="8639860"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Letters</a:t>
            </a:r>
          </a:p>
        </p:txBody>
      </p:sp>
      <p:sp>
        <p:nvSpPr>
          <p:cNvPr id="23" name="Rounded Rectangle 22"/>
          <p:cNvSpPr/>
          <p:nvPr/>
        </p:nvSpPr>
        <p:spPr>
          <a:xfrm>
            <a:off x="10191749"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Letters</a:t>
            </a:r>
          </a:p>
        </p:txBody>
      </p:sp>
      <p:cxnSp>
        <p:nvCxnSpPr>
          <p:cNvPr id="24" name="Connector 23"/>
          <p:cNvCxnSpPr/>
          <p:nvPr/>
        </p:nvCxnSpPr>
        <p:spPr>
          <a:xfrm>
            <a:off x="378302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3491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3"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3869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90581"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6: Processing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548640" y="1261872"/>
            <a:ext cx="7665415" cy="46793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Team Leader: Opens the Processing Worklist, tab For Processing, ticks the renewal and clicks Assign PO: Paolo Processor, then Assign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processing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assigned; the renewal In Processing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Processing Officer (Broker) on Insurer Batches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6: Insurer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548640" y="1261872"/>
            <a:ext cx="7665415" cy="398861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Officer (Broker): Opens Insurer Batches, clicks New Batch with Luzon Assurance Co. and the expiry date of the renewal, then Create Batch, and opens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Batch ready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Draft with the renewal and the columns of the insurer extract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Processing Officer (Broker) on Insurer Batches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6: Insurer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548640" y="1261872"/>
            <a:ext cx="7665415" cy="398861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Officer (Broker): Clicks Send to Insurer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the insurer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Batch sent to the insurer; the batch Sent with its reply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Processing Officer (Broker) on Record Insurer Response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6: Record Insurer Response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Officer (Broker): Opens the renewal and clicks Record Insurer Response: Renew as is with the insurer reference, then Record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RA ready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Saved; the renewal RA Ready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(Account Broker) on Letters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6: Letters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5.png"/>
          <p:cNvPicPr>
            <a:picLocks noChangeAspect="1"/>
          </p:cNvPicPr>
          <p:nvPr/>
        </p:nvPicPr>
        <p:blipFill>
          <a:blip r:embed="rId3"/>
          <a:stretch>
            <a:fillRect/>
          </a:stretch>
        </p:blipFill>
        <p:spPr>
          <a:xfrm>
            <a:off x="548640" y="1261872"/>
            <a:ext cx="7665415" cy="43117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Letters, tab RA Ready, ticks the renewal, clicks Generate RA: First notice, then Generate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RA generated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generated; the renewal in RA Generated, locked on the Marketing side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Account Officer (Account Broker) on Letters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6: Letters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6.png"/>
          <p:cNvPicPr>
            <a:picLocks noChangeAspect="1"/>
          </p:cNvPicPr>
          <p:nvPr/>
        </p:nvPicPr>
        <p:blipFill>
          <a:blip r:embed="rId3"/>
          <a:stretch>
            <a:fillRect/>
          </a:stretch>
        </p:blipFill>
        <p:spPr>
          <a:xfrm>
            <a:off x="548640" y="1261872"/>
            <a:ext cx="7665415" cy="43117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the tab RA Generated, ticks the renewal, clicks Send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RA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sent; the Renewal Advice e-mailed protected to the client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The Contact Center follow-up and the client's acceptance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The Contact Center follow-up and the client's acceptance</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renewal of walkthrough B waits for the client's reply. The Contact Center calls the client and records the follow-up; the client pays the renewal premium, and the Account Officer records the acceptance by payment. The renewal account goes on to placement and booking without re-keying.</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renewal sent in walkthrough B; Cecilia Contact Center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Contact Center, Marketing Account Officer (Account Broker)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Contact Center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 (Account Broker)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Follow-ups</a:t>
            </a:r>
          </a:p>
        </p:txBody>
      </p:sp>
      <p:sp>
        <p:nvSpPr>
          <p:cNvPr id="16" name="Rounded Rectangle 15"/>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Follow-ups</a:t>
            </a:r>
          </a:p>
        </p:txBody>
      </p:sp>
      <p:sp>
        <p:nvSpPr>
          <p:cNvPr id="17" name="Rounded Rectangle 16"/>
          <p:cNvSpPr/>
          <p:nvPr/>
        </p:nvSpPr>
        <p:spPr>
          <a:xfrm>
            <a:off x="7087970"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Record Acceptance</a:t>
            </a:r>
          </a:p>
        </p:txBody>
      </p:sp>
      <p:sp>
        <p:nvSpPr>
          <p:cNvPr id="18" name="Rounded Rectangle 17"/>
          <p:cNvSpPr/>
          <p:nvPr/>
        </p:nvSpPr>
        <p:spPr>
          <a:xfrm>
            <a:off x="9415803"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Renewal: Insurer, Letters, Documents, Remarks and History</a:t>
            </a:r>
          </a:p>
        </p:txBody>
      </p:sp>
      <p:cxnSp>
        <p:nvCxnSpPr>
          <p:cNvPr id="19" name="Connector 18"/>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4: Follow-ups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1.png"/>
          <p:cNvPicPr>
            <a:picLocks noChangeAspect="1"/>
          </p:cNvPicPr>
          <p:nvPr/>
        </p:nvPicPr>
        <p:blipFill>
          <a:blip r:embed="rId3"/>
          <a:stretch>
            <a:fillRect/>
          </a:stretch>
        </p:blipFill>
        <p:spPr>
          <a:xfrm>
            <a:off x="548640" y="1261872"/>
            <a:ext cx="7665414" cy="345982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Contact Center: Opens Follow-ups, tab RA Sent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Awaiting response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renewal waiting for the client's reply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Contact Center on Follow-ups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4: Follow-ups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2.png"/>
          <p:cNvPicPr>
            <a:picLocks noChangeAspect="1"/>
          </p:cNvPicPr>
          <p:nvPr/>
        </p:nvPicPr>
        <p:blipFill>
          <a:blip r:embed="rId3"/>
          <a:stretch>
            <a:fillRect/>
          </a:stretch>
        </p:blipFill>
        <p:spPr>
          <a:xfrm>
            <a:off x="548640" y="1261872"/>
            <a:ext cx="7665415" cy="420646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Contact Center: Opens the renewal and clicks Add Follow-up: Call, Client will renew, the next action date and the remarks, then Save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Followed up</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Saved; the follow-up on the Remarks &amp; Follow-ups tab</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Account Officer (Account Broker) on Record Acceptance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4: Record Acceptance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the renewal and clicks Record Acceptance: Payment with the payment reference, then Record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Accepted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Saved; the renewal For Placement and Booking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Account Officer (Account Broker) on Renewal: Insurer, Letters, Documents, Remarks and History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4 of 4: Renewal: Insurer, Letters, Documents, Remarks and History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c-04.png"/>
          <p:cNvPicPr>
            <a:picLocks noChangeAspect="1"/>
          </p:cNvPicPr>
          <p:nvPr/>
        </p:nvPicPr>
        <p:blipFill>
          <a:blip r:embed="rId3"/>
          <a:stretch>
            <a:fillRect/>
          </a:stretch>
        </p:blipFill>
        <p:spPr>
          <a:xfrm>
            <a:off x="548640" y="1261872"/>
            <a:ext cx="7665415" cy="334342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the tab Letters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Kept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Renewal Advice in the e-mail queue to the client and the acceptance by payment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Not for Renewal and the closing letter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Not for Renewal and the closing letter</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Aileen Account Officer learns that the client's loan is fully paid: she gives the disposition Not for Renewal with that reason and pushes it; the Team Leader posts it to the letter step and the Not for Renewal Letter is sent, which closes the renewal.</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renewal of the migrated motor policy QPS-FI-0100007 (Jose Miguel Reyes), CBG Metro Team 1, assigned to Aileen Account Officer by the Team Leader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(Account Broker), Marketing Team Leader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 (Account Broker)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Team Leader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Set Disposition, Add Remark and Re-open</a:t>
            </a:r>
          </a:p>
        </p:txBody>
      </p:sp>
      <p:sp>
        <p:nvSpPr>
          <p:cNvPr id="16" name="Rounded Rectangle 15"/>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TL Review</a:t>
            </a:r>
          </a:p>
        </p:txBody>
      </p:sp>
      <p:sp>
        <p:nvSpPr>
          <p:cNvPr id="17" name="Rounded Rectangle 16"/>
          <p:cNvSpPr/>
          <p:nvPr/>
        </p:nvSpPr>
        <p:spPr>
          <a:xfrm>
            <a:off x="7087970"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Letters</a:t>
            </a:r>
          </a:p>
        </p:txBody>
      </p:sp>
      <p:sp>
        <p:nvSpPr>
          <p:cNvPr id="18" name="Rounded Rectangle 17"/>
          <p:cNvSpPr/>
          <p:nvPr/>
        </p:nvSpPr>
        <p:spPr>
          <a:xfrm>
            <a:off x="9415803"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Renewal: Insurer, Letters, Documents, Remarks and History</a:t>
            </a:r>
          </a:p>
        </p:txBody>
      </p:sp>
      <p:cxnSp>
        <p:nvCxnSpPr>
          <p:cNvPr id="19" name="Connector 18"/>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88680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1 of 4: Set Disposition, Add Remark and Re-open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(Account Broker): Opens the renewal, views its account history, clicks Set Disposition: Not for Renewal, reason Loan fully paid, with remarks, then Save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Dispositioned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Saved; the disposition Not for Renewal with its reason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Team Leader on TL Review</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4: TL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2.png"/>
          <p:cNvPicPr>
            <a:picLocks noChangeAspect="1"/>
          </p:cNvPicPr>
          <p:nvPr/>
        </p:nvPicPr>
        <p:blipFill>
          <a:blip r:embed="rId3"/>
          <a:stretch>
            <a:fillRect/>
          </a:stretch>
        </p:blipFill>
        <p:spPr>
          <a:xfrm>
            <a:off x="548640" y="1261872"/>
            <a:ext cx="7665415" cy="46793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Team Leader: After the Account Officer's push, ticks the renewal on TL Review, clicks Post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Letter pending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posted; the renewal goes to the closing letters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Account Officer (Account Broker) on Letters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3 of 4: Letters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3.png"/>
          <p:cNvPicPr>
            <a:picLocks noChangeAspect="1"/>
          </p:cNvPicPr>
          <p:nvPr/>
        </p:nvPicPr>
        <p:blipFill>
          <a:blip r:embed="rId3"/>
          <a:stretch>
            <a:fillRect/>
          </a:stretch>
        </p:blipFill>
        <p:spPr>
          <a:xfrm>
            <a:off x="548640" y="1261872"/>
            <a:ext cx="7665415" cy="43117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Letters, tab NAL / NFR, ticks the renewal, clicks Send Letters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Closed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sent; the renewal is closed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Account Officer (Account Broker) on Renewal: Insurer, Letters, Documents, Remarks and History</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step 4 of 4: Renewal: Insurer, Letters, Documents, Remarks and History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4.png"/>
          <p:cNvPicPr>
            <a:picLocks noChangeAspect="1"/>
          </p:cNvPicPr>
          <p:nvPr/>
        </p:nvPicPr>
        <p:blipFill>
          <a:blip r:embed="rId3"/>
          <a:stretch>
            <a:fillRect/>
          </a:stretch>
        </p:blipFill>
        <p:spPr>
          <a:xfrm>
            <a:off x="548640" y="1261872"/>
            <a:ext cx="7665415" cy="44579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Opens the renewal, tab Letters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Letter kept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Not for Renewal Letter in the e-mail queue to the client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WT-E A transfer to another unit, and the controls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WT-E A transfer to another unit, and the controls the user sees</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CBG Metro Team 1 transferred the renewal of a corporate client to Corporate Marketing Team 1; its Team Leader accepts it. Then two controls of Renewal with the message the user sees: a disposition before the account history, and a transfer to the own unit.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transfer request of the migrated policy EBIX-CG-0100005 (Luzon Agri-Industrial Corp.) to Corporate Marketing Team 1; the renewal of the migrated policy QPS-FI-0100002 (Jose Miguel Reyes) of CBG Metro Team 1</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Team Leader, Marketing Account Officer (Account Broker)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3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14.5</a:t>
                      </a:r>
                    </a:p>
                  </a:txBody>
                  <a:tcPr marL="54864" marR="54864" marT="27432" marB="27432">
                    <a:solidFill>
                      <a:srgbClr val="FFFF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Team Leader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 (Account Broker)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902610"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Transfers</a:t>
            </a:r>
          </a:p>
        </p:txBody>
      </p:sp>
      <p:sp>
        <p:nvSpPr>
          <p:cNvPr id="16" name="Rounded Rectangle 15"/>
          <p:cNvSpPr/>
          <p:nvPr/>
        </p:nvSpPr>
        <p:spPr>
          <a:xfrm>
            <a:off x="5536082" y="2267712"/>
            <a:ext cx="2902610"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Set Disposition, Add Remark and Re-open</a:t>
            </a:r>
          </a:p>
        </p:txBody>
      </p:sp>
      <p:sp>
        <p:nvSpPr>
          <p:cNvPr id="17" name="Rounded Rectangle 16"/>
          <p:cNvSpPr/>
          <p:nvPr/>
        </p:nvSpPr>
        <p:spPr>
          <a:xfrm>
            <a:off x="8639860" y="1399032"/>
            <a:ext cx="2902610"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Expiry List</a:t>
            </a:r>
          </a:p>
        </p:txBody>
      </p:sp>
      <p:cxnSp>
        <p:nvCxnSpPr>
          <p:cNvPr id="18" name="Connector 17"/>
          <p:cNvCxnSpPr/>
          <p:nvPr/>
        </p:nvCxnSpPr>
        <p:spPr>
          <a:xfrm>
            <a:off x="533491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43869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1 of 3: Transfers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e-01.png"/>
          <p:cNvPicPr>
            <a:picLocks noChangeAspect="1"/>
          </p:cNvPicPr>
          <p:nvPr/>
        </p:nvPicPr>
        <p:blipFill>
          <a:blip r:embed="rId3"/>
          <a:stretch>
            <a:fillRect/>
          </a:stretch>
        </p:blipFill>
        <p:spPr>
          <a:xfrm>
            <a:off x="548640" y="1261872"/>
            <a:ext cx="7665415" cy="270389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Team Leader: The Team Leader of Corporate Marketing Team 1 opens Transfers, tab Incoming, chooses Accept in the row action menu and confirms with remarks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Transferred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Transfer accepted; the renewal joins the Unassigned tab of the unit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(Account Broker) on Set Disposition, Add Remark and Re-open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WT-E step 2 of 3: Set Disposition, Add Remark and Re-open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2.png"/>
          <p:cNvPicPr>
            <a:picLocks noChangeAspect="1"/>
          </p:cNvPicPr>
          <p:nvPr/>
        </p:nvPicPr>
        <p:blipFill>
          <a:blip r:embed="rId3"/>
          <a:stretch>
            <a:fillRect/>
          </a:stretch>
        </p:blipFill>
        <p:spPr>
          <a:xfrm>
            <a:off x="548640" y="1261872"/>
            <a:ext cx="7665415" cy="341046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(Account Broker): Aileen Account Officer gives a disposition on a renewal without opening its account history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Open the Account History before you give the disposition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Team Leader on Expiry List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3 of 3: Expiry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3.png"/>
          <p:cNvPicPr>
            <a:picLocks noChangeAspect="1"/>
          </p:cNvPicPr>
          <p:nvPr/>
        </p:nvPicPr>
        <p:blipFill>
          <a:blip r:embed="rId3"/>
          <a:stretch>
            <a:fillRect/>
          </a:stretch>
        </p:blipFill>
        <p:spPr>
          <a:xfrm>
            <a:off x="548640" y="1261872"/>
            <a:ext cx="7665415" cy="395843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SCR-RN-02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Team Leader: Marites Marketing Lead transfers a renewal of her unit to CBG Metro Team 1, her own unit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receiving unit must be another unit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SCR-RN-01 Renewal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expiry list and the renewal record</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renewals of the user's scope at a glance: the renewals due in 30, 60, 90 and 140 days, the work queues that need attention (at risk, urgent, returned, NRNS, insurer reply overdue, letters failed), the renewals by status and by classification and the workload of the officers. Each tile and status opens the list behind it.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Renewal Home</a:t>
                      </a:r>
                    </a:p>
                    <a:p>
                      <a:r>
                        <a:rPr sz="950" b="0">
                          <a:solidFill>
                            <a:srgbClr val="4B4B4B"/>
                          </a:solidFill>
                          <a:latin typeface="Arial"/>
                        </a:rPr>
                        <a:t>Client &amp; Policy › Renewal › Renewal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FR-RN-100, FR-RN-102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what is due and opens the work waiting.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Figures</a:t>
                      </a:r>
                    </a:p>
                  </a:txBody>
                  <a:tcPr marL="54864" marR="54864" marT="27432" marB="27432">
                    <a:solidFill>
                      <a:srgbClr val="FFFFFF"/>
                    </a:solidFill>
                  </a:tcPr>
                </a:tc>
                <a:tc>
                  <a:txBody>
                    <a:bodyPr/>
                    <a:lstStyle/>
                    <a:p>
                      <a:r>
                        <a:rPr sz="850" b="0">
                          <a:solidFill>
                            <a:srgbClr val="4B4B4B"/>
                          </a:solidFill>
                          <a:latin typeface="Arial"/>
                        </a:rPr>
                        <a:t>Due in 30 days / Due in 60 days / Due in 90 days / Due in 140 days</a:t>
                      </a:r>
                    </a:p>
                  </a:txBody>
                  <a:tcPr marL="54864" marR="54864" marT="27432" marB="27432">
                    <a:solidFill>
                      <a:srgbClr val="FFFFFF"/>
                    </a:solidFill>
                  </a:tcPr>
                </a:tc>
                <a:tc>
                  <a:txBody>
                    <a:bodyPr/>
                    <a:lstStyle/>
                    <a:p>
                      <a:r>
                        <a:rPr sz="850" b="0">
                          <a:solidFill>
                            <a:srgbClr val="4B4B4B"/>
                          </a:solidFill>
                          <a:latin typeface="Arial"/>
                        </a:rPr>
                        <a:t>Figure</a:t>
                      </a:r>
                    </a:p>
                  </a:txBody>
                  <a:tcPr marL="54864" marR="54864" marT="27432" marB="27432">
                    <a:solidFill>
                      <a:srgbClr val="FFFFFF"/>
                    </a:solidFill>
                  </a:tcPr>
                </a:tc>
                <a:tc>
                  <a:txBody>
                    <a:bodyPr/>
                    <a:lstStyle/>
                    <a:p>
                      <a:r>
                        <a:rPr sz="850" b="0">
                          <a:solidFill>
                            <a:srgbClr val="4B4B4B"/>
                          </a:solidFill>
                          <a:latin typeface="Arial"/>
                        </a:rPr>
                        <a:t>Number of renewals expiring within the 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 tiles</a:t>
                      </a:r>
                    </a:p>
                  </a:txBody>
                  <a:tcPr marL="54864" marR="54864" marT="27432" marB="27432">
                    <a:solidFill>
                      <a:srgbClr val="E5F5FF"/>
                    </a:solidFill>
                  </a:tcPr>
                </a:tc>
                <a:tc>
                  <a:txBody>
                    <a:bodyPr/>
                    <a:lstStyle/>
                    <a:p>
                      <a:r>
                        <a:rPr sz="850" b="0">
                          <a:solidFill>
                            <a:srgbClr val="4B4B4B"/>
                          </a:solidFill>
                          <a:latin typeface="Arial"/>
                        </a:rPr>
                        <a:t>At risk / Urgent / Returned / NRNS / Insurer reply overdue / Letters failed</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Title and live count; Needs attention when the queue needs action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By status</a:t>
                      </a:r>
                    </a:p>
                  </a:txBody>
                  <a:tcPr marL="54864" marR="54864" marT="27432" marB="27432">
                    <a:solidFill>
                      <a:srgbClr val="FFFFFF"/>
                    </a:solidFill>
                  </a:tcPr>
                </a:tc>
                <a:tc>
                  <a:txBody>
                    <a:bodyPr/>
                    <a:lstStyle/>
                    <a:p>
                      <a:r>
                        <a:rPr sz="850" b="0">
                          <a:solidFill>
                            <a:srgbClr val="4B4B4B"/>
                          </a:solidFill>
                          <a:latin typeface="Arial"/>
                        </a:rPr>
                        <a:t>Status / Renewals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Stage of the renewal and the number of renewals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By classification</a:t>
                      </a:r>
                    </a:p>
                  </a:txBody>
                  <a:tcPr marL="54864" marR="54864" marT="27432" marB="27432">
                    <a:solidFill>
                      <a:srgbClr val="E5F5FF"/>
                    </a:solidFill>
                  </a:tcPr>
                </a:tc>
                <a:tc>
                  <a:txBody>
                    <a:bodyPr/>
                    <a:lstStyle/>
                    <a:p>
                      <a:r>
                        <a:rPr sz="850" b="0">
                          <a:solidFill>
                            <a:srgbClr val="4B4B4B"/>
                          </a:solidFill>
                          <a:latin typeface="Arial"/>
                        </a:rPr>
                        <a:t>[Classification pill] / Renewals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Clean, Review or Exception and the number of renewals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renewals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Workload</a:t>
                      </a:r>
                    </a:p>
                  </a:txBody>
                  <a:tcPr marL="54864" marR="54864" marT="27432" marB="27432">
                    <a:solidFill>
                      <a:srgbClr val="FFFFFF"/>
                    </a:solidFill>
                  </a:tcPr>
                </a:tc>
                <a:tc>
                  <a:txBody>
                    <a:bodyPr/>
                    <a:lstStyle/>
                    <a:p>
                      <a:r>
                        <a:rPr sz="850" b="0">
                          <a:solidFill>
                            <a:srgbClr val="4B4B4B"/>
                          </a:solidFill>
                          <a:latin typeface="Arial"/>
                        </a:rPr>
                        <a:t>Officer / Role / Open renewals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officer; Marketing or Processing; number of open renewals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 assigned</a:t>
                      </a:r>
                    </a:p>
                  </a:txBody>
                  <a:tcPr marL="54864" marR="54864" marT="27432" marB="27432">
                    <a:solidFill>
                      <a:srgbClr val="FFFFFF"/>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Tile or status row</a:t>
                      </a:r>
                    </a:p>
                  </a:txBody>
                  <a:tcPr marL="54864" marR="54864" marT="27432" marB="27432">
                    <a:solidFill>
                      <a:srgbClr val="FFFFFF"/>
                    </a:solidFill>
                  </a:tcPr>
                </a:tc>
                <a:tc>
                  <a:txBody>
                    <a:bodyPr/>
                    <a:lstStyle/>
                    <a:p>
                      <a:r>
                        <a:rPr sz="850" b="0">
                          <a:solidFill>
                            <a:srgbClr val="4B4B4B"/>
                          </a:solidFill>
                          <a:latin typeface="Arial"/>
                        </a:rPr>
                        <a:t>Every Renewal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list and tab of those renewals (Expiry List, My Dispositions, Processing Worklist, Letters)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counts cover the renewals of the user's scope: the own unit for Marketing, the processing stages for Processing (FR-RN-100).</a:t>
                      </a:r>
                    </a:p>
                  </a:txBody>
                  <a:tcPr marL="54864" marR="54864" marT="27432" marB="27432">
                    <a:solidFill>
                      <a:srgbClr val="FFFFFF"/>
                    </a:solidFill>
                  </a:tcPr>
                </a:tc>
              </a:tr>
              <a:tr h="243840">
                <a:tc>
                  <a:txBody>
                    <a:bodyPr/>
                    <a:lstStyle/>
                    <a:p>
                      <a:r>
                        <a:rPr sz="1000" b="0">
                          <a:solidFill>
                            <a:srgbClr val="4B4B4B"/>
                          </a:solidFill>
                          <a:latin typeface="Arial"/>
                        </a:rPr>
                        <a:t>A renewal is at risk when it is not disposed or not accepted within the escalation days of its segment before expiry (FR-RN-102).</a:t>
                      </a:r>
                    </a:p>
                  </a:txBody>
                  <a:tcPr marL="54864" marR="54864" marT="27432" marB="27432">
                    <a:solidFill>
                      <a:srgbClr val="E5F5FF"/>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SCR-RN-01 Renewal Home: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1.png"/>
          <p:cNvPicPr>
            <a:picLocks noChangeAspect="1"/>
          </p:cNvPicPr>
          <p:nvPr/>
        </p:nvPicPr>
        <p:blipFill>
          <a:blip r:embed="rId3"/>
          <a:stretch>
            <a:fillRect/>
          </a:stretch>
        </p:blipFill>
        <p:spPr>
          <a:xfrm>
            <a:off x="548640" y="1261872"/>
            <a:ext cx="11094415" cy="47345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Renewal Home of the Marketing Team Leader: due dates, work queues, renewals by status and classification, workload (part 1 of 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SCR-RN-01 Renewal Home: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2.png"/>
          <p:cNvPicPr>
            <a:picLocks noChangeAspect="1"/>
          </p:cNvPicPr>
          <p:nvPr/>
        </p:nvPicPr>
        <p:blipFill>
          <a:blip r:embed="rId3"/>
          <a:stretch>
            <a:fillRect/>
          </a:stretch>
        </p:blipFill>
        <p:spPr>
          <a:xfrm>
            <a:off x="548640" y="1261872"/>
            <a:ext cx="11094415" cy="225084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Renewal Home of the Marketing Team Leader: due dates, work queues, renewals by status and classification, workload (part 2 of 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expiry list and the renewal record</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expiring accounts from extraction to disposition, by tab: extracted, unassigned, by disposition, exceptions, transfers pending and all. Generate Expiry List reads the accounts expiring in a range; Initiate starts the checks of the extracted renewals; Assign Disposition gives renewals to an Account Officer; Push sends the dispositioned ones to the Team Leader; Transfer moves one renewal to another unit.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Expiry List</a:t>
                      </a:r>
                    </a:p>
                    <a:p>
                      <a:r>
                        <a:rPr sz="950" b="0">
                          <a:solidFill>
                            <a:srgbClr val="4B4B4B"/>
                          </a:solidFill>
                          <a:latin typeface="Arial"/>
                        </a:rPr>
                        <a:t>Client &amp; Policy › Renewal › Expiry List</a:t>
                      </a:r>
                    </a:p>
                    <a:p>
                      <a:r>
                        <a:rPr sz="950" b="0">
                          <a:solidFill>
                            <a:srgbClr val="4B4B4B"/>
                          </a:solidFill>
                          <a:latin typeface="Arial"/>
                        </a:rPr>
                        <a:t>Renewal Home › At risk, Urgent or a status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FR-RN-010, FR-RN-011, FR-RN-012, FR-RN-013, FR-RN-014, FR-RN-015, FR-RN-030, FR-RN-031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expiring accounts are extracted, initiated and assigned for disposition.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Unassigned Disposition / Extracted / For Renewal / For Quotation / For Proposal / Not for Renewal / Lost Business / Exceptions / Transfer Pending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Renewal Ref / Policy / PN /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Renewal Reference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RNW-yyyy-nnnnnn with the flag tags next to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client with the client code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Expiring Policy / Invoice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Policy number with the invoice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Risk / Insurance Company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Product name with the insurer name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Unit / 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owner unit with the officer's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Expiry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with the days left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 / Classification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Stage pill with the Clean, Review or Exception pill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Disposition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Disposition with the remarks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Gross Premium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the outstanding of the expiring invoice family and the claims count under it (hidden for LAMD and Contact Center)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Filters panel</a:t>
                      </a:r>
                    </a:p>
                  </a:txBody>
                  <a:tcPr marL="54864" marR="54864" marT="27432" marB="27432">
                    <a:solidFill>
                      <a:srgbClr val="E5F5FF"/>
                    </a:solidFill>
                  </a:tcPr>
                </a:tc>
                <a:tc>
                  <a:txBody>
                    <a:bodyPr/>
                    <a:lstStyle/>
                    <a:p>
                      <a:r>
                        <a:rPr sz="850" b="0">
                          <a:solidFill>
                            <a:srgbClr val="4B4B4B"/>
                          </a:solidFill>
                          <a:latin typeface="Arial"/>
                        </a:rPr>
                        <a:t>Expiry From / Expiry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325880"/>
          <a:ext cx="11094411" cy="297178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Filters panel</a:t>
                      </a:r>
                    </a:p>
                  </a:txBody>
                  <a:tcPr marL="54864" marR="54864" marT="27432" marB="27432">
                    <a:solidFill>
                      <a:srgbClr val="FFFFFF"/>
                    </a:solidFill>
                  </a:tcPr>
                </a:tc>
                <a:tc>
                  <a:txBody>
                    <a:bodyPr/>
                    <a:lstStyle/>
                    <a:p>
                      <a:r>
                        <a:rPr sz="850" b="0">
                          <a:solidFill>
                            <a:srgbClr val="4B4B4B"/>
                          </a:solidFill>
                          <a:latin typeface="Arial"/>
                        </a:rPr>
                        <a:t>Unit Head, Business Origin, Account Type, Region, Department, Invoicing Branch, Risk Code, Segment, Account Officer, Insurance Company, Classification, Disposition, Status</a:t>
                      </a:r>
                    </a:p>
                  </a:txBody>
                  <a:tcPr marL="54864" marR="54864" marT="27432" marB="27432">
                    <a:solidFill>
                      <a:srgbClr val="FFFFFF"/>
                    </a:solidFill>
                  </a:tcPr>
                </a:tc>
                <a:tc>
                  <a:txBody>
                    <a:bodyPr/>
                    <a:lstStyle/>
                    <a:p>
                      <a:r>
                        <a:rPr sz="850" b="0">
                          <a:solidFill>
                            <a:srgbClr val="4B4B4B"/>
                          </a:solidFill>
                          <a:latin typeface="Arial"/>
                        </a:rPr>
                        <a:t>Multi-select</a:t>
                      </a:r>
                    </a:p>
                  </a:txBody>
                  <a:tcPr marL="54864" marR="54864" marT="27432" marB="27432">
                    <a:solidFill>
                      <a:srgbClr val="FFFFFF"/>
                    </a:solidFill>
                  </a:tcPr>
                </a:tc>
                <a:tc>
                  <a:txBody>
                    <a:bodyPr/>
                    <a:lstStyle/>
                    <a:p>
                      <a:r>
                        <a:rPr sz="850" b="0">
                          <a:solidFill>
                            <a:srgbClr val="4B4B4B"/>
                          </a:solidFill>
                          <a:latin typeface="Arial"/>
                        </a:rPr>
                        <a:t>Several values, or all except the values chosen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Generate Expiry List dialog</a:t>
                      </a:r>
                    </a:p>
                  </a:txBody>
                  <a:tcPr marL="54864" marR="54864" marT="27432" marB="27432">
                    <a:solidFill>
                      <a:srgbClr val="E5F5FF"/>
                    </a:solidFill>
                  </a:tcPr>
                </a:tc>
                <a:tc>
                  <a:txBody>
                    <a:bodyPr/>
                    <a:lstStyle/>
                    <a:p>
                      <a:r>
                        <a:rPr sz="850" b="0">
                          <a:solidFill>
                            <a:srgbClr val="4B4B4B"/>
                          </a:solidFill>
                          <a:latin typeface="Arial"/>
                        </a:rPr>
                        <a:t>Expiry From / Expiry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the end on or after the start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Valid range</a:t>
                      </a:r>
                    </a:p>
                  </a:txBody>
                  <a:tcPr marL="54864" marR="54864" marT="27432" marB="27432">
                    <a:solidFill>
                      <a:srgbClr val="E5F5FF"/>
                    </a:solidFill>
                  </a:tcPr>
                </a:tc>
                <a:tc>
                  <a:txBody>
                    <a:bodyPr/>
                    <a:lstStyle/>
                    <a:p>
                      <a:r>
                        <a:rPr sz="850" b="0">
                          <a:solidFill>
                            <a:srgbClr val="4B4B4B"/>
                          </a:solidFill>
                          <a:latin typeface="Arial"/>
                        </a:rPr>
                        <a:t>The end date must be on or after the start date</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Assign Disposition dialog</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Name of the officer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Active officer of the unit of the renewal</a:t>
                      </a:r>
                    </a:p>
                  </a:txBody>
                  <a:tcPr marL="54864" marR="54864" marT="27432" marB="27432">
                    <a:solidFill>
                      <a:srgbClr val="FFFFFF"/>
                    </a:solidFill>
                  </a:tcPr>
                </a:tc>
                <a:tc>
                  <a:txBody>
                    <a:bodyPr/>
                    <a:lstStyle/>
                    <a:p>
                      <a:r>
                        <a:rPr sz="850" b="0">
                          <a:solidFill>
                            <a:srgbClr val="4B4B4B"/>
                          </a:solidFill>
                          <a:latin typeface="Arial"/>
                        </a:rPr>
                        <a:t>Select the account officer</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Assign Disposition dialog</a:t>
                      </a:r>
                    </a:p>
                  </a:txBody>
                  <a:tcPr marL="54864" marR="54864" marT="27432" marB="27432">
                    <a:solidFill>
                      <a:srgbClr val="E5F5FF"/>
                    </a:solidFill>
                  </a:tcPr>
                </a:tc>
                <a:tc>
                  <a:txBody>
                    <a:bodyPr/>
                    <a:lstStyle/>
                    <a:p>
                      <a:r>
                        <a:rPr sz="850" b="0">
                          <a:solidFill>
                            <a:srgbClr val="4B4B4B"/>
                          </a:solidFill>
                          <a:latin typeface="Arial"/>
                        </a:rPr>
                        <a:t>Reason (re-assignment)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Renewal transfer reason list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Transfer dialog</a:t>
                      </a:r>
                    </a:p>
                  </a:txBody>
                  <a:tcPr marL="54864" marR="54864" marT="27432" marB="27432">
                    <a:solidFill>
                      <a:srgbClr val="FFFFFF"/>
                    </a:solidFill>
                  </a:tcPr>
                </a:tc>
                <a:tc>
                  <a:txBody>
                    <a:bodyPr/>
                    <a:lstStyle/>
                    <a:p>
                      <a:r>
                        <a:rPr sz="850" b="0">
                          <a:solidFill>
                            <a:srgbClr val="4B4B4B"/>
                          </a:solidFill>
                          <a:latin typeface="Arial"/>
                        </a:rPr>
                        <a:t>Receiving Unit / Reason / Remarks</a:t>
                      </a:r>
                    </a:p>
                  </a:txBody>
                  <a:tcPr marL="54864" marR="54864" marT="27432" marB="27432">
                    <a:solidFill>
                      <a:srgbClr val="FFFFFF"/>
                    </a:solidFill>
                  </a:tcPr>
                </a:tc>
                <a:tc>
                  <a:txBody>
                    <a:bodyPr/>
                    <a:lstStyle/>
                    <a:p>
                      <a:r>
                        <a:rPr sz="850" b="0">
                          <a:solidFill>
                            <a:srgbClr val="4B4B4B"/>
                          </a:solidFill>
                          <a:latin typeface="Arial"/>
                        </a:rPr>
                        <a:t>Drop-down, drop-down, text area</a:t>
                      </a:r>
                    </a:p>
                  </a:txBody>
                  <a:tcPr marL="54864" marR="54864" marT="27432" marB="27432">
                    <a:solidFill>
                      <a:srgbClr val="FFFFFF"/>
                    </a:solidFill>
                  </a:tcPr>
                </a:tc>
                <a:tc>
                  <a:txBody>
                    <a:bodyPr/>
                    <a:lstStyle/>
                    <a:p>
                      <a:r>
                        <a:rPr sz="850" b="0">
                          <a:solidFill>
                            <a:srgbClr val="4B4B4B"/>
                          </a:solidFill>
                          <a:latin typeface="Arial"/>
                        </a:rPr>
                        <a:t>Name of the unit; renewal transfer reason; up to 200 characters</a:t>
                      </a:r>
                    </a:p>
                  </a:txBody>
                  <a:tcPr marL="54864" marR="54864" marT="27432" marB="27432">
                    <a:solidFill>
                      <a:srgbClr val="FFFFFF"/>
                    </a:solidFill>
                  </a:tcPr>
                </a:tc>
                <a:tc>
                  <a:txBody>
                    <a:bodyPr/>
                    <a:lstStyle/>
                    <a:p>
                      <a:r>
                        <a:rPr sz="850" b="0">
                          <a:solidFill>
                            <a:srgbClr val="4B4B4B"/>
                          </a:solidFill>
                          <a:latin typeface="Arial"/>
                        </a:rPr>
                        <a:t>Y / N / Y</a:t>
                      </a:r>
                    </a:p>
                  </a:txBody>
                  <a:tcPr marL="54864" marR="54864" marT="27432" marB="27432">
                    <a:solidFill>
                      <a:srgbClr val="FFFFFF"/>
                    </a:solidFill>
                  </a:tcPr>
                </a:tc>
                <a:tc>
                  <a:txBody>
                    <a:bodyPr/>
                    <a:lstStyle/>
                    <a:p>
                      <a:r>
                        <a:rPr sz="850" b="0">
                          <a:solidFill>
                            <a:srgbClr val="4B4B4B"/>
                          </a:solidFill>
                          <a:latin typeface="Arial"/>
                        </a:rPr>
                        <a:t>Another active unit</a:t>
                      </a:r>
                    </a:p>
                  </a:txBody>
                  <a:tcPr marL="54864" marR="54864" marT="27432" marB="27432">
                    <a:solidFill>
                      <a:srgbClr val="FFFFFF"/>
                    </a:solidFill>
                  </a:tcPr>
                </a:tc>
                <a:tc>
                  <a:txBody>
                    <a:bodyPr/>
                    <a:lstStyle/>
                    <a:p>
                      <a:r>
                        <a:rPr sz="850" b="0">
                          <a:solidFill>
                            <a:srgbClr val="4B4B4B"/>
                          </a:solidFill>
                          <a:latin typeface="Arial"/>
                        </a:rPr>
                        <a:t>The receiving unit must be another unit</a:t>
                      </a:r>
                    </a:p>
                  </a:txBody>
                  <a:tcPr marL="54864" marR="54864" marT="27432" marB="27432">
                    <a:solidFill>
                      <a:srgbClr val="FFFFFF"/>
                    </a:solidFill>
                  </a:tcPr>
                </a:tc>
              </a:tr>
              <a:tr h="480057">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Recent extractions</a:t>
                      </a:r>
                    </a:p>
                  </a:txBody>
                  <a:tcPr marL="54864" marR="54864" marT="27432" marB="27432">
                    <a:solidFill>
                      <a:srgbClr val="E5F5FF"/>
                    </a:solidFill>
                  </a:tcPr>
                </a:tc>
                <a:tc>
                  <a:txBody>
                    <a:bodyPr/>
                    <a:lstStyle/>
                    <a:p>
                      <a:r>
                        <a:rPr sz="850" b="0">
                          <a:solidFill>
                            <a:srgbClr val="4B4B4B"/>
                          </a:solidFill>
                          <a:latin typeface="Arial"/>
                        </a:rPr>
                        <a:t>Run / Expiry range / By / Read / New / Urgent / Status / Started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last five runs: the range or Daily run, the user's name, the counts, the status and the start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extraction yet</a:t>
                      </a:r>
                    </a:p>
                  </a:txBody>
                  <a:tcPr marL="54864" marR="54864" marT="27432" marB="27432">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25880"/>
          <a:ext cx="11094412" cy="280414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Generate Expiry List</a:t>
                      </a:r>
                    </a:p>
                  </a:txBody>
                  <a:tcPr marL="54864" marR="54864" marT="27432" marB="27432">
                    <a:solidFill>
                      <a:srgbClr val="FFFFFF"/>
                    </a:solidFill>
                  </a:tcPr>
                </a:tc>
                <a:tc>
                  <a:txBody>
                    <a:bodyPr/>
                    <a:lstStyle/>
                    <a:p>
                      <a:r>
                        <a:rPr sz="850" b="0">
                          <a:solidFill>
                            <a:srgbClr val="4B4B4B"/>
                          </a:solidFill>
                          <a:latin typeface="Arial"/>
                        </a:rPr>
                        <a:t>Marketing and Processing Team Leaders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Generate reads the accounts expiring in the range and creates their renewals once</a:t>
                      </a:r>
                    </a:p>
                  </a:txBody>
                  <a:tcPr marL="54864" marR="54864" marT="27432" marB="27432">
                    <a:solidFill>
                      <a:srgbClr val="FFFFFF"/>
                    </a:solidFill>
                  </a:tcPr>
                </a:tc>
                <a:tc>
                  <a:txBody>
                    <a:bodyPr/>
                    <a:lstStyle/>
                    <a:p>
                      <a:r>
                        <a:rPr sz="850" b="0">
                          <a:solidFill>
                            <a:srgbClr val="4B4B4B"/>
                          </a:solidFill>
                          <a:latin typeface="Arial"/>
                        </a:rPr>
                        <a:t>Extracted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Initiate</a:t>
                      </a:r>
                    </a:p>
                  </a:txBody>
                  <a:tcPr marL="54864" marR="54864" marT="27432" marB="27432">
                    <a:solidFill>
                      <a:srgbClr val="E5F5FF"/>
                    </a:solidFill>
                  </a:tcPr>
                </a:tc>
                <a:tc>
                  <a:txBody>
                    <a:bodyPr/>
                    <a:lstStyle/>
                    <a:p>
                      <a:r>
                        <a:rPr sz="850" b="0">
                          <a:solidFill>
                            <a:srgbClr val="4B4B4B"/>
                          </a:solidFill>
                          <a:latin typeface="Arial"/>
                        </a:rPr>
                        <a:t>Team Leaders (extract or assign permission)</a:t>
                      </a:r>
                    </a:p>
                  </a:txBody>
                  <a:tcPr marL="54864" marR="54864" marT="27432" marB="27432">
                    <a:solidFill>
                      <a:srgbClr val="E5F5FF"/>
                    </a:solidFill>
                  </a:tcPr>
                </a:tc>
                <a:tc>
                  <a:txBody>
                    <a:bodyPr/>
                    <a:lstStyle/>
                    <a:p>
                      <a:r>
                        <a:rPr sz="850" b="0">
                          <a:solidFill>
                            <a:srgbClr val="4B4B4B"/>
                          </a:solidFill>
                          <a:latin typeface="Arial"/>
                        </a:rPr>
                        <a:t>Tab Extracted, renewals ticked</a:t>
                      </a:r>
                    </a:p>
                  </a:txBody>
                  <a:tcPr marL="54864" marR="54864" marT="27432" marB="27432">
                    <a:solidFill>
                      <a:srgbClr val="E5F5FF"/>
                    </a:solidFill>
                  </a:tcPr>
                </a:tc>
                <a:tc>
                  <a:txBody>
                    <a:bodyPr/>
                    <a:lstStyle/>
                    <a:p>
                      <a:r>
                        <a:rPr sz="850" b="0">
                          <a:solidFill>
                            <a:srgbClr val="4B4B4B"/>
                          </a:solidFill>
                          <a:latin typeface="Arial"/>
                        </a:rPr>
                        <a:t>Starts the checks: each renewal gets its classification and the decision matrix proposes its disposition</a:t>
                      </a:r>
                    </a:p>
                  </a:txBody>
                  <a:tcPr marL="54864" marR="54864" marT="27432" marB="27432">
                    <a:solidFill>
                      <a:srgbClr val="E5F5FF"/>
                    </a:solidFill>
                  </a:tcPr>
                </a:tc>
                <a:tc>
                  <a:txBody>
                    <a:bodyPr/>
                    <a:lstStyle/>
                    <a:p>
                      <a:r>
                        <a:rPr sz="850" b="0">
                          <a:solidFill>
                            <a:srgbClr val="4B4B4B"/>
                          </a:solidFill>
                          <a:latin typeface="Arial"/>
                        </a:rPr>
                        <a:t>Unassigned Disposition, For Processing or Letter Pending by the rules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Assign Disposition</a:t>
                      </a:r>
                    </a:p>
                  </a:txBody>
                  <a:tcPr marL="54864" marR="54864" marT="27432" marB="27432">
                    <a:solidFill>
                      <a:srgbClr val="FFFFFF"/>
                    </a:solidFill>
                  </a:tcPr>
                </a:tc>
                <a:tc>
                  <a:txBody>
                    <a:bodyPr/>
                    <a:lstStyle/>
                    <a:p>
                      <a:r>
                        <a:rPr sz="850" b="0">
                          <a:solidFill>
                            <a:srgbClr val="4B4B4B"/>
                          </a:solidFill>
                          <a:latin typeface="Arial"/>
                        </a:rPr>
                        <a:t>Marketing Team Leader</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Opens the dialog; Assign and Push gives the renewals to the officer</a:t>
                      </a:r>
                    </a:p>
                  </a:txBody>
                  <a:tcPr marL="54864" marR="54864" marT="27432" marB="27432">
                    <a:solidFill>
                      <a:srgbClr val="FFFFFF"/>
                    </a:solidFill>
                  </a:tcPr>
                </a:tc>
                <a:tc>
                  <a:txBody>
                    <a:bodyPr/>
                    <a:lstStyle/>
                    <a:p>
                      <a:r>
                        <a:rPr sz="850" b="0">
                          <a:solidFill>
                            <a:srgbClr val="4B4B4B"/>
                          </a:solidFill>
                          <a:latin typeface="Arial"/>
                        </a:rPr>
                        <a:t>For Disposition</a:t>
                      </a:r>
                    </a:p>
                  </a:txBody>
                  <a:tcPr marL="54864" marR="54864" marT="27432" marB="27432">
                    <a:solidFill>
                      <a:srgbClr val="FFFFFF"/>
                    </a:solidFill>
                  </a:tcPr>
                </a:tc>
                <a:tc>
                  <a:txBody>
                    <a:bodyPr/>
                    <a:lstStyle/>
                    <a:p>
                      <a:r>
                        <a:rPr sz="850" b="0">
                          <a:solidFill>
                            <a:srgbClr val="4B4B4B"/>
                          </a:solidFill>
                          <a:latin typeface="Arial"/>
                        </a:rPr>
                        <a:t>Renewal assigned (NT-01)</a:t>
                      </a:r>
                    </a:p>
                  </a:txBody>
                  <a:tcPr marL="54864" marR="54864" marT="27432" marB="27432">
                    <a:solidFill>
                      <a:srgbClr val="FFFFFF"/>
                    </a:solidFill>
                  </a:tcPr>
                </a:tc>
              </a:tr>
              <a:tr h="350518">
                <a:tc>
                  <a:txBody>
                    <a:bodyPr/>
                    <a:lstStyle/>
                    <a:p>
                      <a:r>
                        <a:rPr sz="850" b="0">
                          <a:solidFill>
                            <a:srgbClr val="4B4B4B"/>
                          </a:solidFill>
                          <a:latin typeface="Arial"/>
                        </a:rPr>
                        <a:t>Push</a:t>
                      </a:r>
                    </a:p>
                  </a:txBody>
                  <a:tcPr marL="54864" marR="54864" marT="27432" marB="27432">
                    <a:solidFill>
                      <a:srgbClr val="E5F5FF"/>
                    </a:solidFill>
                  </a:tcPr>
                </a:tc>
                <a:tc>
                  <a:txBody>
                    <a:bodyPr/>
                    <a:lstStyle/>
                    <a:p>
                      <a:r>
                        <a:rPr sz="850" b="0">
                          <a:solidFill>
                            <a:srgbClr val="4B4B4B"/>
                          </a:solidFill>
                          <a:latin typeface="Arial"/>
                        </a:rPr>
                        <a:t>Account Officers and Team Leaders (dispose permission)</a:t>
                      </a:r>
                    </a:p>
                  </a:txBody>
                  <a:tcPr marL="54864" marR="54864" marT="27432" marB="27432">
                    <a:solidFill>
                      <a:srgbClr val="E5F5FF"/>
                    </a:solidFill>
                  </a:tcPr>
                </a:tc>
                <a:tc>
                  <a:txBody>
                    <a:bodyPr/>
                    <a:lstStyle/>
                    <a:p>
                      <a:r>
                        <a:rPr sz="850" b="0">
                          <a:solidFill>
                            <a:srgbClr val="4B4B4B"/>
                          </a:solidFill>
                          <a:latin typeface="Arial"/>
                        </a:rPr>
                        <a:t>Renewals ticked</a:t>
                      </a:r>
                    </a:p>
                  </a:txBody>
                  <a:tcPr marL="54864" marR="54864" marT="27432" marB="27432">
                    <a:solidFill>
                      <a:srgbClr val="E5F5FF"/>
                    </a:solidFill>
                  </a:tcPr>
                </a:tc>
                <a:tc>
                  <a:txBody>
                    <a:bodyPr/>
                    <a:lstStyle/>
                    <a:p>
                      <a:r>
                        <a:rPr sz="850" b="0">
                          <a:solidFill>
                            <a:srgbClr val="4B4B4B"/>
                          </a:solidFill>
                          <a:latin typeface="Arial"/>
                        </a:rPr>
                        <a:t>Sends the dispositioned renewals to the Team Leader</a:t>
                      </a:r>
                    </a:p>
                  </a:txBody>
                  <a:tcPr marL="54864" marR="54864" marT="27432" marB="27432">
                    <a:solidFill>
                      <a:srgbClr val="E5F5FF"/>
                    </a:solidFill>
                  </a:tcPr>
                </a:tc>
                <a:tc>
                  <a:txBody>
                    <a:bodyPr/>
                    <a:lstStyle/>
                    <a:p>
                      <a:r>
                        <a:rPr sz="850" b="0">
                          <a:solidFill>
                            <a:srgbClr val="4B4B4B"/>
                          </a:solidFill>
                          <a:latin typeface="Arial"/>
                        </a:rPr>
                        <a:t>Review in Progress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Transfer</a:t>
                      </a:r>
                    </a:p>
                  </a:txBody>
                  <a:tcPr marL="54864" marR="54864" marT="27432" marB="27432">
                    <a:solidFill>
                      <a:srgbClr val="FFFFFF"/>
                    </a:solidFill>
                  </a:tcPr>
                </a:tc>
                <a:tc>
                  <a:txBody>
                    <a:bodyPr/>
                    <a:lstStyle/>
                    <a:p>
                      <a:r>
                        <a:rPr sz="850" b="0">
                          <a:solidFill>
                            <a:srgbClr val="4B4B4B"/>
                          </a:solidFill>
                          <a:latin typeface="Arial"/>
                        </a:rPr>
                        <a:t>Marketing Team Leader</a:t>
                      </a:r>
                    </a:p>
                  </a:txBody>
                  <a:tcPr marL="54864" marR="54864" marT="27432" marB="27432">
                    <a:solidFill>
                      <a:srgbClr val="FFFFFF"/>
                    </a:solidFill>
                  </a:tcPr>
                </a:tc>
                <a:tc>
                  <a:txBody>
                    <a:bodyPr/>
                    <a:lstStyle/>
                    <a:p>
                      <a:r>
                        <a:rPr sz="850" b="0">
                          <a:solidFill>
                            <a:srgbClr val="4B4B4B"/>
                          </a:solidFill>
                          <a:latin typeface="Arial"/>
                        </a:rPr>
                        <a:t>One renewal ticked</a:t>
                      </a:r>
                    </a:p>
                  </a:txBody>
                  <a:tcPr marL="54864" marR="54864" marT="27432" marB="27432">
                    <a:solidFill>
                      <a:srgbClr val="FFFFFF"/>
                    </a:solidFill>
                  </a:tcPr>
                </a:tc>
                <a:tc>
                  <a:txBody>
                    <a:bodyPr/>
                    <a:lstStyle/>
                    <a:p>
                      <a:r>
                        <a:rPr sz="850" b="0">
                          <a:solidFill>
                            <a:srgbClr val="4B4B4B"/>
                          </a:solidFill>
                          <a:latin typeface="Arial"/>
                        </a:rPr>
                        <a:t>Opens the dialog; Submit and Push requests the transfer to the receiving unit</a:t>
                      </a:r>
                    </a:p>
                  </a:txBody>
                  <a:tcPr marL="54864" marR="54864" marT="27432" marB="27432">
                    <a:solidFill>
                      <a:srgbClr val="FFFFFF"/>
                    </a:solidFill>
                  </a:tcPr>
                </a:tc>
                <a:tc>
                  <a:txBody>
                    <a:bodyPr/>
                    <a:lstStyle/>
                    <a:p>
                      <a:r>
                        <a:rPr sz="850" b="0">
                          <a:solidFill>
                            <a:srgbClr val="4B4B4B"/>
                          </a:solidFill>
                          <a:latin typeface="Arial"/>
                        </a:rPr>
                        <a:t>Transfer Pending</a:t>
                      </a:r>
                    </a:p>
                  </a:txBody>
                  <a:tcPr marL="54864" marR="54864" marT="27432" marB="27432">
                    <a:solidFill>
                      <a:srgbClr val="FFFFFF"/>
                    </a:solidFill>
                  </a:tcPr>
                </a:tc>
                <a:tc>
                  <a:txBody>
                    <a:bodyPr/>
                    <a:lstStyle/>
                    <a:p>
                      <a:r>
                        <a:rPr sz="850" b="0">
                          <a:solidFill>
                            <a:srgbClr val="4B4B4B"/>
                          </a:solidFill>
                          <a:latin typeface="Arial"/>
                        </a:rPr>
                        <a:t>Renewal transfer requested (NT-02)</a:t>
                      </a:r>
                    </a:p>
                  </a:txBody>
                  <a:tcPr marL="54864" marR="54864" marT="27432" marB="27432">
                    <a:solidFill>
                      <a:srgbClr val="FFFFFF"/>
                    </a:solidFill>
                  </a:tcPr>
                </a:tc>
              </a:tr>
              <a:tr h="350518">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Users with the export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list as shown, with its filters, as a spreadsheet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Renewal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renewal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graphicFrame>
        <p:nvGraphicFramePr>
          <p:cNvPr id="9" name="Table 8"/>
          <p:cNvGraphicFramePr>
            <a:graphicFrameLocks noGrp="1"/>
          </p:cNvGraphicFramePr>
          <p:nvPr/>
        </p:nvGraphicFramePr>
        <p:xfrm>
          <a:off x="548640" y="1325880"/>
          <a:ext cx="11094415" cy="17068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account is extracted once per policy year: a second extraction of the same range creates no duplicate (FR-RN-011, FR-RN-021).</a:t>
                      </a:r>
                    </a:p>
                  </a:txBody>
                  <a:tcPr marL="54864" marR="54864" marT="27432" marB="27432">
                    <a:solidFill>
                      <a:srgbClr val="FFFFFF"/>
                    </a:solidFill>
                  </a:tcPr>
                </a:tc>
              </a:tr>
              <a:tr h="243840">
                <a:tc>
                  <a:txBody>
                    <a:bodyPr/>
                    <a:lstStyle/>
                    <a:p>
                      <a:r>
                        <a:rPr sz="1000" b="0">
                          <a:solidFill>
                            <a:srgbClr val="4B4B4B"/>
                          </a:solidFill>
                          <a:latin typeface="Arial"/>
                        </a:rPr>
                        <a:t>The daily extraction takes the policies at the lead days before expiry (140 by default); Generate Expiry List takes any range (FR-RN-010, FR-RN-011).</a:t>
                      </a:r>
                    </a:p>
                  </a:txBody>
                  <a:tcPr marL="54864" marR="54864" marT="27432" marB="27432">
                    <a:solidFill>
                      <a:srgbClr val="E5F5FF"/>
                    </a:solidFill>
                  </a:tcPr>
                </a:tc>
              </a:tr>
              <a:tr h="243840">
                <a:tc>
                  <a:txBody>
                    <a:bodyPr/>
                    <a:lstStyle/>
                    <a:p>
                      <a:r>
                        <a:rPr sz="1000" b="0">
                          <a:solidFill>
                            <a:srgbClr val="4B4B4B"/>
                          </a:solidFill>
                          <a:latin typeface="Arial"/>
                        </a:rPr>
                        <a:t>Extraction does not start the renewal: the renewals are initiated explicitly, in bulk for the bulk segments and one by one for the others (FR-RN-015).</a:t>
                      </a:r>
                    </a:p>
                  </a:txBody>
                  <a:tcPr marL="54864" marR="54864" marT="27432" marB="27432">
                    <a:solidFill>
                      <a:srgbClr val="FFFFFF"/>
                    </a:solidFill>
                  </a:tcPr>
                </a:tc>
              </a:tr>
              <a:tr h="243840">
                <a:tc>
                  <a:txBody>
                    <a:bodyPr/>
                    <a:lstStyle/>
                    <a:p>
                      <a:r>
                        <a:rPr sz="1000" b="0">
                          <a:solidFill>
                            <a:srgbClr val="4B4B4B"/>
                          </a:solidFill>
                          <a:latin typeface="Arial"/>
                        </a:rPr>
                        <a:t>Each filter accepts several values or all except the values chosen; the filters run on the whole list (FR-RN-012).</a:t>
                      </a:r>
                    </a:p>
                  </a:txBody>
                  <a:tcPr marL="54864" marR="54864" marT="27432" marB="27432">
                    <a:solidFill>
                      <a:srgbClr val="E5F5FF"/>
                    </a:solidFill>
                  </a:tcPr>
                </a:tc>
              </a:tr>
              <a:tr h="243840">
                <a:tc>
                  <a:txBody>
                    <a:bodyPr/>
                    <a:lstStyle/>
                    <a:p>
                      <a:r>
                        <a:rPr sz="1000" b="0">
                          <a:solidFill>
                            <a:srgbClr val="4B4B4B"/>
                          </a:solidFill>
                          <a:latin typeface="Arial"/>
                        </a:rPr>
                        <a:t>A renewal is assigned to an officer of its own unit; a renewal on the loan-driven straight-through path needs no officer (FR-RN-030).</a:t>
                      </a:r>
                    </a:p>
                  </a:txBody>
                  <a:tcPr marL="54864" marR="54864" marT="27432" marB="27432">
                    <a:solidFill>
                      <a:srgbClr val="FFFFFF"/>
                    </a:solidFill>
                  </a:tcPr>
                </a:tc>
              </a:tr>
              <a:tr h="243840">
                <a:tc>
                  <a:txBody>
                    <a:bodyPr/>
                    <a:lstStyle/>
                    <a:p>
                      <a:r>
                        <a:rPr sz="1000" b="0">
                          <a:solidFill>
                            <a:srgbClr val="4B4B4B"/>
                          </a:solidFill>
                          <a:latin typeface="Arial"/>
                        </a:rPr>
                        <a:t>A renewal has one open transfer request at a time, to another active unit (FR-RN-031).</a:t>
                      </a:r>
                    </a:p>
                  </a:txBody>
                  <a:tcPr marL="54864" marR="54864" marT="27432" marB="27432">
                    <a:solidFill>
                      <a:srgbClr val="E5F5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3</a:t>
                      </a:r>
                    </a:p>
                  </a:txBody>
                  <a:tcPr marL="54864" marR="54864" marT="27432" marB="27432">
                    <a:solidFill>
                      <a:srgbClr val="FFFFFF"/>
                    </a:solidFill>
                  </a:tcPr>
                </a:tc>
                <a:tc>
                  <a:txBody>
                    <a:bodyPr/>
                    <a:lstStyle/>
                    <a:p>
                      <a:r>
                        <a:rPr sz="900" b="0">
                          <a:solidFill>
                            <a:srgbClr val="4B4B4B"/>
                          </a:solidFill>
                          <a:latin typeface="Arial"/>
                        </a:rPr>
                        <a:t>Marites Marketing Lead transfers a renewal of her unit to CBG Metro Team 1, her own unit</a:t>
                      </a:r>
                    </a:p>
                  </a:txBody>
                  <a:tcPr marL="54864" marR="54864" marT="27432" marB="27432">
                    <a:solidFill>
                      <a:srgbClr val="FFFFFF"/>
                    </a:solidFill>
                  </a:tcPr>
                </a:tc>
                <a:tc>
                  <a:txBody>
                    <a:bodyPr/>
                    <a:lstStyle/>
                    <a:p>
                      <a:r>
                        <a:rPr sz="900" b="0">
                          <a:solidFill>
                            <a:srgbClr val="4B4B4B"/>
                          </a:solidFill>
                          <a:latin typeface="Arial"/>
                        </a:rPr>
                        <a:t>SCR-RN-02_wt-e-step-03.png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Opens the Expiry List, tab Unassigned Disposition, ticks the renewal of Pacific Harbor Logistics Inc. and clicks Assign Disposition: Arnel Account Officer, then Assign and Push</a:t>
                      </a:r>
                    </a:p>
                  </a:txBody>
                  <a:tcPr marL="54864" marR="54864" marT="27432" marB="27432">
                    <a:solidFill>
                      <a:srgbClr val="E5F5FF"/>
                    </a:solidFill>
                  </a:tcPr>
                </a:tc>
                <a:tc>
                  <a:txBody>
                    <a:bodyPr/>
                    <a:lstStyle/>
                    <a:p>
                      <a:r>
                        <a:rPr sz="900" b="0">
                          <a:solidFill>
                            <a:srgbClr val="4B4B4B"/>
                          </a:solidFill>
                          <a:latin typeface="Arial"/>
                        </a:rPr>
                        <a:t>SCR-RN-02_wt-a-step-01.png</a:t>
                      </a:r>
                    </a:p>
                  </a:txBody>
                  <a:tcPr marL="54864" marR="54864" marT="27432" marB="27432">
                    <a:solidFill>
                      <a:srgbClr val="E5F5FF"/>
                    </a:solidFill>
                  </a:tcPr>
                </a:tc>
              </a:tr>
            </a:tbl>
          </a:graphicData>
        </a:graphic>
      </p:graphicFrame>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02-01-list.png"/>
          <p:cNvPicPr>
            <a:picLocks noChangeAspect="1"/>
          </p:cNvPicPr>
          <p:nvPr/>
        </p:nvPicPr>
        <p:blipFill>
          <a:blip r:embed="rId3"/>
          <a:stretch>
            <a:fillRect/>
          </a:stretch>
        </p:blipFill>
        <p:spPr>
          <a:xfrm>
            <a:off x="1447876" y="1261872"/>
            <a:ext cx="929594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Expiry List of the Marketing Team Leader, tab Unassigned Disposition: classification, flags and the actions of the tab</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02-02-generate.png"/>
          <p:cNvPicPr>
            <a:picLocks noChangeAspect="1"/>
          </p:cNvPicPr>
          <p:nvPr/>
        </p:nvPicPr>
        <p:blipFill>
          <a:blip r:embed="rId3"/>
          <a:stretch>
            <a:fillRect/>
          </a:stretch>
        </p:blipFill>
        <p:spPr>
          <a:xfrm>
            <a:off x="548640" y="1261872"/>
            <a:ext cx="11094415" cy="40874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Expiry List dialog with the expiry range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73.png"/>
          <p:cNvPicPr>
            <a:picLocks noChangeAspect="1"/>
          </p:cNvPicPr>
          <p:nvPr/>
        </p:nvPicPr>
        <p:blipFill>
          <a:blip r:embed="rId3"/>
          <a:stretch>
            <a:fillRect/>
          </a:stretch>
        </p:blipFill>
        <p:spPr>
          <a:xfrm>
            <a:off x="548640" y="1261872"/>
            <a:ext cx="11094415" cy="46099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Filters panel: the expiry range and the multi-select criteria (part 1 of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74.png"/>
          <p:cNvPicPr>
            <a:picLocks noChangeAspect="1"/>
          </p:cNvPicPr>
          <p:nvPr/>
        </p:nvPicPr>
        <p:blipFill>
          <a:blip r:embed="rId3"/>
          <a:stretch>
            <a:fillRect/>
          </a:stretch>
        </p:blipFill>
        <p:spPr>
          <a:xfrm>
            <a:off x="548640" y="1261872"/>
            <a:ext cx="11094415" cy="23633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Filters panel: the expiry range and the multi-select criteria (part 2 of 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02-04-assign.png"/>
          <p:cNvPicPr>
            <a:picLocks noChangeAspect="1"/>
          </p:cNvPicPr>
          <p:nvPr/>
        </p:nvPicPr>
        <p:blipFill>
          <a:blip r:embed="rId3"/>
          <a:stretch>
            <a:fillRect/>
          </a:stretch>
        </p:blipFill>
        <p:spPr>
          <a:xfrm>
            <a:off x="548640" y="1261872"/>
            <a:ext cx="11094415" cy="40874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Disposition dialog: the Account Officer of the unit and the reason of a re-assignment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075.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renewal (part 1 of 2)</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SCR-RN-02 Expiry List: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076.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renewal (part 2 of 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SCR-RN-03 Renewal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expiry list and the renewal record</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renewal: the client, the ARN chip, the status, classification and disposition, the flags and key facts, the blocking checks, the workflow header with the actions the user may take now, and the Details tab with the expiring account, the client and officers, the amounts and the renewal itself.</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Expiry List › Renewal</a:t>
                      </a:r>
                    </a:p>
                    <a:p>
                      <a:r>
                        <a:rPr sz="950" b="0">
                          <a:solidFill>
                            <a:srgbClr val="4B4B4B"/>
                          </a:solidFill>
                          <a:latin typeface="Arial"/>
                        </a:rPr>
                        <a:t>Expiry List, My Dispositions, TL Review, Processing Worklist, Letters or Follow-ups › open a row</a:t>
                      </a:r>
                    </a:p>
                    <a:p>
                      <a:r>
                        <a:rPr sz="950" b="0">
                          <a:solidFill>
                            <a:srgbClr val="4B4B4B"/>
                          </a:solidFill>
                          <a:latin typeface="Arial"/>
                        </a:rPr>
                        <a:t>A Renewal notification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FR-RN-002, FR-RN-041, FR-RN-021, FR-RN-026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whole renewal and the actions possible now.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graphicFrame>
        <p:nvGraphicFramePr>
          <p:cNvPr id="9" name="Table 8"/>
          <p:cNvGraphicFramePr>
            <a:graphicFrameLocks noGrp="1"/>
          </p:cNvGraphicFramePr>
          <p:nvPr/>
        </p:nvGraphicFramePr>
        <p:xfrm>
          <a:off x="548640" y="1325880"/>
          <a:ext cx="11094411" cy="45795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Client, ARN chip, status pill, classification pill, disposition tag, flags</a:t>
                      </a:r>
                    </a:p>
                  </a:txBody>
                  <a:tcPr marL="54864" marR="54864" marT="27432" marB="27432">
                    <a:solidFill>
                      <a:srgbClr val="FFFFFF"/>
                    </a:solidFill>
                  </a:tcPr>
                </a:tc>
                <a:tc>
                  <a:txBody>
                    <a:bodyPr/>
                    <a:lstStyle/>
                    <a:p>
                      <a:r>
                        <a:rPr sz="850" b="0">
                          <a:solidFill>
                            <a:srgbClr val="4B4B4B"/>
                          </a:solidFill>
                          <a:latin typeface="Arial"/>
                        </a:rPr>
                        <a:t>Reference chip, pills, tags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Client / Product / Insurer / Expiry / Gross premium / Unit</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Names; expiry dd-MMM-yyyy with the days left; amount with the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Blocking checks</a:t>
                      </a:r>
                    </a:p>
                  </a:txBody>
                  <a:tcPr marL="54864" marR="54864" marT="27432" marB="27432">
                    <a:solidFill>
                      <a:srgbClr val="FFFFFF"/>
                    </a:solidFill>
                  </a:tcPr>
                </a:tc>
                <a:tc>
                  <a:txBody>
                    <a:bodyPr/>
                    <a:lstStyle/>
                    <a:p>
                      <a:r>
                        <a:rPr sz="850" b="0">
                          <a:solidFill>
                            <a:srgbClr val="4B4B4B"/>
                          </a:solidFill>
                          <a:latin typeface="Arial"/>
                        </a:rPr>
                        <a:t>Amber notice with the failed checks</a:t>
                      </a:r>
                    </a:p>
                  </a:txBody>
                  <a:tcPr marL="54864" marR="54864" marT="27432" marB="27432">
                    <a:solidFill>
                      <a:srgbClr val="FFFFFF"/>
                    </a:solidFill>
                  </a:tcPr>
                </a:tc>
                <a:tc>
                  <a:txBody>
                    <a:bodyPr/>
                    <a:lstStyle/>
                    <a:p>
                      <a:r>
                        <a:rPr sz="850" b="0">
                          <a:solidFill>
                            <a:srgbClr val="4B4B4B"/>
                          </a:solidFill>
                          <a:latin typeface="Arial"/>
                        </a:rPr>
                        <a:t>Notice</a:t>
                      </a:r>
                    </a:p>
                  </a:txBody>
                  <a:tcPr marL="54864" marR="54864" marT="27432" marB="27432">
                    <a:solidFill>
                      <a:srgbClr val="FFFFFF"/>
                    </a:solidFill>
                  </a:tcPr>
                </a:tc>
                <a:tc>
                  <a:txBody>
                    <a:bodyPr/>
                    <a:lstStyle/>
                    <a:p>
                      <a:r>
                        <a:rPr sz="850" b="0">
                          <a:solidFill>
                            <a:srgbClr val="4B4B4B"/>
                          </a:solidFill>
                          <a:latin typeface="Arial"/>
                        </a:rPr>
                        <a:t>One bullet per failed blocking check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Renewal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The stages of the renewal with Current Stage, Since, Due and Assigned To and the history table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 tab: Expiring account</a:t>
                      </a:r>
                    </a:p>
                  </a:txBody>
                  <a:tcPr marL="54864" marR="54864" marT="27432" marB="27432">
                    <a:solidFill>
                      <a:srgbClr val="FFFFFF"/>
                    </a:solidFill>
                  </a:tcPr>
                </a:tc>
                <a:tc>
                  <a:txBody>
                    <a:bodyPr/>
                    <a:lstStyle/>
                    <a:p>
                      <a:r>
                        <a:rPr sz="850" b="0">
                          <a:solidFill>
                            <a:srgbClr val="4B4B4B"/>
                          </a:solidFill>
                          <a:latin typeface="Arial"/>
                        </a:rPr>
                        <a:t>Source / ARN / Invoice / Policy No. / Cover No. / Product / Line / Insurance Company / Inception / Expiry / PN No. / Mortgaged / Legacy package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of the product, line and insurer; dates 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 tab: Client and officers</a:t>
                      </a:r>
                    </a:p>
                  </a:txBody>
                  <a:tcPr marL="54864" marR="54864" marT="27432" marB="27432">
                    <a:solidFill>
                      <a:srgbClr val="E5F5FF"/>
                    </a:solidFill>
                  </a:tcPr>
                </a:tc>
                <a:tc>
                  <a:txBody>
                    <a:bodyPr/>
                    <a:lstStyle/>
                    <a:p>
                      <a:r>
                        <a:rPr sz="850" b="0">
                          <a:solidFill>
                            <a:srgbClr val="4B4B4B"/>
                          </a:solidFill>
                          <a:latin typeface="Arial"/>
                        </a:rPr>
                        <a:t>Client / Assured / Segment / Business Origin / Account Type / Branch / Region / Department / Owner Unit / Unit Head / Account Officer / Processing Officer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Names of the units and users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 tab: Amounts</a:t>
                      </a:r>
                    </a:p>
                  </a:txBody>
                  <a:tcPr marL="54864" marR="54864" marT="27432" marB="27432">
                    <a:solidFill>
                      <a:srgbClr val="FFFFFF"/>
                    </a:solidFill>
                  </a:tcPr>
                </a:tc>
                <a:tc>
                  <a:txBody>
                    <a:bodyPr/>
                    <a:lstStyle/>
                    <a:p>
                      <a:r>
                        <a:rPr sz="850" b="0">
                          <a:solidFill>
                            <a:srgbClr val="4B4B4B"/>
                          </a:solidFill>
                          <a:latin typeface="Arial"/>
                        </a:rPr>
                        <a:t>Currency / Basic Premium / Gross Premium / Sum Insured / Premium Rate / Commission Rate / Outstanding / Claims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Two decimals; rates as keyed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Details tab: Renewal</a:t>
                      </a:r>
                    </a:p>
                  </a:txBody>
                  <a:tcPr marL="54864" marR="54864" marT="27432" marB="27432">
                    <a:solidFill>
                      <a:srgbClr val="E5F5FF"/>
                    </a:solidFill>
                  </a:tcPr>
                </a:tc>
                <a:tc>
                  <a:txBody>
                    <a:bodyPr/>
                    <a:lstStyle/>
                    <a:p>
                      <a:r>
                        <a:rPr sz="850" b="0">
                          <a:solidFill>
                            <a:srgbClr val="4B4B4B"/>
                          </a:solidFill>
                          <a:latin typeface="Arial"/>
                        </a:rPr>
                        <a:t>Disposition / Reason / Proposed by the matrix / Renewal ARN / Quotation / Proposal / Renewed Invoice / Initiated / Closed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Labels; the officer's name; 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25880"/>
          <a:ext cx="11094412" cy="140207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Details PDF</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account details of the renewal as a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Actions of the stage</a:t>
                      </a:r>
                    </a:p>
                  </a:txBody>
                  <a:tcPr marL="54864" marR="54864" marT="27432" marB="27432">
                    <a:solidFill>
                      <a:srgbClr val="E5F5FF"/>
                    </a:solidFill>
                  </a:tcPr>
                </a:tc>
                <a:tc>
                  <a:txBody>
                    <a:bodyPr/>
                    <a:lstStyle/>
                    <a:p>
                      <a:r>
                        <a:rPr sz="850" b="0">
                          <a:solidFill>
                            <a:srgbClr val="4B4B4B"/>
                          </a:solidFill>
                          <a:latin typeface="Arial"/>
                        </a:rPr>
                        <a:t>By stage and permission</a:t>
                      </a:r>
                    </a:p>
                  </a:txBody>
                  <a:tcPr marL="54864" marR="54864" marT="27432" marB="27432">
                    <a:solidFill>
                      <a:srgbClr val="E5F5FF"/>
                    </a:solidFill>
                  </a:tcPr>
                </a:tc>
                <a:tc>
                  <a:txBody>
                    <a:bodyPr/>
                    <a:lstStyle/>
                    <a:p>
                      <a:r>
                        <a:rPr sz="850" b="0">
                          <a:solidFill>
                            <a:srgbClr val="4B4B4B"/>
                          </a:solidFill>
                          <a:latin typeface="Arial"/>
                        </a:rPr>
                        <a:t>The renewal is in the stage</a:t>
                      </a:r>
                    </a:p>
                  </a:txBody>
                  <a:tcPr marL="54864" marR="54864" marT="27432" marB="27432">
                    <a:solidFill>
                      <a:srgbClr val="E5F5FF"/>
                    </a:solidFill>
                  </a:tcPr>
                </a:tc>
                <a:tc>
                  <a:txBody>
                    <a:bodyPr/>
                    <a:lstStyle/>
                    <a:p>
                      <a:r>
                        <a:rPr sz="850" b="0">
                          <a:solidFill>
                            <a:srgbClr val="4B4B4B"/>
                          </a:solidFill>
                          <a:latin typeface="Arial"/>
                        </a:rPr>
                        <a:t>Set Disposition, Push, Start Quotation / Proposal, Create Renewal Account, Record Insurer Response, Record Acceptance, Add Follow-up, Add Remark, Propose Package, Re-open (SCR-RN-07, SCR-RN-12, SCR-RN-14, SCR-RN-15, SCR-RN-19)</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Renewal Account</a:t>
                      </a:r>
                    </a:p>
                  </a:txBody>
                  <a:tcPr marL="54864" marR="54864" marT="27432" marB="27432">
                    <a:solidFill>
                      <a:srgbClr val="FFFFFF"/>
                    </a:solidFill>
                  </a:tcPr>
                </a:tc>
                <a:tc>
                  <a:txBody>
                    <a:bodyPr/>
                    <a:lstStyle/>
                    <a:p>
                      <a:r>
                        <a:rPr sz="850" b="0">
                          <a:solidFill>
                            <a:srgbClr val="4B4B4B"/>
                          </a:solidFill>
                          <a:latin typeface="Arial"/>
                        </a:rPr>
                        <a:t>Every Renewal user</a:t>
                      </a:r>
                    </a:p>
                  </a:txBody>
                  <a:tcPr marL="54864" marR="54864" marT="27432" marB="27432">
                    <a:solidFill>
                      <a:srgbClr val="FFFFFF"/>
                    </a:solidFill>
                  </a:tcPr>
                </a:tc>
                <a:tc>
                  <a:txBody>
                    <a:bodyPr/>
                    <a:lstStyle/>
                    <a:p>
                      <a:r>
                        <a:rPr sz="850" b="0">
                          <a:solidFill>
                            <a:srgbClr val="4B4B4B"/>
                          </a:solidFill>
                          <a:latin typeface="Arial"/>
                        </a:rPr>
                        <a:t>The renewal account exists</a:t>
                      </a:r>
                    </a:p>
                  </a:txBody>
                  <a:tcPr marL="54864" marR="54864" marT="27432" marB="27432">
                    <a:solidFill>
                      <a:srgbClr val="FFFFFF"/>
                    </a:solidFill>
                  </a:tcPr>
                </a:tc>
                <a:tc>
                  <a:txBody>
                    <a:bodyPr/>
                    <a:lstStyle/>
                    <a:p>
                      <a:r>
                        <a:rPr sz="850" b="0">
                          <a:solidFill>
                            <a:srgbClr val="4B4B4B"/>
                          </a:solidFill>
                          <a:latin typeface="Arial"/>
                        </a:rPr>
                        <a:t>Opens the renewal account in New Business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user sees the renewals of the scope of the role; LAMD and Contact Center users see the renewal without the premium amounts (FR-RN-002, FR-RN-041).</a:t>
                      </a:r>
                    </a:p>
                  </a:txBody>
                  <a:tcPr marL="54864" marR="54864" marT="27432" marB="27432">
                    <a:solidFill>
                      <a:srgbClr val="FFFFFF"/>
                    </a:solidFill>
                  </a:tcPr>
                </a:tc>
              </a:tr>
              <a:tr h="243840">
                <a:tc>
                  <a:txBody>
                    <a:bodyPr/>
                    <a:lstStyle/>
                    <a:p>
                      <a:r>
                        <a:rPr sz="1000" b="0">
                          <a:solidFill>
                            <a:srgbClr val="4B4B4B"/>
                          </a:solidFill>
                          <a:latin typeface="Arial"/>
                        </a:rPr>
                        <a:t>A renewal locks on the Marketing side when its Renewal Advice is generated (FR-RN-080).</a:t>
                      </a:r>
                    </a:p>
                  </a:txBody>
                  <a:tcPr marL="54864" marR="54864" marT="27432" marB="27432">
                    <a:solidFill>
                      <a:srgbClr val="E5F5FF"/>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renewal in review: header, flags, workflow header and the Details tab (part 1 of 4)</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8.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renewal in review: header, flags, workflow header and the Details tab (part 2 of 4)</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renewal in review: header, flags, workflow header and the Details tab (part 3 of 4)</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0.png"/>
          <p:cNvPicPr>
            <a:picLocks noChangeAspect="1"/>
          </p:cNvPicPr>
          <p:nvPr/>
        </p:nvPicPr>
        <p:blipFill>
          <a:blip r:embed="rId3"/>
          <a:stretch>
            <a:fillRect/>
          </a:stretch>
        </p:blipFill>
        <p:spPr>
          <a:xfrm>
            <a:off x="548640" y="1261872"/>
            <a:ext cx="11094415" cy="24484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renewal in review: header, flags, workflow header and the Details tab (part 4 of 4)</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renewal as the Auditor sees it, without the actions (part 1 of 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2.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renewal as the Auditor sees it, without the actions (part 2 of 4)</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renewal as the Auditor sees it, without the actions (part 3 of 4)</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SCR-RN-03 Renewal: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4.png"/>
          <p:cNvPicPr>
            <a:picLocks noChangeAspect="1"/>
          </p:cNvPicPr>
          <p:nvPr/>
        </p:nvPicPr>
        <p:blipFill>
          <a:blip r:embed="rId3"/>
          <a:stretch>
            <a:fillRect/>
          </a:stretch>
        </p:blipFill>
        <p:spPr>
          <a:xfrm>
            <a:off x="548640" y="1261872"/>
            <a:ext cx="11094415" cy="24484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renewal as the Auditor sees it, without the actions (part 4 of 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SCR-RN-04 Renewal: Checks, Account History and Computations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expiry list and the renewal record</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tabs the officers read before the disposition and the processing: the results of the sanitation checks with the classification history and the endorsements linked; the account history (prior renewals, endorsements, payments and claims), whose viewing is recorded and required before the disposition; the expiring and renewal terms side by side.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Expiry List › Renewal</a:t>
                      </a:r>
                    </a:p>
                    <a:p>
                      <a:r>
                        <a:rPr sz="950" b="0">
                          <a:solidFill>
                            <a:srgbClr val="4B4B4B"/>
                          </a:solidFill>
                          <a:latin typeface="Arial"/>
                        </a:rPr>
                        <a:t>Renewal › Checks, Account History or Computations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FR-RN-020, FR-RN-022, FR-RN-027, FR-RN-042, FR-RN-064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officer gives the disposition knowing the history and the checks of the account.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graphicFrame>
        <p:nvGraphicFramePr>
          <p:cNvPr id="9" name="Table 8"/>
          <p:cNvGraphicFramePr>
            <a:graphicFrameLocks noGrp="1"/>
          </p:cNvGraphicFramePr>
          <p:nvPr/>
        </p:nvGraphicFramePr>
        <p:xfrm>
          <a:off x="548640" y="1325880"/>
          <a:ext cx="11094411" cy="323086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Check results</a:t>
                      </a:r>
                    </a:p>
                  </a:txBody>
                  <a:tcPr marL="54864" marR="54864" marT="27432" marB="27432">
                    <a:solidFill>
                      <a:srgbClr val="FFFFFF"/>
                    </a:solidFill>
                  </a:tcPr>
                </a:tc>
                <a:tc>
                  <a:txBody>
                    <a:bodyPr/>
                    <a:lstStyle/>
                    <a:p>
                      <a:r>
                        <a:rPr sz="850" b="0">
                          <a:solidFill>
                            <a:srgbClr val="4B4B4B"/>
                          </a:solidFill>
                          <a:latin typeface="Arial"/>
                        </a:rPr>
                        <a:t>Check / Result / Severity / Message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check; Pass, Warning, Fail, Information or Not applicable; severity as on Renewal Setup; the finding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checks have not run yet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Classification history</a:t>
                      </a:r>
                    </a:p>
                  </a:txBody>
                  <a:tcPr marL="54864" marR="54864" marT="27432" marB="27432">
                    <a:solidFill>
                      <a:srgbClr val="E5F5FF"/>
                    </a:solidFill>
                  </a:tcPr>
                </a:tc>
                <a:tc>
                  <a:txBody>
                    <a:bodyPr/>
                    <a:lstStyle/>
                    <a:p>
                      <a:r>
                        <a:rPr sz="850" b="0">
                          <a:solidFill>
                            <a:srgbClr val="4B4B4B"/>
                          </a:solidFill>
                          <a:latin typeface="Arial"/>
                        </a:rPr>
                        <a:t>When / From / To / Cause / Remarks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 classification pills; Classification rules or Override;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classification yet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Endorsements linked</a:t>
                      </a:r>
                    </a:p>
                  </a:txBody>
                  <a:tcPr marL="54864" marR="54864" marT="27432" marB="27432">
                    <a:solidFill>
                      <a:srgbClr val="FFFFFF"/>
                    </a:solidFill>
                  </a:tcPr>
                </a:tc>
                <a:tc>
                  <a:txBody>
                    <a:bodyPr/>
                    <a:lstStyle/>
                    <a:p>
                      <a:r>
                        <a:rPr sz="850" b="0">
                          <a:solidFill>
                            <a:srgbClr val="4B4B4B"/>
                          </a:solidFill>
                          <a:latin typeface="Arial"/>
                        </a:rPr>
                        <a:t>Reference / Source / Status / Linked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endorsements of the term of the expiring policy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endorsements in the term</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Account History</a:t>
                      </a:r>
                    </a:p>
                  </a:txBody>
                  <a:tcPr marL="54864" marR="54864" marT="27432" marB="27432">
                    <a:solidFill>
                      <a:srgbClr val="E5F5FF"/>
                    </a:solidFill>
                  </a:tcPr>
                </a:tc>
                <a:tc>
                  <a:txBody>
                    <a:bodyPr/>
                    <a:lstStyle/>
                    <a:p>
                      <a:r>
                        <a:rPr sz="850" b="0">
                          <a:solidFill>
                            <a:srgbClr val="4B4B4B"/>
                          </a:solidFill>
                          <a:latin typeface="Arial"/>
                        </a:rPr>
                        <a:t>View Account History</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Records that the officer read the history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 History</a:t>
                      </a:r>
                    </a:p>
                  </a:txBody>
                  <a:tcPr marL="54864" marR="54864" marT="27432" marB="27432">
                    <a:solidFill>
                      <a:srgbClr val="FFFFFF"/>
                    </a:solidFill>
                  </a:tcPr>
                </a:tc>
                <a:tc>
                  <a:txBody>
                    <a:bodyPr/>
                    <a:lstStyle/>
                    <a:p>
                      <a:r>
                        <a:rPr sz="850" b="0">
                          <a:solidFill>
                            <a:srgbClr val="4B4B4B"/>
                          </a:solidFill>
                          <a:latin typeface="Arial"/>
                        </a:rPr>
                        <a:t>Prior renewals / Endorsements / Payments / Claims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Renewal, Expiry, Expiring / Renewal ARN, Outcome; Invoice, Kind, Endorsement, Booked, Gross Premium; Invoice, Value date, Type, Component, OR No., Amount; the claims 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prior renewals</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Computations</a:t>
                      </a:r>
                    </a:p>
                  </a:txBody>
                  <a:tcPr marL="54864" marR="54864" marT="27432" marB="27432">
                    <a:solidFill>
                      <a:srgbClr val="E5F5FF"/>
                    </a:solidFill>
                  </a:tcPr>
                </a:tc>
                <a:tc>
                  <a:txBody>
                    <a:bodyPr/>
                    <a:lstStyle/>
                    <a:p>
                      <a:r>
                        <a:rPr sz="850" b="0">
                          <a:solidFill>
                            <a:srgbClr val="4B4B4B"/>
                          </a:solidFill>
                          <a:latin typeface="Arial"/>
                        </a:rPr>
                        <a:t>Expiring / Renewal</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Currency, Net Premium, Charges, Gross Premium, Sum Insured, Commission Rate, Commission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View Account History</a:t>
                      </a:r>
                    </a:p>
                  </a:txBody>
                  <a:tcPr marL="54864" marR="54864" marT="27432" marB="27432">
                    <a:solidFill>
                      <a:srgbClr val="FFFFFF"/>
                    </a:solidFill>
                  </a:tcPr>
                </a:tc>
                <a:tc>
                  <a:txBody>
                    <a:bodyPr/>
                    <a:lstStyle/>
                    <a:p>
                      <a:r>
                        <a:rPr sz="850" b="0">
                          <a:solidFill>
                            <a:srgbClr val="4B4B4B"/>
                          </a:solidFill>
                          <a:latin typeface="Arial"/>
                        </a:rPr>
                        <a:t>Every Renewal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history and records that it was viewed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disposition is refused until the officer has opened the account history of the renewal (FR-RN-042).</a:t>
                      </a:r>
                    </a:p>
                  </a:txBody>
                  <a:tcPr marL="54864" marR="54864" marT="27432" marB="27432">
                    <a:solidFill>
                      <a:srgbClr val="FFFFFF"/>
                    </a:solidFill>
                  </a:tcPr>
                </a:tc>
              </a:tr>
              <a:tr h="243840">
                <a:tc>
                  <a:txBody>
                    <a:bodyPr/>
                    <a:lstStyle/>
                    <a:p>
                      <a:r>
                        <a:rPr sz="1000" b="0">
                          <a:solidFill>
                            <a:srgbClr val="4B4B4B"/>
                          </a:solidFill>
                          <a:latin typeface="Arial"/>
                        </a:rPr>
                        <a:t>A failed check never gives the Clean classification; the classification follows the active classification rules (FR-RN-020, FR-RN-022).</a:t>
                      </a:r>
                    </a:p>
                  </a:txBody>
                  <a:tcPr marL="54864" marR="54864" marT="27432" marB="27432">
                    <a:solidFill>
                      <a:srgbClr val="E5F5FF"/>
                    </a:solidFill>
                  </a:tcPr>
                </a:tc>
              </a:tr>
              <a:tr h="243840">
                <a:tc>
                  <a:txBody>
                    <a:bodyPr/>
                    <a:lstStyle/>
                    <a:p>
                      <a:r>
                        <a:rPr sz="1000" b="0">
                          <a:solidFill>
                            <a:srgbClr val="4B4B4B"/>
                          </a:solidFill>
                          <a:latin typeface="Arial"/>
                        </a:rPr>
                        <a:t>A pending endorsement of the expiring policy fails its check until it is posted or cancelled (FR-RN-027).</a:t>
                      </a:r>
                    </a:p>
                  </a:txBody>
                  <a:tcPr marL="54864" marR="54864" marT="27432" marB="27432">
                    <a:solidFill>
                      <a:srgbClr val="FFFFFF"/>
                    </a:solidFill>
                  </a:tcPr>
                </a:tc>
              </a:tr>
              <a:tr h="243840">
                <a:tc>
                  <a:txBody>
                    <a:bodyPr/>
                    <a:lstStyle/>
                    <a:p>
                      <a:r>
                        <a:rPr sz="1000" b="0">
                          <a:solidFill>
                            <a:srgbClr val="4B4B4B"/>
                          </a:solidFill>
                          <a:latin typeface="Arial"/>
                        </a:rPr>
                        <a:t>A difference between the renewal and the expiring terms beyond the tolerance is a financial impact (FR-RN-064).</a:t>
                      </a:r>
                    </a:p>
                  </a:txBody>
                  <a:tcPr marL="54864" marR="54864" marT="27432" marB="27432">
                    <a:solidFill>
                      <a:srgbClr val="E5F5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renewal, tab Account History, and clicks View Account History</a:t>
                      </a:r>
                    </a:p>
                  </a:txBody>
                  <a:tcPr marL="54864" marR="54864" marT="27432" marB="27432">
                    <a:solidFill>
                      <a:srgbClr val="FFFFFF"/>
                    </a:solidFill>
                  </a:tcPr>
                </a:tc>
                <a:tc>
                  <a:txBody>
                    <a:bodyPr/>
                    <a:lstStyle/>
                    <a:p>
                      <a:r>
                        <a:rPr sz="900" b="0">
                          <a:solidFill>
                            <a:srgbClr val="4B4B4B"/>
                          </a:solidFill>
                          <a:latin typeface="Arial"/>
                        </a:rPr>
                        <a:t>SCR-RN-04_wt-a-step-03.png</a:t>
                      </a:r>
                    </a:p>
                  </a:txBody>
                  <a:tcPr marL="54864" marR="54864" marT="27432" marB="27432">
                    <a:solidFill>
                      <a:srgbClr val="FFFF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tab: the result of each check, the classification history and the endorsements (part 1 of 4)</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6.png"/>
          <p:cNvPicPr>
            <a:picLocks noChangeAspect="1"/>
          </p:cNvPicPr>
          <p:nvPr/>
        </p:nvPicPr>
        <p:blipFill>
          <a:blip r:embed="rId3"/>
          <a:stretch>
            <a:fillRect/>
          </a:stretch>
        </p:blipFill>
        <p:spPr>
          <a:xfrm>
            <a:off x="548640" y="1261872"/>
            <a:ext cx="11094415" cy="45238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tab: the result of each check, the classification history and the endorsements (part 2 of 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tab: the result of each check, the classification history and the endorsements (part 3 of 4)</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8.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tab: the result of each check, the classification history and the endorsements (part 4 of 4)</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History tab after View Account History: prior renewals, endorsements, payments and claims (part 1 of 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0.png"/>
          <p:cNvPicPr>
            <a:picLocks noChangeAspect="1"/>
          </p:cNvPicPr>
          <p:nvPr/>
        </p:nvPicPr>
        <p:blipFill>
          <a:blip r:embed="rId3"/>
          <a:stretch>
            <a:fillRect/>
          </a:stretch>
        </p:blipFill>
        <p:spPr>
          <a:xfrm>
            <a:off x="548640" y="1261872"/>
            <a:ext cx="11094415" cy="40551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History tab after View Account History: prior renewals, endorsements, payments and claims (part 2 of 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History tab after View Account History: prior renewals, endorsements, payments and claims (part 3 of 4)</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History tab after View Account History: prior renewals, endorsements, payments and claims (part 4 of 4)</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Computations tab: the expiring terms and the renewal terms (part 1 of 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4.png"/>
          <p:cNvPicPr>
            <a:picLocks noChangeAspect="1"/>
          </p:cNvPicPr>
          <p:nvPr/>
        </p:nvPicPr>
        <p:blipFill>
          <a:blip r:embed="rId3"/>
          <a:stretch>
            <a:fillRect/>
          </a:stretch>
        </p:blipFill>
        <p:spPr>
          <a:xfrm>
            <a:off x="548640" y="1261872"/>
            <a:ext cx="11094415" cy="46290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Computations tab: the expiring terms and the renewal terms (part 2 of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SCR-RN-04 Renewal: Checks, Account History and Computations: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5.png"/>
          <p:cNvPicPr>
            <a:picLocks noChangeAspect="1"/>
          </p:cNvPicPr>
          <p:nvPr/>
        </p:nvPicPr>
        <p:blipFill>
          <a:blip r:embed="rId3"/>
          <a:stretch>
            <a:fillRect/>
          </a:stretch>
        </p:blipFill>
        <p:spPr>
          <a:xfrm>
            <a:off x="548640" y="1261872"/>
            <a:ext cx="11094415" cy="21519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Computations tab: the expiring terms and the renewal terms (part 3 of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expiry list and the renewal record</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tabs that keep the record of the renewal: the insurer responses (append-only, the latest valid one drives the renewal), the letters with their delivery and the acceptance, the documents of the renewal, the remarks and the Contact Center follow-ups, and the history of dispositions, assignments and overrides.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Expiry List › Renewal</a:t>
                      </a:r>
                    </a:p>
                    <a:p>
                      <a:r>
                        <a:rPr sz="950" b="0">
                          <a:solidFill>
                            <a:srgbClr val="4B4B4B"/>
                          </a:solidFill>
                          <a:latin typeface="Arial"/>
                        </a:rPr>
                        <a:t>Renewal › Insurer, Letters, Documents, Remarks &amp; Follow-ups or History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FR-RN-004, FR-RN-044, FR-RN-071, FR-RN-080, FR-RN-084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renewal keeps its full history for review and audit.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25880"/>
          <a:ext cx="11094411" cy="45414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Insurer responses</a:t>
                      </a:r>
                    </a:p>
                  </a:txBody>
                  <a:tcPr marL="54864" marR="54864" marT="27432" marB="27432">
                    <a:solidFill>
                      <a:srgbClr val="FFFFFF"/>
                    </a:solidFill>
                  </a:tcPr>
                </a:tc>
                <a:tc>
                  <a:txBody>
                    <a:bodyPr/>
                    <a:lstStyle/>
                    <a:p>
                      <a:r>
                        <a:rPr sz="850" b="0">
                          <a:solidFill>
                            <a:srgbClr val="4B4B4B"/>
                          </a:solidFill>
                          <a:latin typeface="Arial"/>
                        </a:rPr>
                        <a:t>Received / Response / Insurer Ref / Revised Premium / Revised Sum Insured / Match / Used / Source /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Renew as is, Renew with revised terms or Declined; two decimals; Matched or the mismatch; Latest valid or Late; Manual or the upload; the user's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response from the insurer</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Letters</a:t>
                      </a:r>
                    </a:p>
                  </a:txBody>
                  <a:tcPr marL="54864" marR="54864" marT="27432" marB="27432">
                    <a:solidFill>
                      <a:srgbClr val="E5F5FF"/>
                    </a:solidFill>
                  </a:tcPr>
                </a:tc>
                <a:tc>
                  <a:txBody>
                    <a:bodyPr/>
                    <a:lstStyle/>
                    <a:p>
                      <a:r>
                        <a:rPr sz="850" b="0">
                          <a:solidFill>
                            <a:srgbClr val="4B4B4B"/>
                          </a:solidFill>
                          <a:latin typeface="Arial"/>
                        </a:rPr>
                        <a:t>Letter / Type / Status / Generated / Sent / Recipients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Letter number; Renewal Advice with its notice, No Advice Letter, Not for Renewal Letter; status pill; dd-MMM-yyyy HH:mm; e-mail addresses or the failure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letters</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Acceptance</a:t>
                      </a:r>
                    </a:p>
                  </a:txBody>
                  <a:tcPr marL="54864" marR="54864" marT="27432" marB="27432">
                    <a:solidFill>
                      <a:srgbClr val="FFFFFF"/>
                    </a:solidFill>
                  </a:tcPr>
                </a:tc>
                <a:tc>
                  <a:txBody>
                    <a:bodyPr/>
                    <a:lstStyle/>
                    <a:p>
                      <a:r>
                        <a:rPr sz="850" b="0">
                          <a:solidFill>
                            <a:srgbClr val="4B4B4B"/>
                          </a:solidFill>
                          <a:latin typeface="Arial"/>
                        </a:rPr>
                        <a:t>Accepted on / Method / Reference / Financial impact acknowledged /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E-mail from the client, Signed Renewal Advice or Payment; Yes or No; the user's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acceptance recorded</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Documents</a:t>
                      </a:r>
                    </a:p>
                  </a:txBody>
                  <a:tcPr marL="54864" marR="54864" marT="27432" marB="27432">
                    <a:solidFill>
                      <a:srgbClr val="E5F5FF"/>
                    </a:solidFill>
                  </a:tcPr>
                </a:tc>
                <a:tc>
                  <a:txBody>
                    <a:bodyPr/>
                    <a:lstStyle/>
                    <a:p>
                      <a:r>
                        <a:rPr sz="850" b="0">
                          <a:solidFill>
                            <a:srgbClr val="4B4B4B"/>
                          </a:solidFill>
                          <a:latin typeface="Arial"/>
                        </a:rPr>
                        <a:t>Documents of the renewal</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Type, file, uploaded by and when;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When / By / Stage / Remark</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 the user's name; stage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remarks</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Follow-ups</a:t>
                      </a:r>
                    </a:p>
                  </a:txBody>
                  <a:tcPr marL="54864" marR="54864" marT="27432" marB="27432">
                    <a:solidFill>
                      <a:srgbClr val="E5F5FF"/>
                    </a:solidFill>
                  </a:tcPr>
                </a:tc>
                <a:tc>
                  <a:txBody>
                    <a:bodyPr/>
                    <a:lstStyle/>
                    <a:p>
                      <a:r>
                        <a:rPr sz="850" b="0">
                          <a:solidFill>
                            <a:srgbClr val="4B4B4B"/>
                          </a:solidFill>
                          <a:latin typeface="Arial"/>
                        </a:rPr>
                        <a:t>When / Channel / Outcome / Remarks / Next action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Labels of the follow-up channel and outcome;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follow-ups</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History: Dispositions</a:t>
                      </a:r>
                    </a:p>
                  </a:txBody>
                  <a:tcPr marL="54864" marR="54864" marT="27432" marB="27432">
                    <a:solidFill>
                      <a:srgbClr val="FFFFFF"/>
                    </a:solidFill>
                  </a:tcPr>
                </a:tc>
                <a:tc>
                  <a:txBody>
                    <a:bodyPr/>
                    <a:lstStyle/>
                    <a:p>
                      <a:r>
                        <a:rPr sz="850" b="0">
                          <a:solidFill>
                            <a:srgbClr val="4B4B4B"/>
                          </a:solidFill>
                          <a:latin typeface="Arial"/>
                        </a:rPr>
                        <a:t>When / Disposition / Reason / Source / Remarks / Current /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Labels; User, System check, Decision matrix, Upload, Insurer response or LAMD report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dispositions</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History: Assignments</a:t>
                      </a:r>
                    </a:p>
                  </a:txBody>
                  <a:tcPr marL="54864" marR="54864" marT="27432" marB="27432">
                    <a:solidFill>
                      <a:srgbClr val="E5F5FF"/>
                    </a:solidFill>
                  </a:tcPr>
                </a:tc>
                <a:tc>
                  <a:txBody>
                    <a:bodyPr/>
                    <a:lstStyle/>
                    <a:p>
                      <a:r>
                        <a:rPr sz="850" b="0">
                          <a:solidFill>
                            <a:srgbClr val="4B4B4B"/>
                          </a:solidFill>
                          <a:latin typeface="Arial"/>
                        </a:rPr>
                        <a:t>When / Role / Assigned to / Previous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Account Officer or Processing Officer; users'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assignments</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History: Overrides</a:t>
                      </a:r>
                    </a:p>
                  </a:txBody>
                  <a:tcPr marL="54864" marR="54864" marT="27432" marB="27432">
                    <a:solidFill>
                      <a:srgbClr val="FFFFFF"/>
                    </a:solidFill>
                  </a:tcPr>
                </a:tc>
                <a:tc>
                  <a:txBody>
                    <a:bodyPr/>
                    <a:lstStyle/>
                    <a:p>
                      <a:r>
                        <a:rPr sz="850" b="0">
                          <a:solidFill>
                            <a:srgbClr val="4B4B4B"/>
                          </a:solidFill>
                          <a:latin typeface="Arial"/>
                        </a:rPr>
                        <a:t>When / Override / Change / Reason / Remarks /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What was overridden; the change in words (Review to Clean); the override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overrides</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PDF (row menu)</a:t>
                      </a:r>
                    </a:p>
                  </a:txBody>
                  <a:tcPr marL="54864" marR="54864" marT="27432" marB="27432">
                    <a:solidFill>
                      <a:srgbClr val="FFFFFF"/>
                    </a:solidFill>
                  </a:tcPr>
                </a:tc>
                <a:tc>
                  <a:txBody>
                    <a:bodyPr/>
                    <a:lstStyle/>
                    <a:p>
                      <a:r>
                        <a:rPr sz="850" b="0">
                          <a:solidFill>
                            <a:srgbClr val="4B4B4B"/>
                          </a:solidFill>
                          <a:latin typeface="Arial"/>
                        </a:rPr>
                        <a:t>Every Renewal user</a:t>
                      </a:r>
                    </a:p>
                  </a:txBody>
                  <a:tcPr marL="54864" marR="54864" marT="27432" marB="27432">
                    <a:solidFill>
                      <a:srgbClr val="FFFFFF"/>
                    </a:solidFill>
                  </a:tcPr>
                </a:tc>
                <a:tc>
                  <a:txBody>
                    <a:bodyPr/>
                    <a:lstStyle/>
                    <a:p>
                      <a:r>
                        <a:rPr sz="850" b="0">
                          <a:solidFill>
                            <a:srgbClr val="4B4B4B"/>
                          </a:solidFill>
                          <a:latin typeface="Arial"/>
                        </a:rPr>
                        <a:t>The letter has its PDF</a:t>
                      </a:r>
                    </a:p>
                  </a:txBody>
                  <a:tcPr marL="54864" marR="54864" marT="27432" marB="27432">
                    <a:solidFill>
                      <a:srgbClr val="FFFFFF"/>
                    </a:solidFill>
                  </a:tcPr>
                </a:tc>
                <a:tc>
                  <a:txBody>
                    <a:bodyPr/>
                    <a:lstStyle/>
                    <a:p>
                      <a:r>
                        <a:rPr sz="850" b="0">
                          <a:solidFill>
                            <a:srgbClr val="4B4B4B"/>
                          </a:solidFill>
                          <a:latin typeface="Arial"/>
                        </a:rPr>
                        <a:t>Downloads the letter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action on a renewal is recorded with the user and the time; no user can change the history (FR-RN-004).</a:t>
                      </a:r>
                    </a:p>
                  </a:txBody>
                  <a:tcPr marL="54864" marR="54864" marT="27432" marB="27432">
                    <a:solidFill>
                      <a:srgbClr val="FFFFFF"/>
                    </a:solidFill>
                  </a:tcPr>
                </a:tc>
              </a:tr>
              <a:tr h="243840">
                <a:tc>
                  <a:txBody>
                    <a:bodyPr/>
                    <a:lstStyle/>
                    <a:p>
                      <a:r>
                        <a:rPr sz="1000" b="0">
                          <a:solidFill>
                            <a:srgbClr val="4B4B4B"/>
                          </a:solidFill>
                          <a:latin typeface="Arial"/>
                        </a:rPr>
                        <a:t>Insurer responses are kept; only the latest valid one drives the renewal (FR-RN-071).</a:t>
                      </a:r>
                    </a:p>
                  </a:txBody>
                  <a:tcPr marL="54864" marR="54864" marT="27432" marB="27432">
                    <a:solidFill>
                      <a:srgbClr val="E5F5FF"/>
                    </a:solidFill>
                  </a:tcPr>
                </a:tc>
              </a:tr>
              <a:tr h="243840">
                <a:tc>
                  <a:txBody>
                    <a:bodyPr/>
                    <a:lstStyle/>
                    <a:p>
                      <a:r>
                        <a:rPr sz="1000" b="0">
                          <a:solidFill>
                            <a:srgbClr val="4B4B4B"/>
                          </a:solidFill>
                          <a:latin typeface="Arial"/>
                        </a:rPr>
                        <a:t>Every disposition is kept; a new one supersedes the previous one (FR-RN-043).</a:t>
                      </a:r>
                    </a:p>
                  </a:txBody>
                  <a:tcPr marL="54864" marR="54864" marT="27432" marB="27432">
                    <a:solidFill>
                      <a:srgbClr val="FFFFFF"/>
                    </a:solidFill>
                  </a:tcPr>
                </a:tc>
              </a:tr>
            </a:tbl>
          </a:graphicData>
        </a:graphic>
      </p:graphicFrame>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tab Letters</a:t>
                      </a:r>
                    </a:p>
                  </a:txBody>
                  <a:tcPr marL="54864" marR="54864" marT="27432" marB="27432">
                    <a:solidFill>
                      <a:srgbClr val="FFFFFF"/>
                    </a:solidFill>
                  </a:tcPr>
                </a:tc>
                <a:tc>
                  <a:txBody>
                    <a:bodyPr/>
                    <a:lstStyle/>
                    <a:p>
                      <a:r>
                        <a:rPr sz="900" b="0">
                          <a:solidFill>
                            <a:srgbClr val="4B4B4B"/>
                          </a:solidFill>
                          <a:latin typeface="Arial"/>
                        </a:rPr>
                        <a:t>SCR-RN-05_wt-c-step-04.png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Opens the renewal, tab Letters</a:t>
                      </a:r>
                    </a:p>
                  </a:txBody>
                  <a:tcPr marL="54864" marR="54864" marT="27432" marB="27432">
                    <a:solidFill>
                      <a:srgbClr val="E5F5FF"/>
                    </a:solidFill>
                  </a:tcPr>
                </a:tc>
                <a:tc>
                  <a:txBody>
                    <a:bodyPr/>
                    <a:lstStyle/>
                    <a:p>
                      <a:r>
                        <a:rPr sz="900" b="0">
                          <a:solidFill>
                            <a:srgbClr val="4B4B4B"/>
                          </a:solidFill>
                          <a:latin typeface="Arial"/>
                        </a:rPr>
                        <a:t>SCR-RN-05_wt-d-step-04.png</a:t>
                      </a:r>
                    </a:p>
                  </a:txBody>
                  <a:tcPr marL="54864" marR="54864" marT="27432" marB="27432">
                    <a:solidFill>
                      <a:srgbClr val="E5F5FF"/>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Letters tab: the Renewal Advice sent to the client (part 1 of 3)</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Letters tab: the Renewal Advice sent to the client (part 2 of 3)</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8.png"/>
          <p:cNvPicPr>
            <a:picLocks noChangeAspect="1"/>
          </p:cNvPicPr>
          <p:nvPr/>
        </p:nvPicPr>
        <p:blipFill>
          <a:blip r:embed="rId3"/>
          <a:stretch>
            <a:fillRect/>
          </a:stretch>
        </p:blipFill>
        <p:spPr>
          <a:xfrm>
            <a:off x="548640" y="1261872"/>
            <a:ext cx="11094415" cy="28501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Letters tab: the Renewal Advice sent to the client (part 3 of 3)</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the dispositions, assignments and overrides of the renewal (part 1 of 3)</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the dispositions, assignments and overrides of the renewal (part 2 of 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SCR-RN-05 Renewal: Insurer, Letters, Documents, Remarks and History: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1.png"/>
          <p:cNvPicPr>
            <a:picLocks noChangeAspect="1"/>
          </p:cNvPicPr>
          <p:nvPr/>
        </p:nvPicPr>
        <p:blipFill>
          <a:blip r:embed="rId3"/>
          <a:stretch>
            <a:fillRect/>
          </a:stretch>
        </p:blipFill>
        <p:spPr>
          <a:xfrm>
            <a:off x="548640" y="1261872"/>
            <a:ext cx="11094415" cy="40934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the dispositions, assignments and overrides of the renewal (part 3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SCR-RN-06 My Dispositions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Marketing: disposition, review and transfers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renewals assigned to the Account Officer, by disposition, with quick filters for the renewals to disposition, returned to the officer, due in 30 days and with no response (NRNS). The officer opens a renewal to read its history and give the disposition, pushes the dispositioned renewals to the Team Leader and transfers one to another unit.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My Dispositions</a:t>
                      </a:r>
                    </a:p>
                    <a:p>
                      <a:r>
                        <a:rPr sz="950" b="0">
                          <a:solidFill>
                            <a:srgbClr val="4B4B4B"/>
                          </a:solidFill>
                          <a:latin typeface="Arial"/>
                        </a:rPr>
                        <a:t>Client &amp; Policy › Renewal › My Dispositions</a:t>
                      </a:r>
                    </a:p>
                    <a:p>
                      <a:r>
                        <a:rPr sz="950" b="0">
                          <a:solidFill>
                            <a:srgbClr val="4B4B4B"/>
                          </a:solidFill>
                          <a:latin typeface="Arial"/>
                        </a:rPr>
                        <a:t>Renewal Home › Returned</a:t>
                      </a:r>
                    </a:p>
                    <a:p>
                      <a:r>
                        <a:rPr sz="950" b="0">
                          <a:solidFill>
                            <a:srgbClr val="4B4B4B"/>
                          </a:solidFill>
                          <a:latin typeface="Arial"/>
                        </a:rPr>
                        <a:t>Notification Renewal assigned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FR-RN-040, FR-RN-045, FR-RN-046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officer works the assigned renewals and pushes them for review.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For Renewal / For Quotation / For Proposal / Not for Renewal / Lost Business / Exceptions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Quick filters</a:t>
                      </a:r>
                    </a:p>
                  </a:txBody>
                  <a:tcPr marL="54864" marR="54864" marT="27432" marB="27432">
                    <a:solidFill>
                      <a:srgbClr val="E5F5FF"/>
                    </a:solidFill>
                  </a:tcPr>
                </a:tc>
                <a:tc>
                  <a:txBody>
                    <a:bodyPr/>
                    <a:lstStyle/>
                    <a:p>
                      <a:r>
                        <a:rPr sz="850" b="0">
                          <a:solidFill>
                            <a:srgbClr val="4B4B4B"/>
                          </a:solidFill>
                          <a:latin typeface="Arial"/>
                        </a:rPr>
                        <a:t>To disposition / Returned to me / Due in 30 days / NRNS</a:t>
                      </a:r>
                    </a:p>
                  </a:txBody>
                  <a:tcPr marL="54864" marR="54864" marT="27432" marB="27432">
                    <a:solidFill>
                      <a:srgbClr val="E5F5FF"/>
                    </a:solidFill>
                  </a:tcPr>
                </a:tc>
                <a:tc>
                  <a:txBody>
                    <a:bodyPr/>
                    <a:lstStyle/>
                    <a:p>
                      <a:r>
                        <a:rPr sz="850" b="0">
                          <a:solidFill>
                            <a:srgbClr val="4B4B4B"/>
                          </a:solidFill>
                          <a:latin typeface="Arial"/>
                        </a:rPr>
                        <a:t>Toggle button</a:t>
                      </a:r>
                    </a:p>
                  </a:txBody>
                  <a:tcPr marL="54864" marR="54864" marT="27432" marB="27432">
                    <a:solidFill>
                      <a:srgbClr val="E5F5FF"/>
                    </a:solidFill>
                  </a:tcPr>
                </a:tc>
                <a:tc>
                  <a:txBody>
                    <a:bodyPr/>
                    <a:lstStyle/>
                    <a:p>
                      <a:r>
                        <a:rPr sz="850" b="0">
                          <a:solidFill>
                            <a:srgbClr val="4B4B4B"/>
                          </a:solidFill>
                          <a:latin typeface="Arial"/>
                        </a:rPr>
                        <a:t>One at a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Columns of the renewal lists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the Expiry List (SCR-RN-02), the renewals assigned to the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 assigned to you</a:t>
                      </a:r>
                    </a:p>
                  </a:txBody>
                  <a:tcPr marL="54864" marR="54864" marT="27432" marB="27432">
                    <a:solidFill>
                      <a:srgbClr val="FFFF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Push</a:t>
                      </a:r>
                    </a:p>
                  </a:txBody>
                  <a:tcPr marL="54864" marR="54864" marT="27432" marB="27432">
                    <a:solidFill>
                      <a:srgbClr val="FFFFFF"/>
                    </a:solidFill>
                  </a:tcPr>
                </a:tc>
                <a:tc>
                  <a:txBody>
                    <a:bodyPr/>
                    <a:lstStyle/>
                    <a:p>
                      <a:r>
                        <a:rPr sz="850" b="0">
                          <a:solidFill>
                            <a:srgbClr val="4B4B4B"/>
                          </a:solidFill>
                          <a:latin typeface="Arial"/>
                        </a:rPr>
                        <a:t>The Account Officer</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Sends the dispositioned renewals to the Team Leader; each renewal without a complete disposition is refused with the reason</a:t>
                      </a:r>
                    </a:p>
                  </a:txBody>
                  <a:tcPr marL="54864" marR="54864" marT="27432" marB="27432">
                    <a:solidFill>
                      <a:srgbClr val="FFFFFF"/>
                    </a:solidFill>
                  </a:tcPr>
                </a:tc>
                <a:tc>
                  <a:txBody>
                    <a:bodyPr/>
                    <a:lstStyle/>
                    <a:p>
                      <a:r>
                        <a:rPr sz="850" b="0">
                          <a:solidFill>
                            <a:srgbClr val="4B4B4B"/>
                          </a:solidFill>
                          <a:latin typeface="Arial"/>
                        </a:rPr>
                        <a:t>Review in Progress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Transfer</a:t>
                      </a:r>
                    </a:p>
                  </a:txBody>
                  <a:tcPr marL="54864" marR="54864" marT="27432" marB="27432">
                    <a:solidFill>
                      <a:srgbClr val="E5F5FF"/>
                    </a:solidFill>
                  </a:tcPr>
                </a:tc>
                <a:tc>
                  <a:txBody>
                    <a:bodyPr/>
                    <a:lstStyle/>
                    <a:p>
                      <a:r>
                        <a:rPr sz="850" b="0">
                          <a:solidFill>
                            <a:srgbClr val="4B4B4B"/>
                          </a:solidFill>
                          <a:latin typeface="Arial"/>
                        </a:rPr>
                        <a:t>Users with the assign permission</a:t>
                      </a:r>
                    </a:p>
                  </a:txBody>
                  <a:tcPr marL="54864" marR="54864" marT="27432" marB="27432">
                    <a:solidFill>
                      <a:srgbClr val="E5F5FF"/>
                    </a:solidFill>
                  </a:tcPr>
                </a:tc>
                <a:tc>
                  <a:txBody>
                    <a:bodyPr/>
                    <a:lstStyle/>
                    <a:p>
                      <a:r>
                        <a:rPr sz="850" b="0">
                          <a:solidFill>
                            <a:srgbClr val="4B4B4B"/>
                          </a:solidFill>
                          <a:latin typeface="Arial"/>
                        </a:rPr>
                        <a:t>One renewal ticked</a:t>
                      </a:r>
                    </a:p>
                  </a:txBody>
                  <a:tcPr marL="54864" marR="54864" marT="27432" marB="27432">
                    <a:solidFill>
                      <a:srgbClr val="E5F5FF"/>
                    </a:solidFill>
                  </a:tcPr>
                </a:tc>
                <a:tc>
                  <a:txBody>
                    <a:bodyPr/>
                    <a:lstStyle/>
                    <a:p>
                      <a:r>
                        <a:rPr sz="850" b="0">
                          <a:solidFill>
                            <a:srgbClr val="4B4B4B"/>
                          </a:solidFill>
                          <a:latin typeface="Arial"/>
                        </a:rPr>
                        <a:t>Opens the Transfer dialog (SCR-RN-02)</a:t>
                      </a:r>
                    </a:p>
                  </a:txBody>
                  <a:tcPr marL="54864" marR="54864" marT="27432" marB="27432">
                    <a:solidFill>
                      <a:srgbClr val="E5F5FF"/>
                    </a:solidFill>
                  </a:tcPr>
                </a:tc>
                <a:tc>
                  <a:txBody>
                    <a:bodyPr/>
                    <a:lstStyle/>
                    <a:p>
                      <a:r>
                        <a:rPr sz="850" b="0">
                          <a:solidFill>
                            <a:srgbClr val="4B4B4B"/>
                          </a:solidFill>
                          <a:latin typeface="Arial"/>
                        </a:rPr>
                        <a:t>Transfer Pending</a:t>
                      </a:r>
                    </a:p>
                  </a:txBody>
                  <a:tcPr marL="54864" marR="54864" marT="27432" marB="27432">
                    <a:solidFill>
                      <a:srgbClr val="E5F5FF"/>
                    </a:solidFill>
                  </a:tcPr>
                </a:tc>
                <a:tc>
                  <a:txBody>
                    <a:bodyPr/>
                    <a:lstStyle/>
                    <a:p>
                      <a:r>
                        <a:rPr sz="850" b="0">
                          <a:solidFill>
                            <a:srgbClr val="4B4B4B"/>
                          </a:solidFill>
                          <a:latin typeface="Arial"/>
                        </a:rPr>
                        <a:t>Renewal transfer requested (NT-02)</a:t>
                      </a:r>
                    </a:p>
                  </a:txBody>
                  <a:tcPr marL="54864" marR="54864" marT="27432" marB="27432">
                    <a:solidFill>
                      <a:srgbClr val="E5F5FF"/>
                    </a:solidFill>
                  </a:tcPr>
                </a:tc>
              </a:tr>
              <a:tr h="350518">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list as shown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officer sees the renewals assigned to him; a returned renewal carries the red Returned tag until it is pushed again (FR-RN-040, FR-RN-046).</a:t>
                      </a:r>
                    </a:p>
                  </a:txBody>
                  <a:tcPr marL="54864" marR="54864" marT="27432" marB="27432">
                    <a:solidFill>
                      <a:srgbClr val="FFFFFF"/>
                    </a:solidFill>
                  </a:tcPr>
                </a:tc>
              </a:tr>
              <a:tr h="243840">
                <a:tc>
                  <a:txBody>
                    <a:bodyPr/>
                    <a:lstStyle/>
                    <a:p>
                      <a:r>
                        <a:rPr sz="1000" b="0">
                          <a:solidFill>
                            <a:srgbClr val="4B4B4B"/>
                          </a:solidFill>
                          <a:latin typeface="Arial"/>
                        </a:rPr>
                        <a:t>A renewal is pushed only with a complete disposition: Not for Renewal needs its reason (FR-RN-043, FR-RN-045).</a:t>
                      </a:r>
                    </a:p>
                  </a:txBody>
                  <a:tcPr marL="54864" marR="54864" marT="27432" marB="27432">
                    <a:solidFill>
                      <a:srgbClr val="E5F5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My Dispositions</a:t>
                      </a:r>
                    </a:p>
                  </a:txBody>
                  <a:tcPr marL="54864" marR="54864" marT="27432" marB="27432">
                    <a:solidFill>
                      <a:srgbClr val="FFFFFF"/>
                    </a:solidFill>
                  </a:tcPr>
                </a:tc>
                <a:tc>
                  <a:txBody>
                    <a:bodyPr/>
                    <a:lstStyle/>
                    <a:p>
                      <a:r>
                        <a:rPr sz="900" b="0">
                          <a:solidFill>
                            <a:srgbClr val="4B4B4B"/>
                          </a:solidFill>
                          <a:latin typeface="Arial"/>
                        </a:rPr>
                        <a:t>SCR-RN-06_wt-a-step-02.png</a:t>
                      </a:r>
                    </a:p>
                  </a:txBody>
                  <a:tcPr marL="54864" marR="54864" marT="27432" marB="27432">
                    <a:solidFill>
                      <a:srgbClr val="FFFFFF"/>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SCR-RN-06 My Dispositions: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06-01-list.png"/>
          <p:cNvPicPr>
            <a:picLocks noChangeAspect="1"/>
          </p:cNvPicPr>
          <p:nvPr/>
        </p:nvPicPr>
        <p:blipFill>
          <a:blip r:embed="rId3"/>
          <a:stretch>
            <a:fillRect/>
          </a:stretch>
        </p:blipFill>
        <p:spPr>
          <a:xfrm>
            <a:off x="548640" y="1261872"/>
            <a:ext cx="11094415" cy="39242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Dispositions of the Account Officer with the quick filters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SCR-RN-07 Set Disposition, Add Remark and Re-open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Marketing: disposition, review and transfers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disposition of the renewal by the Account Officer (or the Team Leader): For Renewal, For Quotation, For Proposal, Not for Renewal with its reason, or Lost Business, with remarks; Push sends it to the Team Leader. Add Remark keeps a remark on the renewal. A renewal tagged Not for Renewal can be re-opened with a reason until the re-open days after expiry. A renewal posted For Quotation or For Proposal starts its quotation or proposal request here.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My Dispositions › Renewal</a:t>
                      </a:r>
                    </a:p>
                    <a:p>
                      <a:r>
                        <a:rPr sz="950" b="0">
                          <a:solidFill>
                            <a:srgbClr val="4B4B4B"/>
                          </a:solidFill>
                          <a:latin typeface="Arial"/>
                        </a:rPr>
                        <a:t>Renewal › Set Disposition, Add Remark, Re-open or Start Quotation / Proposal</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FR-RN-042, FR-RN-043, FR-RN-044, FR-RN-047, FR-RN-048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renewal has its disposition, with its reason and remarks.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graphicFrame>
        <p:nvGraphicFramePr>
          <p:cNvPr id="9" name="Table 8"/>
          <p:cNvGraphicFramePr>
            <a:graphicFrameLocks noGrp="1"/>
          </p:cNvGraphicFramePr>
          <p:nvPr/>
        </p:nvGraphicFramePr>
        <p:xfrm>
          <a:off x="548640" y="1325880"/>
          <a:ext cx="11094411" cy="371091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Set Disposition dialog</a:t>
                      </a:r>
                    </a:p>
                  </a:txBody>
                  <a:tcPr marL="54864" marR="54864" marT="27432" marB="27432">
                    <a:solidFill>
                      <a:srgbClr val="FFFFFF"/>
                    </a:solidFill>
                  </a:tcPr>
                </a:tc>
                <a:tc>
                  <a:txBody>
                    <a:bodyPr/>
                    <a:lstStyle/>
                    <a:p>
                      <a:r>
                        <a:rPr sz="850" b="0">
                          <a:solidFill>
                            <a:srgbClr val="4B4B4B"/>
                          </a:solidFill>
                          <a:latin typeface="Arial"/>
                        </a:rPr>
                        <a:t>Disposition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For Renewal, Not for Renewal, For Quotation, For Proposal, Lost Business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Account history viewed</a:t>
                      </a:r>
                    </a:p>
                  </a:txBody>
                  <a:tcPr marL="54864" marR="54864" marT="27432" marB="27432">
                    <a:solidFill>
                      <a:srgbClr val="FFFFFF"/>
                    </a:solidFill>
                  </a:tcPr>
                </a:tc>
                <a:tc>
                  <a:txBody>
                    <a:bodyPr/>
                    <a:lstStyle/>
                    <a:p>
                      <a:r>
                        <a:rPr sz="850" b="0">
                          <a:solidFill>
                            <a:srgbClr val="4B4B4B"/>
                          </a:solidFill>
                          <a:latin typeface="Arial"/>
                        </a:rPr>
                        <a:t>Select the disposition</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Set Disposition dialog</a:t>
                      </a:r>
                    </a:p>
                  </a:txBody>
                  <a:tcPr marL="54864" marR="54864" marT="27432" marB="27432">
                    <a:solidFill>
                      <a:srgbClr val="E5F5FF"/>
                    </a:solidFill>
                  </a:tcPr>
                </a:tc>
                <a:tc>
                  <a:txBody>
                    <a:bodyPr/>
                    <a:lstStyle/>
                    <a:p>
                      <a:r>
                        <a:rPr sz="850" b="0">
                          <a:solidFill>
                            <a:srgbClr val="4B4B4B"/>
                          </a:solidFill>
                          <a:latin typeface="Arial"/>
                        </a:rPr>
                        <a:t>Reason for Not for Renewal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Reason for Not for Renewal list</a:t>
                      </a:r>
                    </a:p>
                  </a:txBody>
                  <a:tcPr marL="54864" marR="54864" marT="27432" marB="27432">
                    <a:solidFill>
                      <a:srgbClr val="E5F5FF"/>
                    </a:solidFill>
                  </a:tcPr>
                </a:tc>
                <a:tc>
                  <a:txBody>
                    <a:bodyPr/>
                    <a:lstStyle/>
                    <a:p>
                      <a:r>
                        <a:rPr sz="850" b="0">
                          <a:solidFill>
                            <a:srgbClr val="4B4B4B"/>
                          </a:solidFill>
                          <a:latin typeface="Arial"/>
                        </a:rPr>
                        <a:t>Cond.: Not for Renewal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reason for Not for Renewal</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Set Disposition dialog</a:t>
                      </a:r>
                    </a:p>
                  </a:txBody>
                  <a:tcPr marL="54864" marR="54864" marT="27432" marB="27432">
                    <a:solidFill>
                      <a:srgbClr val="FFFFFF"/>
                    </a:solidFill>
                  </a:tcPr>
                </a:tc>
                <a:tc>
                  <a:txBody>
                    <a:bodyPr/>
                    <a:lstStyle/>
                    <a:p>
                      <a:r>
                        <a:rPr sz="850" b="0">
                          <a:solidFill>
                            <a:srgbClr val="4B4B4B"/>
                          </a:solidFill>
                          <a:latin typeface="Arial"/>
                        </a:rPr>
                        <a:t>New 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invoice the policy was booked under</a:t>
                      </a:r>
                    </a:p>
                  </a:txBody>
                  <a:tcPr marL="54864" marR="54864" marT="27432" marB="27432">
                    <a:solidFill>
                      <a:srgbClr val="FFFFFF"/>
                    </a:solidFill>
                  </a:tcPr>
                </a:tc>
                <a:tc>
                  <a:txBody>
                    <a:bodyPr/>
                    <a:lstStyle/>
                    <a:p>
                      <a:r>
                        <a:rPr sz="850" b="0">
                          <a:solidFill>
                            <a:srgbClr val="4B4B4B"/>
                          </a:solidFill>
                          <a:latin typeface="Arial"/>
                        </a:rPr>
                        <a:t>Cond.: reason Booked to New Invoice</a:t>
                      </a:r>
                    </a:p>
                  </a:txBody>
                  <a:tcPr marL="54864" marR="54864" marT="27432" marB="27432">
                    <a:solidFill>
                      <a:srgbClr val="FFFFFF"/>
                    </a:solidFill>
                  </a:tcPr>
                </a:tc>
                <a:tc>
                  <a:txBody>
                    <a:bodyPr/>
                    <a:lstStyle/>
                    <a:p>
                      <a:r>
                        <a:rPr sz="850" b="0">
                          <a:solidFill>
                            <a:srgbClr val="4B4B4B"/>
                          </a:solidFill>
                          <a:latin typeface="Arial"/>
                        </a:rPr>
                        <a:t>Invoice of the ledger</a:t>
                      </a:r>
                    </a:p>
                  </a:txBody>
                  <a:tcPr marL="54864" marR="54864" marT="27432" marB="27432">
                    <a:solidFill>
                      <a:srgbClr val="FFFFFF"/>
                    </a:solidFill>
                  </a:tcPr>
                </a:tc>
                <a:tc>
                  <a:txBody>
                    <a:bodyPr/>
                    <a:lstStyle/>
                    <a:p>
                      <a:r>
                        <a:rPr sz="850" b="0">
                          <a:solidFill>
                            <a:srgbClr val="4B4B4B"/>
                          </a:solidFill>
                          <a:latin typeface="Arial"/>
                        </a:rPr>
                        <a:t>Enter the new invoice number</a:t>
                      </a:r>
                    </a:p>
                  </a:txBody>
                  <a:tcPr marL="54864" marR="54864" marT="27432" marB="27432">
                    <a:solidFill>
                      <a:srgbClr val="FFFFFF"/>
                    </a:solidFill>
                  </a:tcPr>
                </a:tc>
              </a:tr>
              <a:tr h="868674">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Set Disposition dialog</a:t>
                      </a:r>
                    </a:p>
                  </a:txBody>
                  <a:tcPr marL="54864" marR="54864" marT="27432" marB="27432">
                    <a:solidFill>
                      <a:srgbClr val="E5F5FF"/>
                    </a:solidFill>
                  </a:tcPr>
                </a:tc>
                <a:tc>
                  <a:txBody>
                    <a:bodyPr/>
                    <a:lstStyle/>
                    <a:p>
                      <a:r>
                        <a:rPr sz="850" b="0">
                          <a:solidFill>
                            <a:srgbClr val="4B4B4B"/>
                          </a:solidFill>
                          <a:latin typeface="Arial"/>
                        </a:rPr>
                        <a:t>Receiving Unit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Name of the unit</a:t>
                      </a:r>
                    </a:p>
                  </a:txBody>
                  <a:tcPr marL="54864" marR="54864" marT="27432" marB="27432">
                    <a:solidFill>
                      <a:srgbClr val="E5F5FF"/>
                    </a:solidFill>
                  </a:tcPr>
                </a:tc>
                <a:tc>
                  <a:txBody>
                    <a:bodyPr/>
                    <a:lstStyle/>
                    <a:p>
                      <a:r>
                        <a:rPr sz="850" b="0">
                          <a:solidFill>
                            <a:srgbClr val="4B4B4B"/>
                          </a:solidFill>
                          <a:latin typeface="Arial"/>
                        </a:rPr>
                        <a:t>Cond.: reason Transfer to Another Marketing Unit</a:t>
                      </a:r>
                    </a:p>
                  </a:txBody>
                  <a:tcPr marL="54864" marR="54864" marT="27432" marB="27432">
                    <a:solidFill>
                      <a:srgbClr val="E5F5FF"/>
                    </a:solidFill>
                  </a:tcPr>
                </a:tc>
                <a:tc>
                  <a:txBody>
                    <a:bodyPr/>
                    <a:lstStyle/>
                    <a:p>
                      <a:r>
                        <a:rPr sz="850" b="0">
                          <a:solidFill>
                            <a:srgbClr val="4B4B4B"/>
                          </a:solidFill>
                          <a:latin typeface="Arial"/>
                        </a:rPr>
                        <a:t>Another active unit</a:t>
                      </a:r>
                    </a:p>
                  </a:txBody>
                  <a:tcPr marL="54864" marR="54864" marT="27432" marB="27432">
                    <a:solidFill>
                      <a:srgbClr val="E5F5FF"/>
                    </a:solidFill>
                  </a:tcPr>
                </a:tc>
                <a:tc>
                  <a:txBody>
                    <a:bodyPr/>
                    <a:lstStyle/>
                    <a:p>
                      <a:r>
                        <a:rPr sz="850" b="0">
                          <a:solidFill>
                            <a:srgbClr val="4B4B4B"/>
                          </a:solidFill>
                          <a:latin typeface="Arial"/>
                        </a:rPr>
                        <a:t>Select the receiving unit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Set Disposition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most 200 characters</a:t>
                      </a:r>
                    </a:p>
                  </a:txBody>
                  <a:tcPr marL="54864" marR="54864" marT="27432" marB="27432">
                    <a:solidFill>
                      <a:srgbClr val="FFFFFF"/>
                    </a:solidFill>
                  </a:tcPr>
                </a:tc>
                <a:tc>
                  <a:txBody>
                    <a:bodyPr/>
                    <a:lstStyle/>
                    <a:p>
                      <a:r>
                        <a:rPr sz="850" b="0">
                          <a:solidFill>
                            <a:srgbClr val="4B4B4B"/>
                          </a:solidFill>
                          <a:latin typeface="Arial"/>
                        </a:rPr>
                        <a:t>Remarks may have at most 200 characters</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Add Remark dialog</a:t>
                      </a:r>
                    </a:p>
                  </a:txBody>
                  <a:tcPr marL="54864" marR="54864" marT="27432" marB="27432">
                    <a:solidFill>
                      <a:srgbClr val="E5F5FF"/>
                    </a:solidFill>
                  </a:tcPr>
                </a:tc>
                <a:tc>
                  <a:txBody>
                    <a:bodyPr/>
                    <a:lstStyle/>
                    <a:p>
                      <a:r>
                        <a:rPr sz="850" b="0">
                          <a:solidFill>
                            <a:srgbClr val="4B4B4B"/>
                          </a:solidFill>
                          <a:latin typeface="Arial"/>
                        </a:rPr>
                        <a:t>Remark</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Re-open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the re-open days after expiry</a:t>
                      </a:r>
                    </a:p>
                  </a:txBody>
                  <a:tcPr marL="54864" marR="54864" marT="27432" marB="27432">
                    <a:solidFill>
                      <a:srgbClr val="FFFFFF"/>
                    </a:solidFill>
                  </a:tcPr>
                </a:tc>
                <a:tc>
                  <a:txBody>
                    <a:bodyPr/>
                    <a:lstStyle/>
                    <a:p>
                      <a:r>
                        <a:rPr sz="850" b="0">
                          <a:solidFill>
                            <a:srgbClr val="4B4B4B"/>
                          </a:solidFill>
                          <a:latin typeface="Arial"/>
                        </a:rPr>
                        <a:t>Only a renewal tagged Not for Renewal can be re-opened</a:t>
                      </a:r>
                    </a:p>
                  </a:txBody>
                  <a:tcPr marL="54864" marR="54864" marT="27432" marB="27432">
                    <a:solidFill>
                      <a:srgbClr val="FFFFFF"/>
                    </a:solidFill>
                  </a:tcPr>
                </a:tc>
              </a:tr>
            </a:tbl>
          </a:graphicData>
        </a:graphic>
      </p:graphicFrame>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25880"/>
          <a:ext cx="11094412" cy="197356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Set Disposition</a:t>
                      </a:r>
                    </a:p>
                  </a:txBody>
                  <a:tcPr marL="54864" marR="54864" marT="27432" marB="27432">
                    <a:solidFill>
                      <a:srgbClr val="FFFFFF"/>
                    </a:solidFill>
                  </a:tcPr>
                </a:tc>
                <a:tc>
                  <a:txBody>
                    <a:bodyPr/>
                    <a:lstStyle/>
                    <a:p>
                      <a:r>
                        <a:rPr sz="850" b="0">
                          <a:solidFill>
                            <a:srgbClr val="4B4B4B"/>
                          </a:solidFill>
                          <a:latin typeface="Arial"/>
                        </a:rPr>
                        <a:t>The assigned officer or a Team Leader</a:t>
                      </a:r>
                    </a:p>
                  </a:txBody>
                  <a:tcPr marL="54864" marR="54864" marT="27432" marB="27432">
                    <a:solidFill>
                      <a:srgbClr val="FFFFFF"/>
                    </a:solidFill>
                  </a:tcPr>
                </a:tc>
                <a:tc>
                  <a:txBody>
                    <a:bodyPr/>
                    <a:lstStyle/>
                    <a:p>
                      <a:r>
                        <a:rPr sz="850" b="0">
                          <a:solidFill>
                            <a:srgbClr val="4B4B4B"/>
                          </a:solidFill>
                          <a:latin typeface="Arial"/>
                        </a:rPr>
                        <a:t>For Disposition</a:t>
                      </a:r>
                    </a:p>
                  </a:txBody>
                  <a:tcPr marL="54864" marR="54864" marT="27432" marB="27432">
                    <a:solidFill>
                      <a:srgbClr val="FFFFFF"/>
                    </a:solidFill>
                  </a:tcPr>
                </a:tc>
                <a:tc>
                  <a:txBody>
                    <a:bodyPr/>
                    <a:lstStyle/>
                    <a:p>
                      <a:r>
                        <a:rPr sz="850" b="0">
                          <a:solidFill>
                            <a:srgbClr val="4B4B4B"/>
                          </a:solidFill>
                          <a:latin typeface="Arial"/>
                        </a:rPr>
                        <a:t>Opens the dialog; Save keeps the disposition, which supersedes the previous one</a:t>
                      </a:r>
                    </a:p>
                  </a:txBody>
                  <a:tcPr marL="54864" marR="54864" marT="27432" marB="27432">
                    <a:solidFill>
                      <a:srgbClr val="FFFFFF"/>
                    </a:solidFill>
                  </a:tcPr>
                </a:tc>
                <a:tc>
                  <a:txBody>
                    <a:bodyPr/>
                    <a:lstStyle/>
                    <a:p>
                      <a:r>
                        <a:rPr sz="850" b="0">
                          <a:solidFill>
                            <a:srgbClr val="4B4B4B"/>
                          </a:solidFill>
                          <a:latin typeface="Arial"/>
                        </a:rPr>
                        <a:t>For Disposition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Push</a:t>
                      </a:r>
                    </a:p>
                  </a:txBody>
                  <a:tcPr marL="54864" marR="54864" marT="27432" marB="27432">
                    <a:solidFill>
                      <a:srgbClr val="E5F5FF"/>
                    </a:solidFill>
                  </a:tcPr>
                </a:tc>
                <a:tc>
                  <a:txBody>
                    <a:bodyPr/>
                    <a:lstStyle/>
                    <a:p>
                      <a:r>
                        <a:rPr sz="850" b="0">
                          <a:solidFill>
                            <a:srgbClr val="4B4B4B"/>
                          </a:solidFill>
                          <a:latin typeface="Arial"/>
                        </a:rPr>
                        <a:t>The assigned officer or a Team Leader</a:t>
                      </a:r>
                    </a:p>
                  </a:txBody>
                  <a:tcPr marL="54864" marR="54864" marT="27432" marB="27432">
                    <a:solidFill>
                      <a:srgbClr val="E5F5FF"/>
                    </a:solidFill>
                  </a:tcPr>
                </a:tc>
                <a:tc>
                  <a:txBody>
                    <a:bodyPr/>
                    <a:lstStyle/>
                    <a:p>
                      <a:r>
                        <a:rPr sz="850" b="0">
                          <a:solidFill>
                            <a:srgbClr val="4B4B4B"/>
                          </a:solidFill>
                          <a:latin typeface="Arial"/>
                        </a:rPr>
                        <a:t>For Disposition with a disposition</a:t>
                      </a:r>
                    </a:p>
                  </a:txBody>
                  <a:tcPr marL="54864" marR="54864" marT="27432" marB="27432">
                    <a:solidFill>
                      <a:srgbClr val="E5F5FF"/>
                    </a:solidFill>
                  </a:tcPr>
                </a:tc>
                <a:tc>
                  <a:txBody>
                    <a:bodyPr/>
                    <a:lstStyle/>
                    <a:p>
                      <a:r>
                        <a:rPr sz="850" b="0">
                          <a:solidFill>
                            <a:srgbClr val="4B4B4B"/>
                          </a:solidFill>
                          <a:latin typeface="Arial"/>
                        </a:rPr>
                        <a:t>Sends the renewal to the Team Leader</a:t>
                      </a:r>
                    </a:p>
                  </a:txBody>
                  <a:tcPr marL="54864" marR="54864" marT="27432" marB="27432">
                    <a:solidFill>
                      <a:srgbClr val="E5F5FF"/>
                    </a:solidFill>
                  </a:tcPr>
                </a:tc>
                <a:tc>
                  <a:txBody>
                    <a:bodyPr/>
                    <a:lstStyle/>
                    <a:p>
                      <a:r>
                        <a:rPr sz="850" b="0">
                          <a:solidFill>
                            <a:srgbClr val="4B4B4B"/>
                          </a:solidFill>
                          <a:latin typeface="Arial"/>
                        </a:rPr>
                        <a:t>Review in Progress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Start Quotation / Proposal</a:t>
                      </a:r>
                    </a:p>
                  </a:txBody>
                  <a:tcPr marL="54864" marR="54864" marT="27432" marB="27432">
                    <a:solidFill>
                      <a:srgbClr val="FFFFFF"/>
                    </a:solidFill>
                  </a:tcPr>
                </a:tc>
                <a:tc>
                  <a:txBody>
                    <a:bodyPr/>
                    <a:lstStyle/>
                    <a:p>
                      <a:r>
                        <a:rPr sz="850" b="0">
                          <a:solidFill>
                            <a:srgbClr val="4B4B4B"/>
                          </a:solidFill>
                          <a:latin typeface="Arial"/>
                        </a:rPr>
                        <a:t>Account Officers and Team Leaders</a:t>
                      </a:r>
                    </a:p>
                  </a:txBody>
                  <a:tcPr marL="54864" marR="54864" marT="27432" marB="27432">
                    <a:solidFill>
                      <a:srgbClr val="FFFFFF"/>
                    </a:solidFill>
                  </a:tcPr>
                </a:tc>
                <a:tc>
                  <a:txBody>
                    <a:bodyPr/>
                    <a:lstStyle/>
                    <a:p>
                      <a:r>
                        <a:rPr sz="850" b="0">
                          <a:solidFill>
                            <a:srgbClr val="4B4B4B"/>
                          </a:solidFill>
                          <a:latin typeface="Arial"/>
                        </a:rPr>
                        <a:t>Posted For Quotation or For Proposal, none started</a:t>
                      </a:r>
                    </a:p>
                  </a:txBody>
                  <a:tcPr marL="54864" marR="54864" marT="27432" marB="27432">
                    <a:solidFill>
                      <a:srgbClr val="FFFFFF"/>
                    </a:solidFill>
                  </a:tcPr>
                </a:tc>
                <a:tc>
                  <a:txBody>
                    <a:bodyPr/>
                    <a:lstStyle/>
                    <a:p>
                      <a:r>
                        <a:rPr sz="850" b="0">
                          <a:solidFill>
                            <a:srgbClr val="4B4B4B"/>
                          </a:solidFill>
                          <a:latin typeface="Arial"/>
                        </a:rPr>
                        <a:t>Creates the quotation or the proposal request from the expiring account</a:t>
                      </a:r>
                    </a:p>
                  </a:txBody>
                  <a:tcPr marL="54864" marR="54864" marT="27432" marB="27432">
                    <a:solidFill>
                      <a:srgbClr val="FFFFFF"/>
                    </a:solidFill>
                  </a:tcPr>
                </a:tc>
                <a:tc>
                  <a:txBody>
                    <a:bodyPr/>
                    <a:lstStyle/>
                    <a:p>
                      <a:r>
                        <a:rPr sz="850" b="0">
                          <a:solidFill>
                            <a:srgbClr val="4B4B4B"/>
                          </a:solidFill>
                          <a:latin typeface="Arial"/>
                        </a:rPr>
                        <a:t>For Proposal / New Business Path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Remark</a:t>
                      </a:r>
                    </a:p>
                  </a:txBody>
                  <a:tcPr marL="54864" marR="54864" marT="27432" marB="27432">
                    <a:solidFill>
                      <a:srgbClr val="E5F5FF"/>
                    </a:solidFill>
                  </a:tcPr>
                </a:tc>
                <a:tc>
                  <a:txBody>
                    <a:bodyPr/>
                    <a:lstStyle/>
                    <a:p>
                      <a:r>
                        <a:rPr sz="850" b="0">
                          <a:solidFill>
                            <a:srgbClr val="4B4B4B"/>
                          </a:solidFill>
                          <a:latin typeface="Arial"/>
                        </a:rPr>
                        <a:t>Marketing, Processing and Contact Center users</a:t>
                      </a:r>
                    </a:p>
                  </a:txBody>
                  <a:tcPr marL="54864" marR="54864" marT="27432" marB="27432">
                    <a:solidFill>
                      <a:srgbClr val="E5F5FF"/>
                    </a:solidFill>
                  </a:tcPr>
                </a:tc>
                <a:tc>
                  <a:txBody>
                    <a:bodyPr/>
                    <a:lstStyle/>
                    <a:p>
                      <a:r>
                        <a:rPr sz="850" b="0">
                          <a:solidFill>
                            <a:srgbClr val="4B4B4B"/>
                          </a:solidFill>
                          <a:latin typeface="Arial"/>
                        </a:rPr>
                        <a:t>Any open stage</a:t>
                      </a:r>
                    </a:p>
                  </a:txBody>
                  <a:tcPr marL="54864" marR="54864" marT="27432" marB="27432">
                    <a:solidFill>
                      <a:srgbClr val="E5F5FF"/>
                    </a:solidFill>
                  </a:tcPr>
                </a:tc>
                <a:tc>
                  <a:txBody>
                    <a:bodyPr/>
                    <a:lstStyle/>
                    <a:p>
                      <a:r>
                        <a:rPr sz="850" b="0">
                          <a:solidFill>
                            <a:srgbClr val="4B4B4B"/>
                          </a:solidFill>
                          <a:latin typeface="Arial"/>
                        </a:rPr>
                        <a:t>Keeps the remark on the Remarks &amp; Follow-ups 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Re-open</a:t>
                      </a:r>
                    </a:p>
                  </a:txBody>
                  <a:tcPr marL="54864" marR="54864" marT="27432" marB="27432">
                    <a:solidFill>
                      <a:srgbClr val="FFFFFF"/>
                    </a:solidFill>
                  </a:tcPr>
                </a:tc>
                <a:tc>
                  <a:txBody>
                    <a:bodyPr/>
                    <a:lstStyle/>
                    <a:p>
                      <a:r>
                        <a:rPr sz="850" b="0">
                          <a:solidFill>
                            <a:srgbClr val="4B4B4B"/>
                          </a:solidFill>
                          <a:latin typeface="Arial"/>
                        </a:rPr>
                        <a:t>Account Officers and the Processing Team Leader</a:t>
                      </a:r>
                    </a:p>
                  </a:txBody>
                  <a:tcPr marL="54864" marR="54864" marT="27432" marB="27432">
                    <a:solidFill>
                      <a:srgbClr val="FFFFFF"/>
                    </a:solidFill>
                  </a:tcPr>
                </a:tc>
                <a:tc>
                  <a:txBody>
                    <a:bodyPr/>
                    <a:lstStyle/>
                    <a:p>
                      <a:r>
                        <a:rPr sz="850" b="0">
                          <a:solidFill>
                            <a:srgbClr val="4B4B4B"/>
                          </a:solidFill>
                          <a:latin typeface="Arial"/>
                        </a:rPr>
                        <a:t>Letter Pending or closed as not renewed</a:t>
                      </a:r>
                    </a:p>
                  </a:txBody>
                  <a:tcPr marL="54864" marR="54864" marT="27432" marB="27432">
                    <a:solidFill>
                      <a:srgbClr val="FFFFFF"/>
                    </a:solidFill>
                  </a:tcPr>
                </a:tc>
                <a:tc>
                  <a:txBody>
                    <a:bodyPr/>
                    <a:lstStyle/>
                    <a:p>
                      <a:r>
                        <a:rPr sz="850" b="0">
                          <a:solidFill>
                            <a:srgbClr val="4B4B4B"/>
                          </a:solidFill>
                          <a:latin typeface="Arial"/>
                        </a:rPr>
                        <a:t>Asks for the reason and returns the renewal for a new disposition</a:t>
                      </a:r>
                    </a:p>
                  </a:txBody>
                  <a:tcPr marL="54864" marR="54864" marT="27432" marB="27432">
                    <a:solidFill>
                      <a:srgbClr val="FFFFFF"/>
                    </a:solidFill>
                  </a:tcPr>
                </a:tc>
                <a:tc>
                  <a:txBody>
                    <a:bodyPr/>
                    <a:lstStyle/>
                    <a:p>
                      <a:r>
                        <a:rPr sz="850" b="0">
                          <a:solidFill>
                            <a:srgbClr val="4B4B4B"/>
                          </a:solidFill>
                          <a:latin typeface="Arial"/>
                        </a:rPr>
                        <a:t>For Disposition</a:t>
                      </a:r>
                    </a:p>
                  </a:txBody>
                  <a:tcPr marL="54864" marR="54864" marT="27432" marB="27432">
                    <a:solidFill>
                      <a:srgbClr val="FFFFFF"/>
                    </a:solidFill>
                  </a:tcPr>
                </a:tc>
                <a:tc>
                  <a:txBody>
                    <a:bodyPr/>
                    <a:lstStyle/>
                    <a:p>
                      <a:r>
                        <a:rPr sz="850" b="0">
                          <a:solidFill>
                            <a:srgbClr val="4B4B4B"/>
                          </a:solidFill>
                          <a:latin typeface="Arial"/>
                        </a:rPr>
                        <a:t>Renewal returned (NT-04)</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disposition needs the account history viewed first (FR-RN-042, FR-RN-043).</a:t>
                      </a:r>
                    </a:p>
                  </a:txBody>
                  <a:tcPr marL="54864" marR="54864" marT="27432" marB="27432">
                    <a:solidFill>
                      <a:srgbClr val="FFFFFF"/>
                    </a:solidFill>
                  </a:tcPr>
                </a:tc>
              </a:tr>
              <a:tr h="243840">
                <a:tc>
                  <a:txBody>
                    <a:bodyPr/>
                    <a:lstStyle/>
                    <a:p>
                      <a:r>
                        <a:rPr sz="1000" b="0">
                          <a:solidFill>
                            <a:srgbClr val="4B4B4B"/>
                          </a:solidFill>
                          <a:latin typeface="Arial"/>
                        </a:rPr>
                        <a:t>Not for Renewal needs its reason; Booked to New Invoice needs the invoice and Transfer to Another Marketing Unit the receiving unit (FR-RN-043).</a:t>
                      </a:r>
                    </a:p>
                  </a:txBody>
                  <a:tcPr marL="54864" marR="54864" marT="27432" marB="27432">
                    <a:solidFill>
                      <a:srgbClr val="E5F5FF"/>
                    </a:solidFill>
                  </a:tcPr>
                </a:tc>
              </a:tr>
              <a:tr h="243840">
                <a:tc>
                  <a:txBody>
                    <a:bodyPr/>
                    <a:lstStyle/>
                    <a:p>
                      <a:r>
                        <a:rPr sz="1000" b="0">
                          <a:solidFill>
                            <a:srgbClr val="4B4B4B"/>
                          </a:solidFill>
                          <a:latin typeface="Arial"/>
                        </a:rPr>
                        <a:t>A renewal with financial or structural changes is posted For Quotation or For Proposal and continues as a New Business quotation or proposal request (FR-RN-048).</a:t>
                      </a:r>
                    </a:p>
                  </a:txBody>
                  <a:tcPr marL="54864" marR="54864" marT="27432" marB="27432">
                    <a:solidFill>
                      <a:srgbClr val="FFFFFF"/>
                    </a:solidFill>
                  </a:tcPr>
                </a:tc>
              </a:tr>
              <a:tr h="243840">
                <a:tc>
                  <a:txBody>
                    <a:bodyPr/>
                    <a:lstStyle/>
                    <a:p>
                      <a:r>
                        <a:rPr sz="1000" b="0">
                          <a:solidFill>
                            <a:srgbClr val="4B4B4B"/>
                          </a:solidFill>
                          <a:latin typeface="Arial"/>
                        </a:rPr>
                        <a:t>A Not for Renewal renewal can be re-opened until the re-open days after expiry (30 by default) (FR-RN-047).</a:t>
                      </a:r>
                    </a:p>
                  </a:txBody>
                  <a:tcPr marL="54864" marR="54864" marT="27432" marB="27432">
                    <a:solidFill>
                      <a:srgbClr val="E5F5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2</a:t>
                      </a:r>
                    </a:p>
                  </a:txBody>
                  <a:tcPr marL="54864" marR="54864" marT="27432" marB="27432">
                    <a:solidFill>
                      <a:srgbClr val="FFFFFF"/>
                    </a:solidFill>
                  </a:tcPr>
                </a:tc>
                <a:tc>
                  <a:txBody>
                    <a:bodyPr/>
                    <a:lstStyle/>
                    <a:p>
                      <a:r>
                        <a:rPr sz="900" b="0">
                          <a:solidFill>
                            <a:srgbClr val="4B4B4B"/>
                          </a:solidFill>
                          <a:latin typeface="Arial"/>
                        </a:rPr>
                        <a:t>Aileen Account Officer gives a disposition on a renewal without opening its account history</a:t>
                      </a:r>
                    </a:p>
                  </a:txBody>
                  <a:tcPr marL="54864" marR="54864" marT="27432" marB="27432">
                    <a:solidFill>
                      <a:srgbClr val="FFFFFF"/>
                    </a:solidFill>
                  </a:tcPr>
                </a:tc>
                <a:tc>
                  <a:txBody>
                    <a:bodyPr/>
                    <a:lstStyle/>
                    <a:p>
                      <a:r>
                        <a:rPr sz="900" b="0">
                          <a:solidFill>
                            <a:srgbClr val="4B4B4B"/>
                          </a:solidFill>
                          <a:latin typeface="Arial"/>
                        </a:rPr>
                        <a:t>SCR-RN-07_wt-e-step-02.png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Clicks Set Disposition: For Renewal with the remarks of the client's call, then Save</a:t>
                      </a:r>
                    </a:p>
                  </a:txBody>
                  <a:tcPr marL="54864" marR="54864" marT="27432" marB="27432">
                    <a:solidFill>
                      <a:srgbClr val="E5F5FF"/>
                    </a:solidFill>
                  </a:tcPr>
                </a:tc>
                <a:tc>
                  <a:txBody>
                    <a:bodyPr/>
                    <a:lstStyle/>
                    <a:p>
                      <a:r>
                        <a:rPr sz="900" b="0">
                          <a:solidFill>
                            <a:srgbClr val="4B4B4B"/>
                          </a:solidFill>
                          <a:latin typeface="Arial"/>
                        </a:rPr>
                        <a:t>SCR-RN-07_wt-a-step-04.png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Push</a:t>
                      </a:r>
                    </a:p>
                  </a:txBody>
                  <a:tcPr marL="54864" marR="54864" marT="27432" marB="27432">
                    <a:solidFill>
                      <a:srgbClr val="FFFFFF"/>
                    </a:solidFill>
                  </a:tcPr>
                </a:tc>
                <a:tc>
                  <a:txBody>
                    <a:bodyPr/>
                    <a:lstStyle/>
                    <a:p>
                      <a:r>
                        <a:rPr sz="900" b="0">
                          <a:solidFill>
                            <a:srgbClr val="4B4B4B"/>
                          </a:solidFill>
                          <a:latin typeface="Arial"/>
                        </a:rPr>
                        <a:t>SCR-RN-07_wt-a-step-05.png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1</a:t>
                      </a:r>
                    </a:p>
                  </a:txBody>
                  <a:tcPr marL="54864" marR="54864" marT="27432" marB="27432">
                    <a:solidFill>
                      <a:srgbClr val="E5F5FF"/>
                    </a:solidFill>
                  </a:tcPr>
                </a:tc>
                <a:tc>
                  <a:txBody>
                    <a:bodyPr/>
                    <a:lstStyle/>
                    <a:p>
                      <a:r>
                        <a:rPr sz="900" b="0">
                          <a:solidFill>
                            <a:srgbClr val="4B4B4B"/>
                          </a:solidFill>
                          <a:latin typeface="Arial"/>
                        </a:rPr>
                        <a:t>Opens the renewal, views its account history, clicks Set Disposition: Not for Renewal, reason Loan fully paid, with remarks, then Save</a:t>
                      </a:r>
                    </a:p>
                  </a:txBody>
                  <a:tcPr marL="54864" marR="54864" marT="27432" marB="27432">
                    <a:solidFill>
                      <a:srgbClr val="E5F5FF"/>
                    </a:solidFill>
                  </a:tcPr>
                </a:tc>
                <a:tc>
                  <a:txBody>
                    <a:bodyPr/>
                    <a:lstStyle/>
                    <a:p>
                      <a:r>
                        <a:rPr sz="900" b="0">
                          <a:solidFill>
                            <a:srgbClr val="4B4B4B"/>
                          </a:solidFill>
                          <a:latin typeface="Arial"/>
                        </a:rPr>
                        <a:t>SCR-RN-07_wt-d-step-01.png</a:t>
                      </a:r>
                    </a:p>
                  </a:txBody>
                  <a:tcPr marL="54864" marR="54864" marT="27432" marB="27432">
                    <a:solidFill>
                      <a:srgbClr val="E5F5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SCR-RN-07 Set Disposition, Add Remark and Re-open: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07-01-disposition.png"/>
          <p:cNvPicPr>
            <a:picLocks noChangeAspect="1"/>
          </p:cNvPicPr>
          <p:nvPr/>
        </p:nvPicPr>
        <p:blipFill>
          <a:blip r:embed="rId3"/>
          <a:stretch>
            <a:fillRect/>
          </a:stretch>
        </p:blipFill>
        <p:spPr>
          <a:xfrm>
            <a:off x="1010977" y="1261872"/>
            <a:ext cx="1016974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Disposition dialog: Not for Renewal with its reason and remarks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TL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Marketing: disposition, review and transfers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dispositions of the unit waiting for the Team Leader, the exceptions, the unassigned renewals and the renewals on the quotation or proposal path. The Team Leader posts the reviewed renewals (each moves on by its disposition), returns them to the officer with a reason, overrides a failed check, the classification, the disposition or the outstanding balance with a reason, and re-assigns them.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TL Review</a:t>
                      </a:r>
                    </a:p>
                    <a:p>
                      <a:r>
                        <a:rPr sz="950" b="0">
                          <a:solidFill>
                            <a:srgbClr val="4B4B4B"/>
                          </a:solidFill>
                          <a:latin typeface="Arial"/>
                        </a:rPr>
                        <a:t>Client &amp; Policy › Renewal › TL Review</a:t>
                      </a:r>
                    </a:p>
                    <a:p>
                      <a:r>
                        <a:rPr sz="950" b="0">
                          <a:solidFill>
                            <a:srgbClr val="4B4B4B"/>
                          </a:solidFill>
                          <a:latin typeface="Arial"/>
                        </a:rPr>
                        <a:t>Notification of a pushed renewal</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FR-RN-050, FR-RN-051, FR-RN-023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reviewed renewals move on by their disposition.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graphicFrame>
        <p:nvGraphicFramePr>
          <p:cNvPr id="9" name="Table 8"/>
          <p:cNvGraphicFramePr>
            <a:graphicFrameLocks noGrp="1"/>
          </p:cNvGraphicFramePr>
          <p:nvPr/>
        </p:nvGraphicFramePr>
        <p:xfrm>
          <a:off x="548640" y="1325880"/>
          <a:ext cx="11094411" cy="31013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Review / Exceptions / Unassigned / Quotation / Proposal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Columns of the renewal lists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on the Expiry List (SCR-RN-02), the renewals of the unit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renewals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Return dialog</a:t>
                      </a:r>
                    </a:p>
                  </a:txBody>
                  <a:tcPr marL="54864" marR="54864" marT="27432" marB="27432">
                    <a:solidFill>
                      <a:srgbClr val="FFFFFF"/>
                    </a:solidFill>
                  </a:tcPr>
                </a:tc>
                <a:tc>
                  <a:txBody>
                    <a:bodyPr/>
                    <a:lstStyle/>
                    <a:p>
                      <a:r>
                        <a:rPr sz="850" b="0">
                          <a:solidFill>
                            <a:srgbClr val="4B4B4B"/>
                          </a:solidFill>
                          <a:latin typeface="Arial"/>
                        </a:rPr>
                        <a:t>Reason / Remarks</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Renewal return reason list; up to 200 characters</a:t>
                      </a:r>
                    </a:p>
                  </a:txBody>
                  <a:tcPr marL="54864" marR="54864" marT="27432" marB="27432">
                    <a:solidFill>
                      <a:srgbClr val="FFFFFF"/>
                    </a:solidFill>
                  </a:tcPr>
                </a:tc>
                <a:tc>
                  <a:txBody>
                    <a:bodyPr/>
                    <a:lstStyle/>
                    <a:p>
                      <a:r>
                        <a:rPr sz="850" b="0">
                          <a:solidFill>
                            <a:srgbClr val="4B4B4B"/>
                          </a:solidFill>
                          <a:latin typeface="Arial"/>
                        </a:rPr>
                        <a:t>Y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 for 'Return'</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Override dialog</a:t>
                      </a:r>
                    </a:p>
                  </a:txBody>
                  <a:tcPr marL="54864" marR="54864" marT="27432" marB="27432">
                    <a:solidFill>
                      <a:srgbClr val="E5F5FF"/>
                    </a:solidFill>
                  </a:tcPr>
                </a:tc>
                <a:tc>
                  <a:txBody>
                    <a:bodyPr/>
                    <a:lstStyle/>
                    <a:p>
                      <a:r>
                        <a:rPr sz="850" b="0">
                          <a:solidFill>
                            <a:srgbClr val="4B4B4B"/>
                          </a:solidFill>
                          <a:latin typeface="Arial"/>
                        </a:rPr>
                        <a:t>Override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Outstanding balance, Failed check, Classification, Disposition, Insurer response mismatch, Unlock the Renewal Advice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kind of override</a:t>
                      </a:r>
                    </a:p>
                  </a:txBody>
                  <a:tcPr marL="54864" marR="54864" marT="27432" marB="27432">
                    <a:solidFill>
                      <a:srgbClr val="E5F5FF"/>
                    </a:solidFill>
                  </a:tcPr>
                </a:tc>
              </a:tr>
              <a:tr h="868674">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Override dialog</a:t>
                      </a:r>
                    </a:p>
                  </a:txBody>
                  <a:tcPr marL="54864" marR="54864" marT="27432" marB="27432">
                    <a:solidFill>
                      <a:srgbClr val="FFFFFF"/>
                    </a:solidFill>
                  </a:tcPr>
                </a:tc>
                <a:tc>
                  <a:txBody>
                    <a:bodyPr/>
                    <a:lstStyle/>
                    <a:p>
                      <a:r>
                        <a:rPr sz="850" b="0">
                          <a:solidFill>
                            <a:srgbClr val="4B4B4B"/>
                          </a:solidFill>
                          <a:latin typeface="Arial"/>
                        </a:rPr>
                        <a:t>Check / New value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failing check; the new classification or disposition</a:t>
                      </a:r>
                    </a:p>
                  </a:txBody>
                  <a:tcPr marL="54864" marR="54864" marT="27432" marB="27432">
                    <a:solidFill>
                      <a:srgbClr val="FFFFFF"/>
                    </a:solidFill>
                  </a:tcPr>
                </a:tc>
                <a:tc>
                  <a:txBody>
                    <a:bodyPr/>
                    <a:lstStyle/>
                    <a:p>
                      <a:r>
                        <a:rPr sz="850" b="0">
                          <a:solidFill>
                            <a:srgbClr val="4B4B4B"/>
                          </a:solidFill>
                          <a:latin typeface="Arial"/>
                        </a:rPr>
                        <a:t>Cond.: failed check, classification or disposition</a:t>
                      </a:r>
                    </a:p>
                  </a:txBody>
                  <a:tcPr marL="54864" marR="54864" marT="27432" marB="27432">
                    <a:solidFill>
                      <a:srgbClr val="FFFFFF"/>
                    </a:solidFill>
                  </a:tcPr>
                </a:tc>
                <a:tc>
                  <a:txBody>
                    <a:bodyPr/>
                    <a:lstStyle/>
                    <a:p>
                      <a:r>
                        <a:rPr sz="850" b="0">
                          <a:solidFill>
                            <a:srgbClr val="4B4B4B"/>
                          </a:solidFill>
                          <a:latin typeface="Arial"/>
                        </a:rPr>
                        <a:t>A failed check never turns Clean</a:t>
                      </a:r>
                    </a:p>
                  </a:txBody>
                  <a:tcPr marL="54864" marR="54864" marT="27432" marB="27432">
                    <a:solidFill>
                      <a:srgbClr val="FFFFFF"/>
                    </a:solidFill>
                  </a:tcPr>
                </a:tc>
                <a:tc>
                  <a:txBody>
                    <a:bodyPr/>
                    <a:lstStyle/>
                    <a:p>
                      <a:r>
                        <a:rPr sz="850" b="0">
                          <a:solidFill>
                            <a:srgbClr val="4B4B4B"/>
                          </a:solidFill>
                          <a:latin typeface="Arial"/>
                        </a:rPr>
                        <a:t>An override never turns a failed check into Clean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Override dialog</a:t>
                      </a:r>
                    </a:p>
                  </a:txBody>
                  <a:tcPr marL="54864" marR="54864" marT="27432" marB="27432">
                    <a:solidFill>
                      <a:srgbClr val="E5F5FF"/>
                    </a:solidFill>
                  </a:tcPr>
                </a:tc>
                <a:tc>
                  <a:txBody>
                    <a:bodyPr/>
                    <a:lstStyle/>
                    <a:p>
                      <a:r>
                        <a:rPr sz="850" b="0">
                          <a:solidFill>
                            <a:srgbClr val="4B4B4B"/>
                          </a:solidFill>
                          <a:latin typeface="Arial"/>
                        </a:rPr>
                        <a:t>Reason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Renewal override reason list; up to 200 characters</a:t>
                      </a:r>
                    </a:p>
                  </a:txBody>
                  <a:tcPr marL="54864" marR="54864" marT="27432" marB="27432">
                    <a:solidFill>
                      <a:srgbClr val="E5F5FF"/>
                    </a:solidFill>
                  </a:tcPr>
                </a:tc>
                <a:tc>
                  <a:txBody>
                    <a:bodyPr/>
                    <a:lstStyle/>
                    <a:p>
                      <a:r>
                        <a:rPr sz="850" b="0">
                          <a:solidFill>
                            <a:srgbClr val="4B4B4B"/>
                          </a:solidFill>
                          <a:latin typeface="Arial"/>
                        </a:rPr>
                        <a:t>Y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reason of the override</a:t>
                      </a:r>
                    </a:p>
                  </a:txBody>
                  <a:tcPr marL="54864" marR="54864" marT="27432" marB="27432">
                    <a:solidFill>
                      <a:srgbClr val="E5F5FF"/>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Post</a:t>
                      </a:r>
                    </a:p>
                  </a:txBody>
                  <a:tcPr marL="54864" marR="54864" marT="27432" marB="27432">
                    <a:solidFill>
                      <a:srgbClr val="FFFFFF"/>
                    </a:solidFill>
                  </a:tcPr>
                </a:tc>
                <a:tc>
                  <a:txBody>
                    <a:bodyPr/>
                    <a:lstStyle/>
                    <a:p>
                      <a:r>
                        <a:rPr sz="850" b="0">
                          <a:solidFill>
                            <a:srgbClr val="4B4B4B"/>
                          </a:solidFill>
                          <a:latin typeface="Arial"/>
                        </a:rPr>
                        <a:t>Marketing Team Leader</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Asks for confirmation; For Renewal goes to Processing, For Quotation and For Proposal to the New Business path, Not for Renewal to the letter step, Lost Business is closed</a:t>
                      </a:r>
                    </a:p>
                  </a:txBody>
                  <a:tcPr marL="54864" marR="54864" marT="27432" marB="27432">
                    <a:solidFill>
                      <a:srgbClr val="FFFFFF"/>
                    </a:solidFill>
                  </a:tcPr>
                </a:tc>
                <a:tc>
                  <a:txBody>
                    <a:bodyPr/>
                    <a:lstStyle/>
                    <a:p>
                      <a:r>
                        <a:rPr sz="850" b="0">
                          <a:solidFill>
                            <a:srgbClr val="4B4B4B"/>
                          </a:solidFill>
                          <a:latin typeface="Arial"/>
                        </a:rPr>
                        <a:t>For Processing, For Proposal / New Business Path, Letter Pending or Closed</a:t>
                      </a:r>
                    </a:p>
                  </a:txBody>
                  <a:tcPr marL="54864" marR="54864" marT="27432" marB="27432">
                    <a:solidFill>
                      <a:srgbClr val="FFFFFF"/>
                    </a:solidFill>
                  </a:tcPr>
                </a:tc>
                <a:tc>
                  <a:txBody>
                    <a:bodyPr/>
                    <a:lstStyle/>
                    <a:p>
                      <a:r>
                        <a:rPr sz="850" b="0">
                          <a:solidFill>
                            <a:srgbClr val="4B4B4B"/>
                          </a:solidFill>
                          <a:latin typeface="Arial"/>
                        </a:rPr>
                        <a:t>Renewal posted (NT-05)</a:t>
                      </a:r>
                    </a:p>
                  </a:txBody>
                  <a:tcPr marL="54864" marR="54864" marT="27432" marB="27432">
                    <a:solidFill>
                      <a:srgbClr val="FFFFFF"/>
                    </a:solidFill>
                  </a:tcPr>
                </a:tc>
              </a:tr>
              <a:tr h="350518">
                <a:tc>
                  <a:txBody>
                    <a:bodyPr/>
                    <a:lstStyle/>
                    <a:p>
                      <a:r>
                        <a:rPr sz="850" b="0">
                          <a:solidFill>
                            <a:srgbClr val="4B4B4B"/>
                          </a:solidFill>
                          <a:latin typeface="Arial"/>
                        </a:rPr>
                        <a:t>Return</a:t>
                      </a:r>
                    </a:p>
                  </a:txBody>
                  <a:tcPr marL="54864" marR="54864" marT="27432" marB="27432">
                    <a:solidFill>
                      <a:srgbClr val="E5F5FF"/>
                    </a:solidFill>
                  </a:tcPr>
                </a:tc>
                <a:tc>
                  <a:txBody>
                    <a:bodyPr/>
                    <a:lstStyle/>
                    <a:p>
                      <a:r>
                        <a:rPr sz="850" b="0">
                          <a:solidFill>
                            <a:srgbClr val="4B4B4B"/>
                          </a:solidFill>
                          <a:latin typeface="Arial"/>
                        </a:rPr>
                        <a:t>Marketing Team Leader</a:t>
                      </a:r>
                    </a:p>
                  </a:txBody>
                  <a:tcPr marL="54864" marR="54864" marT="27432" marB="27432">
                    <a:solidFill>
                      <a:srgbClr val="E5F5FF"/>
                    </a:solidFill>
                  </a:tcPr>
                </a:tc>
                <a:tc>
                  <a:txBody>
                    <a:bodyPr/>
                    <a:lstStyle/>
                    <a:p>
                      <a:r>
                        <a:rPr sz="850" b="0">
                          <a:solidFill>
                            <a:srgbClr val="4B4B4B"/>
                          </a:solidFill>
                          <a:latin typeface="Arial"/>
                        </a:rPr>
                        <a:t>Renewals ticked</a:t>
                      </a:r>
                    </a:p>
                  </a:txBody>
                  <a:tcPr marL="54864" marR="54864" marT="27432" marB="27432">
                    <a:solidFill>
                      <a:srgbClr val="E5F5FF"/>
                    </a:solidFill>
                  </a:tcPr>
                </a:tc>
                <a:tc>
                  <a:txBody>
                    <a:bodyPr/>
                    <a:lstStyle/>
                    <a:p>
                      <a:r>
                        <a:rPr sz="850" b="0">
                          <a:solidFill>
                            <a:srgbClr val="4B4B4B"/>
                          </a:solidFill>
                          <a:latin typeface="Arial"/>
                        </a:rPr>
                        <a:t>Opens the dialog; the renewal goes back to its officer with the Returned tag</a:t>
                      </a:r>
                    </a:p>
                  </a:txBody>
                  <a:tcPr marL="54864" marR="54864" marT="27432" marB="27432">
                    <a:solidFill>
                      <a:srgbClr val="E5F5FF"/>
                    </a:solidFill>
                  </a:tcPr>
                </a:tc>
                <a:tc>
                  <a:txBody>
                    <a:bodyPr/>
                    <a:lstStyle/>
                    <a:p>
                      <a:r>
                        <a:rPr sz="850" b="0">
                          <a:solidFill>
                            <a:srgbClr val="4B4B4B"/>
                          </a:solidFill>
                          <a:latin typeface="Arial"/>
                        </a:rPr>
                        <a:t>For Disposition</a:t>
                      </a:r>
                    </a:p>
                  </a:txBody>
                  <a:tcPr marL="54864" marR="54864" marT="27432" marB="27432">
                    <a:solidFill>
                      <a:srgbClr val="E5F5FF"/>
                    </a:solidFill>
                  </a:tcPr>
                </a:tc>
                <a:tc>
                  <a:txBody>
                    <a:bodyPr/>
                    <a:lstStyle/>
                    <a:p>
                      <a:r>
                        <a:rPr sz="850" b="0">
                          <a:solidFill>
                            <a:srgbClr val="4B4B4B"/>
                          </a:solidFill>
                          <a:latin typeface="Arial"/>
                        </a:rPr>
                        <a:t>Renewal returned (NT-04)</a:t>
                      </a:r>
                    </a:p>
                  </a:txBody>
                  <a:tcPr marL="54864" marR="54864" marT="27432" marB="27432">
                    <a:solidFill>
                      <a:srgbClr val="E5F5FF"/>
                    </a:solidFill>
                  </a:tcPr>
                </a:tc>
              </a:tr>
              <a:tr h="350518">
                <a:tc>
                  <a:txBody>
                    <a:bodyPr/>
                    <a:lstStyle/>
                    <a:p>
                      <a:r>
                        <a:rPr sz="850" b="0">
                          <a:solidFill>
                            <a:srgbClr val="4B4B4B"/>
                          </a:solidFill>
                          <a:latin typeface="Arial"/>
                        </a:rPr>
                        <a:t>Override</a:t>
                      </a:r>
                    </a:p>
                  </a:txBody>
                  <a:tcPr marL="54864" marR="54864" marT="27432" marB="27432">
                    <a:solidFill>
                      <a:srgbClr val="FFFFFF"/>
                    </a:solidFill>
                  </a:tcPr>
                </a:tc>
                <a:tc>
                  <a:txBody>
                    <a:bodyPr/>
                    <a:lstStyle/>
                    <a:p>
                      <a:r>
                        <a:rPr sz="850" b="0">
                          <a:solidFill>
                            <a:srgbClr val="4B4B4B"/>
                          </a:solidFill>
                          <a:latin typeface="Arial"/>
                        </a:rPr>
                        <a:t>Marketing Team Leader (override permission)</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Opens the dialog; the override is kept with its reason in the history</a:t>
                      </a:r>
                    </a:p>
                  </a:txBody>
                  <a:tcPr marL="54864" marR="54864" marT="27432" marB="27432">
                    <a:solidFill>
                      <a:srgbClr val="FFFFFF"/>
                    </a:solidFill>
                  </a:tcPr>
                </a:tc>
                <a:tc>
                  <a:txBody>
                    <a:bodyPr/>
                    <a:lstStyle/>
                    <a:p>
                      <a:r>
                        <a:rPr sz="850" b="0">
                          <a:solidFill>
                            <a:srgbClr val="4B4B4B"/>
                          </a:solidFill>
                          <a:latin typeface="Arial"/>
                        </a:rPr>
                        <a:t>The stage the override allows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Re-assign</a:t>
                      </a:r>
                    </a:p>
                  </a:txBody>
                  <a:tcPr marL="54864" marR="54864" marT="27432" marB="27432">
                    <a:solidFill>
                      <a:srgbClr val="E5F5FF"/>
                    </a:solidFill>
                  </a:tcPr>
                </a:tc>
                <a:tc>
                  <a:txBody>
                    <a:bodyPr/>
                    <a:lstStyle/>
                    <a:p>
                      <a:r>
                        <a:rPr sz="850" b="0">
                          <a:solidFill>
                            <a:srgbClr val="4B4B4B"/>
                          </a:solidFill>
                          <a:latin typeface="Arial"/>
                        </a:rPr>
                        <a:t>Marketing Team Leader</a:t>
                      </a:r>
                    </a:p>
                  </a:txBody>
                  <a:tcPr marL="54864" marR="54864" marT="27432" marB="27432">
                    <a:solidFill>
                      <a:srgbClr val="E5F5FF"/>
                    </a:solidFill>
                  </a:tcPr>
                </a:tc>
                <a:tc>
                  <a:txBody>
                    <a:bodyPr/>
                    <a:lstStyle/>
                    <a:p>
                      <a:r>
                        <a:rPr sz="850" b="0">
                          <a:solidFill>
                            <a:srgbClr val="4B4B4B"/>
                          </a:solidFill>
                          <a:latin typeface="Arial"/>
                        </a:rPr>
                        <a:t>Renewals ticked</a:t>
                      </a:r>
                    </a:p>
                  </a:txBody>
                  <a:tcPr marL="54864" marR="54864" marT="27432" marB="27432">
                    <a:solidFill>
                      <a:srgbClr val="E5F5FF"/>
                    </a:solidFill>
                  </a:tcPr>
                </a:tc>
                <a:tc>
                  <a:txBody>
                    <a:bodyPr/>
                    <a:lstStyle/>
                    <a:p>
                      <a:r>
                        <a:rPr sz="850" b="0">
                          <a:solidFill>
                            <a:srgbClr val="4B4B4B"/>
                          </a:solidFill>
                          <a:latin typeface="Arial"/>
                        </a:rPr>
                        <a:t>Opens the Assign Disposition dialog (SCR-RN-02)</a:t>
                      </a:r>
                    </a:p>
                  </a:txBody>
                  <a:tcPr marL="54864" marR="54864" marT="27432" marB="27432">
                    <a:solidFill>
                      <a:srgbClr val="E5F5FF"/>
                    </a:solidFill>
                  </a:tcPr>
                </a:tc>
                <a:tc>
                  <a:txBody>
                    <a:bodyPr/>
                    <a:lstStyle/>
                    <a:p>
                      <a:r>
                        <a:rPr sz="850" b="0">
                          <a:solidFill>
                            <a:srgbClr val="4B4B4B"/>
                          </a:solidFill>
                          <a:latin typeface="Arial"/>
                        </a:rPr>
                        <a:t>For Disposition</a:t>
                      </a:r>
                    </a:p>
                  </a:txBody>
                  <a:tcPr marL="54864" marR="54864" marT="27432" marB="27432">
                    <a:solidFill>
                      <a:srgbClr val="E5F5FF"/>
                    </a:solidFill>
                  </a:tcPr>
                </a:tc>
                <a:tc>
                  <a:txBody>
                    <a:bodyPr/>
                    <a:lstStyle/>
                    <a:p>
                      <a:r>
                        <a:rPr sz="850" b="0">
                          <a:solidFill>
                            <a:srgbClr val="4B4B4B"/>
                          </a:solidFill>
                          <a:latin typeface="Arial"/>
                        </a:rPr>
                        <a:t>Renewal assigned (NT-01)</a:t>
                      </a:r>
                    </a:p>
                  </a:txBody>
                  <a:tcPr marL="54864" marR="54864" marT="27432" marB="27432">
                    <a:solidFill>
                      <a:srgbClr val="E5F5FF"/>
                    </a:solidFill>
                  </a:tcPr>
                </a:tc>
              </a:tr>
            </a:tbl>
          </a:graphicData>
        </a:graphic>
      </p:graphicFrame>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renewal For Renewal or on the New Business path with a failing blocking check is not posted until the check passes or is overridden (FR-RN-050).</a:t>
                      </a:r>
                    </a:p>
                  </a:txBody>
                  <a:tcPr marL="54864" marR="54864" marT="27432" marB="27432">
                    <a:solidFill>
                      <a:srgbClr val="FFFFFF"/>
                    </a:solidFill>
                  </a:tcPr>
                </a:tc>
              </a:tr>
              <a:tr h="243840">
                <a:tc>
                  <a:txBody>
                    <a:bodyPr/>
                    <a:lstStyle/>
                    <a:p>
                      <a:r>
                        <a:rPr sz="1000" b="0">
                          <a:solidFill>
                            <a:srgbClr val="4B4B4B"/>
                          </a:solidFill>
                          <a:latin typeface="Arial"/>
                        </a:rPr>
                        <a:t>Straight-through renewals (an automatic disposition of a Clean renewal) move on without review (FR-RN-023).</a:t>
                      </a:r>
                    </a:p>
                  </a:txBody>
                  <a:tcPr marL="54864" marR="54864" marT="27432" marB="27432">
                    <a:solidFill>
                      <a:srgbClr val="E5F5FF"/>
                    </a:solidFill>
                  </a:tcPr>
                </a:tc>
              </a:tr>
              <a:tr h="243840">
                <a:tc>
                  <a:txBody>
                    <a:bodyPr/>
                    <a:lstStyle/>
                    <a:p>
                      <a:r>
                        <a:rPr sz="1000" b="0">
                          <a:solidFill>
                            <a:srgbClr val="4B4B4B"/>
                          </a:solidFill>
                          <a:latin typeface="Arial"/>
                        </a:rPr>
                        <a:t>The outstanding balance of the expiring invoice is overridden by the Team Leader with mandatory remarks (FR-RN-051).</a:t>
                      </a:r>
                    </a:p>
                  </a:txBody>
                  <a:tcPr marL="54864" marR="54864" marT="27432" marB="27432">
                    <a:solidFill>
                      <a:srgbClr val="FFFFFF"/>
                    </a:solidFill>
                  </a:tcPr>
                </a:tc>
              </a:tr>
              <a:tr h="243840">
                <a:tc>
                  <a:txBody>
                    <a:bodyPr/>
                    <a:lstStyle/>
                    <a:p>
                      <a:r>
                        <a:rPr sz="1000" b="0">
                          <a:solidFill>
                            <a:srgbClr val="4B4B4B"/>
                          </a:solidFill>
                          <a:latin typeface="Arial"/>
                        </a:rPr>
                        <a:t>Not for Renewal is given through the disposition with its reason, never by an override (FR-RN-051).</a:t>
                      </a:r>
                    </a:p>
                  </a:txBody>
                  <a:tcPr marL="54864" marR="54864" marT="27432" marB="27432">
                    <a:solidFill>
                      <a:srgbClr val="E5F5FF"/>
                    </a:solidFill>
                  </a:tcPr>
                </a:tc>
              </a:tr>
            </a:tbl>
          </a:graphicData>
        </a:graphic>
      </p:graphicFrame>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WT-A step 6</a:t>
                      </a:r>
                    </a:p>
                  </a:txBody>
                  <a:tcPr marL="54864" marR="54864" marT="27432" marB="27432">
                    <a:solidFill>
                      <a:srgbClr val="FFFFFF"/>
                    </a:solidFill>
                  </a:tcPr>
                </a:tc>
                <a:tc>
                  <a:txBody>
                    <a:bodyPr/>
                    <a:lstStyle/>
                    <a:p>
                      <a:r>
                        <a:rPr sz="900" b="0">
                          <a:solidFill>
                            <a:srgbClr val="4B4B4B"/>
                          </a:solidFill>
                          <a:latin typeface="Arial"/>
                        </a:rPr>
                        <a:t>Opens TL Review, tab For Review, ticks the renewal and clicks Post, then confirms</a:t>
                      </a:r>
                    </a:p>
                  </a:txBody>
                  <a:tcPr marL="54864" marR="54864" marT="27432" marB="27432">
                    <a:solidFill>
                      <a:srgbClr val="FFFFFF"/>
                    </a:solidFill>
                  </a:tcPr>
                </a:tc>
                <a:tc>
                  <a:txBody>
                    <a:bodyPr/>
                    <a:lstStyle/>
                    <a:p>
                      <a:r>
                        <a:rPr sz="900" b="0">
                          <a:solidFill>
                            <a:srgbClr val="4B4B4B"/>
                          </a:solidFill>
                          <a:latin typeface="Arial"/>
                        </a:rPr>
                        <a:t>SCR-RN-08_wt-a-step-06.png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7</a:t>
                      </a:r>
                    </a:p>
                  </a:txBody>
                  <a:tcPr marL="54864" marR="54864" marT="27432" marB="27432">
                    <a:solidFill>
                      <a:srgbClr val="E5F5FF"/>
                    </a:solidFill>
                  </a:tcPr>
                </a:tc>
                <a:tc>
                  <a:txBody>
                    <a:bodyPr/>
                    <a:lstStyle/>
                    <a:p>
                      <a:r>
                        <a:rPr sz="900" b="0">
                          <a:solidFill>
                            <a:srgbClr val="4B4B4B"/>
                          </a:solidFill>
                          <a:latin typeface="Arial"/>
                        </a:rPr>
                        <a:t>Clicks Override: Outstanding balance, reason Approved by the Team Leader, with remarks (the open claim and the endorsement are overridden the same way)</a:t>
                      </a:r>
                    </a:p>
                  </a:txBody>
                  <a:tcPr marL="54864" marR="54864" marT="27432" marB="27432">
                    <a:solidFill>
                      <a:srgbClr val="E5F5FF"/>
                    </a:solidFill>
                  </a:tcPr>
                </a:tc>
                <a:tc>
                  <a:txBody>
                    <a:bodyPr/>
                    <a:lstStyle/>
                    <a:p>
                      <a:r>
                        <a:rPr sz="900" b="0">
                          <a:solidFill>
                            <a:srgbClr val="4B4B4B"/>
                          </a:solidFill>
                          <a:latin typeface="Arial"/>
                        </a:rPr>
                        <a:t>SCR-RN-08_wt-a-step-07.png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8</a:t>
                      </a:r>
                    </a:p>
                  </a:txBody>
                  <a:tcPr marL="54864" marR="54864" marT="27432" marB="27432">
                    <a:solidFill>
                      <a:srgbClr val="FFFFFF"/>
                    </a:solidFill>
                  </a:tcPr>
                </a:tc>
                <a:tc>
                  <a:txBody>
                    <a:bodyPr/>
                    <a:lstStyle/>
                    <a:p>
                      <a:r>
                        <a:rPr sz="900" b="0">
                          <a:solidFill>
                            <a:srgbClr val="4B4B4B"/>
                          </a:solidFill>
                          <a:latin typeface="Arial"/>
                        </a:rPr>
                        <a:t>Clicks Post again and confirms</a:t>
                      </a:r>
                    </a:p>
                  </a:txBody>
                  <a:tcPr marL="54864" marR="54864" marT="27432" marB="27432">
                    <a:solidFill>
                      <a:srgbClr val="FFFFFF"/>
                    </a:solidFill>
                  </a:tcPr>
                </a:tc>
                <a:tc>
                  <a:txBody>
                    <a:bodyPr/>
                    <a:lstStyle/>
                    <a:p>
                      <a:r>
                        <a:rPr sz="900" b="0">
                          <a:solidFill>
                            <a:srgbClr val="4B4B4B"/>
                          </a:solidFill>
                          <a:latin typeface="Arial"/>
                        </a:rPr>
                        <a:t>SCR-RN-08_wt-a-step-08.png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2</a:t>
                      </a:r>
                    </a:p>
                  </a:txBody>
                  <a:tcPr marL="54864" marR="54864" marT="27432" marB="27432">
                    <a:solidFill>
                      <a:srgbClr val="E5F5FF"/>
                    </a:solidFill>
                  </a:tcPr>
                </a:tc>
                <a:tc>
                  <a:txBody>
                    <a:bodyPr/>
                    <a:lstStyle/>
                    <a:p>
                      <a:r>
                        <a:rPr sz="900" b="0">
                          <a:solidFill>
                            <a:srgbClr val="4B4B4B"/>
                          </a:solidFill>
                          <a:latin typeface="Arial"/>
                        </a:rPr>
                        <a:t>After the Account Officer's push, ticks the renewal on TL Review, clicks Post and confirms</a:t>
                      </a:r>
                    </a:p>
                  </a:txBody>
                  <a:tcPr marL="54864" marR="54864" marT="27432" marB="27432">
                    <a:solidFill>
                      <a:srgbClr val="E5F5FF"/>
                    </a:solidFill>
                  </a:tcPr>
                </a:tc>
                <a:tc>
                  <a:txBody>
                    <a:bodyPr/>
                    <a:lstStyle/>
                    <a:p>
                      <a:r>
                        <a:rPr sz="900" b="0">
                          <a:solidFill>
                            <a:srgbClr val="4B4B4B"/>
                          </a:solidFill>
                          <a:latin typeface="Arial"/>
                        </a:rPr>
                        <a:t>SCR-RN-08_wt-d-step-02.png</a:t>
                      </a:r>
                    </a:p>
                  </a:txBody>
                  <a:tcPr marL="54864" marR="54864" marT="27432" marB="27432">
                    <a:solidFill>
                      <a:srgbClr val="E5F5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TL Review: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08-02-override.png"/>
          <p:cNvPicPr>
            <a:picLocks noChangeAspect="1"/>
          </p:cNvPicPr>
          <p:nvPr/>
        </p:nvPicPr>
        <p:blipFill>
          <a:blip r:embed="rId3"/>
          <a:stretch>
            <a:fillRect/>
          </a:stretch>
        </p:blipFill>
        <p:spPr>
          <a:xfrm>
            <a:off x="1005619" y="1261872"/>
            <a:ext cx="1018045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Override dialog: the outstanding balance with the reason and remarks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TL Review: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08-03-return.png"/>
          <p:cNvPicPr>
            <a:picLocks noChangeAspect="1"/>
          </p:cNvPicPr>
          <p:nvPr/>
        </p:nvPicPr>
        <p:blipFill>
          <a:blip r:embed="rId3"/>
          <a:stretch>
            <a:fillRect/>
          </a:stretch>
        </p:blipFill>
        <p:spPr>
          <a:xfrm>
            <a:off x="548640" y="1261872"/>
            <a:ext cx="11094415" cy="43676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Account Officer dialog with the reason and remarks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SCR-RN-08 TL Review: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rn-08-01-list.png"/>
          <p:cNvPicPr>
            <a:picLocks noChangeAspect="1"/>
          </p:cNvPicPr>
          <p:nvPr/>
        </p:nvPicPr>
        <p:blipFill>
          <a:blip r:embed="rId3"/>
          <a:stretch>
            <a:fillRect/>
          </a:stretch>
        </p:blipFill>
        <p:spPr>
          <a:xfrm>
            <a:off x="548640" y="1261872"/>
            <a:ext cx="11094415" cy="39242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TL Review: the dispositions of the unit waiting for review with the actions of the Team Leader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Transfers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Marketing: disposition, review and transfers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requests to move a renewal to another Marketing unit: Incoming for the receiving Team Leader, who accepts or declines them with remarks; Outgoing for the requesting unit, which may cancel an open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Transfers</a:t>
                      </a:r>
                    </a:p>
                    <a:p>
                      <a:r>
                        <a:rPr sz="950" b="0">
                          <a:solidFill>
                            <a:srgbClr val="4B4B4B"/>
                          </a:solidFill>
                          <a:latin typeface="Arial"/>
                        </a:rPr>
                        <a:t>Client &amp; Policy › Renewal › Transfers</a:t>
                      </a:r>
                    </a:p>
                    <a:p>
                      <a:r>
                        <a:rPr sz="950" b="0">
                          <a:solidFill>
                            <a:srgbClr val="4B4B4B"/>
                          </a:solidFill>
                          <a:latin typeface="Arial"/>
                        </a:rPr>
                        <a:t>Notification Renewal transfer requested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FR-RN-031, FR-RN-032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renewal is with the unit that handles the client.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Incoming / Outgoing</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Renewal Reference / Client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Reference; client with the expiry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transfers</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sending unit with the receiving unit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Remarks / Requested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Remarks of the request; the requester's name with the time; Requested, Accepted, Declined or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Accept or Decline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Cond.: decline</a:t>
                      </a:r>
                    </a:p>
                  </a:txBody>
                  <a:tcPr marL="54864" marR="54864" marT="27432" marB="27432">
                    <a:solidFill>
                      <a:srgbClr val="FFFFFF"/>
                    </a:solidFill>
                  </a:tcPr>
                </a:tc>
                <a:tc>
                  <a:txBody>
                    <a:bodyPr/>
                    <a:lstStyle/>
                    <a:p>
                      <a:r>
                        <a:rPr sz="850" b="0">
                          <a:solidFill>
                            <a:srgbClr val="4B4B4B"/>
                          </a:solidFill>
                          <a:latin typeface="Arial"/>
                        </a:rPr>
                        <a:t>Not blank to decline</a:t>
                      </a:r>
                    </a:p>
                  </a:txBody>
                  <a:tcPr marL="54864" marR="54864" marT="27432" marB="27432">
                    <a:solidFill>
                      <a:srgbClr val="FFFFFF"/>
                    </a:solidFill>
                  </a:tcPr>
                </a:tc>
                <a:tc>
                  <a:txBody>
                    <a:bodyPr/>
                    <a:lstStyle/>
                    <a:p>
                      <a:r>
                        <a:rPr sz="850" b="0">
                          <a:solidFill>
                            <a:srgbClr val="4B4B4B"/>
                          </a:solidFill>
                          <a:latin typeface="Arial"/>
                        </a:rPr>
                        <a:t>Enter the remarks</a:t>
                      </a:r>
                    </a:p>
                  </a:txBody>
                  <a:tcPr marL="54864" marR="54864" marT="27432" marB="27432">
                    <a:solidFill>
                      <a:srgbClr val="FFFF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Accept (row menu)</a:t>
                      </a:r>
                    </a:p>
                  </a:txBody>
                  <a:tcPr marL="54864" marR="54864" marT="27432" marB="27432">
                    <a:solidFill>
                      <a:srgbClr val="FFFFFF"/>
                    </a:solidFill>
                  </a:tcPr>
                </a:tc>
                <a:tc>
                  <a:txBody>
                    <a:bodyPr/>
                    <a:lstStyle/>
                    <a:p>
                      <a:r>
                        <a:rPr sz="850" b="0">
                          <a:solidFill>
                            <a:srgbClr val="4B4B4B"/>
                          </a:solidFill>
                          <a:latin typeface="Arial"/>
                        </a:rPr>
                        <a:t>A Team Leader of the receiving unit</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Asks for remarks; the renewal joins the unit, unassigned</a:t>
                      </a:r>
                    </a:p>
                  </a:txBody>
                  <a:tcPr marL="54864" marR="54864" marT="27432" marB="27432">
                    <a:solidFill>
                      <a:srgbClr val="FFFFFF"/>
                    </a:solidFill>
                  </a:tcPr>
                </a:tc>
                <a:tc>
                  <a:txBody>
                    <a:bodyPr/>
                    <a:lstStyle/>
                    <a:p>
                      <a:r>
                        <a:rPr sz="850" b="0">
                          <a:solidFill>
                            <a:srgbClr val="4B4B4B"/>
                          </a:solidFill>
                          <a:latin typeface="Arial"/>
                        </a:rPr>
                        <a:t>Unassigned Disposition</a:t>
                      </a:r>
                    </a:p>
                  </a:txBody>
                  <a:tcPr marL="54864" marR="54864" marT="27432" marB="27432">
                    <a:solidFill>
                      <a:srgbClr val="FFFFFF"/>
                    </a:solidFill>
                  </a:tcPr>
                </a:tc>
                <a:tc>
                  <a:txBody>
                    <a:bodyPr/>
                    <a:lstStyle/>
                    <a:p>
                      <a:r>
                        <a:rPr sz="850" b="0">
                          <a:solidFill>
                            <a:srgbClr val="4B4B4B"/>
                          </a:solidFill>
                          <a:latin typeface="Arial"/>
                        </a:rPr>
                        <a:t>Renewal transfer decided (NT-03)</a:t>
                      </a:r>
                    </a:p>
                  </a:txBody>
                  <a:tcPr marL="54864" marR="54864" marT="27432" marB="27432">
                    <a:solidFill>
                      <a:srgbClr val="FFFFFF"/>
                    </a:solidFill>
                  </a:tcPr>
                </a:tc>
              </a:tr>
              <a:tr h="350518">
                <a:tc>
                  <a:txBody>
                    <a:bodyPr/>
                    <a:lstStyle/>
                    <a:p>
                      <a:r>
                        <a:rPr sz="850" b="0">
                          <a:solidFill>
                            <a:srgbClr val="4B4B4B"/>
                          </a:solidFill>
                          <a:latin typeface="Arial"/>
                        </a:rPr>
                        <a:t>Decline (row menu)</a:t>
                      </a:r>
                    </a:p>
                  </a:txBody>
                  <a:tcPr marL="54864" marR="54864" marT="27432" marB="27432">
                    <a:solidFill>
                      <a:srgbClr val="E5F5FF"/>
                    </a:solidFill>
                  </a:tcPr>
                </a:tc>
                <a:tc>
                  <a:txBody>
                    <a:bodyPr/>
                    <a:lstStyle/>
                    <a:p>
                      <a:r>
                        <a:rPr sz="850" b="0">
                          <a:solidFill>
                            <a:srgbClr val="4B4B4B"/>
                          </a:solidFill>
                          <a:latin typeface="Arial"/>
                        </a:rPr>
                        <a:t>A Team Leader of the receiving unit</a:t>
                      </a:r>
                    </a:p>
                  </a:txBody>
                  <a:tcPr marL="54864" marR="54864" marT="27432" marB="27432">
                    <a:solidFill>
                      <a:srgbClr val="E5F5FF"/>
                    </a:solidFill>
                  </a:tcPr>
                </a:tc>
                <a:tc>
                  <a:txBody>
                    <a:bodyPr/>
                    <a:lstStyle/>
                    <a:p>
                      <a:r>
                        <a:rPr sz="850" b="0">
                          <a:solidFill>
                            <a:srgbClr val="4B4B4B"/>
                          </a:solidFill>
                          <a:latin typeface="Arial"/>
                        </a:rPr>
                        <a:t>Requested</a:t>
                      </a:r>
                    </a:p>
                  </a:txBody>
                  <a:tcPr marL="54864" marR="54864" marT="27432" marB="27432">
                    <a:solidFill>
                      <a:srgbClr val="E5F5FF"/>
                    </a:solidFill>
                  </a:tcPr>
                </a:tc>
                <a:tc>
                  <a:txBody>
                    <a:bodyPr/>
                    <a:lstStyle/>
                    <a:p>
                      <a:r>
                        <a:rPr sz="850" b="0">
                          <a:solidFill>
                            <a:srgbClr val="4B4B4B"/>
                          </a:solidFill>
                          <a:latin typeface="Arial"/>
                        </a:rPr>
                        <a:t>Asks for the remarks; the renewal returns to the sending unit</a:t>
                      </a:r>
                    </a:p>
                  </a:txBody>
                  <a:tcPr marL="54864" marR="54864" marT="27432" marB="27432">
                    <a:solidFill>
                      <a:srgbClr val="E5F5FF"/>
                    </a:solidFill>
                  </a:tcPr>
                </a:tc>
                <a:tc>
                  <a:txBody>
                    <a:bodyPr/>
                    <a:lstStyle/>
                    <a:p>
                      <a:r>
                        <a:rPr sz="850" b="0">
                          <a:solidFill>
                            <a:srgbClr val="4B4B4B"/>
                          </a:solidFill>
                          <a:latin typeface="Arial"/>
                        </a:rPr>
                        <a:t>The stage before the request</a:t>
                      </a:r>
                    </a:p>
                  </a:txBody>
                  <a:tcPr marL="54864" marR="54864" marT="27432" marB="27432">
                    <a:solidFill>
                      <a:srgbClr val="E5F5FF"/>
                    </a:solidFill>
                  </a:tcPr>
                </a:tc>
                <a:tc>
                  <a:txBody>
                    <a:bodyPr/>
                    <a:lstStyle/>
                    <a:p>
                      <a:r>
                        <a:rPr sz="850" b="0">
                          <a:solidFill>
                            <a:srgbClr val="4B4B4B"/>
                          </a:solidFill>
                          <a:latin typeface="Arial"/>
                        </a:rPr>
                        <a:t>Renewal transfer decided (NT-03)</a:t>
                      </a:r>
                    </a:p>
                  </a:txBody>
                  <a:tcPr marL="54864" marR="54864" marT="27432" marB="27432">
                    <a:solidFill>
                      <a:srgbClr val="E5F5FF"/>
                    </a:solidFill>
                  </a:tcPr>
                </a:tc>
              </a:tr>
              <a:tr h="350518">
                <a:tc>
                  <a:txBody>
                    <a:bodyPr/>
                    <a:lstStyle/>
                    <a:p>
                      <a:r>
                        <a:rPr sz="850" b="0">
                          <a:solidFill>
                            <a:srgbClr val="4B4B4B"/>
                          </a:solidFill>
                          <a:latin typeface="Arial"/>
                        </a:rPr>
                        <a:t>Cancel Request (row menu)</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Asks for confirmation; the renewal stays with the unit</a:t>
                      </a:r>
                    </a:p>
                  </a:txBody>
                  <a:tcPr marL="54864" marR="54864" marT="27432" marB="27432">
                    <a:solidFill>
                      <a:srgbClr val="FFFFFF"/>
                    </a:solidFill>
                  </a:tcPr>
                </a:tc>
                <a:tc>
                  <a:txBody>
                    <a:bodyPr/>
                    <a:lstStyle/>
                    <a:p>
                      <a:r>
                        <a:rPr sz="850" b="0">
                          <a:solidFill>
                            <a:srgbClr val="4B4B4B"/>
                          </a:solidFill>
                          <a:latin typeface="Arial"/>
                        </a:rPr>
                        <a:t>The stage before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 Team Leader of the receiving unit decides a transfer; only the requester cancels it (FR-RN-032).</a:t>
                      </a:r>
                    </a:p>
                  </a:txBody>
                  <a:tcPr marL="54864" marR="54864" marT="27432" marB="27432">
                    <a:solidFill>
                      <a:srgbClr val="FFFFFF"/>
                    </a:solidFill>
                  </a:tcPr>
                </a:tc>
              </a:tr>
              <a:tr h="243840">
                <a:tc>
                  <a:txBody>
                    <a:bodyPr/>
                    <a:lstStyle/>
                    <a:p>
                      <a:r>
                        <a:rPr sz="1000" b="0">
                          <a:solidFill>
                            <a:srgbClr val="4B4B4B"/>
                          </a:solidFill>
                          <a:latin typeface="Arial"/>
                        </a:rPr>
                        <a:t>An accepted renewal waits in the Unassigned tab of the receiving unit for its Account Officer (FR-RN-032).</a:t>
                      </a:r>
                    </a:p>
                  </a:txBody>
                  <a:tcPr marL="54864" marR="54864" marT="27432" marB="27432">
                    <a:solidFill>
                      <a:srgbClr val="E5F5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WT-E step 1</a:t>
                      </a:r>
                    </a:p>
                  </a:txBody>
                  <a:tcPr marL="54864" marR="54864" marT="27432" marB="27432">
                    <a:solidFill>
                      <a:srgbClr val="FFFFFF"/>
                    </a:solidFill>
                  </a:tcPr>
                </a:tc>
                <a:tc>
                  <a:txBody>
                    <a:bodyPr/>
                    <a:lstStyle/>
                    <a:p>
                      <a:r>
                        <a:rPr sz="900" b="0">
                          <a:solidFill>
                            <a:srgbClr val="4B4B4B"/>
                          </a:solidFill>
                          <a:latin typeface="Arial"/>
                        </a:rPr>
                        <a:t>The Team Leader of Corporate Marketing Team 1 opens Transfers, tab Incoming, chooses Accept in the row action menu and confirms with remarks</a:t>
                      </a:r>
                    </a:p>
                  </a:txBody>
                  <a:tcPr marL="54864" marR="54864" marT="27432" marB="27432">
                    <a:solidFill>
                      <a:srgbClr val="FFFFFF"/>
                    </a:solidFill>
                  </a:tcPr>
                </a:tc>
                <a:tc>
                  <a:txBody>
                    <a:bodyPr/>
                    <a:lstStyle/>
                    <a:p>
                      <a:r>
                        <a:rPr sz="900" b="0">
                          <a:solidFill>
                            <a:srgbClr val="4B4B4B"/>
                          </a:solidFill>
                          <a:latin typeface="Arial"/>
                        </a:rPr>
                        <a:t>SCR-RN-09_wt-e-step-01.png</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Transfers: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09-01-incoming.png"/>
          <p:cNvPicPr>
            <a:picLocks noChangeAspect="1"/>
          </p:cNvPicPr>
          <p:nvPr/>
        </p:nvPicPr>
        <p:blipFill>
          <a:blip r:embed="rId3"/>
          <a:stretch>
            <a:fillRect/>
          </a:stretch>
        </p:blipFill>
        <p:spPr>
          <a:xfrm>
            <a:off x="548640" y="1261872"/>
            <a:ext cx="11094415" cy="3423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Transfers, Incoming: the request from another unit with its row action menu</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SCR-RN-09 Transfers: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rn-09-actions.png"/>
          <p:cNvPicPr>
            <a:picLocks noChangeAspect="1"/>
          </p:cNvPicPr>
          <p:nvPr/>
        </p:nvPicPr>
        <p:blipFill>
          <a:blip r:embed="rId3"/>
          <a:stretch>
            <a:fillRect/>
          </a:stretch>
        </p:blipFill>
        <p:spPr>
          <a:xfrm>
            <a:off x="548640" y="1261872"/>
            <a:ext cx="11094415" cy="3423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transfer request, opened from the more button of its row</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Processing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Processing and the insurer</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renewals posted For Renewal, by tab: for processing, in processing, with the insurer, insurer responded and returned. The Processing Team Leader assigns a Processing Officer (or takes them); the officer creates the renewal account and works the renewal; a renewal that cannot proceed is returned to Marketing with a reason. The dispositioned file of Marketing is uploaded here.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Processing Worklist</a:t>
                      </a:r>
                    </a:p>
                    <a:p>
                      <a:r>
                        <a:rPr sz="950" b="0">
                          <a:solidFill>
                            <a:srgbClr val="4B4B4B"/>
                          </a:solidFill>
                          <a:latin typeface="Arial"/>
                        </a:rPr>
                        <a:t>Client &amp; Policy › Renewal › Processing Worklist</a:t>
                      </a:r>
                    </a:p>
                    <a:p>
                      <a:r>
                        <a:rPr sz="950" b="0">
                          <a:solidFill>
                            <a:srgbClr val="4B4B4B"/>
                          </a:solidFill>
                          <a:latin typeface="Arial"/>
                        </a:rPr>
                        <a:t>Renewal Home › Insurer reply overdue</a:t>
                      </a:r>
                    </a:p>
                    <a:p>
                      <a:r>
                        <a:rPr sz="950" b="0">
                          <a:solidFill>
                            <a:srgbClr val="4B4B4B"/>
                          </a:solidFill>
                          <a:latin typeface="Arial"/>
                        </a:rPr>
                        <a:t>Notification Renewal posted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FR-RN-060, FR-RN-061, FR-RN-062, FR-RN-063, FR-RN-065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posted renewals are processed by their officers.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1" cy="302512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Processing / In Processing / With Insurer / Insurer Responded / Returned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Quick filters</a:t>
                      </a:r>
                    </a:p>
                  </a:txBody>
                  <a:tcPr marL="54864" marR="54864" marT="27432" marB="27432">
                    <a:solidFill>
                      <a:srgbClr val="E5F5FF"/>
                    </a:solidFill>
                  </a:tcPr>
                </a:tc>
                <a:tc>
                  <a:txBody>
                    <a:bodyPr/>
                    <a:lstStyle/>
                    <a:p>
                      <a:r>
                        <a:rPr sz="850" b="0">
                          <a:solidFill>
                            <a:srgbClr val="4B4B4B"/>
                          </a:solidFill>
                          <a:latin typeface="Arial"/>
                        </a:rPr>
                        <a:t>Assigned to me / Due in 30 days</a:t>
                      </a:r>
                    </a:p>
                  </a:txBody>
                  <a:tcPr marL="54864" marR="54864" marT="27432" marB="27432">
                    <a:solidFill>
                      <a:srgbClr val="E5F5FF"/>
                    </a:solidFill>
                  </a:tcPr>
                </a:tc>
                <a:tc>
                  <a:txBody>
                    <a:bodyPr/>
                    <a:lstStyle/>
                    <a:p>
                      <a:r>
                        <a:rPr sz="850" b="0">
                          <a:solidFill>
                            <a:srgbClr val="4B4B4B"/>
                          </a:solidFill>
                          <a:latin typeface="Arial"/>
                        </a:rPr>
                        <a:t>Toggle button</a:t>
                      </a:r>
                    </a:p>
                  </a:txBody>
                  <a:tcPr marL="54864" marR="54864" marT="27432" marB="27432">
                    <a:solidFill>
                      <a:srgbClr val="E5F5FF"/>
                    </a:solidFill>
                  </a:tcPr>
                </a:tc>
                <a:tc>
                  <a:txBody>
                    <a:bodyPr/>
                    <a:lstStyle/>
                    <a:p>
                      <a:r>
                        <a:rPr sz="850" b="0">
                          <a:solidFill>
                            <a:srgbClr val="4B4B4B"/>
                          </a:solidFill>
                          <a:latin typeface="Arial"/>
                        </a:rPr>
                        <a:t>One at a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Columns of the renewal lists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the Expiry List (SCR-RN-02)</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Assign Processing Officer dialog</a:t>
                      </a:r>
                    </a:p>
                  </a:txBody>
                  <a:tcPr marL="54864" marR="54864" marT="27432" marB="27432">
                    <a:solidFill>
                      <a:srgbClr val="E5F5FF"/>
                    </a:solidFill>
                  </a:tcPr>
                </a:tc>
                <a:tc>
                  <a:txBody>
                    <a:bodyPr/>
                    <a:lstStyle/>
                    <a:p>
                      <a:r>
                        <a:rPr sz="850" b="0">
                          <a:solidFill>
                            <a:srgbClr val="4B4B4B"/>
                          </a:solidFill>
                          <a:latin typeface="Arial"/>
                        </a:rPr>
                        <a:t>Processing Officer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Name of the officer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Processing Officer</a:t>
                      </a:r>
                    </a:p>
                  </a:txBody>
                  <a:tcPr marL="54864" marR="54864" marT="27432" marB="27432">
                    <a:solidFill>
                      <a:srgbClr val="E5F5FF"/>
                    </a:solidFill>
                  </a:tcPr>
                </a:tc>
                <a:tc>
                  <a:txBody>
                    <a:bodyPr/>
                    <a:lstStyle/>
                    <a:p>
                      <a:r>
                        <a:rPr sz="850" b="0">
                          <a:solidFill>
                            <a:srgbClr val="4B4B4B"/>
                          </a:solidFill>
                          <a:latin typeface="Arial"/>
                        </a:rPr>
                        <a:t>&lt;officer&gt; is not a Processing Officer</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Return to Marketing dialog</a:t>
                      </a:r>
                    </a:p>
                  </a:txBody>
                  <a:tcPr marL="54864" marR="54864" marT="27432" marB="27432">
                    <a:solidFill>
                      <a:srgbClr val="FFFFFF"/>
                    </a:solidFill>
                  </a:tcPr>
                </a:tc>
                <a:tc>
                  <a:txBody>
                    <a:bodyPr/>
                    <a:lstStyle/>
                    <a:p>
                      <a:r>
                        <a:rPr sz="850" b="0">
                          <a:solidFill>
                            <a:srgbClr val="4B4B4B"/>
                          </a:solidFill>
                          <a:latin typeface="Arial"/>
                        </a:rPr>
                        <a:t>Return to</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Account Officer or Team Leader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Return to Marketing dialog</a:t>
                      </a:r>
                    </a:p>
                  </a:txBody>
                  <a:tcPr marL="54864" marR="54864" marT="27432" marB="27432">
                    <a:solidFill>
                      <a:srgbClr val="E5F5FF"/>
                    </a:solidFill>
                  </a:tcPr>
                </a:tc>
                <a:tc>
                  <a:txBody>
                    <a:bodyPr/>
                    <a:lstStyle/>
                    <a:p>
                      <a:r>
                        <a:rPr sz="850" b="0">
                          <a:solidFill>
                            <a:srgbClr val="4B4B4B"/>
                          </a:solidFill>
                          <a:latin typeface="Arial"/>
                        </a:rPr>
                        <a:t>Reason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Renewal return reason list; up to 200 characters</a:t>
                      </a:r>
                    </a:p>
                  </a:txBody>
                  <a:tcPr marL="54864" marR="54864" marT="27432" marB="27432">
                    <a:solidFill>
                      <a:srgbClr val="E5F5FF"/>
                    </a:solidFill>
                  </a:tcPr>
                </a:tc>
                <a:tc>
                  <a:txBody>
                    <a:bodyPr/>
                    <a:lstStyle/>
                    <a:p>
                      <a:r>
                        <a:rPr sz="850" b="0">
                          <a:solidFill>
                            <a:srgbClr val="4B4B4B"/>
                          </a:solidFill>
                          <a:latin typeface="Arial"/>
                        </a:rPr>
                        <a:t>Y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a reason for 'Return to Marketing'</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Upload Dispositions</a:t>
                      </a:r>
                    </a:p>
                  </a:txBody>
                  <a:tcPr marL="54864" marR="54864" marT="27432" marB="27432">
                    <a:solidFill>
                      <a:srgbClr val="FFFFFF"/>
                    </a:solidFill>
                  </a:tcPr>
                </a:tc>
                <a:tc>
                  <a:txBody>
                    <a:bodyPr/>
                    <a:lstStyle/>
                    <a:p>
                      <a:r>
                        <a:rPr sz="850" b="0">
                          <a:solidFill>
                            <a:srgbClr val="4B4B4B"/>
                          </a:solidFill>
                          <a:latin typeface="Arial"/>
                        </a:rPr>
                        <a:t>Upload wizard: Renewal Reference, Disposition, Reason, New Invoice No, Remarks</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of the dispositioned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Every row checked before anything is saved</a:t>
                      </a:r>
                    </a:p>
                  </a:txBody>
                  <a:tcPr marL="54864" marR="54864" marT="27432" marB="27432">
                    <a:solidFill>
                      <a:srgbClr val="FFFFFF"/>
                    </a:solidFill>
                  </a:tcPr>
                </a:tc>
                <a:tc>
                  <a:txBody>
                    <a:bodyPr/>
                    <a:lstStyle/>
                    <a:p>
                      <a:r>
                        <a:rPr sz="850" b="0">
                          <a:solidFill>
                            <a:srgbClr val="4B4B4B"/>
                          </a:solidFill>
                          <a:latin typeface="Arial"/>
                        </a:rPr>
                        <a:t>Disposition &lt;disposition&gt; is not valid</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Complete file</a:t>
                      </a:r>
                    </a:p>
                  </a:txBody>
                  <a:tcPr marL="54864" marR="54864" marT="27432" marB="27432">
                    <a:solidFill>
                      <a:srgbClr val="E5F5FF"/>
                    </a:solidFill>
                  </a:tcPr>
                </a:tc>
                <a:tc>
                  <a:txBody>
                    <a:bodyPr/>
                    <a:lstStyle/>
                    <a:p>
                      <a:r>
                        <a:rPr sz="850" b="0">
                          <a:solidFill>
                            <a:srgbClr val="4B4B4B"/>
                          </a:solidFill>
                          <a:latin typeface="Arial"/>
                        </a:rPr>
                        <a:t>Expiry From / Expiry To / Unit</a:t>
                      </a:r>
                    </a:p>
                  </a:txBody>
                  <a:tcPr marL="54864" marR="54864" marT="27432" marB="27432">
                    <a:solidFill>
                      <a:srgbClr val="E5F5FF"/>
                    </a:solidFill>
                  </a:tcPr>
                </a:tc>
                <a:tc>
                  <a:txBody>
                    <a:bodyPr/>
                    <a:lstStyle/>
                    <a:p>
                      <a:r>
                        <a:rPr sz="850" b="0">
                          <a:solidFill>
                            <a:srgbClr val="4B4B4B"/>
                          </a:solidFill>
                          <a:latin typeface="Arial"/>
                        </a:rPr>
                        <a:t>Date, date, text</a:t>
                      </a:r>
                    </a:p>
                  </a:txBody>
                  <a:tcPr marL="54864" marR="54864" marT="27432" marB="27432">
                    <a:solidFill>
                      <a:srgbClr val="E5F5FF"/>
                    </a:solidFill>
                  </a:tcPr>
                </a:tc>
                <a:tc>
                  <a:txBody>
                    <a:bodyPr/>
                    <a:lstStyle/>
                    <a:p>
                      <a:r>
                        <a:rPr sz="850" b="0">
                          <a:solidFill>
                            <a:srgbClr val="4B4B4B"/>
                          </a:solidFill>
                          <a:latin typeface="Arial"/>
                        </a:rPr>
                        <a:t>The expiry range and the unit the file covers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expiry range and the unit of the complete file</a:t>
                      </a:r>
                    </a:p>
                  </a:txBody>
                  <a:tcPr marL="54864" marR="54864" marT="27432" marB="27432">
                    <a:solidFill>
                      <a:srgbClr val="E5F5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Assign PO</a:t>
                      </a:r>
                    </a:p>
                  </a:txBody>
                  <a:tcPr marL="54864" marR="54864" marT="27432" marB="27432">
                    <a:solidFill>
                      <a:srgbClr val="FFFFFF"/>
                    </a:solidFill>
                  </a:tcPr>
                </a:tc>
                <a:tc>
                  <a:txBody>
                    <a:bodyPr/>
                    <a:lstStyle/>
                    <a:p>
                      <a:r>
                        <a:rPr sz="850" b="0">
                          <a:solidFill>
                            <a:srgbClr val="4B4B4B"/>
                          </a:solidFill>
                          <a:latin typeface="Arial"/>
                        </a:rPr>
                        <a:t>Processing Team Leader</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Opens the dialog; Assign gives the renewals to the officer</a:t>
                      </a:r>
                    </a:p>
                  </a:txBody>
                  <a:tcPr marL="54864" marR="54864" marT="27432" marB="27432">
                    <a:solidFill>
                      <a:srgbClr val="FFFFFF"/>
                    </a:solidFill>
                  </a:tcPr>
                </a:tc>
                <a:tc>
                  <a:txBody>
                    <a:bodyPr/>
                    <a:lstStyle/>
                    <a:p>
                      <a:r>
                        <a:rPr sz="850" b="0">
                          <a:solidFill>
                            <a:srgbClr val="4B4B4B"/>
                          </a:solidFill>
                          <a:latin typeface="Arial"/>
                        </a:rPr>
                        <a:t>In Processing</a:t>
                      </a:r>
                    </a:p>
                  </a:txBody>
                  <a:tcPr marL="54864" marR="54864" marT="27432" marB="27432">
                    <a:solidFill>
                      <a:srgbClr val="FFFFFF"/>
                    </a:solidFill>
                  </a:tcPr>
                </a:tc>
                <a:tc>
                  <a:txBody>
                    <a:bodyPr/>
                    <a:lstStyle/>
                    <a:p>
                      <a:r>
                        <a:rPr sz="850" b="0">
                          <a:solidFill>
                            <a:srgbClr val="4B4B4B"/>
                          </a:solidFill>
                          <a:latin typeface="Arial"/>
                        </a:rPr>
                        <a:t>Renewal assigned (NT-01)</a:t>
                      </a:r>
                    </a:p>
                  </a:txBody>
                  <a:tcPr marL="54864" marR="54864" marT="27432" marB="27432">
                    <a:solidFill>
                      <a:srgbClr val="FFFFFF"/>
                    </a:solidFill>
                  </a:tcPr>
                </a:tc>
              </a:tr>
              <a:tr h="220979">
                <a:tc>
                  <a:txBody>
                    <a:bodyPr/>
                    <a:lstStyle/>
                    <a:p>
                      <a:r>
                        <a:rPr sz="850" b="0">
                          <a:solidFill>
                            <a:srgbClr val="4B4B4B"/>
                          </a:solidFill>
                          <a:latin typeface="Arial"/>
                        </a:rPr>
                        <a:t>Assign to Me</a:t>
                      </a:r>
                    </a:p>
                  </a:txBody>
                  <a:tcPr marL="54864" marR="54864" marT="27432" marB="27432">
                    <a:solidFill>
                      <a:srgbClr val="E5F5FF"/>
                    </a:solidFill>
                  </a:tcPr>
                </a:tc>
                <a:tc>
                  <a:txBody>
                    <a:bodyPr/>
                    <a:lstStyle/>
                    <a:p>
                      <a:r>
                        <a:rPr sz="850" b="0">
                          <a:solidFill>
                            <a:srgbClr val="4B4B4B"/>
                          </a:solidFill>
                          <a:latin typeface="Arial"/>
                        </a:rPr>
                        <a:t>Processing Team Leader</a:t>
                      </a:r>
                    </a:p>
                  </a:txBody>
                  <a:tcPr marL="54864" marR="54864" marT="27432" marB="27432">
                    <a:solidFill>
                      <a:srgbClr val="E5F5FF"/>
                    </a:solidFill>
                  </a:tcPr>
                </a:tc>
                <a:tc>
                  <a:txBody>
                    <a:bodyPr/>
                    <a:lstStyle/>
                    <a:p>
                      <a:r>
                        <a:rPr sz="850" b="0">
                          <a:solidFill>
                            <a:srgbClr val="4B4B4B"/>
                          </a:solidFill>
                          <a:latin typeface="Arial"/>
                        </a:rPr>
                        <a:t>Renewals ticked</a:t>
                      </a:r>
                    </a:p>
                  </a:txBody>
                  <a:tcPr marL="54864" marR="54864" marT="27432" marB="27432">
                    <a:solidFill>
                      <a:srgbClr val="E5F5FF"/>
                    </a:solidFill>
                  </a:tcPr>
                </a:tc>
                <a:tc>
                  <a:txBody>
                    <a:bodyPr/>
                    <a:lstStyle/>
                    <a:p>
                      <a:r>
                        <a:rPr sz="850" b="0">
                          <a:solidFill>
                            <a:srgbClr val="4B4B4B"/>
                          </a:solidFill>
                          <a:latin typeface="Arial"/>
                        </a:rPr>
                        <a:t>Assigns the renewals to the user</a:t>
                      </a:r>
                    </a:p>
                  </a:txBody>
                  <a:tcPr marL="54864" marR="54864" marT="27432" marB="27432">
                    <a:solidFill>
                      <a:srgbClr val="E5F5FF"/>
                    </a:solidFill>
                  </a:tcPr>
                </a:tc>
                <a:tc>
                  <a:txBody>
                    <a:bodyPr/>
                    <a:lstStyle/>
                    <a:p>
                      <a:r>
                        <a:rPr sz="850" b="0">
                          <a:solidFill>
                            <a:srgbClr val="4B4B4B"/>
                          </a:solidFill>
                          <a:latin typeface="Arial"/>
                        </a:rPr>
                        <a:t>In Processing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Marketing</a:t>
                      </a:r>
                    </a:p>
                  </a:txBody>
                  <a:tcPr marL="54864" marR="54864" marT="27432" marB="27432">
                    <a:solidFill>
                      <a:srgbClr val="FFFFFF"/>
                    </a:solidFill>
                  </a:tcPr>
                </a:tc>
                <a:tc>
                  <a:txBody>
                    <a:bodyPr/>
                    <a:lstStyle/>
                    <a:p>
                      <a:r>
                        <a:rPr sz="850" b="0">
                          <a:solidFill>
                            <a:srgbClr val="4B4B4B"/>
                          </a:solidFill>
                          <a:latin typeface="Arial"/>
                        </a:rPr>
                        <a:t>Processing Team Leader and Officers</a:t>
                      </a:r>
                    </a:p>
                  </a:txBody>
                  <a:tcPr marL="54864" marR="54864" marT="27432" marB="27432">
                    <a:solidFill>
                      <a:srgbClr val="FFFFFF"/>
                    </a:solidFill>
                  </a:tcPr>
                </a:tc>
                <a:tc>
                  <a:txBody>
                    <a:bodyPr/>
                    <a:lstStyle/>
                    <a:p>
                      <a:r>
                        <a:rPr sz="850" b="0">
                          <a:solidFill>
                            <a:srgbClr val="4B4B4B"/>
                          </a:solidFill>
                          <a:latin typeface="Arial"/>
                        </a:rPr>
                        <a:t>Renewals ticked</a:t>
                      </a:r>
                    </a:p>
                  </a:txBody>
                  <a:tcPr marL="54864" marR="54864" marT="27432" marB="27432">
                    <a:solidFill>
                      <a:srgbClr val="FFFFFF"/>
                    </a:solidFill>
                  </a:tcPr>
                </a:tc>
                <a:tc>
                  <a:txBody>
                    <a:bodyPr/>
                    <a:lstStyle/>
                    <a:p>
                      <a:r>
                        <a:rPr sz="850" b="0">
                          <a:solidFill>
                            <a:srgbClr val="4B4B4B"/>
                          </a:solidFill>
                          <a:latin typeface="Arial"/>
                        </a:rPr>
                        <a:t>Opens the dialog; the renewal goes back to the officer or the Team Leader</a:t>
                      </a:r>
                    </a:p>
                  </a:txBody>
                  <a:tcPr marL="54864" marR="54864" marT="27432" marB="27432">
                    <a:solidFill>
                      <a:srgbClr val="FFFFFF"/>
                    </a:solidFill>
                  </a:tcPr>
                </a:tc>
                <a:tc>
                  <a:txBody>
                    <a:bodyPr/>
                    <a:lstStyle/>
                    <a:p>
                      <a:r>
                        <a:rPr sz="850" b="0">
                          <a:solidFill>
                            <a:srgbClr val="4B4B4B"/>
                          </a:solidFill>
                          <a:latin typeface="Arial"/>
                        </a:rPr>
                        <a:t>For Disposition or Review in Progress</a:t>
                      </a:r>
                    </a:p>
                  </a:txBody>
                  <a:tcPr marL="54864" marR="54864" marT="27432" marB="27432">
                    <a:solidFill>
                      <a:srgbClr val="FFFFFF"/>
                    </a:solidFill>
                  </a:tcPr>
                </a:tc>
                <a:tc>
                  <a:txBody>
                    <a:bodyPr/>
                    <a:lstStyle/>
                    <a:p>
                      <a:r>
                        <a:rPr sz="850" b="0">
                          <a:solidFill>
                            <a:srgbClr val="4B4B4B"/>
                          </a:solidFill>
                          <a:latin typeface="Arial"/>
                        </a:rPr>
                        <a:t>Renewal returned (NT-04)</a:t>
                      </a:r>
                    </a:p>
                  </a:txBody>
                  <a:tcPr marL="54864" marR="54864" marT="27432" marB="27432">
                    <a:solidFill>
                      <a:srgbClr val="FFFFFF"/>
                    </a:solidFill>
                  </a:tcPr>
                </a:tc>
              </a:tr>
              <a:tr h="480057">
                <a:tc>
                  <a:txBody>
                    <a:bodyPr/>
                    <a:lstStyle/>
                    <a:p>
                      <a:r>
                        <a:rPr sz="850" b="0">
                          <a:solidFill>
                            <a:srgbClr val="4B4B4B"/>
                          </a:solidFill>
                          <a:latin typeface="Arial"/>
                        </a:rPr>
                        <a:t>Upload Dispositions</a:t>
                      </a:r>
                    </a:p>
                  </a:txBody>
                  <a:tcPr marL="54864" marR="54864" marT="27432" marB="27432">
                    <a:solidFill>
                      <a:srgbClr val="E5F5FF"/>
                    </a:solidFill>
                  </a:tcPr>
                </a:tc>
                <a:tc>
                  <a:txBody>
                    <a:bodyPr/>
                    <a:lstStyle/>
                    <a:p>
                      <a:r>
                        <a:rPr sz="850" b="0">
                          <a:solidFill>
                            <a:srgbClr val="4B4B4B"/>
                          </a:solidFill>
                          <a:latin typeface="Arial"/>
                        </a:rPr>
                        <a:t>Processing Team Leader and Officers (upload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of the dispositioned file; Declare Complete File tags the renewals of the range and unit missing from it</a:t>
                      </a:r>
                    </a:p>
                  </a:txBody>
                  <a:tcPr marL="54864" marR="54864" marT="27432" marB="27432">
                    <a:solidFill>
                      <a:srgbClr val="E5F5FF"/>
                    </a:solidFill>
                  </a:tcPr>
                </a:tc>
                <a:tc>
                  <a:txBody>
                    <a:bodyPr/>
                    <a:lstStyle/>
                    <a:p>
                      <a:r>
                        <a:rPr sz="850" b="0">
                          <a:solidFill>
                            <a:srgbClr val="4B4B4B"/>
                          </a:solidFill>
                          <a:latin typeface="Arial"/>
                        </a:rPr>
                        <a:t>For Disposition with the dispositions of the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Create Renewal Account (renewal)</a:t>
                      </a:r>
                    </a:p>
                  </a:txBody>
                  <a:tcPr marL="54864" marR="54864" marT="27432" marB="27432">
                    <a:solidFill>
                      <a:srgbClr val="FFFFFF"/>
                    </a:solidFill>
                  </a:tcPr>
                </a:tc>
                <a:tc>
                  <a:txBody>
                    <a:bodyPr/>
                    <a:lstStyle/>
                    <a:p>
                      <a:r>
                        <a:rPr sz="850" b="0">
                          <a:solidFill>
                            <a:srgbClr val="4B4B4B"/>
                          </a:solidFill>
                          <a:latin typeface="Arial"/>
                        </a:rPr>
                        <a:t>Processing Officers</a:t>
                      </a:r>
                    </a:p>
                  </a:txBody>
                  <a:tcPr marL="54864" marR="54864" marT="27432" marB="27432">
                    <a:solidFill>
                      <a:srgbClr val="FFFFFF"/>
                    </a:solidFill>
                  </a:tcPr>
                </a:tc>
                <a:tc>
                  <a:txBody>
                    <a:bodyPr/>
                    <a:lstStyle/>
                    <a:p>
                      <a:r>
                        <a:rPr sz="850" b="0">
                          <a:solidFill>
                            <a:srgbClr val="4B4B4B"/>
                          </a:solidFill>
                          <a:latin typeface="Arial"/>
                        </a:rPr>
                        <a:t>For Processing or In Processing without a renewal account</a:t>
                      </a:r>
                    </a:p>
                  </a:txBody>
                  <a:tcPr marL="54864" marR="54864" marT="27432" marB="27432">
                    <a:solidFill>
                      <a:srgbClr val="FFFFFF"/>
                    </a:solidFill>
                  </a:tcPr>
                </a:tc>
                <a:tc>
                  <a:txBody>
                    <a:bodyPr/>
                    <a:lstStyle/>
                    <a:p>
                      <a:r>
                        <a:rPr sz="850" b="0">
                          <a:solidFill>
                            <a:srgbClr val="4B4B4B"/>
                          </a:solidFill>
                          <a:latin typeface="Arial"/>
                        </a:rPr>
                        <a:t>Creates the renewal account (business type Renewal) from the expiring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renewal is assigned to one Processing Officer at a time; the Team Leader may re-assign it (FR-RN-061).</a:t>
                      </a:r>
                    </a:p>
                  </a:txBody>
                  <a:tcPr marL="54864" marR="54864" marT="27432" marB="27432">
                    <a:solidFill>
                      <a:srgbClr val="FFFFFF"/>
                    </a:solidFill>
                  </a:tcPr>
                </a:tc>
              </a:tr>
              <a:tr h="243840">
                <a:tc>
                  <a:txBody>
                    <a:bodyPr/>
                    <a:lstStyle/>
                    <a:p>
                      <a:r>
                        <a:rPr sz="1000" b="0">
                          <a:solidFill>
                            <a:srgbClr val="4B4B4B"/>
                          </a:solidFill>
                          <a:latin typeface="Arial"/>
                        </a:rPr>
                        <a:t>The renewal account is created once, from the expiring account, and books as business type Renewal (FR-RN-063).</a:t>
                      </a:r>
                    </a:p>
                  </a:txBody>
                  <a:tcPr marL="54864" marR="54864" marT="27432" marB="27432">
                    <a:solidFill>
                      <a:srgbClr val="E5F5FF"/>
                    </a:solidFill>
                  </a:tcPr>
                </a:tc>
              </a:tr>
              <a:tr h="243840">
                <a:tc>
                  <a:txBody>
                    <a:bodyPr/>
                    <a:lstStyle/>
                    <a:p>
                      <a:r>
                        <a:rPr sz="1000" b="0">
                          <a:solidFill>
                            <a:srgbClr val="4B4B4B"/>
                          </a:solidFill>
                          <a:latin typeface="Arial"/>
                        </a:rPr>
                        <a:t>A return to Marketing needs a reason and remarks; the renewal goes back to the officer or to the Team Leader (FR-RN-065).</a:t>
                      </a:r>
                    </a:p>
                  </a:txBody>
                  <a:tcPr marL="54864" marR="54864" marT="27432" marB="27432">
                    <a:solidFill>
                      <a:srgbClr val="FFFFFF"/>
                    </a:solidFill>
                  </a:tcPr>
                </a:tc>
              </a:tr>
              <a:tr h="243840">
                <a:tc>
                  <a:txBody>
                    <a:bodyPr/>
                    <a:lstStyle/>
                    <a:p>
                      <a:r>
                        <a:rPr sz="1000" b="0">
                          <a:solidFill>
                            <a:srgbClr val="4B4B4B"/>
                          </a:solidFill>
                          <a:latin typeface="Arial"/>
                        </a:rPr>
                        <a:t>A file declared complete tags the renewals of the range and unit missing from it as not in the file (FR-RN-060).</a:t>
                      </a:r>
                    </a:p>
                  </a:txBody>
                  <a:tcPr marL="54864" marR="54864" marT="27432" marB="27432">
                    <a:solidFill>
                      <a:srgbClr val="E5F5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the Processing Worklist, tab For Processing, ticks the renewal and clicks Assign PO: Paolo Processor, then Assign</a:t>
                      </a:r>
                    </a:p>
                  </a:txBody>
                  <a:tcPr marL="54864" marR="54864" marT="27432" marB="27432">
                    <a:solidFill>
                      <a:srgbClr val="FFFFFF"/>
                    </a:solidFill>
                  </a:tcPr>
                </a:tc>
                <a:tc>
                  <a:txBody>
                    <a:bodyPr/>
                    <a:lstStyle/>
                    <a:p>
                      <a:r>
                        <a:rPr sz="900" b="0">
                          <a:solidFill>
                            <a:srgbClr val="4B4B4B"/>
                          </a:solidFill>
                          <a:latin typeface="Arial"/>
                        </a:rPr>
                        <a:t>SCR-RN-10_wt-b-step-01.png</a:t>
                      </a:r>
                    </a:p>
                  </a:txBody>
                  <a:tcPr marL="54864" marR="54864" marT="27432" marB="27432">
                    <a:solidFill>
                      <a:srgbClr val="FFFF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Processing Worklist: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0-01-list.png"/>
          <p:cNvPicPr>
            <a:picLocks noChangeAspect="1"/>
          </p:cNvPicPr>
          <p:nvPr/>
        </p:nvPicPr>
        <p:blipFill>
          <a:blip r:embed="rId3"/>
          <a:stretch>
            <a:fillRect/>
          </a:stretch>
        </p:blipFill>
        <p:spPr>
          <a:xfrm>
            <a:off x="1656751" y="1261872"/>
            <a:ext cx="887819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Processing Worklist of the Processing Team Leader with the actions of the tab</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Processing Worklist: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0-02-assig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Processing Officer dialog</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SCR-RN-10 Processing Worklist: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0-03-return.png"/>
          <p:cNvPicPr>
            <a:picLocks noChangeAspect="1"/>
          </p:cNvPicPr>
          <p:nvPr/>
        </p:nvPicPr>
        <p:blipFill>
          <a:blip r:embed="rId3"/>
          <a:stretch>
            <a:fillRect/>
          </a:stretch>
        </p:blipFill>
        <p:spPr>
          <a:xfrm>
            <a:off x="1010977" y="1261872"/>
            <a:ext cx="1016974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Marketing dialog: to the officer or the Team Leader, with the reason</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Insurer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Processing and the insurer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renewals sent to each insurer for its renewal terms: New Batch takes the renewals of an insurer in processing for an expiry range with the 28 columns of the insurer extract; the batch is downloaded or sent to the insurer, protected; Upload Insurer Responses records the replies of the insurer's file.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Insurer Batches</a:t>
                      </a:r>
                    </a:p>
                    <a:p>
                      <a:r>
                        <a:rPr sz="950" b="0">
                          <a:solidFill>
                            <a:srgbClr val="4B4B4B"/>
                          </a:solidFill>
                          <a:latin typeface="Arial"/>
                        </a:rPr>
                        <a:t>Client &amp; Policy › Renewal › Insurer Batches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FR-RN-070, FR-RN-071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receive the renewals and their decisions are recorded.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1" cy="348993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Batch / Insurance Company / Expiry range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name of the insurer; the range as a period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batches</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Renewals / Sent / Reply due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Number of renewals; time and the sender's name; dd-MMM-yyyy; Draft, Sent, Partially Responded or Closed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Responded / [the 28 columns of the insurer extract]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Yes or No for each renewal; Insurance Company, Invoice No, Assured Name, Risk Code, Inception Date, Expiry Date, Sum Insured, Premium Amount and the other columns of FRS section 6.4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insurer batch dialog</a:t>
                      </a:r>
                    </a:p>
                  </a:txBody>
                  <a:tcPr marL="54864" marR="54864" marT="27432" marB="27432">
                    <a:solidFill>
                      <a:srgbClr val="E5F5FF"/>
                    </a:solidFill>
                  </a:tcPr>
                </a:tc>
                <a:tc>
                  <a:txBody>
                    <a:bodyPr/>
                    <a:lstStyle/>
                    <a:p>
                      <a:r>
                        <a:rPr sz="850" b="0">
                          <a:solidFill>
                            <a:srgbClr val="4B4B4B"/>
                          </a:solidFill>
                          <a:latin typeface="Arial"/>
                        </a:rPr>
                        <a:t>Insurance Company</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Name of the insurer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insurer</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insurer batch dialog</a:t>
                      </a:r>
                    </a:p>
                  </a:txBody>
                  <a:tcPr marL="54864" marR="54864" marT="27432" marB="27432">
                    <a:solidFill>
                      <a:srgbClr val="FFFFFF"/>
                    </a:solidFill>
                  </a:tcPr>
                </a:tc>
                <a:tc>
                  <a:txBody>
                    <a:bodyPr/>
                    <a:lstStyle/>
                    <a:p>
                      <a:r>
                        <a:rPr sz="850" b="0">
                          <a:solidFill>
                            <a:srgbClr val="4B4B4B"/>
                          </a:solidFill>
                          <a:latin typeface="Arial"/>
                        </a:rPr>
                        <a:t>Expiry From / Expiry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the end on or after the start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Valid range</a:t>
                      </a:r>
                    </a:p>
                  </a:txBody>
                  <a:tcPr marL="54864" marR="54864" marT="27432" marB="27432">
                    <a:solidFill>
                      <a:srgbClr val="FFFFFF"/>
                    </a:solidFill>
                  </a:tcPr>
                </a:tc>
                <a:tc>
                  <a:txBody>
                    <a:bodyPr/>
                    <a:lstStyle/>
                    <a:p>
                      <a:r>
                        <a:rPr sz="850" b="0">
                          <a:solidFill>
                            <a:srgbClr val="4B4B4B"/>
                          </a:solidFill>
                          <a:latin typeface="Arial"/>
                        </a:rPr>
                        <a:t>Enter a valid start and end date</a:t>
                      </a:r>
                    </a:p>
                  </a:txBody>
                  <a:tcPr marL="54864" marR="54864" marT="27432" marB="27432">
                    <a:solidFill>
                      <a:srgbClr val="FFFFFF"/>
                    </a:solidFill>
                  </a:tcPr>
                </a:tc>
              </a:tr>
              <a:tr h="868674">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Insurer Responses</a:t>
                      </a:r>
                    </a:p>
                  </a:txBody>
                  <a:tcPr marL="54864" marR="54864" marT="27432" marB="27432">
                    <a:solidFill>
                      <a:srgbClr val="E5F5FF"/>
                    </a:solidFill>
                  </a:tcPr>
                </a:tc>
                <a:tc>
                  <a:txBody>
                    <a:bodyPr/>
                    <a:lstStyle/>
                    <a:p>
                      <a:r>
                        <a:rPr sz="850" b="0">
                          <a:solidFill>
                            <a:srgbClr val="4B4B4B"/>
                          </a:solidFill>
                          <a:latin typeface="Arial"/>
                        </a:rPr>
                        <a:t>Upload wizard: Renewal Reference, Policy No, Response, Insurer Reference, Revised Premium, Revised Sum Insured, Revised Rate, Terms, Received On, Reject Action, Remarks</a:t>
                      </a:r>
                    </a:p>
                  </a:txBody>
                  <a:tcPr marL="54864" marR="54864" marT="27432" marB="27432">
                    <a:solidFill>
                      <a:srgbClr val="E5F5FF"/>
                    </a:solidFill>
                  </a:tcPr>
                </a:tc>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Template of the insurer responses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row checked before anything is saved</a:t>
                      </a:r>
                    </a:p>
                  </a:txBody>
                  <a:tcPr marL="54864" marR="54864" marT="27432" marB="27432">
                    <a:solidFill>
                      <a:srgbClr val="E5F5FF"/>
                    </a:solidFill>
                  </a:tcPr>
                </a:tc>
                <a:tc>
                  <a:txBody>
                    <a:bodyPr/>
                    <a:lstStyle/>
                    <a:p>
                      <a:r>
                        <a:rPr sz="850" b="0">
                          <a:solidFill>
                            <a:srgbClr val="4B4B4B"/>
                          </a:solidFill>
                          <a:latin typeface="Arial"/>
                        </a:rPr>
                        <a:t>Response &lt;response&gt; is not valid</a:t>
                      </a:r>
                    </a:p>
                  </a:txBody>
                  <a:tcPr marL="54864" marR="54864" marT="27432" marB="27432">
                    <a:solidFill>
                      <a:srgbClr val="E5F5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Processing (insurer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Create Batch takes the renewals of the insurer in the range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 batch is open</a:t>
                      </a:r>
                    </a:p>
                  </a:txBody>
                  <a:tcPr marL="54864" marR="54864" marT="27432" marB="27432">
                    <a:solidFill>
                      <a:srgbClr val="E5F5FF"/>
                    </a:solidFill>
                  </a:tcPr>
                </a:tc>
                <a:tc>
                  <a:txBody>
                    <a:bodyPr/>
                    <a:lstStyle/>
                    <a:p>
                      <a:r>
                        <a:rPr sz="850" b="0">
                          <a:solidFill>
                            <a:srgbClr val="4B4B4B"/>
                          </a:solidFill>
                          <a:latin typeface="Arial"/>
                        </a:rPr>
                        <a:t>Downloads the insurer extract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Send to Insurer</a:t>
                      </a:r>
                    </a:p>
                  </a:txBody>
                  <a:tcPr marL="54864" marR="54864" marT="27432" marB="27432">
                    <a:solidFill>
                      <a:srgbClr val="FFFFFF"/>
                    </a:solidFill>
                  </a:tcPr>
                </a:tc>
                <a:tc>
                  <a:txBody>
                    <a:bodyPr/>
                    <a:lstStyle/>
                    <a:p>
                      <a:r>
                        <a:rPr sz="850" b="0">
                          <a:solidFill>
                            <a:srgbClr val="4B4B4B"/>
                          </a:solidFill>
                          <a:latin typeface="Arial"/>
                        </a:rPr>
                        <a:t>Processing (insurer permission)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Asks for confirmation; the extract is e-mailed protected to the insurer's renewal contacts</a:t>
                      </a:r>
                    </a:p>
                  </a:txBody>
                  <a:tcPr marL="54864" marR="54864" marT="27432" marB="27432">
                    <a:solidFill>
                      <a:srgbClr val="FFFFFF"/>
                    </a:solidFill>
                  </a:tcPr>
                </a:tc>
                <a:tc>
                  <a:txBody>
                    <a:bodyPr/>
                    <a:lstStyle/>
                    <a:p>
                      <a:r>
                        <a:rPr sz="850" b="0">
                          <a:solidFill>
                            <a:srgbClr val="4B4B4B"/>
                          </a:solidFill>
                          <a:latin typeface="Arial"/>
                        </a:rPr>
                        <a:t>Sent; the renewals With Insurer</a:t>
                      </a:r>
                    </a:p>
                  </a:txBody>
                  <a:tcPr marL="54864" marR="54864" marT="27432" marB="27432">
                    <a:solidFill>
                      <a:srgbClr val="FFFFFF"/>
                    </a:solidFill>
                  </a:tcPr>
                </a:tc>
                <a:tc>
                  <a:txBody>
                    <a:bodyPr/>
                    <a:lstStyle/>
                    <a:p>
                      <a:r>
                        <a:rPr sz="850" b="0">
                          <a:solidFill>
                            <a:srgbClr val="4B4B4B"/>
                          </a:solidFill>
                          <a:latin typeface="Arial"/>
                        </a:rPr>
                        <a:t>Insurer extract e-mail (NT-18)</a:t>
                      </a:r>
                    </a:p>
                  </a:txBody>
                  <a:tcPr marL="54864" marR="54864" marT="27432" marB="27432">
                    <a:solidFill>
                      <a:srgbClr val="FFFFFF"/>
                    </a:solidFill>
                  </a:tcPr>
                </a:tc>
              </a:tr>
              <a:tr h="350518">
                <a:tc>
                  <a:txBody>
                    <a:bodyPr/>
                    <a:lstStyle/>
                    <a:p>
                      <a:r>
                        <a:rPr sz="850" b="0">
                          <a:solidFill>
                            <a:srgbClr val="4B4B4B"/>
                          </a:solidFill>
                          <a:latin typeface="Arial"/>
                        </a:rPr>
                        <a:t>Upload Insurer Responses</a:t>
                      </a:r>
                    </a:p>
                  </a:txBody>
                  <a:tcPr marL="54864" marR="54864" marT="27432" marB="27432">
                    <a:solidFill>
                      <a:srgbClr val="E5F5FF"/>
                    </a:solidFill>
                  </a:tcPr>
                </a:tc>
                <a:tc>
                  <a:txBody>
                    <a:bodyPr/>
                    <a:lstStyle/>
                    <a:p>
                      <a:r>
                        <a:rPr sz="850" b="0">
                          <a:solidFill>
                            <a:srgbClr val="4B4B4B"/>
                          </a:solidFill>
                          <a:latin typeface="Arial"/>
                        </a:rPr>
                        <a:t>Processing (insurer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of the insurer's file; each response is matched to its renewal</a:t>
                      </a:r>
                    </a:p>
                  </a:txBody>
                  <a:tcPr marL="54864" marR="54864" marT="27432" marB="27432">
                    <a:solidFill>
                      <a:srgbClr val="E5F5FF"/>
                    </a:solidFill>
                  </a:tcPr>
                </a:tc>
                <a:tc>
                  <a:txBody>
                    <a:bodyPr/>
                    <a:lstStyle/>
                    <a:p>
                      <a:r>
                        <a:rPr sz="850" b="0">
                          <a:solidFill>
                            <a:srgbClr val="4B4B4B"/>
                          </a:solidFill>
                          <a:latin typeface="Arial"/>
                        </a:rPr>
                        <a:t>Insurer Responded</a:t>
                      </a:r>
                    </a:p>
                  </a:txBody>
                  <a:tcPr marL="54864" marR="54864" marT="27432" marB="27432">
                    <a:solidFill>
                      <a:srgbClr val="E5F5FF"/>
                    </a:solidFill>
                  </a:tcPr>
                </a:tc>
                <a:tc>
                  <a:txBody>
                    <a:bodyPr/>
                    <a:lstStyle/>
                    <a:p>
                      <a:r>
                        <a:rPr sz="850" b="0">
                          <a:solidFill>
                            <a:srgbClr val="4B4B4B"/>
                          </a:solidFill>
                          <a:latin typeface="Arial"/>
                        </a:rPr>
                        <a:t>Insurer renewal response (NT-06)</a:t>
                      </a:r>
                    </a:p>
                  </a:txBody>
                  <a:tcPr marL="54864" marR="54864" marT="27432" marB="27432">
                    <a:solidFill>
                      <a:srgbClr val="E5F5FF"/>
                    </a:solidFill>
                  </a:tcPr>
                </a:tc>
              </a:tr>
              <a:tr h="220979">
                <a:tc>
                  <a:txBody>
                    <a:bodyPr/>
                    <a:lstStyle/>
                    <a:p>
                      <a:r>
                        <a:rPr sz="850" b="0">
                          <a:solidFill>
                            <a:srgbClr val="4B4B4B"/>
                          </a:solidFill>
                          <a:latin typeface="Arial"/>
                        </a:rPr>
                        <a:t>Close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 batch is open</a:t>
                      </a:r>
                    </a:p>
                  </a:txBody>
                  <a:tcPr marL="54864" marR="54864" marT="27432" marB="27432">
                    <a:solidFill>
                      <a:srgbClr val="FFFFFF"/>
                    </a:solidFill>
                  </a:tcPr>
                </a:tc>
                <a:tc>
                  <a:txBody>
                    <a:bodyPr/>
                    <a:lstStyle/>
                    <a:p>
                      <a:r>
                        <a:rPr sz="850" b="0">
                          <a:solidFill>
                            <a:srgbClr val="4B4B4B"/>
                          </a:solidFill>
                          <a:latin typeface="Arial"/>
                        </a:rPr>
                        <a:t>Closes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takes the For Renewal renewals of one insurer in processing for the expiry range; a batch is sent once (FR-RN-070).</a:t>
                      </a:r>
                    </a:p>
                  </a:txBody>
                  <a:tcPr marL="54864" marR="54864" marT="27432" marB="27432">
                    <a:solidFill>
                      <a:srgbClr val="FFFFFF"/>
                    </a:solidFill>
                  </a:tcPr>
                </a:tc>
              </a:tr>
              <a:tr h="243840">
                <a:tc>
                  <a:txBody>
                    <a:bodyPr/>
                    <a:lstStyle/>
                    <a:p>
                      <a:r>
                        <a:rPr sz="1000" b="0">
                          <a:solidFill>
                            <a:srgbClr val="4B4B4B"/>
                          </a:solidFill>
                          <a:latin typeface="Arial"/>
                        </a:rPr>
                        <a:t>The insurer has the reply days (10 by default) to answer; a batch past its reply date raises the insurer overdue alert (FR-RN-070).</a:t>
                      </a:r>
                    </a:p>
                  </a:txBody>
                  <a:tcPr marL="54864" marR="54864" marT="27432" marB="27432">
                    <a:solidFill>
                      <a:srgbClr val="E5F5FF"/>
                    </a:solidFill>
                  </a:tcPr>
                </a:tc>
              </a:tr>
              <a:tr h="396240">
                <a:tc>
                  <a:txBody>
                    <a:bodyPr/>
                    <a:lstStyle/>
                    <a:p>
                      <a:r>
                        <a:rPr sz="1000" b="0">
                          <a:solidFill>
                            <a:srgbClr val="4B4B4B"/>
                          </a:solidFill>
                          <a:latin typeface="Arial"/>
                        </a:rPr>
                        <a:t>Responses are captured once and kept; Renew As Is with a match moves the renewal to the Renewal Advice without re-keying; a revision raises the financial impact; a rejection re-markets or closes the renewal (FR-RN-071).</a:t>
                      </a:r>
                    </a:p>
                  </a:txBody>
                  <a:tcPr marL="54864" marR="54864" marT="27432" marB="27432">
                    <a:solidFill>
                      <a:srgbClr val="FFFF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Opens Insurer Batches, clicks New Batch with Luzon Assurance Co. and the expiry date of the renewal, then Create Batch, and opens the batch</a:t>
                      </a:r>
                    </a:p>
                  </a:txBody>
                  <a:tcPr marL="54864" marR="54864" marT="27432" marB="27432">
                    <a:solidFill>
                      <a:srgbClr val="FFFFFF"/>
                    </a:solidFill>
                  </a:tcPr>
                </a:tc>
                <a:tc>
                  <a:txBody>
                    <a:bodyPr/>
                    <a:lstStyle/>
                    <a:p>
                      <a:r>
                        <a:rPr sz="900" b="0">
                          <a:solidFill>
                            <a:srgbClr val="4B4B4B"/>
                          </a:solidFill>
                          <a:latin typeface="Arial"/>
                        </a:rPr>
                        <a:t>SCR-RN-11_wt-b-step-02.png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3</a:t>
                      </a:r>
                    </a:p>
                  </a:txBody>
                  <a:tcPr marL="54864" marR="54864" marT="27432" marB="27432">
                    <a:solidFill>
                      <a:srgbClr val="E5F5FF"/>
                    </a:solidFill>
                  </a:tcPr>
                </a:tc>
                <a:tc>
                  <a:txBody>
                    <a:bodyPr/>
                    <a:lstStyle/>
                    <a:p>
                      <a:r>
                        <a:rPr sz="900" b="0">
                          <a:solidFill>
                            <a:srgbClr val="4B4B4B"/>
                          </a:solidFill>
                          <a:latin typeface="Arial"/>
                        </a:rPr>
                        <a:t>Clicks Send to Insurer and confirms</a:t>
                      </a:r>
                    </a:p>
                  </a:txBody>
                  <a:tcPr marL="54864" marR="54864" marT="27432" marB="27432">
                    <a:solidFill>
                      <a:srgbClr val="E5F5FF"/>
                    </a:solidFill>
                  </a:tcPr>
                </a:tc>
                <a:tc>
                  <a:txBody>
                    <a:bodyPr/>
                    <a:lstStyle/>
                    <a:p>
                      <a:r>
                        <a:rPr sz="900" b="0">
                          <a:solidFill>
                            <a:srgbClr val="4B4B4B"/>
                          </a:solidFill>
                          <a:latin typeface="Arial"/>
                        </a:rPr>
                        <a:t>SCR-RN-11_wt-b-step-03.png</a:t>
                      </a:r>
                    </a:p>
                  </a:txBody>
                  <a:tcPr marL="54864" marR="54864" marT="27432" marB="27432">
                    <a:solidFill>
                      <a:srgbClr val="E5F5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Insurer Batches: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1-01-list.png"/>
          <p:cNvPicPr>
            <a:picLocks noChangeAspect="1"/>
          </p:cNvPicPr>
          <p:nvPr/>
        </p:nvPicPr>
        <p:blipFill>
          <a:blip r:embed="rId3"/>
          <a:stretch>
            <a:fillRect/>
          </a:stretch>
        </p:blipFill>
        <p:spPr>
          <a:xfrm>
            <a:off x="1105509" y="1261872"/>
            <a:ext cx="998067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Batches with the batch opened: the renewals and the columns of the extract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SCR-RN-11 Insurer Batches: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1-02-new.png"/>
          <p:cNvPicPr>
            <a:picLocks noChangeAspect="1"/>
          </p:cNvPicPr>
          <p:nvPr/>
        </p:nvPicPr>
        <p:blipFill>
          <a:blip r:embed="rId3"/>
          <a:stretch>
            <a:fillRect/>
          </a:stretch>
        </p:blipFill>
        <p:spPr>
          <a:xfrm>
            <a:off x="548640" y="1261872"/>
            <a:ext cx="11094415" cy="46528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insurer batch dialog: the insurer and the expiry range</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SCR-RN-12 Record Insurer Response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Processing and the insurer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insurer's answer for one renewal, recorded by hand when it does not come in the insurer's file: renew as is, renew with revised terms (the revised premium and sum insured) or declined, with the insurer reference and the date received; a declined renewal is re-marketed to another insurer or goes to the No Advice Letter.</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Processing Worklist › Renewal</a:t>
                      </a:r>
                    </a:p>
                    <a:p>
                      <a:r>
                        <a:rPr sz="950" b="0">
                          <a:solidFill>
                            <a:srgbClr val="4B4B4B"/>
                          </a:solidFill>
                          <a:latin typeface="Arial"/>
                        </a:rPr>
                        <a:t>Renewal (With Insurer) › Record Insurer Response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decision drives the renewal without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Record Insurer Response dialog</a:t>
                      </a:r>
                    </a:p>
                  </a:txBody>
                  <a:tcPr marL="54864" marR="54864" marT="27432" marB="27432">
                    <a:solidFill>
                      <a:srgbClr val="FFFFFF"/>
                    </a:solidFill>
                  </a:tcPr>
                </a:tc>
                <a:tc>
                  <a:txBody>
                    <a:bodyPr/>
                    <a:lstStyle/>
                    <a:p>
                      <a:r>
                        <a:rPr sz="850" b="0">
                          <a:solidFill>
                            <a:srgbClr val="4B4B4B"/>
                          </a:solidFill>
                          <a:latin typeface="Arial"/>
                        </a:rPr>
                        <a:t>Response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Renew as is, Renew with revised terms, Declined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Record Insurer Response dialog</a:t>
                      </a:r>
                    </a:p>
                  </a:txBody>
                  <a:tcPr marL="54864" marR="54864" marT="27432" marB="27432">
                    <a:solidFill>
                      <a:srgbClr val="E5F5FF"/>
                    </a:solidFill>
                  </a:tcPr>
                </a:tc>
                <a:tc>
                  <a:txBody>
                    <a:bodyPr/>
                    <a:lstStyle/>
                    <a:p>
                      <a:r>
                        <a:rPr sz="850" b="0">
                          <a:solidFill>
                            <a:srgbClr val="4B4B4B"/>
                          </a:solidFill>
                          <a:latin typeface="Arial"/>
                        </a:rPr>
                        <a:t>Insurer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Reference of the insurer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Record Insurer Response dialog</a:t>
                      </a:r>
                    </a:p>
                  </a:txBody>
                  <a:tcPr marL="54864" marR="54864" marT="27432" marB="27432">
                    <a:solidFill>
                      <a:srgbClr val="FFFFFF"/>
                    </a:solidFill>
                  </a:tcPr>
                </a:tc>
                <a:tc>
                  <a:txBody>
                    <a:bodyPr/>
                    <a:lstStyle/>
                    <a:p>
                      <a:r>
                        <a:rPr sz="850" b="0">
                          <a:solidFill>
                            <a:srgbClr val="4B4B4B"/>
                          </a:solidFill>
                          <a:latin typeface="Arial"/>
                        </a:rPr>
                        <a:t>Revised Premium / Revised Sum Insured</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Cond.: revised terms (premium) / N</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Enter the revised premium</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 Insurer Response dialog</a:t>
                      </a:r>
                    </a:p>
                  </a:txBody>
                  <a:tcPr marL="54864" marR="54864" marT="27432" marB="27432">
                    <a:solidFill>
                      <a:srgbClr val="E5F5FF"/>
                    </a:solidFill>
                  </a:tcPr>
                </a:tc>
                <a:tc>
                  <a:txBody>
                    <a:bodyPr/>
                    <a:lstStyle/>
                    <a:p>
                      <a:r>
                        <a:rPr sz="850" b="0">
                          <a:solidFill>
                            <a:srgbClr val="4B4B4B"/>
                          </a:solidFill>
                          <a:latin typeface="Arial"/>
                        </a:rPr>
                        <a:t>Received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Insurer Response dialog</a:t>
                      </a:r>
                    </a:p>
                  </a:txBody>
                  <a:tcPr marL="54864" marR="54864" marT="27432" marB="27432">
                    <a:solidFill>
                      <a:srgbClr val="FFFFFF"/>
                    </a:solidFill>
                  </a:tcPr>
                </a:tc>
                <a:tc>
                  <a:txBody>
                    <a:bodyPr/>
                    <a:lstStyle/>
                    <a:p>
                      <a:r>
                        <a:rPr sz="850" b="0">
                          <a:solidFill>
                            <a:srgbClr val="4B4B4B"/>
                          </a:solidFill>
                          <a:latin typeface="Arial"/>
                        </a:rPr>
                        <a:t>Re-market to another insurer</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Declined only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Insurer Response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most 200 characters</a:t>
                      </a:r>
                    </a:p>
                  </a:txBody>
                  <a:tcPr marL="54864" marR="54864" marT="27432" marB="27432">
                    <a:solidFill>
                      <a:srgbClr val="E5F5FF"/>
                    </a:solidFill>
                  </a:tcPr>
                </a:tc>
                <a:tc>
                  <a:txBody>
                    <a:bodyPr/>
                    <a:lstStyle/>
                    <a:p>
                      <a:r>
                        <a:rPr sz="850" b="0">
                          <a:solidFill>
                            <a:srgbClr val="4B4B4B"/>
                          </a:solidFill>
                          <a:latin typeface="Arial"/>
                        </a:rPr>
                        <a:t>Remarks may have at most 200 characters</a:t>
                      </a:r>
                    </a:p>
                  </a:txBody>
                  <a:tcPr marL="54864" marR="54864" marT="27432" marB="27432">
                    <a:solidFill>
                      <a:srgbClr val="E5F5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2" cy="96011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739135">
                <a:tc>
                  <a:txBody>
                    <a:bodyPr/>
                    <a:lstStyle/>
                    <a:p>
                      <a:r>
                        <a:rPr sz="850" b="0">
                          <a:solidFill>
                            <a:srgbClr val="4B4B4B"/>
                          </a:solidFill>
                          <a:latin typeface="Arial"/>
                        </a:rPr>
                        <a:t>Record Insurer Response</a:t>
                      </a:r>
                    </a:p>
                  </a:txBody>
                  <a:tcPr marL="54864" marR="54864" marT="27432" marB="27432">
                    <a:solidFill>
                      <a:srgbClr val="FFFFFF"/>
                    </a:solidFill>
                  </a:tcPr>
                </a:tc>
                <a:tc>
                  <a:txBody>
                    <a:bodyPr/>
                    <a:lstStyle/>
                    <a:p>
                      <a:r>
                        <a:rPr sz="850" b="0">
                          <a:solidFill>
                            <a:srgbClr val="4B4B4B"/>
                          </a:solidFill>
                          <a:latin typeface="Arial"/>
                        </a:rPr>
                        <a:t>Processing (insurer permission)</a:t>
                      </a:r>
                    </a:p>
                  </a:txBody>
                  <a:tcPr marL="54864" marR="54864" marT="27432" marB="27432">
                    <a:solidFill>
                      <a:srgbClr val="FFFFFF"/>
                    </a:solidFill>
                  </a:tcPr>
                </a:tc>
                <a:tc>
                  <a:txBody>
                    <a:bodyPr/>
                    <a:lstStyle/>
                    <a:p>
                      <a:r>
                        <a:rPr sz="850" b="0">
                          <a:solidFill>
                            <a:srgbClr val="4B4B4B"/>
                          </a:solidFill>
                          <a:latin typeface="Arial"/>
                        </a:rPr>
                        <a:t>With Insurer</a:t>
                      </a:r>
                    </a:p>
                  </a:txBody>
                  <a:tcPr marL="54864" marR="54864" marT="27432" marB="27432">
                    <a:solidFill>
                      <a:srgbClr val="FFFFFF"/>
                    </a:solidFill>
                  </a:tcPr>
                </a:tc>
                <a:tc>
                  <a:txBody>
                    <a:bodyPr/>
                    <a:lstStyle/>
                    <a:p>
                      <a:r>
                        <a:rPr sz="850" b="0">
                          <a:solidFill>
                            <a:srgbClr val="4B4B4B"/>
                          </a:solidFill>
                          <a:latin typeface="Arial"/>
                        </a:rPr>
                        <a:t>Opens the dialog; Record keeps the response, which drives the renewal when it is the latest valid one</a:t>
                      </a:r>
                    </a:p>
                  </a:txBody>
                  <a:tcPr marL="54864" marR="54864" marT="27432" marB="27432">
                    <a:solidFill>
                      <a:srgbClr val="FFFFFF"/>
                    </a:solidFill>
                  </a:tcPr>
                </a:tc>
                <a:tc>
                  <a:txBody>
                    <a:bodyPr/>
                    <a:lstStyle/>
                    <a:p>
                      <a:r>
                        <a:rPr sz="850" b="0">
                          <a:solidFill>
                            <a:srgbClr val="4B4B4B"/>
                          </a:solidFill>
                          <a:latin typeface="Arial"/>
                        </a:rPr>
                        <a:t>RA Ready, In Processing (revised terms), For Disposition (re-market) or Letter Pending (declined)</a:t>
                      </a:r>
                    </a:p>
                  </a:txBody>
                  <a:tcPr marL="54864" marR="54864" marT="27432" marB="27432">
                    <a:solidFill>
                      <a:srgbClr val="FFFFFF"/>
                    </a:solidFill>
                  </a:tcPr>
                </a:tc>
                <a:tc>
                  <a:txBody>
                    <a:bodyPr/>
                    <a:lstStyle/>
                    <a:p>
                      <a:r>
                        <a:rPr sz="850" b="0">
                          <a:solidFill>
                            <a:srgbClr val="4B4B4B"/>
                          </a:solidFill>
                          <a:latin typeface="Arial"/>
                        </a:rPr>
                        <a:t>Insurer renewal response (NT-06)</a:t>
                      </a:r>
                    </a:p>
                  </a:txBody>
                  <a:tcPr marL="54864" marR="54864" marT="27432" marB="27432">
                    <a:solidFill>
                      <a:srgbClr val="FFFF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late, conflicting or mismatched response does not move the renewal; the mismatch is overridden by the Team Leader with remarks (FR-RN-071, FR-RN-051).</a:t>
                      </a:r>
                    </a:p>
                  </a:txBody>
                  <a:tcPr marL="54864" marR="54864" marT="27432" marB="27432">
                    <a:solidFill>
                      <a:srgbClr val="FFFFFF"/>
                    </a:solidFill>
                  </a:tcPr>
                </a:tc>
              </a:tr>
              <a:tr h="243840">
                <a:tc>
                  <a:txBody>
                    <a:bodyPr/>
                    <a:lstStyle/>
                    <a:p>
                      <a:r>
                        <a:rPr sz="1000" b="0">
                          <a:solidFill>
                            <a:srgbClr val="4B4B4B"/>
                          </a:solidFill>
                          <a:latin typeface="Arial"/>
                        </a:rPr>
                        <a:t>Revised terms are a financial impact: the client accepts them explicitly (FR-RN-064, FR-RN-084).</a:t>
                      </a:r>
                    </a:p>
                  </a:txBody>
                  <a:tcPr marL="54864" marR="54864" marT="27432" marB="27432">
                    <a:solidFill>
                      <a:srgbClr val="E5F5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4</a:t>
                      </a:r>
                    </a:p>
                  </a:txBody>
                  <a:tcPr marL="54864" marR="54864" marT="27432" marB="27432">
                    <a:solidFill>
                      <a:srgbClr val="FFFFFF"/>
                    </a:solidFill>
                  </a:tcPr>
                </a:tc>
                <a:tc>
                  <a:txBody>
                    <a:bodyPr/>
                    <a:lstStyle/>
                    <a:p>
                      <a:r>
                        <a:rPr sz="900" b="0">
                          <a:solidFill>
                            <a:srgbClr val="4B4B4B"/>
                          </a:solidFill>
                          <a:latin typeface="Arial"/>
                        </a:rPr>
                        <a:t>Opens the renewal and clicks Record Insurer Response: Renew as is with the insurer reference, then Record</a:t>
                      </a:r>
                    </a:p>
                  </a:txBody>
                  <a:tcPr marL="54864" marR="54864" marT="27432" marB="27432">
                    <a:solidFill>
                      <a:srgbClr val="FFFFFF"/>
                    </a:solidFill>
                  </a:tcPr>
                </a:tc>
                <a:tc>
                  <a:txBody>
                    <a:bodyPr/>
                    <a:lstStyle/>
                    <a:p>
                      <a:r>
                        <a:rPr sz="900" b="0">
                          <a:solidFill>
                            <a:srgbClr val="4B4B4B"/>
                          </a:solidFill>
                          <a:latin typeface="Arial"/>
                        </a:rPr>
                        <a:t>SCR-RN-12_wt-b-step-04.png</a:t>
                      </a:r>
                    </a:p>
                  </a:txBody>
                  <a:tcPr marL="54864" marR="54864" marT="27432" marB="27432">
                    <a:solidFill>
                      <a:srgbClr val="FFFF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SCR-RN-12 Record Insurer Response: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2-01-response.png"/>
          <p:cNvPicPr>
            <a:picLocks noChangeAspect="1"/>
          </p:cNvPicPr>
          <p:nvPr/>
        </p:nvPicPr>
        <p:blipFill>
          <a:blip r:embed="rId3"/>
          <a:stretch>
            <a:fillRect/>
          </a:stretch>
        </p:blipFill>
        <p:spPr>
          <a:xfrm>
            <a:off x="1188614" y="1261872"/>
            <a:ext cx="981446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Insurer Response dialog: renew with revised terms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Letters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Letters, acceptance and follow-up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letters of the renewals by tab: RA Ready (generate the Renewal Advice, first or second notice), RA Generated (send it, protected, to the client), RA Sent, NAL / NFR (send the No Advice or Not for Renewal letter that closes the renewal) and NRNS (renewals with no response). Client acceptances are recorded on the renewal or uploaded here.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Letters</a:t>
                      </a:r>
                    </a:p>
                    <a:p>
                      <a:r>
                        <a:rPr sz="950" b="0">
                          <a:solidFill>
                            <a:srgbClr val="4B4B4B"/>
                          </a:solidFill>
                          <a:latin typeface="Arial"/>
                        </a:rPr>
                        <a:t>Client &amp; Policy › Renewal › Letters</a:t>
                      </a:r>
                    </a:p>
                    <a:p>
                      <a:r>
                        <a:rPr sz="950" b="0">
                          <a:solidFill>
                            <a:srgbClr val="4B4B4B"/>
                          </a:solidFill>
                          <a:latin typeface="Arial"/>
                        </a:rPr>
                        <a:t>Renewal Home › NRNS or Letters failed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FR-RN-080, FR-RN-081, FR-RN-082, FR-RN-083, FR-RN-024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clients receive their Renewal Advice or closing letter.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1" cy="24917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RA Ready / RA Generated / RA Sent / NAL / NFR / NRNS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Columns of the renewal lists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on the Expiry List (SCR-RN-02)</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renewals to display</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Generate Renewal Advice dialog</a:t>
                      </a:r>
                    </a:p>
                  </a:txBody>
                  <a:tcPr marL="54864" marR="54864" marT="27432" marB="27432">
                    <a:solidFill>
                      <a:srgbClr val="FFFFFF"/>
                    </a:solidFill>
                  </a:tcPr>
                </a:tc>
                <a:tc>
                  <a:txBody>
                    <a:bodyPr/>
                    <a:lstStyle/>
                    <a:p>
                      <a:r>
                        <a:rPr sz="850" b="0">
                          <a:solidFill>
                            <a:srgbClr val="4B4B4B"/>
                          </a:solidFill>
                          <a:latin typeface="Arial"/>
                        </a:rPr>
                        <a:t>Notice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First notice or Second notice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second notice after the days from the first</a:t>
                      </a:r>
                    </a:p>
                  </a:txBody>
                  <a:tcPr marL="54864" marR="54864" marT="27432" marB="27432">
                    <a:solidFill>
                      <a:srgbClr val="FFFFFF"/>
                    </a:solidFill>
                  </a:tcPr>
                </a:tc>
                <a:tc>
                  <a:txBody>
                    <a:bodyPr/>
                    <a:lstStyle/>
                    <a:p>
                      <a:r>
                        <a:rPr sz="850" b="0">
                          <a:solidFill>
                            <a:srgbClr val="4B4B4B"/>
                          </a:solidFill>
                          <a:latin typeface="Arial"/>
                        </a:rPr>
                        <a:t>The second notice of &lt;renewal ref&gt; is due &lt;ra second notice days&gt; days after the first</a:t>
                      </a:r>
                    </a:p>
                  </a:txBody>
                  <a:tcPr marL="54864" marR="54864" marT="27432" marB="27432">
                    <a:solidFill>
                      <a:srgbClr val="FFFFFF"/>
                    </a:solidFill>
                  </a:tcPr>
                </a:tc>
              </a:tr>
              <a:tr h="739135">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Generate Renewal Advice dialog</a:t>
                      </a:r>
                    </a:p>
                  </a:txBody>
                  <a:tcPr marL="54864" marR="54864" marT="27432" marB="27432">
                    <a:solidFill>
                      <a:srgbClr val="E5F5FF"/>
                    </a:solidFill>
                  </a:tcPr>
                </a:tc>
                <a:tc>
                  <a:txBody>
                    <a:bodyPr/>
                    <a:lstStyle/>
                    <a:p>
                      <a:r>
                        <a:rPr sz="850" b="0">
                          <a:solidFill>
                            <a:srgbClr val="4B4B4B"/>
                          </a:solidFill>
                          <a:latin typeface="Arial"/>
                        </a:rPr>
                        <a:t>Generate also when the minimum notice before expiry has passed (the confirmation is recorded)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fewer than 30 days to expiry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Renewal &lt;renewal ref&gt; expires in &lt;days&gt; day(s): confirm the late Renewal Advice</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Acceptances</a:t>
                      </a:r>
                    </a:p>
                  </a:txBody>
                  <a:tcPr marL="54864" marR="54864" marT="27432" marB="27432">
                    <a:solidFill>
                      <a:srgbClr val="FFFFFF"/>
                    </a:solidFill>
                  </a:tcPr>
                </a:tc>
                <a:tc>
                  <a:txBody>
                    <a:bodyPr/>
                    <a:lstStyle/>
                    <a:p>
                      <a:r>
                        <a:rPr sz="850" b="0">
                          <a:solidFill>
                            <a:srgbClr val="4B4B4B"/>
                          </a:solidFill>
                          <a:latin typeface="Arial"/>
                        </a:rPr>
                        <a:t>Upload wizard: Renewal Reference, Method, Evidence Reference, Accepted On, Remarks</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of the client acceptances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Every row checked before anything is saved</a:t>
                      </a:r>
                    </a:p>
                  </a:txBody>
                  <a:tcPr marL="54864" marR="54864" marT="27432" marB="27432">
                    <a:solidFill>
                      <a:srgbClr val="FFFFFF"/>
                    </a:solidFill>
                  </a:tcPr>
                </a:tc>
                <a:tc>
                  <a:txBody>
                    <a:bodyPr/>
                    <a:lstStyle/>
                    <a:p>
                      <a:r>
                        <a:rPr sz="850" b="0">
                          <a:solidFill>
                            <a:srgbClr val="4B4B4B"/>
                          </a:solidFill>
                          <a:latin typeface="Arial"/>
                        </a:rPr>
                        <a:t>Method &lt;method&gt; is not valid (E-mail or Payment)</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Generate RA</a:t>
                      </a:r>
                    </a:p>
                  </a:txBody>
                  <a:tcPr marL="54864" marR="54864" marT="27432" marB="27432">
                    <a:solidFill>
                      <a:srgbClr val="FFFFFF"/>
                    </a:solidFill>
                  </a:tcPr>
                </a:tc>
                <a:tc>
                  <a:txBody>
                    <a:bodyPr/>
                    <a:lstStyle/>
                    <a:p>
                      <a:r>
                        <a:rPr sz="850" b="0">
                          <a:solidFill>
                            <a:srgbClr val="4B4B4B"/>
                          </a:solidFill>
                          <a:latin typeface="Arial"/>
                        </a:rPr>
                        <a:t>Marketing and Processing (generate permission)</a:t>
                      </a:r>
                    </a:p>
                  </a:txBody>
                  <a:tcPr marL="54864" marR="54864" marT="27432" marB="27432">
                    <a:solidFill>
                      <a:srgbClr val="FFFFFF"/>
                    </a:solidFill>
                  </a:tcPr>
                </a:tc>
                <a:tc>
                  <a:txBody>
                    <a:bodyPr/>
                    <a:lstStyle/>
                    <a:p>
                      <a:r>
                        <a:rPr sz="850" b="0">
                          <a:solidFill>
                            <a:srgbClr val="4B4B4B"/>
                          </a:solidFill>
                          <a:latin typeface="Arial"/>
                        </a:rPr>
                        <a:t>Tab RA Ready, RA Sent or NRNS, renewals ticked</a:t>
                      </a:r>
                    </a:p>
                  </a:txBody>
                  <a:tcPr marL="54864" marR="54864" marT="27432" marB="27432">
                    <a:solidFill>
                      <a:srgbClr val="FFFFFF"/>
                    </a:solidFill>
                  </a:tcPr>
                </a:tc>
                <a:tc>
                  <a:txBody>
                    <a:bodyPr/>
                    <a:lstStyle/>
                    <a:p>
                      <a:r>
                        <a:rPr sz="850" b="0">
                          <a:solidFill>
                            <a:srgbClr val="4B4B4B"/>
                          </a:solidFill>
                          <a:latin typeface="Arial"/>
                        </a:rPr>
                        <a:t>Opens the dialog; Generate creates the Renewal Advice from the latest template and locks the renewal on the Marketing side</a:t>
                      </a:r>
                    </a:p>
                  </a:txBody>
                  <a:tcPr marL="54864" marR="54864" marT="27432" marB="27432">
                    <a:solidFill>
                      <a:srgbClr val="FFFFFF"/>
                    </a:solidFill>
                  </a:tcPr>
                </a:tc>
                <a:tc>
                  <a:txBody>
                    <a:bodyPr/>
                    <a:lstStyle/>
                    <a:p>
                      <a:r>
                        <a:rPr sz="850" b="0">
                          <a:solidFill>
                            <a:srgbClr val="4B4B4B"/>
                          </a:solidFill>
                          <a:latin typeface="Arial"/>
                        </a:rPr>
                        <a:t>RA Generated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a:t>
                      </a:r>
                    </a:p>
                  </a:txBody>
                  <a:tcPr marL="54864" marR="54864" marT="27432" marB="27432">
                    <a:solidFill>
                      <a:srgbClr val="E5F5FF"/>
                    </a:solidFill>
                  </a:tcPr>
                </a:tc>
                <a:tc>
                  <a:txBody>
                    <a:bodyPr/>
                    <a:lstStyle/>
                    <a:p>
                      <a:r>
                        <a:rPr sz="850" b="0">
                          <a:solidFill>
                            <a:srgbClr val="4B4B4B"/>
                          </a:solidFill>
                          <a:latin typeface="Arial"/>
                        </a:rPr>
                        <a:t>Marketing and Processing (send permission)</a:t>
                      </a:r>
                    </a:p>
                  </a:txBody>
                  <a:tcPr marL="54864" marR="54864" marT="27432" marB="27432">
                    <a:solidFill>
                      <a:srgbClr val="E5F5FF"/>
                    </a:solidFill>
                  </a:tcPr>
                </a:tc>
                <a:tc>
                  <a:txBody>
                    <a:bodyPr/>
                    <a:lstStyle/>
                    <a:p>
                      <a:r>
                        <a:rPr sz="850" b="0">
                          <a:solidFill>
                            <a:srgbClr val="4B4B4B"/>
                          </a:solidFill>
                          <a:latin typeface="Arial"/>
                        </a:rPr>
                        <a:t>Tab RA Generated, renewals ticked</a:t>
                      </a:r>
                    </a:p>
                  </a:txBody>
                  <a:tcPr marL="54864" marR="54864" marT="27432" marB="27432">
                    <a:solidFill>
                      <a:srgbClr val="E5F5FF"/>
                    </a:solidFill>
                  </a:tcPr>
                </a:tc>
                <a:tc>
                  <a:txBody>
                    <a:bodyPr/>
                    <a:lstStyle/>
                    <a:p>
                      <a:r>
                        <a:rPr sz="850" b="0">
                          <a:solidFill>
                            <a:srgbClr val="4B4B4B"/>
                          </a:solidFill>
                          <a:latin typeface="Arial"/>
                        </a:rPr>
                        <a:t>Asks for confirmation; the Renewal Advice is e-mailed protected to the client</a:t>
                      </a:r>
                    </a:p>
                  </a:txBody>
                  <a:tcPr marL="54864" marR="54864" marT="27432" marB="27432">
                    <a:solidFill>
                      <a:srgbClr val="E5F5FF"/>
                    </a:solidFill>
                  </a:tcPr>
                </a:tc>
                <a:tc>
                  <a:txBody>
                    <a:bodyPr/>
                    <a:lstStyle/>
                    <a:p>
                      <a:r>
                        <a:rPr sz="850" b="0">
                          <a:solidFill>
                            <a:srgbClr val="4B4B4B"/>
                          </a:solidFill>
                          <a:latin typeface="Arial"/>
                        </a:rPr>
                        <a:t>RA Sent / Awaiting Response</a:t>
                      </a:r>
                    </a:p>
                  </a:txBody>
                  <a:tcPr marL="54864" marR="54864" marT="27432" marB="27432">
                    <a:solidFill>
                      <a:srgbClr val="E5F5FF"/>
                    </a:solidFill>
                  </a:tcPr>
                </a:tc>
                <a:tc>
                  <a:txBody>
                    <a:bodyPr/>
                    <a:lstStyle/>
                    <a:p>
                      <a:r>
                        <a:rPr sz="850" b="0">
                          <a:solidFill>
                            <a:srgbClr val="4B4B4B"/>
                          </a:solidFill>
                          <a:latin typeface="Arial"/>
                        </a:rPr>
                        <a:t>Renewal Advice e-mail and password (NT-16, NT-17)</a:t>
                      </a:r>
                    </a:p>
                  </a:txBody>
                  <a:tcPr marL="54864" marR="54864" marT="27432" marB="27432">
                    <a:solidFill>
                      <a:srgbClr val="E5F5FF"/>
                    </a:solidFill>
                  </a:tcPr>
                </a:tc>
              </a:tr>
              <a:tr h="350518">
                <a:tc>
                  <a:txBody>
                    <a:bodyPr/>
                    <a:lstStyle/>
                    <a:p>
                      <a:r>
                        <a:rPr sz="850" b="0">
                          <a:solidFill>
                            <a:srgbClr val="4B4B4B"/>
                          </a:solidFill>
                          <a:latin typeface="Arial"/>
                        </a:rPr>
                        <a:t>Send Letters</a:t>
                      </a:r>
                    </a:p>
                  </a:txBody>
                  <a:tcPr marL="54864" marR="54864" marT="27432" marB="27432">
                    <a:solidFill>
                      <a:srgbClr val="FFFFFF"/>
                    </a:solidFill>
                  </a:tcPr>
                </a:tc>
                <a:tc>
                  <a:txBody>
                    <a:bodyPr/>
                    <a:lstStyle/>
                    <a:p>
                      <a:r>
                        <a:rPr sz="850" b="0">
                          <a:solidFill>
                            <a:srgbClr val="4B4B4B"/>
                          </a:solidFill>
                          <a:latin typeface="Arial"/>
                        </a:rPr>
                        <a:t>Users with the generate and send permissions</a:t>
                      </a:r>
                    </a:p>
                  </a:txBody>
                  <a:tcPr marL="54864" marR="54864" marT="27432" marB="27432">
                    <a:solidFill>
                      <a:srgbClr val="FFFFFF"/>
                    </a:solidFill>
                  </a:tcPr>
                </a:tc>
                <a:tc>
                  <a:txBody>
                    <a:bodyPr/>
                    <a:lstStyle/>
                    <a:p>
                      <a:r>
                        <a:rPr sz="850" b="0">
                          <a:solidFill>
                            <a:srgbClr val="4B4B4B"/>
                          </a:solidFill>
                          <a:latin typeface="Arial"/>
                        </a:rPr>
                        <a:t>Tab NAL / NFR, renewals ticked</a:t>
                      </a:r>
                    </a:p>
                  </a:txBody>
                  <a:tcPr marL="54864" marR="54864" marT="27432" marB="27432">
                    <a:solidFill>
                      <a:srgbClr val="FFFFFF"/>
                    </a:solidFill>
                  </a:tcPr>
                </a:tc>
                <a:tc>
                  <a:txBody>
                    <a:bodyPr/>
                    <a:lstStyle/>
                    <a:p>
                      <a:r>
                        <a:rPr sz="850" b="0">
                          <a:solidFill>
                            <a:srgbClr val="4B4B4B"/>
                          </a:solidFill>
                          <a:latin typeface="Arial"/>
                        </a:rPr>
                        <a:t>Asks for confirmation; the No Advice or Not for Renewal letter is generated and e-mailed and the renewal is closed</a:t>
                      </a:r>
                    </a:p>
                  </a:txBody>
                  <a:tcPr marL="54864" marR="54864" marT="27432" marB="27432">
                    <a:solidFill>
                      <a:srgbClr val="FFFFFF"/>
                    </a:solidFill>
                  </a:tcPr>
                </a:tc>
                <a:tc>
                  <a:txBody>
                    <a:bodyPr/>
                    <a:lstStyle/>
                    <a:p>
                      <a:r>
                        <a:rPr sz="850" b="0">
                          <a:solidFill>
                            <a:srgbClr val="4B4B4B"/>
                          </a:solidFill>
                          <a:latin typeface="Arial"/>
                        </a:rPr>
                        <a:t>Closed</a:t>
                      </a:r>
                    </a:p>
                  </a:txBody>
                  <a:tcPr marL="54864" marR="54864" marT="27432" marB="27432">
                    <a:solidFill>
                      <a:srgbClr val="FFFFFF"/>
                    </a:solidFill>
                  </a:tcPr>
                </a:tc>
                <a:tc>
                  <a:txBody>
                    <a:bodyPr/>
                    <a:lstStyle/>
                    <a:p>
                      <a:r>
                        <a:rPr sz="850" b="0">
                          <a:solidFill>
                            <a:srgbClr val="4B4B4B"/>
                          </a:solidFill>
                          <a:latin typeface="Arial"/>
                        </a:rPr>
                        <a:t>Closing letter e-mail (NT-19)</a:t>
                      </a:r>
                    </a:p>
                  </a:txBody>
                  <a:tcPr marL="54864" marR="54864" marT="27432" marB="27432">
                    <a:solidFill>
                      <a:srgbClr val="FFFFFF"/>
                    </a:solidFill>
                  </a:tcPr>
                </a:tc>
              </a:tr>
              <a:tr h="350518">
                <a:tc>
                  <a:txBody>
                    <a:bodyPr/>
                    <a:lstStyle/>
                    <a:p>
                      <a:r>
                        <a:rPr sz="850" b="0">
                          <a:solidFill>
                            <a:srgbClr val="4B4B4B"/>
                          </a:solidFill>
                          <a:latin typeface="Arial"/>
                        </a:rPr>
                        <a:t>Upload Acceptances</a:t>
                      </a:r>
                    </a:p>
                  </a:txBody>
                  <a:tcPr marL="54864" marR="54864" marT="27432" marB="27432">
                    <a:solidFill>
                      <a:srgbClr val="E5F5FF"/>
                    </a:solidFill>
                  </a:tcPr>
                </a:tc>
                <a:tc>
                  <a:txBody>
                    <a:bodyPr/>
                    <a:lstStyle/>
                    <a:p>
                      <a:r>
                        <a:rPr sz="850" b="0">
                          <a:solidFill>
                            <a:srgbClr val="4B4B4B"/>
                          </a:solidFill>
                          <a:latin typeface="Arial"/>
                        </a:rPr>
                        <a:t>Users with the acceptance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of the client acceptances</a:t>
                      </a:r>
                    </a:p>
                  </a:txBody>
                  <a:tcPr marL="54864" marR="54864" marT="27432" marB="27432">
                    <a:solidFill>
                      <a:srgbClr val="E5F5FF"/>
                    </a:solidFill>
                  </a:tcPr>
                </a:tc>
                <a:tc>
                  <a:txBody>
                    <a:bodyPr/>
                    <a:lstStyle/>
                    <a:p>
                      <a:r>
                        <a:rPr sz="850" b="0">
                          <a:solidFill>
                            <a:srgbClr val="4B4B4B"/>
                          </a:solidFill>
                          <a:latin typeface="Arial"/>
                        </a:rPr>
                        <a:t>Accepted</a:t>
                      </a:r>
                    </a:p>
                  </a:txBody>
                  <a:tcPr marL="54864" marR="54864" marT="27432" marB="27432">
                    <a:solidFill>
                      <a:srgbClr val="E5F5FF"/>
                    </a:solidFill>
                  </a:tcPr>
                </a:tc>
                <a:tc>
                  <a:txBody>
                    <a:bodyPr/>
                    <a:lstStyle/>
                    <a:p>
                      <a:r>
                        <a:rPr sz="850" b="0">
                          <a:solidFill>
                            <a:srgbClr val="4B4B4B"/>
                          </a:solidFill>
                          <a:latin typeface="Arial"/>
                        </a:rPr>
                        <a:t>Renewal accepted (NT-07)</a:t>
                      </a:r>
                    </a:p>
                  </a:txBody>
                  <a:tcPr marL="54864" marR="54864" marT="27432" marB="27432">
                    <a:solidFill>
                      <a:srgbClr val="E5F5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Renewal Advice is generated only for renewals without a failing blocking check, from the latest approved template (FR-RN-080).</a:t>
                      </a:r>
                    </a:p>
                  </a:txBody>
                  <a:tcPr marL="54864" marR="54864" marT="27432" marB="27432">
                    <a:solidFill>
                      <a:srgbClr val="FFFFFF"/>
                    </a:solidFill>
                  </a:tcPr>
                </a:tc>
              </a:tr>
              <a:tr h="243840">
                <a:tc>
                  <a:txBody>
                    <a:bodyPr/>
                    <a:lstStyle/>
                    <a:p>
                      <a:r>
                        <a:rPr sz="1000" b="0">
                          <a:solidFill>
                            <a:srgbClr val="4B4B4B"/>
                          </a:solidFill>
                          <a:latin typeface="Arial"/>
                        </a:rPr>
                        <a:t>A Renewal Advice generated fewer days than the minimum notice before expiry (30 by default) needs the confirmation, which is recorded (FR-RN-080).</a:t>
                      </a:r>
                    </a:p>
                  </a:txBody>
                  <a:tcPr marL="54864" marR="54864" marT="27432" marB="27432">
                    <a:solidFill>
                      <a:srgbClr val="E5F5FF"/>
                    </a:solidFill>
                  </a:tcPr>
                </a:tc>
              </a:tr>
              <a:tr h="243840">
                <a:tc>
                  <a:txBody>
                    <a:bodyPr/>
                    <a:lstStyle/>
                    <a:p>
                      <a:r>
                        <a:rPr sz="1000" b="0">
                          <a:solidFill>
                            <a:srgbClr val="4B4B4B"/>
                          </a:solidFill>
                          <a:latin typeface="Arial"/>
                        </a:rPr>
                        <a:t>The second notice is offered the second-notice days (15 by default) after the first without acceptance (FR-RN-080).</a:t>
                      </a:r>
                    </a:p>
                  </a:txBody>
                  <a:tcPr marL="54864" marR="54864" marT="27432" marB="27432">
                    <a:solidFill>
                      <a:srgbClr val="FFFFFF"/>
                    </a:solidFill>
                  </a:tcPr>
                </a:tc>
              </a:tr>
              <a:tr h="243840">
                <a:tc>
                  <a:txBody>
                    <a:bodyPr/>
                    <a:lstStyle/>
                    <a:p>
                      <a:r>
                        <a:rPr sz="1000" b="0">
                          <a:solidFill>
                            <a:srgbClr val="4B4B4B"/>
                          </a:solidFill>
                          <a:latin typeface="Arial"/>
                        </a:rPr>
                        <a:t>Renewal Advices are sent one protected e-mail per client with the password in a separate e-mail; every send and failure is recorded (FR-RN-081).</a:t>
                      </a:r>
                    </a:p>
                  </a:txBody>
                  <a:tcPr marL="54864" marR="54864" marT="27432" marB="27432">
                    <a:solidFill>
                      <a:srgbClr val="E5F5FF"/>
                    </a:solidFill>
                  </a:tcPr>
                </a:tc>
              </a:tr>
              <a:tr h="243840">
                <a:tc>
                  <a:txBody>
                    <a:bodyPr/>
                    <a:lstStyle/>
                    <a:p>
                      <a:r>
                        <a:rPr sz="1000" b="0">
                          <a:solidFill>
                            <a:srgbClr val="4B4B4B"/>
                          </a:solidFill>
                          <a:latin typeface="Arial"/>
                        </a:rPr>
                        <a:t>A reason for Not for Renewal of the No Advice list is answered with the No Advice Letter, the others with the Not for Renewal Letter (FR-RN-082, FR-RN-024).</a:t>
                      </a:r>
                    </a:p>
                  </a:txBody>
                  <a:tcPr marL="54864" marR="54864" marT="27432" marB="27432">
                    <a:solidFill>
                      <a:srgbClr val="FFFF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Letters, tab RA Ready, ticks the renewal, clicks Generate RA: First notice, then Generate</a:t>
                      </a:r>
                    </a:p>
                  </a:txBody>
                  <a:tcPr marL="54864" marR="54864" marT="27432" marB="27432">
                    <a:solidFill>
                      <a:srgbClr val="FFFFFF"/>
                    </a:solidFill>
                  </a:tcPr>
                </a:tc>
                <a:tc>
                  <a:txBody>
                    <a:bodyPr/>
                    <a:lstStyle/>
                    <a:p>
                      <a:r>
                        <a:rPr sz="900" b="0">
                          <a:solidFill>
                            <a:srgbClr val="4B4B4B"/>
                          </a:solidFill>
                          <a:latin typeface="Arial"/>
                        </a:rPr>
                        <a:t>SCR-RN-13_wt-b-step-05.png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Opens the tab RA Generated, ticks the renewal, clicks Send and confirms</a:t>
                      </a:r>
                    </a:p>
                  </a:txBody>
                  <a:tcPr marL="54864" marR="54864" marT="27432" marB="27432">
                    <a:solidFill>
                      <a:srgbClr val="E5F5FF"/>
                    </a:solidFill>
                  </a:tcPr>
                </a:tc>
                <a:tc>
                  <a:txBody>
                    <a:bodyPr/>
                    <a:lstStyle/>
                    <a:p>
                      <a:r>
                        <a:rPr sz="900" b="0">
                          <a:solidFill>
                            <a:srgbClr val="4B4B4B"/>
                          </a:solidFill>
                          <a:latin typeface="Arial"/>
                        </a:rPr>
                        <a:t>SCR-RN-13_wt-b-step-06.png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Opens Letters, tab NAL / NFR, ticks the renewal, clicks Send Letters and confirms</a:t>
                      </a:r>
                    </a:p>
                  </a:txBody>
                  <a:tcPr marL="54864" marR="54864" marT="27432" marB="27432">
                    <a:solidFill>
                      <a:srgbClr val="FFFFFF"/>
                    </a:solidFill>
                  </a:tcPr>
                </a:tc>
                <a:tc>
                  <a:txBody>
                    <a:bodyPr/>
                    <a:lstStyle/>
                    <a:p>
                      <a:r>
                        <a:rPr sz="900" b="0">
                          <a:solidFill>
                            <a:srgbClr val="4B4B4B"/>
                          </a:solidFill>
                          <a:latin typeface="Arial"/>
                        </a:rPr>
                        <a:t>SCR-RN-13_wt-d-step-03.png</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Letters: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3-01-list.png"/>
          <p:cNvPicPr>
            <a:picLocks noChangeAspect="1"/>
          </p:cNvPicPr>
          <p:nvPr/>
        </p:nvPicPr>
        <p:blipFill>
          <a:blip r:embed="rId3"/>
          <a:stretch>
            <a:fillRect/>
          </a:stretch>
        </p:blipFill>
        <p:spPr>
          <a:xfrm>
            <a:off x="548640" y="1261872"/>
            <a:ext cx="11094415" cy="38659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Letters, tab RA Ready: the renewals whose Renewal Advice can be generated</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Letters: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3-03-closing.png"/>
          <p:cNvPicPr>
            <a:picLocks noChangeAspect="1"/>
          </p:cNvPicPr>
          <p:nvPr/>
        </p:nvPicPr>
        <p:blipFill>
          <a:blip r:embed="rId3"/>
          <a:stretch>
            <a:fillRect/>
          </a:stretch>
        </p:blipFill>
        <p:spPr>
          <a:xfrm>
            <a:off x="1216232" y="1261872"/>
            <a:ext cx="975923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Letters, tab NAL / NFR: the renewals waiting for their closing letter</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SCR-RN-13 Letters: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3-02-generate.png"/>
          <p:cNvPicPr>
            <a:picLocks noChangeAspect="1"/>
          </p:cNvPicPr>
          <p:nvPr/>
        </p:nvPicPr>
        <p:blipFill>
          <a:blip r:embed="rId3"/>
          <a:stretch>
            <a:fillRect/>
          </a:stretch>
        </p:blipFill>
        <p:spPr>
          <a:xfrm>
            <a:off x="548640" y="1261872"/>
            <a:ext cx="11094415" cy="35735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Renewal Advice dialog: first or second notice and the confirmation of a late Renewal Advice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SCR-RN-14 Record Acceptance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Letters, acceptance and follow-up</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client's acceptance of the Renewal Advice: by e-mail or signed Renewal Advice (the file uploaded in the Documents tab first) or by payment (with its reference), with the date and remarks. When the renewal terms differ from the expiring terms, the user confirms that the client acknowledged the change. Once accepted, the renewal account goes to placement and booking without re-keying.</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Leader, Marketing Account Officer (Account Broker), Processing Team Leader, Processing Officer (Broker), Contact Center, LAMD (loan status reports), Business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Letters › Renewal</a:t>
                      </a:r>
                    </a:p>
                    <a:p>
                      <a:r>
                        <a:rPr sz="950" b="0">
                          <a:solidFill>
                            <a:srgbClr val="4B4B4B"/>
                          </a:solidFill>
                          <a:latin typeface="Arial"/>
                        </a:rPr>
                        <a:t>Renewal (RA Sent / Awaiting Response) › Record Acceptance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FR-RN-084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accepted renewal goes to placement and booking.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25880"/>
          <a:ext cx="11094411" cy="28422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Method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E-mail from the client, Signed Renewal Advice, Payment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acceptance method</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Evidence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 document of the renewal (Documents tab)</a:t>
                      </a:r>
                    </a:p>
                  </a:txBody>
                  <a:tcPr marL="54864" marR="54864" marT="27432" marB="27432">
                    <a:solidFill>
                      <a:srgbClr val="E5F5FF"/>
                    </a:solidFill>
                  </a:tcPr>
                </a:tc>
                <a:tc>
                  <a:txBody>
                    <a:bodyPr/>
                    <a:lstStyle/>
                    <a:p>
                      <a:r>
                        <a:rPr sz="850" b="0">
                          <a:solidFill>
                            <a:srgbClr val="4B4B4B"/>
                          </a:solidFill>
                          <a:latin typeface="Arial"/>
                        </a:rPr>
                        <a:t>Cond.: e-mail or signed Renewal Advice</a:t>
                      </a:r>
                    </a:p>
                  </a:txBody>
                  <a:tcPr marL="54864" marR="54864" marT="27432" marB="27432">
                    <a:solidFill>
                      <a:srgbClr val="E5F5FF"/>
                    </a:solidFill>
                  </a:tcPr>
                </a:tc>
                <a:tc>
                  <a:txBody>
                    <a:bodyPr/>
                    <a:lstStyle/>
                    <a:p>
                      <a:r>
                        <a:rPr sz="850" b="0">
                          <a:solidFill>
                            <a:srgbClr val="4B4B4B"/>
                          </a:solidFill>
                          <a:latin typeface="Arial"/>
                        </a:rPr>
                        <a:t>A document of this renewal</a:t>
                      </a:r>
                    </a:p>
                  </a:txBody>
                  <a:tcPr marL="54864" marR="54864" marT="27432" marB="27432">
                    <a:solidFill>
                      <a:srgbClr val="E5F5FF"/>
                    </a:solidFill>
                  </a:tcPr>
                </a:tc>
                <a:tc>
                  <a:txBody>
                    <a:bodyPr/>
                    <a:lstStyle/>
                    <a:p>
                      <a:r>
                        <a:rPr sz="850" b="0">
                          <a:solidFill>
                            <a:srgbClr val="4B4B4B"/>
                          </a:solidFill>
                          <a:latin typeface="Arial"/>
                        </a:rPr>
                        <a:t>The evidence is not a document of this renewal</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Payment Reference /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payment or e-mail reference</a:t>
                      </a:r>
                    </a:p>
                  </a:txBody>
                  <a:tcPr marL="54864" marR="54864" marT="27432" marB="27432">
                    <a:solidFill>
                      <a:srgbClr val="FFFFFF"/>
                    </a:solidFill>
                  </a:tcPr>
                </a:tc>
                <a:tc>
                  <a:txBody>
                    <a:bodyPr/>
                    <a:lstStyle/>
                    <a:p>
                      <a:r>
                        <a:rPr sz="850" b="0">
                          <a:solidFill>
                            <a:srgbClr val="4B4B4B"/>
                          </a:solidFill>
                          <a:latin typeface="Arial"/>
                        </a:rPr>
                        <a:t>Cond.: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Accepted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in the future</a:t>
                      </a:r>
                    </a:p>
                  </a:txBody>
                  <a:tcPr marL="54864" marR="54864" marT="27432" marB="27432">
                    <a:solidFill>
                      <a:srgbClr val="E5F5FF"/>
                    </a:solidFill>
                  </a:tcPr>
                </a:tc>
                <a:tc>
                  <a:txBody>
                    <a:bodyPr/>
                    <a:lstStyle/>
                    <a:p>
                      <a:r>
                        <a:rPr sz="850" b="0">
                          <a:solidFill>
                            <a:srgbClr val="4B4B4B"/>
                          </a:solidFill>
                          <a:latin typeface="Arial"/>
                        </a:rPr>
                        <a:t>The acceptance date cannot be in the future</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Acceptance dialog</a:t>
                      </a:r>
                    </a:p>
                  </a:txBody>
                  <a:tcPr marL="54864" marR="54864" marT="27432" marB="27432">
                    <a:solidFill>
                      <a:srgbClr val="FFFFFF"/>
                    </a:solidFill>
                  </a:tcPr>
                </a:tc>
                <a:tc>
                  <a:txBody>
                    <a:bodyPr/>
                    <a:lstStyle/>
                    <a:p>
                      <a:r>
                        <a:rPr sz="850" b="0">
                          <a:solidFill>
                            <a:srgbClr val="4B4B4B"/>
                          </a:solidFill>
                          <a:latin typeface="Arial"/>
                        </a:rPr>
                        <a:t>The client acknowledged the change of premium from the expiring terms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Cond.: financial impact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renewal terms differ from the expiring terms: confirm that the client accepted them</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Acceptance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Acceptance</a:t>
                      </a:r>
                    </a:p>
                  </a:txBody>
                  <a:tcPr marL="54864" marR="54864" marT="27432" marB="27432">
                    <a:solidFill>
                      <a:srgbClr val="FFFFFF"/>
                    </a:solidFill>
                  </a:tcPr>
                </a:tc>
                <a:tc>
                  <a:txBody>
                    <a:bodyPr/>
                    <a:lstStyle/>
                    <a:p>
                      <a:r>
                        <a:rPr sz="850" b="0">
                          <a:solidFill>
                            <a:srgbClr val="4B4B4B"/>
                          </a:solidFill>
                          <a:latin typeface="Arial"/>
                        </a:rPr>
                        <a:t>Marketing and Processing (acceptance permission)</a:t>
                      </a:r>
                    </a:p>
                  </a:txBody>
                  <a:tcPr marL="54864" marR="54864" marT="27432" marB="27432">
                    <a:solidFill>
                      <a:srgbClr val="FFFFFF"/>
                    </a:solidFill>
                  </a:tcPr>
                </a:tc>
                <a:tc>
                  <a:txBody>
                    <a:bodyPr/>
                    <a:lstStyle/>
                    <a:p>
                      <a:r>
                        <a:rPr sz="850" b="0">
                          <a:solidFill>
                            <a:srgbClr val="4B4B4B"/>
                          </a:solidFill>
                          <a:latin typeface="Arial"/>
                        </a:rPr>
                        <a:t>RA Sent / Awaiting Response</a:t>
                      </a:r>
                    </a:p>
                  </a:txBody>
                  <a:tcPr marL="54864" marR="54864" marT="27432" marB="27432">
                    <a:solidFill>
                      <a:srgbClr val="FFFFFF"/>
                    </a:solidFill>
                  </a:tcPr>
                </a:tc>
                <a:tc>
                  <a:txBody>
                    <a:bodyPr/>
                    <a:lstStyle/>
                    <a:p>
                      <a:r>
                        <a:rPr sz="850" b="0">
                          <a:solidFill>
                            <a:srgbClr val="4B4B4B"/>
                          </a:solidFill>
                          <a:latin typeface="Arial"/>
                        </a:rPr>
                        <a:t>Opens the dialog; Record keeps the acceptance and moves the renewal account on to placement and booking</a:t>
                      </a:r>
                    </a:p>
                  </a:txBody>
                  <a:tcPr marL="54864" marR="54864" marT="27432" marB="27432">
                    <a:solidFill>
                      <a:srgbClr val="FFFFFF"/>
                    </a:solidFill>
                  </a:tcPr>
                </a:tc>
                <a:tc>
                  <a:txBody>
                    <a:bodyPr/>
                    <a:lstStyle/>
                    <a:p>
                      <a:r>
                        <a:rPr sz="850" b="0">
                          <a:solidFill>
                            <a:srgbClr val="4B4B4B"/>
                          </a:solidFill>
                          <a:latin typeface="Arial"/>
                        </a:rPr>
                        <a:t>Accepted, then For Placement and Booking</a:t>
                      </a:r>
                    </a:p>
                  </a:txBody>
                  <a:tcPr marL="54864" marR="54864" marT="27432" marB="27432">
                    <a:solidFill>
                      <a:srgbClr val="FFFFFF"/>
                    </a:solidFill>
                  </a:tcPr>
                </a:tc>
                <a:tc>
                  <a:txBody>
                    <a:bodyPr/>
                    <a:lstStyle/>
                    <a:p>
                      <a:r>
                        <a:rPr sz="850" b="0">
                          <a:solidFill>
                            <a:srgbClr val="4B4B4B"/>
                          </a:solidFill>
                          <a:latin typeface="Arial"/>
                        </a:rPr>
                        <a:t>Renewal accepted (NT-07)</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acceptance is refused while a blocking check fails (FR-RN-084).</a:t>
                      </a:r>
                    </a:p>
                  </a:txBody>
                  <a:tcPr marL="54864" marR="54864" marT="27432" marB="27432">
                    <a:solidFill>
                      <a:srgbClr val="FFFFFF"/>
                    </a:solidFill>
                  </a:tcPr>
                </a:tc>
              </a:tr>
              <a:tr h="243840">
                <a:tc>
                  <a:txBody>
                    <a:bodyPr/>
                    <a:lstStyle/>
                    <a:p>
                      <a:r>
                        <a:rPr sz="1000" b="0">
                          <a:solidFill>
                            <a:srgbClr val="4B4B4B"/>
                          </a:solidFill>
                          <a:latin typeface="Arial"/>
                        </a:rPr>
                        <a:t>Acceptance moves the renewal account to placement and booking under the standard New Business payment rules; the renewal books as business type Renewal (FR-RN-084).</a:t>
                      </a:r>
                    </a:p>
                  </a:txBody>
                  <a:tcPr marL="54864" marR="54864" marT="27432" marB="27432">
                    <a:solidFill>
                      <a:srgbClr val="E5F5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Opens the renewal and clicks Record Acceptance: Payment with the payment reference, then Record</a:t>
                      </a:r>
                    </a:p>
                  </a:txBody>
                  <a:tcPr marL="54864" marR="54864" marT="27432" marB="27432">
                    <a:solidFill>
                      <a:srgbClr val="FFFFFF"/>
                    </a:solidFill>
                  </a:tcPr>
                </a:tc>
                <a:tc>
                  <a:txBody>
                    <a:bodyPr/>
                    <a:lstStyle/>
                    <a:p>
                      <a:r>
                        <a:rPr sz="900" b="0">
                          <a:solidFill>
                            <a:srgbClr val="4B4B4B"/>
                          </a:solidFill>
                          <a:latin typeface="Arial"/>
                        </a:rPr>
                        <a:t>SCR-RN-14_wt-c-step-03.png</a:t>
                      </a:r>
                    </a:p>
                  </a:txBody>
                  <a:tcPr marL="54864" marR="54864" marT="27432" marB="27432">
                    <a:solidFill>
                      <a:srgbClr val="FFFF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SCR-RN-14 Record Acceptance: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4-01-accept.png"/>
          <p:cNvPicPr>
            <a:picLocks noChangeAspect="1"/>
          </p:cNvPicPr>
          <p:nvPr/>
        </p:nvPicPr>
        <p:blipFill>
          <a:blip r:embed="rId3"/>
          <a:stretch>
            <a:fillRect/>
          </a:stretch>
        </p:blipFill>
        <p:spPr>
          <a:xfrm>
            <a:off x="667072" y="1261872"/>
            <a:ext cx="108575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Acceptance dialog: acceptance by payment with its reference</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Follow-ups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Letters, acceptance and follow-up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renewals waiting for the client's reply after the Renewal Advice, for the Contact Center, with the renewals with no response and those on the quotation or proposal path. The Contact Center user opens a renewal to record a call, e-mail or SMS with its outcome and next action date, and uploads the client's documents.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Contact Center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Follow-ups</a:t>
                      </a:r>
                    </a:p>
                    <a:p>
                      <a:r>
                        <a:rPr sz="950" b="0">
                          <a:solidFill>
                            <a:srgbClr val="4B4B4B"/>
                          </a:solidFill>
                          <a:latin typeface="Arial"/>
                        </a:rPr>
                        <a:t>Client &amp; Policy › Renewal › Follow-ups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FR-RN-083, FR-RN-085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client's replies are recorded for the officers.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graphicFrame>
        <p:nvGraphicFramePr>
          <p:cNvPr id="9" name="Table 8"/>
          <p:cNvGraphicFramePr>
            <a:graphicFrameLocks noGrp="1"/>
          </p:cNvGraphicFramePr>
          <p:nvPr/>
        </p:nvGraphicFramePr>
        <p:xfrm>
          <a:off x="548640" y="1325880"/>
          <a:ext cx="11094411" cy="206500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RA Sent / NRNS / Quotation / Proposal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Quick filters</a:t>
                      </a:r>
                    </a:p>
                  </a:txBody>
                  <a:tcPr marL="54864" marR="54864" marT="27432" marB="27432">
                    <a:solidFill>
                      <a:srgbClr val="E5F5FF"/>
                    </a:solidFill>
                  </a:tcPr>
                </a:tc>
                <a:tc>
                  <a:txBody>
                    <a:bodyPr/>
                    <a:lstStyle/>
                    <a:p>
                      <a:r>
                        <a:rPr sz="850" b="0">
                          <a:solidFill>
                            <a:srgbClr val="4B4B4B"/>
                          </a:solidFill>
                          <a:latin typeface="Arial"/>
                        </a:rPr>
                        <a:t>Due in 30 days / KYC due</a:t>
                      </a:r>
                    </a:p>
                  </a:txBody>
                  <a:tcPr marL="54864" marR="54864" marT="27432" marB="27432">
                    <a:solidFill>
                      <a:srgbClr val="E5F5FF"/>
                    </a:solidFill>
                  </a:tcPr>
                </a:tc>
                <a:tc>
                  <a:txBody>
                    <a:bodyPr/>
                    <a:lstStyle/>
                    <a:p>
                      <a:r>
                        <a:rPr sz="850" b="0">
                          <a:solidFill>
                            <a:srgbClr val="4B4B4B"/>
                          </a:solidFill>
                          <a:latin typeface="Arial"/>
                        </a:rPr>
                        <a:t>Toggle button</a:t>
                      </a:r>
                    </a:p>
                  </a:txBody>
                  <a:tcPr marL="54864" marR="54864" marT="27432" marB="27432">
                    <a:solidFill>
                      <a:srgbClr val="E5F5FF"/>
                    </a:solidFill>
                  </a:tcPr>
                </a:tc>
                <a:tc>
                  <a:txBody>
                    <a:bodyPr/>
                    <a:lstStyle/>
                    <a:p>
                      <a:r>
                        <a:rPr sz="850" b="0">
                          <a:solidFill>
                            <a:srgbClr val="4B4B4B"/>
                          </a:solidFill>
                          <a:latin typeface="Arial"/>
                        </a:rPr>
                        <a:t>One at a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Columns of the renewal lists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 on the Expiry List (SCR-RN-02), without the premium amounts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renewals to follow up</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Add Follow-up dialog</a:t>
                      </a:r>
                    </a:p>
                  </a:txBody>
                  <a:tcPr marL="54864" marR="54864" marT="27432" marB="27432">
                    <a:solidFill>
                      <a:srgbClr val="E5F5FF"/>
                    </a:solidFill>
                  </a:tcPr>
                </a:tc>
                <a:tc>
                  <a:txBody>
                    <a:bodyPr/>
                    <a:lstStyle/>
                    <a:p>
                      <a:r>
                        <a:rPr sz="850" b="0">
                          <a:solidFill>
                            <a:srgbClr val="4B4B4B"/>
                          </a:solidFill>
                          <a:latin typeface="Arial"/>
                        </a:rPr>
                        <a:t>Channel / Outcome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Renewal follow-up channel; renewal follow-up outcome</a:t>
                      </a:r>
                    </a:p>
                  </a:txBody>
                  <a:tcPr marL="54864" marR="54864" marT="27432" marB="27432">
                    <a:solidFill>
                      <a:srgbClr val="E5F5FF"/>
                    </a:solidFill>
                  </a:tcPr>
                </a:tc>
                <a:tc>
                  <a:txBody>
                    <a:bodyPr/>
                    <a:lstStyle/>
                    <a:p>
                      <a:r>
                        <a:rPr sz="850" b="0">
                          <a:solidFill>
                            <a:srgbClr val="4B4B4B"/>
                          </a:solidFill>
                          <a:latin typeface="Arial"/>
                        </a:rPr>
                        <a:t>Y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channel and the outcome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Add Follow-up dialog</a:t>
                      </a:r>
                    </a:p>
                  </a:txBody>
                  <a:tcPr marL="54864" marR="54864" marT="27432" marB="27432">
                    <a:solidFill>
                      <a:srgbClr val="FFFFFF"/>
                    </a:solidFill>
                  </a:tcPr>
                </a:tc>
                <a:tc>
                  <a:txBody>
                    <a:bodyPr/>
                    <a:lstStyle/>
                    <a:p>
                      <a:r>
                        <a:rPr sz="850" b="0">
                          <a:solidFill>
                            <a:srgbClr val="4B4B4B"/>
                          </a:solidFill>
                          <a:latin typeface="Arial"/>
                        </a:rPr>
                        <a:t>Next Action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from today 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in the past</a:t>
                      </a:r>
                    </a:p>
                  </a:txBody>
                  <a:tcPr marL="54864" marR="54864" marT="27432" marB="27432">
                    <a:solidFill>
                      <a:srgbClr val="FFFFFF"/>
                    </a:solidFill>
                  </a:tcPr>
                </a:tc>
                <a:tc>
                  <a:txBody>
                    <a:bodyPr/>
                    <a:lstStyle/>
                    <a:p>
                      <a:r>
                        <a:rPr sz="850" b="0">
                          <a:solidFill>
                            <a:srgbClr val="4B4B4B"/>
                          </a:solidFill>
                          <a:latin typeface="Arial"/>
                        </a:rPr>
                        <a:t>The next action date cannot be in the past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Add Follow-up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Follow-up (renewal)</a:t>
                      </a:r>
                    </a:p>
                  </a:txBody>
                  <a:tcPr marL="54864" marR="54864" marT="27432" marB="27432">
                    <a:solidFill>
                      <a:srgbClr val="FFFFFF"/>
                    </a:solidFill>
                  </a:tcPr>
                </a:tc>
                <a:tc>
                  <a:txBody>
                    <a:bodyPr/>
                    <a:lstStyle/>
                    <a:p>
                      <a:r>
                        <a:rPr sz="850" b="0">
                          <a:solidFill>
                            <a:srgbClr val="4B4B4B"/>
                          </a:solidFill>
                          <a:latin typeface="Arial"/>
                        </a:rPr>
                        <a:t>Contact Center</a:t>
                      </a:r>
                    </a:p>
                  </a:txBody>
                  <a:tcPr marL="54864" marR="54864" marT="27432" marB="27432">
                    <a:solidFill>
                      <a:srgbClr val="FFFFFF"/>
                    </a:solidFill>
                  </a:tcPr>
                </a:tc>
                <a:tc>
                  <a:txBody>
                    <a:bodyPr/>
                    <a:lstStyle/>
                    <a:p>
                      <a:r>
                        <a:rPr sz="850" b="0">
                          <a:solidFill>
                            <a:srgbClr val="4B4B4B"/>
                          </a:solidFill>
                          <a:latin typeface="Arial"/>
                        </a:rPr>
                        <a:t>Any open stage</a:t>
                      </a:r>
                    </a:p>
                  </a:txBody>
                  <a:tcPr marL="54864" marR="54864" marT="27432" marB="27432">
                    <a:solidFill>
                      <a:srgbClr val="FFFFFF"/>
                    </a:solidFill>
                  </a:tcPr>
                </a:tc>
                <a:tc>
                  <a:txBody>
                    <a:bodyPr/>
                    <a:lstStyle/>
                    <a:p>
                      <a:r>
                        <a:rPr sz="850" b="0">
                          <a:solidFill>
                            <a:srgbClr val="4B4B4B"/>
                          </a:solidFill>
                          <a:latin typeface="Arial"/>
                        </a:rPr>
                        <a:t>Opens the dialog; Save keeps the follow-up on the Remarks &amp; Follow-ups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Contact Center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renewal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Contact Center sees the renewals without the premium amounts and never changes the disposition, the letters or the placement (FR-RN-085).</a:t>
                      </a:r>
                    </a:p>
                  </a:txBody>
                  <a:tcPr marL="54864" marR="54864" marT="27432" marB="27432">
                    <a:solidFill>
                      <a:srgbClr val="FFFFFF"/>
                    </a:solidFill>
                  </a:tcPr>
                </a:tc>
              </a:tr>
              <a:tr h="243840">
                <a:tc>
                  <a:txBody>
                    <a:bodyPr/>
                    <a:lstStyle/>
                    <a:p>
                      <a:r>
                        <a:rPr sz="1000" b="0">
                          <a:solidFill>
                            <a:srgbClr val="4B4B4B"/>
                          </a:solidFill>
                          <a:latin typeface="Arial"/>
                        </a:rPr>
                        <a:t>A renewal not yet submitted at the reminder days before expiry (90 by default) is flagged NRNS and its reminder letter is sent (FR-RN-083).</a:t>
                      </a:r>
                    </a:p>
                  </a:txBody>
                  <a:tcPr marL="54864" marR="54864" marT="27432" marB="27432">
                    <a:solidFill>
                      <a:srgbClr val="E5F5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1</a:t>
                      </a:r>
                    </a:p>
                  </a:txBody>
                  <a:tcPr marL="54864" marR="54864" marT="27432" marB="27432">
                    <a:solidFill>
                      <a:srgbClr val="FFFFFF"/>
                    </a:solidFill>
                  </a:tcPr>
                </a:tc>
                <a:tc>
                  <a:txBody>
                    <a:bodyPr/>
                    <a:lstStyle/>
                    <a:p>
                      <a:r>
                        <a:rPr sz="900" b="0">
                          <a:solidFill>
                            <a:srgbClr val="4B4B4B"/>
                          </a:solidFill>
                          <a:latin typeface="Arial"/>
                        </a:rPr>
                        <a:t>Opens Follow-ups, tab RA Sent</a:t>
                      </a:r>
                    </a:p>
                  </a:txBody>
                  <a:tcPr marL="54864" marR="54864" marT="27432" marB="27432">
                    <a:solidFill>
                      <a:srgbClr val="FFFFFF"/>
                    </a:solidFill>
                  </a:tcPr>
                </a:tc>
                <a:tc>
                  <a:txBody>
                    <a:bodyPr/>
                    <a:lstStyle/>
                    <a:p>
                      <a:r>
                        <a:rPr sz="900" b="0">
                          <a:solidFill>
                            <a:srgbClr val="4B4B4B"/>
                          </a:solidFill>
                          <a:latin typeface="Arial"/>
                        </a:rPr>
                        <a:t>SCR-RN-15_wt-c-step-01.png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Opens the renewal and clicks Add Follow-up: Call, Client will renew, the next action date and the remarks, then Save</a:t>
                      </a:r>
                    </a:p>
                  </a:txBody>
                  <a:tcPr marL="54864" marR="54864" marT="27432" marB="27432">
                    <a:solidFill>
                      <a:srgbClr val="E5F5FF"/>
                    </a:solidFill>
                  </a:tcPr>
                </a:tc>
                <a:tc>
                  <a:txBody>
                    <a:bodyPr/>
                    <a:lstStyle/>
                    <a:p>
                      <a:r>
                        <a:rPr sz="900" b="0">
                          <a:solidFill>
                            <a:srgbClr val="4B4B4B"/>
                          </a:solidFill>
                          <a:latin typeface="Arial"/>
                        </a:rPr>
                        <a:t>SCR-RN-15_wt-c-step-02.png</a:t>
                      </a:r>
                    </a:p>
                  </a:txBody>
                  <a:tcPr marL="54864" marR="54864" marT="27432" marB="27432">
                    <a:solidFill>
                      <a:srgbClr val="E5F5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Follow-ups: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5-01-list.png"/>
          <p:cNvPicPr>
            <a:picLocks noChangeAspect="1"/>
          </p:cNvPicPr>
          <p:nvPr/>
        </p:nvPicPr>
        <p:blipFill>
          <a:blip r:embed="rId3"/>
          <a:stretch>
            <a:fillRect/>
          </a:stretch>
        </p:blipFill>
        <p:spPr>
          <a:xfrm>
            <a:off x="848775" y="1261872"/>
            <a:ext cx="1049414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Follow-ups of the Contact Center, tab RA Sent</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SCR-RN-15 Follow-ups: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5-02-followup.png"/>
          <p:cNvPicPr>
            <a:picLocks noChangeAspect="1"/>
          </p:cNvPicPr>
          <p:nvPr/>
        </p:nvPicPr>
        <p:blipFill>
          <a:blip r:embed="rId3"/>
          <a:stretch>
            <a:fillRect/>
          </a:stretch>
        </p:blipFill>
        <p:spPr>
          <a:xfrm>
            <a:off x="548640" y="1261872"/>
            <a:ext cx="11094415" cy="43722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Follow-up dialog: the channel, outcome, next action date and remarks</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LAMD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Letters, acceptance and follow-up</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monthly paid-off and past-due (RMU) loan reports of the Loan and Mortgage department. Each line is matched to the renewals by PN number: a paid-off loan proposes Not for Renewal, a past-due loan routes the renewal to the Team Leader of its unit.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LAMD (loan status reports)</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LAMD Reports</a:t>
                      </a:r>
                    </a:p>
                    <a:p>
                      <a:r>
                        <a:rPr sz="950" b="0">
                          <a:solidFill>
                            <a:srgbClr val="4B4B4B"/>
                          </a:solidFill>
                          <a:latin typeface="Arial"/>
                        </a:rPr>
                        <a:t>Client &amp; Policy › Renewal › LAMD Reports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FR-RN-025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loan status of the mortgaged renewals is reflected before the disposition.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LAMD Report</a:t>
                      </a:r>
                    </a:p>
                  </a:txBody>
                  <a:tcPr marL="54864" marR="54864" marT="27432" marB="27432">
                    <a:solidFill>
                      <a:srgbClr val="FFFFFF"/>
                    </a:solidFill>
                  </a:tcPr>
                </a:tc>
                <a:tc>
                  <a:txBody>
                    <a:bodyPr/>
                    <a:lstStyle/>
                    <a:p>
                      <a:r>
                        <a:rPr sz="850" b="0">
                          <a:solidFill>
                            <a:srgbClr val="4B4B4B"/>
                          </a:solidFill>
                          <a:latin typeface="Arial"/>
                        </a:rPr>
                        <a:t>Report / Month</a:t>
                      </a:r>
                    </a:p>
                  </a:txBody>
                  <a:tcPr marL="54864" marR="54864" marT="27432" marB="27432">
                    <a:solidFill>
                      <a:srgbClr val="FFFFFF"/>
                    </a:solidFill>
                  </a:tcPr>
                </a:tc>
                <a:tc>
                  <a:txBody>
                    <a:bodyPr/>
                    <a:lstStyle/>
                    <a:p>
                      <a:r>
                        <a:rPr sz="850" b="0">
                          <a:solidFill>
                            <a:srgbClr val="4B4B4B"/>
                          </a:solidFill>
                          <a:latin typeface="Arial"/>
                        </a:rPr>
                        <a:t>Drop-down, month</a:t>
                      </a:r>
                    </a:p>
                  </a:txBody>
                  <a:tcPr marL="54864" marR="54864" marT="27432" marB="27432">
                    <a:solidFill>
                      <a:srgbClr val="FFFFFF"/>
                    </a:solidFill>
                  </a:tcPr>
                </a:tc>
                <a:tc>
                  <a:txBody>
                    <a:bodyPr/>
                    <a:lstStyle/>
                    <a:p>
                      <a:r>
                        <a:rPr sz="850" b="0">
                          <a:solidFill>
                            <a:srgbClr val="4B4B4B"/>
                          </a:solidFill>
                          <a:latin typeface="Arial"/>
                        </a:rPr>
                        <a:t>Paid-off loans or RMU (past due); the month of the report</a:t>
                      </a:r>
                    </a:p>
                  </a:txBody>
                  <a:tcPr marL="54864" marR="54864" marT="27432" marB="27432">
                    <a:solidFill>
                      <a:srgbClr val="FFFFFF"/>
                    </a:solidFill>
                  </a:tcPr>
                </a:tc>
                <a:tc>
                  <a:txBody>
                    <a:bodyPr/>
                    <a:lstStyle/>
                    <a:p>
                      <a:r>
                        <a:rPr sz="850" b="0">
                          <a:solidFill>
                            <a:srgbClr val="4B4B4B"/>
                          </a:solidFill>
                          <a:latin typeface="Arial"/>
                        </a:rPr>
                        <a:t>Y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period of the report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LAMD Report</a:t>
                      </a:r>
                    </a:p>
                  </a:txBody>
                  <a:tcPr marL="54864" marR="54864" marT="27432" marB="27432">
                    <a:solidFill>
                      <a:srgbClr val="E5F5FF"/>
                    </a:solidFill>
                  </a:tcPr>
                </a:tc>
                <a:tc>
                  <a:txBody>
                    <a:bodyPr/>
                    <a:lstStyle/>
                    <a:p>
                      <a:r>
                        <a:rPr sz="850" b="0">
                          <a:solidFill>
                            <a:srgbClr val="4B4B4B"/>
                          </a:solidFill>
                          <a:latin typeface="Arial"/>
                        </a:rPr>
                        <a:t>Upload wizard: PN Number, Status Date, Borrower</a:t>
                      </a:r>
                    </a:p>
                  </a:txBody>
                  <a:tcPr marL="54864" marR="54864" marT="27432" marB="27432">
                    <a:solidFill>
                      <a:srgbClr val="E5F5FF"/>
                    </a:solidFill>
                  </a:tcPr>
                </a:tc>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Template of the LAMD loan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Every row checked before anything is saved</a:t>
                      </a:r>
                    </a:p>
                  </a:txBody>
                  <a:tcPr marL="54864" marR="54864" marT="27432" marB="27432">
                    <a:solidFill>
                      <a:srgbClr val="E5F5FF"/>
                    </a:solidFill>
                  </a:tcPr>
                </a:tc>
                <a:tc>
                  <a:txBody>
                    <a:bodyPr/>
                    <a:lstStyle/>
                    <a:p>
                      <a:r>
                        <a:rPr sz="850" b="0">
                          <a:solidFill>
                            <a:srgbClr val="4B4B4B"/>
                          </a:solidFill>
                          <a:latin typeface="Arial"/>
                        </a:rPr>
                        <a:t>The row has no PN number</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Report / Type / Month / Lines / Matched / Uploaded by / 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Report number; Paid-off loans or RMU (past due); the month; counts; the user's name and the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LAMD reports uploaded</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Row / PN / Borrower / Loan Status / Status date / Match / Renewal / Outcome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line of the report, the renewal matched and what followed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lines</a:t>
                      </a:r>
                    </a:p>
                  </a:txBody>
                  <a:tcPr marL="54864" marR="54864" marT="27432" marB="27432">
                    <a:solidFill>
                      <a:srgbClr val="E5F5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Upload LAMD Report</a:t>
                      </a:r>
                    </a:p>
                  </a:txBody>
                  <a:tcPr marL="54864" marR="54864" marT="27432" marB="27432">
                    <a:solidFill>
                      <a:srgbClr val="FFFFFF"/>
                    </a:solidFill>
                  </a:tcPr>
                </a:tc>
                <a:tc>
                  <a:txBody>
                    <a:bodyPr/>
                    <a:lstStyle/>
                    <a:p>
                      <a:r>
                        <a:rPr sz="850" b="0">
                          <a:solidFill>
                            <a:srgbClr val="4B4B4B"/>
                          </a:solidFill>
                          <a:latin typeface="Arial"/>
                        </a:rPr>
                        <a:t>LAMD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 each line is matched to the renewals by PN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Renewal assigned (NT-01) to the Team Leaders of the unit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LAMD</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lines of the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paid-off loan proposes Not for Renewal (reason Loan fully paid); a past-due loan routes the renewal to the Team Leader (FR-RN-025).</a:t>
                      </a:r>
                    </a:p>
                  </a:txBody>
                  <a:tcPr marL="54864" marR="54864" marT="27432" marB="27432">
                    <a:solidFill>
                      <a:srgbClr val="FFFFFF"/>
                    </a:solidFill>
                  </a:tcPr>
                </a:tc>
              </a:tr>
              <a:tr h="243840">
                <a:tc>
                  <a:txBody>
                    <a:bodyPr/>
                    <a:lstStyle/>
                    <a:p>
                      <a:r>
                        <a:rPr sz="1000" b="0">
                          <a:solidFill>
                            <a:srgbClr val="4B4B4B"/>
                          </a:solidFill>
                          <a:latin typeface="Arial"/>
                        </a:rPr>
                        <a:t>The LAMD role never places, books, sends letters or gives dispositions (FR-RN-025).</a:t>
                      </a:r>
                    </a:p>
                  </a:txBody>
                  <a:tcPr marL="54864" marR="54864" marT="27432" marB="27432">
                    <a:solidFill>
                      <a:srgbClr val="E5F5FF"/>
                    </a:solidFill>
                  </a:tcPr>
                </a:tc>
              </a:tr>
            </a:tbl>
          </a:graphicData>
        </a:graphic>
      </p:graphicFrame>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LAMD Reports: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LAMD Reports with the upload of a paid-off or past-due loan report (part 1 of 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LAMD Reports: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3.png"/>
          <p:cNvPicPr>
            <a:picLocks noChangeAspect="1"/>
          </p:cNvPicPr>
          <p:nvPr/>
        </p:nvPicPr>
        <p:blipFill>
          <a:blip r:embed="rId3"/>
          <a:stretch>
            <a:fillRect/>
          </a:stretch>
        </p:blipFill>
        <p:spPr>
          <a:xfrm>
            <a:off x="548640" y="1261872"/>
            <a:ext cx="11094415" cy="42847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LAMD Reports with the upload of a paid-off or past-due loan report (part 2 of 3)</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SCR-RN-16 LAMD Reports: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25631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LAMD Reports with the upload of a paid-off or past-due loan report (part 3 of 3)</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SCR-RN-17 Renewal Setup: Non-renewable Risk Codes and Checks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Renewal Setup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risk codes that are never renewed (the renewal gets Not for Renewal and the Not for Renewal Letter) and the sanitation checks with their severity and parameters. A new or changed risk code or check applies once another user authorizes it; a risk code is end-dated or deactivated, never deleted.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 Business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Renewal Setup</a:t>
                      </a:r>
                    </a:p>
                    <a:p>
                      <a:r>
                        <a:rPr sz="950" b="0">
                          <a:solidFill>
                            <a:srgbClr val="4B4B4B"/>
                          </a:solidFill>
                          <a:latin typeface="Arial"/>
                        </a:rPr>
                        <a:t>Client &amp; Policy › Renewal › Renewal Setup › Non-renewable Risk Codes or Checks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FR-RN-020, FR-RN-024, FR-RN-112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keeps the non-renewable risk codes and the checks.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1" cy="345183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Non-renewable Risk Codes / Checks / Classification Rules / Decision Matrix / Package Map / Package Choices / Go-live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Risk codes</a:t>
                      </a:r>
                    </a:p>
                  </a:txBody>
                  <a:tcPr marL="54864" marR="54864" marT="27432" marB="27432">
                    <a:solidFill>
                      <a:srgbClr val="E5F5FF"/>
                    </a:solidFill>
                  </a:tcPr>
                </a:tc>
                <a:tc>
                  <a:txBody>
                    <a:bodyPr/>
                    <a:lstStyle/>
                    <a:p>
                      <a:r>
                        <a:rPr sz="850" b="0">
                          <a:solidFill>
                            <a:srgbClr val="4B4B4B"/>
                          </a:solidFill>
                          <a:latin typeface="Arial"/>
                        </a:rPr>
                        <a:t>Risk Code / Line / Reason / From / To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Code; name of the line or All; dates dd-MMM-yyyy; Active, Pending Authorization or Inactive with the maker's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non-renewable risk codes</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Risk code dialog</a:t>
                      </a:r>
                    </a:p>
                  </a:txBody>
                  <a:tcPr marL="54864" marR="54864" marT="27432" marB="27432">
                    <a:solidFill>
                      <a:srgbClr val="FFFFFF"/>
                    </a:solidFill>
                  </a:tcPr>
                </a:tc>
                <a:tc>
                  <a:txBody>
                    <a:bodyPr/>
                    <a:lstStyle/>
                    <a:p>
                      <a:r>
                        <a:rPr sz="850" b="0">
                          <a:solidFill>
                            <a:srgbClr val="4B4B4B"/>
                          </a:solidFill>
                          <a:latin typeface="Arial"/>
                        </a:rPr>
                        <a:t>Risk Code / Line of Business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risk code; the line, blank for every line</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risk code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Risk code dialog</a:t>
                      </a:r>
                    </a:p>
                  </a:txBody>
                  <a:tcPr marL="54864" marR="54864" marT="27432" marB="27432">
                    <a:solidFill>
                      <a:srgbClr val="E5F5FF"/>
                    </a:solidFill>
                  </a:tcPr>
                </a:tc>
                <a:tc>
                  <a:txBody>
                    <a:bodyPr/>
                    <a:lstStyle/>
                    <a:p>
                      <a:r>
                        <a:rPr sz="850" b="0">
                          <a:solidFill>
                            <a:srgbClr val="4B4B4B"/>
                          </a:solidFill>
                          <a:latin typeface="Arial"/>
                        </a:rPr>
                        <a:t>Effective From / 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the end after the start</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The end after the start</a:t>
                      </a:r>
                    </a:p>
                  </a:txBody>
                  <a:tcPr marL="54864" marR="54864" marT="27432" marB="27432">
                    <a:solidFill>
                      <a:srgbClr val="E5F5FF"/>
                    </a:solidFill>
                  </a:tcPr>
                </a:tc>
                <a:tc>
                  <a:txBody>
                    <a:bodyPr/>
                    <a:lstStyle/>
                    <a:p>
                      <a:r>
                        <a:rPr sz="850" b="0">
                          <a:solidFill>
                            <a:srgbClr val="4B4B4B"/>
                          </a:solidFill>
                          <a:latin typeface="Arial"/>
                        </a:rPr>
                        <a:t>The effective-to date is before the effective-from date</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Risk code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 and the effective date</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Checks</a:t>
                      </a:r>
                    </a:p>
                  </a:txBody>
                  <a:tcPr marL="54864" marR="54864" marT="27432" marB="27432">
                    <a:solidFill>
                      <a:srgbClr val="E5F5FF"/>
                    </a:solidFill>
                  </a:tcPr>
                </a:tc>
                <a:tc>
                  <a:txBody>
                    <a:bodyPr/>
                    <a:lstStyle/>
                    <a:p>
                      <a:r>
                        <a:rPr sz="850" b="0">
                          <a:solidFill>
                            <a:srgbClr val="4B4B4B"/>
                          </a:solidFill>
                          <a:latin typeface="Arial"/>
                        </a:rPr>
                        <a:t>Check / Active / Severity / Parameters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check; Yes or No; Fail – Exception, Fail – Review, Warning, Information or System (sets the disposition); the settings of the check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checks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Check dialog</a:t>
                      </a:r>
                    </a:p>
                  </a:txBody>
                  <a:tcPr marL="54864" marR="54864" marT="27432" marB="27432">
                    <a:solidFill>
                      <a:srgbClr val="FFFFFF"/>
                    </a:solidFill>
                  </a:tcPr>
                </a:tc>
                <a:tc>
                  <a:txBody>
                    <a:bodyPr/>
                    <a:lstStyle/>
                    <a:p>
                      <a:r>
                        <a:rPr sz="850" b="0">
                          <a:solidFill>
                            <a:srgbClr val="4B4B4B"/>
                          </a:solidFill>
                          <a:latin typeface="Arial"/>
                        </a:rPr>
                        <a:t>Active / Severity / Parameters</a:t>
                      </a:r>
                    </a:p>
                  </a:txBody>
                  <a:tcPr marL="54864" marR="54864" marT="27432" marB="27432">
                    <a:solidFill>
                      <a:srgbClr val="FFFFFF"/>
                    </a:solidFill>
                  </a:tcPr>
                </a:tc>
                <a:tc>
                  <a:txBody>
                    <a:bodyPr/>
                    <a:lstStyle/>
                    <a:p>
                      <a:r>
                        <a:rPr sz="850" b="0">
                          <a:solidFill>
                            <a:srgbClr val="4B4B4B"/>
                          </a:solidFill>
                          <a:latin typeface="Arial"/>
                        </a:rPr>
                        <a:t>Check box, drop-down, text</a:t>
                      </a:r>
                    </a:p>
                  </a:txBody>
                  <a:tcPr marL="54864" marR="54864" marT="27432" marB="27432">
                    <a:solidFill>
                      <a:srgbClr val="FFFFFF"/>
                    </a:solidFill>
                  </a:tcPr>
                </a:tc>
                <a:tc>
                  <a:txBody>
                    <a:bodyPr/>
                    <a:lstStyle/>
                    <a:p>
                      <a:r>
                        <a:rPr sz="850" b="0">
                          <a:solidFill>
                            <a:srgbClr val="4B4B4B"/>
                          </a:solidFill>
                          <a:latin typeface="Arial"/>
                        </a:rPr>
                        <a:t>Optional settings of the check, e.g. days=30</a:t>
                      </a:r>
                    </a:p>
                  </a:txBody>
                  <a:tcPr marL="54864" marR="54864" marT="27432" marB="27432">
                    <a:solidFill>
                      <a:srgbClr val="FFFFFF"/>
                    </a:solidFill>
                  </a:tcPr>
                </a:tc>
                <a:tc>
                  <a:txBody>
                    <a:bodyPr/>
                    <a:lstStyle/>
                    <a:p>
                      <a:r>
                        <a:rPr sz="850" b="0">
                          <a:solidFill>
                            <a:srgbClr val="4B4B4B"/>
                          </a:solidFill>
                          <a:latin typeface="Arial"/>
                        </a:rPr>
                        <a:t>N / 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severity of the check</a:t>
                      </a:r>
                    </a:p>
                  </a:txBody>
                  <a:tcPr marL="54864" marR="54864" marT="27432" marB="27432">
                    <a:solidFill>
                      <a:srgbClr val="FFFF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Risk Code</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Save for Authorization keeps the code waiting for a second user</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 (row menu)</a:t>
                      </a:r>
                    </a:p>
                  </a:txBody>
                  <a:tcPr marL="54864" marR="54864" marT="27432" marB="27432">
                    <a:solidFill>
                      <a:srgbClr val="E5F5FF"/>
                    </a:solidFill>
                  </a:tcPr>
                </a:tc>
                <a:tc>
                  <a:txBody>
                    <a:bodyPr/>
                    <a:lstStyle/>
                    <a:p>
                      <a:r>
                        <a:rPr sz="850" b="0">
                          <a:solidFill>
                            <a:srgbClr val="4B4B4B"/>
                          </a:solidFill>
                          <a:latin typeface="Arial"/>
                        </a:rPr>
                        <a:t>Another Business Administrator than the maker</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Asks for confirmation; the change takes effect</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Edit (row menu)</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the change waits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 (row menu)</a:t>
                      </a:r>
                    </a:p>
                  </a:txBody>
                  <a:tcPr marL="54864" marR="54864" marT="27432" marB="27432">
                    <a:solidFill>
                      <a:srgbClr val="E5F5FF"/>
                    </a:solidFill>
                  </a:tcPr>
                </a:tc>
                <a:tc>
                  <a:txBody>
                    <a:bodyPr/>
                    <a:lstStyle/>
                    <a:p>
                      <a:r>
                        <a:rPr sz="850" b="0">
                          <a:solidFill>
                            <a:srgbClr val="4B4B4B"/>
                          </a:solidFill>
                          <a:latin typeface="Arial"/>
                        </a:rPr>
                        <a:t>Business Administrator</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Asks for confirmation; the code is no longer used for new renewals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renewal whose risk code is non-renewable gets Not for Renewal (reason Non-renewable Accounts) by the system and its Not for Renewal Letter (FR-RN-024).</a:t>
                      </a:r>
                    </a:p>
                  </a:txBody>
                  <a:tcPr marL="54864" marR="54864" marT="27432" marB="27432">
                    <a:solidFill>
                      <a:srgbClr val="FFFFFF"/>
                    </a:solidFill>
                  </a:tcPr>
                </a:tc>
              </a:tr>
              <a:tr h="243840">
                <a:tc>
                  <a:txBody>
                    <a:bodyPr/>
                    <a:lstStyle/>
                    <a:p>
                      <a:r>
                        <a:rPr sz="1000" b="0">
                          <a:solidFill>
                            <a:srgbClr val="4B4B4B"/>
                          </a:solidFill>
                          <a:latin typeface="Arial"/>
                        </a:rPr>
                        <a:t>The checks run on initiation and again when the expiring account changes; their severity decides the classification through the classification rules (FR-RN-020, FR-RN-112).</a:t>
                      </a:r>
                    </a:p>
                  </a:txBody>
                  <a:tcPr marL="54864" marR="54864" marT="27432" marB="27432">
                    <a:solidFill>
                      <a:srgbClr val="E5F5FF"/>
                    </a:solidFill>
                  </a:tcPr>
                </a:tc>
              </a:tr>
              <a:tr h="243840">
                <a:tc>
                  <a:txBody>
                    <a:bodyPr/>
                    <a:lstStyle/>
                    <a:p>
                      <a:r>
                        <a:rPr sz="1000" b="0">
                          <a:solidFill>
                            <a:srgbClr val="4B4B4B"/>
                          </a:solidFill>
                          <a:latin typeface="Arial"/>
                        </a:rPr>
                        <a:t>Maker-checker: the maker of a change cannot authorize it (FR-RN-112).</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7-01-risk.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Non-renewable Risk Codes with their row action menu</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the sanitation checks with their severity (part 1 of 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the sanitation checks with their severity (part 2 of 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31274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Checks: the sanitation checks with their severity (part 3 of 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rn-17-actions.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non-renewable risk code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SCR-RN-17 Renewal Setup: Non-renewable Risk Codes and Checks: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rn-17-03-new.png"/>
          <p:cNvPicPr>
            <a:picLocks noChangeAspect="1"/>
          </p:cNvPicPr>
          <p:nvPr/>
        </p:nvPicPr>
        <p:blipFill>
          <a:blip r:embed="rId3"/>
          <a:stretch>
            <a:fillRect/>
          </a:stretch>
        </p:blipFill>
        <p:spPr>
          <a:xfrm>
            <a:off x="917246" y="1261872"/>
            <a:ext cx="1035720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non-renewable risk code dialog</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SCR-RN-18 Renewal Setup: Classification Rules and Decision Matrix</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Renewal Setup</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versioned rules: the classification rules turn the check results into Clean, Review or Exception; the decision matrix proposes the disposition by segment, line, product, mortgage, classification, claims, endorsement, payment and days to expiry, automatic or as a proposal to the officer, with the letter. A new version is a draft from the active one, submitted, then activated or rejected by another user; activation retires the active version.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 Business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Renewal Setup</a:t>
                      </a:r>
                    </a:p>
                    <a:p>
                      <a:r>
                        <a:rPr sz="950" b="0">
                          <a:solidFill>
                            <a:srgbClr val="4B4B4B"/>
                          </a:solidFill>
                          <a:latin typeface="Arial"/>
                        </a:rPr>
                        <a:t>Client &amp; Policy › Renewal › Renewal Setup › Classification Rules or Decision Matrix</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FR-RN-022, FR-RN-023, FR-RN-112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rules agreed by the business classify the renewals and propose their dispositions.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1" cy="31013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Versions</a:t>
                      </a:r>
                    </a:p>
                  </a:txBody>
                  <a:tcPr marL="54864" marR="54864" marT="27432" marB="27432">
                    <a:solidFill>
                      <a:srgbClr val="FFFFFF"/>
                    </a:solidFill>
                  </a:tcPr>
                </a:tc>
                <a:tc>
                  <a:txBody>
                    <a:bodyPr/>
                    <a:lstStyle/>
                    <a:p>
                      <a:r>
                        <a:rPr sz="850" b="0">
                          <a:solidFill>
                            <a:srgbClr val="4B4B4B"/>
                          </a:solidFill>
                          <a:latin typeface="Arial"/>
                        </a:rPr>
                        <a:t>Version / Status / Effective / Description / Maker / Approved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 Draft, Submitted, Active, Retired or Rejected; dd-MMM-yyyy; users'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versions</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Classification rules</a:t>
                      </a:r>
                    </a:p>
                  </a:txBody>
                  <a:tcPr marL="54864" marR="54864" marT="27432" marB="27432">
                    <a:solidFill>
                      <a:srgbClr val="E5F5FF"/>
                    </a:solidFill>
                  </a:tcPr>
                </a:tc>
                <a:tc>
                  <a:txBody>
                    <a:bodyPr/>
                    <a:lstStyle/>
                    <a:p>
                      <a:r>
                        <a:rPr sz="850" b="0">
                          <a:solidFill>
                            <a:srgbClr val="4B4B4B"/>
                          </a:solidFill>
                          <a:latin typeface="Arial"/>
                        </a:rPr>
                        <a:t>Priority / Check / Severity / Outcome / Classification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Order of the rule; the check or Any; the severity or Any; Failed or Warning; Clean, Review or Exception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rules</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Decision matrix</a:t>
                      </a:r>
                    </a:p>
                  </a:txBody>
                  <a:tcPr marL="54864" marR="54864" marT="27432" marB="27432">
                    <a:solidFill>
                      <a:srgbClr val="FFFFFF"/>
                    </a:solidFill>
                  </a:tcPr>
                </a:tc>
                <a:tc>
                  <a:txBody>
                    <a:bodyPr/>
                    <a:lstStyle/>
                    <a:p>
                      <a:r>
                        <a:rPr sz="850" b="0">
                          <a:solidFill>
                            <a:srgbClr val="4B4B4B"/>
                          </a:solidFill>
                          <a:latin typeface="Arial"/>
                        </a:rPr>
                        <a:t>Priority / Segment / Line / Product / Mortgaged / Classification / Claims / Endorsement / Payment / Days from / Days to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conditions of the rule; Any when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rules</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Decision matrix</a:t>
                      </a:r>
                    </a:p>
                  </a:txBody>
                  <a:tcPr marL="54864" marR="54864" marT="27432" marB="27432">
                    <a:solidFill>
                      <a:srgbClr val="E5F5FF"/>
                    </a:solidFill>
                  </a:tcPr>
                </a:tc>
                <a:tc>
                  <a:txBody>
                    <a:bodyPr/>
                    <a:lstStyle/>
                    <a:p>
                      <a:r>
                        <a:rPr sz="850" b="0">
                          <a:solidFill>
                            <a:srgbClr val="4B4B4B"/>
                          </a:solidFill>
                          <a:latin typeface="Arial"/>
                        </a:rPr>
                        <a:t>Disposition / Automation / Letter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disposition proposed; Automatic or Proposal to the officer; Renewal Advice, Not for Renewal, No Advice Letter or None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version dialog</a:t>
                      </a:r>
                    </a:p>
                  </a:txBody>
                  <a:tcPr marL="54864" marR="54864" marT="27432" marB="27432">
                    <a:solidFill>
                      <a:srgbClr val="FFFFFF"/>
                    </a:solidFill>
                  </a:tcPr>
                </a:tc>
                <a:tc>
                  <a:txBody>
                    <a:bodyPr/>
                    <a:lstStyle/>
                    <a:p>
                      <a:r>
                        <a:rPr sz="850" b="0">
                          <a:solidFill>
                            <a:srgbClr val="4B4B4B"/>
                          </a:solidFill>
                          <a:latin typeface="Arial"/>
                        </a:rPr>
                        <a:t>Effective From / Description</a:t>
                      </a:r>
                    </a:p>
                  </a:txBody>
                  <a:tcPr marL="54864" marR="54864" marT="27432" marB="27432">
                    <a:solidFill>
                      <a:srgbClr val="FFFFFF"/>
                    </a:solidFill>
                  </a:tcPr>
                </a:tc>
                <a:tc>
                  <a:txBody>
                    <a:bodyPr/>
                    <a:lstStyle/>
                    <a:p>
                      <a:r>
                        <a:rPr sz="850" b="0">
                          <a:solidFill>
                            <a:srgbClr val="4B4B4B"/>
                          </a:solidFill>
                          <a:latin typeface="Arial"/>
                        </a:rPr>
                        <a:t>Date, text</a:t>
                      </a:r>
                    </a:p>
                  </a:txBody>
                  <a:tcPr marL="54864" marR="54864" marT="27432" marB="27432">
                    <a:solidFill>
                      <a:srgbClr val="FFFFFF"/>
                    </a:solidFill>
                  </a:tcPr>
                </a:tc>
                <a:tc>
                  <a:txBody>
                    <a:bodyPr/>
                    <a:lstStyle/>
                    <a:p>
                      <a:r>
                        <a:rPr sz="850" b="0">
                          <a:solidFill>
                            <a:srgbClr val="4B4B4B"/>
                          </a:solidFill>
                          <a:latin typeface="Arial"/>
                        </a:rPr>
                        <a:t>dd-MMM-yyyy; up to 200 characters</a:t>
                      </a:r>
                    </a:p>
                  </a:txBody>
                  <a:tcPr marL="54864" marR="54864" marT="27432" marB="27432">
                    <a:solidFill>
                      <a:srgbClr val="FFFFFF"/>
                    </a:solidFill>
                  </a:tcPr>
                </a:tc>
                <a:tc>
                  <a:txBody>
                    <a:bodyPr/>
                    <a:lstStyle/>
                    <a:p>
                      <a:r>
                        <a:rPr sz="850" b="0">
                          <a:solidFill>
                            <a:srgbClr val="4B4B4B"/>
                          </a:solidFill>
                          <a:latin typeface="Arial"/>
                        </a:rPr>
                        <a:t>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version dialog</a:t>
                      </a:r>
                    </a:p>
                  </a:txBody>
                  <a:tcPr marL="54864" marR="54864" marT="27432" marB="27432">
                    <a:solidFill>
                      <a:srgbClr val="E5F5FF"/>
                    </a:solidFill>
                  </a:tcPr>
                </a:tc>
                <a:tc>
                  <a:txBody>
                    <a:bodyPr/>
                    <a:lstStyle/>
                    <a:p>
                      <a:r>
                        <a:rPr sz="850" b="0">
                          <a:solidFill>
                            <a:srgbClr val="4B4B4B"/>
                          </a:solidFill>
                          <a:latin typeface="Arial"/>
                        </a:rPr>
                        <a:t>The rules of the version, one row each, with Add Rule and Remove rule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The columns of the rules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Each rule its own priority; a failed check never gives Clean</a:t>
                      </a:r>
                    </a:p>
                  </a:txBody>
                  <a:tcPr marL="54864" marR="54864" marT="27432" marB="27432">
                    <a:solidFill>
                      <a:srgbClr val="E5F5FF"/>
                    </a:solidFill>
                  </a:tcPr>
                </a:tc>
                <a:tc>
                  <a:txBody>
                    <a:bodyPr/>
                    <a:lstStyle/>
                    <a:p>
                      <a:r>
                        <a:rPr sz="850" b="0">
                          <a:solidFill>
                            <a:srgbClr val="4B4B4B"/>
                          </a:solidFill>
                          <a:latin typeface="Arial"/>
                        </a:rPr>
                        <a:t>Two rules have the priority &lt;p&gt;</a:t>
                      </a:r>
                    </a:p>
                  </a:txBody>
                  <a:tcPr marL="54864" marR="54864" marT="27432" marB="27432">
                    <a:solidFill>
                      <a:srgbClr val="E5F5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with the rules of the active version; Save Draft keeps the draft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 (row menu)</a:t>
                      </a:r>
                    </a:p>
                  </a:txBody>
                  <a:tcPr marL="54864" marR="54864" marT="27432" marB="27432">
                    <a:solidFill>
                      <a:srgbClr val="E5F5FF"/>
                    </a:solidFill>
                  </a:tcPr>
                </a:tc>
                <a:tc>
                  <a:txBody>
                    <a:bodyPr/>
                    <a:lstStyle/>
                    <a:p>
                      <a:r>
                        <a:rPr sz="850" b="0">
                          <a:solidFill>
                            <a:srgbClr val="4B4B4B"/>
                          </a:solidFill>
                          <a:latin typeface="Arial"/>
                        </a:rPr>
                        <a:t>Business Administrator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Submits the version for a second user</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Activate (row menu)</a:t>
                      </a:r>
                    </a:p>
                  </a:txBody>
                  <a:tcPr marL="54864" marR="54864" marT="27432" marB="27432">
                    <a:solidFill>
                      <a:srgbClr val="FFFFFF"/>
                    </a:solidFill>
                  </a:tcPr>
                </a:tc>
                <a:tc>
                  <a:txBody>
                    <a:bodyPr/>
                    <a:lstStyle/>
                    <a:p>
                      <a:r>
                        <a:rPr sz="850" b="0">
                          <a:solidFill>
                            <a:srgbClr val="4B4B4B"/>
                          </a:solidFill>
                          <a:latin typeface="Arial"/>
                        </a:rPr>
                        <a:t>Another Business Administrator than the maker</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Asks for confirmation; the version replaces the active one from its effective date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Reject (row menu)</a:t>
                      </a:r>
                    </a:p>
                  </a:txBody>
                  <a:tcPr marL="54864" marR="54864" marT="27432" marB="27432">
                    <a:solidFill>
                      <a:srgbClr val="E5F5FF"/>
                    </a:solidFill>
                  </a:tcPr>
                </a:tc>
                <a:tc>
                  <a:txBody>
                    <a:bodyPr/>
                    <a:lstStyle/>
                    <a:p>
                      <a:r>
                        <a:rPr sz="850" b="0">
                          <a:solidFill>
                            <a:srgbClr val="4B4B4B"/>
                          </a:solidFill>
                          <a:latin typeface="Arial"/>
                        </a:rPr>
                        <a:t>Another Business Administrator than the maker</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Asks for the reason; the version returns to its maker</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failed check never gives the Clean classification (FR-RN-022).</a:t>
                      </a:r>
                    </a:p>
                  </a:txBody>
                  <a:tcPr marL="54864" marR="54864" marT="27432" marB="27432">
                    <a:solidFill>
                      <a:srgbClr val="FFFFFF"/>
                    </a:solidFill>
                  </a:tcPr>
                </a:tc>
              </a:tr>
              <a:tr h="243840">
                <a:tc>
                  <a:txBody>
                    <a:bodyPr/>
                    <a:lstStyle/>
                    <a:p>
                      <a:r>
                        <a:rPr sz="1000" b="0">
                          <a:solidFill>
                            <a:srgbClr val="4B4B4B"/>
                          </a:solidFill>
                          <a:latin typeface="Arial"/>
                        </a:rPr>
                        <a:t>The first matching rule of the active matrix proposes the disposition; an automatic rule on a Clean renewal disposes it without the officer (FR-RN-023).</a:t>
                      </a:r>
                    </a:p>
                  </a:txBody>
                  <a:tcPr marL="54864" marR="54864" marT="27432" marB="27432">
                    <a:solidFill>
                      <a:srgbClr val="E5F5FF"/>
                    </a:solidFill>
                  </a:tcPr>
                </a:tc>
              </a:tr>
              <a:tr h="243840">
                <a:tc>
                  <a:txBody>
                    <a:bodyPr/>
                    <a:lstStyle/>
                    <a:p>
                      <a:r>
                        <a:rPr sz="1000" b="0">
                          <a:solidFill>
                            <a:srgbClr val="4B4B4B"/>
                          </a:solidFill>
                          <a:latin typeface="Arial"/>
                        </a:rPr>
                        <a:t>A version is activated by another user than its maker; activation retires the active version (FR-RN-112).</a:t>
                      </a:r>
                    </a:p>
                  </a:txBody>
                  <a:tcPr marL="54864" marR="54864" marT="27432" marB="27432">
                    <a:solidFill>
                      <a:srgbClr val="FFFF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SCR-RN-18 Renewal Setup: Classification Rules and Decision Matrix: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8-01-matrix.png"/>
          <p:cNvPicPr>
            <a:picLocks noChangeAspect="1"/>
          </p:cNvPicPr>
          <p:nvPr/>
        </p:nvPicPr>
        <p:blipFill>
          <a:blip r:embed="rId3"/>
          <a:stretch>
            <a:fillRect/>
          </a:stretch>
        </p:blipFill>
        <p:spPr>
          <a:xfrm>
            <a:off x="2076546" y="1261872"/>
            <a:ext cx="803860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Decision Matrix: the versions with their row action menu and the rules of the active version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SCR-RN-18 Renewal Setup: Classification Rules and Decision Matrix: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8.png"/>
          <p:cNvPicPr>
            <a:picLocks noChangeAspect="1"/>
          </p:cNvPicPr>
          <p:nvPr/>
        </p:nvPicPr>
        <p:blipFill>
          <a:blip r:embed="rId3"/>
          <a:stretch>
            <a:fillRect/>
          </a:stretch>
        </p:blipFill>
        <p:spPr>
          <a:xfrm>
            <a:off x="548640" y="1261872"/>
            <a:ext cx="11094415" cy="45907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Classification Rules: the versions and the rules of the active version (part 1 of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SCR-RN-18 Renewal Setup: Classification Rules and Decision Matrix: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9.png"/>
          <p:cNvPicPr>
            <a:picLocks noChangeAspect="1"/>
          </p:cNvPicPr>
          <p:nvPr/>
        </p:nvPicPr>
        <p:blipFill>
          <a:blip r:embed="rId3"/>
          <a:stretch>
            <a:fillRect/>
          </a:stretch>
        </p:blipFill>
        <p:spPr>
          <a:xfrm>
            <a:off x="548640" y="1261872"/>
            <a:ext cx="11094415" cy="21710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Classification Rules: the versions and the rules of the active version (part 2 of 2)</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SCR-RN-19 Renewal Setup: Package Map, Package Choices and Propose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Renewal Setup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of a migrated policy: the package map gives the BIBS product and version a legacy package renews on (or rejects it), by risk code, insurer and sum insured band; when the map gives no answer, a Processing Officer proposes the package on the renewal and another member of the team approves or rejects the choice.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 Business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Renewal Setup</a:t>
                      </a:r>
                    </a:p>
                    <a:p>
                      <a:r>
                        <a:rPr sz="950" b="0">
                          <a:solidFill>
                            <a:srgbClr val="4B4B4B"/>
                          </a:solidFill>
                          <a:latin typeface="Arial"/>
                        </a:rPr>
                        <a:t>Client &amp; Policy › Renewal › Renewal Setup › Package Map or Package Choices</a:t>
                      </a:r>
                    </a:p>
                    <a:p>
                      <a:r>
                        <a:rPr sz="950" b="0">
                          <a:solidFill>
                            <a:srgbClr val="4B4B4B"/>
                          </a:solidFill>
                          <a:latin typeface="Arial"/>
                        </a:rPr>
                        <a:t>Renewal (migrated packaged policy) › Propose Package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FR-RN-028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migrated packaged policy renews on a BIBS package version.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1" cy="313942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Package map</a:t>
                      </a:r>
                    </a:p>
                  </a:txBody>
                  <a:tcPr marL="54864" marR="54864" marT="27432" marB="27432">
                    <a:solidFill>
                      <a:srgbClr val="FFFFFF"/>
                    </a:solidFill>
                  </a:tcPr>
                </a:tc>
                <a:tc>
                  <a:txBody>
                    <a:bodyPr/>
                    <a:lstStyle/>
                    <a:p>
                      <a:r>
                        <a:rPr sz="850" b="0">
                          <a:solidFill>
                            <a:srgbClr val="4B4B4B"/>
                          </a:solidFill>
                          <a:latin typeface="Arial"/>
                        </a:rPr>
                        <a:t>Legacy Package / Risk / Insurer / Sum Insured band / Renews on / Source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Legacy code with its version; risk code and insurer name or Any; the band or Any; product name with its version, or Rejected (not renewable as is); Data migration, Entered on screen or Upload; the approval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package mappings</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Mapping dialog</a:t>
                      </a:r>
                    </a:p>
                  </a:txBody>
                  <a:tcPr marL="54864" marR="54864" marT="27432" marB="27432">
                    <a:solidFill>
                      <a:srgbClr val="E5F5FF"/>
                    </a:solidFill>
                  </a:tcPr>
                </a:tc>
                <a:tc>
                  <a:txBody>
                    <a:bodyPr/>
                    <a:lstStyle/>
                    <a:p>
                      <a:r>
                        <a:rPr sz="850" b="0">
                          <a:solidFill>
                            <a:srgbClr val="4B4B4B"/>
                          </a:solidFill>
                          <a:latin typeface="Arial"/>
                        </a:rPr>
                        <a:t>Legacy Package Code / Legacy Package Version / Risk Code / Insurance Company / Sum Insured From / Sum Insured To</a:t>
                      </a:r>
                    </a:p>
                  </a:txBody>
                  <a:tcPr marL="54864" marR="54864" marT="27432" marB="27432">
                    <a:solidFill>
                      <a:srgbClr val="E5F5FF"/>
                    </a:solidFill>
                  </a:tcPr>
                </a:tc>
                <a:tc>
                  <a:txBody>
                    <a:bodyPr/>
                    <a:lstStyle/>
                    <a:p>
                      <a:r>
                        <a:rPr sz="850" b="0">
                          <a:solidFill>
                            <a:srgbClr val="4B4B4B"/>
                          </a:solidFill>
                          <a:latin typeface="Arial"/>
                        </a:rPr>
                        <a:t>Text, amount</a:t>
                      </a:r>
                    </a:p>
                  </a:txBody>
                  <a:tcPr marL="54864" marR="54864" marT="27432" marB="27432">
                    <a:solidFill>
                      <a:srgbClr val="E5F5FF"/>
                    </a:solidFill>
                  </a:tcPr>
                </a:tc>
                <a:tc>
                  <a:txBody>
                    <a:bodyPr/>
                    <a:lstStyle/>
                    <a:p>
                      <a:r>
                        <a:rPr sz="850" b="0">
                          <a:solidFill>
                            <a:srgbClr val="4B4B4B"/>
                          </a:solidFill>
                          <a:latin typeface="Arial"/>
                        </a:rPr>
                        <a:t>The legacy package and its qualifiers, blank for any</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Mapping dialog</a:t>
                      </a:r>
                    </a:p>
                  </a:txBody>
                  <a:tcPr marL="54864" marR="54864" marT="27432" marB="27432">
                    <a:solidFill>
                      <a:srgbClr val="FFFFFF"/>
                    </a:solidFill>
                  </a:tcPr>
                </a:tc>
                <a:tc>
                  <a:txBody>
                    <a:bodyPr/>
                    <a:lstStyle/>
                    <a:p>
                      <a:r>
                        <a:rPr sz="850" b="0">
                          <a:solidFill>
                            <a:srgbClr val="4B4B4B"/>
                          </a:solidFill>
                          <a:latin typeface="Arial"/>
                        </a:rPr>
                        <a:t>Product Code (blank to reject) / Product Version / Remarks</a:t>
                      </a:r>
                    </a:p>
                  </a:txBody>
                  <a:tcPr marL="54864" marR="54864" marT="27432" marB="27432">
                    <a:solidFill>
                      <a:srgbClr val="FFFFFF"/>
                    </a:solidFill>
                  </a:tcPr>
                </a:tc>
                <a:tc>
                  <a:txBody>
                    <a:bodyPr/>
                    <a:lstStyle/>
                    <a:p>
                      <a:r>
                        <a:rPr sz="850" b="0">
                          <a:solidFill>
                            <a:srgbClr val="4B4B4B"/>
                          </a:solidFill>
                          <a:latin typeface="Arial"/>
                        </a:rPr>
                        <a:t>Text, number</a:t>
                      </a:r>
                    </a:p>
                  </a:txBody>
                  <a:tcPr marL="54864" marR="54864" marT="27432" marB="27432">
                    <a:solidFill>
                      <a:srgbClr val="FFFFFF"/>
                    </a:solidFill>
                  </a:tcPr>
                </a:tc>
                <a:tc>
                  <a:txBody>
                    <a:bodyPr/>
                    <a:lstStyle/>
                    <a:p>
                      <a:r>
                        <a:rPr sz="850" b="0">
                          <a:solidFill>
                            <a:srgbClr val="4B4B4B"/>
                          </a:solidFill>
                          <a:latin typeface="Arial"/>
                        </a:rPr>
                        <a:t>The BIBS product and version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Package choices</a:t>
                      </a:r>
                    </a:p>
                  </a:txBody>
                  <a:tcPr marL="54864" marR="54864" marT="27432" marB="27432">
                    <a:solidFill>
                      <a:srgbClr val="E5F5FF"/>
                    </a:solidFill>
                  </a:tcPr>
                </a:tc>
                <a:tc>
                  <a:txBody>
                    <a:bodyPr/>
                    <a:lstStyle/>
                    <a:p>
                      <a:r>
                        <a:rPr sz="850" b="0">
                          <a:solidFill>
                            <a:srgbClr val="4B4B4B"/>
                          </a:solidFill>
                          <a:latin typeface="Arial"/>
                        </a:rPr>
                        <a:t>Renewal / Client / Legacy Package / Proposed / Reason / Proposed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Renewal reference; client; legacy package; product name with its version; the reason; the maker's name with the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package choices waiting</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Propose Package dialog</a:t>
                      </a:r>
                    </a:p>
                  </a:txBody>
                  <a:tcPr marL="54864" marR="54864" marT="27432" marB="27432">
                    <a:solidFill>
                      <a:srgbClr val="FFFFFF"/>
                    </a:solidFill>
                  </a:tcPr>
                </a:tc>
                <a:tc>
                  <a:txBody>
                    <a:bodyPr/>
                    <a:lstStyle/>
                    <a:p>
                      <a:r>
                        <a:rPr sz="850" b="0">
                          <a:solidFill>
                            <a:srgbClr val="4B4B4B"/>
                          </a:solidFill>
                          <a:latin typeface="Arial"/>
                        </a:rPr>
                        <a:t>Product Code / Product Version / Reason</a:t>
                      </a:r>
                    </a:p>
                  </a:txBody>
                  <a:tcPr marL="54864" marR="54864" marT="27432" marB="27432">
                    <a:solidFill>
                      <a:srgbClr val="FFFFFF"/>
                    </a:solidFill>
                  </a:tcPr>
                </a:tc>
                <a:tc>
                  <a:txBody>
                    <a:bodyPr/>
                    <a:lstStyle/>
                    <a:p>
                      <a:r>
                        <a:rPr sz="850" b="0">
                          <a:solidFill>
                            <a:srgbClr val="4B4B4B"/>
                          </a:solidFill>
                          <a:latin typeface="Arial"/>
                        </a:rPr>
                        <a:t>Text, number, text area</a:t>
                      </a:r>
                    </a:p>
                  </a:txBody>
                  <a:tcPr marL="54864" marR="54864" marT="27432" marB="27432">
                    <a:solidFill>
                      <a:srgbClr val="FFFFFF"/>
                    </a:solidFill>
                  </a:tcPr>
                </a:tc>
                <a:tc>
                  <a:txBody>
                    <a:bodyPr/>
                    <a:lstStyle/>
                    <a:p>
                      <a:r>
                        <a:rPr sz="850" b="0">
                          <a:solidFill>
                            <a:srgbClr val="4B4B4B"/>
                          </a:solidFill>
                          <a:latin typeface="Arial"/>
                        </a:rPr>
                        <a:t>A product that can be sold for renewal; version 1 or more; up to 200 characters</a:t>
                      </a:r>
                    </a:p>
                  </a:txBody>
                  <a:tcPr marL="54864" marR="54864" marT="27432" marB="27432">
                    <a:solidFill>
                      <a:srgbClr val="FFFFFF"/>
                    </a:solidFill>
                  </a:tcPr>
                </a:tc>
                <a:tc>
                  <a:txBody>
                    <a:bodyPr/>
                    <a:lstStyle/>
                    <a:p>
                      <a:r>
                        <a:rPr sz="850" b="0">
                          <a:solidFill>
                            <a:srgbClr val="4B4B4B"/>
                          </a:solidFill>
                          <a:latin typeface="Arial"/>
                        </a:rPr>
                        <a:t>Y / Y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 of the choice</a:t>
                      </a:r>
                    </a:p>
                  </a:txBody>
                  <a:tcPr marL="54864" marR="54864" marT="27432" marB="27432">
                    <a:solidFill>
                      <a:srgbClr val="FFFF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Mapping</a:t>
                      </a:r>
                    </a:p>
                  </a:txBody>
                  <a:tcPr marL="54864" marR="54864" marT="27432" marB="27432">
                    <a:solidFill>
                      <a:srgbClr val="FFFFFF"/>
                    </a:solidFill>
                  </a:tcPr>
                </a:tc>
                <a:tc>
                  <a:txBody>
                    <a:bodyPr/>
                    <a:lstStyle/>
                    <a:p>
                      <a:r>
                        <a:rPr sz="850" b="0">
                          <a:solidFill>
                            <a:srgbClr val="4B4B4B"/>
                          </a:solidFill>
                          <a:latin typeface="Arial"/>
                        </a:rPr>
                        <a:t>Processing (package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Save for Authorization keeps the mapping waiting for a second user</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Processing (package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of the package map</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Authorize, Edit, Deactivate (row menu)</a:t>
                      </a:r>
                    </a:p>
                  </a:txBody>
                  <a:tcPr marL="54864" marR="54864" marT="27432" marB="27432">
                    <a:solidFill>
                      <a:srgbClr val="FFFFFF"/>
                    </a:solidFill>
                  </a:tcPr>
                </a:tc>
                <a:tc>
                  <a:txBody>
                    <a:bodyPr/>
                    <a:lstStyle/>
                    <a:p>
                      <a:r>
                        <a:rPr sz="850" b="0">
                          <a:solidFill>
                            <a:srgbClr val="4B4B4B"/>
                          </a:solidFill>
                          <a:latin typeface="Arial"/>
                        </a:rPr>
                        <a:t>Processing (package permission); Authorize by another user than the maker</a:t>
                      </a:r>
                    </a:p>
                  </a:txBody>
                  <a:tcPr marL="54864" marR="54864" marT="27432" marB="27432">
                    <a:solidFill>
                      <a:srgbClr val="FFFFFF"/>
                    </a:solidFill>
                  </a:tcPr>
                </a:tc>
                <a:tc>
                  <a:txBody>
                    <a:bodyPr/>
                    <a:lstStyle/>
                    <a:p>
                      <a:r>
                        <a:rPr sz="850" b="0">
                          <a:solidFill>
                            <a:srgbClr val="4B4B4B"/>
                          </a:solidFill>
                          <a:latin typeface="Arial"/>
                        </a:rPr>
                        <a:t>By status</a:t>
                      </a:r>
                    </a:p>
                  </a:txBody>
                  <a:tcPr marL="54864" marR="54864" marT="27432" marB="27432">
                    <a:solidFill>
                      <a:srgbClr val="FFFFFF"/>
                    </a:solidFill>
                  </a:tcPr>
                </a:tc>
                <a:tc>
                  <a:txBody>
                    <a:bodyPr/>
                    <a:lstStyle/>
                    <a:p>
                      <a:r>
                        <a:rPr sz="850" b="0">
                          <a:solidFill>
                            <a:srgbClr val="4B4B4B"/>
                          </a:solidFill>
                          <a:latin typeface="Arial"/>
                        </a:rPr>
                        <a:t>As for the risk codes (SCR-RN-17)</a:t>
                      </a:r>
                    </a:p>
                  </a:txBody>
                  <a:tcPr marL="54864" marR="54864" marT="27432" marB="27432">
                    <a:solidFill>
                      <a:srgbClr val="FFFFFF"/>
                    </a:solidFill>
                  </a:tcPr>
                </a:tc>
                <a:tc>
                  <a:txBody>
                    <a:bodyPr/>
                    <a:lstStyle/>
                    <a:p>
                      <a:r>
                        <a:rPr sz="850" b="0">
                          <a:solidFill>
                            <a:srgbClr val="4B4B4B"/>
                          </a:solidFill>
                          <a:latin typeface="Arial"/>
                        </a:rPr>
                        <a:t>Active, Pending Authorization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Approve, Reject (row menu)</a:t>
                      </a:r>
                    </a:p>
                  </a:txBody>
                  <a:tcPr marL="54864" marR="54864" marT="27432" marB="27432">
                    <a:solidFill>
                      <a:srgbClr val="E5F5FF"/>
                    </a:solidFill>
                  </a:tcPr>
                </a:tc>
                <a:tc>
                  <a:txBody>
                    <a:bodyPr/>
                    <a:lstStyle/>
                    <a:p>
                      <a:r>
                        <a:rPr sz="850" b="0">
                          <a:solidFill>
                            <a:srgbClr val="4B4B4B"/>
                          </a:solidFill>
                          <a:latin typeface="Arial"/>
                        </a:rPr>
                        <a:t>Another member of the Renewal processing team than the maker</a:t>
                      </a:r>
                    </a:p>
                  </a:txBody>
                  <a:tcPr marL="54864" marR="54864" marT="27432" marB="27432">
                    <a:solidFill>
                      <a:srgbClr val="E5F5FF"/>
                    </a:solidFill>
                  </a:tcPr>
                </a:tc>
                <a:tc>
                  <a:txBody>
                    <a:bodyPr/>
                    <a:lstStyle/>
                    <a:p>
                      <a:r>
                        <a:rPr sz="850" b="0">
                          <a:solidFill>
                            <a:srgbClr val="4B4B4B"/>
                          </a:solidFill>
                          <a:latin typeface="Arial"/>
                        </a:rPr>
                        <a:t>Choice waiting</a:t>
                      </a:r>
                    </a:p>
                  </a:txBody>
                  <a:tcPr marL="54864" marR="54864" marT="27432" marB="27432">
                    <a:solidFill>
                      <a:srgbClr val="E5F5FF"/>
                    </a:solidFill>
                  </a:tcPr>
                </a:tc>
                <a:tc>
                  <a:txBody>
                    <a:bodyPr/>
                    <a:lstStyle/>
                    <a:p>
                      <a:r>
                        <a:rPr sz="850" b="0">
                          <a:solidFill>
                            <a:srgbClr val="4B4B4B"/>
                          </a:solidFill>
                          <a:latin typeface="Arial"/>
                        </a:rPr>
                        <a:t>Asks for remarks (mandatory to reject); an approved choice applies to the renewal</a:t>
                      </a:r>
                    </a:p>
                  </a:txBody>
                  <a:tcPr marL="54864" marR="54864" marT="27432" marB="27432">
                    <a:solidFill>
                      <a:srgbClr val="E5F5FF"/>
                    </a:solidFill>
                  </a:tcPr>
                </a:tc>
                <a:tc>
                  <a:txBody>
                    <a:bodyPr/>
                    <a:lstStyle/>
                    <a:p>
                      <a:r>
                        <a:rPr sz="850" b="0">
                          <a:solidFill>
                            <a:srgbClr val="4B4B4B"/>
                          </a:solidFill>
                          <a:latin typeface="Arial"/>
                        </a:rPr>
                        <a:t>Approved or Rejected</a:t>
                      </a:r>
                    </a:p>
                  </a:txBody>
                  <a:tcPr marL="54864" marR="54864" marT="27432" marB="27432">
                    <a:solidFill>
                      <a:srgbClr val="E5F5FF"/>
                    </a:solidFill>
                  </a:tcPr>
                </a:tc>
                <a:tc>
                  <a:txBody>
                    <a:bodyPr/>
                    <a:lstStyle/>
                    <a:p>
                      <a:r>
                        <a:rPr sz="850" b="0">
                          <a:solidFill>
                            <a:srgbClr val="4B4B4B"/>
                          </a:solidFill>
                          <a:latin typeface="Arial"/>
                        </a:rPr>
                        <a:t>Package choice decided (NT-10)</a:t>
                      </a:r>
                    </a:p>
                  </a:txBody>
                  <a:tcPr marL="54864" marR="54864" marT="27432" marB="27432">
                    <a:solidFill>
                      <a:srgbClr val="E5F5FF"/>
                    </a:solidFill>
                  </a:tcPr>
                </a:tc>
              </a:tr>
              <a:tr h="350518">
                <a:tc>
                  <a:txBody>
                    <a:bodyPr/>
                    <a:lstStyle/>
                    <a:p>
                      <a:r>
                        <a:rPr sz="850" b="0">
                          <a:solidFill>
                            <a:srgbClr val="4B4B4B"/>
                          </a:solidFill>
                          <a:latin typeface="Arial"/>
                        </a:rPr>
                        <a:t>Propose Package (renewal)</a:t>
                      </a:r>
                    </a:p>
                  </a:txBody>
                  <a:tcPr marL="54864" marR="54864" marT="27432" marB="27432">
                    <a:solidFill>
                      <a:srgbClr val="FFFFFF"/>
                    </a:solidFill>
                  </a:tcPr>
                </a:tc>
                <a:tc>
                  <a:txBody>
                    <a:bodyPr/>
                    <a:lstStyle/>
                    <a:p>
                      <a:r>
                        <a:rPr sz="850" b="0">
                          <a:solidFill>
                            <a:srgbClr val="4B4B4B"/>
                          </a:solidFill>
                          <a:latin typeface="Arial"/>
                        </a:rPr>
                        <a:t>Processing Officers</a:t>
                      </a:r>
                    </a:p>
                  </a:txBody>
                  <a:tcPr marL="54864" marR="54864" marT="27432" marB="27432">
                    <a:solidFill>
                      <a:srgbClr val="FFFFFF"/>
                    </a:solidFill>
                  </a:tcPr>
                </a:tc>
                <a:tc>
                  <a:txBody>
                    <a:bodyPr/>
                    <a:lstStyle/>
                    <a:p>
                      <a:r>
                        <a:rPr sz="850" b="0">
                          <a:solidFill>
                            <a:srgbClr val="4B4B4B"/>
                          </a:solidFill>
                          <a:latin typeface="Arial"/>
                        </a:rPr>
                        <a:t>Open renewal of a migrated packaged policy</a:t>
                      </a:r>
                    </a:p>
                  </a:txBody>
                  <a:tcPr marL="54864" marR="54864" marT="27432" marB="27432">
                    <a:solidFill>
                      <a:srgbClr val="FFFFFF"/>
                    </a:solidFill>
                  </a:tcPr>
                </a:tc>
                <a:tc>
                  <a:txBody>
                    <a:bodyPr/>
                    <a:lstStyle/>
                    <a:p>
                      <a:r>
                        <a:rPr sz="850" b="0">
                          <a:solidFill>
                            <a:srgbClr val="4B4B4B"/>
                          </a:solidFill>
                          <a:latin typeface="Arial"/>
                        </a:rPr>
                        <a:t>Opens the dialog; Submit for Approval keeps the choice waiting</a:t>
                      </a:r>
                    </a:p>
                  </a:txBody>
                  <a:tcPr marL="54864" marR="54864" marT="27432" marB="27432">
                    <a:solidFill>
                      <a:srgbClr val="FFFFFF"/>
                    </a:solidFill>
                  </a:tcPr>
                </a:tc>
                <a:tc>
                  <a:txBody>
                    <a:bodyPr/>
                    <a:lstStyle/>
                    <a:p>
                      <a:r>
                        <a:rPr sz="850" b="0">
                          <a:solidFill>
                            <a:srgbClr val="4B4B4B"/>
                          </a:solidFill>
                          <a:latin typeface="Arial"/>
                        </a:rPr>
                        <a:t>Pending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migrated packaged policy whose legacy package is not mapped, retired or ambiguous is an Exception until its package is chosen (FR-RN-028).</a:t>
                      </a:r>
                    </a:p>
                  </a:txBody>
                  <a:tcPr marL="54864" marR="54864" marT="27432" marB="27432">
                    <a:solidFill>
                      <a:srgbClr val="FFFFFF"/>
                    </a:solidFill>
                  </a:tcPr>
                </a:tc>
              </a:tr>
              <a:tr h="243840">
                <a:tc>
                  <a:txBody>
                    <a:bodyPr/>
                    <a:lstStyle/>
                    <a:p>
                      <a:r>
                        <a:rPr sz="1000" b="0">
                          <a:solidFill>
                            <a:srgbClr val="4B4B4B"/>
                          </a:solidFill>
                          <a:latin typeface="Arial"/>
                        </a:rPr>
                        <a:t>A package choice is approved by another member of the team than its maker (FR-RN-028).</a:t>
                      </a:r>
                    </a:p>
                  </a:txBody>
                  <a:tcPr marL="54864" marR="54864" marT="27432" marB="27432">
                    <a:solidFill>
                      <a:srgbClr val="E5F5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SCR-RN-19 Renewal Setup: Package Map, Package Choices and Propose Package: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19-01-map.png"/>
          <p:cNvPicPr>
            <a:picLocks noChangeAspect="1"/>
          </p:cNvPicPr>
          <p:nvPr/>
        </p:nvPicPr>
        <p:blipFill>
          <a:blip r:embed="rId3"/>
          <a:stretch>
            <a:fillRect/>
          </a:stretch>
        </p:blipFill>
        <p:spPr>
          <a:xfrm>
            <a:off x="655801" y="1261872"/>
            <a:ext cx="1088009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Map of the migrated policies with the row action menu</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SCR-RN-19 Renewal Setup: Package Map, Package Choices and Propose Package: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rn-19-02-choices.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Choices waiting for a second team member</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SCR-RN-20 Renewal Setup: Go-live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Renewal Setup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take-over of the renewals of the migrated policies expiring from the go-live date within the renewal horizon, the upload of the migrated policies when the migration source is not connected, and the Renewal Advices sent by hand before go-live, recorded so they are never sent again, with the corrections approved by a second team member.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Processing Team Leader, Processing Officer (Broker), Business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Renewal › Renewal Setup</a:t>
                      </a:r>
                    </a:p>
                    <a:p>
                      <a:r>
                        <a:rPr sz="950" b="0">
                          <a:solidFill>
                            <a:srgbClr val="4B4B4B"/>
                          </a:solidFill>
                          <a:latin typeface="Arial"/>
                        </a:rPr>
                        <a:t>Client &amp; Policy › Renewal › Renewal Setup › Go-live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FR-RN-016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renewals of the go-live window continue in BIBS without a second Renewal Advice.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SCR-RN-20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Go-live take-over</a:t>
                      </a:r>
                    </a:p>
                  </a:txBody>
                  <a:tcPr marL="54864" marR="54864" marT="27432" marB="27432">
                    <a:solidFill>
                      <a:srgbClr val="FFFFFF"/>
                    </a:solidFill>
                  </a:tcPr>
                </a:tc>
                <a:tc>
                  <a:txBody>
                    <a:bodyPr/>
                    <a:lstStyle/>
                    <a:p>
                      <a:r>
                        <a:rPr sz="850" b="0">
                          <a:solidFill>
                            <a:srgbClr val="4B4B4B"/>
                          </a:solidFill>
                          <a:latin typeface="Arial"/>
                        </a:rPr>
                        <a:t>Go-live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Go-live take-over</a:t>
                      </a:r>
                    </a:p>
                  </a:txBody>
                  <a:tcPr marL="54864" marR="54864" marT="27432" marB="27432">
                    <a:solidFill>
                      <a:srgbClr val="E5F5FF"/>
                    </a:solidFill>
                  </a:tcPr>
                </a:tc>
                <a:tc>
                  <a:txBody>
                    <a:bodyPr/>
                    <a:lstStyle/>
                    <a:p>
                      <a:r>
                        <a:rPr sz="850" b="0">
                          <a:solidFill>
                            <a:srgbClr val="4B4B4B"/>
                          </a:solidFill>
                          <a:latin typeface="Arial"/>
                        </a:rPr>
                        <a:t>Migrated policies source: connected or loaded by upload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Uploads</a:t>
                      </a:r>
                    </a:p>
                  </a:txBody>
                  <a:tcPr marL="54864" marR="54864" marT="27432" marB="27432">
                    <a:solidFill>
                      <a:srgbClr val="FFFFFF"/>
                    </a:solidFill>
                  </a:tcPr>
                </a:tc>
                <a:tc>
                  <a:txBody>
                    <a:bodyPr/>
                    <a:lstStyle/>
                    <a:p>
                      <a:r>
                        <a:rPr sz="850" b="0">
                          <a:solidFill>
                            <a:srgbClr val="4B4B4B"/>
                          </a:solidFill>
                          <a:latin typeface="Arial"/>
                        </a:rPr>
                        <a:t>Upload Migrated Policies / Upload RAs Already Sent</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Templates of the expiring policies of the legacy systems and of the Renewal Advices sent before go-live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Every row checked before anything is saved</a:t>
                      </a:r>
                    </a:p>
                  </a:txBody>
                  <a:tcPr marL="54864" marR="54864" marT="27432" marB="27432">
                    <a:solidFill>
                      <a:srgbClr val="FFFFFF"/>
                    </a:solidFill>
                  </a:tcPr>
                </a:tc>
                <a:tc>
                  <a:txBody>
                    <a:bodyPr/>
                    <a:lstStyle/>
                    <a:p>
                      <a:r>
                        <a:rPr sz="850" b="0">
                          <a:solidFill>
                            <a:srgbClr val="4B4B4B"/>
                          </a:solidFill>
                          <a:latin typeface="Arial"/>
                        </a:rPr>
                        <a:t>Legacy policy &lt;legacy ref&gt; is already a renewal</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Corrections</a:t>
                      </a:r>
                    </a:p>
                  </a:txBody>
                  <a:tcPr marL="54864" marR="54864" marT="27432" marB="27432">
                    <a:solidFill>
                      <a:srgbClr val="E5F5FF"/>
                    </a:solidFill>
                  </a:tcPr>
                </a:tc>
                <a:tc>
                  <a:txBody>
                    <a:bodyPr/>
                    <a:lstStyle/>
                    <a:p>
                      <a:r>
                        <a:rPr sz="850" b="0">
                          <a:solidFill>
                            <a:srgbClr val="4B4B4B"/>
                          </a:solidFill>
                          <a:latin typeface="Arial"/>
                        </a:rPr>
                        <a:t>Legacy Reference / RA Date / Correction / Upload / Prepared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Renewal Advice recorded and the correction proposed; the upload and row; the maker's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corrections waiting</a:t>
                      </a:r>
                    </a:p>
                  </a:txBody>
                  <a:tcPr marL="54864" marR="54864" marT="27432" marB="27432">
                    <a:solidFill>
                      <a:srgbClr val="E5F5FF"/>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25880"/>
          <a:ext cx="11094412" cy="188212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Run Take-over</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Go-live date entered</a:t>
                      </a:r>
                    </a:p>
                  </a:txBody>
                  <a:tcPr marL="54864" marR="54864" marT="27432" marB="27432">
                    <a:solidFill>
                      <a:srgbClr val="FFFFFF"/>
                    </a:solidFill>
                  </a:tcPr>
                </a:tc>
                <a:tc>
                  <a:txBody>
                    <a:bodyPr/>
                    <a:lstStyle/>
                    <a:p>
                      <a:r>
                        <a:rPr sz="850" b="0">
                          <a:solidFill>
                            <a:srgbClr val="4B4B4B"/>
                          </a:solidFill>
                          <a:latin typeface="Arial"/>
                        </a:rPr>
                        <a:t>Takes over the renewals of the migrated policies expiring from the date within the horizon; expiries up to the urgent date are flagged Urgent</a:t>
                      </a:r>
                    </a:p>
                  </a:txBody>
                  <a:tcPr marL="54864" marR="54864" marT="27432" marB="27432">
                    <a:solidFill>
                      <a:srgbClr val="FFFFFF"/>
                    </a:solidFill>
                  </a:tcPr>
                </a:tc>
                <a:tc>
                  <a:txBody>
                    <a:bodyPr/>
                    <a:lstStyle/>
                    <a:p>
                      <a:r>
                        <a:rPr sz="850" b="0">
                          <a:solidFill>
                            <a:srgbClr val="4B4B4B"/>
                          </a:solidFill>
                          <a:latin typeface="Arial"/>
                        </a:rPr>
                        <a:t>Extracted</a:t>
                      </a:r>
                    </a:p>
                  </a:txBody>
                  <a:tcPr marL="54864" marR="54864" marT="27432" marB="27432">
                    <a:solidFill>
                      <a:srgbClr val="FFFFFF"/>
                    </a:solidFill>
                  </a:tcPr>
                </a:tc>
                <a:tc>
                  <a:txBody>
                    <a:bodyPr/>
                    <a:lstStyle/>
                    <a:p>
                      <a:r>
                        <a:rPr sz="850" b="0">
                          <a:solidFill>
                            <a:srgbClr val="4B4B4B"/>
                          </a:solidFill>
                          <a:latin typeface="Arial"/>
                        </a:rPr>
                        <a:t>Go-live renewal extraction completed (NT-09)</a:t>
                      </a:r>
                    </a:p>
                  </a:txBody>
                  <a:tcPr marL="54864" marR="54864" marT="27432" marB="27432">
                    <a:solidFill>
                      <a:srgbClr val="FFFFFF"/>
                    </a:solidFill>
                  </a:tcPr>
                </a:tc>
              </a:tr>
              <a:tr h="350518">
                <a:tc>
                  <a:txBody>
                    <a:bodyPr/>
                    <a:lstStyle/>
                    <a:p>
                      <a:r>
                        <a:rPr sz="850" b="0">
                          <a:solidFill>
                            <a:srgbClr val="4B4B4B"/>
                          </a:solidFill>
                          <a:latin typeface="Arial"/>
                        </a:rPr>
                        <a:t>Upload Migrated Policies</a:t>
                      </a:r>
                    </a:p>
                  </a:txBody>
                  <a:tcPr marL="54864" marR="54864" marT="27432" marB="27432">
                    <a:solidFill>
                      <a:srgbClr val="E5F5FF"/>
                    </a:solidFill>
                  </a:tcPr>
                </a:tc>
                <a:tc>
                  <a:txBody>
                    <a:bodyPr/>
                    <a:lstStyle/>
                    <a:p>
                      <a:r>
                        <a:rPr sz="850" b="0">
                          <a:solidFill>
                            <a:srgbClr val="4B4B4B"/>
                          </a:solidFill>
                          <a:latin typeface="Arial"/>
                        </a:rPr>
                        <a:t>Users with the extract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upload of the migrated policies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Upload RAs Already Sent</a:t>
                      </a:r>
                    </a:p>
                  </a:txBody>
                  <a:tcPr marL="54864" marR="54864" marT="27432" marB="27432">
                    <a:solidFill>
                      <a:srgbClr val="FFFFFF"/>
                    </a:solidFill>
                  </a:tcPr>
                </a:tc>
                <a:tc>
                  <a:txBody>
                    <a:bodyPr/>
                    <a:lstStyle/>
                    <a:p>
                      <a:r>
                        <a:rPr sz="850" b="0">
                          <a:solidFill>
                            <a:srgbClr val="4B4B4B"/>
                          </a:solidFill>
                          <a:latin typeface="Arial"/>
                        </a:rPr>
                        <a:t>Users with the send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 of the Renewal Advices sent by hand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Approve, Reject (row menu)</a:t>
                      </a:r>
                    </a:p>
                  </a:txBody>
                  <a:tcPr marL="54864" marR="54864" marT="27432" marB="27432">
                    <a:solidFill>
                      <a:srgbClr val="E5F5FF"/>
                    </a:solidFill>
                  </a:tcPr>
                </a:tc>
                <a:tc>
                  <a:txBody>
                    <a:bodyPr/>
                    <a:lstStyle/>
                    <a:p>
                      <a:r>
                        <a:rPr sz="850" b="0">
                          <a:solidFill>
                            <a:srgbClr val="4B4B4B"/>
                          </a:solidFill>
                          <a:latin typeface="Arial"/>
                        </a:rPr>
                        <a:t>Another member of the Renewal processing team than the maker</a:t>
                      </a:r>
                    </a:p>
                  </a:txBody>
                  <a:tcPr marL="54864" marR="54864" marT="27432" marB="27432">
                    <a:solidFill>
                      <a:srgbClr val="E5F5FF"/>
                    </a:solidFill>
                  </a:tcPr>
                </a:tc>
                <a:tc>
                  <a:txBody>
                    <a:bodyPr/>
                    <a:lstStyle/>
                    <a:p>
                      <a:r>
                        <a:rPr sz="850" b="0">
                          <a:solidFill>
                            <a:srgbClr val="4B4B4B"/>
                          </a:solidFill>
                          <a:latin typeface="Arial"/>
                        </a:rPr>
                        <a:t>Correction waiting</a:t>
                      </a:r>
                    </a:p>
                  </a:txBody>
                  <a:tcPr marL="54864" marR="54864" marT="27432" marB="27432">
                    <a:solidFill>
                      <a:srgbClr val="E5F5FF"/>
                    </a:solidFill>
                  </a:tcPr>
                </a:tc>
                <a:tc>
                  <a:txBody>
                    <a:bodyPr/>
                    <a:lstStyle/>
                    <a:p>
                      <a:r>
                        <a:rPr sz="850" b="0">
                          <a:solidFill>
                            <a:srgbClr val="4B4B4B"/>
                          </a:solidFill>
                          <a:latin typeface="Arial"/>
                        </a:rPr>
                        <a:t>Asks for remarks (mandatory to reject)</a:t>
                      </a:r>
                    </a:p>
                  </a:txBody>
                  <a:tcPr marL="54864" marR="54864" marT="27432" marB="27432">
                    <a:solidFill>
                      <a:srgbClr val="E5F5FF"/>
                    </a:solidFill>
                  </a:tcPr>
                </a:tc>
                <a:tc>
                  <a:txBody>
                    <a:bodyPr/>
                    <a:lstStyle/>
                    <a:p>
                      <a:r>
                        <a:rPr sz="850" b="0">
                          <a:solidFill>
                            <a:srgbClr val="4B4B4B"/>
                          </a:solidFill>
                          <a:latin typeface="Arial"/>
                        </a:rPr>
                        <a:t>Approved or 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renewals expiring from go-live to 31 May 2028 are taken over; those up to 31 January 2028 are Urgent (FR-RN-016).</a:t>
                      </a:r>
                    </a:p>
                  </a:txBody>
                  <a:tcPr marL="54864" marR="54864" marT="27432" marB="27432">
                    <a:solidFill>
                      <a:srgbClr val="FFFFFF"/>
                    </a:solidFill>
                  </a:tcPr>
                </a:tc>
              </a:tr>
              <a:tr h="243840">
                <a:tc>
                  <a:txBody>
                    <a:bodyPr/>
                    <a:lstStyle/>
                    <a:p>
                      <a:r>
                        <a:rPr sz="1000" b="0">
                          <a:solidFill>
                            <a:srgbClr val="4B4B4B"/>
                          </a:solidFill>
                          <a:latin typeface="Arial"/>
                        </a:rPr>
                        <a:t>A Renewal Advice recorded as sent before go-live is never sent again (FR-RN-016).</a:t>
                      </a:r>
                    </a:p>
                  </a:txBody>
                  <a:tcPr marL="54864" marR="54864" marT="27432" marB="27432">
                    <a:solidFill>
                      <a:srgbClr val="E5F5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SCR-RN-20 Renewal Setup: Go-live: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20-01-golive.png"/>
          <p:cNvPicPr>
            <a:picLocks noChangeAspect="1"/>
          </p:cNvPicPr>
          <p:nvPr/>
        </p:nvPicPr>
        <p:blipFill>
          <a:blip r:embed="rId3"/>
          <a:stretch>
            <a:fillRect/>
          </a:stretch>
        </p:blipFill>
        <p:spPr>
          <a:xfrm>
            <a:off x="1721288" y="1261872"/>
            <a:ext cx="874911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Go-live tab of the Processing Team Leader: the uploads of the go-live and the corrections to approve</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SCR-RN-20 Renewal Setup: Go-live: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rn-20-02-takeover.png"/>
          <p:cNvPicPr>
            <a:picLocks noChangeAspect="1"/>
          </p:cNvPicPr>
          <p:nvPr/>
        </p:nvPicPr>
        <p:blipFill>
          <a:blip r:embed="rId3"/>
          <a:stretch>
            <a:fillRect/>
          </a:stretch>
        </p:blipFill>
        <p:spPr>
          <a:xfrm>
            <a:off x="1073501" y="1261872"/>
            <a:ext cx="1004469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Go-live tab of the Business Administrator: the take-over</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Renewal Advice (first and second notice)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pic>
        <p:nvPicPr>
          <p:cNvPr id="9" name="Picture 8" descr="doc-renewal-advic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78892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Renewal Advice first notice and second notice templates (wording to confirm, RQ26)</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renewal; e-mailed to the client</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Letters › Generate RA, then Send; Renewal › Letters tab › Download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Renewal Advice - the assured - policy number (second notice: Second notice) – from the renewal</a:t>
                      </a:r>
                    </a:p>
                    <a:p>
                      <a:r>
                        <a:rPr sz="900" b="0">
                          <a:solidFill>
                            <a:srgbClr val="4B4B4B"/>
                          </a:solidFill>
                          <a:latin typeface="Arial"/>
                        </a:rPr>
                        <a:t>Client and policy: client name, policy number, insurer name and expiry date – from the expiring account</a:t>
                      </a:r>
                    </a:p>
                    <a:p>
                      <a:r>
                        <a:rPr sz="900" b="0">
                          <a:solidFill>
                            <a:srgbClr val="4B4B4B"/>
                          </a:solidFill>
                          <a:latin typeface="Arial"/>
                        </a:rPr>
                        <a:t>Renewal terms: renewal period, product, sum insured and renewal premium with the currency – from the renewal account, else the expiring terms</a:t>
                      </a:r>
                    </a:p>
                    <a:p>
                      <a:r>
                        <a:rPr sz="900" b="0">
                          <a:solidFill>
                            <a:srgbClr val="4B4B4B"/>
                          </a:solidFill>
                          <a:latin typeface="Arial"/>
                        </a:rPr>
                        <a:t>How to accept: reply to the e-mail, sign and return the Renewal Advice, or pay the renewal premium on or before the expiry date</a:t>
                      </a:r>
                    </a:p>
                    <a:p>
                      <a:r>
                        <a:rPr sz="900" b="0">
                          <a:solidFill>
                            <a:srgbClr val="4B4B4B"/>
                          </a:solidFill>
                          <a:latin typeface="Arial"/>
                        </a:rPr>
                        <a:t>Renewal reference and the name of the Account Officer – from the renewal</a:t>
                      </a:r>
                    </a:p>
                  </a:txBody>
                  <a:tcPr marL="54864" marR="54864" marT="27432" marB="27432">
                    <a:solidFill>
                      <a:srgbClr val="FFFF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DO-02 Not for Renewal Letter and No Advice Letter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pic>
        <p:nvPicPr>
          <p:cNvPr id="9" name="Picture 8" descr="doc-closing-lette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Not for Renewal Letter and No Advice Letter templates (wording to confirm, RQ26)</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renewal; e-mailed to the client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Letters, tab NAL / NFR › Send Letters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Client and policy: client name, policy number, insurer name and expiry date – from the expiring account</a:t>
                      </a:r>
                    </a:p>
                    <a:p>
                      <a:r>
                        <a:rPr sz="900" b="0">
                          <a:solidFill>
                            <a:srgbClr val="4B4B4B"/>
                          </a:solidFill>
                          <a:latin typeface="Arial"/>
                        </a:rPr>
                        <a:t>Not for Renewal Letter: the reason for Not for Renewal and the name of the Account Officer; No Advice Letter: that the policy is not renewed through BDOI and no action is needed</a:t>
                      </a:r>
                    </a:p>
                    <a:p>
                      <a:r>
                        <a:rPr sz="900" b="0">
                          <a:solidFill>
                            <a:srgbClr val="4B4B4B"/>
                          </a:solidFill>
                          <a:latin typeface="Arial"/>
                        </a:rPr>
                        <a:t>Reference: the renewal reference</a:t>
                      </a:r>
                    </a:p>
                  </a:txBody>
                  <a:tcPr marL="54864" marR="54864" marT="27432" marB="27432">
                    <a:solidFill>
                      <a:srgbClr val="FFFF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Insurer extract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pic>
        <p:nvPicPr>
          <p:cNvPr id="9" name="Picture 8" descr="doc-insurer-extract.png"/>
          <p:cNvPicPr>
            <a:picLocks noChangeAspect="1"/>
          </p:cNvPicPr>
          <p:nvPr/>
        </p:nvPicPr>
        <p:blipFill>
          <a:blip r:embed="rId3"/>
          <a:stretch>
            <a:fillRect/>
          </a:stretch>
        </p:blipFill>
        <p:spPr>
          <a:xfrm>
            <a:off x="548640" y="1261872"/>
            <a:ext cx="5669280" cy="463271"/>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(fixed layout of the extract per insurer, 28 columns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one per insurer batch; e-mailed to the insurer</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Insurer Batches › New Batch, then Download or Send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Insurance Company, Invoice No, Assured Name, Risk Code, Inception Date, Expiry Date, Sum Insured, Premium Amount, Commission Rate, AR Client (Unpaid Balance), Is Mortgaged – from the expiring account and the ledger</a:t>
                      </a:r>
                    </a:p>
                    <a:p>
                      <a:r>
                        <a:rPr sz="900" b="0">
                          <a:solidFill>
                            <a:srgbClr val="4B4B4B"/>
                          </a:solidFill>
                          <a:latin typeface="Arial"/>
                        </a:rPr>
                        <a:t>Premium Rate (per cover), Policy No, Risk Description, Encoder Name, Unit Head, Business Origin, Account Type, Region, Area, Branch, Account Officer Name, Remarks – from the account and the sales organisation</a:t>
                      </a:r>
                    </a:p>
                    <a:p>
                      <a:r>
                        <a:rPr sz="900" b="0">
                          <a:solidFill>
                            <a:srgbClr val="4B4B4B"/>
                          </a:solidFill>
                          <a:latin typeface="Arial"/>
                        </a:rPr>
                        <a:t>BIPD for Motor, Seating Capacity for Motor, Auto Personal Accident for Motor, Sum Insured (per cover), Packaged / Non-Packaged – from the policy</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Expiry list download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pic>
        <p:nvPicPr>
          <p:cNvPr id="9" name="Picture 8" descr="doc-expiry-list.png"/>
          <p:cNvPicPr>
            <a:picLocks noChangeAspect="1"/>
          </p:cNvPicPr>
          <p:nvPr/>
        </p:nvPicPr>
        <p:blipFill>
          <a:blip r:embed="rId3"/>
          <a:stretch>
            <a:fillRect/>
          </a:stretch>
        </p:blipFill>
        <p:spPr>
          <a:xfrm>
            <a:off x="548640" y="1261872"/>
            <a:ext cx="5669280" cy="636997"/>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(columns of the renewal lists)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of the list as shown, with its filters</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Expiry List, My Dispositions, TL Review, Processing Worklist, Letters › Download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Renewal Reference, Status, Classification, Disposition, Expiring Invoice, Expiring ARN, Policy No., Client – from the renewal</a:t>
                      </a:r>
                    </a:p>
                    <a:p>
                      <a:r>
                        <a:rPr sz="900" b="0">
                          <a:solidFill>
                            <a:srgbClr val="4B4B4B"/>
                          </a:solidFill>
                          <a:latin typeface="Arial"/>
                        </a:rPr>
                        <a:t>Product, Line, Insurer, Segment, Branch, Unit, Account Officer, Assigned AO, Assigned PO, Expiry – from the expiring account and the assignments</a:t>
                      </a:r>
                    </a:p>
                    <a:p>
                      <a:r>
                        <a:rPr sz="900" b="0">
                          <a:solidFill>
                            <a:srgbClr val="4B4B4B"/>
                          </a:solidFill>
                          <a:latin typeface="Arial"/>
                        </a:rPr>
                        <a:t>Currency, Gross Premium, Sum Insured – from the expiring account (empty for LAMD and Contact Center)</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Renewal account details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pic>
        <p:nvPicPr>
          <p:cNvPr id="9" name="Picture 8" descr="doc-account-details.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(layout of the record details)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renewal</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Renewal › Details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Renewal: renewal reference, status, classification, client, expiring invoice and ARN, policy number, insurer, expiry date, Account Officer and Processing Officer, gross premium and sum insured – from the renewal</a:t>
                      </a:r>
                    </a:p>
                    <a:p>
                      <a:r>
                        <a:rPr sz="900" b="0">
                          <a:solidFill>
                            <a:srgbClr val="4B4B4B"/>
                          </a:solidFill>
                          <a:latin typeface="Arial"/>
                        </a:rPr>
                        <a:t>Checks: the check, its outcome, severity and message – from the latest check run</a:t>
                      </a:r>
                    </a:p>
                    <a:p>
                      <a:r>
                        <a:rPr sz="900" b="0">
                          <a:solidFill>
                            <a:srgbClr val="4B4B4B"/>
                          </a:solidFill>
                          <a:latin typeface="Arial"/>
                        </a:rPr>
                        <a:t>Dispositions: disposition, reason, remarks, source, by and on – from the dispositions of the renewal</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3" cy="4503393"/>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Renewals are assigned (event Renewal assigned): to an Account Officer by the Team Leader, to a Processing Officer; a renewal turns Exception on a new check; a LAMD line routes a renewal</a:t>
                      </a:r>
                    </a:p>
                  </a:txBody>
                  <a:tcPr marL="54864" marR="54864" marT="27432" marB="27432">
                    <a:solidFill>
                      <a:srgbClr val="FFFFFF"/>
                    </a:solidFill>
                  </a:tcPr>
                </a:tc>
                <a:tc>
                  <a:txBody>
                    <a:bodyPr/>
                    <a:lstStyle/>
                    <a:p>
                      <a:r>
                        <a:rPr sz="850" b="0">
                          <a:solidFill>
                            <a:srgbClr val="4B4B4B"/>
                          </a:solidFill>
                          <a:latin typeface="Arial"/>
                        </a:rPr>
                        <a:t>The officer assigned; on an Exception the Account Officer and the Processing Officer; on a LAMD line the Team Leaders of the unit</a:t>
                      </a:r>
                    </a:p>
                  </a:txBody>
                  <a:tcPr marL="54864" marR="54864" marT="27432" marB="27432">
                    <a:solidFill>
                      <a:srgbClr val="FFFFFF"/>
                    </a:solidFill>
                  </a:tcPr>
                </a:tc>
                <a:tc>
                  <a:txBody>
                    <a:bodyPr/>
                    <a:lstStyle/>
                    <a:p>
                      <a:r>
                        <a:rPr sz="850" b="0">
                          <a:solidFill>
                            <a:srgbClr val="4B4B4B"/>
                          </a:solidFill>
                          <a:latin typeface="Arial"/>
                        </a:rPr>
                        <a:t>Title: &lt;renewal ref&gt; assigned to you, &lt;renewal ref&gt; assigned to you for processing, &lt;renewal ref&gt;: Exception or &lt;renewal ref&gt;: LAMD &lt;loan status&gt;. Text: Give the disposition of the renewal of &lt;client&gt;, expiring &lt;expiry date&gt;; &lt;client&gt;; A check failed on the renewal of &lt;client&gt;; or the routing</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renewal is transferred to another Marketing unit (event Renewal transfer requested)</a:t>
                      </a:r>
                    </a:p>
                  </a:txBody>
                  <a:tcPr marL="54864" marR="54864" marT="27432" marB="27432">
                    <a:solidFill>
                      <a:srgbClr val="E5F5FF"/>
                    </a:solidFill>
                  </a:tcPr>
                </a:tc>
                <a:tc>
                  <a:txBody>
                    <a:bodyPr/>
                    <a:lstStyle/>
                    <a:p>
                      <a:r>
                        <a:rPr sz="850" b="0">
                          <a:solidFill>
                            <a:srgbClr val="4B4B4B"/>
                          </a:solidFill>
                          <a:latin typeface="Arial"/>
                        </a:rPr>
                        <a:t>The Team Leaders of the receiving unit</a:t>
                      </a:r>
                    </a:p>
                  </a:txBody>
                  <a:tcPr marL="54864" marR="54864" marT="27432" marB="27432">
                    <a:solidFill>
                      <a:srgbClr val="E5F5FF"/>
                    </a:solidFill>
                  </a:tcPr>
                </a:tc>
                <a:tc>
                  <a:txBody>
                    <a:bodyPr/>
                    <a:lstStyle/>
                    <a:p>
                      <a:r>
                        <a:rPr sz="850" b="0">
                          <a:solidFill>
                            <a:srgbClr val="4B4B4B"/>
                          </a:solidFill>
                          <a:latin typeface="Arial"/>
                        </a:rPr>
                        <a:t>Title: &lt;renewal ref&gt; transferred to your unit. Text: Accept or decline the renewal of &lt;client&gt;: &lt;remarks&gt;</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receiving unit accepts or declines a transfer (event Renewal transfer decided)</a:t>
                      </a:r>
                    </a:p>
                  </a:txBody>
                  <a:tcPr marL="54864" marR="54864" marT="27432" marB="27432">
                    <a:solidFill>
                      <a:srgbClr val="FFFFFF"/>
                    </a:solidFill>
                  </a:tcPr>
                </a:tc>
                <a:tc>
                  <a:txBody>
                    <a:bodyPr/>
                    <a:lstStyle/>
                    <a:p>
                      <a:r>
                        <a:rPr sz="850" b="0">
                          <a:solidFill>
                            <a:srgbClr val="4B4B4B"/>
                          </a:solidFill>
                          <a:latin typeface="Arial"/>
                        </a:rPr>
                        <a:t>The user who requested the transfer</a:t>
                      </a:r>
                    </a:p>
                  </a:txBody>
                  <a:tcPr marL="54864" marR="54864" marT="27432" marB="27432">
                    <a:solidFill>
                      <a:srgbClr val="FFFFFF"/>
                    </a:solidFill>
                  </a:tcPr>
                </a:tc>
                <a:tc>
                  <a:txBody>
                    <a:bodyPr/>
                    <a:lstStyle/>
                    <a:p>
                      <a:r>
                        <a:rPr sz="850" b="0">
                          <a:solidFill>
                            <a:srgbClr val="4B4B4B"/>
                          </a:solidFill>
                          <a:latin typeface="Arial"/>
                        </a:rPr>
                        <a:t>Title: &lt;renewal ref&gt;: transfer accepted or declined. Text: The transfer to &lt;unit&gt; was accepted, or was declined: &lt;remarks&gt;</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renewal is returned (event Renewal returned): by the Team Leader to the officer, by Processing to Marketing, or re-opened</a:t>
                      </a:r>
                    </a:p>
                  </a:txBody>
                  <a:tcPr marL="54864" marR="54864" marT="27432" marB="27432">
                    <a:solidFill>
                      <a:srgbClr val="E5F5FF"/>
                    </a:solidFill>
                  </a:tcPr>
                </a:tc>
                <a:tc>
                  <a:txBody>
                    <a:bodyPr/>
                    <a:lstStyle/>
                    <a:p>
                      <a:r>
                        <a:rPr sz="850" b="0">
                          <a:solidFill>
                            <a:srgbClr val="4B4B4B"/>
                          </a:solidFill>
                          <a:latin typeface="Arial"/>
                        </a:rPr>
                        <a:t>The Account Officer (or the Team Leaders of the unit for a return to the Team Leader and a re-open)</a:t>
                      </a:r>
                    </a:p>
                  </a:txBody>
                  <a:tcPr marL="54864" marR="54864" marT="27432" marB="27432">
                    <a:solidFill>
                      <a:srgbClr val="E5F5FF"/>
                    </a:solidFill>
                  </a:tcPr>
                </a:tc>
                <a:tc>
                  <a:txBody>
                    <a:bodyPr/>
                    <a:lstStyle/>
                    <a:p>
                      <a:r>
                        <a:rPr sz="850" b="0">
                          <a:solidFill>
                            <a:srgbClr val="4B4B4B"/>
                          </a:solidFill>
                          <a:latin typeface="Arial"/>
                        </a:rPr>
                        <a:t>Title: &lt;renewal ref&gt; returned to you, &lt;renewal ref&gt; returned by Processing or &lt;renewal ref&gt; re-opened. Text: &lt;reason&gt;: &lt;remarks&gt;, or Give a new disposition: &lt;reason&gt;</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Team Leader posts a renewal For Renewal (event Renewal posted)</a:t>
                      </a:r>
                    </a:p>
                  </a:txBody>
                  <a:tcPr marL="54864" marR="54864" marT="27432" marB="27432">
                    <a:solidFill>
                      <a:srgbClr val="FFFFFF"/>
                    </a:solidFill>
                  </a:tcPr>
                </a:tc>
                <a:tc>
                  <a:txBody>
                    <a:bodyPr/>
                    <a:lstStyle/>
                    <a:p>
                      <a:r>
                        <a:rPr sz="850" b="0">
                          <a:solidFill>
                            <a:srgbClr val="4B4B4B"/>
                          </a:solidFill>
                          <a:latin typeface="Arial"/>
                        </a:rPr>
                        <a:t>The users who assign the Processing Officers (Processing Team Leaders)</a:t>
                      </a:r>
                    </a:p>
                  </a:txBody>
                  <a:tcPr marL="54864" marR="54864" marT="27432" marB="27432">
                    <a:solidFill>
                      <a:srgbClr val="FFFFFF"/>
                    </a:solidFill>
                  </a:tcPr>
                </a:tc>
                <a:tc>
                  <a:txBody>
                    <a:bodyPr/>
                    <a:lstStyle/>
                    <a:p>
                      <a:r>
                        <a:rPr sz="850" b="0">
                          <a:solidFill>
                            <a:srgbClr val="4B4B4B"/>
                          </a:solidFill>
                          <a:latin typeface="Arial"/>
                        </a:rPr>
                        <a:t>Title: &lt;renewal ref&gt; posted for processing. Text: &lt;client&gt;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insurer response is recorded, by hand or from the insurer's file (event Insurer renewal response)</a:t>
                      </a:r>
                    </a:p>
                  </a:txBody>
                  <a:tcPr marL="54864" marR="54864" marT="27432" marB="27432">
                    <a:solidFill>
                      <a:srgbClr val="E5F5FF"/>
                    </a:solidFill>
                  </a:tcPr>
                </a:tc>
                <a:tc>
                  <a:txBody>
                    <a:bodyPr/>
                    <a:lstStyle/>
                    <a:p>
                      <a:r>
                        <a:rPr sz="850" b="0">
                          <a:solidFill>
                            <a:srgbClr val="4B4B4B"/>
                          </a:solidFill>
                          <a:latin typeface="Arial"/>
                        </a:rPr>
                        <a:t>The Processing Officer of the renewal</a:t>
                      </a:r>
                    </a:p>
                  </a:txBody>
                  <a:tcPr marL="54864" marR="54864" marT="27432" marB="27432">
                    <a:solidFill>
                      <a:srgbClr val="E5F5FF"/>
                    </a:solidFill>
                  </a:tcPr>
                </a:tc>
                <a:tc>
                  <a:txBody>
                    <a:bodyPr/>
                    <a:lstStyle/>
                    <a:p>
                      <a:r>
                        <a:rPr sz="850" b="0">
                          <a:solidFill>
                            <a:srgbClr val="4B4B4B"/>
                          </a:solidFill>
                          <a:latin typeface="Arial"/>
                        </a:rPr>
                        <a:t>Title: &lt;renewal ref&gt;: insurer response &lt;response&gt;. Text: Applied to the renewal, or Not applied: check the Insurer tab</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The client accepts the renewal, and the accepted renewal account is ready for placement (event Renewal accepted)</a:t>
                      </a:r>
                    </a:p>
                  </a:txBody>
                  <a:tcPr marL="54864" marR="54864" marT="27432" marB="27432">
                    <a:solidFill>
                      <a:srgbClr val="FFFFFF"/>
                    </a:solidFill>
                  </a:tcPr>
                </a:tc>
                <a:tc>
                  <a:txBody>
                    <a:bodyPr/>
                    <a:lstStyle/>
                    <a:p>
                      <a:r>
                        <a:rPr sz="850" b="0">
                          <a:solidFill>
                            <a:srgbClr val="4B4B4B"/>
                          </a:solidFill>
                          <a:latin typeface="Arial"/>
                        </a:rPr>
                        <a:t>The Account Officer and the Processing Officer of the renewal</a:t>
                      </a:r>
                    </a:p>
                  </a:txBody>
                  <a:tcPr marL="54864" marR="54864" marT="27432" marB="27432">
                    <a:solidFill>
                      <a:srgbClr val="FFFFFF"/>
                    </a:solidFill>
                  </a:tcPr>
                </a:tc>
                <a:tc>
                  <a:txBody>
                    <a:bodyPr/>
                    <a:lstStyle/>
                    <a:p>
                      <a:r>
                        <a:rPr sz="850" b="0">
                          <a:solidFill>
                            <a:srgbClr val="4B4B4B"/>
                          </a:solidFill>
                          <a:latin typeface="Arial"/>
                        </a:rPr>
                        <a:t>Title: &lt;renewal ref&gt; accepted by the client, or &lt;renewal ref&gt;: ready for placement. Text: &lt;client&gt; accepted the renewal by &lt;method&gt;, or the progress of the renewal account</a:t>
                      </a:r>
                    </a:p>
                  </a:txBody>
                  <a:tcPr marL="54864" marR="54864" marT="27432" marB="27432">
                    <a:solidFill>
                      <a:srgbClr val="FFFFFF"/>
                    </a:solidFill>
                  </a:tcPr>
                </a:tc>
              </a:tr>
              <a:tr h="480057">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renewal is booked, or the policy expired without renewal (event Renewal booked)</a:t>
                      </a:r>
                    </a:p>
                  </a:txBody>
                  <a:tcPr marL="54864" marR="54864" marT="27432" marB="27432">
                    <a:solidFill>
                      <a:srgbClr val="E5F5FF"/>
                    </a:solidFill>
                  </a:tcPr>
                </a:tc>
                <a:tc>
                  <a:txBody>
                    <a:bodyPr/>
                    <a:lstStyle/>
                    <a:p>
                      <a:r>
                        <a:rPr sz="850" b="0">
                          <a:solidFill>
                            <a:srgbClr val="4B4B4B"/>
                          </a:solidFill>
                          <a:latin typeface="Arial"/>
                        </a:rPr>
                        <a:t>The Account Officer and the Processing Officer of the renewal</a:t>
                      </a:r>
                    </a:p>
                  </a:txBody>
                  <a:tcPr marL="54864" marR="54864" marT="27432" marB="27432">
                    <a:solidFill>
                      <a:srgbClr val="E5F5FF"/>
                    </a:solidFill>
                  </a:tcPr>
                </a:tc>
                <a:tc>
                  <a:txBody>
                    <a:bodyPr/>
                    <a:lstStyle/>
                    <a:p>
                      <a:r>
                        <a:rPr sz="850" b="0">
                          <a:solidFill>
                            <a:srgbClr val="4B4B4B"/>
                          </a:solidFill>
                          <a:latin typeface="Arial"/>
                        </a:rPr>
                        <a:t>Title: &lt;renewal ref&gt; renewed, or &lt;renewal ref&gt; closed: expired without renewal. Text: Booked with invoice &lt;invoice&gt;, or The policy of &lt;client&gt; expired on &lt;expiry date&gt;</a:t>
                      </a:r>
                    </a:p>
                  </a:txBody>
                  <a:tcPr marL="54864" marR="54864" marT="27432" marB="27432">
                    <a:solidFill>
                      <a:srgbClr val="E5F5FF"/>
                    </a:solidFill>
                  </a:tcPr>
                </a:tc>
              </a:tr>
              <a:tr h="480057">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The go-live take-over of the migrated policies is completed (event Go-live renewal extraction completed)</a:t>
                      </a:r>
                    </a:p>
                  </a:txBody>
                  <a:tcPr marL="54864" marR="54864" marT="27432" marB="27432">
                    <a:solidFill>
                      <a:srgbClr val="FFFFFF"/>
                    </a:solidFill>
                  </a:tcPr>
                </a:tc>
                <a:tc>
                  <a:txBody>
                    <a:bodyPr/>
                    <a:lstStyle/>
                    <a:p>
                      <a:r>
                        <a:rPr sz="850" b="0">
                          <a:solidFill>
                            <a:srgbClr val="4B4B4B"/>
                          </a:solidFill>
                          <a:latin typeface="Arial"/>
                        </a:rPr>
                        <a:t>The users who extract renewals (Team Leaders)</a:t>
                      </a:r>
                    </a:p>
                  </a:txBody>
                  <a:tcPr marL="54864" marR="54864" marT="27432" marB="27432">
                    <a:solidFill>
                      <a:srgbClr val="FFFFFF"/>
                    </a:solidFill>
                  </a:tcPr>
                </a:tc>
                <a:tc>
                  <a:txBody>
                    <a:bodyPr/>
                    <a:lstStyle/>
                    <a:p>
                      <a:r>
                        <a:rPr sz="850" b="0">
                          <a:solidFill>
                            <a:srgbClr val="4B4B4B"/>
                          </a:solidFill>
                          <a:latin typeface="Arial"/>
                        </a:rPr>
                        <a:t>Title: Go-live renewals taken over (&lt;n&gt;). Text: &lt;n&gt; renewals, &lt;n&gt; urgent; by expiry month &lt;month: count&gt;</a:t>
                      </a:r>
                    </a:p>
                  </a:txBody>
                  <a:tcPr marL="54864" marR="54864" marT="27432" marB="27432">
                    <a:solidFill>
                      <a:srgbClr val="FFFFFF"/>
                    </a:solidFill>
                  </a:tcPr>
                </a:tc>
              </a:tr>
              <a:tr h="350518">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package choice of a migrated policy is approved or rejected (event Renewal package choice decided)</a:t>
                      </a:r>
                    </a:p>
                  </a:txBody>
                  <a:tcPr marL="54864" marR="54864" marT="27432" marB="27432">
                    <a:solidFill>
                      <a:srgbClr val="E5F5FF"/>
                    </a:solidFill>
                  </a:tcPr>
                </a:tc>
                <a:tc>
                  <a:txBody>
                    <a:bodyPr/>
                    <a:lstStyle/>
                    <a:p>
                      <a:r>
                        <a:rPr sz="850" b="0">
                          <a:solidFill>
                            <a:srgbClr val="4B4B4B"/>
                          </a:solidFill>
                          <a:latin typeface="Arial"/>
                        </a:rPr>
                        <a:t>The user who proposed the package</a:t>
                      </a:r>
                    </a:p>
                  </a:txBody>
                  <a:tcPr marL="54864" marR="54864" marT="27432" marB="27432">
                    <a:solidFill>
                      <a:srgbClr val="E5F5FF"/>
                    </a:solidFill>
                  </a:tcPr>
                </a:tc>
                <a:tc>
                  <a:txBody>
                    <a:bodyPr/>
                    <a:lstStyle/>
                    <a:p>
                      <a:r>
                        <a:rPr sz="850" b="0">
                          <a:solidFill>
                            <a:srgbClr val="4B4B4B"/>
                          </a:solidFill>
                          <a:latin typeface="Arial"/>
                        </a:rPr>
                        <a:t>Title: &lt;renewal ref&gt;: package choice approved or rejected. Text: &lt;product version&gt; applies to the renewal, or was rejected: &lt;remarks&gt;</a:t>
                      </a:r>
                    </a:p>
                  </a:txBody>
                  <a:tcPr marL="54864" marR="54864" marT="27432" marB="27432">
                    <a:solidFill>
                      <a:srgbClr val="E5F5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graphicFrame>
        <p:nvGraphicFramePr>
          <p:cNvPr id="9" name="Table 8"/>
          <p:cNvGraphicFramePr>
            <a:graphicFrameLocks noGrp="1"/>
          </p:cNvGraphicFramePr>
          <p:nvPr/>
        </p:nvGraphicFramePr>
        <p:xfrm>
          <a:off x="548640" y="1325880"/>
          <a:ext cx="11094413" cy="428241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expiring account is not disposed or not accepted within the escalation days of its segment before expiry (Renewal at risk)</a:t>
                      </a:r>
                    </a:p>
                  </a:txBody>
                  <a:tcPr marL="54864" marR="54864" marT="27432" marB="27432">
                    <a:solidFill>
                      <a:srgbClr val="FFFFFF"/>
                    </a:solidFill>
                  </a:tcPr>
                </a:tc>
                <a:tc>
                  <a:txBody>
                    <a:bodyPr/>
                    <a:lstStyle/>
                    <a:p>
                      <a:r>
                        <a:rPr sz="850" b="0">
                          <a:solidFill>
                            <a:srgbClr val="4B4B4B"/>
                          </a:solidFill>
                          <a:latin typeface="Arial"/>
                        </a:rPr>
                        <a:t>The administrators and Team Leaders who receive the alerts of Renewal</a:t>
                      </a:r>
                    </a:p>
                  </a:txBody>
                  <a:tcPr marL="54864" marR="54864" marT="27432" marB="27432">
                    <a:solidFill>
                      <a:srgbClr val="FFFFFF"/>
                    </a:solidFill>
                  </a:tcPr>
                </a:tc>
                <a:tc>
                  <a:txBody>
                    <a:bodyPr/>
                    <a:lstStyle/>
                    <a:p>
                      <a:r>
                        <a:rPr sz="850" b="0">
                          <a:solidFill>
                            <a:srgbClr val="4B4B4B"/>
                          </a:solidFill>
                          <a:latin typeface="Arial"/>
                        </a:rPr>
                        <a:t>Renewal at risk: &lt;renewal ref&gt; of &lt;client&gt; expires on &lt;expiry date&gt; without a disposition or an acceptance</a:t>
                      </a:r>
                    </a:p>
                  </a:txBody>
                  <a:tcPr marL="54864" marR="54864" marT="27432" marB="27432">
                    <a:solidFill>
                      <a:srgbClr val="FFFFFF"/>
                    </a:solidFill>
                  </a:tcPr>
                </a:tc>
              </a:tr>
              <a:tr h="350518">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The daily extraction of expiring accounts fails (Renewal extraction failed)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Renewal</a:t>
                      </a:r>
                    </a:p>
                  </a:txBody>
                  <a:tcPr marL="54864" marR="54864" marT="27432" marB="27432">
                    <a:solidFill>
                      <a:srgbClr val="E5F5FF"/>
                    </a:solidFill>
                  </a:tcPr>
                </a:tc>
                <a:tc>
                  <a:txBody>
                    <a:bodyPr/>
                    <a:lstStyle/>
                    <a:p>
                      <a:r>
                        <a:rPr sz="850" b="0">
                          <a:solidFill>
                            <a:srgbClr val="4B4B4B"/>
                          </a:solidFill>
                          <a:latin typeface="Arial"/>
                        </a:rPr>
                        <a:t>Renewal extraction failed: &lt;reason&gt;; the next run takes the missed dates</a:t>
                      </a:r>
                    </a:p>
                  </a:txBody>
                  <a:tcPr marL="54864" marR="54864" marT="27432" marB="27432">
                    <a:solidFill>
                      <a:srgbClr val="E5F5FF"/>
                    </a:solidFill>
                  </a:tcPr>
                </a:tc>
              </a:tr>
              <a:tr h="480057">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insurer has not answered a renewal batch by its reply date (Insurer renewal batch overdue)</a:t>
                      </a:r>
                    </a:p>
                  </a:txBody>
                  <a:tcPr marL="54864" marR="54864" marT="27432" marB="27432">
                    <a:solidFill>
                      <a:srgbClr val="FFFFFF"/>
                    </a:solidFill>
                  </a:tcPr>
                </a:tc>
                <a:tc>
                  <a:txBody>
                    <a:bodyPr/>
                    <a:lstStyle/>
                    <a:p>
                      <a:r>
                        <a:rPr sz="850" b="0">
                          <a:solidFill>
                            <a:srgbClr val="4B4B4B"/>
                          </a:solidFill>
                          <a:latin typeface="Arial"/>
                        </a:rPr>
                        <a:t>The administrators and the Processing Team Leaders who receive the alerts of Renewal</a:t>
                      </a:r>
                    </a:p>
                  </a:txBody>
                  <a:tcPr marL="54864" marR="54864" marT="27432" marB="27432">
                    <a:solidFill>
                      <a:srgbClr val="FFFFFF"/>
                    </a:solidFill>
                  </a:tcPr>
                </a:tc>
                <a:tc>
                  <a:txBody>
                    <a:bodyPr/>
                    <a:lstStyle/>
                    <a:p>
                      <a:r>
                        <a:rPr sz="850" b="0">
                          <a:solidFill>
                            <a:srgbClr val="4B4B4B"/>
                          </a:solidFill>
                          <a:latin typeface="Arial"/>
                        </a:rPr>
                        <a:t>Insurer renewal batch overdue: &lt;batch no&gt; of &lt;insurer&gt;, reply due &lt;date&gt;</a:t>
                      </a:r>
                    </a:p>
                  </a:txBody>
                  <a:tcPr marL="54864" marR="54864" marT="27432" marB="27432">
                    <a:solidFill>
                      <a:srgbClr val="FFFFFF"/>
                    </a:solidFill>
                  </a:tcPr>
                </a:tc>
              </a:tr>
              <a:tr h="350518">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Renewal Advice or renewal letter could not be sent to the client (Renewal letter not delivered)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Renewal</a:t>
                      </a:r>
                    </a:p>
                  </a:txBody>
                  <a:tcPr marL="54864" marR="54864" marT="27432" marB="27432">
                    <a:solidFill>
                      <a:srgbClr val="E5F5FF"/>
                    </a:solidFill>
                  </a:tcPr>
                </a:tc>
                <a:tc>
                  <a:txBody>
                    <a:bodyPr/>
                    <a:lstStyle/>
                    <a:p>
                      <a:r>
                        <a:rPr sz="850" b="0">
                          <a:solidFill>
                            <a:srgbClr val="4B4B4B"/>
                          </a:solidFill>
                          <a:latin typeface="Arial"/>
                        </a:rPr>
                        <a:t>Renewal letter not delivered: &lt;letter no&gt; of &lt;renewal ref&gt; to &lt;recipient&gt;: &lt;reason&gt;</a:t>
                      </a:r>
                    </a:p>
                  </a:txBody>
                  <a:tcPr marL="54864" marR="54864" marT="27432" marB="27432">
                    <a:solidFill>
                      <a:srgbClr val="E5F5FF"/>
                    </a:solidFill>
                  </a:tcPr>
                </a:tc>
              </a:tr>
              <a:tr h="480057">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renewal stays in the Exception classification longer than the allowed days, 7 by default (Renewal exception ageing)</a:t>
                      </a:r>
                    </a:p>
                  </a:txBody>
                  <a:tcPr marL="54864" marR="54864" marT="27432" marB="27432">
                    <a:solidFill>
                      <a:srgbClr val="FFFFFF"/>
                    </a:solidFill>
                  </a:tcPr>
                </a:tc>
                <a:tc>
                  <a:txBody>
                    <a:bodyPr/>
                    <a:lstStyle/>
                    <a:p>
                      <a:r>
                        <a:rPr sz="850" b="0">
                          <a:solidFill>
                            <a:srgbClr val="4B4B4B"/>
                          </a:solidFill>
                          <a:latin typeface="Arial"/>
                        </a:rPr>
                        <a:t>The administrators and Team Leaders who receive the alerts of Renewal</a:t>
                      </a:r>
                    </a:p>
                  </a:txBody>
                  <a:tcPr marL="54864" marR="54864" marT="27432" marB="27432">
                    <a:solidFill>
                      <a:srgbClr val="FFFFFF"/>
                    </a:solidFill>
                  </a:tcPr>
                </a:tc>
                <a:tc>
                  <a:txBody>
                    <a:bodyPr/>
                    <a:lstStyle/>
                    <a:p>
                      <a:r>
                        <a:rPr sz="850" b="0">
                          <a:solidFill>
                            <a:srgbClr val="4B4B4B"/>
                          </a:solidFill>
                          <a:latin typeface="Arial"/>
                        </a:rPr>
                        <a:t>Renewal exception ageing: &lt;renewal ref&gt; has been an Exception for &lt;days&gt; days</a:t>
                      </a:r>
                    </a:p>
                  </a:txBody>
                  <a:tcPr marL="54864" marR="54864" marT="27432" marB="27432">
                    <a:solidFill>
                      <a:srgbClr val="FFFFFF"/>
                    </a:solidFill>
                  </a:tcPr>
                </a:tc>
              </a:tr>
              <a:tr h="609596">
                <a:tc>
                  <a:txBody>
                    <a:bodyPr/>
                    <a:lstStyle/>
                    <a:p>
                      <a:r>
                        <a:rPr sz="850" b="0">
                          <a:solidFill>
                            <a:srgbClr val="4B4B4B"/>
                          </a:solidFill>
                          <a:latin typeface="Arial"/>
                        </a:rPr>
                        <a:t>NT-16</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on the Letters screen (Renewal Advice, first or second notice)</a:t>
                      </a:r>
                    </a:p>
                  </a:txBody>
                  <a:tcPr marL="54864" marR="54864" marT="27432" marB="27432">
                    <a:solidFill>
                      <a:srgbClr val="E5F5FF"/>
                    </a:solidFill>
                  </a:tcPr>
                </a:tc>
                <a:tc>
                  <a:txBody>
                    <a:bodyPr/>
                    <a:lstStyle/>
                    <a:p>
                      <a:r>
                        <a:rPr sz="850" b="0">
                          <a:solidFill>
                            <a:srgbClr val="4B4B4B"/>
                          </a:solidFill>
                          <a:latin typeface="Arial"/>
                        </a:rPr>
                        <a:t>The client's e-mail address</a:t>
                      </a:r>
                    </a:p>
                  </a:txBody>
                  <a:tcPr marL="54864" marR="54864" marT="27432" marB="27432">
                    <a:solidFill>
                      <a:srgbClr val="E5F5FF"/>
                    </a:solidFill>
                  </a:tcPr>
                </a:tc>
                <a:tc>
                  <a:txBody>
                    <a:bodyPr/>
                    <a:lstStyle/>
                    <a:p>
                      <a:r>
                        <a:rPr sz="850" b="0">
                          <a:solidFill>
                            <a:srgbClr val="4B4B4B"/>
                          </a:solidFill>
                          <a:latin typeface="Arial"/>
                        </a:rPr>
                        <a:t>Subject: Renewal Advice &lt;letter no&gt; - &lt;client&gt;. Body: the renewal of policy &lt;policy no&gt; expiring on &lt;expiry date&gt;, the renewal terms and premium, the payment instructions and the BDOI contacts; the attachment is protected and the password follows in a separate e-mail</a:t>
                      </a:r>
                    </a:p>
                  </a:txBody>
                  <a:tcPr marL="54864" marR="54864" marT="27432" marB="27432">
                    <a:solidFill>
                      <a:srgbClr val="E5F5FF"/>
                    </a:solidFill>
                  </a:tcPr>
                </a:tc>
              </a:tr>
              <a:tr h="350518">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Follows every protected Renewal Advice, letter and insurer extract e-mail</a:t>
                      </a:r>
                    </a:p>
                  </a:txBody>
                  <a:tcPr marL="54864" marR="54864" marT="27432" marB="27432">
                    <a:solidFill>
                      <a:srgbClr val="FFFFFF"/>
                    </a:solidFill>
                  </a:tcPr>
                </a:tc>
                <a:tc>
                  <a:txBody>
                    <a:bodyPr/>
                    <a:lstStyle/>
                    <a:p>
                      <a:r>
                        <a:rPr sz="850" b="0">
                          <a:solidFill>
                            <a:srgbClr val="4B4B4B"/>
                          </a:solidFill>
                          <a:latin typeface="Arial"/>
                        </a:rPr>
                        <a:t>The same recipients</a:t>
                      </a:r>
                    </a:p>
                  </a:txBody>
                  <a:tcPr marL="54864" marR="54864" marT="27432" marB="27432">
                    <a:solidFill>
                      <a:srgbClr val="FFFFFF"/>
                    </a:solidFill>
                  </a:tcPr>
                </a:tc>
                <a:tc>
                  <a:txBody>
                    <a:bodyPr/>
                    <a:lstStyle/>
                    <a:p>
                      <a:r>
                        <a:rPr sz="850" b="0">
                          <a:solidFill>
                            <a:srgbClr val="4B4B4B"/>
                          </a:solidFill>
                          <a:latin typeface="Arial"/>
                        </a:rPr>
                        <a:t>The password of the attachment of the e-mail &lt;subject&gt;, with the password hint for the recipient</a:t>
                      </a:r>
                    </a:p>
                  </a:txBody>
                  <a:tcPr marL="54864" marR="54864" marT="27432" marB="27432">
                    <a:solidFill>
                      <a:srgbClr val="FFFFFF"/>
                    </a:solidFill>
                  </a:tcPr>
                </a:tc>
              </a:tr>
              <a:tr h="480057">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to Insurer on an insurer batch</a:t>
                      </a:r>
                    </a:p>
                  </a:txBody>
                  <a:tcPr marL="54864" marR="54864" marT="27432" marB="27432">
                    <a:solidFill>
                      <a:srgbClr val="E5F5FF"/>
                    </a:solidFill>
                  </a:tcPr>
                </a:tc>
                <a:tc>
                  <a:txBody>
                    <a:bodyPr/>
                    <a:lstStyle/>
                    <a:p>
                      <a:r>
                        <a:rPr sz="850" b="0">
                          <a:solidFill>
                            <a:srgbClr val="4B4B4B"/>
                          </a:solidFill>
                          <a:latin typeface="Arial"/>
                        </a:rPr>
                        <a:t>The renewal e-mail addresses of the insurer</a:t>
                      </a:r>
                    </a:p>
                  </a:txBody>
                  <a:tcPr marL="54864" marR="54864" marT="27432" marB="27432">
                    <a:solidFill>
                      <a:srgbClr val="E5F5FF"/>
                    </a:solidFill>
                  </a:tcPr>
                </a:tc>
                <a:tc>
                  <a:txBody>
                    <a:bodyPr/>
                    <a:lstStyle/>
                    <a:p>
                      <a:r>
                        <a:rPr sz="850" b="0">
                          <a:solidFill>
                            <a:srgbClr val="4B4B4B"/>
                          </a:solidFill>
                          <a:latin typeface="Arial"/>
                        </a:rPr>
                        <a:t>Subject: Renewal extract &lt;batch no&gt; - &lt;insurer&gt;. Body: the renewals expiring in &lt;period&gt; for the insurer's renewal terms, the reply date; the attachment is protected and the password follows in a separate e-mail</a:t>
                      </a:r>
                    </a:p>
                  </a:txBody>
                  <a:tcPr marL="54864" marR="54864" marT="27432" marB="27432">
                    <a:solidFill>
                      <a:srgbClr val="E5F5FF"/>
                    </a:solidFill>
                  </a:tcPr>
                </a:tc>
              </a:tr>
              <a:tr h="480057">
                <a:tc>
                  <a:txBody>
                    <a:bodyPr/>
                    <a:lstStyle/>
                    <a:p>
                      <a:r>
                        <a:rPr sz="850" b="0">
                          <a:solidFill>
                            <a:srgbClr val="4B4B4B"/>
                          </a:solidFill>
                          <a:latin typeface="Arial"/>
                        </a:rPr>
                        <a:t>NT-19</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Letters on the NAL / NFR tab; the NRNS reminder and the non-acceptance letter sent by the nightly letter run</a:t>
                      </a:r>
                    </a:p>
                  </a:txBody>
                  <a:tcPr marL="54864" marR="54864" marT="27432" marB="27432">
                    <a:solidFill>
                      <a:srgbClr val="FFFFFF"/>
                    </a:solidFill>
                  </a:tcPr>
                </a:tc>
                <a:tc>
                  <a:txBody>
                    <a:bodyPr/>
                    <a:lstStyle/>
                    <a:p>
                      <a:r>
                        <a:rPr sz="850" b="0">
                          <a:solidFill>
                            <a:srgbClr val="4B4B4B"/>
                          </a:solidFill>
                          <a:latin typeface="Arial"/>
                        </a:rPr>
                        <a:t>The client's e-mail address</a:t>
                      </a:r>
                    </a:p>
                  </a:txBody>
                  <a:tcPr marL="54864" marR="54864" marT="27432" marB="27432">
                    <a:solidFill>
                      <a:srgbClr val="FFFFFF"/>
                    </a:solidFill>
                  </a:tcPr>
                </a:tc>
                <a:tc>
                  <a:txBody>
                    <a:bodyPr/>
                    <a:lstStyle/>
                    <a:p>
                      <a:r>
                        <a:rPr sz="850" b="0">
                          <a:solidFill>
                            <a:srgbClr val="4B4B4B"/>
                          </a:solidFill>
                          <a:latin typeface="Arial"/>
                        </a:rPr>
                        <a:t>Subject: &lt;letter type&gt; &lt;letter no&gt; - &lt;client&gt;. Body: the letter (No Advice Letter, Not for Renewal Letter with its reason, NRNS reminder or non-acceptance notice); the attachment is protected and the password follows in a separate e-mail</a:t>
                      </a:r>
                    </a:p>
                  </a:txBody>
                  <a:tcPr marL="54864" marR="54864" marT="27432" marB="27432">
                    <a:solidFill>
                      <a:srgbClr val="FFFFFF"/>
                    </a:solidFill>
                  </a:tcPr>
                </a:tc>
              </a:tr>
            </a:tbl>
          </a:graphicData>
        </a:graphic>
      </p:graphicFrame>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25880"/>
          <a:ext cx="11094413" cy="137160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SCR-RN-02</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Users with the export permission</a:t>
                      </a:r>
                    </a:p>
                  </a:txBody>
                  <a:tcPr marL="54864" marR="54864" marT="27432" marB="27432">
                    <a:solidFill>
                      <a:srgbClr val="FFFFFF"/>
                    </a:solidFill>
                  </a:tcPr>
                </a:tc>
                <a:tc>
                  <a:txBody>
                    <a:bodyPr/>
                    <a:lstStyle/>
                    <a:p>
                      <a:r>
                        <a:rPr sz="900" b="0">
                          <a:solidFill>
                            <a:srgbClr val="4B4B4B"/>
                          </a:solidFill>
                          <a:latin typeface="Arial"/>
                        </a:rPr>
                        <a:t>Downloads the list as shown, with its filters, as a spreadsheet</a:t>
                      </a:r>
                    </a:p>
                  </a:txBody>
                  <a:tcPr marL="54864" marR="54864" marT="27432" marB="27432">
                    <a:solidFill>
                      <a:srgbClr val="FFFFFF"/>
                    </a:solidFill>
                  </a:tcPr>
                </a:tc>
              </a:tr>
              <a:tr h="228600">
                <a:tc>
                  <a:txBody>
                    <a:bodyPr/>
                    <a:lstStyle/>
                    <a:p>
                      <a:r>
                        <a:rPr sz="900" b="0">
                          <a:solidFill>
                            <a:srgbClr val="4B4B4B"/>
                          </a:solidFill>
                          <a:latin typeface="Arial"/>
                        </a:rPr>
                        <a:t>SCR-RN-03</a:t>
                      </a:r>
                    </a:p>
                  </a:txBody>
                  <a:tcPr marL="54864" marR="54864" marT="27432" marB="27432">
                    <a:solidFill>
                      <a:srgbClr val="E5F5FF"/>
                    </a:solidFill>
                  </a:tcPr>
                </a:tc>
                <a:tc>
                  <a:txBody>
                    <a:bodyPr/>
                    <a:lstStyle/>
                    <a:p>
                      <a:r>
                        <a:rPr sz="900" b="0">
                          <a:solidFill>
                            <a:srgbClr val="4B4B4B"/>
                          </a:solidFill>
                          <a:latin typeface="Arial"/>
                        </a:rPr>
                        <a:t>Details PDF</a:t>
                      </a:r>
                    </a:p>
                  </a:txBody>
                  <a:tcPr marL="54864" marR="54864" marT="27432" marB="27432">
                    <a:solidFill>
                      <a:srgbClr val="E5F5FF"/>
                    </a:solidFill>
                  </a:tcPr>
                </a:tc>
                <a:tc>
                  <a:txBody>
                    <a:bodyPr/>
                    <a:lstStyle/>
                    <a:p>
                      <a:r>
                        <a:rPr sz="900" b="0">
                          <a:solidFill>
                            <a:srgbClr val="4B4B4B"/>
                          </a:solidFill>
                          <a:latin typeface="Arial"/>
                        </a:rPr>
                        <a:t>Users with the export permission</a:t>
                      </a:r>
                    </a:p>
                  </a:txBody>
                  <a:tcPr marL="54864" marR="54864" marT="27432" marB="27432">
                    <a:solidFill>
                      <a:srgbClr val="E5F5FF"/>
                    </a:solidFill>
                  </a:tcPr>
                </a:tc>
                <a:tc>
                  <a:txBody>
                    <a:bodyPr/>
                    <a:lstStyle/>
                    <a:p>
                      <a:r>
                        <a:rPr sz="900" b="0">
                          <a:solidFill>
                            <a:srgbClr val="4B4B4B"/>
                          </a:solidFill>
                          <a:latin typeface="Arial"/>
                        </a:rPr>
                        <a:t>Downloads the account details of the renewal as a PDF</a:t>
                      </a:r>
                    </a:p>
                  </a:txBody>
                  <a:tcPr marL="54864" marR="54864" marT="27432" marB="27432">
                    <a:solidFill>
                      <a:srgbClr val="E5F5FF"/>
                    </a:solidFill>
                  </a:tcPr>
                </a:tc>
              </a:tr>
              <a:tr h="228600">
                <a:tc>
                  <a:txBody>
                    <a:bodyPr/>
                    <a:lstStyle/>
                    <a:p>
                      <a:r>
                        <a:rPr sz="900" b="0">
                          <a:solidFill>
                            <a:srgbClr val="4B4B4B"/>
                          </a:solidFill>
                          <a:latin typeface="Arial"/>
                        </a:rPr>
                        <a:t>SCR-RN-05</a:t>
                      </a:r>
                    </a:p>
                  </a:txBody>
                  <a:tcPr marL="54864" marR="54864" marT="27432" marB="27432">
                    <a:solidFill>
                      <a:srgbClr val="FFFFFF"/>
                    </a:solidFill>
                  </a:tcPr>
                </a:tc>
                <a:tc>
                  <a:txBody>
                    <a:bodyPr/>
                    <a:lstStyle/>
                    <a:p>
                      <a:r>
                        <a:rPr sz="900" b="0">
                          <a:solidFill>
                            <a:srgbClr val="4B4B4B"/>
                          </a:solidFill>
                          <a:latin typeface="Arial"/>
                        </a:rPr>
                        <a:t>Download PDF (row menu)</a:t>
                      </a:r>
                    </a:p>
                  </a:txBody>
                  <a:tcPr marL="54864" marR="54864" marT="27432" marB="27432">
                    <a:solidFill>
                      <a:srgbClr val="FFFFFF"/>
                    </a:solidFill>
                  </a:tcPr>
                </a:tc>
                <a:tc>
                  <a:txBody>
                    <a:bodyPr/>
                    <a:lstStyle/>
                    <a:p>
                      <a:r>
                        <a:rPr sz="900" b="0">
                          <a:solidFill>
                            <a:srgbClr val="4B4B4B"/>
                          </a:solidFill>
                          <a:latin typeface="Arial"/>
                        </a:rPr>
                        <a:t>Every Renewal user</a:t>
                      </a:r>
                    </a:p>
                  </a:txBody>
                  <a:tcPr marL="54864" marR="54864" marT="27432" marB="27432">
                    <a:solidFill>
                      <a:srgbClr val="FFFFFF"/>
                    </a:solidFill>
                  </a:tcPr>
                </a:tc>
                <a:tc>
                  <a:txBody>
                    <a:bodyPr/>
                    <a:lstStyle/>
                    <a:p>
                      <a:r>
                        <a:rPr sz="900" b="0">
                          <a:solidFill>
                            <a:srgbClr val="4B4B4B"/>
                          </a:solidFill>
                          <a:latin typeface="Arial"/>
                        </a:rPr>
                        <a:t>Downloads the letter</a:t>
                      </a:r>
                    </a:p>
                  </a:txBody>
                  <a:tcPr marL="54864" marR="54864" marT="27432" marB="27432">
                    <a:solidFill>
                      <a:srgbClr val="FFFFFF"/>
                    </a:solidFill>
                  </a:tcPr>
                </a:tc>
              </a:tr>
              <a:tr h="228600">
                <a:tc>
                  <a:txBody>
                    <a:bodyPr/>
                    <a:lstStyle/>
                    <a:p>
                      <a:r>
                        <a:rPr sz="900" b="0">
                          <a:solidFill>
                            <a:srgbClr val="4B4B4B"/>
                          </a:solidFill>
                          <a:latin typeface="Arial"/>
                        </a:rPr>
                        <a:t>SCR-RN-06</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Users with the export permission</a:t>
                      </a:r>
                    </a:p>
                  </a:txBody>
                  <a:tcPr marL="54864" marR="54864" marT="27432" marB="27432">
                    <a:solidFill>
                      <a:srgbClr val="E5F5FF"/>
                    </a:solidFill>
                  </a:tcPr>
                </a:tc>
                <a:tc>
                  <a:txBody>
                    <a:bodyPr/>
                    <a:lstStyle/>
                    <a:p>
                      <a:r>
                        <a:rPr sz="900" b="0">
                          <a:solidFill>
                            <a:srgbClr val="4B4B4B"/>
                          </a:solidFill>
                          <a:latin typeface="Arial"/>
                        </a:rPr>
                        <a:t>Downloads the list as shown</a:t>
                      </a:r>
                    </a:p>
                  </a:txBody>
                  <a:tcPr marL="54864" marR="54864" marT="27432" marB="27432">
                    <a:solidFill>
                      <a:srgbClr val="E5F5FF"/>
                    </a:solidFill>
                  </a:tcPr>
                </a:tc>
              </a:tr>
              <a:tr h="228600">
                <a:tc>
                  <a:txBody>
                    <a:bodyPr/>
                    <a:lstStyle/>
                    <a:p>
                      <a:r>
                        <a:rPr sz="900" b="0">
                          <a:solidFill>
                            <a:srgbClr val="4B4B4B"/>
                          </a:solidFill>
                          <a:latin typeface="Arial"/>
                        </a:rPr>
                        <a:t>SCR-RN-11</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insurer extract</a:t>
                      </a:r>
                    </a:p>
                  </a:txBody>
                  <a:tcPr marL="54864" marR="54864" marT="27432" marB="27432">
                    <a:solidFill>
                      <a:srgbClr val="FFFF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3" cy="443484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CLR-RN-17</a:t>
                      </a:r>
                    </a:p>
                  </a:txBody>
                  <a:tcPr marL="54864" marR="54864" marT="27432" marB="27432">
                    <a:solidFill>
                      <a:srgbClr val="FFFFFF"/>
                    </a:solidFill>
                  </a:tcPr>
                </a:tc>
                <a:tc>
                  <a:txBody>
                    <a:bodyPr/>
                    <a:lstStyle/>
                    <a:p>
                      <a:r>
                        <a:rPr sz="900" b="0">
                          <a:solidFill>
                            <a:srgbClr val="4B4B4B"/>
                          </a:solidFill>
                          <a:latin typeface="Arial"/>
                        </a:rPr>
                        <a:t>Upload of dispositioned files (BRRN.018; FR-RN-060)</a:t>
                      </a:r>
                    </a:p>
                  </a:txBody>
                  <a:tcPr marL="54864" marR="54864" marT="27432" marB="27432">
                    <a:solidFill>
                      <a:srgbClr val="FFFFFF"/>
                    </a:solidFill>
                  </a:tcPr>
                </a:tc>
                <a:tc>
                  <a:txBody>
                    <a:bodyPr/>
                    <a:lstStyle/>
                    <a:p>
                      <a:r>
                        <a:rPr sz="900" b="0">
                          <a:solidFill>
                            <a:srgbClr val="4B4B4B"/>
                          </a:solidFill>
                          <a:latin typeface="Arial"/>
                        </a:rPr>
                        <a:t>The Upload Dispositions action is on the Processing Worklist, where the Processing team works, and not on My Dispositions of the AO.</a:t>
                      </a:r>
                    </a:p>
                  </a:txBody>
                  <a:tcPr marL="54864" marR="54864" marT="27432" marB="27432">
                    <a:solidFill>
                      <a:srgbClr val="FFFFFF"/>
                    </a:solidFill>
                  </a:tcPr>
                </a:tc>
                <a:tc>
                  <a:txBody>
                    <a:bodyPr/>
                    <a:lstStyle/>
                    <a:p>
                      <a:r>
                        <a:rPr sz="900" b="0">
                          <a:solidFill>
                            <a:srgbClr val="4B4B4B"/>
                          </a:solidFill>
                          <a:latin typeface="Arial"/>
                        </a:rPr>
                        <a:t>Confirm the place of the upload.</a:t>
                      </a:r>
                    </a:p>
                  </a:txBody>
                  <a:tcPr marL="54864" marR="54864" marT="27432" marB="27432">
                    <a:solidFill>
                      <a:srgbClr val="FFFFFF"/>
                    </a:solidFill>
                  </a:tcPr>
                </a:tc>
              </a:tr>
              <a:tr h="502920">
                <a:tc>
                  <a:txBody>
                    <a:bodyPr/>
                    <a:lstStyle/>
                    <a:p>
                      <a:r>
                        <a:rPr sz="900" b="0">
                          <a:solidFill>
                            <a:srgbClr val="4B4B4B"/>
                          </a:solidFill>
                          <a:latin typeface="Arial"/>
                        </a:rPr>
                        <a:t>CLR-RN-18</a:t>
                      </a:r>
                    </a:p>
                  </a:txBody>
                  <a:tcPr marL="54864" marR="54864" marT="27432" marB="27432">
                    <a:solidFill>
                      <a:srgbClr val="E5F5FF"/>
                    </a:solidFill>
                  </a:tcPr>
                </a:tc>
                <a:tc>
                  <a:txBody>
                    <a:bodyPr/>
                    <a:lstStyle/>
                    <a:p>
                      <a:r>
                        <a:rPr sz="900" b="0">
                          <a:solidFill>
                            <a:srgbClr val="4B4B4B"/>
                          </a:solidFill>
                          <a:latin typeface="Arial"/>
                        </a:rPr>
                        <a:t>Go-live uploads (FR-RN-016)</a:t>
                      </a:r>
                    </a:p>
                  </a:txBody>
                  <a:tcPr marL="54864" marR="54864" marT="27432" marB="27432">
                    <a:solidFill>
                      <a:srgbClr val="E5F5FF"/>
                    </a:solidFill>
                  </a:tcPr>
                </a:tc>
                <a:tc>
                  <a:txBody>
                    <a:bodyPr/>
                    <a:lstStyle/>
                    <a:p>
                      <a:r>
                        <a:rPr sz="900" b="0">
                          <a:solidFill>
                            <a:srgbClr val="4B4B4B"/>
                          </a:solidFill>
                          <a:latin typeface="Arial"/>
                        </a:rPr>
                        <a:t>The Go-live tab of Renewal Setup (upload of the migrated policies and of the Renewal Advices already sent) is open to the Processing team and the Business Administrator; the corrections are approved by a second user.</a:t>
                      </a:r>
                    </a:p>
                  </a:txBody>
                  <a:tcPr marL="54864" marR="54864" marT="27432" marB="27432">
                    <a:solidFill>
                      <a:srgbClr val="E5F5FF"/>
                    </a:solidFill>
                  </a:tcPr>
                </a:tc>
                <a:tc>
                  <a:txBody>
                    <a:bodyPr/>
                    <a:lstStyle/>
                    <a:p>
                      <a:r>
                        <a:rPr sz="900" b="0">
                          <a:solidFill>
                            <a:srgbClr val="4B4B4B"/>
                          </a:solidFill>
                          <a:latin typeface="Arial"/>
                        </a:rPr>
                        <a:t>Confirm who loads and who approves the go-live data.</a:t>
                      </a:r>
                    </a:p>
                  </a:txBody>
                  <a:tcPr marL="54864" marR="54864" marT="27432" marB="27432">
                    <a:solidFill>
                      <a:srgbClr val="E5F5FF"/>
                    </a:solidFill>
                  </a:tcPr>
                </a:tc>
              </a:tr>
              <a:tr h="502920">
                <a:tc>
                  <a:txBody>
                    <a:bodyPr/>
                    <a:lstStyle/>
                    <a:p>
                      <a:r>
                        <a:rPr sz="900" b="0">
                          <a:solidFill>
                            <a:srgbClr val="4B4B4B"/>
                          </a:solidFill>
                          <a:latin typeface="Arial"/>
                        </a:rPr>
                        <a:t>CLR-RN-19</a:t>
                      </a:r>
                    </a:p>
                  </a:txBody>
                  <a:tcPr marL="54864" marR="54864" marT="27432" marB="27432">
                    <a:solidFill>
                      <a:srgbClr val="FFFFFF"/>
                    </a:solidFill>
                  </a:tcPr>
                </a:tc>
                <a:tc>
                  <a:txBody>
                    <a:bodyPr/>
                    <a:lstStyle/>
                    <a:p>
                      <a:r>
                        <a:rPr sz="900" b="0">
                          <a:solidFill>
                            <a:srgbClr val="4B4B4B"/>
                          </a:solidFill>
                          <a:latin typeface="Arial"/>
                        </a:rPr>
                        <a:t>Contact Center and LAMD on the record (BRRN.024, 026; FR-RN-085)</a:t>
                      </a:r>
                    </a:p>
                  </a:txBody>
                  <a:tcPr marL="54864" marR="54864" marT="27432" marB="27432">
                    <a:solidFill>
                      <a:srgbClr val="FFFFFF"/>
                    </a:solidFill>
                  </a:tcPr>
                </a:tc>
                <a:tc>
                  <a:txBody>
                    <a:bodyPr/>
                    <a:lstStyle/>
                    <a:p>
                      <a:r>
                        <a:rPr sz="900" b="0">
                          <a:solidFill>
                            <a:srgbClr val="4B4B4B"/>
                          </a:solidFill>
                          <a:latin typeface="Arial"/>
                        </a:rPr>
                        <a:t>The Contact Center and LAMD users see the renewal record without the work queue header (stage, due date, owner) and with the actions of their role only (Add Follow-up; the LAMD validation).</a:t>
                      </a:r>
                    </a:p>
                  </a:txBody>
                  <a:tcPr marL="54864" marR="54864" marT="27432" marB="27432">
                    <a:solidFill>
                      <a:srgbClr val="FFFFFF"/>
                    </a:solidFill>
                  </a:tcPr>
                </a:tc>
                <a:tc>
                  <a:txBody>
                    <a:bodyPr/>
                    <a:lstStyle/>
                    <a:p>
                      <a:r>
                        <a:rPr sz="900" b="0">
                          <a:solidFill>
                            <a:srgbClr val="4B4B4B"/>
                          </a:solidFill>
                          <a:latin typeface="Arial"/>
                        </a:rPr>
                        <a:t>Confirm what these users see on the record.</a:t>
                      </a:r>
                    </a:p>
                  </a:txBody>
                  <a:tcPr marL="54864" marR="54864" marT="27432" marB="27432">
                    <a:solidFill>
                      <a:srgbClr val="FFFFFF"/>
                    </a:solidFill>
                  </a:tcPr>
                </a:tc>
              </a:tr>
              <a:tr h="365760">
                <a:tc>
                  <a:txBody>
                    <a:bodyPr/>
                    <a:lstStyle/>
                    <a:p>
                      <a:r>
                        <a:rPr sz="900" b="0">
                          <a:solidFill>
                            <a:srgbClr val="4B4B4B"/>
                          </a:solidFill>
                          <a:latin typeface="Arial"/>
                        </a:rPr>
                        <a:t>CLR-RN-20</a:t>
                      </a:r>
                    </a:p>
                  </a:txBody>
                  <a:tcPr marL="54864" marR="54864" marT="27432" marB="27432">
                    <a:solidFill>
                      <a:srgbClr val="E5F5FF"/>
                    </a:solidFill>
                  </a:tcPr>
                </a:tc>
                <a:tc>
                  <a:txBody>
                    <a:bodyPr/>
                    <a:lstStyle/>
                    <a:p>
                      <a:r>
                        <a:rPr sz="900" b="0">
                          <a:solidFill>
                            <a:srgbClr val="4B4B4B"/>
                          </a:solidFill>
                          <a:latin typeface="Arial"/>
                        </a:rPr>
                        <a:t>Letter names on the screens (BRRN.001; FR-RN-082)</a:t>
                      </a:r>
                    </a:p>
                  </a:txBody>
                  <a:tcPr marL="54864" marR="54864" marT="27432" marB="27432">
                    <a:solidFill>
                      <a:srgbClr val="E5F5FF"/>
                    </a:solidFill>
                  </a:tcPr>
                </a:tc>
                <a:tc>
                  <a:txBody>
                    <a:bodyPr/>
                    <a:lstStyle/>
                    <a:p>
                      <a:r>
                        <a:rPr sz="900" b="0">
                          <a:solidFill>
                            <a:srgbClr val="4B4B4B"/>
                          </a:solidFill>
                          <a:latin typeface="Arial"/>
                        </a:rPr>
                        <a:t>The screens write the letters in full: Renewal Advice, No Advice Letter, Not for Renewal Letter; the tab of the closing letters is "NAL / NFR".</a:t>
                      </a:r>
                    </a:p>
                  </a:txBody>
                  <a:tcPr marL="54864" marR="54864" marT="27432" marB="27432">
                    <a:solidFill>
                      <a:srgbClr val="E5F5FF"/>
                    </a:solidFill>
                  </a:tcPr>
                </a:tc>
                <a:tc>
                  <a:txBody>
                    <a:bodyPr/>
                    <a:lstStyle/>
                    <a:p>
                      <a:r>
                        <a:rPr sz="900" b="0">
                          <a:solidFill>
                            <a:srgbClr val="4B4B4B"/>
                          </a:solidFill>
                          <a:latin typeface="Arial"/>
                        </a:rPr>
                        <a:t>Confirm the letter names and the tab label (see CLR-RN-32).</a:t>
                      </a:r>
                    </a:p>
                  </a:txBody>
                  <a:tcPr marL="54864" marR="54864" marT="27432" marB="27432">
                    <a:solidFill>
                      <a:srgbClr val="E5F5FF"/>
                    </a:solidFill>
                  </a:tcPr>
                </a:tc>
              </a:tr>
              <a:tr h="502920">
                <a:tc>
                  <a:txBody>
                    <a:bodyPr/>
                    <a:lstStyle/>
                    <a:p>
                      <a:r>
                        <a:rPr sz="900" b="0">
                          <a:solidFill>
                            <a:srgbClr val="4B4B4B"/>
                          </a:solidFill>
                          <a:latin typeface="Arial"/>
                        </a:rPr>
                        <a:t>CLR-RN-21</a:t>
                      </a:r>
                    </a:p>
                  </a:txBody>
                  <a:tcPr marL="54864" marR="54864" marT="27432" marB="27432">
                    <a:solidFill>
                      <a:srgbClr val="FFFFFF"/>
                    </a:solidFill>
                  </a:tcPr>
                </a:tc>
                <a:tc>
                  <a:txBody>
                    <a:bodyPr/>
                    <a:lstStyle/>
                    <a:p>
                      <a:r>
                        <a:rPr sz="900" b="0">
                          <a:solidFill>
                            <a:srgbClr val="4B4B4B"/>
                          </a:solidFill>
                          <a:latin typeface="Arial"/>
                        </a:rPr>
                        <a:t>Codes typed in Renewal Setup (FR-RN-024, 112)</a:t>
                      </a:r>
                    </a:p>
                  </a:txBody>
                  <a:tcPr marL="54864" marR="54864" marT="27432" marB="27432">
                    <a:solidFill>
                      <a:srgbClr val="FFFFFF"/>
                    </a:solidFill>
                  </a:tcPr>
                </a:tc>
                <a:tc>
                  <a:txBody>
                    <a:bodyPr/>
                    <a:lstStyle/>
                    <a:p>
                      <a:r>
                        <a:rPr sz="900" b="0">
                          <a:solidFill>
                            <a:srgbClr val="4B4B4B"/>
                          </a:solidFill>
                          <a:latin typeface="Arial"/>
                        </a:rPr>
                        <a:t>The new non-renewable risk code takes the risk code and the line of business as typed codes, checked against the catalogue; the decision matrix shows its segments, lines and products by name.</a:t>
                      </a:r>
                    </a:p>
                  </a:txBody>
                  <a:tcPr marL="54864" marR="54864" marT="27432" marB="27432">
                    <a:solidFill>
                      <a:srgbClr val="FFFFFF"/>
                    </a:solidFill>
                  </a:tcPr>
                </a:tc>
                <a:tc>
                  <a:txBody>
                    <a:bodyPr/>
                    <a:lstStyle/>
                    <a:p>
                      <a:r>
                        <a:rPr sz="900" b="0">
                          <a:solidFill>
                            <a:srgbClr val="4B4B4B"/>
                          </a:solidFill>
                          <a:latin typeface="Arial"/>
                        </a:rPr>
                        <a:t>Confirm, or ask for drop-downs by name in the set-up dialogs.</a:t>
                      </a:r>
                    </a:p>
                  </a:txBody>
                  <a:tcPr marL="54864" marR="54864" marT="27432" marB="27432">
                    <a:solidFill>
                      <a:srgbClr val="FFFFFF"/>
                    </a:solidFill>
                  </a:tcPr>
                </a:tc>
              </a:tr>
              <a:tr h="365760">
                <a:tc>
                  <a:txBody>
                    <a:bodyPr/>
                    <a:lstStyle/>
                    <a:p>
                      <a:r>
                        <a:rPr sz="900" b="0">
                          <a:solidFill>
                            <a:srgbClr val="4B4B4B"/>
                          </a:solidFill>
                          <a:latin typeface="Arial"/>
                        </a:rPr>
                        <a:t>CLR-RN-22</a:t>
                      </a:r>
                    </a:p>
                  </a:txBody>
                  <a:tcPr marL="54864" marR="54864" marT="27432" marB="27432">
                    <a:solidFill>
                      <a:srgbClr val="E5F5FF"/>
                    </a:solidFill>
                  </a:tcPr>
                </a:tc>
                <a:tc>
                  <a:txBody>
                    <a:bodyPr/>
                    <a:lstStyle/>
                    <a:p>
                      <a:r>
                        <a:rPr sz="900" b="0">
                          <a:solidFill>
                            <a:srgbClr val="4B4B4B"/>
                          </a:solidFill>
                          <a:latin typeface="Arial"/>
                        </a:rPr>
                        <a:t>Side stages on the step bar (FR-RN-031, 048, 082)</a:t>
                      </a:r>
                    </a:p>
                  </a:txBody>
                  <a:tcPr marL="54864" marR="54864" marT="27432" marB="27432">
                    <a:solidFill>
                      <a:srgbClr val="E5F5FF"/>
                    </a:solidFill>
                  </a:tcPr>
                </a:tc>
                <a:tc>
                  <a:txBody>
                    <a:bodyPr/>
                    <a:lstStyle/>
                    <a:p>
                      <a:r>
                        <a:rPr sz="900" b="0">
                          <a:solidFill>
                            <a:srgbClr val="4B4B4B"/>
                          </a:solidFill>
                          <a:latin typeface="Arial"/>
                        </a:rPr>
                        <a:t>Transfer Pending, the New Business path and Letter Pending show apart from the main stages of the step bar, after the stage they come from.</a:t>
                      </a:r>
                    </a:p>
                  </a:txBody>
                  <a:tcPr marL="54864" marR="54864" marT="27432" marB="27432">
                    <a:solidFill>
                      <a:srgbClr val="E5F5FF"/>
                    </a:solidFill>
                  </a:tcPr>
                </a:tc>
                <a:tc>
                  <a:txBody>
                    <a:bodyPr/>
                    <a:lstStyle/>
                    <a:p>
                      <a:r>
                        <a:rPr sz="900" b="0">
                          <a:solidFill>
                            <a:srgbClr val="4B4B4B"/>
                          </a:solidFill>
                          <a:latin typeface="Arial"/>
                        </a:rPr>
                        <a:t>Confirm the step bar.</a:t>
                      </a:r>
                    </a:p>
                  </a:txBody>
                  <a:tcPr marL="54864" marR="54864" marT="27432" marB="27432">
                    <a:solidFill>
                      <a:srgbClr val="E5F5FF"/>
                    </a:solidFill>
                  </a:tcPr>
                </a:tc>
              </a:tr>
              <a:tr h="502920">
                <a:tc>
                  <a:txBody>
                    <a:bodyPr/>
                    <a:lstStyle/>
                    <a:p>
                      <a:r>
                        <a:rPr sz="900" b="0">
                          <a:solidFill>
                            <a:srgbClr val="4B4B4B"/>
                          </a:solidFill>
                          <a:latin typeface="Arial"/>
                        </a:rPr>
                        <a:t>CLR-RN-23</a:t>
                      </a:r>
                    </a:p>
                  </a:txBody>
                  <a:tcPr marL="54864" marR="54864" marT="27432" marB="27432">
                    <a:solidFill>
                      <a:srgbClr val="FFFFFF"/>
                    </a:solidFill>
                  </a:tcPr>
                </a:tc>
                <a:tc>
                  <a:txBody>
                    <a:bodyPr/>
                    <a:lstStyle/>
                    <a:p>
                      <a:r>
                        <a:rPr sz="900" b="0">
                          <a:solidFill>
                            <a:srgbClr val="4B4B4B"/>
                          </a:solidFill>
                          <a:latin typeface="Arial"/>
                        </a:rPr>
                        <a:t>Renewal account of a migrated policy (FR-RN-016, 063, 080)</a:t>
                      </a:r>
                    </a:p>
                  </a:txBody>
                  <a:tcPr marL="54864" marR="54864" marT="27432" marB="27432">
                    <a:solidFill>
                      <a:srgbClr val="FFFFFF"/>
                    </a:solidFill>
                  </a:tcPr>
                </a:tc>
                <a:tc>
                  <a:txBody>
                    <a:bodyPr/>
                    <a:lstStyle/>
                    <a:p>
                      <a:r>
                        <a:rPr sz="900" b="0">
                          <a:solidFill>
                            <a:srgbClr val="4B4B4B"/>
                          </a:solidFill>
                          <a:latin typeface="Arial"/>
                        </a:rPr>
                        <a:t>The renewal account of a migrated policy is created from the migrated data; when mandatory fields of the product are missing, the Renewal Advice is refused with the list of fields until Processing completes them.</a:t>
                      </a:r>
                    </a:p>
                  </a:txBody>
                  <a:tcPr marL="54864" marR="54864" marT="27432" marB="27432">
                    <a:solidFill>
                      <a:srgbClr val="FFFFFF"/>
                    </a:solidFill>
                  </a:tcPr>
                </a:tc>
                <a:tc>
                  <a:txBody>
                    <a:bodyPr/>
                    <a:lstStyle/>
                    <a:p>
                      <a:r>
                        <a:rPr sz="900" b="0">
                          <a:solidFill>
                            <a:srgbClr val="4B4B4B"/>
                          </a:solidFill>
                          <a:latin typeface="Arial"/>
                        </a:rPr>
                        <a:t>Confirm that Processing completes the missing fields before the RA.</a:t>
                      </a:r>
                    </a:p>
                  </a:txBody>
                  <a:tcPr marL="54864" marR="54864" marT="27432" marB="27432">
                    <a:solidFill>
                      <a:srgbClr val="FFFFFF"/>
                    </a:solidFill>
                  </a:tcPr>
                </a:tc>
              </a:tr>
              <a:tr h="365760">
                <a:tc>
                  <a:txBody>
                    <a:bodyPr/>
                    <a:lstStyle/>
                    <a:p>
                      <a:r>
                        <a:rPr sz="900" b="0">
                          <a:solidFill>
                            <a:srgbClr val="4B4B4B"/>
                          </a:solidFill>
                          <a:latin typeface="Arial"/>
                        </a:rPr>
                        <a:t>CLR-RN-24</a:t>
                      </a:r>
                    </a:p>
                  </a:txBody>
                  <a:tcPr marL="54864" marR="54864" marT="27432" marB="27432">
                    <a:solidFill>
                      <a:srgbClr val="E5F5FF"/>
                    </a:solidFill>
                  </a:tcPr>
                </a:tc>
                <a:tc>
                  <a:txBody>
                    <a:bodyPr/>
                    <a:lstStyle/>
                    <a:p>
                      <a:r>
                        <a:rPr sz="900" b="0">
                          <a:solidFill>
                            <a:srgbClr val="4B4B4B"/>
                          </a:solidFill>
                          <a:latin typeface="Arial"/>
                        </a:rPr>
                        <a:t>Short stage labels in lists (FR-RN-013)</a:t>
                      </a:r>
                    </a:p>
                  </a:txBody>
                  <a:tcPr marL="54864" marR="54864" marT="27432" marB="27432">
                    <a:solidFill>
                      <a:srgbClr val="E5F5FF"/>
                    </a:solidFill>
                  </a:tcPr>
                </a:tc>
                <a:tc>
                  <a:txBody>
                    <a:bodyPr/>
                    <a:lstStyle/>
                    <a:p>
                      <a:r>
                        <a:rPr sz="900" b="0">
                          <a:solidFill>
                            <a:srgbClr val="4B4B4B"/>
                          </a:solidFill>
                          <a:latin typeface="Arial"/>
                        </a:rPr>
                        <a:t>In lists the stage pill shows "Unassigned" for Unassigned Disposition and "For Placement" for For Placement and Booking; the full label is in the tooltip and on the record.</a:t>
                      </a:r>
                    </a:p>
                  </a:txBody>
                  <a:tcPr marL="54864" marR="54864" marT="27432" marB="27432">
                    <a:solidFill>
                      <a:srgbClr val="E5F5FF"/>
                    </a:solidFill>
                  </a:tcPr>
                </a:tc>
                <a:tc>
                  <a:txBody>
                    <a:bodyPr/>
                    <a:lstStyle/>
                    <a:p>
                      <a:r>
                        <a:rPr sz="900" b="0">
                          <a:solidFill>
                            <a:srgbClr val="4B4B4B"/>
                          </a:solidFill>
                          <a:latin typeface="Arial"/>
                        </a:rPr>
                        <a:t>Confirm the short forms.</a:t>
                      </a:r>
                    </a:p>
                  </a:txBody>
                  <a:tcPr marL="54864" marR="54864" marT="27432" marB="27432">
                    <a:solidFill>
                      <a:srgbClr val="E5F5FF"/>
                    </a:solidFill>
                  </a:tcPr>
                </a:tc>
              </a:tr>
              <a:tr h="365760">
                <a:tc>
                  <a:txBody>
                    <a:bodyPr/>
                    <a:lstStyle/>
                    <a:p>
                      <a:r>
                        <a:rPr sz="900" b="0">
                          <a:solidFill>
                            <a:srgbClr val="4B4B4B"/>
                          </a:solidFill>
                          <a:latin typeface="Arial"/>
                        </a:rPr>
                        <a:t>CLR-RN-25</a:t>
                      </a:r>
                    </a:p>
                  </a:txBody>
                  <a:tcPr marL="54864" marR="54864" marT="27432" marB="27432">
                    <a:solidFill>
                      <a:srgbClr val="FFFFFF"/>
                    </a:solidFill>
                  </a:tcPr>
                </a:tc>
                <a:tc>
                  <a:txBody>
                    <a:bodyPr/>
                    <a:lstStyle/>
                    <a:p>
                      <a:r>
                        <a:rPr sz="900" b="0">
                          <a:solidFill>
                            <a:srgbClr val="4B4B4B"/>
                          </a:solidFill>
                          <a:latin typeface="Arial"/>
                        </a:rPr>
                        <a:t>Insurer extract (BRD 3.009; FR-RN-070)</a:t>
                      </a:r>
                    </a:p>
                  </a:txBody>
                  <a:tcPr marL="54864" marR="54864" marT="27432" marB="27432">
                    <a:solidFill>
                      <a:srgbClr val="FFFFFF"/>
                    </a:solidFill>
                  </a:tcPr>
                </a:tc>
                <a:tc>
                  <a:txBody>
                    <a:bodyPr/>
                    <a:lstStyle/>
                    <a:p>
                      <a:r>
                        <a:rPr sz="900" b="0">
                          <a:solidFill>
                            <a:srgbClr val="4B4B4B"/>
                          </a:solidFill>
                          <a:latin typeface="Arial"/>
                        </a:rPr>
                        <a:t>The extract per insurer keeps the 28 columns of the BRD in one sheet; on screen the batch shows them in a table that scrolls sideways.</a:t>
                      </a:r>
                    </a:p>
                  </a:txBody>
                  <a:tcPr marL="54864" marR="54864" marT="27432" marB="27432">
                    <a:solidFill>
                      <a:srgbClr val="FFFFFF"/>
                    </a:solidFill>
                  </a:tcPr>
                </a:tc>
                <a:tc>
                  <a:txBody>
                    <a:bodyPr/>
                    <a:lstStyle/>
                    <a:p>
                      <a:r>
                        <a:rPr sz="900" b="0">
                          <a:solidFill>
                            <a:srgbClr val="4B4B4B"/>
                          </a:solidFill>
                          <a:latin typeface="Arial"/>
                        </a:rPr>
                        <a:t>Confirm the 28 columns, or name the columns to keep on screen.</a:t>
                      </a:r>
                    </a:p>
                  </a:txBody>
                  <a:tcPr marL="54864" marR="54864" marT="27432" marB="27432">
                    <a:solidFill>
                      <a:srgbClr val="FFFFFF"/>
                    </a:solidFill>
                  </a:tcPr>
                </a:tc>
              </a:tr>
              <a:tr h="365760">
                <a:tc>
                  <a:txBody>
                    <a:bodyPr/>
                    <a:lstStyle/>
                    <a:p>
                      <a:r>
                        <a:rPr sz="900" b="0">
                          <a:solidFill>
                            <a:srgbClr val="4B4B4B"/>
                          </a:solidFill>
                          <a:latin typeface="Arial"/>
                        </a:rPr>
                        <a:t>CLR-RN-26</a:t>
                      </a:r>
                    </a:p>
                  </a:txBody>
                  <a:tcPr marL="54864" marR="54864" marT="27432" marB="27432">
                    <a:solidFill>
                      <a:srgbClr val="E5F5FF"/>
                    </a:solidFill>
                  </a:tcPr>
                </a:tc>
                <a:tc>
                  <a:txBody>
                    <a:bodyPr/>
                    <a:lstStyle/>
                    <a:p>
                      <a:r>
                        <a:rPr sz="900" b="0">
                          <a:solidFill>
                            <a:srgbClr val="4B4B4B"/>
                          </a:solidFill>
                          <a:latin typeface="Arial"/>
                        </a:rPr>
                        <a:t>Landing page of the Renewal users (FR-RN-100)</a:t>
                      </a:r>
                    </a:p>
                  </a:txBody>
                  <a:tcPr marL="54864" marR="54864" marT="27432" marB="27432">
                    <a:solidFill>
                      <a:srgbClr val="E5F5FF"/>
                    </a:solidFill>
                  </a:tcPr>
                </a:tc>
                <a:tc>
                  <a:txBody>
                    <a:bodyPr/>
                    <a:lstStyle/>
                    <a:p>
                      <a:r>
                        <a:rPr sz="900" b="0">
                          <a:solidFill>
                            <a:srgbClr val="4B4B4B"/>
                          </a:solidFill>
                          <a:latin typeface="Arial"/>
                        </a:rPr>
                        <a:t>After sign-in the Marketing and Processing users land on the New Business dashboard, the Contact Center and LAMD users on My Approvals; Renewal Home is one click away.</a:t>
                      </a:r>
                    </a:p>
                  </a:txBody>
                  <a:tcPr marL="54864" marR="54864" marT="27432" marB="27432">
                    <a:solidFill>
                      <a:srgbClr val="E5F5FF"/>
                    </a:solidFill>
                  </a:tcPr>
                </a:tc>
                <a:tc>
                  <a:txBody>
                    <a:bodyPr/>
                    <a:lstStyle/>
                    <a:p>
                      <a:r>
                        <a:rPr sz="900" b="0">
                          <a:solidFill>
                            <a:srgbClr val="4B4B4B"/>
                          </a:solidFill>
                          <a:latin typeface="Arial"/>
                        </a:rPr>
                        <a:t>Confirm, or land the Renewal personas on Renewal Home.</a:t>
                      </a:r>
                    </a:p>
                  </a:txBody>
                  <a:tcPr marL="54864" marR="54864" marT="27432" marB="27432">
                    <a:solidFill>
                      <a:srgbClr val="E5F5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3" cy="361188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777240">
                <a:tc>
                  <a:txBody>
                    <a:bodyPr/>
                    <a:lstStyle/>
                    <a:p>
                      <a:r>
                        <a:rPr sz="900" b="0">
                          <a:solidFill>
                            <a:srgbClr val="4B4B4B"/>
                          </a:solidFill>
                          <a:latin typeface="Arial"/>
                        </a:rPr>
                        <a:t>UX-RN-01</a:t>
                      </a:r>
                    </a:p>
                  </a:txBody>
                  <a:tcPr marL="54864" marR="54864" marT="27432" marB="27432">
                    <a:solidFill>
                      <a:srgbClr val="FFFFFF"/>
                    </a:solidFill>
                  </a:tcPr>
                </a:tc>
                <a:tc>
                  <a:txBody>
                    <a:bodyPr/>
                    <a:lstStyle/>
                    <a:p>
                      <a:r>
                        <a:rPr sz="900" b="0">
                          <a:solidFill>
                            <a:srgbClr val="4B4B4B"/>
                          </a:solidFill>
                          <a:latin typeface="Arial"/>
                        </a:rPr>
                        <a:t>SCR-RN-02, SCR-RN-06, SCR-RN-08, SCR-RN-10, SCR-RN-13, SCR-RN-15</a:t>
                      </a:r>
                    </a:p>
                  </a:txBody>
                  <a:tcPr marL="54864" marR="54864" marT="27432" marB="27432">
                    <a:solidFill>
                      <a:srgbClr val="FFFFFF"/>
                    </a:solidFill>
                  </a:tcPr>
                </a:tc>
                <a:tc>
                  <a:txBody>
                    <a:bodyPr/>
                    <a:lstStyle/>
                    <a:p>
                      <a:r>
                        <a:rPr sz="900" b="0">
                          <a:solidFill>
                            <a:srgbClr val="4B4B4B"/>
                          </a:solidFill>
                          <a:latin typeface="Arial"/>
                        </a:rPr>
                        <a:t>The renewal lists hold many facts per row: related values share a column, one under the other (Risk / Insurance Company, Unit / Officer, Status / Classification, Gross Premium / Outstanding), so that every column is in view at 1440 pixels. The users who may not see amounts (Contact Center, LAMD) have no amount column.</a:t>
                      </a:r>
                    </a:p>
                  </a:txBody>
                  <a:tcPr marL="54864" marR="54864" marT="27432" marB="27432">
                    <a:solidFill>
                      <a:srgbClr val="FFFFFF"/>
                    </a:solidFill>
                  </a:tcPr>
                </a:tc>
                <a:tc>
                  <a:txBody>
                    <a:bodyPr/>
                    <a:lstStyle/>
                    <a:p>
                      <a:r>
                        <a:rPr sz="900" b="0">
                          <a:solidFill>
                            <a:srgbClr val="4B4B4B"/>
                          </a:solidFill>
                          <a:latin typeface="Arial"/>
                        </a:rPr>
                        <a:t>Confirm the stacked columns, or choose the columns to keep in view and move the others to the record.</a:t>
                      </a:r>
                    </a:p>
                  </a:txBody>
                  <a:tcPr marL="54864" marR="54864" marT="27432" marB="27432">
                    <a:solidFill>
                      <a:srgbClr val="FFFFFF"/>
                    </a:solidFill>
                  </a:tcPr>
                </a:tc>
              </a:tr>
              <a:tr h="502920">
                <a:tc>
                  <a:txBody>
                    <a:bodyPr/>
                    <a:lstStyle/>
                    <a:p>
                      <a:r>
                        <a:rPr sz="900" b="0">
                          <a:solidFill>
                            <a:srgbClr val="4B4B4B"/>
                          </a:solidFill>
                          <a:latin typeface="Arial"/>
                        </a:rPr>
                        <a:t>UX-RN-02</a:t>
                      </a:r>
                    </a:p>
                  </a:txBody>
                  <a:tcPr marL="54864" marR="54864" marT="27432" marB="27432">
                    <a:solidFill>
                      <a:srgbClr val="E5F5FF"/>
                    </a:solidFill>
                  </a:tcPr>
                </a:tc>
                <a:tc>
                  <a:txBody>
                    <a:bodyPr/>
                    <a:lstStyle/>
                    <a:p>
                      <a:r>
                        <a:rPr sz="900" b="0">
                          <a:solidFill>
                            <a:srgbClr val="4B4B4B"/>
                          </a:solidFill>
                          <a:latin typeface="Arial"/>
                        </a:rPr>
                        <a:t>SCR-RN-03</a:t>
                      </a:r>
                    </a:p>
                  </a:txBody>
                  <a:tcPr marL="54864" marR="54864" marT="27432" marB="27432">
                    <a:solidFill>
                      <a:srgbClr val="E5F5FF"/>
                    </a:solidFill>
                  </a:tcPr>
                </a:tc>
                <a:tc>
                  <a:txBody>
                    <a:bodyPr/>
                    <a:lstStyle/>
                    <a:p>
                      <a:r>
                        <a:rPr sz="900" b="0">
                          <a:solidFill>
                            <a:srgbClr val="4B4B4B"/>
                          </a:solidFill>
                          <a:latin typeface="Arial"/>
                        </a:rPr>
                        <a:t>The record page shows a step bar of 14 stages; the detours (Transfer Pending, the New Business path, Letter Pending) show apart from the main stages, and the labels of long stages wrap on two or three lines.</a:t>
                      </a:r>
                    </a:p>
                  </a:txBody>
                  <a:tcPr marL="54864" marR="54864" marT="27432" marB="27432">
                    <a:solidFill>
                      <a:srgbClr val="E5F5FF"/>
                    </a:solidFill>
                  </a:tcPr>
                </a:tc>
                <a:tc>
                  <a:txBody>
                    <a:bodyPr/>
                    <a:lstStyle/>
                    <a:p>
                      <a:r>
                        <a:rPr sz="900" b="0">
                          <a:solidFill>
                            <a:srgbClr val="4B4B4B"/>
                          </a:solidFill>
                          <a:latin typeface="Arial"/>
                        </a:rPr>
                        <a:t>Confirm the step bar, or shorten the stage labels shown on it.</a:t>
                      </a:r>
                    </a:p>
                  </a:txBody>
                  <a:tcPr marL="54864" marR="54864" marT="27432" marB="27432">
                    <a:solidFill>
                      <a:srgbClr val="E5F5FF"/>
                    </a:solidFill>
                  </a:tcPr>
                </a:tc>
              </a:tr>
              <a:tr h="502920">
                <a:tc>
                  <a:txBody>
                    <a:bodyPr/>
                    <a:lstStyle/>
                    <a:p>
                      <a:r>
                        <a:rPr sz="900" b="0">
                          <a:solidFill>
                            <a:srgbClr val="4B4B4B"/>
                          </a:solidFill>
                          <a:latin typeface="Arial"/>
                        </a:rPr>
                        <a:t>UX-RN-03</a:t>
                      </a:r>
                    </a:p>
                  </a:txBody>
                  <a:tcPr marL="54864" marR="54864" marT="27432" marB="27432">
                    <a:solidFill>
                      <a:srgbClr val="FFFFFF"/>
                    </a:solidFill>
                  </a:tcPr>
                </a:tc>
                <a:tc>
                  <a:txBody>
                    <a:bodyPr/>
                    <a:lstStyle/>
                    <a:p>
                      <a:r>
                        <a:rPr sz="900" b="0">
                          <a:solidFill>
                            <a:srgbClr val="4B4B4B"/>
                          </a:solidFill>
                          <a:latin typeface="Arial"/>
                        </a:rPr>
                        <a:t>SCR-RN-03, SCR-RN-04</a:t>
                      </a:r>
                    </a:p>
                  </a:txBody>
                  <a:tcPr marL="54864" marR="54864" marT="27432" marB="27432">
                    <a:solidFill>
                      <a:srgbClr val="FFFFFF"/>
                    </a:solidFill>
                  </a:tcPr>
                </a:tc>
                <a:tc>
                  <a:txBody>
                    <a:bodyPr/>
                    <a:lstStyle/>
                    <a:p>
                      <a:r>
                        <a:rPr sz="900" b="0">
                          <a:solidFill>
                            <a:srgbClr val="4B4B4B"/>
                          </a:solidFill>
                          <a:latin typeface="Arial"/>
                        </a:rPr>
                        <a:t>The record has nine tabs (Details, Checks, Account History, Computations, Insurer, Letters, Documents, Remarks &amp; Follow-ups, History) that wrap on two lines at 1440 pixels.</a:t>
                      </a:r>
                    </a:p>
                  </a:txBody>
                  <a:tcPr marL="54864" marR="54864" marT="27432" marB="27432">
                    <a:solidFill>
                      <a:srgbClr val="FFFFFF"/>
                    </a:solidFill>
                  </a:tcPr>
                </a:tc>
                <a:tc>
                  <a:txBody>
                    <a:bodyPr/>
                    <a:lstStyle/>
                    <a:p>
                      <a:r>
                        <a:rPr sz="900" b="0">
                          <a:solidFill>
                            <a:srgbClr val="4B4B4B"/>
                          </a:solidFill>
                          <a:latin typeface="Arial"/>
                        </a:rPr>
                        <a:t>Group the tabs (for example Insurer and Letters under Insurer &amp; Letters), or confirm the two lines.</a:t>
                      </a:r>
                    </a:p>
                  </a:txBody>
                  <a:tcPr marL="54864" marR="54864" marT="27432" marB="27432">
                    <a:solidFill>
                      <a:srgbClr val="FFFFFF"/>
                    </a:solidFill>
                  </a:tcPr>
                </a:tc>
              </a:tr>
              <a:tr h="365760">
                <a:tc>
                  <a:txBody>
                    <a:bodyPr/>
                    <a:lstStyle/>
                    <a:p>
                      <a:r>
                        <a:rPr sz="900" b="0">
                          <a:solidFill>
                            <a:srgbClr val="4B4B4B"/>
                          </a:solidFill>
                          <a:latin typeface="Arial"/>
                        </a:rPr>
                        <a:t>UX-RN-04</a:t>
                      </a:r>
                    </a:p>
                  </a:txBody>
                  <a:tcPr marL="54864" marR="54864" marT="27432" marB="27432">
                    <a:solidFill>
                      <a:srgbClr val="E5F5FF"/>
                    </a:solidFill>
                  </a:tcPr>
                </a:tc>
                <a:tc>
                  <a:txBody>
                    <a:bodyPr/>
                    <a:lstStyle/>
                    <a:p>
                      <a:r>
                        <a:rPr sz="900" b="0">
                          <a:solidFill>
                            <a:srgbClr val="4B4B4B"/>
                          </a:solidFill>
                          <a:latin typeface="Arial"/>
                        </a:rPr>
                        <a:t>SCR-RN-11</a:t>
                      </a:r>
                    </a:p>
                  </a:txBody>
                  <a:tcPr marL="54864" marR="54864" marT="27432" marB="27432">
                    <a:solidFill>
                      <a:srgbClr val="E5F5FF"/>
                    </a:solidFill>
                  </a:tcPr>
                </a:tc>
                <a:tc>
                  <a:txBody>
                    <a:bodyPr/>
                    <a:lstStyle/>
                    <a:p>
                      <a:r>
                        <a:rPr sz="900" b="0">
                          <a:solidFill>
                            <a:srgbClr val="4B4B4B"/>
                          </a:solidFill>
                          <a:latin typeface="Arial"/>
                        </a:rPr>
                        <a:t>The insurer batch shows the 28 columns of the insurer extract in a table that scrolls sideways (CLR-RN-25).</a:t>
                      </a:r>
                    </a:p>
                  </a:txBody>
                  <a:tcPr marL="54864" marR="54864" marT="27432" marB="27432">
                    <a:solidFill>
                      <a:srgbClr val="E5F5FF"/>
                    </a:solidFill>
                  </a:tcPr>
                </a:tc>
                <a:tc>
                  <a:txBody>
                    <a:bodyPr/>
                    <a:lstStyle/>
                    <a:p>
                      <a:r>
                        <a:rPr sz="900" b="0">
                          <a:solidFill>
                            <a:srgbClr val="4B4B4B"/>
                          </a:solidFill>
                          <a:latin typeface="Arial"/>
                        </a:rPr>
                        <a:t>Confirm the sideways scroll, or name the columns to keep on screen.</a:t>
                      </a:r>
                    </a:p>
                  </a:txBody>
                  <a:tcPr marL="54864" marR="54864" marT="27432" marB="27432">
                    <a:solidFill>
                      <a:srgbClr val="E5F5FF"/>
                    </a:solidFill>
                  </a:tcPr>
                </a:tc>
              </a:tr>
              <a:tr h="365760">
                <a:tc>
                  <a:txBody>
                    <a:bodyPr/>
                    <a:lstStyle/>
                    <a:p>
                      <a:r>
                        <a:rPr sz="900" b="0">
                          <a:solidFill>
                            <a:srgbClr val="4B4B4B"/>
                          </a:solidFill>
                          <a:latin typeface="Arial"/>
                        </a:rPr>
                        <a:t>UX-RN-05</a:t>
                      </a:r>
                    </a:p>
                  </a:txBody>
                  <a:tcPr marL="54864" marR="54864" marT="27432" marB="27432">
                    <a:solidFill>
                      <a:srgbClr val="FFFFFF"/>
                    </a:solidFill>
                  </a:tcPr>
                </a:tc>
                <a:tc>
                  <a:txBody>
                    <a:bodyPr/>
                    <a:lstStyle/>
                    <a:p>
                      <a:r>
                        <a:rPr sz="900" b="0">
                          <a:solidFill>
                            <a:srgbClr val="4B4B4B"/>
                          </a:solidFill>
                          <a:latin typeface="Arial"/>
                        </a:rPr>
                        <a:t>SCR-RN-17, SCR-RN-19</a:t>
                      </a:r>
                    </a:p>
                  </a:txBody>
                  <a:tcPr marL="54864" marR="54864" marT="27432" marB="27432">
                    <a:solidFill>
                      <a:srgbClr val="FFFFFF"/>
                    </a:solidFill>
                  </a:tcPr>
                </a:tc>
                <a:tc>
                  <a:txBody>
                    <a:bodyPr/>
                    <a:lstStyle/>
                    <a:p>
                      <a:r>
                        <a:rPr sz="900" b="0">
                          <a:solidFill>
                            <a:srgbClr val="4B4B4B"/>
                          </a:solidFill>
                          <a:latin typeface="Arial"/>
                        </a:rPr>
                        <a:t>The new non-renewable risk code and the package map take the risk code, the line of business and the legacy package as typed codes (CLR-RN-21).</a:t>
                      </a:r>
                    </a:p>
                  </a:txBody>
                  <a:tcPr marL="54864" marR="54864" marT="27432" marB="27432">
                    <a:solidFill>
                      <a:srgbClr val="FFFFFF"/>
                    </a:solidFill>
                  </a:tcPr>
                </a:tc>
                <a:tc>
                  <a:txBody>
                    <a:bodyPr/>
                    <a:lstStyle/>
                    <a:p>
                      <a:r>
                        <a:rPr sz="900" b="0">
                          <a:solidFill>
                            <a:srgbClr val="4B4B4B"/>
                          </a:solidFill>
                          <a:latin typeface="Arial"/>
                        </a:rPr>
                        <a:t>Offer the risk codes, lines and packages as drop-downs by name.</a:t>
                      </a:r>
                    </a:p>
                  </a:txBody>
                  <a:tcPr marL="54864" marR="54864" marT="27432" marB="27432">
                    <a:solidFill>
                      <a:srgbClr val="FFFFFF"/>
                    </a:solidFill>
                  </a:tcPr>
                </a:tc>
              </a:tr>
              <a:tr h="502920">
                <a:tc>
                  <a:txBody>
                    <a:bodyPr/>
                    <a:lstStyle/>
                    <a:p>
                      <a:r>
                        <a:rPr sz="900" b="0">
                          <a:solidFill>
                            <a:srgbClr val="4B4B4B"/>
                          </a:solidFill>
                          <a:latin typeface="Arial"/>
                        </a:rPr>
                        <a:t>UX-RN-06</a:t>
                      </a:r>
                    </a:p>
                  </a:txBody>
                  <a:tcPr marL="54864" marR="54864" marT="27432" marB="27432">
                    <a:solidFill>
                      <a:srgbClr val="E5F5FF"/>
                    </a:solidFill>
                  </a:tcPr>
                </a:tc>
                <a:tc>
                  <a:txBody>
                    <a:bodyPr/>
                    <a:lstStyle/>
                    <a:p>
                      <a:r>
                        <a:rPr sz="900" b="0">
                          <a:solidFill>
                            <a:srgbClr val="4B4B4B"/>
                          </a:solidFill>
                          <a:latin typeface="Arial"/>
                        </a:rPr>
                        <a:t>SCR-RN-01</a:t>
                      </a:r>
                    </a:p>
                  </a:txBody>
                  <a:tcPr marL="54864" marR="54864" marT="27432" marB="27432">
                    <a:solidFill>
                      <a:srgbClr val="E5F5FF"/>
                    </a:solidFill>
                  </a:tcPr>
                </a:tc>
                <a:tc>
                  <a:txBody>
                    <a:bodyPr/>
                    <a:lstStyle/>
                    <a:p>
                      <a:r>
                        <a:rPr sz="900" b="0">
                          <a:solidFill>
                            <a:srgbClr val="4B4B4B"/>
                          </a:solidFill>
                          <a:latin typeface="Arial"/>
                        </a:rPr>
                        <a:t>The Marketing and Processing users land on the New Business dashboard, the Contact Center and LAMD users on My Approvals; Renewal Home is one click away (CLR-RN-26).</a:t>
                      </a:r>
                    </a:p>
                  </a:txBody>
                  <a:tcPr marL="54864" marR="54864" marT="27432" marB="27432">
                    <a:solidFill>
                      <a:srgbClr val="E5F5FF"/>
                    </a:solidFill>
                  </a:tcPr>
                </a:tc>
                <a:tc>
                  <a:txBody>
                    <a:bodyPr/>
                    <a:lstStyle/>
                    <a:p>
                      <a:r>
                        <a:rPr sz="900" b="0">
                          <a:solidFill>
                            <a:srgbClr val="4B4B4B"/>
                          </a:solidFill>
                          <a:latin typeface="Arial"/>
                        </a:rPr>
                        <a:t>Land each Renewal persona on Renewal Home.</a:t>
                      </a:r>
                    </a:p>
                  </a:txBody>
                  <a:tcPr marL="54864" marR="54864" marT="27432" marB="27432">
                    <a:solidFill>
                      <a:srgbClr val="E5F5FF"/>
                    </a:solidFill>
                  </a:tcPr>
                </a:tc>
              </a:tr>
              <a:tr h="365760">
                <a:tc>
                  <a:txBody>
                    <a:bodyPr/>
                    <a:lstStyle/>
                    <a:p>
                      <a:r>
                        <a:rPr sz="900" b="0">
                          <a:solidFill>
                            <a:srgbClr val="4B4B4B"/>
                          </a:solidFill>
                          <a:latin typeface="Arial"/>
                        </a:rPr>
                        <a:t>UX-RN-07</a:t>
                      </a:r>
                    </a:p>
                  </a:txBody>
                  <a:tcPr marL="54864" marR="54864" marT="27432" marB="27432">
                    <a:solidFill>
                      <a:srgbClr val="FFFFFF"/>
                    </a:solidFill>
                  </a:tcPr>
                </a:tc>
                <a:tc>
                  <a:txBody>
                    <a:bodyPr/>
                    <a:lstStyle/>
                    <a:p>
                      <a:r>
                        <a:rPr sz="900" b="0">
                          <a:solidFill>
                            <a:srgbClr val="4B4B4B"/>
                          </a:solidFill>
                          <a:latin typeface="Arial"/>
                        </a:rPr>
                        <a:t>SCR-RN-14, SCR-RN-13</a:t>
                      </a:r>
                    </a:p>
                  </a:txBody>
                  <a:tcPr marL="54864" marR="54864" marT="27432" marB="27432">
                    <a:solidFill>
                      <a:srgbClr val="FFFFFF"/>
                    </a:solidFill>
                  </a:tcPr>
                </a:tc>
                <a:tc>
                  <a:txBody>
                    <a:bodyPr/>
                    <a:lstStyle/>
                    <a:p>
                      <a:r>
                        <a:rPr sz="900" b="0">
                          <a:solidFill>
                            <a:srgbClr val="4B4B4B"/>
                          </a:solidFill>
                          <a:latin typeface="Arial"/>
                        </a:rPr>
                        <a:t>A letter just sent shows Queued until the e-mail relay confirms it; the Letters tab then shows Sent with the time.</a:t>
                      </a:r>
                    </a:p>
                  </a:txBody>
                  <a:tcPr marL="54864" marR="54864" marT="27432" marB="27432">
                    <a:solidFill>
                      <a:srgbClr val="FFFFFF"/>
                    </a:solidFill>
                  </a:tcPr>
                </a:tc>
                <a:tc>
                  <a:txBody>
                    <a:bodyPr/>
                    <a:lstStyle/>
                    <a:p>
                      <a:r>
                        <a:rPr sz="900" b="0">
                          <a:solidFill>
                            <a:srgbClr val="4B4B4B"/>
                          </a:solidFill>
                          <a:latin typeface="Arial"/>
                        </a:rPr>
                        <a:t>Confirm the Queued status, or show Sending with the time of the request.</a:t>
                      </a:r>
                    </a:p>
                  </a:txBody>
                  <a:tcPr marL="54864" marR="54864" marT="27432" marB="27432">
                    <a:solidFill>
                      <a:srgbClr val="FFFF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BRD-6 Renewal</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SCR-RN-01</a:t>
                      </a:r>
                    </a:p>
                  </a:txBody>
                  <a:tcPr marL="54864" marR="54864" marT="27432" marB="27432">
                    <a:solidFill>
                      <a:srgbClr val="FFFFFF"/>
                    </a:solidFill>
                  </a:tcPr>
                </a:tc>
                <a:tc>
                  <a:txBody>
                    <a:bodyPr/>
                    <a:lstStyle/>
                    <a:p>
                      <a:r>
                        <a:rPr sz="850" b="0">
                          <a:solidFill>
                            <a:srgbClr val="4B4B4B"/>
                          </a:solidFill>
                          <a:latin typeface="Arial"/>
                        </a:rPr>
                        <a:t>Renewal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FR-RN-100, FR-RN-102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SCR-RN-02</a:t>
                      </a:r>
                    </a:p>
                  </a:txBody>
                  <a:tcPr marL="54864" marR="54864" marT="27432" marB="27432">
                    <a:solidFill>
                      <a:srgbClr val="E5F5FF"/>
                    </a:solidFill>
                  </a:tcPr>
                </a:tc>
                <a:tc>
                  <a:txBody>
                    <a:bodyPr/>
                    <a:lstStyle/>
                    <a:p>
                      <a:r>
                        <a:rPr sz="850" b="0">
                          <a:solidFill>
                            <a:srgbClr val="4B4B4B"/>
                          </a:solidFill>
                          <a:latin typeface="Arial"/>
                        </a:rPr>
                        <a:t>Expiry List</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FR-RN-010, FR-RN-011, FR-RN-012, FR-RN-013, FR-RN-014, FR-RN-015, FR-RN-030, FR-RN-031</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Default, Filled, Validation error, Success message, Empty list</a:t>
                      </a:r>
                    </a:p>
                  </a:txBody>
                  <a:tcPr marL="54864" marR="54864" marT="27432" marB="27432">
                    <a:solidFill>
                      <a:srgbClr val="E5F5FF"/>
                    </a:solidFill>
                  </a:tcPr>
                </a:tc>
              </a:tr>
              <a:tr h="220979">
                <a:tc>
                  <a:txBody>
                    <a:bodyPr/>
                    <a:lstStyle/>
                    <a:p>
                      <a:r>
                        <a:rPr sz="850" b="0">
                          <a:solidFill>
                            <a:srgbClr val="4B4B4B"/>
                          </a:solidFill>
                          <a:latin typeface="Arial"/>
                        </a:rPr>
                        <a:t>SCR-RN-03</a:t>
                      </a:r>
                    </a:p>
                  </a:txBody>
                  <a:tcPr marL="54864" marR="54864" marT="27432" marB="27432">
                    <a:solidFill>
                      <a:srgbClr val="FFFFFF"/>
                    </a:solidFill>
                  </a:tcPr>
                </a:tc>
                <a:tc>
                  <a:txBody>
                    <a:bodyPr/>
                    <a:lstStyle/>
                    <a:p>
                      <a:r>
                        <a:rPr sz="850" b="0">
                          <a:solidFill>
                            <a:srgbClr val="4B4B4B"/>
                          </a:solidFill>
                          <a:latin typeface="Arial"/>
                        </a:rPr>
                        <a:t>Renewal</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FR-RN-002, FR-RN-041, FR-RN-021, FR-RN-026</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350518">
                <a:tc>
                  <a:txBody>
                    <a:bodyPr/>
                    <a:lstStyle/>
                    <a:p>
                      <a:r>
                        <a:rPr sz="850" b="0">
                          <a:solidFill>
                            <a:srgbClr val="4B4B4B"/>
                          </a:solidFill>
                          <a:latin typeface="Arial"/>
                        </a:rPr>
                        <a:t>SCR-RN-04</a:t>
                      </a:r>
                    </a:p>
                  </a:txBody>
                  <a:tcPr marL="54864" marR="54864" marT="27432" marB="27432">
                    <a:solidFill>
                      <a:srgbClr val="E5F5FF"/>
                    </a:solidFill>
                  </a:tcPr>
                </a:tc>
                <a:tc>
                  <a:txBody>
                    <a:bodyPr/>
                    <a:lstStyle/>
                    <a:p>
                      <a:r>
                        <a:rPr sz="850" b="0">
                          <a:solidFill>
                            <a:srgbClr val="4B4B4B"/>
                          </a:solidFill>
                          <a:latin typeface="Arial"/>
                        </a:rPr>
                        <a:t>Renewal: Checks, Account History and Computations</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FR-RN-020, FR-RN-022, FR-RN-027, FR-RN-042, FR-RN-064</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Read-only or locked</a:t>
                      </a:r>
                    </a:p>
                  </a:txBody>
                  <a:tcPr marL="54864" marR="54864" marT="27432" marB="27432">
                    <a:solidFill>
                      <a:srgbClr val="E5F5FF"/>
                    </a:solidFill>
                  </a:tcPr>
                </a:tc>
              </a:tr>
              <a:tr h="350518">
                <a:tc>
                  <a:txBody>
                    <a:bodyPr/>
                    <a:lstStyle/>
                    <a:p>
                      <a:r>
                        <a:rPr sz="850" b="0">
                          <a:solidFill>
                            <a:srgbClr val="4B4B4B"/>
                          </a:solidFill>
                          <a:latin typeface="Arial"/>
                        </a:rPr>
                        <a:t>SCR-RN-05</a:t>
                      </a:r>
                    </a:p>
                  </a:txBody>
                  <a:tcPr marL="54864" marR="54864" marT="27432" marB="27432">
                    <a:solidFill>
                      <a:srgbClr val="FFFFFF"/>
                    </a:solidFill>
                  </a:tcPr>
                </a:tc>
                <a:tc>
                  <a:txBody>
                    <a:bodyPr/>
                    <a:lstStyle/>
                    <a:p>
                      <a:r>
                        <a:rPr sz="850" b="0">
                          <a:solidFill>
                            <a:srgbClr val="4B4B4B"/>
                          </a:solidFill>
                          <a:latin typeface="Arial"/>
                        </a:rPr>
                        <a:t>Renewal: Insurer, Letters, Documents, Remarks and History</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FR-RN-004, FR-RN-044, FR-RN-071, FR-RN-080, FR-RN-084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SCR-RN-06</a:t>
                      </a:r>
                    </a:p>
                  </a:txBody>
                  <a:tcPr marL="54864" marR="54864" marT="27432" marB="27432">
                    <a:solidFill>
                      <a:srgbClr val="E5F5FF"/>
                    </a:solidFill>
                  </a:tcPr>
                </a:tc>
                <a:tc>
                  <a:txBody>
                    <a:bodyPr/>
                    <a:lstStyle/>
                    <a:p>
                      <a:r>
                        <a:rPr sz="850" b="0">
                          <a:solidFill>
                            <a:srgbClr val="4B4B4B"/>
                          </a:solidFill>
                          <a:latin typeface="Arial"/>
                        </a:rPr>
                        <a:t>My Dispositions</a:t>
                      </a:r>
                    </a:p>
                  </a:txBody>
                  <a:tcPr marL="54864" marR="54864" marT="27432" marB="27432">
                    <a:solidFill>
                      <a:srgbClr val="E5F5FF"/>
                    </a:solidFill>
                  </a:tcPr>
                </a:tc>
                <a:tc>
                  <a:txBody>
                    <a:bodyPr/>
                    <a:lstStyle/>
                    <a:p>
                      <a:r>
                        <a:rPr sz="850" b="0">
                          <a:solidFill>
                            <a:srgbClr val="4B4B4B"/>
                          </a:solidFill>
                          <a:latin typeface="Arial"/>
                        </a:rPr>
                        <a:t>13.2.1</a:t>
                      </a:r>
                    </a:p>
                  </a:txBody>
                  <a:tcPr marL="54864" marR="54864" marT="27432" marB="27432">
                    <a:solidFill>
                      <a:srgbClr val="E5F5FF"/>
                    </a:solidFill>
                  </a:tcPr>
                </a:tc>
                <a:tc>
                  <a:txBody>
                    <a:bodyPr/>
                    <a:lstStyle/>
                    <a:p>
                      <a:r>
                        <a:rPr sz="850" b="0">
                          <a:solidFill>
                            <a:srgbClr val="4B4B4B"/>
                          </a:solidFill>
                          <a:latin typeface="Arial"/>
                        </a:rPr>
                        <a:t>FR-RN-040, FR-RN-045, FR-RN-046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SCR-RN-07</a:t>
                      </a:r>
                    </a:p>
                  </a:txBody>
                  <a:tcPr marL="54864" marR="54864" marT="27432" marB="27432">
                    <a:solidFill>
                      <a:srgbClr val="FFFFFF"/>
                    </a:solidFill>
                  </a:tcPr>
                </a:tc>
                <a:tc>
                  <a:txBody>
                    <a:bodyPr/>
                    <a:lstStyle/>
                    <a:p>
                      <a:r>
                        <a:rPr sz="850" b="0">
                          <a:solidFill>
                            <a:srgbClr val="4B4B4B"/>
                          </a:solidFill>
                          <a:latin typeface="Arial"/>
                        </a:rPr>
                        <a:t>Set Disposition, Add Remark and Re-open</a:t>
                      </a:r>
                    </a:p>
                  </a:txBody>
                  <a:tcPr marL="54864" marR="54864" marT="27432" marB="27432">
                    <a:solidFill>
                      <a:srgbClr val="FFFFFF"/>
                    </a:solidFill>
                  </a:tcPr>
                </a:tc>
                <a:tc>
                  <a:txBody>
                    <a:bodyPr/>
                    <a:lstStyle/>
                    <a:p>
                      <a:r>
                        <a:rPr sz="850" b="0">
                          <a:solidFill>
                            <a:srgbClr val="4B4B4B"/>
                          </a:solidFill>
                          <a:latin typeface="Arial"/>
                        </a:rPr>
                        <a:t>13.2.2</a:t>
                      </a:r>
                    </a:p>
                  </a:txBody>
                  <a:tcPr marL="54864" marR="54864" marT="27432" marB="27432">
                    <a:solidFill>
                      <a:srgbClr val="FFFFFF"/>
                    </a:solidFill>
                  </a:tcPr>
                </a:tc>
                <a:tc>
                  <a:txBody>
                    <a:bodyPr/>
                    <a:lstStyle/>
                    <a:p>
                      <a:r>
                        <a:rPr sz="850" b="0">
                          <a:solidFill>
                            <a:srgbClr val="4B4B4B"/>
                          </a:solidFill>
                          <a:latin typeface="Arial"/>
                        </a:rPr>
                        <a:t>FR-RN-042, FR-RN-043, FR-RN-044, FR-RN-047, FR-RN-048</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Filled, Validation error, Success message</a:t>
                      </a:r>
                    </a:p>
                  </a:txBody>
                  <a:tcPr marL="54864" marR="54864" marT="27432" marB="27432">
                    <a:solidFill>
                      <a:srgbClr val="FFFFFF"/>
                    </a:solidFill>
                  </a:tcPr>
                </a:tc>
              </a:tr>
              <a:tr h="350518">
                <a:tc>
                  <a:txBody>
                    <a:bodyPr/>
                    <a:lstStyle/>
                    <a:p>
                      <a:r>
                        <a:rPr sz="850" b="0">
                          <a:solidFill>
                            <a:srgbClr val="4B4B4B"/>
                          </a:solidFill>
                          <a:latin typeface="Arial"/>
                        </a:rPr>
                        <a:t>SCR-RN-08</a:t>
                      </a:r>
                    </a:p>
                  </a:txBody>
                  <a:tcPr marL="54864" marR="54864" marT="27432" marB="27432">
                    <a:solidFill>
                      <a:srgbClr val="E5F5FF"/>
                    </a:solidFill>
                  </a:tcPr>
                </a:tc>
                <a:tc>
                  <a:txBody>
                    <a:bodyPr/>
                    <a:lstStyle/>
                    <a:p>
                      <a:r>
                        <a:rPr sz="850" b="0">
                          <a:solidFill>
                            <a:srgbClr val="4B4B4B"/>
                          </a:solidFill>
                          <a:latin typeface="Arial"/>
                        </a:rPr>
                        <a:t>TL Review</a:t>
                      </a:r>
                    </a:p>
                  </a:txBody>
                  <a:tcPr marL="54864" marR="54864" marT="27432" marB="27432">
                    <a:solidFill>
                      <a:srgbClr val="E5F5FF"/>
                    </a:solidFill>
                  </a:tcPr>
                </a:tc>
                <a:tc>
                  <a:txBody>
                    <a:bodyPr/>
                    <a:lstStyle/>
                    <a:p>
                      <a:r>
                        <a:rPr sz="850" b="0">
                          <a:solidFill>
                            <a:srgbClr val="4B4B4B"/>
                          </a:solidFill>
                          <a:latin typeface="Arial"/>
                        </a:rPr>
                        <a:t>13.2.3</a:t>
                      </a:r>
                    </a:p>
                  </a:txBody>
                  <a:tcPr marL="54864" marR="54864" marT="27432" marB="27432">
                    <a:solidFill>
                      <a:srgbClr val="E5F5FF"/>
                    </a:solidFill>
                  </a:tcPr>
                </a:tc>
                <a:tc>
                  <a:txBody>
                    <a:bodyPr/>
                    <a:lstStyle/>
                    <a:p>
                      <a:r>
                        <a:rPr sz="850" b="0">
                          <a:solidFill>
                            <a:srgbClr val="4B4B4B"/>
                          </a:solidFill>
                          <a:latin typeface="Arial"/>
                        </a:rPr>
                        <a:t>FR-RN-050, FR-RN-051, FR-RN-023</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Filled, Validation error,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SCR-RN-09</a:t>
                      </a:r>
                    </a:p>
                  </a:txBody>
                  <a:tcPr marL="54864" marR="54864" marT="27432" marB="27432">
                    <a:solidFill>
                      <a:srgbClr val="FFFFFF"/>
                    </a:solidFill>
                  </a:tcPr>
                </a:tc>
                <a:tc>
                  <a:txBody>
                    <a:bodyPr/>
                    <a:lstStyle/>
                    <a:p>
                      <a:r>
                        <a:rPr sz="850" b="0">
                          <a:solidFill>
                            <a:srgbClr val="4B4B4B"/>
                          </a:solidFill>
                          <a:latin typeface="Arial"/>
                        </a:rPr>
                        <a:t>Transfers</a:t>
                      </a:r>
                    </a:p>
                  </a:txBody>
                  <a:tcPr marL="54864" marR="54864" marT="27432" marB="27432">
                    <a:solidFill>
                      <a:srgbClr val="FFFFFF"/>
                    </a:solidFill>
                  </a:tcPr>
                </a:tc>
                <a:tc>
                  <a:txBody>
                    <a:bodyPr/>
                    <a:lstStyle/>
                    <a:p>
                      <a:r>
                        <a:rPr sz="850" b="0">
                          <a:solidFill>
                            <a:srgbClr val="4B4B4B"/>
                          </a:solidFill>
                          <a:latin typeface="Arial"/>
                        </a:rPr>
                        <a:t>13.2.4</a:t>
                      </a:r>
                    </a:p>
                  </a:txBody>
                  <a:tcPr marL="54864" marR="54864" marT="27432" marB="27432">
                    <a:solidFill>
                      <a:srgbClr val="FFFFFF"/>
                    </a:solidFill>
                  </a:tcPr>
                </a:tc>
                <a:tc>
                  <a:txBody>
                    <a:bodyPr/>
                    <a:lstStyle/>
                    <a:p>
                      <a:r>
                        <a:rPr sz="850" b="0">
                          <a:solidFill>
                            <a:srgbClr val="4B4B4B"/>
                          </a:solidFill>
                          <a:latin typeface="Arial"/>
                        </a:rPr>
                        <a:t>FR-RN-031, FR-RN-032</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350518">
                <a:tc>
                  <a:txBody>
                    <a:bodyPr/>
                    <a:lstStyle/>
                    <a:p>
                      <a:r>
                        <a:rPr sz="850" b="0">
                          <a:solidFill>
                            <a:srgbClr val="4B4B4B"/>
                          </a:solidFill>
                          <a:latin typeface="Arial"/>
                        </a:rPr>
                        <a:t>SCR-RN-10</a:t>
                      </a:r>
                    </a:p>
                  </a:txBody>
                  <a:tcPr marL="54864" marR="54864" marT="27432" marB="27432">
                    <a:solidFill>
                      <a:srgbClr val="E5F5FF"/>
                    </a:solidFill>
                  </a:tcPr>
                </a:tc>
                <a:tc>
                  <a:txBody>
                    <a:bodyPr/>
                    <a:lstStyle/>
                    <a:p>
                      <a:r>
                        <a:rPr sz="850" b="0">
                          <a:solidFill>
                            <a:srgbClr val="4B4B4B"/>
                          </a:solidFill>
                          <a:latin typeface="Arial"/>
                        </a:rPr>
                        <a:t>Processing Worklist</a:t>
                      </a:r>
                    </a:p>
                  </a:txBody>
                  <a:tcPr marL="54864" marR="54864" marT="27432" marB="27432">
                    <a:solidFill>
                      <a:srgbClr val="E5F5FF"/>
                    </a:solidFill>
                  </a:tcPr>
                </a:tc>
                <a:tc>
                  <a:txBody>
                    <a:bodyPr/>
                    <a:lstStyle/>
                    <a:p>
                      <a:r>
                        <a:rPr sz="850" b="0">
                          <a:solidFill>
                            <a:srgbClr val="4B4B4B"/>
                          </a:solidFill>
                          <a:latin typeface="Arial"/>
                        </a:rPr>
                        <a:t>13.3.1</a:t>
                      </a:r>
                    </a:p>
                  </a:txBody>
                  <a:tcPr marL="54864" marR="54864" marT="27432" marB="27432">
                    <a:solidFill>
                      <a:srgbClr val="E5F5FF"/>
                    </a:solidFill>
                  </a:tcPr>
                </a:tc>
                <a:tc>
                  <a:txBody>
                    <a:bodyPr/>
                    <a:lstStyle/>
                    <a:p>
                      <a:r>
                        <a:rPr sz="850" b="0">
                          <a:solidFill>
                            <a:srgbClr val="4B4B4B"/>
                          </a:solidFill>
                          <a:latin typeface="Arial"/>
                        </a:rPr>
                        <a:t>FR-RN-060, FR-RN-061, FR-RN-062, FR-RN-063, FR-RN-065</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SCR-RN-11</a:t>
                      </a:r>
                    </a:p>
                  </a:txBody>
                  <a:tcPr marL="54864" marR="54864" marT="27432" marB="27432">
                    <a:solidFill>
                      <a:srgbClr val="FFFFFF"/>
                    </a:solidFill>
                  </a:tcPr>
                </a:tc>
                <a:tc>
                  <a:txBody>
                    <a:bodyPr/>
                    <a:lstStyle/>
                    <a:p>
                      <a:r>
                        <a:rPr sz="850" b="0">
                          <a:solidFill>
                            <a:srgbClr val="4B4B4B"/>
                          </a:solidFill>
                          <a:latin typeface="Arial"/>
                        </a:rPr>
                        <a:t>Insurer Batches</a:t>
                      </a:r>
                    </a:p>
                  </a:txBody>
                  <a:tcPr marL="54864" marR="54864" marT="27432" marB="27432">
                    <a:solidFill>
                      <a:srgbClr val="FFFFFF"/>
                    </a:solidFill>
                  </a:tcPr>
                </a:tc>
                <a:tc>
                  <a:txBody>
                    <a:bodyPr/>
                    <a:lstStyle/>
                    <a:p>
                      <a:r>
                        <a:rPr sz="850" b="0">
                          <a:solidFill>
                            <a:srgbClr val="4B4B4B"/>
                          </a:solidFill>
                          <a:latin typeface="Arial"/>
                        </a:rPr>
                        <a:t>13.3.2</a:t>
                      </a:r>
                    </a:p>
                  </a:txBody>
                  <a:tcPr marL="54864" marR="54864" marT="27432" marB="27432">
                    <a:solidFill>
                      <a:srgbClr val="FFFFFF"/>
                    </a:solidFill>
                  </a:tcPr>
                </a:tc>
                <a:tc>
                  <a:txBody>
                    <a:bodyPr/>
                    <a:lstStyle/>
                    <a:p>
                      <a:r>
                        <a:rPr sz="850" b="0">
                          <a:solidFill>
                            <a:srgbClr val="4B4B4B"/>
                          </a:solidFill>
                          <a:latin typeface="Arial"/>
                        </a:rPr>
                        <a:t>FR-RN-070, FR-RN-071</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SCR-RN-12</a:t>
                      </a:r>
                    </a:p>
                  </a:txBody>
                  <a:tcPr marL="54864" marR="54864" marT="27432" marB="27432">
                    <a:solidFill>
                      <a:srgbClr val="E5F5FF"/>
                    </a:solidFill>
                  </a:tcPr>
                </a:tc>
                <a:tc>
                  <a:txBody>
                    <a:bodyPr/>
                    <a:lstStyle/>
                    <a:p>
                      <a:r>
                        <a:rPr sz="850" b="0">
                          <a:solidFill>
                            <a:srgbClr val="4B4B4B"/>
                          </a:solidFill>
                          <a:latin typeface="Arial"/>
                        </a:rPr>
                        <a:t>Record Insurer Response</a:t>
                      </a:r>
                    </a:p>
                  </a:txBody>
                  <a:tcPr marL="54864" marR="54864" marT="27432" marB="27432">
                    <a:solidFill>
                      <a:srgbClr val="E5F5FF"/>
                    </a:solidFill>
                  </a:tcPr>
                </a:tc>
                <a:tc>
                  <a:txBody>
                    <a:bodyPr/>
                    <a:lstStyle/>
                    <a:p>
                      <a:r>
                        <a:rPr sz="850" b="0">
                          <a:solidFill>
                            <a:srgbClr val="4B4B4B"/>
                          </a:solidFill>
                          <a:latin typeface="Arial"/>
                        </a:rPr>
                        <a:t>13.3.3</a:t>
                      </a:r>
                    </a:p>
                  </a:txBody>
                  <a:tcPr marL="54864" marR="54864" marT="27432" marB="27432">
                    <a:solidFill>
                      <a:srgbClr val="E5F5FF"/>
                    </a:solidFill>
                  </a:tcPr>
                </a:tc>
                <a:tc>
                  <a:txBody>
                    <a:bodyPr/>
                    <a:lstStyle/>
                    <a:p>
                      <a:r>
                        <a:rPr sz="850" b="0">
                          <a:solidFill>
                            <a:srgbClr val="4B4B4B"/>
                          </a:solidFill>
                          <a:latin typeface="Arial"/>
                        </a:rPr>
                        <a:t>FR-RN-071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Success message</a:t>
                      </a:r>
                    </a:p>
                  </a:txBody>
                  <a:tcPr marL="54864" marR="54864" marT="27432" marB="27432">
                    <a:solidFill>
                      <a:srgbClr val="E5F5FF"/>
                    </a:solidFill>
                  </a:tcPr>
                </a:tc>
              </a:tr>
              <a:tr h="350518">
                <a:tc>
                  <a:txBody>
                    <a:bodyPr/>
                    <a:lstStyle/>
                    <a:p>
                      <a:r>
                        <a:rPr sz="850" b="0">
                          <a:solidFill>
                            <a:srgbClr val="4B4B4B"/>
                          </a:solidFill>
                          <a:latin typeface="Arial"/>
                        </a:rPr>
                        <a:t>SCR-RN-13</a:t>
                      </a:r>
                    </a:p>
                  </a:txBody>
                  <a:tcPr marL="54864" marR="54864" marT="27432" marB="27432">
                    <a:solidFill>
                      <a:srgbClr val="FFFFFF"/>
                    </a:solidFill>
                  </a:tcPr>
                </a:tc>
                <a:tc>
                  <a:txBody>
                    <a:bodyPr/>
                    <a:lstStyle/>
                    <a:p>
                      <a:r>
                        <a:rPr sz="850" b="0">
                          <a:solidFill>
                            <a:srgbClr val="4B4B4B"/>
                          </a:solidFill>
                          <a:latin typeface="Arial"/>
                        </a:rPr>
                        <a:t>Letters</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FR-RN-080, FR-RN-081, FR-RN-082, FR-RN-083, FR-RN-024</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SCR-RN-14</a:t>
                      </a:r>
                    </a:p>
                  </a:txBody>
                  <a:tcPr marL="54864" marR="54864" marT="27432" marB="27432">
                    <a:solidFill>
                      <a:srgbClr val="E5F5FF"/>
                    </a:solidFill>
                  </a:tcPr>
                </a:tc>
                <a:tc>
                  <a:txBody>
                    <a:bodyPr/>
                    <a:lstStyle/>
                    <a:p>
                      <a:r>
                        <a:rPr sz="850" b="0">
                          <a:solidFill>
                            <a:srgbClr val="4B4B4B"/>
                          </a:solidFill>
                          <a:latin typeface="Arial"/>
                        </a:rPr>
                        <a:t>Record Acceptance</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FR-RN-084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Success message</a:t>
                      </a:r>
                    </a:p>
                  </a:txBody>
                  <a:tcPr marL="54864" marR="54864" marT="27432" marB="27432">
                    <a:solidFill>
                      <a:srgbClr val="E5F5FF"/>
                    </a:solidFill>
                  </a:tcPr>
                </a:tc>
              </a:tr>
              <a:tr h="220979">
                <a:tc>
                  <a:txBody>
                    <a:bodyPr/>
                    <a:lstStyle/>
                    <a:p>
                      <a:r>
                        <a:rPr sz="850" b="0">
                          <a:solidFill>
                            <a:srgbClr val="4B4B4B"/>
                          </a:solidFill>
                          <a:latin typeface="Arial"/>
                        </a:rPr>
                        <a:t>SCR-RN-15</a:t>
                      </a:r>
                    </a:p>
                  </a:txBody>
                  <a:tcPr marL="54864" marR="54864" marT="27432" marB="27432">
                    <a:solidFill>
                      <a:srgbClr val="FFFFFF"/>
                    </a:solidFill>
                  </a:tcPr>
                </a:tc>
                <a:tc>
                  <a:txBody>
                    <a:bodyPr/>
                    <a:lstStyle/>
                    <a:p>
                      <a:r>
                        <a:rPr sz="850" b="0">
                          <a:solidFill>
                            <a:srgbClr val="4B4B4B"/>
                          </a:solidFill>
                          <a:latin typeface="Arial"/>
                        </a:rPr>
                        <a:t>Follow-ups</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FR-RN-083, FR-RN-085</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SCR-RN-16</a:t>
                      </a:r>
                    </a:p>
                  </a:txBody>
                  <a:tcPr marL="54864" marR="54864" marT="27432" marB="27432">
                    <a:solidFill>
                      <a:srgbClr val="E5F5FF"/>
                    </a:solidFill>
                  </a:tcPr>
                </a:tc>
                <a:tc>
                  <a:txBody>
                    <a:bodyPr/>
                    <a:lstStyle/>
                    <a:p>
                      <a:r>
                        <a:rPr sz="850" b="0">
                          <a:solidFill>
                            <a:srgbClr val="4B4B4B"/>
                          </a:solidFill>
                          <a:latin typeface="Arial"/>
                        </a:rPr>
                        <a:t>LAMD Reports</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FR-RN-025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SCR-RN-17</a:t>
                      </a:r>
                    </a:p>
                  </a:txBody>
                  <a:tcPr marL="54864" marR="54864" marT="27432" marB="27432">
                    <a:solidFill>
                      <a:srgbClr val="FFFFFF"/>
                    </a:solidFill>
                  </a:tcPr>
                </a:tc>
                <a:tc>
                  <a:txBody>
                    <a:bodyPr/>
                    <a:lstStyle/>
                    <a:p>
                      <a:r>
                        <a:rPr sz="850" b="0">
                          <a:solidFill>
                            <a:srgbClr val="4B4B4B"/>
                          </a:solidFill>
                          <a:latin typeface="Arial"/>
                        </a:rPr>
                        <a:t>Renewal Setup: Non-renewable Risk Codes and Checks</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FR-RN-020, FR-RN-024, FR-RN-112</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25880"/>
          <a:ext cx="11094412" cy="4366239"/>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SCR-RN-18</a:t>
                      </a:r>
                    </a:p>
                  </a:txBody>
                  <a:tcPr marL="54864" marR="54864" marT="27432" marB="27432">
                    <a:solidFill>
                      <a:srgbClr val="FFFFFF"/>
                    </a:solidFill>
                  </a:tcPr>
                </a:tc>
                <a:tc>
                  <a:txBody>
                    <a:bodyPr/>
                    <a:lstStyle/>
                    <a:p>
                      <a:r>
                        <a:rPr sz="850" b="0">
                          <a:solidFill>
                            <a:srgbClr val="4B4B4B"/>
                          </a:solidFill>
                          <a:latin typeface="Arial"/>
                        </a:rPr>
                        <a:t>Renewal Setup: Classification Rules and Decision Matrix</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FR-RN-022, FR-RN-023, FR-RN-112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SCR-RN-19</a:t>
                      </a:r>
                    </a:p>
                  </a:txBody>
                  <a:tcPr marL="54864" marR="54864" marT="27432" marB="27432">
                    <a:solidFill>
                      <a:srgbClr val="E5F5FF"/>
                    </a:solidFill>
                  </a:tcPr>
                </a:tc>
                <a:tc>
                  <a:txBody>
                    <a:bodyPr/>
                    <a:lstStyle/>
                    <a:p>
                      <a:r>
                        <a:rPr sz="850" b="0">
                          <a:solidFill>
                            <a:srgbClr val="4B4B4B"/>
                          </a:solidFill>
                          <a:latin typeface="Arial"/>
                        </a:rPr>
                        <a:t>Renewal Setup: Package Map, Package Choices and Propose Package</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FR-RN-028</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SCR-RN-20</a:t>
                      </a:r>
                    </a:p>
                  </a:txBody>
                  <a:tcPr marL="54864" marR="54864" marT="27432" marB="27432">
                    <a:solidFill>
                      <a:srgbClr val="FFFFFF"/>
                    </a:solidFill>
                  </a:tcPr>
                </a:tc>
                <a:tc>
                  <a:txBody>
                    <a:bodyPr/>
                    <a:lstStyle/>
                    <a:p>
                      <a:r>
                        <a:rPr sz="850" b="0">
                          <a:solidFill>
                            <a:srgbClr val="4B4B4B"/>
                          </a:solidFill>
                          <a:latin typeface="Arial"/>
                        </a:rPr>
                        <a:t>Renewal Setup: Go-live</a:t>
                      </a:r>
                    </a:p>
                  </a:txBody>
                  <a:tcPr marL="54864" marR="54864" marT="27432" marB="27432">
                    <a:solidFill>
                      <a:srgbClr val="FFFFFF"/>
                    </a:solidFill>
                  </a:tcPr>
                </a:tc>
                <a:tc>
                  <a:txBody>
                    <a:bodyPr/>
                    <a:lstStyle/>
                    <a:p>
                      <a:r>
                        <a:rPr sz="850" b="0">
                          <a:solidFill>
                            <a:srgbClr val="4B4B4B"/>
                          </a:solidFill>
                          <a:latin typeface="Arial"/>
                        </a:rPr>
                        <a:t>13.5.4</a:t>
                      </a:r>
                    </a:p>
                  </a:txBody>
                  <a:tcPr marL="54864" marR="54864" marT="27432" marB="27432">
                    <a:solidFill>
                      <a:srgbClr val="FFFFFF"/>
                    </a:solidFill>
                  </a:tcPr>
                </a:tc>
                <a:tc>
                  <a:txBody>
                    <a:bodyPr/>
                    <a:lstStyle/>
                    <a:p>
                      <a:r>
                        <a:rPr sz="850" b="0">
                          <a:solidFill>
                            <a:srgbClr val="4B4B4B"/>
                          </a:solidFill>
                          <a:latin typeface="Arial"/>
                        </a:rPr>
                        <a:t>FR-RN-016</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NAV-RN-01</a:t>
                      </a:r>
                    </a:p>
                  </a:txBody>
                  <a:tcPr marL="54864" marR="54864" marT="27432" marB="27432">
                    <a:solidFill>
                      <a:srgbClr val="E5F5FF"/>
                    </a:solidFill>
                  </a:tcPr>
                </a:tc>
                <a:tc>
                  <a:txBody>
                    <a:bodyPr/>
                    <a:lstStyle/>
                    <a:p>
                      <a:r>
                        <a:rPr sz="850" b="0">
                          <a:solidFill>
                            <a:srgbClr val="4B4B4B"/>
                          </a:solidFill>
                          <a:latin typeface="Arial"/>
                        </a:rPr>
                        <a:t>Landing page and menu: Marketing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NAV-RN-02</a:t>
                      </a:r>
                    </a:p>
                  </a:txBody>
                  <a:tcPr marL="54864" marR="54864" marT="27432" marB="27432">
                    <a:solidFill>
                      <a:srgbClr val="FFFFFF"/>
                    </a:solidFill>
                  </a:tcPr>
                </a:tc>
                <a:tc>
                  <a:txBody>
                    <a:bodyPr/>
                    <a:lstStyle/>
                    <a:p>
                      <a:r>
                        <a:rPr sz="850" b="0">
                          <a:solidFill>
                            <a:srgbClr val="4B4B4B"/>
                          </a:solidFill>
                          <a:latin typeface="Arial"/>
                        </a:rPr>
                        <a:t>Landing page and menu: Marketing Account Officer (Account Broker)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NAV-RN-03</a:t>
                      </a:r>
                    </a:p>
                  </a:txBody>
                  <a:tcPr marL="54864" marR="54864" marT="27432" marB="27432">
                    <a:solidFill>
                      <a:srgbClr val="E5F5FF"/>
                    </a:solidFill>
                  </a:tcPr>
                </a:tc>
                <a:tc>
                  <a:txBody>
                    <a:bodyPr/>
                    <a:lstStyle/>
                    <a:p>
                      <a:r>
                        <a:rPr sz="850" b="0">
                          <a:solidFill>
                            <a:srgbClr val="4B4B4B"/>
                          </a:solidFill>
                          <a:latin typeface="Arial"/>
                        </a:rPr>
                        <a:t>Landing page and menu: Processing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NAV-RN-04</a:t>
                      </a:r>
                    </a:p>
                  </a:txBody>
                  <a:tcPr marL="54864" marR="54864" marT="27432" marB="27432">
                    <a:solidFill>
                      <a:srgbClr val="FFFFFF"/>
                    </a:solidFill>
                  </a:tcPr>
                </a:tc>
                <a:tc>
                  <a:txBody>
                    <a:bodyPr/>
                    <a:lstStyle/>
                    <a:p>
                      <a:r>
                        <a:rPr sz="850" b="0">
                          <a:solidFill>
                            <a:srgbClr val="4B4B4B"/>
                          </a:solidFill>
                          <a:latin typeface="Arial"/>
                        </a:rPr>
                        <a:t>Landing page and menu: Processing Officer (Broker)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NAV-RN-05</a:t>
                      </a:r>
                    </a:p>
                  </a:txBody>
                  <a:tcPr marL="54864" marR="54864" marT="27432" marB="27432">
                    <a:solidFill>
                      <a:srgbClr val="E5F5FF"/>
                    </a:solidFill>
                  </a:tcPr>
                </a:tc>
                <a:tc>
                  <a:txBody>
                    <a:bodyPr/>
                    <a:lstStyle/>
                    <a:p>
                      <a:r>
                        <a:rPr sz="850" b="0">
                          <a:solidFill>
                            <a:srgbClr val="4B4B4B"/>
                          </a:solidFill>
                          <a:latin typeface="Arial"/>
                        </a:rPr>
                        <a:t>Landing page and menu: Contact Center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NAV-RN-06</a:t>
                      </a:r>
                    </a:p>
                  </a:txBody>
                  <a:tcPr marL="54864" marR="54864" marT="27432" marB="27432">
                    <a:solidFill>
                      <a:srgbClr val="FFFFFF"/>
                    </a:solidFill>
                  </a:tcPr>
                </a:tc>
                <a:tc>
                  <a:txBody>
                    <a:bodyPr/>
                    <a:lstStyle/>
                    <a:p>
                      <a:r>
                        <a:rPr sz="850" b="0">
                          <a:solidFill>
                            <a:srgbClr val="4B4B4B"/>
                          </a:solidFill>
                          <a:latin typeface="Arial"/>
                        </a:rPr>
                        <a:t>Landing page and menu: LAMD (loan status reports)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NAV-RN-07</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NAV-RN-08</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NAV-RN-09</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Renewal Advice (first and second notice)</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FR-RN-080, FR-RN-081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Not for Renewal Letter and No Advice Letter</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FR-RN-082, FR-RN-024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Insurer extract</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FR-RN-070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Expiry list download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FR-RN-014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Renewal account details</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FR-RN-041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BRD-6 Renewal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