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BRD-1 New Business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describes the system as built on the status date, not a design.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00 to 05 so they sort in reading order in the BRD folder. 00 Start Here is the short version of this deck; 02 FRS and 03 workbook carry the same rows; 04 and 05 are the test plan traced to the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28-Sep-2026).</a:t>
            </a:r>
          </a:p>
          <a:p>
            <a:r>
              <a:t>2. Kick-off and screen walkthrough on SIT: 4 sessions, 1 to 6-Oct-2026.</a:t>
            </a:r>
          </a:p>
          <a:p>
            <a:r>
              <a:t>3. Review with the workbook: 10 working days after the walkthroughs, until Fri 16-Oct-2026.</a:t>
            </a:r>
          </a:p>
          <a:p>
            <a:r>
              <a:t>4. Comments consolidated and a Q&amp;A session: 3 working days, Q&amp;A on Wed 21-Oct-2026.</a:t>
            </a:r>
          </a:p>
          <a:p>
            <a:r>
              <a:t>5. One revision cycle (v2.1): 2 working days, v2.1 on Fri 23-Oct-2026; check by the reviewers until Wed 28-Oct-2026.</a:t>
            </a:r>
          </a:p>
          <a:p>
            <a:r>
              <a:t>6. Sign-off meeting and signature: Fri 30-Oct-2026.</a:t>
            </a:r>
          </a:p>
          <a:p>
            <a:r>
              <a:t>7. Handover to development or build freeze: From Mon 2-Nov-2026.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This contract is part of the signed BRD-1 set. A later change in BRD-2, BRD-3, BRD-4, BRD-5, BRD-6, BRD-9, BRD-10, BRD-11, BRD-12 or BRD-13, or in an external interface, that changes what New Business takes or hands over as listed here is raised as a change request against this signed set through the Change Management Register, with its effort in man-days, before it is built.</a:t>
            </a:r>
          </a:p>
          <a:p>
            <a:r>
              <a:t>IC-01 BRD-3 Product Maintenance (In): Product lines, cover types and products with their flags (package, direct payment eligible, FFY eligible, multi-year and maximum term, mortgagee applicable, fleet)</a:t>
            </a:r>
          </a:p>
          <a:p>
            <a:r>
              <a:t>IC-02 BRD-3 Product Maintenance (In): Package versions with their rate scheme, rate exceptions approved for a transaction, rates and taxes, short-period table, motor limits</a:t>
            </a:r>
          </a:p>
          <a:p>
            <a:r>
              <a:t>IC-03 BRD-3 Product Maintenance (In): Field rules and mandatory documents per product, TSU routing rules, incentive criteria</a:t>
            </a:r>
          </a:p>
          <a:p>
            <a:r>
              <a:t>IC-04 BRD-10 Sanction Screening (Out): New clients, changes of a client's identity and accounts submitted to Processing</a:t>
            </a:r>
          </a:p>
          <a:p>
            <a:r>
              <a:t>IC-05 BRD-10 Sanction Screening (In): The client's risk profile set by screening and risk profiling (KYC risk rating) and the tags Politically exposed person and Watchlist review</a:t>
            </a:r>
          </a:p>
          <a:p>
            <a:r>
              <a:t>IC-06 BRD-11 User Access Maintenance (In): Users, roles, permissions and the persona menus; sign-in, password, lock-out and session rules; access requests and their approval</a:t>
            </a:r>
          </a:p>
          <a:p>
            <a:r>
              <a:t>IC-07 BRD-2 Operations (Out): Every booked invoice (booking, endorsement, cancellation) with its premium components, commission, DTIP, insurer shares and parties</a:t>
            </a:r>
          </a:p>
          <a:p>
            <a:r>
              <a:t>IC-08 BRD-2 Operations (In): Payment confirmations of Cashiering receipts for accounts awaiting payment</a:t>
            </a:r>
          </a:p>
          <a:p>
            <a:r>
              <a:t>IC-09 BRD-4 Collections (Out): Premium receivables of booked invoices (through the Operations invoice ledger) and the direct-payment accounts whose commission BDOI collects from the insurer</a:t>
            </a:r>
          </a:p>
          <a:p>
            <a:r>
              <a:t>IC-10 BRD-5 Accounting, Disbursement and ACSL (Out): The GL journal of each booking, endorsement and cancellation (event BROKER_BOOKING), the sub-ledger open items, service invoices and the cost center dimension</a:t>
            </a:r>
          </a:p>
          <a:p>
            <a:r>
              <a:t>IC-11 BRD-6 Renewal (Out): Booked New Business accounts, their policy years, FFY tag and expiry, as the source of renewal candidates</a:t>
            </a:r>
          </a:p>
          <a:p>
            <a:r>
              <a:t>IC-12 BRD-6 Renewal (In): Renewals that take the New Business path (For Quotation, For Proposal) and renewal accounts to place and book</a:t>
            </a:r>
          </a:p>
          <a:p>
            <a:r>
              <a:t>IC-13 BRD-9 Customer Servicing Facility (Out): Client master and contacts, accounts with ARN and PN numbers, loan application numbers, policy numbers and e-policies</a:t>
            </a:r>
          </a:p>
          <a:p>
            <a:r>
              <a:t>IC-14 BRD-12 Submitted Policies (Out): Placement and booking of the submitted policies converted to accounts</a:t>
            </a:r>
          </a:p>
          <a:p>
            <a:r>
              <a:t>IC-15 BRD-13 Data Migration (In): Legacy clients (C01-C03), accounts and policies, open invoices loaded into the New Business structures at cut-over</a:t>
            </a:r>
          </a:p>
          <a:p>
            <a:r>
              <a:t>IC-16 Insurers (external) (Out / In): Quotation slips, placement slips, hold cover requests and service invoices by e-mail; insurer terms, confirmations and e-policies received by e-mail and keyed in or uploaded</a:t>
            </a:r>
          </a:p>
          <a:p>
            <a:r>
              <a:t>IC-17 CLPC (BDO Unibank) (Out / In): CBG Fire billing file out; payment report back</a:t>
            </a:r>
          </a:p>
          <a:p>
            <a:r>
              <a:t>IC-18 HLS and other source systems (BDO Unibank) (In): Quotation requests and bulk quotations or accounts</a:t>
            </a:r>
          </a:p>
          <a:p>
            <a:r>
              <a:t>IC-19 Clients and mortgagee banks (external) (Out): Quotations, proposals, e-policies and Insurance Advices by e-mail, password protected, with the password in a separate e-mail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build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Business is already built: handover means the build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 The as-built refresh at the end of the build re-issues the set with the system as delivered.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Thu 1-Oct-2026</a:t>
            </a:r>
          </a:p>
          <a:p>
            <a:r>
              <a:t>Workbooks returned by Fri 16-Oct-2026; Q&amp;A on Wed 21-Oct-2026; sign-off on Fri 30-Oct-2026</a:t>
            </a:r>
          </a:p>
          <a:p>
            <a:r>
              <a:t>Next release sets: BRD-3 Product Maintenance and BRD-11 User Access (Nov 2026), then BRD-10, 12, 6, 9, then BRD-2, 4, 5,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BRD-1 New Business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BRD-1 New Business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27 September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New Business as built in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46 screens, 470 fields, 109 business rules, 498 messages, from the system as built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01_BIBS_GuideDeck_BRD-01_New_Business_v2.0.pptx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46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area; Finance, Compliance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03_BIBS_Signoff_BRD-01_New_Business_v2.0.xlsx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04_BIBS_TestPlan_BRD-01_New_Business_v2.0.xlsx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05_BIBS_TestPlan_BRD-01_New_Business_Summary_v2.0.docx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Owner, Head of MBS)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 and 20 (sign-off);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users (Marketing, TSU, Processing)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12 (navigation) and the screens of your area in chapter 13; walkthroughs in chapter 14; messages in chapter 15; workbook Screen standards, Screen catalogue, Field register, Business rules and Messages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Finance (Comptrollership)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Booking requirements (chapter 4) and generated documents (chapter 17: service invoice); walkthrough A steps 16-17; cross-BRD contract with Operations, Collections and Accounting (chapter 19); workbook Business rules of the booking screens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Client onboarding and KYC screens (SCR-NB-01 to 04); sanction screening lines of the contract (chapter 19); retention rules; messages of the client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menu by persona (chapter 12), cross-BRD contract (chapter 19); integrations pending specifications (Guide deck, caveats)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BRD-01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4 sessions, 1 to 6-Oct-2026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16-Oct-2026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defect,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21-Oct-2026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23-Oct-2026; check by the reviewers until Wed 28-Oct-2026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30-Oct-2026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Handover to development or build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Build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2-Nov-2026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 built from the system as built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BRD-01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 and 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 sessions, 1 to 6-Oct-2026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unit; A: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16-Oct-2026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defect,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21-Oct-2026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defects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23-Oct-2026; check by the reviewers until Wed 28-Oct-2026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unit heads, 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30-Oct-2026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Handover to development or build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Build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2-Nov-2026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8" cy="1732166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pic>
        <p:nvPicPr>
          <p:cNvPr id="9" name="Picture 8" descr="brd01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616" y="1325880"/>
            <a:ext cx="6490463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BRD-1 process from the client to the booked invoice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Account Officer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TL / TH / UH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E-policy Sender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epol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Administrator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badmin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pic>
        <p:nvPicPr>
          <p:cNvPr id="9" name="Picture 8" descr="scr-nb-01-01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043" y="1325880"/>
            <a:ext cx="2601241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Clients work list</a:t>
            </a:r>
          </a:p>
        </p:txBody>
      </p:sp>
      <p:pic>
        <p:nvPicPr>
          <p:cNvPr id="11" name="Picture 10" descr="wt-a-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260" y="1325880"/>
            <a:ext cx="2731540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Quotation converted into an account</a:t>
            </a:r>
          </a:p>
        </p:txBody>
      </p:sp>
      <p:pic>
        <p:nvPicPr>
          <p:cNvPr id="13" name="Picture 12" descr="scr-nb-18-01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2547" y="3566160"/>
            <a:ext cx="2382233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Placement Workbench</a:t>
            </a:r>
          </a:p>
        </p:txBody>
      </p:sp>
      <p:pic>
        <p:nvPicPr>
          <p:cNvPr id="15" name="Picture 14" descr="wt-a-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1352" y="3566160"/>
            <a:ext cx="1613357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Booked invoice with its journal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prospect needs only its type and name; the KYC documents and minimum fields are needed before the KYC is submitted, and a second user verifies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Clients are checked for duplicates on TIN, ID and name with birth date (blocking) and on e-mail, mobile and corporate name (warning).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quotation or PRF is approved by someone other than its maker; a quotation is sent only once approved and still valid.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account needs a confirmed client; Processing validates it only when every mandatory field and document of the product is there.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risk is insured on one live account only (vehicle identifiers; client, location and item for property).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Placement needs the payment gate open: CLPC payment matched for CBG Fire, payment or client confirmation for the other lines, or the direct-payment tag.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Booking posts the journal (receivable, payable to the insurer, commission) and the service invoice; cancellations and endorsements follow the same rules.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Bulk uploads validate every row before anything is saved; rejected rows come back in the error file.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109 rules on the Business rules sheet and 498 messages in chapter 15 and on the Messages sheet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brd01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29" y="1325880"/>
            <a:ext cx="7344237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New Business takes from and hands to the other BRDs and systems (FRS chapter 19)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Maintenance, Sanction Screening, User Access, Operations, Collections, Accounting, Renewal, CSF, Submitted Policies, Data Migration and the Core Replacement can change what New Business takes or hands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cross-BRD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HLS, CLPC transport, insurer SFTP or API, directory sign-in and the mail relay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Built with a manual or file-based step now; the interface is a change request once the specification arrives.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(product matrix, approval chain, document layouts, TSU thresholds and others) are built on the assumptions of section 10.1.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KYC risk rating on the Clients list: a new column, so a change request; asking which statuses the list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mandatory field to a product: the account field rules change; the affected screen specification pages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CLPC billing is a download and an upload today; an automatic transfer is added when the CLPC layout and transport are agreed.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approval chain is one approval stage; a two-level chain for large premiums, once BDOI states the limits, is a change request.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set is built from the system as built and every screenshot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unit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the business owner and by Finance, Compliance and BDOI IT for their parts.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Build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Handover to development: build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lists of values, parameters, document templates, products,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New Business objects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New Business is already built: handover means the build is frozen as signed and the approved deltas are scheduled.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of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Head, Marketing Business Services and System Support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Coordinates the units' review; first signatory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Marketing, TSU, Processing, Comptrollership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and sign their parts (booking and accounting, KYC and screening, interfaces and access)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Project Services, BDO Unibank ESG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Traceability to the BRD;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Thu 1-Oct-2026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16-Oct-2026; Q&amp;A on Wed 21-Oct-2026; sign-off on Fri 30-Oct-2026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Next release sets: BRD-3 Product Maintenance and BRD-11 User Access (Nov 2026), then BRD-10, 12, 6, 9, then BRD-2, 4, 5,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BRD-1 New Business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