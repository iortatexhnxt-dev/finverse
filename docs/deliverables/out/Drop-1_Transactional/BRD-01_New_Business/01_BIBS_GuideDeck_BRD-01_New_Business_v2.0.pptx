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BRD-1 New Business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shows the screens, fields, rules and messages the business is asked to confirm.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00 to 05 so they sort in reading order in the BRD folder. 00 Start Here is the short version of this deck; 02 FRS and 03 workbook carry the same rows; 04 and 05 are the test plan traced to the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(Mon 28-Sep-2026).</a:t>
            </a:r>
          </a:p>
          <a:p>
            <a:r>
              <a:t>2. Kick-off and screen walkthrough on SIT: 4 sessions, 1 to 6-Oct-2026.</a:t>
            </a:r>
          </a:p>
          <a:p>
            <a:r>
              <a:t>3. Review with the workbook: 10 working days after the walkthroughs, until Fri 16-Oct-2026.</a:t>
            </a:r>
          </a:p>
          <a:p>
            <a:r>
              <a:t>4. Comments consolidated and a Q&amp;A session: 3 working days, Q&amp;A on Wed 21-Oct-2026.</a:t>
            </a:r>
          </a:p>
          <a:p>
            <a:r>
              <a:t>5. One revision cycle (v2.1): 2 working days, v2.1 on Fri 23-Oct-2026; check by the reviewers until Wed 28-Oct-2026.</a:t>
            </a:r>
          </a:p>
          <a:p>
            <a:r>
              <a:t>6. Sign-off meeting and signature: Fri 30-Oct-2026.</a:t>
            </a:r>
          </a:p>
          <a:p>
            <a:r>
              <a:t>7. Content freeze: From Mon 2-Nov-2026.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(BRD-1 approval sheets: Fire and Motor BRD ID consolidation p.128-129; Workshop Addendum p.22 (copy p.44)).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(BRD-1 approval sheets: Fire and Motor BRD ID consolidation p.128-129; Workshop Addendum p.22 (copy p.44)).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certificate sheet of the workbook lists the same signatories in the same order: prepared by, input provided by, reviewed by, approved by, as on the BRD approval sheet. A role the set adds to the approval sheet is marked there.</a:t>
            </a:r>
          </a:p>
          <a:p>
            <a:r>
              <a:t>iorta TechNXT project team: Project Manager, Business Analysis, test lead: Added for this set (author of the FRS set).</a:t>
            </a:r>
          </a:p>
          <a:p>
            <a:r>
              <a:t>Business Analyst, Enterprise Services Group - Business Project Services (BPS): Prepared by (p.128).</a:t>
            </a:r>
          </a:p>
          <a:p>
            <a:r>
              <a:t>Marketing Business Services and System Support (MBS), BU representatives: p.128; reviewer of the Workshop Addendum (p.22).</a:t>
            </a:r>
          </a:p>
          <a:p>
            <a:r>
              <a:t>Technical Support Unit (TSU), BU representatives: Added for this set (BU input named in the BRD revision log).</a:t>
            </a:r>
          </a:p>
          <a:p>
            <a:r>
              <a:t>Program Manager, Enterprise Services Group - Business Project Services (BPS): Reviewed by (p.22); Approved by (p.129).</a:t>
            </a:r>
          </a:p>
          <a:p>
            <a:r>
              <a:t>BDOI Information Technology Group (BDOI IT): Reviewed by (p.128).</a:t>
            </a:r>
          </a:p>
          <a:p>
            <a:r>
              <a:t>Compliance Officer: Added for this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certificate sheet of the workbook lists the same signatories in the same order: prepared by, input provided by, reviewed by, approved by, as on the BRD approval sheet. A role the set adds to the approval sheet is marked there.</a:t>
            </a:r>
          </a:p>
          <a:p>
            <a:r>
              <a:t>Product Owner, Marketing Business System: Approved by (p.129, p.22).</a:t>
            </a:r>
          </a:p>
          <a:p>
            <a:r>
              <a:t>Unit Head - Processing: Approved by (p.22).</a:t>
            </a:r>
          </a:p>
          <a:p>
            <a:r>
              <a:t>Unit Head - Combank and Corbank: Approved by (p.129, p.22).</a:t>
            </a:r>
          </a:p>
          <a:p>
            <a:r>
              <a:t>Head - Retail Marketing: Approved by (p.129, p.22).</a:t>
            </a:r>
          </a:p>
          <a:p>
            <a:r>
              <a:t>Head of Institutional Banking, SM and BDO Accounts: Approved by (p.129).</a:t>
            </a:r>
          </a:p>
          <a:p>
            <a:r>
              <a:t>Head - Comptrollership: Approved by (p.129).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FRS, or the column number of a load template.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This contract is part of the signed BRD-1 set. A later change in BRD-2, BRD-3, BRD-4, BRD-5, BRD-6, BRD-9, BRD-10, BRD-11, BRD-12 or BRD-13, or in an external interface, that changes what New Business takes or hands over as listed here is raised as a change request against this signed set through the Change Management Register, with its effort in man-days, before it is delivered.</a:t>
            </a:r>
          </a:p>
          <a:p>
            <a:r>
              <a:t>IC-01 BRD-3 Product Maintenance (In): Product lines, cover types and products with their flags (package, direct payment eligible, FFY eligible, multi-year and maximum term, mortgagee applicable, fleet)</a:t>
            </a:r>
          </a:p>
          <a:p>
            <a:r>
              <a:t>IC-02 BRD-3 Product Maintenance (In): Package versions with their rate scheme, rate exceptions approved for a transaction, rates and taxes, short-period table, motor limits</a:t>
            </a:r>
          </a:p>
          <a:p>
            <a:r>
              <a:t>IC-03 BRD-3 Product Maintenance (In): Field rules and mandatory documents per product, TSU routing rules, incentive criteria</a:t>
            </a:r>
          </a:p>
          <a:p>
            <a:r>
              <a:t>IC-04 BRD-10 Sanction Screening (Out): New clients, changes of a client's identity and accounts submitted to Processing</a:t>
            </a:r>
          </a:p>
          <a:p>
            <a:r>
              <a:t>IC-05 BRD-10 Sanction Screening (In): The client's risk profile set by screening and risk profiling (KYC risk rating) and the tags Politically exposed person and Watchlist review</a:t>
            </a:r>
          </a:p>
          <a:p>
            <a:r>
              <a:t>IC-06 BRD-11 User Access Maintenance (In): Users, roles, permissions and the persona menus; sign-in, password, lock-out and session rules; access requests and their approval</a:t>
            </a:r>
          </a:p>
          <a:p>
            <a:r>
              <a:t>IC-07 BRD-2 Operations (Out): Every booked invoice (booking, endorsement, cancellation) with its premium components, commission, DTIP, insurer shares and parties</a:t>
            </a:r>
          </a:p>
          <a:p>
            <a:r>
              <a:t>IC-08 BRD-2 Operations (In): Payment confirmations of Cashiering receipts for accounts awaiting payment</a:t>
            </a:r>
          </a:p>
          <a:p>
            <a:r>
              <a:t>IC-09 BRD-4 Collections (Out): Premium receivables of booked invoices (through the Operations invoice ledger) and the direct-payment accounts whose commission BDOI collects from the insurer</a:t>
            </a:r>
          </a:p>
          <a:p>
            <a:r>
              <a:t>IC-10 BRD-5 Accounting, Disbursement and ACSL (Out): The GL journal of each booking, endorsement and cancellation (event BROKER_BOOKING), the sub-ledger open items, service invoices and the cost center dimension</a:t>
            </a:r>
          </a:p>
          <a:p>
            <a:r>
              <a:t>IC-11 BRD-6 Renewal (Out): Booked New Business accounts, their policy years, FFY tag and expiry, as the source of renewal candidates</a:t>
            </a:r>
          </a:p>
          <a:p>
            <a:r>
              <a:t>IC-12 BRD-6 Renewal (In): Renewals that take the New Business path (For Quotation, For Proposal) and renewal accounts to place and book</a:t>
            </a:r>
          </a:p>
          <a:p>
            <a:r>
              <a:t>IC-13 BRD-9 Customer Servicing Facility (Out): Client master and contacts, accounts with ARN and PN numbers, loan application numbers, policy numbers and e-policies</a:t>
            </a:r>
          </a:p>
          <a:p>
            <a:r>
              <a:t>IC-14 BRD-12 Submitted Policies (Out): Placement and booking of the submitted policies converted to accounts</a:t>
            </a:r>
          </a:p>
          <a:p>
            <a:r>
              <a:t>IC-15 BRD-13 Data Migration (In): Legacy clients (C01-C03), accounts and policies, open invoices loaded into the New Business structures at cut-over</a:t>
            </a:r>
          </a:p>
          <a:p>
            <a:r>
              <a:t>IC-16 Insurers (external) (Out / In): Quotation slips, placement slips, hold cover requests and service invoices by e-mail; insurer terms, confirmations and e-policies received by e-mail and keyed in or uploaded</a:t>
            </a:r>
          </a:p>
          <a:p>
            <a:r>
              <a:t>IC-17 CLPC (BDO Unibank) (Out / In): CBG Fire billing file out; payment report back</a:t>
            </a:r>
          </a:p>
          <a:p>
            <a:r>
              <a:t>IC-18 HLS and other source systems (BDO Unibank) (In): Quotation requests and bulk quotations or accounts</a:t>
            </a:r>
          </a:p>
          <a:p>
            <a:r>
              <a:t>IC-19 Clients and mortgagee banks (external) (Out): Quotations, proposals, e-policies and Insurance Advices by e-mail, password protected, with the password in a separate e-mail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content of the set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sign-off the content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Thu 1-Oct-2026</a:t>
            </a:r>
          </a:p>
          <a:p>
            <a:r>
              <a:t>Workbooks returned by Fri 16-Oct-2026; Q&amp;A on Wed 21-Oct-2026; sign-off on Fri 30-Oct-2026</a:t>
            </a:r>
          </a:p>
          <a:p>
            <a:r>
              <a:t>Next release sets: BRD-3 Product Maintenance and BRD-11 User Access (Nov 2026), then BRD-10, 12, 6, 9, then BRD-2, 4, 5,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BRD-1 New Business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BRD-1 New Business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27 September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the proposed New Business of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46 screens, 471 fields, 109 business rules, 527 messages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01_BIBS_GuideDeck_BRD-01_New_Business_v2.0.pptx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46 screen specifications with screenshots, walkthroughs, messages, notifications, documents, uploads,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of each area; Finance, Compliance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03_BIBS_Signoff_BRD-01_New_Business_v2.0.xlsx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04_BIBS_TestPlan_BRD-01_New_Business_v2.0.xlsx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05_BIBS_TestPlan_BRD-01_New_Business_Summary_v2.0.docx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Owner, Head of MBS)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(walkthroughs), 20 (sign-off) and 21 (proposed rules for confirmation);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users (Marketing, TSU, Processing)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12 (navigation) and the screens of your area in chapter 13; walkthroughs in chapter 14; messages in chapter 15; workbook Screen standards, Screen catalogue, Field register, Business rules and Messages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Finance (Comptrollership)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Booking requirements (chapter 4) and generated documents (chapter 17: service invoice); walkthrough A steps 16-17; cross-BRD contract with Operations, Collections and Accounting (chapter 19); workbook Business rules of the booking screens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Compliance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Client onboarding and KYC screens (SCR-NB-01 to 04); sanction screening lines of the contract (chapter 19); retention rules; messages of the client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menu by persona (chapter 12), cross-BRD contract (chapter 19); integrations pending specifications (Guide deck, caveats)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BRD-01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(Mon 28-Sep-2026)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4 sessions, 1 to 6-Oct-2026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Fri 16-Oct-2026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correction,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Wed 21-Oct-2026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Fri 23-Oct-2026; check by the reviewers until Wed 28-Oct-2026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Fri 30-Oct-2026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Content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Content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Mon 2-Nov-2026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BRD-01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(Mon 28-Sep-2026)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unit heads; I: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A, B and 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 sessions, 1 to 6-Oct-2026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business users of each unit; A: unit heads;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Fri 16-Oct-2026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correction,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Wed 21-Oct-2026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corrections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Fri 23-Oct-2026; check by the reviewers until Wed 28-Oct-2026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unit heads, 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Fri 30-Oct-2026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Content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Content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Mon 2-Nov-2026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Screens and fields (FRS screen specifications; workbook Screen catalogue, Field register)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UH Processing, UH Combank and Corbank, Head Retail Marketing, Head Institutional Banking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rules and validations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TSU, BA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Compliance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UH Processing, UH Combank and Corbank, Head Retail Marketing, Head Institutional Banking, Head Comptrollership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Messages and notifications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Documents and reports (slips, advices, service invoices, reports)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UH Processing, Head Comptrollership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Walkthroughs (end-to-end, screen by screen)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Proposed business rules and clarifications for confirmation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BA (BPS), MBS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Interfaces, user access and menus by persona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Test plan (04 workbook, 05 summary)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Technical Specification (separate document, not part of the business sign-off)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signatories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2967"/>
                <a:gridCol w="4050341"/>
                <a:gridCol w="5371105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Confirms by signing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team: Project Manager, Business Analysis, test lead (iorta TechNXT)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is complete and consistent as issued, traced to the BRD and to the screens; every comment is answered in the comments log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Analyst, Enterprise Services Group - Business Project Services (BPS) (BDO Unibank ESG)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states the BRD requirements as written; every departure is listed in the proposed rules and clarifications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Input provided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Marketing Business Services and System Support (MBS), BU representatives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screens, fields, rules and messages of New Business match the business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Input provided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Technical Support Unit (TSU), BU representatives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PRF, quotation slip, insurer terms and proposal slip screens match the business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Manager, Enterprise Services Group - Business Project Services (BPS) (BDO Unibank ESG)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Traceability of every BRD requirement to the set and completeness of the 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Information Technology Group (BDOI IT)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Interfaces, user access and menus, and the Technical Specification (a separate document); not the business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Compliance Officer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KYC, the screening hand-off and record retention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signatories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2967"/>
                <a:gridCol w="4050341"/>
                <a:gridCol w="5371105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Confirms by signing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Marketing Business System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Owns the set and approves all of its contents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Unit Head - Processing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Payment, placement, issuance and booking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Unit Head - Combank and Corbank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Clients, quotations, PRFs and accounts of Combank and Corbank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Head - Retail Marketing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Clients, quotations and accounts of Retail Marketing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Head of Institutional Banking, SM and BDO Accounts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Clients, quotations and accounts of the institutional accounts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Head - Comptrollership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Booking entries, service invoices and the hand-off to Accounting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9" cy="168049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brd01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0616" y="1325880"/>
            <a:ext cx="6490463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BRD-1 process from the client to the booked invoice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Account Officer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TL / TH / UH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Technical Support Unit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 Team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E-policy Sender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epol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Administrator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badmin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Bulk Processing,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Bulk Processing,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pic>
        <p:nvPicPr>
          <p:cNvPr id="9" name="Picture 8" descr="scr-nb-01-01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445" y="1325880"/>
            <a:ext cx="2492436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Clients work list</a:t>
            </a:r>
          </a:p>
        </p:txBody>
      </p:sp>
      <p:pic>
        <p:nvPicPr>
          <p:cNvPr id="11" name="Picture 10" descr="wt-a-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4793" y="1325880"/>
            <a:ext cx="2606475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Quotation converted into an account</a:t>
            </a:r>
          </a:p>
        </p:txBody>
      </p:sp>
      <p:pic>
        <p:nvPicPr>
          <p:cNvPr id="13" name="Picture 12" descr="scr-nb-18-01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6872" y="3566160"/>
            <a:ext cx="1753583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Placement Workbench</a:t>
            </a:r>
          </a:p>
        </p:txBody>
      </p:sp>
      <p:pic>
        <p:nvPicPr>
          <p:cNvPr id="15" name="Picture 14" descr="wt-a-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3719" y="3566160"/>
            <a:ext cx="2588622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Booked invoice with its journal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prospect needs only its type and name; the KYC documents and minimum fields are needed before the KYC is submitted, and a second user verifies 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Clients are checked for duplicates on TIN, ID and name with birth date (blocking) and on e-mail, mobile and corporate name (warning).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quotation or PRF is approved by someone other than its maker; a quotation is sent only once approved and still valid.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account needs a confirmed client; Processing validates it only when every mandatory field and document of the product is there.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risk is insured on one live account only (vehicle identifiers; client, location and item for property).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Placement needs the payment gate open: CLPC payment matched for CBG Fire, payment or client confirmation for the other lines, or the direct-payment tag.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Booking posts the journal (receivable, payable to the insurer, commission) and the service invoice; cancellations and endorsements follow the same rules.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Bulk uploads validate every row before anything is saved; rejected rows come back in the error file.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109 rules on the Business rules sheet and 527 messages in FRS chapter 15 and on the Messages sheet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pic>
        <p:nvPicPr>
          <p:cNvPr id="9" name="Picture 8" descr="brd01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29" y="1325880"/>
            <a:ext cx="7344237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New Business takes from and hands to the other BRDs and systems (FRS chapter 19)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 Maintenance, Sanction Screening, User Access, Operations, Collections, Accounting, Renewal, CSF, Submitted Policies, Data Migration and the Core Replacement can change what New Business takes or hands over.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cross-BRD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HLS, CLPC transport, electronic channels to insurers (file transfer or system-to-system), directory sign-in and the mail relay depend on specifications from BDOI IT.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 manual or file-based step until the specification arrives; the interface is then a change request.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(product matrix, approval chain, document layouts, TSU thresholds and others) follow the assumptions of section 10.1; chapter 21 lists the proposed rules for confirmation.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KYC risk rating on the Clients list: a new column, so a change request; asking which statuses the list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BRD-3 adds a mandatory field to a product: the account field rules change; the affected screen specification pages are re-issued and signed as a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CLPC billing is a download and an upload today; an automatic transfer is added when the CLPC layout and transport are agreed.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The approval chain is one approval stage; a two-level chain for large premiums, once BDOI states the limits, is a change request.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screenshot of the set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unit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every signatory of the Who signs what matrix: prepared, input, reviewed and approved as on the BRD approval sheet; the Product Owner approves the whole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Content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After sign-off: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lists of values, parameters, document templates, products,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New Business objects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After sign-off the content is frozen as signed and the approved deltas are scheduled.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Input provider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Business Services and System Support (MBS); TSU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Coordinates the units' review; signs for the business input (BRD approval sheet: input)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Marketing, TSU, Processing, Comptrollership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 approves booking and accounting; Compliance reviews KYC and screening; BDOI IT reviews interfaces, access and the Technical Specification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Project Services, BDO Unibank ESG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Analyst: the BRD as written; Program Manager: traceability and completeness;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Thu 1-Oct-2026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Fri 16-Oct-2026; Q&amp;A on Wed 21-Oct-2026; sign-off on Fri 30-Oct-2026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Next release sets: BRD-3 Product Maintenance and BRD-11 User Access (Nov 2026), then BRD-10, 12, 6, 9, then BRD-2, 4, 5,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BRD-1 New Business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