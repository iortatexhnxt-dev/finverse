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guides the business units through the BRD-1 New Business sign-off pack, release set v2.0. It explains what the pack is, how to read it, the steps up to sign-off and what happens after. It is presented at the kick-off and stays in the pack as file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pack shows the screens, fields, rules and messages the business is asked to confirm.</a:t>
            </a:r>
          </a:p>
          <a:p>
            <a:r>
              <a:t>Signing means: this is what we get; the look, feel, fields, rules, messages and navigation are frozen.</a:t>
            </a:r>
          </a:p>
          <a:p>
            <a:r>
              <a:t>Data on the screenshots is seed data of the SIT environment; names and numbers are fictitious.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needs to read the whole FRS. Each role starts with its chapters and its sheets of the workbook; the walkthroughs in chapter 14 are the fastest way to see the whole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 issued: Day 0 (Mon 28-Sep-2026).</a:t>
            </a:r>
          </a:p>
          <a:p>
            <a:r>
              <a:t>2. Kick-off and screen walkthrough on SIT: 4 sessions, 1 to 6-Oct-2026.</a:t>
            </a:r>
          </a:p>
          <a:p>
            <a:r>
              <a:t>3. Review with the workbook: 10 working days after the walkthroughs, until Fri 16-Oct-2026.</a:t>
            </a:r>
          </a:p>
          <a:p>
            <a:r>
              <a:t>4. Comments consolidated and a Q&amp;A session: 3 working days, Q&amp;A on Wed 21-Oct-2026.</a:t>
            </a:r>
          </a:p>
          <a:p>
            <a:r>
              <a:t>5. One revision cycle (v2.1): 2 working days, v2.1 on Fri 23-Oct-2026; check by the reviewers until Wed 28-Oct-2026.</a:t>
            </a:r>
          </a:p>
          <a:p>
            <a:r>
              <a:t>6. Sign-off meeting and signature: Fri 30-Oct-2026.</a:t>
            </a:r>
          </a:p>
          <a:p>
            <a:r>
              <a:t>7. Content freeze: From Mon 2-Nov-2026.</a:t>
            </a:r>
          </a:p>
          <a:p>
            <a:r>
              <a:t>8. Traceability into SIT and UAT: SIT Jan - Jul 2027; UAT Aug - Dec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(BRD-1 approval sheets: Fire and Motor BRD ID consolidation p.128-129; Workshop Addendum p.22 (copy p.44)).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(BRD-1 approval sheets: Fire and Motor BRD ID consolidation p.128-129; Workshop Addendum p.22 (copy p.44)).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iorta TechNXT project team: Project Manager, Business Analysis, test lead: Added for this set (author of the FRS set).</a:t>
            </a:r>
          </a:p>
          <a:p>
            <a:r>
              <a:t>Business Analyst, Enterprise Services Group - Business Project Services (BPS): Prepared by (p.128).</a:t>
            </a:r>
          </a:p>
          <a:p>
            <a:r>
              <a:t>Marketing Business Services and System Support (MBS), BU representatives: p.128; reviewer of the Workshop Addendum (p.22).</a:t>
            </a:r>
          </a:p>
          <a:p>
            <a:r>
              <a:t>Technical Support Unit (TSU), BU representatives: Added for this set (BU input named in the BRD revision log).</a:t>
            </a:r>
          </a:p>
          <a:p>
            <a:r>
              <a:t>Program Manager, Enterprise Services Group - Business Project Services (BPS): Reviewed by (p.22); Approved by (p.129).</a:t>
            </a:r>
          </a:p>
          <a:p>
            <a:r>
              <a:t>BDOI Information Technology Group (BDOI IT): Reviewed by (p.128).</a:t>
            </a:r>
          </a:p>
          <a:p>
            <a:r>
              <a:t>Compliance Officer: Added for this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Product Owner, Marketing Business System: Approved by (p.129, p.22).</a:t>
            </a:r>
          </a:p>
          <a:p>
            <a:r>
              <a:t>Unit Head - Processing: Approved by (p.22).</a:t>
            </a:r>
          </a:p>
          <a:p>
            <a:r>
              <a:t>Unit Head - Combank and Corbank: Approved by (p.129, p.22).</a:t>
            </a:r>
          </a:p>
          <a:p>
            <a:r>
              <a:t>Head - Retail Marketing: Approved by (p.129, p.22).</a:t>
            </a:r>
          </a:p>
          <a:p>
            <a:r>
              <a:t>Head of Institutional Banking, SM and BDO Accounts: Approved by (p.129).</a:t>
            </a:r>
          </a:p>
          <a:p>
            <a:r>
              <a:t>Head - Comptrollership: Approved by (p.129).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No. column is the numbered marker on the screenshot of the FRS, or the column number of a load template. The drop-down columns accept only the listed values. The Comments log, Meeting minutes and Version history sheets are kept by the project team; the Sign-off certificate is signed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runs from client onboarding and KYC, through the quotation or the PRF, the account, payment and placement, issuance and booking, to the hand-off to Operations and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sees only the menu entries of its role; the full menu of each persona is in FRS chapter 12 and on the Menu by persona sheet of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SIT environment with seed data; every screen of the module is in FRS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the business units ask about most. Each rule is stated with its FR on the screen where it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is part of the signed set. This contract is part of the signed BRD-1 set. A later change in BRD-2, BRD-3, BRD-4, BRD-5, BRD-6, BRD-9, BRD-10, BRD-11, BRD-12 or BRD-13, or in an external interface, that changes what New Business takes or hands over as listed here is raised as a change request against this signed set through the Change Management Register, with its effort in man-days, before it is delivered.</a:t>
            </a:r>
          </a:p>
          <a:p>
            <a:r>
              <a:t>IC-01 BRD-3 Product Maintenance (In): Product lines, cover types and products with their flags (package, direct payment eligible, FFY eligible, multi-year and maximum term, mortgagee applicable, fleet)</a:t>
            </a:r>
          </a:p>
          <a:p>
            <a:r>
              <a:t>IC-02 BRD-3 Product Maintenance (In): Package versions with their rate scheme, rate exceptions approved for a transaction, rates and taxes, short-period table, motor limits</a:t>
            </a:r>
          </a:p>
          <a:p>
            <a:r>
              <a:t>IC-03 BRD-3 Product Maintenance (In): Field rules and mandatory documents per product, TSU routing rules, incentive criteria</a:t>
            </a:r>
          </a:p>
          <a:p>
            <a:r>
              <a:t>IC-04 BRD-10 Sanction Screening (Out): New clients, changes of a client's identity and accounts submitted to Processing</a:t>
            </a:r>
          </a:p>
          <a:p>
            <a:r>
              <a:t>IC-05 BRD-10 Sanction Screening (In): The client's risk profile set by screening and risk profiling (KYC risk rating) and the tags Politically exposed person and Watchlist review</a:t>
            </a:r>
          </a:p>
          <a:p>
            <a:r>
              <a:t>IC-06 BRD-11 User Access Maintenance (In): Users, roles, permissions and the persona menus; sign-in, password, lock-out and session rules; access requests and their approval</a:t>
            </a:r>
          </a:p>
          <a:p>
            <a:r>
              <a:t>IC-07 BRD-2 Operations (Out): Every booked invoice (booking, endorsement, cancellation) with its premium components, commission, DTIP, insurer shares and parties</a:t>
            </a:r>
          </a:p>
          <a:p>
            <a:r>
              <a:t>IC-08 BRD-2 Operations (In): Payment confirmations of Cashiering receipts for accounts awaiting payment</a:t>
            </a:r>
          </a:p>
          <a:p>
            <a:r>
              <a:t>IC-09 BRD-4 Collections (Out): Premium receivables of booked invoices (through the Operations invoice ledger) and the direct-payment accounts whose commission BDOI collects from the insurer</a:t>
            </a:r>
          </a:p>
          <a:p>
            <a:r>
              <a:t>IC-10 BRD-5 Accounting, Disbursement and ACSL (Out): The GL journal of each booking, endorsement and cancellation (event BROKER_BOOKING), the sub-ledger open items, service invoices and the cost center dimension</a:t>
            </a:r>
          </a:p>
          <a:p>
            <a:r>
              <a:t>IC-11 BRD-6 Renewal (Out): Booked New Business accounts, their policy years, FFY tag and expiry, as the source of renewal candidates</a:t>
            </a:r>
          </a:p>
          <a:p>
            <a:r>
              <a:t>IC-12 BRD-6 Renewal (In): Renewals that take the New Business path (For Quotation, For Proposal) and renewal accounts to place and book</a:t>
            </a:r>
          </a:p>
          <a:p>
            <a:r>
              <a:t>IC-13 BRD-9 Customer Servicing Facility (Out): Client master and contacts, accounts with ARN and PN numbers, loan application numbers, policy numbers and e-policies</a:t>
            </a:r>
          </a:p>
          <a:p>
            <a:r>
              <a:t>IC-14 BRD-12 Submitted Policies (Out): Placement and booking of the submitted policies converted to accounts</a:t>
            </a:r>
          </a:p>
          <a:p>
            <a:r>
              <a:t>IC-15 BRD-13 Data Migration (In): Legacy clients (C01-C03), accounts and policies, open invoices loaded into the New Business structures at cut-over</a:t>
            </a:r>
          </a:p>
          <a:p>
            <a:r>
              <a:t>IC-16 Insurers (external) (Out / In): Quotation slips, placement slips, hold cover requests and service invoices by e-mail; insurer terms, confirmations and e-policies received by e-mail and keyed in or uploaded</a:t>
            </a:r>
          </a:p>
          <a:p>
            <a:r>
              <a:t>IC-17 CLPC (BDO Unibank) (Out / In): CBG Fire billing file out; payment report back</a:t>
            </a:r>
          </a:p>
          <a:p>
            <a:r>
              <a:t>IC-18 HLS and other source systems (BDO Unibank) (In): Quotation requests and bulk quotations or accounts</a:t>
            </a:r>
          </a:p>
          <a:p>
            <a:r>
              <a:t>IC-19 Clients and mortgagee banks (external) (Out): Quotations, proposals, e-policies and Insurance Advices by e-mail, password protected, with the password in a separate e-mail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handle a case: an in-scope clarification (no change to the signed set, answered in the comments log); a change request with mandays in the Change Management Register; a delta sign-off of the affected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examples to agree the handling of a case during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sign-off meeting starts when the exit criteria are met; the set is done when the certificate is signed and the content of the set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sign-off the content is frozen as signed and the approved deltas are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a signed set changes without a request in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Kick-off and first SIT walkthrough on Thu 1-Oct-2026</a:t>
            </a:r>
          </a:p>
          <a:p>
            <a:r>
              <a:t>Workbooks returned by Fri 16-Oct-2026; Q&amp;A on Wed 21-Oct-2026; sign-off on Fri 30-Oct-2026</a:t>
            </a:r>
          </a:p>
          <a:p>
            <a:r>
              <a:t>Next release sets: BRD-3 Product Maintenance and BRD-11 User Access (Nov 2026), then BRD-10, 12, 6, 9, then BRD-2, 4, 5, then BRD-13, then BRD-7 and BRD-8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other BRD sets follow the same pack, guide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26080" cy="59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0058400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 i="0">
                <a:solidFill>
                  <a:srgbClr val="004EA8"/>
                </a:solidFill>
                <a:latin typeface="Arial"/>
              </a:rPr>
              <a:t>Sign-off Pack Guide: BRD-1 New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2011680" cy="508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 i="0">
                <a:solidFill>
                  <a:srgbClr val="2E2E2E"/>
                </a:solidFill>
                <a:latin typeface="Arial"/>
              </a:rPr>
              <a:t>BRD-1 New Business business sign-off pack, release set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 i="0">
                <a:solidFill>
                  <a:srgbClr val="656565"/>
                </a:solidFill>
                <a:latin typeface="Arial"/>
              </a:rPr>
              <a:t>BIBS – BDOI Broker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 i="0">
                <a:solidFill>
                  <a:srgbClr val="656565"/>
                </a:solidFill>
                <a:latin typeface="Arial"/>
              </a:rPr>
              <a:t>BDO Insurance and Reinsurance Brokers, Inc. | Version 2.0 | 1 October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58978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 i="0">
                <a:solidFill>
                  <a:srgbClr val="656565"/>
                </a:solidFill>
                <a:latin typeface="Arial"/>
              </a:rPr>
              <a:t>Prepared by</a:t>
            </a:r>
          </a:p>
        </p:txBody>
      </p:sp>
      <p:pic>
        <p:nvPicPr>
          <p:cNvPr id="9" name="Picture 8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806440"/>
            <a:ext cx="1371600" cy="40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Purpose of the pack and what sign-off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pack shows the proposed New Business of BIBS, screen by screen, so each business unit confirms what it will get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Content: 46 screens, 472 fields, 109 business rules, 526 messages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Every screen with numbered fields, the navigation per persona, three end-to-end walkthroughs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Signing freezes the content, the screens and the navigation of the module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After sign-off a change goes through the Change Management Register with its mandays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Configuration values marked default (SLA hours, thresholds, list entries, templates) stay open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screenshots use fictitious seed data only, in the BDO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00_BIBS_StartHere_BRD-01_New_Business_v2.0.docx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Start Here: the map of the pack, who reads what, the steps and the 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First, on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01_BIBS_GuideDeck_BRD-01_New_Business_v2.0.pptx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Pack Guide: purpose, approach, the module at a glance, caveats, entry and exit criteria, change control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unit heads; presented at the kick-off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Kick-off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02_BIBS_FRS_BRD-01_New_Business_v2.0.docx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Functional Requirements Specification v2.0: requirements, navigation, 46 screen specifications with screenshots, walkthroughs, messages, notifications, documents, uploads, cross-BRD contract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of each area; Finance, Compliance and BDOI IT for their chapters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review, with the SIT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03_BIBS_Signoff_BRD-01_New_Business_v2.0.xlsx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workbook: one row per screen, field, rule and message with the BU review columns; comments log, meeting minutes, version history, sign-off certificate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reviewer; the business owner signs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 and at sign-off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04_BIBS_TestPlan_BRD-01_New_Business_v2.0.xlsx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workbook: the test cases traced to the FRs and to the screens, including one screen case and one message case per screen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who will run UAT;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After the screens; used again in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05_BIBS_TestPlan_BRD-01_New_Business_Summary_v2.0.docx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summary: scope, approach, coverage and the cases by area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Before sign-off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07_BIBS_UXDeck_BRD-01_New_Business_v2.0.pptx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Deck for the BDOI UX Design team: design foundation, navigation and personas, every walkthrough step by step and every screen with all its states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the issue, in parallel with the review; re-issued with each version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08_BIBS_UXScreens_BRD-01_New_Business_v2.0.xlsx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register: one row per screen image with the screen, personas, walkthrough and step, state, FRS section and requirements, UXD status and comments, and the Changed in this issue flag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Kept by the UX Design team; the changed rows are flagged at each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09_BIBS_UXScreens_BRD-01_New_Business_v2.0.zip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Image package: every screen image at twice the screen resolution (PNG) and the register as CSV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Imported into the design tool at each issue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Where to start: reading order per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7104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Read, in this order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owner (Product Owner, Head of MBS)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00 Start Here; 01 Guide deck; FRS chapters 1-3 (context and personas), 14 (walkthroughs), 20 (sign-off) and 21 (proposed rules for confirmation); workbook Sign-off certificate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users (Marketing, TSU, Processing)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12 (navigation) and the screens of your area in chapter 13; walkthroughs in chapter 14; messages in chapter 15; workbook Screen standards, Screen catalogue, Field register, Business rules and Messages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Finance (Comptrollership)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Booking requirements (chapter 4) and generated documents (chapter 17: service invoice); walkthrough A steps 16-17; cross-BRD contract with Operations, Collections and Accounting (chapter 19); workbook Business rules of the booking screens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Compliance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Client onboarding and KYC screens (SCR-NB-01 to 04); sanction screening lines of the contract (chapter 19); retention rules; messages of the client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Interfaces and integration (chapter 7), non-functional requirements (chapter 8), menu by persona (chapter 12), cross-BRD contract (chapter 19); integrations pending specifications (Guide deck, caveats)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07 UX Screen Deck: design foundation and navigation first, then the personas, walkthroughs and screens of the design work; 08 UX screen register (filter Changed in this issue at each new issue); 09 image package in the design tool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All documents; keeps the comments log, the meeting minutes and the version history of the workbook, answers every comment and keeps the traceability to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Approach: from issue to 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Pack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v2.0 in the BRD-01 folder; invitations to the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Day 0 (Mon 28-Sep-2026)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7641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841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041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Kick-off and screen walkthrough on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841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Screens shown live; first questions logged in the comments log;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4 sessions, 1 to 6-Oct-2026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4115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1587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1315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Review with the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Every row marked Accept, Change requested or Comment; comments log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10 working days after the walkthroughs, until Fri 16-Oct-2026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0589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8061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7789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989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Comments consolidated and a Q&amp;A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7789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One consolidated comments log, each item typed (clarification, correction, change request) and answered; Q&amp;A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789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working days, Q&amp;A on Wed 21-Oct-2026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One revision cycle (v2.1)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v2.1 with the changed rows marked; change requests raised for the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2 working days, v2.1 on Fri 23-Oct-2026; check by the reviewers until Wed 28-Oct-2026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7641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5113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34841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2041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Sign-off meeting and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4841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Signed sign-off certificate; minutes; open items accepted as assumptions or change 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841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Fri 30-Oct-2026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54115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1587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1315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8515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Content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Content frozen as signed; approved deltas scheduled in the Change Management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1315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From Mon 2-Nov-2026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30589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78061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87789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4989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Traceability into SIT and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7789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SIT and UAT runs traced to the signed screens, rules and messages; results against each 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7789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SIT Jan - Jul 2027; UAT Aug - Dec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(1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1. Pack issued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iorta TechNXT delivery lead; I: all 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v2.0, workbook, test plan, guide and deck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v2.0 in the BRD-01 folder; invitations to the sessions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Day 0 (Mon 28-Sep-2026)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2. Kick-off and screen walkthrough on SIT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BDOI Product Owner; C: unit heads; I: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Guide deck; SIT users with seed data; walkthroughs A, B and 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Screens shown live; first questions logged in the comments log;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 sessions, 1 to 6-Oct-2026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3. Review with the workbook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business users of each unit; A: unit heads; C: iorta TechNXT (questions)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chapters of the area; workbook sheets with the BU review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row marked Accept, Change requested or Comment; comments log entries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 working days after the walkthroughs, until Fri 16-Oct-2026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4. Comments consolidated and a Q&amp;A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 and Business Analysis; A: BDOI Product Owner; C: 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Returned workbooks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One consolidated comments log, each item typed (clarification, correction, change request) and answered; Q&amp;A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working days, Q&amp;A on Wed 21-Oct-2026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(2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5. One revision cycle (v2.1)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iorta TechNXT delivery lead; C: reviewers who raised the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Agreed clarifications and corrections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v2.1 with the changed rows marked; change requests raised for the 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 working days, v2.1 on Fri 23-Oct-2026; check by the reviewers until Wed 28-Oct-2026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6. Sign-off meeting and signature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BDOI Product Owner; C: unit heads, Finance, Compliance,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v2.1 (or v2.0 when no revision is needed); open items with their decision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sign-off certificate; minutes; open items accepted as assumptions or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Fri 30-Oct-2026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7. Content freeze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delivery lead; A: BDOI Product Owner; I: BDOI IT, other BRD owners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set; change requests with mandays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Content frozen as signed; approved deltas scheduled in the Change Management Register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Mon 2-Nov-2026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8. Traceability into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test lead; A: BDOI Product Owner; C: business users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FRS rows and test plan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and UAT runs traced to the signed screens, rules and messages; results against each row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Jan - Jul 2027; UAT Aug - Dec 2027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Screens and fields (FRS screen specifications; workbook Screen catalogue, Field 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UH Processing, UH Combank and Corbank, Head Retail Marketing, Head Institutional Banking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rules and validations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TSU, BA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Compliance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UH Processing, UH Combank and Corbank, Head Retail Marketing, Head Institutional Banking, Head 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Messages and notifications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Documents and reports (slips, advices, service invoices, reports)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UH Processing, Head 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Walkthroughs (end-to-end, screen by screen)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Proposed business rules and clarifications for confirmation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(BPS), MBS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Interfaces, user access and menus by persona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Test plan (04 workbook, 05 summary)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MBS, 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Specification (separate document, not part of the business sign-off)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team: Project Manager, Business Analysis, test lead (iorta TechNXT)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is complete and consistent as issued, traced to the BRD and to the screens; every comment is answered in the comments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Analyst, Enterprise Services Group - Business Project Services (BPS)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states the BRD requirements as written; every departure is listed in the proposed rules and clarifications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Marketing Business Services and System Support (MBS), BU representatives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screens, fields, rules and messages of New Business match the business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Support Unit (TSU), BU representatives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PRF, quotation slip, insurer terms and proposal slip screens match the business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Manager, Enterprise Services Group - Business Project Services (BPS) (BDO Unibank ESG)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Traceability of every BRD requirement to the set and completeness of the 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Information Technology Group (BDOI IT)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Interfaces, user access and menus, and the Technical Specification (a separate document); not the business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Compliance Officer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KYC, the screening hand-off and record retention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Marketing Business System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Owns the set and approves all of its contents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Unit Head - Processing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Payment, placement, issuance and booking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Unit Head - Combank and Corbank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Clients, quotations, PRFs and accounts of Combank and Corbank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- Retail Marketing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Clients, quotations and accounts of Retail Marketing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of Institutional Banking, SM and BDO Accounts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Clients, quotations and accounts of the institutional accounts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- Comptrollership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Booking entries, service invoices and the hand-off to Accounting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How to fill in the sign-off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signoff-workbook-fiel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498079" cy="168049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74980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Field register sheet of the sign-off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1325880"/>
            <a:ext cx="3322016" cy="484632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39" y="1325880"/>
            <a:ext cx="50800" cy="484632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1417320"/>
            <a:ext cx="30934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 the rows of your area on Screen standards, Screen catalogue, Field register, Business rules, Messages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review: Accept, Change requested or Comment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comment: the change asked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Reviewer and Review 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Questions go to the Comments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Leave the other columns unchanged; one workbook per unit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New Business at a glance: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brd01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616" y="1325880"/>
            <a:ext cx="6490463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BRD-1 process from the client to the booked invoice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New Business at a glance: personas and menus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1144661"/>
                <a:gridCol w="968560"/>
                <a:gridCol w="633966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 user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Menu sections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Account Officer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Non-Package Management, Placement &amp; Booking, Policy Issuance,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TL / TH / UH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Non-Package Management, Placement &amp; Booking, Policy Issuance,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Technical Support Unit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tsu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Non-Package Management, Placement &amp; Booking, Policy Issuance,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Processing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Processing Team Leader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Approver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E-policy Sender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epol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Accounts &amp; Placement, Placement &amp; Booking, Policy Issuance, New Business Reports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Accounts &amp; Placement, Placement &amp; Booking, Policy Issuance, Booking, Bulk Processing, New Business Reports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Administrator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badmin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Booking, Bulk Processing,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System Administrator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Booking, Bulk Processing,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Dashboard, My Work, Clients, Quotation / Proposal, Accounts &amp; Placement, Placement &amp; Booking, Policy Issuance, Booking, New Business Reports, Broking Setup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New Business at a glance: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scr-nb-01-01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445" y="1325880"/>
            <a:ext cx="2492436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Clients work list</a:t>
            </a:r>
          </a:p>
        </p:txBody>
      </p:sp>
      <p:pic>
        <p:nvPicPr>
          <p:cNvPr id="11" name="Picture 10" descr="wt-a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793" y="1325880"/>
            <a:ext cx="2606475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Quotation converted into an account</a:t>
            </a:r>
          </a:p>
        </p:txBody>
      </p:sp>
      <p:pic>
        <p:nvPicPr>
          <p:cNvPr id="13" name="Picture 12" descr="scr-nb-18-01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872" y="3566160"/>
            <a:ext cx="1753583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Placement Workbench</a:t>
            </a:r>
          </a:p>
        </p:txBody>
      </p:sp>
      <p:pic>
        <p:nvPicPr>
          <p:cNvPr id="15" name="Picture 14" descr="wt-a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532" y="3566160"/>
            <a:ext cx="2834997" cy="1874519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33007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Booked invoice with its journal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Key business rules and validations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prospect needs only its type and name; the KYC documents and minimum fields are needed before the KYC is submitted, and a second user verifies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Clients are checked for duplicates on TIN, ID and name with birth date (blocking) and on e-mail, mobile and corporate name (warning).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quotation or PRF is approved by someone other than its maker; a quotation is sent only once approved and still valid.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An account needs a confirmed client; Processing validates it only when every mandatory field and document of the product is there.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risk is insured on one live account only (vehicle identifiers; client, location and item for property).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Placement needs the payment gate open: CLPC payment matched for CBG Fire, payment or client confirmation for the other lines, or the direct-payment tag.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Booking posts the journal (receivable, payable to the insurer, commission) and the service invoice; cancellations and endorsements follow the same rules.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Bulk uploads validate every row before anything is saved; rejected rows come back in the error file.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56565"/>
                </a:solidFill>
                <a:latin typeface="Arial"/>
              </a:rPr>
              <a:t>–  </a:t>
            </a:r>
            <a:r>
              <a:rPr sz="1200">
                <a:solidFill>
                  <a:srgbClr val="4B4B4B"/>
                </a:solidFill>
                <a:latin typeface="Arial"/>
              </a:rPr>
              <a:t>Full list: FRS chapter 13 per screen, 109 rules on the Business rules sheet and 526 messages in FRS chapter 15 and on the Messages sheet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Cross-module dependencies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18</a:t>
            </a:r>
          </a:p>
        </p:txBody>
      </p:sp>
      <p:pic>
        <p:nvPicPr>
          <p:cNvPr id="9" name="Picture 8" descr="brd01_contrac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29" y="1325880"/>
            <a:ext cx="7344237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What New Business takes from and hands to the other BRDs and systems (FRS chapter 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 and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can happen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needs can surface during the review, SIT or UAT.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In-scope clarification when the signed text already covers it; otherwise a change request with mandays.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New Business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 Maintenance, Sanction Screening, User Access, Operations, Collections, Accounting, Renewal, CSF, Submitted Policies, Data Migration and the Core Replacement can change what New Business takes or hands over.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change is raised against the other BRD and assessed against the cross-BRD contract; when it touches this set, a delta sign-off of the affected pages only.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HLS, CLPC transport, electronic channels to insurers (file transfer or system-to-system), directory sign-in and the mail relay depend on specifications from BDOI IT.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 manual or file-based step until the specification arrives; the interface is then a change request.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of FRS section 10.3 (product matrix, approval chain, document layouts, TSU thresholds and others) follow the assumptions of section 10.1; chapter 21 lists the proposed rules for confirmation.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Answered as configuration where possible (lists, parameters, templates); otherwise a change request; the assumption stands until then.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Caveats: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898119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and 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reviewer asks for the KYC risk rating on the Clients list: a new column, so a change request; asking which statuses the list shows is a clarification.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New Business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BRD-3 adds a mandatory field to a product: the account field rules change; the affected screen specification pages are re-issued and signed as a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CLPC billing is a download and an upload today; an automatic transfer is added when the CLPC layout and transport are agreed.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approval chain is one approval stage; a two-level chain for large premiums, once BDOI states the limits, is a change request.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Entry and exit criteria,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screenshot of the set is taken on the SIT environment with seed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Reviewers have their SIT users and the walkthrough sessions are held.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test plan is traced to the FRS and to the screens.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row of the workbook reviewed by its unit (Accept, Change requested or Comment).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comments log item closed: answered, corrected in v2.1, or raised as a change request.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Open questions closed or accepted as assumptions.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sign-off certificate signed by every signatory of the Who signs what matrix: prepared, input, reviewed and approved as on the BRD approval sheet; the Product Owner approves the whole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Signed certificate filed with the set; version history updated.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Content frozen as signed; deltas listed in the Change Management Register with mandays.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Test plan agreed for SIT and UAT.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After sign-off: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Signed FRS, sign-off workbook and screens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Open questions closed or accepted as assumptions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Configuration inputs from the business: lists of values, parameters, document templates, products, users and roles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Agreed test plan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Migration mapping of the New Business objects signed (BRD-13)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56565"/>
                </a:solidFill>
                <a:latin typeface="Arial"/>
              </a:rPr>
              <a:t>–  </a:t>
            </a:r>
            <a:r>
              <a:rPr sz="1400">
                <a:solidFill>
                  <a:srgbClr val="4B4B4B"/>
                </a:solidFill>
                <a:latin typeface="Arial"/>
              </a:rPr>
              <a:t>After sign-off the content is frozen as signed and the approved deltas are scheduled.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Change control after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A change to anything frozen is raised in the Change Management Register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The screen, field, rule or message concerned, the reason and the priority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project team assesses the mandays and the effect on the other BRDs through the cross-BRD contract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owners of every BRD concerned approve 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Delivered as a new version of the set (v2.1, v2.2...) with the changed pages signed again (delta sign-off)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Configuration values marked default change in BIBS without a change request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Governance, contacts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3698138"/>
                <a:gridCol w="475474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and approver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Accountable for the sign-off; chairs the sign-off meeting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Input provider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Business Services and System Support (MBS); TSU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Coordinates the units' review; signs for the business input (BRD approval sheet: input)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Marketing, TSU, Processing, Comptrollership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 their screens and rows; raise comments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Finance, Compliance,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Comptrollership, Compliance,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 approves booking and accounting; Compliance reviews KYC and screening; BDOI IT reviews interfaces, access and the Technical Specification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Project Services, BDO Unibank ESG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Analyst: the BRD as written; Program Manager: traceability and completeness; sign-off coordination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Manager, Business Analysis, test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Sessions, answers, comments log, revisions,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Next steps and the release order of the other BRD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BRD-1 New Business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Kick-off and first SIT walkthrough on Thu 1-Oct-2026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Workbooks returned by Fri 16-Oct-2026; Q&amp;A on Wed 21-Oct-2026; sign-off on Fri 30-Oct-2026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Next release sets: BRD-3 Product Maintenance and BRD-11 User Access (Nov 2026), then BRD-10, 12, 6, 9, then BRD-2, 4, 5, then BRD-13, then BRD-7 and BRD-8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Sign-off Pack Guide BRD-1 New Business</dc:title>
  <dc:subject>BIBS – BDOI Broker System</dc:subject>
  <dc:creator>iorta TechNXT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